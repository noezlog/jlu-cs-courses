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</p:sldMasterIdLst>
  <p:sldIdLst>
    <p:sldId id="503" r:id="rId4"/>
    <p:sldId id="415" r:id="rId5"/>
    <p:sldId id="427" r:id="rId6"/>
    <p:sldId id="428" r:id="rId7"/>
    <p:sldId id="507" r:id="rId8"/>
    <p:sldId id="338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508" r:id="rId17"/>
    <p:sldId id="50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6A0F4A5-65F5-44F9-B752-F2B28619B238}">
          <p14:sldIdLst>
            <p14:sldId id="503"/>
            <p14:sldId id="415"/>
            <p14:sldId id="427"/>
            <p14:sldId id="428"/>
            <p14:sldId id="507"/>
            <p14:sldId id="338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无标题节" id="{52F7D2AA-A671-4BDA-91F7-968DA6F0C0CE}">
          <p14:sldIdLst>
            <p14:sldId id="508"/>
            <p14:sldId id="5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1" autoAdjust="0"/>
    <p:restoredTop sz="94660"/>
  </p:normalViewPr>
  <p:slideViewPr>
    <p:cSldViewPr snapToGrid="0">
      <p:cViewPr>
        <p:scale>
          <a:sx n="125" d="100"/>
          <a:sy n="125" d="100"/>
        </p:scale>
        <p:origin x="-884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EE2C9-FFB6-D264-6960-C86C36D8D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7E45E9-BBF1-3C48-B926-14684F63D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3AD26-A901-EBC6-2532-4A9D8E54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046FF4-20D4-D22E-DA9A-A3806E2C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10CCD6-BA84-476F-C6FE-9E3C3C71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5B272-EB95-C8A6-C66F-F8FF733A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5182B-990D-5590-CF50-81240757D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0356C-98BE-9931-C6B6-B27C33AA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10A672-EE0D-5674-777A-35A06757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C11C2-1434-2B53-367D-000F59689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8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485DD-C268-F6AB-37B8-E4BC67AD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C3D1F1-02C4-41B2-8C38-D94F0B50D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A0887C-1F58-C8FA-D1ED-C0930308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4BB3C6-A2AC-2752-45D3-500DD403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1A450-5C33-EC60-E768-EB3E0248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34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BC475-2175-3A5E-ACC4-D8B230C4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95371-02E4-E8C8-0D27-2DC67EC9E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BAD70C-2B2C-4B0E-9456-D7DDBA6C4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49CC58-1338-BA14-73B3-5A090C1D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7C9C8B-9F18-0908-5CC2-CA5F22C8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1A7402-1629-8BD1-7752-A5F1BB6B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46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846BB-9067-F1FF-E57F-625D6E2D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56A6E0-EC97-E96C-0348-259187EC0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8060AF-9135-49D3-CA68-32A3930BB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B43230-819A-29E6-9E9D-C67040A41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CB57E0-F24E-506F-6F2B-83B64C27B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119445-6340-8C65-A942-3821ACD4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AFCF43-D35E-348A-B3EE-F77761A0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815F10-30A3-8488-F956-B8954CC2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19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88EF5-387E-204C-199C-707DC3AC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9D5AC5-5057-BD76-89B2-F4623865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BEBE5F-E0C4-0903-1BDD-28444D2B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A14569-27BE-29BB-4B22-70A39C8E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772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C48003-9F9D-8D7F-F437-43ABDCC9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07DCF0-5469-A35B-B78A-ED7F9FF7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E9098-9E60-ADE1-6C38-2919EA0C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875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15154-45F2-386F-D856-7CD0F5D1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6D26D-17CB-F632-1C03-318A2C491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743C7-5319-9A33-1D3B-F72778CA0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0DE0E8-B5F6-B4B0-D9C8-82D895A5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0BF96D-E90A-AAAE-F7B4-E3C8983E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E3B11C-00D2-7445-EADF-02A0D859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87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D785B-240B-5C1F-0CE5-0B131C16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F40305-0284-5A29-195D-1F71B3FFD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6FD310-73CC-54C4-EE51-C860C068B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6A6E6-25C4-42E3-25EB-8A1DE2D6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4B23D4-99B3-8E53-A3A8-F313259F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DDAC78-7247-DC61-1468-07C2A821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99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16B69-A3F5-61F2-E838-97F2A9A6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D6DED-59A7-E21A-F499-E4CA9AB1E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BC168-EB69-A5EE-C308-F119A2AE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702C5-35C3-FA8F-13EA-E2BF8218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997B4-ED0A-FA7B-ABA6-20F85130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93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9BC46D-E0AB-4770-42EF-6B4F8B150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EA8BB4-8CF1-9E61-0C86-6AC68859D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90406-C25E-5531-25A9-51052B44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9BA4C-9238-86B7-CDE1-72A11A54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AA80F-536E-C843-208D-67BF3669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8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3075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/>
              <a:endParaRPr lang="zh-CN" altLang="zh-CN" sz="24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24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77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78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9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0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1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2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3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4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5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6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7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/>
                <a:endParaRPr lang="zh-CN" altLang="zh-CN" sz="2400" i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24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224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414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7604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521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768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58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330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737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448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2629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4532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917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28984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457200"/>
            <a:ext cx="10972800" cy="5410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588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61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057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59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0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1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4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5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6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7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8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pPr lvl="0" eaLnBrk="1" hangingPunct="1">
                  <a:buNone/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53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53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4232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10492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115547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092118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774126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876510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402399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2135146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44449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8559593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574640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457200"/>
            <a:ext cx="109728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918235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22239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30A51-EEE6-0E98-787F-F094C150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EC81F-5CF3-B08B-6999-B7480436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E353A-6E26-4BD0-70F0-07ABE6E40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1832C-E797-42F8-AC0D-FFAA394D526D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3B4A3-6903-E310-1AD8-5BA515A50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4B2C1-DFA0-35D9-0350-12ACB0469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DB9D-958D-48E0-94D0-7BBF9DA4A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71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6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i="0" smtClean="0">
                <a:latin typeface="+mn-lt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i="0">
                <a:latin typeface="Arial Black" panose="020B0A0402010202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29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/>
              <a:endParaRPr lang="zh-CN" altLang="zh-CN" sz="24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0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24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1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1800" i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2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1800" i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3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18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1800" i="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5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24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6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18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7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/>
              <a:endParaRPr lang="zh-CN" altLang="zh-CN" sz="18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8" name="Rectangle 14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9" name="Rectangle 15"/>
          <p:cNvSpPr>
            <a:spLocks noGrp="1"/>
          </p:cNvSpPr>
          <p:nvPr>
            <p:ph type="body"/>
          </p:nvPr>
        </p:nvSpPr>
        <p:spPr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12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i="0" smtClean="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966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200">
                <a:latin typeface="+mn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lstStyle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42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+mn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82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2.xml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883621" y="681801"/>
            <a:ext cx="5616575" cy="4075113"/>
            <a:chOff x="2064" y="1568"/>
            <a:chExt cx="3538" cy="2567"/>
          </a:xfrm>
        </p:grpSpPr>
        <p:sp>
          <p:nvSpPr>
            <p:cNvPr id="294917" name="Rectangle 5"/>
            <p:cNvSpPr>
              <a:spLocks noChangeArrowheads="1"/>
            </p:cNvSpPr>
            <p:nvPr/>
          </p:nvSpPr>
          <p:spPr bwMode="auto">
            <a:xfrm>
              <a:off x="2245" y="1568"/>
              <a:ext cx="3084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>
                  <a:solidFill>
                    <a:srgbClr val="FF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</a:t>
              </a: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表</a:t>
              </a:r>
              <a:r>
                <a: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4.10    74LS148</a:t>
              </a:r>
              <a:r>
                <a:rPr lang="zh-CN" altLang="en-US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编码器功能表</a:t>
              </a:r>
              <a:endPara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03" name="Rectangle 6"/>
            <p:cNvSpPr/>
            <p:nvPr/>
          </p:nvSpPr>
          <p:spPr>
            <a:xfrm>
              <a:off x="4843" y="2348"/>
              <a:ext cx="759" cy="17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tabLst>
                  <a:tab pos="28575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0     1</a:t>
              </a:r>
              <a:endParaRPr lang="en-US" altLang="zh-CN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4" name="Rectangle 7"/>
            <p:cNvSpPr/>
            <p:nvPr/>
          </p:nvSpPr>
          <p:spPr>
            <a:xfrm>
              <a:off x="4105" y="2348"/>
              <a:ext cx="738" cy="17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1  1  1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1  1  1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0  0  0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0  0  1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0  1  0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0  1  1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1  0  0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1  0  1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1  1  0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1  1  1</a:t>
              </a:r>
              <a:endParaRPr lang="en-US" altLang="zh-CN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5" name="Rectangle 8"/>
            <p:cNvSpPr/>
            <p:nvPr/>
          </p:nvSpPr>
          <p:spPr>
            <a:xfrm>
              <a:off x="2064" y="2348"/>
              <a:ext cx="2041" cy="17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X   X   X   X   X   X   X   X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0    1    1    1    1    1    1   1    1 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0    X   X   X   X   X   X   X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0    X   X   X   X   X   X 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0    X   X   X   X   X   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1    0    X   X   X   X 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1    1    0    X   X   X 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1    1    1    0    X   X 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1    1    1    1    0    X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0    1    1    1    1    1    1    1    0</a:t>
              </a:r>
              <a:endParaRPr lang="en-US" altLang="zh-CN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6" name="Rectangle 9"/>
            <p:cNvSpPr/>
            <p:nvPr/>
          </p:nvSpPr>
          <p:spPr>
            <a:xfrm>
              <a:off x="4843" y="2118"/>
              <a:ext cx="75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GS  EO</a:t>
              </a:r>
              <a:endPara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6807" name="Rectangle 10"/>
            <p:cNvSpPr/>
            <p:nvPr/>
          </p:nvSpPr>
          <p:spPr>
            <a:xfrm>
              <a:off x="4105" y="2118"/>
              <a:ext cx="7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Y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6808" name="Rectangle 11"/>
            <p:cNvSpPr/>
            <p:nvPr/>
          </p:nvSpPr>
          <p:spPr>
            <a:xfrm>
              <a:off x="2064" y="2118"/>
              <a:ext cx="2041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EI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1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9" name="Rectangle 12"/>
            <p:cNvSpPr/>
            <p:nvPr/>
          </p:nvSpPr>
          <p:spPr>
            <a:xfrm>
              <a:off x="4105" y="1888"/>
              <a:ext cx="1497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       出</a:t>
              </a:r>
              <a:endPara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0" name="Rectangle 13"/>
            <p:cNvSpPr/>
            <p:nvPr/>
          </p:nvSpPr>
          <p:spPr>
            <a:xfrm>
              <a:off x="2064" y="1888"/>
              <a:ext cx="2041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00007D"/>
                </a:buClr>
                <a:buSzPct val="75000"/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        入</a:t>
              </a:r>
              <a:endPara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1" name="Line 14"/>
            <p:cNvSpPr/>
            <p:nvPr/>
          </p:nvSpPr>
          <p:spPr>
            <a:xfrm>
              <a:off x="2064" y="1888"/>
              <a:ext cx="353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2" name="Line 15"/>
            <p:cNvSpPr/>
            <p:nvPr/>
          </p:nvSpPr>
          <p:spPr>
            <a:xfrm>
              <a:off x="2064" y="4135"/>
              <a:ext cx="353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3" name="Line 16"/>
            <p:cNvSpPr/>
            <p:nvPr/>
          </p:nvSpPr>
          <p:spPr>
            <a:xfrm>
              <a:off x="2064" y="1888"/>
              <a:ext cx="0" cy="224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4" name="Line 17"/>
            <p:cNvSpPr/>
            <p:nvPr/>
          </p:nvSpPr>
          <p:spPr>
            <a:xfrm>
              <a:off x="5602" y="1888"/>
              <a:ext cx="0" cy="224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5" name="Line 18"/>
            <p:cNvSpPr/>
            <p:nvPr/>
          </p:nvSpPr>
          <p:spPr>
            <a:xfrm>
              <a:off x="2064" y="2118"/>
              <a:ext cx="353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6" name="Line 19"/>
            <p:cNvSpPr/>
            <p:nvPr/>
          </p:nvSpPr>
          <p:spPr>
            <a:xfrm>
              <a:off x="4105" y="1888"/>
              <a:ext cx="0" cy="224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7" name="Line 20"/>
            <p:cNvSpPr/>
            <p:nvPr/>
          </p:nvSpPr>
          <p:spPr>
            <a:xfrm>
              <a:off x="2064" y="2348"/>
              <a:ext cx="353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8" name="Line 21"/>
            <p:cNvSpPr/>
            <p:nvPr/>
          </p:nvSpPr>
          <p:spPr>
            <a:xfrm>
              <a:off x="4843" y="2118"/>
              <a:ext cx="0" cy="201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19" name="Line 22"/>
            <p:cNvSpPr/>
            <p:nvPr/>
          </p:nvSpPr>
          <p:spPr>
            <a:xfrm>
              <a:off x="5012" y="2160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0" name="Line 23"/>
            <p:cNvSpPr/>
            <p:nvPr/>
          </p:nvSpPr>
          <p:spPr>
            <a:xfrm>
              <a:off x="5284" y="2160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1" name="Line 24"/>
            <p:cNvSpPr/>
            <p:nvPr/>
          </p:nvSpPr>
          <p:spPr>
            <a:xfrm>
              <a:off x="2109" y="2160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2" name="Line 25"/>
            <p:cNvSpPr/>
            <p:nvPr/>
          </p:nvSpPr>
          <p:spPr>
            <a:xfrm>
              <a:off x="2380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3" name="Line 26"/>
            <p:cNvSpPr/>
            <p:nvPr/>
          </p:nvSpPr>
          <p:spPr>
            <a:xfrm>
              <a:off x="2608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4" name="Line 27"/>
            <p:cNvSpPr/>
            <p:nvPr/>
          </p:nvSpPr>
          <p:spPr>
            <a:xfrm>
              <a:off x="2789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5" name="Line 28"/>
            <p:cNvSpPr/>
            <p:nvPr/>
          </p:nvSpPr>
          <p:spPr>
            <a:xfrm>
              <a:off x="3016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6" name="Line 29"/>
            <p:cNvSpPr/>
            <p:nvPr/>
          </p:nvSpPr>
          <p:spPr>
            <a:xfrm>
              <a:off x="3243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7" name="Line 30"/>
            <p:cNvSpPr/>
            <p:nvPr/>
          </p:nvSpPr>
          <p:spPr>
            <a:xfrm>
              <a:off x="3468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8" name="Line 31"/>
            <p:cNvSpPr/>
            <p:nvPr/>
          </p:nvSpPr>
          <p:spPr>
            <a:xfrm>
              <a:off x="3651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9" name="Line 32"/>
            <p:cNvSpPr/>
            <p:nvPr/>
          </p:nvSpPr>
          <p:spPr>
            <a:xfrm>
              <a:off x="3878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0" name="Line 33"/>
            <p:cNvSpPr/>
            <p:nvPr/>
          </p:nvSpPr>
          <p:spPr>
            <a:xfrm>
              <a:off x="4330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1" name="Line 34"/>
            <p:cNvSpPr/>
            <p:nvPr/>
          </p:nvSpPr>
          <p:spPr>
            <a:xfrm>
              <a:off x="4468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32" name="Line 35"/>
            <p:cNvSpPr/>
            <p:nvPr/>
          </p:nvSpPr>
          <p:spPr>
            <a:xfrm>
              <a:off x="4604" y="2160"/>
              <a:ext cx="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94948" name="Rectangle 36"/>
          <p:cNvSpPr>
            <a:spLocks noChangeArrowheads="1"/>
          </p:cNvSpPr>
          <p:nvPr/>
        </p:nvSpPr>
        <p:spPr bwMode="auto">
          <a:xfrm>
            <a:off x="7677767" y="601558"/>
            <a:ext cx="2519363" cy="400110"/>
          </a:xfrm>
          <a:prstGeom prst="rect">
            <a:avLst/>
          </a:prstGeom>
          <a:solidFill>
            <a:srgbClr val="3366FF"/>
          </a:solidFill>
          <a:ln w="57150" cmpd="thinThick">
            <a:solidFill>
              <a:srgbClr val="00FF00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74LS148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逻辑符号</a:t>
            </a:r>
          </a:p>
        </p:txBody>
      </p:sp>
      <p:sp>
        <p:nvSpPr>
          <p:cNvPr id="76834" name="Rectangle 37"/>
          <p:cNvSpPr/>
          <p:nvPr/>
        </p:nvSpPr>
        <p:spPr>
          <a:xfrm>
            <a:off x="6003635" y="2719358"/>
            <a:ext cx="184731" cy="40011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94951" name="Object 3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861717701"/>
              </p:ext>
            </p:extLst>
          </p:nvPr>
        </p:nvGraphicFramePr>
        <p:xfrm>
          <a:off x="7534892" y="1501702"/>
          <a:ext cx="2909887" cy="357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08300" imgH="3568700" progId="Photoshop.Image.5">
                  <p:embed/>
                </p:oleObj>
              </mc:Choice>
              <mc:Fallback>
                <p:oleObj r:id="rId2" imgW="2908300" imgH="3568700" progId="Photoshop.Image.5">
                  <p:embed/>
                  <p:pic>
                    <p:nvPicPr>
                      <p:cNvPr id="294951" name="Object 3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34892" y="1501702"/>
                        <a:ext cx="2909887" cy="35702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9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9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4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idx="1"/>
          </p:nvPr>
        </p:nvSpPr>
        <p:spPr>
          <a:xfrm>
            <a:off x="2590800" y="990600"/>
            <a:ext cx="78486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buNone/>
              <a:defRPr/>
            </a:pPr>
            <a:r>
              <a:rPr lang="en-US" altLang="zh-CN" sz="280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74LS138</a:t>
            </a:r>
            <a:r>
              <a:rPr lang="zh-CN" altLang="en-US" sz="280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的引脚图如下</a:t>
            </a:r>
            <a:r>
              <a:rPr lang="en-US" altLang="zh-CN" sz="280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</p:txBody>
      </p:sp>
      <p:grpSp>
        <p:nvGrpSpPr>
          <p:cNvPr id="86060" name="Group 66">
            <a:extLst>
              <a:ext uri="{FF2B5EF4-FFF2-40B4-BE49-F238E27FC236}">
                <a16:creationId xmlns:a16="http://schemas.microsoft.com/office/drawing/2014/main" id="{8B9CAC7B-0B08-7E62-F477-5DFCA867C8EE}"/>
              </a:ext>
            </a:extLst>
          </p:cNvPr>
          <p:cNvGrpSpPr/>
          <p:nvPr/>
        </p:nvGrpSpPr>
        <p:grpSpPr>
          <a:xfrm>
            <a:off x="2133600" y="1905000"/>
            <a:ext cx="5040313" cy="3795713"/>
            <a:chOff x="1344" y="1200"/>
            <a:chExt cx="3175" cy="2391"/>
          </a:xfrm>
        </p:grpSpPr>
        <p:grpSp>
          <p:nvGrpSpPr>
            <p:cNvPr id="190464" name="Group 3">
              <a:extLst>
                <a:ext uri="{FF2B5EF4-FFF2-40B4-BE49-F238E27FC236}">
                  <a16:creationId xmlns:a16="http://schemas.microsoft.com/office/drawing/2014/main" id="{41143C3F-3477-B0A5-D476-D4E1C153AD5A}"/>
                </a:ext>
              </a:extLst>
            </p:cNvPr>
            <p:cNvGrpSpPr/>
            <p:nvPr/>
          </p:nvGrpSpPr>
          <p:grpSpPr>
            <a:xfrm>
              <a:off x="1344" y="1200"/>
              <a:ext cx="3175" cy="2391"/>
              <a:chOff x="1344" y="1200"/>
              <a:chExt cx="3175" cy="2391"/>
            </a:xfrm>
          </p:grpSpPr>
          <p:sp>
            <p:nvSpPr>
              <p:cNvPr id="190476" name="Rectangle 4">
                <a:extLst>
                  <a:ext uri="{FF2B5EF4-FFF2-40B4-BE49-F238E27FC236}">
                    <a16:creationId xmlns:a16="http://schemas.microsoft.com/office/drawing/2014/main" id="{22FC5037-11C6-4F4D-8CB5-90F5E2A38EFF}"/>
                  </a:ext>
                </a:extLst>
              </p:cNvPr>
              <p:cNvSpPr/>
              <p:nvPr/>
            </p:nvSpPr>
            <p:spPr>
              <a:xfrm>
                <a:off x="1392" y="1728"/>
                <a:ext cx="3120" cy="1296"/>
              </a:xfrm>
              <a:prstGeom prst="rect">
                <a:avLst/>
              </a:prstGeom>
              <a:solidFill>
                <a:srgbClr val="CCFF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477" name="Line 5">
                <a:extLst>
                  <a:ext uri="{FF2B5EF4-FFF2-40B4-BE49-F238E27FC236}">
                    <a16:creationId xmlns:a16="http://schemas.microsoft.com/office/drawing/2014/main" id="{9154EA89-F126-A6A2-4447-A5C4EE48B329}"/>
                  </a:ext>
                </a:extLst>
              </p:cNvPr>
              <p:cNvSpPr/>
              <p:nvPr/>
            </p:nvSpPr>
            <p:spPr>
              <a:xfrm>
                <a:off x="1536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78" name="Line 6">
                <a:extLst>
                  <a:ext uri="{FF2B5EF4-FFF2-40B4-BE49-F238E27FC236}">
                    <a16:creationId xmlns:a16="http://schemas.microsoft.com/office/drawing/2014/main" id="{1B211A1B-CCA5-B806-0CDF-3CE76421E8DD}"/>
                  </a:ext>
                </a:extLst>
              </p:cNvPr>
              <p:cNvSpPr/>
              <p:nvPr/>
            </p:nvSpPr>
            <p:spPr>
              <a:xfrm>
                <a:off x="1920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79" name="Line 7">
                <a:extLst>
                  <a:ext uri="{FF2B5EF4-FFF2-40B4-BE49-F238E27FC236}">
                    <a16:creationId xmlns:a16="http://schemas.microsoft.com/office/drawing/2014/main" id="{6690F36B-CC79-3155-572C-0AC4E6E6F6FD}"/>
                  </a:ext>
                </a:extLst>
              </p:cNvPr>
              <p:cNvSpPr/>
              <p:nvPr/>
            </p:nvSpPr>
            <p:spPr>
              <a:xfrm>
                <a:off x="2304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0" name="Line 8">
                <a:extLst>
                  <a:ext uri="{FF2B5EF4-FFF2-40B4-BE49-F238E27FC236}">
                    <a16:creationId xmlns:a16="http://schemas.microsoft.com/office/drawing/2014/main" id="{24752A49-695B-163F-E9A8-7AA6F6094B26}"/>
                  </a:ext>
                </a:extLst>
              </p:cNvPr>
              <p:cNvSpPr/>
              <p:nvPr/>
            </p:nvSpPr>
            <p:spPr>
              <a:xfrm>
                <a:off x="2736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1" name="Line 9">
                <a:extLst>
                  <a:ext uri="{FF2B5EF4-FFF2-40B4-BE49-F238E27FC236}">
                    <a16:creationId xmlns:a16="http://schemas.microsoft.com/office/drawing/2014/main" id="{30CD703A-2AEA-305B-5064-35D609C03625}"/>
                  </a:ext>
                </a:extLst>
              </p:cNvPr>
              <p:cNvSpPr/>
              <p:nvPr/>
            </p:nvSpPr>
            <p:spPr>
              <a:xfrm>
                <a:off x="3120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2" name="Line 10">
                <a:extLst>
                  <a:ext uri="{FF2B5EF4-FFF2-40B4-BE49-F238E27FC236}">
                    <a16:creationId xmlns:a16="http://schemas.microsoft.com/office/drawing/2014/main" id="{FCB47228-B221-C8B1-D5E3-C0494FC2614C}"/>
                  </a:ext>
                </a:extLst>
              </p:cNvPr>
              <p:cNvSpPr/>
              <p:nvPr/>
            </p:nvSpPr>
            <p:spPr>
              <a:xfrm>
                <a:off x="3504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3" name="Line 11">
                <a:extLst>
                  <a:ext uri="{FF2B5EF4-FFF2-40B4-BE49-F238E27FC236}">
                    <a16:creationId xmlns:a16="http://schemas.microsoft.com/office/drawing/2014/main" id="{288284C7-1D0C-8DA7-1D9B-DECE09E08A1F}"/>
                  </a:ext>
                </a:extLst>
              </p:cNvPr>
              <p:cNvSpPr/>
              <p:nvPr/>
            </p:nvSpPr>
            <p:spPr>
              <a:xfrm>
                <a:off x="3888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4" name="Line 12">
                <a:extLst>
                  <a:ext uri="{FF2B5EF4-FFF2-40B4-BE49-F238E27FC236}">
                    <a16:creationId xmlns:a16="http://schemas.microsoft.com/office/drawing/2014/main" id="{124862E0-487A-9C48-21A1-22708A4B7830}"/>
                  </a:ext>
                </a:extLst>
              </p:cNvPr>
              <p:cNvSpPr/>
              <p:nvPr/>
            </p:nvSpPr>
            <p:spPr>
              <a:xfrm>
                <a:off x="4272" y="3024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5" name="Line 13">
                <a:extLst>
                  <a:ext uri="{FF2B5EF4-FFF2-40B4-BE49-F238E27FC236}">
                    <a16:creationId xmlns:a16="http://schemas.microsoft.com/office/drawing/2014/main" id="{DDDFAD7C-4329-75F2-0CCB-62C6929533B9}"/>
                  </a:ext>
                </a:extLst>
              </p:cNvPr>
              <p:cNvSpPr/>
              <p:nvPr/>
            </p:nvSpPr>
            <p:spPr>
              <a:xfrm>
                <a:off x="4320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6" name="Line 14">
                <a:extLst>
                  <a:ext uri="{FF2B5EF4-FFF2-40B4-BE49-F238E27FC236}">
                    <a16:creationId xmlns:a16="http://schemas.microsoft.com/office/drawing/2014/main" id="{6EBDC820-248B-904A-DD81-863D6404B256}"/>
                  </a:ext>
                </a:extLst>
              </p:cNvPr>
              <p:cNvSpPr/>
              <p:nvPr/>
            </p:nvSpPr>
            <p:spPr>
              <a:xfrm>
                <a:off x="3936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7" name="Line 15">
                <a:extLst>
                  <a:ext uri="{FF2B5EF4-FFF2-40B4-BE49-F238E27FC236}">
                    <a16:creationId xmlns:a16="http://schemas.microsoft.com/office/drawing/2014/main" id="{32405F06-697E-6FFA-429D-948267E17680}"/>
                  </a:ext>
                </a:extLst>
              </p:cNvPr>
              <p:cNvSpPr/>
              <p:nvPr/>
            </p:nvSpPr>
            <p:spPr>
              <a:xfrm>
                <a:off x="3552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8" name="Line 16">
                <a:extLst>
                  <a:ext uri="{FF2B5EF4-FFF2-40B4-BE49-F238E27FC236}">
                    <a16:creationId xmlns:a16="http://schemas.microsoft.com/office/drawing/2014/main" id="{A9CED475-A526-DE51-6CF2-609779D86F7F}"/>
                  </a:ext>
                </a:extLst>
              </p:cNvPr>
              <p:cNvSpPr/>
              <p:nvPr/>
            </p:nvSpPr>
            <p:spPr>
              <a:xfrm>
                <a:off x="3168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89" name="Line 17">
                <a:extLst>
                  <a:ext uri="{FF2B5EF4-FFF2-40B4-BE49-F238E27FC236}">
                    <a16:creationId xmlns:a16="http://schemas.microsoft.com/office/drawing/2014/main" id="{43472300-5FC1-81AA-7AC1-F94560D737A3}"/>
                  </a:ext>
                </a:extLst>
              </p:cNvPr>
              <p:cNvSpPr/>
              <p:nvPr/>
            </p:nvSpPr>
            <p:spPr>
              <a:xfrm>
                <a:off x="2784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0" name="Line 18">
                <a:extLst>
                  <a:ext uri="{FF2B5EF4-FFF2-40B4-BE49-F238E27FC236}">
                    <a16:creationId xmlns:a16="http://schemas.microsoft.com/office/drawing/2014/main" id="{FB910F14-4B10-4256-0982-C8066C07511F}"/>
                  </a:ext>
                </a:extLst>
              </p:cNvPr>
              <p:cNvSpPr/>
              <p:nvPr/>
            </p:nvSpPr>
            <p:spPr>
              <a:xfrm>
                <a:off x="2400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1" name="Line 19">
                <a:extLst>
                  <a:ext uri="{FF2B5EF4-FFF2-40B4-BE49-F238E27FC236}">
                    <a16:creationId xmlns:a16="http://schemas.microsoft.com/office/drawing/2014/main" id="{9C7028DD-322C-5188-BABA-5F240F0B817B}"/>
                  </a:ext>
                </a:extLst>
              </p:cNvPr>
              <p:cNvSpPr/>
              <p:nvPr/>
            </p:nvSpPr>
            <p:spPr>
              <a:xfrm>
                <a:off x="2016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2" name="Line 20">
                <a:extLst>
                  <a:ext uri="{FF2B5EF4-FFF2-40B4-BE49-F238E27FC236}">
                    <a16:creationId xmlns:a16="http://schemas.microsoft.com/office/drawing/2014/main" id="{105F4272-6BE2-9222-C4C7-72907F12D6CE}"/>
                  </a:ext>
                </a:extLst>
              </p:cNvPr>
              <p:cNvSpPr/>
              <p:nvPr/>
            </p:nvSpPr>
            <p:spPr>
              <a:xfrm>
                <a:off x="1632" y="148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3" name="Line 21">
                <a:extLst>
                  <a:ext uri="{FF2B5EF4-FFF2-40B4-BE49-F238E27FC236}">
                    <a16:creationId xmlns:a16="http://schemas.microsoft.com/office/drawing/2014/main" id="{0E2504B5-E451-2A5A-01EF-1FC5139AA455}"/>
                  </a:ext>
                </a:extLst>
              </p:cNvPr>
              <p:cNvSpPr/>
              <p:nvPr/>
            </p:nvSpPr>
            <p:spPr>
              <a:xfrm>
                <a:off x="1392" y="230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4" name="Line 22">
                <a:extLst>
                  <a:ext uri="{FF2B5EF4-FFF2-40B4-BE49-F238E27FC236}">
                    <a16:creationId xmlns:a16="http://schemas.microsoft.com/office/drawing/2014/main" id="{E089E579-EAB3-EE29-47B0-E86E81FDC8D4}"/>
                  </a:ext>
                </a:extLst>
              </p:cNvPr>
              <p:cNvSpPr/>
              <p:nvPr/>
            </p:nvSpPr>
            <p:spPr>
              <a:xfrm>
                <a:off x="1584" y="230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5" name="Line 23">
                <a:extLst>
                  <a:ext uri="{FF2B5EF4-FFF2-40B4-BE49-F238E27FC236}">
                    <a16:creationId xmlns:a16="http://schemas.microsoft.com/office/drawing/2014/main" id="{A9BAD458-3383-5F25-A1CC-59F82E0925E2}"/>
                  </a:ext>
                </a:extLst>
              </p:cNvPr>
              <p:cNvSpPr/>
              <p:nvPr/>
            </p:nvSpPr>
            <p:spPr>
              <a:xfrm flipH="1">
                <a:off x="1392" y="240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496" name="Rectangle 24">
                <a:extLst>
                  <a:ext uri="{FF2B5EF4-FFF2-40B4-BE49-F238E27FC236}">
                    <a16:creationId xmlns:a16="http://schemas.microsoft.com/office/drawing/2014/main" id="{81E7E875-2E7A-559F-3A0C-11927B6BD363}"/>
                  </a:ext>
                </a:extLst>
              </p:cNvPr>
              <p:cNvSpPr/>
              <p:nvPr/>
            </p:nvSpPr>
            <p:spPr>
              <a:xfrm>
                <a:off x="1392" y="3264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0</a:t>
                </a:r>
                <a:endParaRPr lang="en-US" altLang="zh-CN" sz="2800" i="0" dirty="0">
                  <a:solidFill>
                    <a:srgbClr val="3333FF"/>
                  </a:solidFill>
                  <a:latin typeface="Arial Black" panose="020B0A040201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497" name="Rectangle 25">
                <a:extLst>
                  <a:ext uri="{FF2B5EF4-FFF2-40B4-BE49-F238E27FC236}">
                    <a16:creationId xmlns:a16="http://schemas.microsoft.com/office/drawing/2014/main" id="{6B7F2AD9-75DF-1A80-C75B-84B3C2EB1925}"/>
                  </a:ext>
                </a:extLst>
              </p:cNvPr>
              <p:cNvSpPr/>
              <p:nvPr/>
            </p:nvSpPr>
            <p:spPr>
              <a:xfrm>
                <a:off x="1776" y="3264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90498" name="Rectangle 26">
                <a:extLst>
                  <a:ext uri="{FF2B5EF4-FFF2-40B4-BE49-F238E27FC236}">
                    <a16:creationId xmlns:a16="http://schemas.microsoft.com/office/drawing/2014/main" id="{410021AA-602C-633E-319B-9820EF8731D2}"/>
                  </a:ext>
                </a:extLst>
              </p:cNvPr>
              <p:cNvSpPr/>
              <p:nvPr/>
            </p:nvSpPr>
            <p:spPr>
              <a:xfrm>
                <a:off x="2160" y="3264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90499" name="Rectangle 27">
                <a:extLst>
                  <a:ext uri="{FF2B5EF4-FFF2-40B4-BE49-F238E27FC236}">
                    <a16:creationId xmlns:a16="http://schemas.microsoft.com/office/drawing/2014/main" id="{7B2064CC-2A63-2BE6-96E1-C299280411FF}"/>
                  </a:ext>
                </a:extLst>
              </p:cNvPr>
              <p:cNvSpPr/>
              <p:nvPr/>
            </p:nvSpPr>
            <p:spPr>
              <a:xfrm>
                <a:off x="2592" y="3264"/>
                <a:ext cx="37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S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90500" name="Rectangle 28">
                <a:extLst>
                  <a:ext uri="{FF2B5EF4-FFF2-40B4-BE49-F238E27FC236}">
                    <a16:creationId xmlns:a16="http://schemas.microsoft.com/office/drawing/2014/main" id="{6F9C4BFD-AA7F-10C5-80B7-292B8EFFC03A}"/>
                  </a:ext>
                </a:extLst>
              </p:cNvPr>
              <p:cNvSpPr/>
              <p:nvPr/>
            </p:nvSpPr>
            <p:spPr>
              <a:xfrm>
                <a:off x="2976" y="3264"/>
                <a:ext cx="37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S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90501" name="Rectangle 29">
                <a:extLst>
                  <a:ext uri="{FF2B5EF4-FFF2-40B4-BE49-F238E27FC236}">
                    <a16:creationId xmlns:a16="http://schemas.microsoft.com/office/drawing/2014/main" id="{2A172FC4-E481-617D-F801-420FB8AC8DD1}"/>
                  </a:ext>
                </a:extLst>
              </p:cNvPr>
              <p:cNvSpPr/>
              <p:nvPr/>
            </p:nvSpPr>
            <p:spPr>
              <a:xfrm>
                <a:off x="3360" y="3264"/>
                <a:ext cx="37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S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90502" name="Rectangle 30">
                <a:extLst>
                  <a:ext uri="{FF2B5EF4-FFF2-40B4-BE49-F238E27FC236}">
                    <a16:creationId xmlns:a16="http://schemas.microsoft.com/office/drawing/2014/main" id="{F7FC6525-306D-68BD-CBE9-8E61845F769C}"/>
                  </a:ext>
                </a:extLst>
              </p:cNvPr>
              <p:cNvSpPr/>
              <p:nvPr/>
            </p:nvSpPr>
            <p:spPr>
              <a:xfrm>
                <a:off x="3744" y="3264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7</a:t>
                </a:r>
              </a:p>
            </p:txBody>
          </p:sp>
          <p:sp>
            <p:nvSpPr>
              <p:cNvPr id="190503" name="Rectangle 31">
                <a:extLst>
                  <a:ext uri="{FF2B5EF4-FFF2-40B4-BE49-F238E27FC236}">
                    <a16:creationId xmlns:a16="http://schemas.microsoft.com/office/drawing/2014/main" id="{4E9C9441-19EA-FC1B-AC5E-2FB6C020401A}"/>
                  </a:ext>
                </a:extLst>
              </p:cNvPr>
              <p:cNvSpPr/>
              <p:nvPr/>
            </p:nvSpPr>
            <p:spPr>
              <a:xfrm>
                <a:off x="4128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90504" name="Rectangle 32">
                <a:extLst>
                  <a:ext uri="{FF2B5EF4-FFF2-40B4-BE49-F238E27FC236}">
                    <a16:creationId xmlns:a16="http://schemas.microsoft.com/office/drawing/2014/main" id="{A47D01CD-9A82-C9E6-6EAD-52E06E7B3035}"/>
                  </a:ext>
                </a:extLst>
              </p:cNvPr>
              <p:cNvSpPr/>
              <p:nvPr/>
            </p:nvSpPr>
            <p:spPr>
              <a:xfrm>
                <a:off x="3744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190505" name="Rectangle 33">
                <a:extLst>
                  <a:ext uri="{FF2B5EF4-FFF2-40B4-BE49-F238E27FC236}">
                    <a16:creationId xmlns:a16="http://schemas.microsoft.com/office/drawing/2014/main" id="{55A054F0-8087-3FC8-FE8E-E133432FAAE9}"/>
                  </a:ext>
                </a:extLst>
              </p:cNvPr>
              <p:cNvSpPr/>
              <p:nvPr/>
            </p:nvSpPr>
            <p:spPr>
              <a:xfrm>
                <a:off x="3360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90506" name="Rectangle 34">
                <a:extLst>
                  <a:ext uri="{FF2B5EF4-FFF2-40B4-BE49-F238E27FC236}">
                    <a16:creationId xmlns:a16="http://schemas.microsoft.com/office/drawing/2014/main" id="{ABB11E24-C072-1C5E-35B6-1F86F1036D14}"/>
                  </a:ext>
                </a:extLst>
              </p:cNvPr>
              <p:cNvSpPr/>
              <p:nvPr/>
            </p:nvSpPr>
            <p:spPr>
              <a:xfrm>
                <a:off x="2976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90507" name="Rectangle 35">
                <a:extLst>
                  <a:ext uri="{FF2B5EF4-FFF2-40B4-BE49-F238E27FC236}">
                    <a16:creationId xmlns:a16="http://schemas.microsoft.com/office/drawing/2014/main" id="{81202AA5-A667-BDD7-09DD-6ED4284C787C}"/>
                  </a:ext>
                </a:extLst>
              </p:cNvPr>
              <p:cNvSpPr/>
              <p:nvPr/>
            </p:nvSpPr>
            <p:spPr>
              <a:xfrm>
                <a:off x="2592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90509" name="Rectangle 36">
                <a:extLst>
                  <a:ext uri="{FF2B5EF4-FFF2-40B4-BE49-F238E27FC236}">
                    <a16:creationId xmlns:a16="http://schemas.microsoft.com/office/drawing/2014/main" id="{DAE37751-80DA-BB18-75C2-DCB33A93F62B}"/>
                  </a:ext>
                </a:extLst>
              </p:cNvPr>
              <p:cNvSpPr/>
              <p:nvPr/>
            </p:nvSpPr>
            <p:spPr>
              <a:xfrm>
                <a:off x="2208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90510" name="Rectangle 37">
                <a:extLst>
                  <a:ext uri="{FF2B5EF4-FFF2-40B4-BE49-F238E27FC236}">
                    <a16:creationId xmlns:a16="http://schemas.microsoft.com/office/drawing/2014/main" id="{F8CB7566-2062-EA35-FCE3-1C031ECC95BD}"/>
                  </a:ext>
                </a:extLst>
              </p:cNvPr>
              <p:cNvSpPr/>
              <p:nvPr/>
            </p:nvSpPr>
            <p:spPr>
              <a:xfrm>
                <a:off x="1824" y="1200"/>
                <a:ext cx="3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90511" name="Rectangle 38">
                <a:extLst>
                  <a:ext uri="{FF2B5EF4-FFF2-40B4-BE49-F238E27FC236}">
                    <a16:creationId xmlns:a16="http://schemas.microsoft.com/office/drawing/2014/main" id="{5CDB0F46-9F56-C994-E37E-425AE4DE8C6A}"/>
                  </a:ext>
                </a:extLst>
              </p:cNvPr>
              <p:cNvSpPr/>
              <p:nvPr/>
            </p:nvSpPr>
            <p:spPr>
              <a:xfrm>
                <a:off x="1344" y="1200"/>
                <a:ext cx="5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800" i="0" baseline="-2500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CC</a:t>
                </a:r>
              </a:p>
            </p:txBody>
          </p:sp>
          <p:sp>
            <p:nvSpPr>
              <p:cNvPr id="190512" name="Rectangle 39">
                <a:extLst>
                  <a:ext uri="{FF2B5EF4-FFF2-40B4-BE49-F238E27FC236}">
                    <a16:creationId xmlns:a16="http://schemas.microsoft.com/office/drawing/2014/main" id="{F606BB01-35FE-00F3-5CBA-2C0C1BD6F040}"/>
                  </a:ext>
                </a:extLst>
              </p:cNvPr>
              <p:cNvSpPr/>
              <p:nvPr/>
            </p:nvSpPr>
            <p:spPr>
              <a:xfrm>
                <a:off x="1392" y="2688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90513" name="Line 40">
                <a:extLst>
                  <a:ext uri="{FF2B5EF4-FFF2-40B4-BE49-F238E27FC236}">
                    <a16:creationId xmlns:a16="http://schemas.microsoft.com/office/drawing/2014/main" id="{70A832E6-F300-2F11-F1F4-FF80E194732E}"/>
                  </a:ext>
                </a:extLst>
              </p:cNvPr>
              <p:cNvSpPr/>
              <p:nvPr/>
            </p:nvSpPr>
            <p:spPr>
              <a:xfrm>
                <a:off x="4080" y="3264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14" name="Rectangle 41">
                <a:extLst>
                  <a:ext uri="{FF2B5EF4-FFF2-40B4-BE49-F238E27FC236}">
                    <a16:creationId xmlns:a16="http://schemas.microsoft.com/office/drawing/2014/main" id="{F94696AB-F876-8CC6-55AE-79432B4DDB46}"/>
                  </a:ext>
                </a:extLst>
              </p:cNvPr>
              <p:cNvSpPr/>
              <p:nvPr/>
            </p:nvSpPr>
            <p:spPr>
              <a:xfrm>
                <a:off x="4176" y="2736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190515" name="Rectangle 42">
                <a:extLst>
                  <a:ext uri="{FF2B5EF4-FFF2-40B4-BE49-F238E27FC236}">
                    <a16:creationId xmlns:a16="http://schemas.microsoft.com/office/drawing/2014/main" id="{B187B867-7ADA-BF25-0E97-86B3E3574E01}"/>
                  </a:ext>
                </a:extLst>
              </p:cNvPr>
              <p:cNvSpPr/>
              <p:nvPr/>
            </p:nvSpPr>
            <p:spPr>
              <a:xfrm>
                <a:off x="4176" y="1728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9</a:t>
                </a:r>
              </a:p>
            </p:txBody>
          </p:sp>
          <p:sp>
            <p:nvSpPr>
              <p:cNvPr id="190516" name="Rectangle 43">
                <a:extLst>
                  <a:ext uri="{FF2B5EF4-FFF2-40B4-BE49-F238E27FC236}">
                    <a16:creationId xmlns:a16="http://schemas.microsoft.com/office/drawing/2014/main" id="{AC3DAC93-9698-D3A0-8C00-7C9A26D7DF5E}"/>
                  </a:ext>
                </a:extLst>
              </p:cNvPr>
              <p:cNvSpPr/>
              <p:nvPr/>
            </p:nvSpPr>
            <p:spPr>
              <a:xfrm>
                <a:off x="1392" y="1728"/>
                <a:ext cx="41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190517" name="Rectangle 44">
                <a:extLst>
                  <a:ext uri="{FF2B5EF4-FFF2-40B4-BE49-F238E27FC236}">
                    <a16:creationId xmlns:a16="http://schemas.microsoft.com/office/drawing/2014/main" id="{67D0513D-FA03-30C9-13EF-B73ED7381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216"/>
                <a:ext cx="340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 Black" panose="020B0A04020102020204" pitchFamily="34" charset="0"/>
                    <a:ea typeface="宋体" panose="02010600030101010101" pitchFamily="2" charset="-122"/>
                    <a:cs typeface="+mn-cs"/>
                  </a:rPr>
                  <a:t>地</a:t>
                </a:r>
              </a:p>
            </p:txBody>
          </p:sp>
          <p:sp>
            <p:nvSpPr>
              <p:cNvPr id="190518" name="Rectangle 45">
                <a:extLst>
                  <a:ext uri="{FF2B5EF4-FFF2-40B4-BE49-F238E27FC236}">
                    <a16:creationId xmlns:a16="http://schemas.microsoft.com/office/drawing/2014/main" id="{1D008CD7-17B4-33E8-B942-D5C97B3D1636}"/>
                  </a:ext>
                </a:extLst>
              </p:cNvPr>
              <p:cNvSpPr/>
              <p:nvPr/>
            </p:nvSpPr>
            <p:spPr>
              <a:xfrm>
                <a:off x="2352" y="2160"/>
                <a:ext cx="11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800" i="0" dirty="0">
                    <a:solidFill>
                      <a:srgbClr val="3333FF"/>
                    </a:solidFill>
                    <a:latin typeface="Arial Black" panose="020B0A04020102020204" pitchFamily="34" charset="0"/>
                    <a:ea typeface="宋体" panose="02010600030101010101" pitchFamily="2" charset="-122"/>
                  </a:rPr>
                  <a:t>74LS138</a:t>
                </a:r>
              </a:p>
            </p:txBody>
          </p:sp>
          <p:sp>
            <p:nvSpPr>
              <p:cNvPr id="190519" name="Line 46">
                <a:extLst>
                  <a:ext uri="{FF2B5EF4-FFF2-40B4-BE49-F238E27FC236}">
                    <a16:creationId xmlns:a16="http://schemas.microsoft.com/office/drawing/2014/main" id="{870AEBF7-2E70-000D-D503-910FE4F2F63E}"/>
                  </a:ext>
                </a:extLst>
              </p:cNvPr>
              <p:cNvSpPr/>
              <p:nvPr/>
            </p:nvSpPr>
            <p:spPr>
              <a:xfrm>
                <a:off x="2592" y="3312"/>
                <a:ext cx="240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0" name="Line 47">
                <a:extLst>
                  <a:ext uri="{FF2B5EF4-FFF2-40B4-BE49-F238E27FC236}">
                    <a16:creationId xmlns:a16="http://schemas.microsoft.com/office/drawing/2014/main" id="{A35ADBA3-8A28-7A9F-254C-F36F2F6F4141}"/>
                  </a:ext>
                </a:extLst>
              </p:cNvPr>
              <p:cNvSpPr/>
              <p:nvPr/>
            </p:nvSpPr>
            <p:spPr>
              <a:xfrm>
                <a:off x="2988" y="3318"/>
                <a:ext cx="240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1" name="Line 48">
                <a:extLst>
                  <a:ext uri="{FF2B5EF4-FFF2-40B4-BE49-F238E27FC236}">
                    <a16:creationId xmlns:a16="http://schemas.microsoft.com/office/drawing/2014/main" id="{D58DB6AF-C64B-0ED9-D808-C33C6C7086CD}"/>
                  </a:ext>
                </a:extLst>
              </p:cNvPr>
              <p:cNvSpPr/>
              <p:nvPr/>
            </p:nvSpPr>
            <p:spPr>
              <a:xfrm>
                <a:off x="3792" y="3306"/>
                <a:ext cx="192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2" name="Line 49">
                <a:extLst>
                  <a:ext uri="{FF2B5EF4-FFF2-40B4-BE49-F238E27FC236}">
                    <a16:creationId xmlns:a16="http://schemas.microsoft.com/office/drawing/2014/main" id="{2373FCE9-76B5-001F-48E1-0C9C6654ED24}"/>
                  </a:ext>
                </a:extLst>
              </p:cNvPr>
              <p:cNvSpPr/>
              <p:nvPr/>
            </p:nvSpPr>
            <p:spPr>
              <a:xfrm>
                <a:off x="4176" y="1200"/>
                <a:ext cx="240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3" name="Line 50">
                <a:extLst>
                  <a:ext uri="{FF2B5EF4-FFF2-40B4-BE49-F238E27FC236}">
                    <a16:creationId xmlns:a16="http://schemas.microsoft.com/office/drawing/2014/main" id="{2A39C603-9318-6426-9428-485378A8FCF6}"/>
                  </a:ext>
                </a:extLst>
              </p:cNvPr>
              <p:cNvSpPr/>
              <p:nvPr/>
            </p:nvSpPr>
            <p:spPr>
              <a:xfrm>
                <a:off x="3792" y="1200"/>
                <a:ext cx="240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4" name="Line 51">
                <a:extLst>
                  <a:ext uri="{FF2B5EF4-FFF2-40B4-BE49-F238E27FC236}">
                    <a16:creationId xmlns:a16="http://schemas.microsoft.com/office/drawing/2014/main" id="{8060B22E-3A3C-A6F3-F330-D27B66CA7A36}"/>
                  </a:ext>
                </a:extLst>
              </p:cNvPr>
              <p:cNvSpPr/>
              <p:nvPr/>
            </p:nvSpPr>
            <p:spPr>
              <a:xfrm>
                <a:off x="3408" y="1200"/>
                <a:ext cx="192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5" name="Line 52">
                <a:extLst>
                  <a:ext uri="{FF2B5EF4-FFF2-40B4-BE49-F238E27FC236}">
                    <a16:creationId xmlns:a16="http://schemas.microsoft.com/office/drawing/2014/main" id="{F7CAEE89-0F9E-F8FB-85B1-094170D60468}"/>
                  </a:ext>
                </a:extLst>
              </p:cNvPr>
              <p:cNvSpPr/>
              <p:nvPr/>
            </p:nvSpPr>
            <p:spPr>
              <a:xfrm>
                <a:off x="3024" y="1200"/>
                <a:ext cx="192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6" name="Line 53">
                <a:extLst>
                  <a:ext uri="{FF2B5EF4-FFF2-40B4-BE49-F238E27FC236}">
                    <a16:creationId xmlns:a16="http://schemas.microsoft.com/office/drawing/2014/main" id="{8DDF5E56-5FC8-1A77-29DE-236FBD564AC0}"/>
                  </a:ext>
                </a:extLst>
              </p:cNvPr>
              <p:cNvSpPr/>
              <p:nvPr/>
            </p:nvSpPr>
            <p:spPr>
              <a:xfrm>
                <a:off x="2640" y="1200"/>
                <a:ext cx="192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0527" name="Line 54">
                <a:extLst>
                  <a:ext uri="{FF2B5EF4-FFF2-40B4-BE49-F238E27FC236}">
                    <a16:creationId xmlns:a16="http://schemas.microsoft.com/office/drawing/2014/main" id="{6A4641EA-69D1-2407-8EF8-FBC787505386}"/>
                  </a:ext>
                </a:extLst>
              </p:cNvPr>
              <p:cNvSpPr/>
              <p:nvPr/>
            </p:nvSpPr>
            <p:spPr>
              <a:xfrm>
                <a:off x="2256" y="1200"/>
                <a:ext cx="192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082" name="Line 55">
                <a:extLst>
                  <a:ext uri="{FF2B5EF4-FFF2-40B4-BE49-F238E27FC236}">
                    <a16:creationId xmlns:a16="http://schemas.microsoft.com/office/drawing/2014/main" id="{9AFDB88D-B6CF-2919-08DE-D572A4924414}"/>
                  </a:ext>
                </a:extLst>
              </p:cNvPr>
              <p:cNvSpPr/>
              <p:nvPr/>
            </p:nvSpPr>
            <p:spPr>
              <a:xfrm>
                <a:off x="1872" y="1200"/>
                <a:ext cx="192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90465" name="Oval 56">
              <a:extLst>
                <a:ext uri="{FF2B5EF4-FFF2-40B4-BE49-F238E27FC236}">
                  <a16:creationId xmlns:a16="http://schemas.microsoft.com/office/drawing/2014/main" id="{B0AE5C84-A218-91B0-FF80-40DBF155A508}"/>
                </a:ext>
              </a:extLst>
            </p:cNvPr>
            <p:cNvSpPr/>
            <p:nvPr/>
          </p:nvSpPr>
          <p:spPr>
            <a:xfrm>
              <a:off x="4287" y="1659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67" name="Oval 57">
              <a:extLst>
                <a:ext uri="{FF2B5EF4-FFF2-40B4-BE49-F238E27FC236}">
                  <a16:creationId xmlns:a16="http://schemas.microsoft.com/office/drawing/2014/main" id="{4EF92F80-1A96-CC7E-67CA-C266EB31BE4B}"/>
                </a:ext>
              </a:extLst>
            </p:cNvPr>
            <p:cNvSpPr/>
            <p:nvPr/>
          </p:nvSpPr>
          <p:spPr>
            <a:xfrm>
              <a:off x="2702" y="3015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68" name="Oval 58">
              <a:extLst>
                <a:ext uri="{FF2B5EF4-FFF2-40B4-BE49-F238E27FC236}">
                  <a16:creationId xmlns:a16="http://schemas.microsoft.com/office/drawing/2014/main" id="{35678765-4B6F-9453-097F-B0F7EAD990AC}"/>
                </a:ext>
              </a:extLst>
            </p:cNvPr>
            <p:cNvSpPr/>
            <p:nvPr/>
          </p:nvSpPr>
          <p:spPr>
            <a:xfrm>
              <a:off x="3081" y="3011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69" name="Oval 59">
              <a:extLst>
                <a:ext uri="{FF2B5EF4-FFF2-40B4-BE49-F238E27FC236}">
                  <a16:creationId xmlns:a16="http://schemas.microsoft.com/office/drawing/2014/main" id="{6EABD21D-003B-7E76-F1FC-8282A7C04607}"/>
                </a:ext>
              </a:extLst>
            </p:cNvPr>
            <p:cNvSpPr/>
            <p:nvPr/>
          </p:nvSpPr>
          <p:spPr>
            <a:xfrm>
              <a:off x="3850" y="3020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70" name="Oval 60">
              <a:extLst>
                <a:ext uri="{FF2B5EF4-FFF2-40B4-BE49-F238E27FC236}">
                  <a16:creationId xmlns:a16="http://schemas.microsoft.com/office/drawing/2014/main" id="{8D2E0C5B-980B-84AE-E283-6C14F17F323D}"/>
                </a:ext>
              </a:extLst>
            </p:cNvPr>
            <p:cNvSpPr/>
            <p:nvPr/>
          </p:nvSpPr>
          <p:spPr>
            <a:xfrm>
              <a:off x="1982" y="1661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71" name="Oval 61">
              <a:extLst>
                <a:ext uri="{FF2B5EF4-FFF2-40B4-BE49-F238E27FC236}">
                  <a16:creationId xmlns:a16="http://schemas.microsoft.com/office/drawing/2014/main" id="{EFC175EE-B6B7-A183-076F-45F386887059}"/>
                </a:ext>
              </a:extLst>
            </p:cNvPr>
            <p:cNvSpPr/>
            <p:nvPr/>
          </p:nvSpPr>
          <p:spPr>
            <a:xfrm>
              <a:off x="2355" y="1659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72" name="Oval 62">
              <a:extLst>
                <a:ext uri="{FF2B5EF4-FFF2-40B4-BE49-F238E27FC236}">
                  <a16:creationId xmlns:a16="http://schemas.microsoft.com/office/drawing/2014/main" id="{ADCD3516-B42D-FA3A-8FB4-7520CA8C5FA7}"/>
                </a:ext>
              </a:extLst>
            </p:cNvPr>
            <p:cNvSpPr/>
            <p:nvPr/>
          </p:nvSpPr>
          <p:spPr>
            <a:xfrm>
              <a:off x="2746" y="1653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73" name="Oval 63">
              <a:extLst>
                <a:ext uri="{FF2B5EF4-FFF2-40B4-BE49-F238E27FC236}">
                  <a16:creationId xmlns:a16="http://schemas.microsoft.com/office/drawing/2014/main" id="{C65E9D83-E68D-0F06-2586-2CAB4E1011C9}"/>
                </a:ext>
              </a:extLst>
            </p:cNvPr>
            <p:cNvSpPr/>
            <p:nvPr/>
          </p:nvSpPr>
          <p:spPr>
            <a:xfrm>
              <a:off x="3134" y="1653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74" name="Oval 64">
              <a:extLst>
                <a:ext uri="{FF2B5EF4-FFF2-40B4-BE49-F238E27FC236}">
                  <a16:creationId xmlns:a16="http://schemas.microsoft.com/office/drawing/2014/main" id="{BD719AFF-AD90-40CA-9F6C-74791264BABC}"/>
                </a:ext>
              </a:extLst>
            </p:cNvPr>
            <p:cNvSpPr/>
            <p:nvPr/>
          </p:nvSpPr>
          <p:spPr>
            <a:xfrm>
              <a:off x="3524" y="1652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0475" name="Oval 65">
              <a:extLst>
                <a:ext uri="{FF2B5EF4-FFF2-40B4-BE49-F238E27FC236}">
                  <a16:creationId xmlns:a16="http://schemas.microsoft.com/office/drawing/2014/main" id="{6E83521D-13F8-7ABF-C9BE-061B8CB88F6F}"/>
                </a:ext>
              </a:extLst>
            </p:cNvPr>
            <p:cNvSpPr/>
            <p:nvPr/>
          </p:nvSpPr>
          <p:spPr>
            <a:xfrm>
              <a:off x="3896" y="1653"/>
              <a:ext cx="76" cy="6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6083" name="文本框 86082">
            <a:extLst>
              <a:ext uri="{FF2B5EF4-FFF2-40B4-BE49-F238E27FC236}">
                <a16:creationId xmlns:a16="http://schemas.microsoft.com/office/drawing/2014/main" id="{F418509E-4D54-52DC-D737-FEDA3721C6CD}"/>
              </a:ext>
            </a:extLst>
          </p:cNvPr>
          <p:cNvSpPr txBox="1"/>
          <p:nvPr/>
        </p:nvSpPr>
        <p:spPr>
          <a:xfrm>
            <a:off x="7953241" y="3220134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当且仅当 </a:t>
            </a:r>
            <a:endParaRPr lang="en-US" altLang="zh-CN" dirty="0"/>
          </a:p>
          <a:p>
            <a:r>
              <a:rPr lang="zh-CN" altLang="zh-CN" dirty="0"/>
              <a:t>时，芯片才工作</a:t>
            </a:r>
            <a:endParaRPr lang="zh-CN" altLang="en-US" dirty="0"/>
          </a:p>
        </p:txBody>
      </p:sp>
      <p:pic>
        <p:nvPicPr>
          <p:cNvPr id="86085" name="图片 86084">
            <a:extLst>
              <a:ext uri="{FF2B5EF4-FFF2-40B4-BE49-F238E27FC236}">
                <a16:creationId xmlns:a16="http://schemas.microsoft.com/office/drawing/2014/main" id="{417A0E5E-CC50-7402-3C4F-44613F1F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312" y="3216102"/>
            <a:ext cx="983888" cy="31831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754" name="Object 2"/>
          <p:cNvGraphicFramePr>
            <a:graphicFrameLocks noChangeAspect="1"/>
          </p:cNvGraphicFramePr>
          <p:nvPr/>
        </p:nvGraphicFramePr>
        <p:xfrm>
          <a:off x="2228850" y="4791076"/>
          <a:ext cx="7416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52315" imgH="311150" progId="Equation.3">
                  <p:embed/>
                </p:oleObj>
              </mc:Choice>
              <mc:Fallback>
                <p:oleObj r:id="rId2" imgW="4552315" imgH="311150" progId="Equation.3">
                  <p:embed/>
                  <p:pic>
                    <p:nvPicPr>
                      <p:cNvPr id="202754" name="Object 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28850" y="4791076"/>
                        <a:ext cx="74168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219336"/>
              </p:ext>
            </p:extLst>
          </p:nvPr>
        </p:nvGraphicFramePr>
        <p:xfrm>
          <a:off x="2216150" y="1375570"/>
          <a:ext cx="749617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997211" imgH="2674730" progId="Word.Document.8">
                  <p:embed/>
                </p:oleObj>
              </mc:Choice>
              <mc:Fallback>
                <p:oleObj name="Document" r:id="rId4" imgW="6997211" imgH="2674730" progId="Word.Document.8">
                  <p:embed/>
                  <p:pic>
                    <p:nvPicPr>
                      <p:cNvPr id="202755" name="Object 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  <a:clrChange>
                          <a:clrFrom>
                            <a:srgbClr val="FFFF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16150" y="1375570"/>
                        <a:ext cx="7496175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6" name="Object 4"/>
          <p:cNvGraphicFramePr>
            <a:graphicFrameLocks noChangeAspect="1"/>
          </p:cNvGraphicFramePr>
          <p:nvPr/>
        </p:nvGraphicFramePr>
        <p:xfrm>
          <a:off x="2171701" y="5735639"/>
          <a:ext cx="74961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785995" imgH="311150" progId="Equation.3">
                  <p:embed/>
                </p:oleObj>
              </mc:Choice>
              <mc:Fallback>
                <p:oleObj r:id="rId6" imgW="4785995" imgH="311150" progId="Equation.3">
                  <p:embed/>
                  <p:pic>
                    <p:nvPicPr>
                      <p:cNvPr id="202756" name="Object 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71701" y="5735639"/>
                        <a:ext cx="749617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8" name="Line 5"/>
          <p:cNvSpPr/>
          <p:nvPr/>
        </p:nvSpPr>
        <p:spPr>
          <a:xfrm>
            <a:off x="2787651" y="1785938"/>
            <a:ext cx="2317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309" name="Line 6"/>
          <p:cNvSpPr/>
          <p:nvPr/>
        </p:nvSpPr>
        <p:spPr>
          <a:xfrm>
            <a:off x="6415088" y="1771650"/>
            <a:ext cx="247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0F0210-7770-A495-EA9B-E0940D3C0DE9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/>
          <p:nvPr/>
        </p:nvSpPr>
        <p:spPr>
          <a:xfrm>
            <a:off x="6610350" y="495300"/>
            <a:ext cx="3486150" cy="2857500"/>
          </a:xfrm>
          <a:prstGeom prst="rect">
            <a:avLst/>
          </a:prstGeom>
          <a:solidFill>
            <a:srgbClr val="CCFFFF"/>
          </a:solidFill>
          <a:ln w="19050">
            <a:noFill/>
          </a:ln>
        </p:spPr>
        <p:txBody>
          <a:bodyPr wrap="none" anchor="ctr" anchorCtr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4945063" y="6400800"/>
            <a:ext cx="57229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kumimoji="1"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74LS153</a:t>
            </a:r>
            <a:r>
              <a:rPr kumimoji="1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型双四选一多路选择器</a:t>
            </a:r>
          </a:p>
        </p:txBody>
      </p:sp>
      <p:grpSp>
        <p:nvGrpSpPr>
          <p:cNvPr id="99331" name="Group 4"/>
          <p:cNvGrpSpPr/>
          <p:nvPr/>
        </p:nvGrpSpPr>
        <p:grpSpPr>
          <a:xfrm>
            <a:off x="1524000" y="400050"/>
            <a:ext cx="4495800" cy="6172200"/>
            <a:chOff x="0" y="252"/>
            <a:chExt cx="2832" cy="3888"/>
          </a:xfrm>
        </p:grpSpPr>
        <p:sp>
          <p:nvSpPr>
            <p:cNvPr id="99332" name="Text Box 5"/>
            <p:cNvSpPr txBox="1"/>
            <p:nvPr/>
          </p:nvSpPr>
          <p:spPr>
            <a:xfrm>
              <a:off x="2352" y="876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1Q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33" name="Text Box 6"/>
            <p:cNvSpPr txBox="1"/>
            <p:nvPr/>
          </p:nvSpPr>
          <p:spPr>
            <a:xfrm>
              <a:off x="2352" y="3036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2Q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9334" name="Group 7"/>
            <p:cNvGrpSpPr/>
            <p:nvPr/>
          </p:nvGrpSpPr>
          <p:grpSpPr>
            <a:xfrm>
              <a:off x="1584" y="338"/>
              <a:ext cx="624" cy="1541"/>
              <a:chOff x="1536" y="336"/>
              <a:chExt cx="576" cy="1680"/>
            </a:xfrm>
          </p:grpSpPr>
          <p:sp>
            <p:nvSpPr>
              <p:cNvPr id="99335" name="Rectangle 8"/>
              <p:cNvSpPr/>
              <p:nvPr/>
            </p:nvSpPr>
            <p:spPr>
              <a:xfrm>
                <a:off x="1536" y="336"/>
                <a:ext cx="576" cy="1680"/>
              </a:xfrm>
              <a:prstGeom prst="rect">
                <a:avLst/>
              </a:prstGeom>
              <a:solidFill>
                <a:srgbClr val="E1FD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36" name="Line 9"/>
              <p:cNvSpPr/>
              <p:nvPr/>
            </p:nvSpPr>
            <p:spPr>
              <a:xfrm>
                <a:off x="1824" y="336"/>
                <a:ext cx="0" cy="168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37" name="Line 10"/>
              <p:cNvSpPr/>
              <p:nvPr/>
            </p:nvSpPr>
            <p:spPr>
              <a:xfrm>
                <a:off x="1536" y="1176"/>
                <a:ext cx="288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38" name="Line 11"/>
              <p:cNvSpPr/>
              <p:nvPr/>
            </p:nvSpPr>
            <p:spPr>
              <a:xfrm>
                <a:off x="1536" y="720"/>
                <a:ext cx="288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39" name="Line 12"/>
              <p:cNvSpPr/>
              <p:nvPr/>
            </p:nvSpPr>
            <p:spPr>
              <a:xfrm>
                <a:off x="1536" y="1584"/>
                <a:ext cx="288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9340" name="Line 13"/>
            <p:cNvSpPr/>
            <p:nvPr/>
          </p:nvSpPr>
          <p:spPr>
            <a:xfrm>
              <a:off x="680" y="382"/>
              <a:ext cx="9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41" name="Line 14"/>
            <p:cNvSpPr/>
            <p:nvPr/>
          </p:nvSpPr>
          <p:spPr>
            <a:xfrm>
              <a:off x="1177" y="470"/>
              <a:ext cx="4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42" name="Line 15"/>
            <p:cNvSpPr/>
            <p:nvPr/>
          </p:nvSpPr>
          <p:spPr>
            <a:xfrm>
              <a:off x="1312" y="558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43" name="Line 16"/>
            <p:cNvSpPr/>
            <p:nvPr/>
          </p:nvSpPr>
          <p:spPr>
            <a:xfrm>
              <a:off x="2222" y="1108"/>
              <a:ext cx="2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44" name="Text Box 17"/>
            <p:cNvSpPr txBox="1"/>
            <p:nvPr/>
          </p:nvSpPr>
          <p:spPr>
            <a:xfrm>
              <a:off x="1855" y="381"/>
              <a:ext cx="3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1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45" name="Text Box 18"/>
            <p:cNvSpPr txBox="1"/>
            <p:nvPr/>
          </p:nvSpPr>
          <p:spPr>
            <a:xfrm>
              <a:off x="1629" y="381"/>
              <a:ext cx="27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&amp;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9346" name="Group 19"/>
            <p:cNvGrpSpPr/>
            <p:nvPr/>
          </p:nvGrpSpPr>
          <p:grpSpPr>
            <a:xfrm>
              <a:off x="1584" y="2495"/>
              <a:ext cx="624" cy="1540"/>
              <a:chOff x="1536" y="336"/>
              <a:chExt cx="576" cy="1680"/>
            </a:xfrm>
          </p:grpSpPr>
          <p:sp>
            <p:nvSpPr>
              <p:cNvPr id="99347" name="Rectangle 20"/>
              <p:cNvSpPr/>
              <p:nvPr/>
            </p:nvSpPr>
            <p:spPr>
              <a:xfrm>
                <a:off x="1536" y="336"/>
                <a:ext cx="576" cy="1680"/>
              </a:xfrm>
              <a:prstGeom prst="rect">
                <a:avLst/>
              </a:prstGeom>
              <a:solidFill>
                <a:srgbClr val="E1FD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48" name="Line 21"/>
              <p:cNvSpPr/>
              <p:nvPr/>
            </p:nvSpPr>
            <p:spPr>
              <a:xfrm>
                <a:off x="1824" y="336"/>
                <a:ext cx="0" cy="168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49" name="Line 22"/>
              <p:cNvSpPr/>
              <p:nvPr/>
            </p:nvSpPr>
            <p:spPr>
              <a:xfrm>
                <a:off x="1536" y="1176"/>
                <a:ext cx="288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50" name="Line 23"/>
              <p:cNvSpPr/>
              <p:nvPr/>
            </p:nvSpPr>
            <p:spPr>
              <a:xfrm>
                <a:off x="1536" y="720"/>
                <a:ext cx="288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51" name="Line 24"/>
              <p:cNvSpPr/>
              <p:nvPr/>
            </p:nvSpPr>
            <p:spPr>
              <a:xfrm>
                <a:off x="1536" y="1584"/>
                <a:ext cx="288" cy="0"/>
              </a:xfrm>
              <a:prstGeom prst="line">
                <a:avLst/>
              </a:prstGeom>
              <a:ln w="9525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9352" name="Line 25"/>
            <p:cNvSpPr/>
            <p:nvPr/>
          </p:nvSpPr>
          <p:spPr>
            <a:xfrm>
              <a:off x="307" y="2539"/>
              <a:ext cx="127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53" name="Line 26"/>
            <p:cNvSpPr/>
            <p:nvPr/>
          </p:nvSpPr>
          <p:spPr>
            <a:xfrm>
              <a:off x="1177" y="2627"/>
              <a:ext cx="4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54" name="Line 27"/>
            <p:cNvSpPr/>
            <p:nvPr/>
          </p:nvSpPr>
          <p:spPr>
            <a:xfrm>
              <a:off x="1312" y="2715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55" name="Line 28"/>
            <p:cNvSpPr/>
            <p:nvPr/>
          </p:nvSpPr>
          <p:spPr>
            <a:xfrm>
              <a:off x="2222" y="3265"/>
              <a:ext cx="2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56" name="Text Box 29"/>
            <p:cNvSpPr txBox="1"/>
            <p:nvPr/>
          </p:nvSpPr>
          <p:spPr>
            <a:xfrm>
              <a:off x="1855" y="2539"/>
              <a:ext cx="35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1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57" name="Text Box 30"/>
            <p:cNvSpPr txBox="1"/>
            <p:nvPr/>
          </p:nvSpPr>
          <p:spPr>
            <a:xfrm>
              <a:off x="1629" y="2539"/>
              <a:ext cx="27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&amp;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58" name="Oval 31"/>
            <p:cNvSpPr/>
            <p:nvPr/>
          </p:nvSpPr>
          <p:spPr>
            <a:xfrm>
              <a:off x="1425" y="359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9359" name="Group 32"/>
            <p:cNvGrpSpPr/>
            <p:nvPr/>
          </p:nvGrpSpPr>
          <p:grpSpPr>
            <a:xfrm>
              <a:off x="672" y="1879"/>
              <a:ext cx="188" cy="231"/>
              <a:chOff x="232" y="384"/>
              <a:chExt cx="200" cy="302"/>
            </a:xfrm>
          </p:grpSpPr>
          <p:sp>
            <p:nvSpPr>
              <p:cNvPr id="99360" name="Rectangle 33"/>
              <p:cNvSpPr/>
              <p:nvPr/>
            </p:nvSpPr>
            <p:spPr>
              <a:xfrm>
                <a:off x="240" y="432"/>
                <a:ext cx="144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61" name="Oval 34"/>
              <p:cNvSpPr/>
              <p:nvPr/>
            </p:nvSpPr>
            <p:spPr>
              <a:xfrm>
                <a:off x="384" y="528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62" name="Text Box 35"/>
              <p:cNvSpPr txBox="1"/>
              <p:nvPr/>
            </p:nvSpPr>
            <p:spPr>
              <a:xfrm>
                <a:off x="232" y="384"/>
                <a:ext cx="130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99363" name="Line 36"/>
            <p:cNvSpPr/>
            <p:nvPr/>
          </p:nvSpPr>
          <p:spPr>
            <a:xfrm flipH="1">
              <a:off x="680" y="3991"/>
              <a:ext cx="9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64" name="Rectangle 37"/>
            <p:cNvSpPr/>
            <p:nvPr/>
          </p:nvSpPr>
          <p:spPr>
            <a:xfrm flipH="1">
              <a:off x="544" y="3903"/>
              <a:ext cx="136" cy="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65" name="Oval 38"/>
            <p:cNvSpPr/>
            <p:nvPr/>
          </p:nvSpPr>
          <p:spPr>
            <a:xfrm flipH="1">
              <a:off x="499" y="3991"/>
              <a:ext cx="45" cy="4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66" name="Text Box 39"/>
            <p:cNvSpPr txBox="1"/>
            <p:nvPr/>
          </p:nvSpPr>
          <p:spPr>
            <a:xfrm flipH="1">
              <a:off x="539" y="3909"/>
              <a:ext cx="12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9367" name="Line 40"/>
            <p:cNvSpPr/>
            <p:nvPr/>
          </p:nvSpPr>
          <p:spPr>
            <a:xfrm flipH="1">
              <a:off x="288" y="4013"/>
              <a:ext cx="21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68" name="Rectangle 41"/>
            <p:cNvSpPr/>
            <p:nvPr/>
          </p:nvSpPr>
          <p:spPr>
            <a:xfrm flipH="1">
              <a:off x="544" y="294"/>
              <a:ext cx="136" cy="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69" name="Oval 42"/>
            <p:cNvSpPr/>
            <p:nvPr/>
          </p:nvSpPr>
          <p:spPr>
            <a:xfrm flipH="1">
              <a:off x="499" y="382"/>
              <a:ext cx="45" cy="4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70" name="Text Box 43"/>
            <p:cNvSpPr txBox="1"/>
            <p:nvPr/>
          </p:nvSpPr>
          <p:spPr>
            <a:xfrm flipH="1">
              <a:off x="539" y="299"/>
              <a:ext cx="12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9371" name="Line 44"/>
            <p:cNvSpPr/>
            <p:nvPr/>
          </p:nvSpPr>
          <p:spPr>
            <a:xfrm flipH="1">
              <a:off x="288" y="404"/>
              <a:ext cx="21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72" name="Line 45"/>
            <p:cNvSpPr/>
            <p:nvPr/>
          </p:nvSpPr>
          <p:spPr>
            <a:xfrm>
              <a:off x="1448" y="382"/>
              <a:ext cx="0" cy="1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73" name="Line 46"/>
            <p:cNvSpPr/>
            <p:nvPr/>
          </p:nvSpPr>
          <p:spPr>
            <a:xfrm>
              <a:off x="1448" y="1526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74" name="Line 47"/>
            <p:cNvSpPr/>
            <p:nvPr/>
          </p:nvSpPr>
          <p:spPr>
            <a:xfrm>
              <a:off x="1448" y="1174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75" name="Line 48"/>
            <p:cNvSpPr/>
            <p:nvPr/>
          </p:nvSpPr>
          <p:spPr>
            <a:xfrm>
              <a:off x="1448" y="734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76" name="Oval 49"/>
            <p:cNvSpPr/>
            <p:nvPr/>
          </p:nvSpPr>
          <p:spPr>
            <a:xfrm>
              <a:off x="1426" y="711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77" name="Oval 50"/>
            <p:cNvSpPr/>
            <p:nvPr/>
          </p:nvSpPr>
          <p:spPr>
            <a:xfrm>
              <a:off x="1426" y="1151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78" name="Oval 51"/>
            <p:cNvSpPr/>
            <p:nvPr/>
          </p:nvSpPr>
          <p:spPr>
            <a:xfrm>
              <a:off x="1153" y="2603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79" name="Line 52"/>
            <p:cNvSpPr/>
            <p:nvPr/>
          </p:nvSpPr>
          <p:spPr>
            <a:xfrm>
              <a:off x="1312" y="558"/>
              <a:ext cx="0" cy="29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0" name="Line 53"/>
            <p:cNvSpPr/>
            <p:nvPr/>
          </p:nvSpPr>
          <p:spPr>
            <a:xfrm>
              <a:off x="906" y="1262"/>
              <a:ext cx="0" cy="25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1" name="Line 54"/>
            <p:cNvSpPr/>
            <p:nvPr/>
          </p:nvSpPr>
          <p:spPr>
            <a:xfrm>
              <a:off x="1041" y="910"/>
              <a:ext cx="0" cy="29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2" name="Line 55"/>
            <p:cNvSpPr/>
            <p:nvPr/>
          </p:nvSpPr>
          <p:spPr>
            <a:xfrm>
              <a:off x="1177" y="470"/>
              <a:ext cx="0" cy="25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3" name="Line 56"/>
            <p:cNvSpPr/>
            <p:nvPr/>
          </p:nvSpPr>
          <p:spPr>
            <a:xfrm>
              <a:off x="1448" y="2803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4" name="Line 57"/>
            <p:cNvSpPr/>
            <p:nvPr/>
          </p:nvSpPr>
          <p:spPr>
            <a:xfrm>
              <a:off x="1448" y="3199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5" name="Line 58"/>
            <p:cNvSpPr/>
            <p:nvPr/>
          </p:nvSpPr>
          <p:spPr>
            <a:xfrm>
              <a:off x="1448" y="3595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6" name="Line 59"/>
            <p:cNvSpPr/>
            <p:nvPr/>
          </p:nvSpPr>
          <p:spPr>
            <a:xfrm>
              <a:off x="1448" y="2803"/>
              <a:ext cx="0" cy="11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87" name="Oval 60"/>
            <p:cNvSpPr/>
            <p:nvPr/>
          </p:nvSpPr>
          <p:spPr>
            <a:xfrm>
              <a:off x="1292" y="2690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88" name="Oval 61"/>
            <p:cNvSpPr/>
            <p:nvPr/>
          </p:nvSpPr>
          <p:spPr>
            <a:xfrm>
              <a:off x="1426" y="3175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89" name="Oval 62"/>
            <p:cNvSpPr/>
            <p:nvPr/>
          </p:nvSpPr>
          <p:spPr>
            <a:xfrm>
              <a:off x="1426" y="3572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90" name="Oval 63"/>
            <p:cNvSpPr/>
            <p:nvPr/>
          </p:nvSpPr>
          <p:spPr>
            <a:xfrm>
              <a:off x="1426" y="3967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91" name="Line 64"/>
            <p:cNvSpPr/>
            <p:nvPr/>
          </p:nvSpPr>
          <p:spPr>
            <a:xfrm>
              <a:off x="318" y="2935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2" name="Line 65"/>
            <p:cNvSpPr/>
            <p:nvPr/>
          </p:nvSpPr>
          <p:spPr>
            <a:xfrm>
              <a:off x="318" y="333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3" name="Line 66"/>
            <p:cNvSpPr/>
            <p:nvPr/>
          </p:nvSpPr>
          <p:spPr>
            <a:xfrm>
              <a:off x="307" y="3727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4" name="Line 67"/>
            <p:cNvSpPr/>
            <p:nvPr/>
          </p:nvSpPr>
          <p:spPr>
            <a:xfrm>
              <a:off x="1041" y="3903"/>
              <a:ext cx="5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5" name="Line 68"/>
            <p:cNvSpPr/>
            <p:nvPr/>
          </p:nvSpPr>
          <p:spPr>
            <a:xfrm>
              <a:off x="906" y="3815"/>
              <a:ext cx="6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6" name="Line 69"/>
            <p:cNvSpPr/>
            <p:nvPr/>
          </p:nvSpPr>
          <p:spPr>
            <a:xfrm>
              <a:off x="906" y="3419"/>
              <a:ext cx="6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7" name="Line 70"/>
            <p:cNvSpPr/>
            <p:nvPr/>
          </p:nvSpPr>
          <p:spPr>
            <a:xfrm>
              <a:off x="1312" y="3507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8" name="Line 71"/>
            <p:cNvSpPr/>
            <p:nvPr/>
          </p:nvSpPr>
          <p:spPr>
            <a:xfrm>
              <a:off x="1177" y="3023"/>
              <a:ext cx="4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99" name="Line 72"/>
            <p:cNvSpPr/>
            <p:nvPr/>
          </p:nvSpPr>
          <p:spPr>
            <a:xfrm>
              <a:off x="1041" y="3111"/>
              <a:ext cx="5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0" name="Oval 73"/>
            <p:cNvSpPr/>
            <p:nvPr/>
          </p:nvSpPr>
          <p:spPr>
            <a:xfrm>
              <a:off x="1019" y="3090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01" name="Oval 74"/>
            <p:cNvSpPr/>
            <p:nvPr/>
          </p:nvSpPr>
          <p:spPr>
            <a:xfrm>
              <a:off x="884" y="3397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02" name="Oval 75"/>
            <p:cNvSpPr/>
            <p:nvPr/>
          </p:nvSpPr>
          <p:spPr>
            <a:xfrm>
              <a:off x="1292" y="1328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03" name="Line 76"/>
            <p:cNvSpPr/>
            <p:nvPr/>
          </p:nvSpPr>
          <p:spPr>
            <a:xfrm>
              <a:off x="1312" y="1350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4" name="Line 77"/>
            <p:cNvSpPr/>
            <p:nvPr/>
          </p:nvSpPr>
          <p:spPr>
            <a:xfrm>
              <a:off x="318" y="646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5" name="Line 78"/>
            <p:cNvSpPr/>
            <p:nvPr/>
          </p:nvSpPr>
          <p:spPr>
            <a:xfrm>
              <a:off x="318" y="998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6" name="Line 79"/>
            <p:cNvSpPr/>
            <p:nvPr/>
          </p:nvSpPr>
          <p:spPr>
            <a:xfrm>
              <a:off x="318" y="1438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7" name="Line 80"/>
            <p:cNvSpPr/>
            <p:nvPr/>
          </p:nvSpPr>
          <p:spPr>
            <a:xfrm>
              <a:off x="318" y="179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8" name="Line 81"/>
            <p:cNvSpPr/>
            <p:nvPr/>
          </p:nvSpPr>
          <p:spPr>
            <a:xfrm>
              <a:off x="1177" y="822"/>
              <a:ext cx="4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09" name="Line 82"/>
            <p:cNvSpPr/>
            <p:nvPr/>
          </p:nvSpPr>
          <p:spPr>
            <a:xfrm>
              <a:off x="1041" y="910"/>
              <a:ext cx="5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10" name="Line 83"/>
            <p:cNvSpPr/>
            <p:nvPr/>
          </p:nvSpPr>
          <p:spPr>
            <a:xfrm>
              <a:off x="906" y="1262"/>
              <a:ext cx="6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11" name="Line 84"/>
            <p:cNvSpPr/>
            <p:nvPr/>
          </p:nvSpPr>
          <p:spPr>
            <a:xfrm>
              <a:off x="906" y="1615"/>
              <a:ext cx="67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12" name="Line 85"/>
            <p:cNvSpPr/>
            <p:nvPr/>
          </p:nvSpPr>
          <p:spPr>
            <a:xfrm>
              <a:off x="1041" y="1703"/>
              <a:ext cx="5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13" name="Oval 86"/>
            <p:cNvSpPr/>
            <p:nvPr/>
          </p:nvSpPr>
          <p:spPr>
            <a:xfrm>
              <a:off x="1019" y="1678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14" name="Oval 87"/>
            <p:cNvSpPr/>
            <p:nvPr/>
          </p:nvSpPr>
          <p:spPr>
            <a:xfrm>
              <a:off x="884" y="1591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15" name="Oval 88"/>
            <p:cNvSpPr/>
            <p:nvPr/>
          </p:nvSpPr>
          <p:spPr>
            <a:xfrm>
              <a:off x="1155" y="801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16" name="Oval 89"/>
            <p:cNvSpPr/>
            <p:nvPr/>
          </p:nvSpPr>
          <p:spPr>
            <a:xfrm>
              <a:off x="1017" y="2296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17" name="Rectangle 90"/>
            <p:cNvSpPr/>
            <p:nvPr/>
          </p:nvSpPr>
          <p:spPr>
            <a:xfrm>
              <a:off x="680" y="2224"/>
              <a:ext cx="135" cy="18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18" name="Oval 91"/>
            <p:cNvSpPr/>
            <p:nvPr/>
          </p:nvSpPr>
          <p:spPr>
            <a:xfrm>
              <a:off x="815" y="2297"/>
              <a:ext cx="45" cy="3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9419" name="Group 92"/>
            <p:cNvGrpSpPr/>
            <p:nvPr/>
          </p:nvGrpSpPr>
          <p:grpSpPr>
            <a:xfrm>
              <a:off x="401" y="1879"/>
              <a:ext cx="188" cy="231"/>
              <a:chOff x="232" y="384"/>
              <a:chExt cx="200" cy="302"/>
            </a:xfrm>
          </p:grpSpPr>
          <p:sp>
            <p:nvSpPr>
              <p:cNvPr id="99420" name="Rectangle 93"/>
              <p:cNvSpPr/>
              <p:nvPr/>
            </p:nvSpPr>
            <p:spPr>
              <a:xfrm>
                <a:off x="240" y="432"/>
                <a:ext cx="144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21" name="Oval 94"/>
              <p:cNvSpPr/>
              <p:nvPr/>
            </p:nvSpPr>
            <p:spPr>
              <a:xfrm>
                <a:off x="384" y="528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22" name="Text Box 95"/>
              <p:cNvSpPr txBox="1"/>
              <p:nvPr/>
            </p:nvSpPr>
            <p:spPr>
              <a:xfrm>
                <a:off x="232" y="384"/>
                <a:ext cx="130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99423" name="Text Box 96"/>
            <p:cNvSpPr txBox="1"/>
            <p:nvPr/>
          </p:nvSpPr>
          <p:spPr>
            <a:xfrm>
              <a:off x="672" y="2187"/>
              <a:ext cx="12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99424" name="Group 97"/>
            <p:cNvGrpSpPr/>
            <p:nvPr/>
          </p:nvGrpSpPr>
          <p:grpSpPr>
            <a:xfrm>
              <a:off x="401" y="2187"/>
              <a:ext cx="188" cy="231"/>
              <a:chOff x="232" y="384"/>
              <a:chExt cx="200" cy="302"/>
            </a:xfrm>
          </p:grpSpPr>
          <p:sp>
            <p:nvSpPr>
              <p:cNvPr id="99425" name="Rectangle 98"/>
              <p:cNvSpPr/>
              <p:nvPr/>
            </p:nvSpPr>
            <p:spPr>
              <a:xfrm>
                <a:off x="240" y="432"/>
                <a:ext cx="144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26" name="Oval 99"/>
              <p:cNvSpPr/>
              <p:nvPr/>
            </p:nvSpPr>
            <p:spPr>
              <a:xfrm>
                <a:off x="384" y="528"/>
                <a:ext cx="48" cy="4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27" name="Text Box 100"/>
              <p:cNvSpPr txBox="1"/>
              <p:nvPr/>
            </p:nvSpPr>
            <p:spPr>
              <a:xfrm>
                <a:off x="232" y="384"/>
                <a:ext cx="130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99428" name="Line 101"/>
            <p:cNvSpPr/>
            <p:nvPr/>
          </p:nvSpPr>
          <p:spPr>
            <a:xfrm>
              <a:off x="860" y="2011"/>
              <a:ext cx="4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29" name="Line 102"/>
            <p:cNvSpPr/>
            <p:nvPr/>
          </p:nvSpPr>
          <p:spPr>
            <a:xfrm>
              <a:off x="860" y="2319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0" name="Oval 103"/>
            <p:cNvSpPr/>
            <p:nvPr/>
          </p:nvSpPr>
          <p:spPr>
            <a:xfrm>
              <a:off x="884" y="1988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31" name="Line 104"/>
            <p:cNvSpPr/>
            <p:nvPr/>
          </p:nvSpPr>
          <p:spPr>
            <a:xfrm>
              <a:off x="589" y="2011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2" name="Line 105"/>
            <p:cNvSpPr/>
            <p:nvPr/>
          </p:nvSpPr>
          <p:spPr>
            <a:xfrm>
              <a:off x="589" y="2319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3" name="Line 106"/>
            <p:cNvSpPr/>
            <p:nvPr/>
          </p:nvSpPr>
          <p:spPr>
            <a:xfrm>
              <a:off x="318" y="2011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4" name="Line 107"/>
            <p:cNvSpPr/>
            <p:nvPr/>
          </p:nvSpPr>
          <p:spPr>
            <a:xfrm>
              <a:off x="318" y="2319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5" name="Line 108"/>
            <p:cNvSpPr/>
            <p:nvPr/>
          </p:nvSpPr>
          <p:spPr>
            <a:xfrm flipV="1">
              <a:off x="635" y="1876"/>
              <a:ext cx="0" cy="1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6" name="Line 109"/>
            <p:cNvSpPr/>
            <p:nvPr/>
          </p:nvSpPr>
          <p:spPr>
            <a:xfrm>
              <a:off x="635" y="1879"/>
              <a:ext cx="54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7" name="Line 110"/>
            <p:cNvSpPr/>
            <p:nvPr/>
          </p:nvSpPr>
          <p:spPr>
            <a:xfrm flipV="1">
              <a:off x="635" y="2316"/>
              <a:ext cx="0" cy="1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8" name="Line 111"/>
            <p:cNvSpPr/>
            <p:nvPr/>
          </p:nvSpPr>
          <p:spPr>
            <a:xfrm>
              <a:off x="635" y="2451"/>
              <a:ext cx="6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39" name="Oval 112"/>
            <p:cNvSpPr/>
            <p:nvPr/>
          </p:nvSpPr>
          <p:spPr>
            <a:xfrm>
              <a:off x="1153" y="1855"/>
              <a:ext cx="46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0" name="Oval 113"/>
            <p:cNvSpPr/>
            <p:nvPr/>
          </p:nvSpPr>
          <p:spPr>
            <a:xfrm>
              <a:off x="1287" y="2426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1" name="Oval 114"/>
            <p:cNvSpPr/>
            <p:nvPr/>
          </p:nvSpPr>
          <p:spPr>
            <a:xfrm>
              <a:off x="613" y="2298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2" name="Oval 115"/>
            <p:cNvSpPr/>
            <p:nvPr/>
          </p:nvSpPr>
          <p:spPr>
            <a:xfrm>
              <a:off x="611" y="1990"/>
              <a:ext cx="45" cy="4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3" name="Text Box 116"/>
            <p:cNvSpPr txBox="1"/>
            <p:nvPr/>
          </p:nvSpPr>
          <p:spPr>
            <a:xfrm>
              <a:off x="0" y="25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1S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4" name="Text Box 117"/>
            <p:cNvSpPr txBox="1"/>
            <p:nvPr/>
          </p:nvSpPr>
          <p:spPr>
            <a:xfrm>
              <a:off x="0" y="49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5" name="Text Box 118"/>
            <p:cNvSpPr txBox="1"/>
            <p:nvPr/>
          </p:nvSpPr>
          <p:spPr>
            <a:xfrm>
              <a:off x="0" y="818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6" name="Text Box 119"/>
            <p:cNvSpPr txBox="1"/>
            <p:nvPr/>
          </p:nvSpPr>
          <p:spPr>
            <a:xfrm>
              <a:off x="0" y="125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7" name="Text Box 120"/>
            <p:cNvSpPr txBox="1"/>
            <p:nvPr/>
          </p:nvSpPr>
          <p:spPr>
            <a:xfrm>
              <a:off x="0" y="1634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8" name="Text Box 121"/>
            <p:cNvSpPr txBox="1"/>
            <p:nvPr/>
          </p:nvSpPr>
          <p:spPr>
            <a:xfrm>
              <a:off x="48" y="1874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49" name="Text Box 122"/>
            <p:cNvSpPr txBox="1"/>
            <p:nvPr/>
          </p:nvSpPr>
          <p:spPr>
            <a:xfrm>
              <a:off x="48" y="216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50" name="Text Box 123"/>
            <p:cNvSpPr txBox="1"/>
            <p:nvPr/>
          </p:nvSpPr>
          <p:spPr>
            <a:xfrm>
              <a:off x="0" y="385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2S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51" name="Text Box 124"/>
            <p:cNvSpPr txBox="1"/>
            <p:nvPr/>
          </p:nvSpPr>
          <p:spPr>
            <a:xfrm>
              <a:off x="0" y="242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52" name="Text Box 125"/>
            <p:cNvSpPr txBox="1"/>
            <p:nvPr/>
          </p:nvSpPr>
          <p:spPr>
            <a:xfrm>
              <a:off x="0" y="2748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53" name="Text Box 126"/>
            <p:cNvSpPr txBox="1"/>
            <p:nvPr/>
          </p:nvSpPr>
          <p:spPr>
            <a:xfrm>
              <a:off x="0" y="318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54" name="Text Box 127"/>
            <p:cNvSpPr txBox="1"/>
            <p:nvPr/>
          </p:nvSpPr>
          <p:spPr>
            <a:xfrm>
              <a:off x="0" y="3564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3904" name="Text Box 128"/>
          <p:cNvSpPr txBox="1">
            <a:spLocks noChangeArrowheads="1"/>
          </p:cNvSpPr>
          <p:nvPr/>
        </p:nvSpPr>
        <p:spPr bwMode="auto">
          <a:xfrm>
            <a:off x="2838450" y="6400800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kumimoji="1" lang="zh-CN" altLang="zh-CN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逻辑图</a:t>
            </a:r>
            <a:endParaRPr kumimoji="1" lang="zh-CN" altLang="en-US" sz="2400" b="1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905" name="Text Box 129"/>
          <p:cNvSpPr txBox="1">
            <a:spLocks noChangeArrowheads="1"/>
          </p:cNvSpPr>
          <p:nvPr/>
        </p:nvSpPr>
        <p:spPr bwMode="auto">
          <a:xfrm>
            <a:off x="7239000" y="3352800"/>
            <a:ext cx="236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kumimoji="1" lang="zh-CN" altLang="zh-CN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等效电路</a:t>
            </a:r>
            <a:endParaRPr kumimoji="1" lang="zh-CN" altLang="en-US" sz="2400" b="1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3906" name="Text Box 130"/>
          <p:cNvSpPr txBox="1">
            <a:spLocks noChangeArrowheads="1"/>
          </p:cNvSpPr>
          <p:nvPr/>
        </p:nvSpPr>
        <p:spPr bwMode="auto">
          <a:xfrm>
            <a:off x="7296150" y="5962650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4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）方框图</a:t>
            </a:r>
          </a:p>
        </p:txBody>
      </p:sp>
      <p:grpSp>
        <p:nvGrpSpPr>
          <p:cNvPr id="8" name="Group 131"/>
          <p:cNvGrpSpPr/>
          <p:nvPr/>
        </p:nvGrpSpPr>
        <p:grpSpPr>
          <a:xfrm>
            <a:off x="6629400" y="495300"/>
            <a:ext cx="3581400" cy="2819400"/>
            <a:chOff x="3312" y="0"/>
            <a:chExt cx="2256" cy="1776"/>
          </a:xfrm>
        </p:grpSpPr>
        <p:grpSp>
          <p:nvGrpSpPr>
            <p:cNvPr id="99459" name="Group 132"/>
            <p:cNvGrpSpPr/>
            <p:nvPr/>
          </p:nvGrpSpPr>
          <p:grpSpPr>
            <a:xfrm>
              <a:off x="3312" y="0"/>
              <a:ext cx="1152" cy="1776"/>
              <a:chOff x="3312" y="0"/>
              <a:chExt cx="1152" cy="1776"/>
            </a:xfrm>
          </p:grpSpPr>
          <p:sp>
            <p:nvSpPr>
              <p:cNvPr id="99460" name="Line 133"/>
              <p:cNvSpPr/>
              <p:nvPr/>
            </p:nvSpPr>
            <p:spPr>
              <a:xfrm>
                <a:off x="3456" y="240"/>
                <a:ext cx="0" cy="6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9461" name="Line 134"/>
              <p:cNvSpPr/>
              <p:nvPr/>
            </p:nvSpPr>
            <p:spPr>
              <a:xfrm>
                <a:off x="3696" y="24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9462" name="Line 135"/>
              <p:cNvSpPr/>
              <p:nvPr/>
            </p:nvSpPr>
            <p:spPr>
              <a:xfrm>
                <a:off x="3936" y="24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9463" name="Line 136"/>
              <p:cNvSpPr/>
              <p:nvPr/>
            </p:nvSpPr>
            <p:spPr>
              <a:xfrm>
                <a:off x="4176" y="240"/>
                <a:ext cx="0" cy="6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99464" name="Group 137"/>
              <p:cNvGrpSpPr/>
              <p:nvPr/>
            </p:nvGrpSpPr>
            <p:grpSpPr>
              <a:xfrm>
                <a:off x="3456" y="912"/>
                <a:ext cx="288" cy="672"/>
                <a:chOff x="3456" y="912"/>
                <a:chExt cx="288" cy="672"/>
              </a:xfrm>
            </p:grpSpPr>
            <p:sp>
              <p:nvSpPr>
                <p:cNvPr id="99465" name="Line 138"/>
                <p:cNvSpPr/>
                <p:nvPr/>
              </p:nvSpPr>
              <p:spPr>
                <a:xfrm>
                  <a:off x="3456" y="912"/>
                  <a:ext cx="288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9466" name="Line 139"/>
                <p:cNvSpPr/>
                <p:nvPr/>
              </p:nvSpPr>
              <p:spPr>
                <a:xfrm>
                  <a:off x="3744" y="1200"/>
                  <a:ext cx="0" cy="3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9467" name="Text Box 140"/>
              <p:cNvSpPr txBox="1"/>
              <p:nvPr/>
            </p:nvSpPr>
            <p:spPr>
              <a:xfrm>
                <a:off x="3600" y="1545"/>
                <a:ext cx="48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1Q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68" name="Text Box 141"/>
              <p:cNvSpPr txBox="1"/>
              <p:nvPr/>
            </p:nvSpPr>
            <p:spPr>
              <a:xfrm>
                <a:off x="331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69" name="Text Box 142"/>
              <p:cNvSpPr txBox="1"/>
              <p:nvPr/>
            </p:nvSpPr>
            <p:spPr>
              <a:xfrm>
                <a:off x="355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70" name="Text Box 143"/>
              <p:cNvSpPr txBox="1"/>
              <p:nvPr/>
            </p:nvSpPr>
            <p:spPr>
              <a:xfrm>
                <a:off x="379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71" name="Text Box 144"/>
              <p:cNvSpPr txBox="1"/>
              <p:nvPr/>
            </p:nvSpPr>
            <p:spPr>
              <a:xfrm>
                <a:off x="403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472" name="Group 145"/>
            <p:cNvGrpSpPr/>
            <p:nvPr/>
          </p:nvGrpSpPr>
          <p:grpSpPr>
            <a:xfrm>
              <a:off x="4416" y="0"/>
              <a:ext cx="1152" cy="1776"/>
              <a:chOff x="3312" y="0"/>
              <a:chExt cx="1152" cy="1776"/>
            </a:xfrm>
          </p:grpSpPr>
          <p:sp>
            <p:nvSpPr>
              <p:cNvPr id="99473" name="Line 146"/>
              <p:cNvSpPr/>
              <p:nvPr/>
            </p:nvSpPr>
            <p:spPr>
              <a:xfrm>
                <a:off x="3456" y="240"/>
                <a:ext cx="0" cy="6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9474" name="Line 147"/>
              <p:cNvSpPr/>
              <p:nvPr/>
            </p:nvSpPr>
            <p:spPr>
              <a:xfrm>
                <a:off x="3696" y="24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9475" name="Line 148"/>
              <p:cNvSpPr/>
              <p:nvPr/>
            </p:nvSpPr>
            <p:spPr>
              <a:xfrm>
                <a:off x="3936" y="24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9476" name="Line 149"/>
              <p:cNvSpPr/>
              <p:nvPr/>
            </p:nvSpPr>
            <p:spPr>
              <a:xfrm>
                <a:off x="4176" y="240"/>
                <a:ext cx="0" cy="6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99477" name="Group 150"/>
              <p:cNvGrpSpPr/>
              <p:nvPr/>
            </p:nvGrpSpPr>
            <p:grpSpPr>
              <a:xfrm>
                <a:off x="3456" y="912"/>
                <a:ext cx="288" cy="672"/>
                <a:chOff x="3456" y="912"/>
                <a:chExt cx="288" cy="672"/>
              </a:xfrm>
            </p:grpSpPr>
            <p:sp>
              <p:nvSpPr>
                <p:cNvPr id="99478" name="Line 151"/>
                <p:cNvSpPr/>
                <p:nvPr/>
              </p:nvSpPr>
              <p:spPr>
                <a:xfrm>
                  <a:off x="3456" y="912"/>
                  <a:ext cx="288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9479" name="Line 152"/>
                <p:cNvSpPr/>
                <p:nvPr/>
              </p:nvSpPr>
              <p:spPr>
                <a:xfrm>
                  <a:off x="3744" y="1200"/>
                  <a:ext cx="0" cy="3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9480" name="Text Box 153"/>
              <p:cNvSpPr txBox="1"/>
              <p:nvPr/>
            </p:nvSpPr>
            <p:spPr>
              <a:xfrm>
                <a:off x="3600" y="1545"/>
                <a:ext cx="48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2Q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81" name="Text Box 154"/>
              <p:cNvSpPr txBox="1"/>
              <p:nvPr/>
            </p:nvSpPr>
            <p:spPr>
              <a:xfrm>
                <a:off x="331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82" name="Text Box 155"/>
              <p:cNvSpPr txBox="1"/>
              <p:nvPr/>
            </p:nvSpPr>
            <p:spPr>
              <a:xfrm>
                <a:off x="355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83" name="Text Box 156"/>
              <p:cNvSpPr txBox="1"/>
              <p:nvPr/>
            </p:nvSpPr>
            <p:spPr>
              <a:xfrm>
                <a:off x="379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484" name="Text Box 157"/>
              <p:cNvSpPr txBox="1"/>
              <p:nvPr/>
            </p:nvSpPr>
            <p:spPr>
              <a:xfrm>
                <a:off x="4032" y="0"/>
                <a:ext cx="43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2D</a:t>
                </a:r>
                <a:r>
                  <a:rPr lang="en-US" altLang="zh-CN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9485" name="Line 158"/>
            <p:cNvSpPr/>
            <p:nvPr/>
          </p:nvSpPr>
          <p:spPr>
            <a:xfrm>
              <a:off x="3600" y="1056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13" name="Group 159"/>
          <p:cNvGrpSpPr/>
          <p:nvPr/>
        </p:nvGrpSpPr>
        <p:grpSpPr>
          <a:xfrm>
            <a:off x="5924550" y="3816350"/>
            <a:ext cx="4364038" cy="2165350"/>
            <a:chOff x="2772" y="2404"/>
            <a:chExt cx="2749" cy="1364"/>
          </a:xfrm>
        </p:grpSpPr>
        <p:sp>
          <p:nvSpPr>
            <p:cNvPr id="99487" name="Line 160"/>
            <p:cNvSpPr/>
            <p:nvPr/>
          </p:nvSpPr>
          <p:spPr>
            <a:xfrm>
              <a:off x="3896" y="3451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88" name="Rectangle 161"/>
            <p:cNvSpPr/>
            <p:nvPr/>
          </p:nvSpPr>
          <p:spPr>
            <a:xfrm>
              <a:off x="3083" y="2737"/>
              <a:ext cx="2438" cy="703"/>
            </a:xfrm>
            <a:prstGeom prst="rect">
              <a:avLst/>
            </a:prstGeom>
            <a:solidFill>
              <a:srgbClr val="E1FDFF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89" name="Line 162"/>
            <p:cNvSpPr/>
            <p:nvPr/>
          </p:nvSpPr>
          <p:spPr>
            <a:xfrm>
              <a:off x="2772" y="3221"/>
              <a:ext cx="31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90" name="Line 163"/>
            <p:cNvSpPr/>
            <p:nvPr/>
          </p:nvSpPr>
          <p:spPr>
            <a:xfrm>
              <a:off x="3340" y="2404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91" name="Line 164"/>
            <p:cNvSpPr/>
            <p:nvPr/>
          </p:nvSpPr>
          <p:spPr>
            <a:xfrm>
              <a:off x="3553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92" name="Line 165"/>
            <p:cNvSpPr/>
            <p:nvPr/>
          </p:nvSpPr>
          <p:spPr>
            <a:xfrm>
              <a:off x="3767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93" name="Line 166"/>
            <p:cNvSpPr/>
            <p:nvPr/>
          </p:nvSpPr>
          <p:spPr>
            <a:xfrm>
              <a:off x="3981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494" name="Text Box 167"/>
            <p:cNvSpPr txBox="1"/>
            <p:nvPr/>
          </p:nvSpPr>
          <p:spPr>
            <a:xfrm>
              <a:off x="3810" y="3171"/>
              <a:ext cx="3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1Q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95" name="Text Box 168"/>
            <p:cNvSpPr txBox="1"/>
            <p:nvPr/>
          </p:nvSpPr>
          <p:spPr>
            <a:xfrm>
              <a:off x="3126" y="3071"/>
              <a:ext cx="2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96" name="Text Box 169"/>
            <p:cNvSpPr txBox="1"/>
            <p:nvPr/>
          </p:nvSpPr>
          <p:spPr>
            <a:xfrm>
              <a:off x="3126" y="2872"/>
              <a:ext cx="2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97" name="Text Box 170"/>
            <p:cNvSpPr txBox="1"/>
            <p:nvPr/>
          </p:nvSpPr>
          <p:spPr>
            <a:xfrm>
              <a:off x="3425" y="2723"/>
              <a:ext cx="34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1D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98" name="Text Box 171"/>
            <p:cNvSpPr txBox="1"/>
            <p:nvPr/>
          </p:nvSpPr>
          <p:spPr>
            <a:xfrm>
              <a:off x="4024" y="2723"/>
              <a:ext cx="34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1D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499" name="Line 172"/>
            <p:cNvSpPr/>
            <p:nvPr/>
          </p:nvSpPr>
          <p:spPr>
            <a:xfrm>
              <a:off x="2772" y="3022"/>
              <a:ext cx="31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0" name="Line 173"/>
            <p:cNvSpPr/>
            <p:nvPr/>
          </p:nvSpPr>
          <p:spPr>
            <a:xfrm>
              <a:off x="4195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1" name="Line 174"/>
            <p:cNvSpPr/>
            <p:nvPr/>
          </p:nvSpPr>
          <p:spPr>
            <a:xfrm flipH="1">
              <a:off x="4421" y="2404"/>
              <a:ext cx="0" cy="2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2" name="Line 175"/>
            <p:cNvSpPr/>
            <p:nvPr/>
          </p:nvSpPr>
          <p:spPr>
            <a:xfrm>
              <a:off x="4623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3" name="Line 176"/>
            <p:cNvSpPr/>
            <p:nvPr/>
          </p:nvSpPr>
          <p:spPr>
            <a:xfrm>
              <a:off x="4837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4" name="Text Box 177"/>
            <p:cNvSpPr txBox="1"/>
            <p:nvPr/>
          </p:nvSpPr>
          <p:spPr>
            <a:xfrm>
              <a:off x="4452" y="3171"/>
              <a:ext cx="2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2Q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05" name="Text Box 178"/>
            <p:cNvSpPr txBox="1"/>
            <p:nvPr/>
          </p:nvSpPr>
          <p:spPr>
            <a:xfrm>
              <a:off x="3211" y="2723"/>
              <a:ext cx="3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1S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06" name="Line 179"/>
            <p:cNvSpPr/>
            <p:nvPr/>
          </p:nvSpPr>
          <p:spPr>
            <a:xfrm>
              <a:off x="5051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7" name="Line 180"/>
            <p:cNvSpPr/>
            <p:nvPr/>
          </p:nvSpPr>
          <p:spPr>
            <a:xfrm>
              <a:off x="5264" y="2404"/>
              <a:ext cx="0" cy="3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8" name="Line 181"/>
            <p:cNvSpPr/>
            <p:nvPr/>
          </p:nvSpPr>
          <p:spPr>
            <a:xfrm>
              <a:off x="4537" y="3451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09" name="Text Box 182"/>
            <p:cNvSpPr txBox="1"/>
            <p:nvPr/>
          </p:nvSpPr>
          <p:spPr>
            <a:xfrm>
              <a:off x="3725" y="2673"/>
              <a:ext cx="2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99510" name="Text Box 183"/>
            <p:cNvSpPr txBox="1"/>
            <p:nvPr/>
          </p:nvSpPr>
          <p:spPr>
            <a:xfrm>
              <a:off x="4537" y="2723"/>
              <a:ext cx="34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2D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11" name="Text Box 184"/>
            <p:cNvSpPr txBox="1"/>
            <p:nvPr/>
          </p:nvSpPr>
          <p:spPr>
            <a:xfrm>
              <a:off x="5136" y="2723"/>
              <a:ext cx="34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2D</a:t>
              </a:r>
              <a:r>
                <a:rPr lang="en-US" altLang="zh-CN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12" name="Text Box 185"/>
            <p:cNvSpPr txBox="1"/>
            <p:nvPr/>
          </p:nvSpPr>
          <p:spPr>
            <a:xfrm>
              <a:off x="4323" y="2723"/>
              <a:ext cx="3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2S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13" name="Text Box 186"/>
            <p:cNvSpPr txBox="1"/>
            <p:nvPr/>
          </p:nvSpPr>
          <p:spPr>
            <a:xfrm>
              <a:off x="4837" y="2673"/>
              <a:ext cx="2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99514" name="Line 187"/>
            <p:cNvSpPr/>
            <p:nvPr/>
          </p:nvSpPr>
          <p:spPr>
            <a:xfrm>
              <a:off x="4323" y="2755"/>
              <a:ext cx="0" cy="70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99515" name="Line 188"/>
            <p:cNvSpPr/>
            <p:nvPr/>
          </p:nvSpPr>
          <p:spPr>
            <a:xfrm>
              <a:off x="3252" y="2760"/>
              <a:ext cx="1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99516" name="Line 189"/>
            <p:cNvSpPr/>
            <p:nvPr/>
          </p:nvSpPr>
          <p:spPr>
            <a:xfrm>
              <a:off x="4380" y="2760"/>
              <a:ext cx="1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99517" name="Oval 190"/>
            <p:cNvSpPr/>
            <p:nvPr/>
          </p:nvSpPr>
          <p:spPr>
            <a:xfrm>
              <a:off x="4392" y="2688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18" name="Oval 191"/>
            <p:cNvSpPr/>
            <p:nvPr/>
          </p:nvSpPr>
          <p:spPr>
            <a:xfrm>
              <a:off x="3316" y="2692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9519" name="Line 193"/>
          <p:cNvSpPr/>
          <p:nvPr/>
        </p:nvSpPr>
        <p:spPr>
          <a:xfrm>
            <a:off x="1652589" y="6181725"/>
            <a:ext cx="1793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9520" name="Line 194"/>
          <p:cNvSpPr/>
          <p:nvPr/>
        </p:nvSpPr>
        <p:spPr>
          <a:xfrm>
            <a:off x="1638300" y="479425"/>
            <a:ext cx="2159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animBg="1"/>
      <p:bldP spid="203779" grpId="0"/>
      <p:bldP spid="203904" grpId="0"/>
      <p:bldP spid="203905" grpId="0"/>
      <p:bldP spid="2039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8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  <a:r>
              <a:rPr lang="en-US" altLang="zh-CN" dirty="0"/>
              <a:t>74LS151</a:t>
            </a:r>
          </a:p>
        </p:txBody>
      </p:sp>
      <p:grpSp>
        <p:nvGrpSpPr>
          <p:cNvPr id="2" name="Group 82">
            <a:extLst>
              <a:ext uri="{FF2B5EF4-FFF2-40B4-BE49-F238E27FC236}">
                <a16:creationId xmlns:a16="http://schemas.microsoft.com/office/drawing/2014/main" id="{055B364E-A1E8-339C-1D2C-FC5AE3845527}"/>
              </a:ext>
            </a:extLst>
          </p:cNvPr>
          <p:cNvGrpSpPr/>
          <p:nvPr/>
        </p:nvGrpSpPr>
        <p:grpSpPr>
          <a:xfrm>
            <a:off x="2729233" y="2653118"/>
            <a:ext cx="5946775" cy="2957512"/>
            <a:chOff x="861" y="1621"/>
            <a:chExt cx="3746" cy="1863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10D0E3DF-BBB7-A99D-CBF9-6F26BCF74FBD}"/>
                </a:ext>
              </a:extLst>
            </p:cNvPr>
            <p:cNvSpPr/>
            <p:nvPr/>
          </p:nvSpPr>
          <p:spPr>
            <a:xfrm>
              <a:off x="1317" y="1838"/>
              <a:ext cx="3092" cy="867"/>
            </a:xfrm>
            <a:prstGeom prst="rect">
              <a:avLst/>
            </a:prstGeom>
            <a:noFill/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Line 7">
              <a:extLst>
                <a:ext uri="{FF2B5EF4-FFF2-40B4-BE49-F238E27FC236}">
                  <a16:creationId xmlns:a16="http://schemas.microsoft.com/office/drawing/2014/main" id="{E8A83A79-83AA-C151-C7E7-8A01DC7F7C3B}"/>
                </a:ext>
              </a:extLst>
            </p:cNvPr>
            <p:cNvSpPr/>
            <p:nvPr/>
          </p:nvSpPr>
          <p:spPr>
            <a:xfrm>
              <a:off x="2110" y="2705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FC5D7FDE-A9B0-431B-642D-AE026EE603A0}"/>
                </a:ext>
              </a:extLst>
            </p:cNvPr>
            <p:cNvSpPr/>
            <p:nvPr/>
          </p:nvSpPr>
          <p:spPr>
            <a:xfrm>
              <a:off x="2427" y="2705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8D174549-8973-37DA-52C7-A7223B0244BD}"/>
                </a:ext>
              </a:extLst>
            </p:cNvPr>
            <p:cNvSpPr/>
            <p:nvPr/>
          </p:nvSpPr>
          <p:spPr>
            <a:xfrm>
              <a:off x="2744" y="2705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" name="Line 14">
              <a:extLst>
                <a:ext uri="{FF2B5EF4-FFF2-40B4-BE49-F238E27FC236}">
                  <a16:creationId xmlns:a16="http://schemas.microsoft.com/office/drawing/2014/main" id="{E84FEB6F-045A-CE39-889D-5C0BFE1CA714}"/>
                </a:ext>
              </a:extLst>
            </p:cNvPr>
            <p:cNvSpPr/>
            <p:nvPr/>
          </p:nvSpPr>
          <p:spPr>
            <a:xfrm flipV="1">
              <a:off x="2308" y="1621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48B4C41B-BCFF-1BEF-478C-A8FA4EF119A3}"/>
                </a:ext>
              </a:extLst>
            </p:cNvPr>
            <p:cNvSpPr/>
            <p:nvPr/>
          </p:nvSpPr>
          <p:spPr>
            <a:xfrm flipH="1">
              <a:off x="999" y="2561"/>
              <a:ext cx="318" cy="0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" name="Line 16">
              <a:extLst>
                <a:ext uri="{FF2B5EF4-FFF2-40B4-BE49-F238E27FC236}">
                  <a16:creationId xmlns:a16="http://schemas.microsoft.com/office/drawing/2014/main" id="{F699F7B5-D6B4-6446-EAC7-5FECB7D84EA8}"/>
                </a:ext>
              </a:extLst>
            </p:cNvPr>
            <p:cNvSpPr/>
            <p:nvPr/>
          </p:nvSpPr>
          <p:spPr>
            <a:xfrm flipH="1">
              <a:off x="999" y="2271"/>
              <a:ext cx="318" cy="0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15851916-5451-128A-26EA-C632EDB7F586}"/>
                </a:ext>
              </a:extLst>
            </p:cNvPr>
            <p:cNvSpPr/>
            <p:nvPr/>
          </p:nvSpPr>
          <p:spPr>
            <a:xfrm flipH="1">
              <a:off x="999" y="1982"/>
              <a:ext cx="318" cy="0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E8F6CDC1-83E0-C460-3BFC-59BF94127EFA}"/>
                </a:ext>
              </a:extLst>
            </p:cNvPr>
            <p:cNvSpPr/>
            <p:nvPr/>
          </p:nvSpPr>
          <p:spPr>
            <a:xfrm>
              <a:off x="4409" y="2416"/>
              <a:ext cx="198" cy="0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F098CA55-49A1-968D-FFE7-D70FDBB61038}"/>
                </a:ext>
              </a:extLst>
            </p:cNvPr>
            <p:cNvSpPr/>
            <p:nvPr/>
          </p:nvSpPr>
          <p:spPr>
            <a:xfrm>
              <a:off x="2248" y="1865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Rectangle 20">
              <a:extLst>
                <a:ext uri="{FF2B5EF4-FFF2-40B4-BE49-F238E27FC236}">
                  <a16:creationId xmlns:a16="http://schemas.microsoft.com/office/drawing/2014/main" id="{D8D67103-4C13-FE21-4792-5D59F6126F04}"/>
                </a:ext>
              </a:extLst>
            </p:cNvPr>
            <p:cNvSpPr/>
            <p:nvPr/>
          </p:nvSpPr>
          <p:spPr>
            <a:xfrm>
              <a:off x="1389" y="1865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21">
              <a:extLst>
                <a:ext uri="{FF2B5EF4-FFF2-40B4-BE49-F238E27FC236}">
                  <a16:creationId xmlns:a16="http://schemas.microsoft.com/office/drawing/2014/main" id="{603D288D-0393-4380-5FCA-3D1AE091011E}"/>
                </a:ext>
              </a:extLst>
            </p:cNvPr>
            <p:cNvSpPr/>
            <p:nvPr/>
          </p:nvSpPr>
          <p:spPr>
            <a:xfrm>
              <a:off x="1508" y="1889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id="{001FBCBA-4063-F3A9-65FD-F5227E8338D2}"/>
                </a:ext>
              </a:extLst>
            </p:cNvPr>
            <p:cNvSpPr/>
            <p:nvPr/>
          </p:nvSpPr>
          <p:spPr>
            <a:xfrm>
              <a:off x="1363" y="2178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63740EA7-D25A-C322-19C0-AA303C93AACE}"/>
                </a:ext>
              </a:extLst>
            </p:cNvPr>
            <p:cNvSpPr/>
            <p:nvPr/>
          </p:nvSpPr>
          <p:spPr>
            <a:xfrm>
              <a:off x="1495" y="2202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Rectangle 24">
              <a:extLst>
                <a:ext uri="{FF2B5EF4-FFF2-40B4-BE49-F238E27FC236}">
                  <a16:creationId xmlns:a16="http://schemas.microsoft.com/office/drawing/2014/main" id="{9E8EB439-674D-4383-B8D3-0A6D9D74B635}"/>
                </a:ext>
              </a:extLst>
            </p:cNvPr>
            <p:cNvSpPr/>
            <p:nvPr/>
          </p:nvSpPr>
          <p:spPr>
            <a:xfrm>
              <a:off x="1376" y="2480"/>
              <a:ext cx="11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80F7438E-300F-92CA-7F3D-196AC3A531E5}"/>
                </a:ext>
              </a:extLst>
            </p:cNvPr>
            <p:cNvSpPr/>
            <p:nvPr/>
          </p:nvSpPr>
          <p:spPr>
            <a:xfrm>
              <a:off x="1508" y="250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26">
              <a:extLst>
                <a:ext uri="{FF2B5EF4-FFF2-40B4-BE49-F238E27FC236}">
                  <a16:creationId xmlns:a16="http://schemas.microsoft.com/office/drawing/2014/main" id="{1E76F46D-FF49-C4CD-8192-13410BBC0205}"/>
                </a:ext>
              </a:extLst>
            </p:cNvPr>
            <p:cNvSpPr/>
            <p:nvPr/>
          </p:nvSpPr>
          <p:spPr>
            <a:xfrm>
              <a:off x="1719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08B1BBD6-C786-5B06-4724-24A17195C2F2}"/>
                </a:ext>
              </a:extLst>
            </p:cNvPr>
            <p:cNvSpPr/>
            <p:nvPr/>
          </p:nvSpPr>
          <p:spPr>
            <a:xfrm>
              <a:off x="1839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632801C5-79DE-D89D-E0E8-94AEA310CC37}"/>
                </a:ext>
              </a:extLst>
            </p:cNvPr>
            <p:cNvSpPr/>
            <p:nvPr/>
          </p:nvSpPr>
          <p:spPr>
            <a:xfrm>
              <a:off x="2037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91F6C540-757D-F505-B7E5-FCF22044AC95}"/>
                </a:ext>
              </a:extLst>
            </p:cNvPr>
            <p:cNvSpPr/>
            <p:nvPr/>
          </p:nvSpPr>
          <p:spPr>
            <a:xfrm>
              <a:off x="2156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6349BF40-4DA0-D0BF-4B5A-5EA61A12AF67}"/>
                </a:ext>
              </a:extLst>
            </p:cNvPr>
            <p:cNvSpPr/>
            <p:nvPr/>
          </p:nvSpPr>
          <p:spPr>
            <a:xfrm>
              <a:off x="2354" y="2540"/>
              <a:ext cx="11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9A3F18DD-7951-6BF3-C0E8-7E32550E2F63}"/>
                </a:ext>
              </a:extLst>
            </p:cNvPr>
            <p:cNvSpPr/>
            <p:nvPr/>
          </p:nvSpPr>
          <p:spPr>
            <a:xfrm>
              <a:off x="2473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B6931BAA-3B3E-8955-2E2D-D8772AC12770}"/>
                </a:ext>
              </a:extLst>
            </p:cNvPr>
            <p:cNvSpPr/>
            <p:nvPr/>
          </p:nvSpPr>
          <p:spPr>
            <a:xfrm>
              <a:off x="2671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Rectangle 33">
              <a:extLst>
                <a:ext uri="{FF2B5EF4-FFF2-40B4-BE49-F238E27FC236}">
                  <a16:creationId xmlns:a16="http://schemas.microsoft.com/office/drawing/2014/main" id="{A5973EEC-A5CD-7DA6-8555-A61CE09D846D}"/>
                </a:ext>
              </a:extLst>
            </p:cNvPr>
            <p:cNvSpPr/>
            <p:nvPr/>
          </p:nvSpPr>
          <p:spPr>
            <a:xfrm>
              <a:off x="2791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34">
              <a:extLst>
                <a:ext uri="{FF2B5EF4-FFF2-40B4-BE49-F238E27FC236}">
                  <a16:creationId xmlns:a16="http://schemas.microsoft.com/office/drawing/2014/main" id="{51D711CA-25C7-696C-C46F-A5EB0FC9A029}"/>
                </a:ext>
              </a:extLst>
            </p:cNvPr>
            <p:cNvSpPr/>
            <p:nvPr/>
          </p:nvSpPr>
          <p:spPr>
            <a:xfrm>
              <a:off x="2989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35">
              <a:extLst>
                <a:ext uri="{FF2B5EF4-FFF2-40B4-BE49-F238E27FC236}">
                  <a16:creationId xmlns:a16="http://schemas.microsoft.com/office/drawing/2014/main" id="{99F9977A-84AD-3964-5511-A6B7EE7FA226}"/>
                </a:ext>
              </a:extLst>
            </p:cNvPr>
            <p:cNvSpPr/>
            <p:nvPr/>
          </p:nvSpPr>
          <p:spPr>
            <a:xfrm>
              <a:off x="3108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36">
              <a:extLst>
                <a:ext uri="{FF2B5EF4-FFF2-40B4-BE49-F238E27FC236}">
                  <a16:creationId xmlns:a16="http://schemas.microsoft.com/office/drawing/2014/main" id="{9D97F22F-6B1A-6F00-F178-99C2F946101A}"/>
                </a:ext>
              </a:extLst>
            </p:cNvPr>
            <p:cNvSpPr/>
            <p:nvPr/>
          </p:nvSpPr>
          <p:spPr>
            <a:xfrm>
              <a:off x="3306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37">
              <a:extLst>
                <a:ext uri="{FF2B5EF4-FFF2-40B4-BE49-F238E27FC236}">
                  <a16:creationId xmlns:a16="http://schemas.microsoft.com/office/drawing/2014/main" id="{E02E51D0-9783-71BC-5AC5-792AABDB0EB2}"/>
                </a:ext>
              </a:extLst>
            </p:cNvPr>
            <p:cNvSpPr/>
            <p:nvPr/>
          </p:nvSpPr>
          <p:spPr>
            <a:xfrm>
              <a:off x="3424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Rectangle 38">
              <a:extLst>
                <a:ext uri="{FF2B5EF4-FFF2-40B4-BE49-F238E27FC236}">
                  <a16:creationId xmlns:a16="http://schemas.microsoft.com/office/drawing/2014/main" id="{963B7C81-2172-9E6F-0C20-9CBE8BD1A7F1}"/>
                </a:ext>
              </a:extLst>
            </p:cNvPr>
            <p:cNvSpPr/>
            <p:nvPr/>
          </p:nvSpPr>
          <p:spPr>
            <a:xfrm>
              <a:off x="3623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Rectangle 39">
              <a:extLst>
                <a:ext uri="{FF2B5EF4-FFF2-40B4-BE49-F238E27FC236}">
                  <a16:creationId xmlns:a16="http://schemas.microsoft.com/office/drawing/2014/main" id="{F10E7FFC-2297-AAB4-5D5D-594945064429}"/>
                </a:ext>
              </a:extLst>
            </p:cNvPr>
            <p:cNvSpPr/>
            <p:nvPr/>
          </p:nvSpPr>
          <p:spPr>
            <a:xfrm>
              <a:off x="3742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76634211-454A-F248-344A-0EDDB8083F40}"/>
                </a:ext>
              </a:extLst>
            </p:cNvPr>
            <p:cNvSpPr/>
            <p:nvPr/>
          </p:nvSpPr>
          <p:spPr>
            <a:xfrm>
              <a:off x="3940" y="2540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7CE77626-3D2D-F6EE-2F57-06874EC84593}"/>
                </a:ext>
              </a:extLst>
            </p:cNvPr>
            <p:cNvSpPr/>
            <p:nvPr/>
          </p:nvSpPr>
          <p:spPr>
            <a:xfrm>
              <a:off x="4059" y="2564"/>
              <a:ext cx="68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7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Rectangle 42">
              <a:extLst>
                <a:ext uri="{FF2B5EF4-FFF2-40B4-BE49-F238E27FC236}">
                  <a16:creationId xmlns:a16="http://schemas.microsoft.com/office/drawing/2014/main" id="{4B863BA8-8A58-4E53-F6E2-BF5B0B5BC3E7}"/>
                </a:ext>
              </a:extLst>
            </p:cNvPr>
            <p:cNvSpPr/>
            <p:nvPr/>
          </p:nvSpPr>
          <p:spPr>
            <a:xfrm>
              <a:off x="4284" y="2323"/>
              <a:ext cx="8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Rectangle 43">
              <a:extLst>
                <a:ext uri="{FF2B5EF4-FFF2-40B4-BE49-F238E27FC236}">
                  <a16:creationId xmlns:a16="http://schemas.microsoft.com/office/drawing/2014/main" id="{D5154340-B01A-7D94-B802-376AFC270B09}"/>
                </a:ext>
              </a:extLst>
            </p:cNvPr>
            <p:cNvSpPr/>
            <p:nvPr/>
          </p:nvSpPr>
          <p:spPr>
            <a:xfrm>
              <a:off x="2553" y="2178"/>
              <a:ext cx="16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74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07A1E5D6-A8E5-4F38-E362-C3E7214CA7DA}"/>
                </a:ext>
              </a:extLst>
            </p:cNvPr>
            <p:cNvSpPr/>
            <p:nvPr/>
          </p:nvSpPr>
          <p:spPr>
            <a:xfrm>
              <a:off x="2724" y="2178"/>
              <a:ext cx="19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LS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520B3F37-AD3C-C8BF-C28A-68C4AB7A3700}"/>
                </a:ext>
              </a:extLst>
            </p:cNvPr>
            <p:cNvSpPr/>
            <p:nvPr/>
          </p:nvSpPr>
          <p:spPr>
            <a:xfrm>
              <a:off x="2989" y="2178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151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47">
              <a:extLst>
                <a:ext uri="{FF2B5EF4-FFF2-40B4-BE49-F238E27FC236}">
                  <a16:creationId xmlns:a16="http://schemas.microsoft.com/office/drawing/2014/main" id="{522A5A36-F9DD-5F1E-1B40-4E7D4BC01E9D}"/>
                </a:ext>
              </a:extLst>
            </p:cNvPr>
            <p:cNvSpPr/>
            <p:nvPr/>
          </p:nvSpPr>
          <p:spPr>
            <a:xfrm>
              <a:off x="861" y="1889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Rectangle 48">
              <a:extLst>
                <a:ext uri="{FF2B5EF4-FFF2-40B4-BE49-F238E27FC236}">
                  <a16:creationId xmlns:a16="http://schemas.microsoft.com/office/drawing/2014/main" id="{021DC827-5515-44DB-BE94-6D0F298D45D4}"/>
                </a:ext>
              </a:extLst>
            </p:cNvPr>
            <p:cNvSpPr/>
            <p:nvPr/>
          </p:nvSpPr>
          <p:spPr>
            <a:xfrm>
              <a:off x="861" y="2178"/>
              <a:ext cx="10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Rectangle 49">
              <a:extLst>
                <a:ext uri="{FF2B5EF4-FFF2-40B4-BE49-F238E27FC236}">
                  <a16:creationId xmlns:a16="http://schemas.microsoft.com/office/drawing/2014/main" id="{087767AD-9B3D-68CD-A07B-41FFBC2D3B67}"/>
                </a:ext>
              </a:extLst>
            </p:cNvPr>
            <p:cNvSpPr/>
            <p:nvPr/>
          </p:nvSpPr>
          <p:spPr>
            <a:xfrm>
              <a:off x="861" y="2468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64">
              <a:extLst>
                <a:ext uri="{FF2B5EF4-FFF2-40B4-BE49-F238E27FC236}">
                  <a16:creationId xmlns:a16="http://schemas.microsoft.com/office/drawing/2014/main" id="{0B3EABE6-B61D-B22A-7C8D-B13CDF0ABC6C}"/>
                </a:ext>
              </a:extLst>
            </p:cNvPr>
            <p:cNvSpPr/>
            <p:nvPr/>
          </p:nvSpPr>
          <p:spPr>
            <a:xfrm>
              <a:off x="1389" y="3311"/>
              <a:ext cx="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65">
              <a:extLst>
                <a:ext uri="{FF2B5EF4-FFF2-40B4-BE49-F238E27FC236}">
                  <a16:creationId xmlns:a16="http://schemas.microsoft.com/office/drawing/2014/main" id="{5AE5DEBC-030F-70E0-1B2D-5560F406E900}"/>
                </a:ext>
              </a:extLst>
            </p:cNvPr>
            <p:cNvSpPr/>
            <p:nvPr/>
          </p:nvSpPr>
          <p:spPr>
            <a:xfrm>
              <a:off x="1575" y="3299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Rectangle 66">
              <a:extLst>
                <a:ext uri="{FF2B5EF4-FFF2-40B4-BE49-F238E27FC236}">
                  <a16:creationId xmlns:a16="http://schemas.microsoft.com/office/drawing/2014/main" id="{73C02AD5-BC70-2591-30E0-63A6A67DB8D8}"/>
                </a:ext>
              </a:extLst>
            </p:cNvPr>
            <p:cNvSpPr/>
            <p:nvPr/>
          </p:nvSpPr>
          <p:spPr>
            <a:xfrm>
              <a:off x="1839" y="3299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Rectangle 67">
              <a:extLst>
                <a:ext uri="{FF2B5EF4-FFF2-40B4-BE49-F238E27FC236}">
                  <a16:creationId xmlns:a16="http://schemas.microsoft.com/office/drawing/2014/main" id="{E961D257-5F4A-006A-D32C-3814C5CCE46A}"/>
                </a:ext>
              </a:extLst>
            </p:cNvPr>
            <p:cNvSpPr/>
            <p:nvPr/>
          </p:nvSpPr>
          <p:spPr>
            <a:xfrm>
              <a:off x="2051" y="3311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Rectangle 68">
              <a:extLst>
                <a:ext uri="{FF2B5EF4-FFF2-40B4-BE49-F238E27FC236}">
                  <a16:creationId xmlns:a16="http://schemas.microsoft.com/office/drawing/2014/main" id="{2C6688BF-F685-96FD-0A47-741803DBA1B7}"/>
                </a:ext>
              </a:extLst>
            </p:cNvPr>
            <p:cNvSpPr/>
            <p:nvPr/>
          </p:nvSpPr>
          <p:spPr>
            <a:xfrm>
              <a:off x="2235" y="3299"/>
              <a:ext cx="1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73">
              <a:extLst>
                <a:ext uri="{FF2B5EF4-FFF2-40B4-BE49-F238E27FC236}">
                  <a16:creationId xmlns:a16="http://schemas.microsoft.com/office/drawing/2014/main" id="{7F5E759A-38C0-AE6E-50D9-07EDF540E427}"/>
                </a:ext>
              </a:extLst>
            </p:cNvPr>
            <p:cNvSpPr/>
            <p:nvPr/>
          </p:nvSpPr>
          <p:spPr>
            <a:xfrm flipV="1">
              <a:off x="3577" y="1621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" name="Rectangle 74">
              <a:extLst>
                <a:ext uri="{FF2B5EF4-FFF2-40B4-BE49-F238E27FC236}">
                  <a16:creationId xmlns:a16="http://schemas.microsoft.com/office/drawing/2014/main" id="{C838705F-C5D4-B98D-B426-7C5D3ADC6708}"/>
                </a:ext>
              </a:extLst>
            </p:cNvPr>
            <p:cNvSpPr/>
            <p:nvPr/>
          </p:nvSpPr>
          <p:spPr>
            <a:xfrm>
              <a:off x="3491" y="1865"/>
              <a:ext cx="16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Y’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75">
              <a:extLst>
                <a:ext uri="{FF2B5EF4-FFF2-40B4-BE49-F238E27FC236}">
                  <a16:creationId xmlns:a16="http://schemas.microsoft.com/office/drawing/2014/main" id="{EBA04223-919C-3ACA-748C-D1C454B12FCC}"/>
                </a:ext>
              </a:extLst>
            </p:cNvPr>
            <p:cNvSpPr/>
            <p:nvPr/>
          </p:nvSpPr>
          <p:spPr>
            <a:xfrm>
              <a:off x="1827" y="2706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" name="Line 76">
              <a:extLst>
                <a:ext uri="{FF2B5EF4-FFF2-40B4-BE49-F238E27FC236}">
                  <a16:creationId xmlns:a16="http://schemas.microsoft.com/office/drawing/2014/main" id="{2CD8CBCA-534C-F831-1966-259B78F48EF4}"/>
                </a:ext>
              </a:extLst>
            </p:cNvPr>
            <p:cNvSpPr/>
            <p:nvPr/>
          </p:nvSpPr>
          <p:spPr>
            <a:xfrm>
              <a:off x="3344" y="2715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" name="Line 77">
              <a:extLst>
                <a:ext uri="{FF2B5EF4-FFF2-40B4-BE49-F238E27FC236}">
                  <a16:creationId xmlns:a16="http://schemas.microsoft.com/office/drawing/2014/main" id="{A7C62B8E-FB0B-AC43-7130-B9FEC2E2F6C9}"/>
                </a:ext>
              </a:extLst>
            </p:cNvPr>
            <p:cNvSpPr/>
            <p:nvPr/>
          </p:nvSpPr>
          <p:spPr>
            <a:xfrm>
              <a:off x="3661" y="2715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" name="Line 78">
              <a:extLst>
                <a:ext uri="{FF2B5EF4-FFF2-40B4-BE49-F238E27FC236}">
                  <a16:creationId xmlns:a16="http://schemas.microsoft.com/office/drawing/2014/main" id="{A0CEDA74-B1EA-184D-D094-475BF3156FB0}"/>
                </a:ext>
              </a:extLst>
            </p:cNvPr>
            <p:cNvSpPr/>
            <p:nvPr/>
          </p:nvSpPr>
          <p:spPr>
            <a:xfrm>
              <a:off x="3978" y="2715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" name="Line 79">
              <a:extLst>
                <a:ext uri="{FF2B5EF4-FFF2-40B4-BE49-F238E27FC236}">
                  <a16:creationId xmlns:a16="http://schemas.microsoft.com/office/drawing/2014/main" id="{68B6A2E4-0C49-4AA5-95B6-78DD334A808A}"/>
                </a:ext>
              </a:extLst>
            </p:cNvPr>
            <p:cNvSpPr/>
            <p:nvPr/>
          </p:nvSpPr>
          <p:spPr>
            <a:xfrm>
              <a:off x="3061" y="2716"/>
              <a:ext cx="0" cy="217"/>
            </a:xfrm>
            <a:prstGeom prst="line">
              <a:avLst/>
            </a:prstGeom>
            <a:ln w="3175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" name="Oval 80">
              <a:extLst>
                <a:ext uri="{FF2B5EF4-FFF2-40B4-BE49-F238E27FC236}">
                  <a16:creationId xmlns:a16="http://schemas.microsoft.com/office/drawing/2014/main" id="{280BC5FA-1052-E50B-1969-EE21D77EEDC1}"/>
                </a:ext>
              </a:extLst>
            </p:cNvPr>
            <p:cNvSpPr/>
            <p:nvPr/>
          </p:nvSpPr>
          <p:spPr>
            <a:xfrm>
              <a:off x="3547" y="1782"/>
              <a:ext cx="56" cy="56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Oval 81">
              <a:extLst>
                <a:ext uri="{FF2B5EF4-FFF2-40B4-BE49-F238E27FC236}">
                  <a16:creationId xmlns:a16="http://schemas.microsoft.com/office/drawing/2014/main" id="{B268940D-11F5-F54E-1EB6-6DEF4DC46191}"/>
                </a:ext>
              </a:extLst>
            </p:cNvPr>
            <p:cNvSpPr/>
            <p:nvPr/>
          </p:nvSpPr>
          <p:spPr>
            <a:xfrm>
              <a:off x="4394" y="2386"/>
              <a:ext cx="56" cy="56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45" name="Group 2"/>
          <p:cNvGrpSpPr/>
          <p:nvPr/>
        </p:nvGrpSpPr>
        <p:grpSpPr>
          <a:xfrm>
            <a:off x="1619250" y="344488"/>
            <a:ext cx="9048750" cy="6254750"/>
            <a:chOff x="60" y="217"/>
            <a:chExt cx="5700" cy="3940"/>
          </a:xfrm>
        </p:grpSpPr>
        <p:sp>
          <p:nvSpPr>
            <p:cNvPr id="107523" name="Text Box 3"/>
            <p:cNvSpPr txBox="1">
              <a:spLocks noChangeArrowheads="1"/>
            </p:cNvSpPr>
            <p:nvPr/>
          </p:nvSpPr>
          <p:spPr bwMode="auto">
            <a:xfrm>
              <a:off x="1677" y="3792"/>
              <a:ext cx="2436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32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74LS283 </a:t>
              </a:r>
              <a:r>
                <a:rPr kumimoji="1" lang="zh-CN" altLang="en-US" sz="3200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逻辑图</a:t>
              </a:r>
            </a:p>
          </p:txBody>
        </p:sp>
        <p:grpSp>
          <p:nvGrpSpPr>
            <p:cNvPr id="134147" name="Group 4"/>
            <p:cNvGrpSpPr/>
            <p:nvPr/>
          </p:nvGrpSpPr>
          <p:grpSpPr>
            <a:xfrm>
              <a:off x="4308" y="1042"/>
              <a:ext cx="501" cy="528"/>
              <a:chOff x="5067" y="432"/>
              <a:chExt cx="501" cy="528"/>
            </a:xfrm>
          </p:grpSpPr>
          <p:sp>
            <p:nvSpPr>
              <p:cNvPr id="134148" name="Rectangle 5"/>
              <p:cNvSpPr/>
              <p:nvPr/>
            </p:nvSpPr>
            <p:spPr>
              <a:xfrm>
                <a:off x="5067" y="432"/>
                <a:ext cx="453" cy="499"/>
              </a:xfrm>
              <a:prstGeom prst="rect">
                <a:avLst/>
              </a:prstGeom>
              <a:solidFill>
                <a:srgbClr val="E1FD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49" name="Text Box 6"/>
              <p:cNvSpPr txBox="1"/>
              <p:nvPr/>
            </p:nvSpPr>
            <p:spPr>
              <a:xfrm>
                <a:off x="5088" y="71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134150" name="Text Box 7"/>
              <p:cNvSpPr txBox="1"/>
              <p:nvPr/>
            </p:nvSpPr>
            <p:spPr>
              <a:xfrm>
                <a:off x="5328" y="71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51" name="Line 8"/>
              <p:cNvSpPr/>
              <p:nvPr/>
            </p:nvSpPr>
            <p:spPr>
              <a:xfrm>
                <a:off x="5067" y="672"/>
                <a:ext cx="45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52" name="Text Box 9"/>
              <p:cNvSpPr txBox="1"/>
              <p:nvPr/>
            </p:nvSpPr>
            <p:spPr>
              <a:xfrm>
                <a:off x="5088" y="432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1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53" name="Line 10"/>
              <p:cNvSpPr/>
              <p:nvPr/>
            </p:nvSpPr>
            <p:spPr>
              <a:xfrm>
                <a:off x="5328" y="672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34154" name="Group 11"/>
            <p:cNvGrpSpPr/>
            <p:nvPr/>
          </p:nvGrpSpPr>
          <p:grpSpPr>
            <a:xfrm>
              <a:off x="3300" y="1042"/>
              <a:ext cx="768" cy="528"/>
              <a:chOff x="4128" y="490"/>
              <a:chExt cx="768" cy="528"/>
            </a:xfrm>
          </p:grpSpPr>
          <p:sp>
            <p:nvSpPr>
              <p:cNvPr id="134155" name="Rectangle 12"/>
              <p:cNvSpPr/>
              <p:nvPr/>
            </p:nvSpPr>
            <p:spPr>
              <a:xfrm>
                <a:off x="4128" y="490"/>
                <a:ext cx="725" cy="499"/>
              </a:xfrm>
              <a:prstGeom prst="rect">
                <a:avLst/>
              </a:prstGeom>
              <a:solidFill>
                <a:srgbClr val="E1FD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56" name="Text Box 13"/>
              <p:cNvSpPr txBox="1"/>
              <p:nvPr/>
            </p:nvSpPr>
            <p:spPr>
              <a:xfrm>
                <a:off x="4416" y="768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57" name="Text Box 14"/>
              <p:cNvSpPr txBox="1"/>
              <p:nvPr/>
            </p:nvSpPr>
            <p:spPr>
              <a:xfrm>
                <a:off x="4656" y="768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58" name="Line 15"/>
              <p:cNvSpPr/>
              <p:nvPr/>
            </p:nvSpPr>
            <p:spPr>
              <a:xfrm>
                <a:off x="4128" y="730"/>
                <a:ext cx="72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59" name="Text Box 16"/>
              <p:cNvSpPr txBox="1"/>
              <p:nvPr/>
            </p:nvSpPr>
            <p:spPr>
              <a:xfrm>
                <a:off x="4128" y="490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1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60" name="Line 17"/>
              <p:cNvSpPr/>
              <p:nvPr/>
            </p:nvSpPr>
            <p:spPr>
              <a:xfrm>
                <a:off x="4656" y="720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61" name="Line 18"/>
              <p:cNvSpPr/>
              <p:nvPr/>
            </p:nvSpPr>
            <p:spPr>
              <a:xfrm>
                <a:off x="4416" y="720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62" name="Text Box 19"/>
              <p:cNvSpPr txBox="1"/>
              <p:nvPr/>
            </p:nvSpPr>
            <p:spPr>
              <a:xfrm>
                <a:off x="4176" y="758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</a:p>
            </p:txBody>
          </p:sp>
        </p:grpSp>
        <p:grpSp>
          <p:nvGrpSpPr>
            <p:cNvPr id="134163" name="Group 20"/>
            <p:cNvGrpSpPr/>
            <p:nvPr/>
          </p:nvGrpSpPr>
          <p:grpSpPr>
            <a:xfrm>
              <a:off x="1908" y="1042"/>
              <a:ext cx="1152" cy="528"/>
              <a:chOff x="2688" y="452"/>
              <a:chExt cx="1152" cy="528"/>
            </a:xfrm>
          </p:grpSpPr>
          <p:sp>
            <p:nvSpPr>
              <p:cNvPr id="134164" name="Rectangle 21"/>
              <p:cNvSpPr/>
              <p:nvPr/>
            </p:nvSpPr>
            <p:spPr>
              <a:xfrm>
                <a:off x="2688" y="452"/>
                <a:ext cx="1134" cy="499"/>
              </a:xfrm>
              <a:prstGeom prst="rect">
                <a:avLst/>
              </a:prstGeom>
              <a:solidFill>
                <a:srgbClr val="E1FD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65" name="Text Box 22"/>
              <p:cNvSpPr txBox="1"/>
              <p:nvPr/>
            </p:nvSpPr>
            <p:spPr>
              <a:xfrm>
                <a:off x="3360" y="73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66" name="Text Box 23"/>
              <p:cNvSpPr txBox="1"/>
              <p:nvPr/>
            </p:nvSpPr>
            <p:spPr>
              <a:xfrm>
                <a:off x="3600" y="73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67" name="Line 24"/>
              <p:cNvSpPr/>
              <p:nvPr/>
            </p:nvSpPr>
            <p:spPr>
              <a:xfrm flipV="1">
                <a:off x="2688" y="692"/>
                <a:ext cx="113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68" name="Text Box 25"/>
              <p:cNvSpPr txBox="1"/>
              <p:nvPr/>
            </p:nvSpPr>
            <p:spPr>
              <a:xfrm>
                <a:off x="2736" y="452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1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69" name="Line 26"/>
              <p:cNvSpPr/>
              <p:nvPr/>
            </p:nvSpPr>
            <p:spPr>
              <a:xfrm>
                <a:off x="3600" y="682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70" name="Line 27"/>
              <p:cNvSpPr/>
              <p:nvPr/>
            </p:nvSpPr>
            <p:spPr>
              <a:xfrm>
                <a:off x="3360" y="682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71" name="Text Box 28"/>
              <p:cNvSpPr txBox="1"/>
              <p:nvPr/>
            </p:nvSpPr>
            <p:spPr>
              <a:xfrm>
                <a:off x="3120" y="72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zh-CN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72" name="Line 29"/>
              <p:cNvSpPr/>
              <p:nvPr/>
            </p:nvSpPr>
            <p:spPr>
              <a:xfrm>
                <a:off x="3072" y="688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73" name="Text Box 30"/>
              <p:cNvSpPr txBox="1"/>
              <p:nvPr/>
            </p:nvSpPr>
            <p:spPr>
              <a:xfrm>
                <a:off x="2736" y="72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</a:p>
            </p:txBody>
          </p:sp>
        </p:grpSp>
        <p:sp>
          <p:nvSpPr>
            <p:cNvPr id="134174" name="Rectangle 31"/>
            <p:cNvSpPr/>
            <p:nvPr/>
          </p:nvSpPr>
          <p:spPr>
            <a:xfrm>
              <a:off x="60" y="1042"/>
              <a:ext cx="1542" cy="499"/>
            </a:xfrm>
            <a:prstGeom prst="rect">
              <a:avLst/>
            </a:prstGeom>
            <a:solidFill>
              <a:srgbClr val="E1FDFF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75" name="Text Box 32"/>
            <p:cNvSpPr txBox="1"/>
            <p:nvPr/>
          </p:nvSpPr>
          <p:spPr>
            <a:xfrm>
              <a:off x="1145" y="1320"/>
              <a:ext cx="2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76" name="Text Box 33"/>
            <p:cNvSpPr txBox="1"/>
            <p:nvPr/>
          </p:nvSpPr>
          <p:spPr>
            <a:xfrm>
              <a:off x="1383" y="1320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77" name="Line 34"/>
            <p:cNvSpPr/>
            <p:nvPr/>
          </p:nvSpPr>
          <p:spPr>
            <a:xfrm flipV="1">
              <a:off x="60" y="1282"/>
              <a:ext cx="154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78" name="Text Box 35"/>
            <p:cNvSpPr txBox="1"/>
            <p:nvPr/>
          </p:nvSpPr>
          <p:spPr>
            <a:xfrm>
              <a:off x="96" y="1042"/>
              <a:ext cx="2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1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79" name="Line 36"/>
            <p:cNvSpPr/>
            <p:nvPr/>
          </p:nvSpPr>
          <p:spPr>
            <a:xfrm>
              <a:off x="1383" y="1272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0" name="Line 37"/>
            <p:cNvSpPr/>
            <p:nvPr/>
          </p:nvSpPr>
          <p:spPr>
            <a:xfrm>
              <a:off x="1145" y="1272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1" name="Text Box 38"/>
            <p:cNvSpPr txBox="1"/>
            <p:nvPr/>
          </p:nvSpPr>
          <p:spPr>
            <a:xfrm>
              <a:off x="908" y="1310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82" name="Line 39"/>
            <p:cNvSpPr/>
            <p:nvPr/>
          </p:nvSpPr>
          <p:spPr>
            <a:xfrm>
              <a:off x="860" y="1278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3" name="Text Box 40"/>
            <p:cNvSpPr txBox="1"/>
            <p:nvPr/>
          </p:nvSpPr>
          <p:spPr>
            <a:xfrm>
              <a:off x="84" y="1286"/>
              <a:ext cx="2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34184" name="Line 41"/>
            <p:cNvSpPr/>
            <p:nvPr/>
          </p:nvSpPr>
          <p:spPr>
            <a:xfrm>
              <a:off x="396" y="1666"/>
              <a:ext cx="50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5" name="Line 42"/>
            <p:cNvSpPr/>
            <p:nvPr/>
          </p:nvSpPr>
          <p:spPr>
            <a:xfrm>
              <a:off x="792" y="1762"/>
              <a:ext cx="39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6" name="Line 43"/>
            <p:cNvSpPr/>
            <p:nvPr/>
          </p:nvSpPr>
          <p:spPr>
            <a:xfrm>
              <a:off x="311" y="1858"/>
              <a:ext cx="40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7" name="Line 44"/>
            <p:cNvSpPr/>
            <p:nvPr/>
          </p:nvSpPr>
          <p:spPr>
            <a:xfrm>
              <a:off x="1092" y="1954"/>
              <a:ext cx="28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8" name="Line 45"/>
            <p:cNvSpPr/>
            <p:nvPr/>
          </p:nvSpPr>
          <p:spPr>
            <a:xfrm flipV="1">
              <a:off x="239" y="2050"/>
              <a:ext cx="34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9" name="Line 46"/>
            <p:cNvSpPr/>
            <p:nvPr/>
          </p:nvSpPr>
          <p:spPr>
            <a:xfrm>
              <a:off x="1341" y="2146"/>
              <a:ext cx="15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0" name="Line 47"/>
            <p:cNvSpPr/>
            <p:nvPr/>
          </p:nvSpPr>
          <p:spPr>
            <a:xfrm>
              <a:off x="168" y="2242"/>
              <a:ext cx="25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1" name="Line 48"/>
            <p:cNvSpPr/>
            <p:nvPr/>
          </p:nvSpPr>
          <p:spPr>
            <a:xfrm>
              <a:off x="4692" y="1551"/>
              <a:ext cx="0" cy="5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2" name="Oval 49"/>
            <p:cNvSpPr/>
            <p:nvPr/>
          </p:nvSpPr>
          <p:spPr>
            <a:xfrm>
              <a:off x="4667" y="1739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93" name="Line 50"/>
            <p:cNvSpPr/>
            <p:nvPr/>
          </p:nvSpPr>
          <p:spPr>
            <a:xfrm>
              <a:off x="4500" y="1541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4" name="Oval 51"/>
            <p:cNvSpPr/>
            <p:nvPr/>
          </p:nvSpPr>
          <p:spPr>
            <a:xfrm>
              <a:off x="4473" y="1640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95" name="Line 52"/>
            <p:cNvSpPr/>
            <p:nvPr/>
          </p:nvSpPr>
          <p:spPr>
            <a:xfrm>
              <a:off x="3540" y="1541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6" name="Line 53"/>
            <p:cNvSpPr/>
            <p:nvPr/>
          </p:nvSpPr>
          <p:spPr>
            <a:xfrm>
              <a:off x="2244" y="1541"/>
              <a:ext cx="0" cy="1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7" name="Oval 54"/>
            <p:cNvSpPr/>
            <p:nvPr/>
          </p:nvSpPr>
          <p:spPr>
            <a:xfrm>
              <a:off x="3515" y="1640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198" name="Line 55"/>
            <p:cNvSpPr/>
            <p:nvPr/>
          </p:nvSpPr>
          <p:spPr>
            <a:xfrm>
              <a:off x="3780" y="1547"/>
              <a:ext cx="0" cy="2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9" name="Line 56"/>
            <p:cNvSpPr/>
            <p:nvPr/>
          </p:nvSpPr>
          <p:spPr>
            <a:xfrm>
              <a:off x="2532" y="1547"/>
              <a:ext cx="0" cy="2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0" name="Line 57"/>
            <p:cNvSpPr/>
            <p:nvPr/>
          </p:nvSpPr>
          <p:spPr>
            <a:xfrm>
              <a:off x="804" y="1547"/>
              <a:ext cx="0" cy="2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1" name="Oval 58"/>
            <p:cNvSpPr/>
            <p:nvPr/>
          </p:nvSpPr>
          <p:spPr>
            <a:xfrm>
              <a:off x="3759" y="1736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02" name="Oval 59"/>
            <p:cNvSpPr/>
            <p:nvPr/>
          </p:nvSpPr>
          <p:spPr>
            <a:xfrm>
              <a:off x="2507" y="1736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03" name="Line 60"/>
            <p:cNvSpPr/>
            <p:nvPr/>
          </p:nvSpPr>
          <p:spPr>
            <a:xfrm>
              <a:off x="4404" y="1551"/>
              <a:ext cx="0" cy="7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4" name="Oval 61"/>
            <p:cNvSpPr/>
            <p:nvPr/>
          </p:nvSpPr>
          <p:spPr>
            <a:xfrm>
              <a:off x="4380" y="1832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05" name="Line 62"/>
            <p:cNvSpPr/>
            <p:nvPr/>
          </p:nvSpPr>
          <p:spPr>
            <a:xfrm>
              <a:off x="3444" y="1552"/>
              <a:ext cx="0" cy="3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6" name="Line 63"/>
            <p:cNvSpPr/>
            <p:nvPr/>
          </p:nvSpPr>
          <p:spPr>
            <a:xfrm>
              <a:off x="2148" y="1552"/>
              <a:ext cx="0" cy="3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7" name="Line 64"/>
            <p:cNvSpPr/>
            <p:nvPr/>
          </p:nvSpPr>
          <p:spPr>
            <a:xfrm>
              <a:off x="3924" y="1551"/>
              <a:ext cx="0" cy="131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8" name="Line 65"/>
            <p:cNvSpPr/>
            <p:nvPr/>
          </p:nvSpPr>
          <p:spPr>
            <a:xfrm>
              <a:off x="2760" y="1535"/>
              <a:ext cx="0" cy="41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9" name="Line 66"/>
            <p:cNvSpPr/>
            <p:nvPr/>
          </p:nvSpPr>
          <p:spPr>
            <a:xfrm>
              <a:off x="1092" y="1535"/>
              <a:ext cx="0" cy="41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0" name="Line 67"/>
            <p:cNvSpPr/>
            <p:nvPr/>
          </p:nvSpPr>
          <p:spPr>
            <a:xfrm>
              <a:off x="3708" y="1551"/>
              <a:ext cx="0" cy="14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1" name="Line 68"/>
            <p:cNvSpPr/>
            <p:nvPr/>
          </p:nvSpPr>
          <p:spPr>
            <a:xfrm>
              <a:off x="2916" y="1551"/>
              <a:ext cx="0" cy="13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2" name="Line 69"/>
            <p:cNvSpPr/>
            <p:nvPr/>
          </p:nvSpPr>
          <p:spPr>
            <a:xfrm flipH="1">
              <a:off x="2688" y="1551"/>
              <a:ext cx="0" cy="13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3" name="Line 70"/>
            <p:cNvSpPr/>
            <p:nvPr/>
          </p:nvSpPr>
          <p:spPr>
            <a:xfrm>
              <a:off x="3348" y="1540"/>
              <a:ext cx="0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4" name="Line 71"/>
            <p:cNvSpPr/>
            <p:nvPr/>
          </p:nvSpPr>
          <p:spPr>
            <a:xfrm>
              <a:off x="2448" y="1528"/>
              <a:ext cx="0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5" name="Line 72"/>
            <p:cNvSpPr/>
            <p:nvPr/>
          </p:nvSpPr>
          <p:spPr>
            <a:xfrm>
              <a:off x="2052" y="1540"/>
              <a:ext cx="0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6" name="Line 73"/>
            <p:cNvSpPr/>
            <p:nvPr/>
          </p:nvSpPr>
          <p:spPr>
            <a:xfrm>
              <a:off x="708" y="1540"/>
              <a:ext cx="0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7" name="Line 74"/>
            <p:cNvSpPr/>
            <p:nvPr/>
          </p:nvSpPr>
          <p:spPr>
            <a:xfrm>
              <a:off x="1332" y="1545"/>
              <a:ext cx="0" cy="6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8" name="Line 75"/>
            <p:cNvSpPr/>
            <p:nvPr/>
          </p:nvSpPr>
          <p:spPr>
            <a:xfrm>
              <a:off x="1476" y="1556"/>
              <a:ext cx="0" cy="12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19" name="Line 76"/>
            <p:cNvSpPr/>
            <p:nvPr/>
          </p:nvSpPr>
          <p:spPr>
            <a:xfrm>
              <a:off x="1236" y="1559"/>
              <a:ext cx="0" cy="140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0" name="Line 77"/>
            <p:cNvSpPr/>
            <p:nvPr/>
          </p:nvSpPr>
          <p:spPr>
            <a:xfrm flipV="1">
              <a:off x="96" y="2374"/>
              <a:ext cx="11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1" name="Line 78"/>
            <p:cNvSpPr/>
            <p:nvPr/>
          </p:nvSpPr>
          <p:spPr>
            <a:xfrm>
              <a:off x="516" y="1545"/>
              <a:ext cx="0" cy="8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2" name="Line 79"/>
            <p:cNvSpPr/>
            <p:nvPr/>
          </p:nvSpPr>
          <p:spPr>
            <a:xfrm>
              <a:off x="900" y="1545"/>
              <a:ext cx="0" cy="8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3" name="Line 80"/>
            <p:cNvSpPr/>
            <p:nvPr/>
          </p:nvSpPr>
          <p:spPr>
            <a:xfrm>
              <a:off x="612" y="1551"/>
              <a:ext cx="0" cy="6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4" name="Line 81"/>
            <p:cNvSpPr/>
            <p:nvPr/>
          </p:nvSpPr>
          <p:spPr>
            <a:xfrm>
              <a:off x="996" y="1551"/>
              <a:ext cx="0" cy="6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5" name="Line 82"/>
            <p:cNvSpPr/>
            <p:nvPr/>
          </p:nvSpPr>
          <p:spPr>
            <a:xfrm>
              <a:off x="1956" y="1551"/>
              <a:ext cx="0" cy="6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6" name="Line 83"/>
            <p:cNvSpPr/>
            <p:nvPr/>
          </p:nvSpPr>
          <p:spPr>
            <a:xfrm>
              <a:off x="2364" y="1539"/>
              <a:ext cx="0" cy="6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7" name="Oval 84"/>
            <p:cNvSpPr/>
            <p:nvPr/>
          </p:nvSpPr>
          <p:spPr>
            <a:xfrm>
              <a:off x="3899" y="1932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28" name="Oval 85"/>
            <p:cNvSpPr/>
            <p:nvPr/>
          </p:nvSpPr>
          <p:spPr>
            <a:xfrm>
              <a:off x="3685" y="2025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29" name="Oval 86"/>
            <p:cNvSpPr/>
            <p:nvPr/>
          </p:nvSpPr>
          <p:spPr>
            <a:xfrm>
              <a:off x="3323" y="2027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0" name="Oval 87"/>
            <p:cNvSpPr/>
            <p:nvPr/>
          </p:nvSpPr>
          <p:spPr>
            <a:xfrm>
              <a:off x="3419" y="1832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1" name="Oval 88"/>
            <p:cNvSpPr/>
            <p:nvPr/>
          </p:nvSpPr>
          <p:spPr>
            <a:xfrm>
              <a:off x="2891" y="2122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2" name="Oval 89"/>
            <p:cNvSpPr/>
            <p:nvPr/>
          </p:nvSpPr>
          <p:spPr>
            <a:xfrm>
              <a:off x="2735" y="1932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3" name="Oval 90"/>
            <p:cNvSpPr/>
            <p:nvPr/>
          </p:nvSpPr>
          <p:spPr>
            <a:xfrm>
              <a:off x="1933" y="2220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4" name="Oval 91"/>
            <p:cNvSpPr/>
            <p:nvPr/>
          </p:nvSpPr>
          <p:spPr>
            <a:xfrm>
              <a:off x="2029" y="2025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5" name="Oval 92"/>
            <p:cNvSpPr/>
            <p:nvPr/>
          </p:nvSpPr>
          <p:spPr>
            <a:xfrm>
              <a:off x="2435" y="2015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6" name="Oval 93"/>
            <p:cNvSpPr/>
            <p:nvPr/>
          </p:nvSpPr>
          <p:spPr>
            <a:xfrm>
              <a:off x="1211" y="2348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7" name="Oval 94"/>
            <p:cNvSpPr/>
            <p:nvPr/>
          </p:nvSpPr>
          <p:spPr>
            <a:xfrm>
              <a:off x="971" y="2220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8" name="Oval 95"/>
            <p:cNvSpPr/>
            <p:nvPr/>
          </p:nvSpPr>
          <p:spPr>
            <a:xfrm>
              <a:off x="2341" y="2220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39" name="Oval 96"/>
            <p:cNvSpPr/>
            <p:nvPr/>
          </p:nvSpPr>
          <p:spPr>
            <a:xfrm>
              <a:off x="2220" y="1642"/>
              <a:ext cx="45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40" name="Oval 97"/>
            <p:cNvSpPr/>
            <p:nvPr/>
          </p:nvSpPr>
          <p:spPr>
            <a:xfrm>
              <a:off x="5461" y="1641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41" name="Oval 98"/>
            <p:cNvSpPr/>
            <p:nvPr/>
          </p:nvSpPr>
          <p:spPr>
            <a:xfrm>
              <a:off x="877" y="2336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42" name="Line 99"/>
            <p:cNvSpPr/>
            <p:nvPr/>
          </p:nvSpPr>
          <p:spPr>
            <a:xfrm>
              <a:off x="5484" y="1450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43" name="Line 100"/>
            <p:cNvSpPr/>
            <p:nvPr/>
          </p:nvSpPr>
          <p:spPr>
            <a:xfrm flipV="1">
              <a:off x="864" y="418"/>
              <a:ext cx="0" cy="5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4244" name="Line 101"/>
            <p:cNvSpPr/>
            <p:nvPr/>
          </p:nvSpPr>
          <p:spPr>
            <a:xfrm flipV="1">
              <a:off x="2496" y="83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45" name="Line 102"/>
            <p:cNvSpPr/>
            <p:nvPr/>
          </p:nvSpPr>
          <p:spPr>
            <a:xfrm flipV="1">
              <a:off x="3648" y="83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46" name="Line 103"/>
            <p:cNvSpPr/>
            <p:nvPr/>
          </p:nvSpPr>
          <p:spPr>
            <a:xfrm flipV="1">
              <a:off x="4536" y="85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47" name="Text Box 104"/>
            <p:cNvSpPr txBox="1"/>
            <p:nvPr/>
          </p:nvSpPr>
          <p:spPr>
            <a:xfrm>
              <a:off x="876" y="732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34248" name="Text Box 105"/>
            <p:cNvSpPr txBox="1"/>
            <p:nvPr/>
          </p:nvSpPr>
          <p:spPr>
            <a:xfrm>
              <a:off x="5280" y="351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C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</a:p>
          </p:txBody>
        </p:sp>
        <p:sp>
          <p:nvSpPr>
            <p:cNvPr id="134249" name="Text Box 106"/>
            <p:cNvSpPr txBox="1"/>
            <p:nvPr/>
          </p:nvSpPr>
          <p:spPr>
            <a:xfrm>
              <a:off x="4603" y="74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4250" name="Text Box 107"/>
            <p:cNvSpPr txBox="1"/>
            <p:nvPr/>
          </p:nvSpPr>
          <p:spPr>
            <a:xfrm>
              <a:off x="3778" y="720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34251" name="Text Box 108"/>
            <p:cNvSpPr txBox="1"/>
            <p:nvPr/>
          </p:nvSpPr>
          <p:spPr>
            <a:xfrm>
              <a:off x="2606" y="732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34252" name="Text Box 109"/>
            <p:cNvSpPr txBox="1"/>
            <p:nvPr/>
          </p:nvSpPr>
          <p:spPr>
            <a:xfrm>
              <a:off x="1584" y="3502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34253" name="Text Box 110"/>
            <p:cNvSpPr txBox="1"/>
            <p:nvPr/>
          </p:nvSpPr>
          <p:spPr>
            <a:xfrm>
              <a:off x="1140" y="351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grpSp>
          <p:nvGrpSpPr>
            <p:cNvPr id="134254" name="Group 111"/>
            <p:cNvGrpSpPr/>
            <p:nvPr/>
          </p:nvGrpSpPr>
          <p:grpSpPr>
            <a:xfrm>
              <a:off x="5132" y="558"/>
              <a:ext cx="444" cy="272"/>
              <a:chOff x="1300" y="3410"/>
              <a:chExt cx="444" cy="272"/>
            </a:xfrm>
          </p:grpSpPr>
          <p:sp>
            <p:nvSpPr>
              <p:cNvPr id="134255" name="Rectangle 112"/>
              <p:cNvSpPr/>
              <p:nvPr/>
            </p:nvSpPr>
            <p:spPr>
              <a:xfrm>
                <a:off x="1300" y="3410"/>
                <a:ext cx="431" cy="272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256" name="Text Box 113"/>
              <p:cNvSpPr txBox="1"/>
              <p:nvPr/>
            </p:nvSpPr>
            <p:spPr>
              <a:xfrm>
                <a:off x="1336" y="3422"/>
                <a:ext cx="40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=1</a:t>
                </a:r>
              </a:p>
            </p:txBody>
          </p:sp>
        </p:grpSp>
        <p:grpSp>
          <p:nvGrpSpPr>
            <p:cNvPr id="134257" name="Group 114"/>
            <p:cNvGrpSpPr/>
            <p:nvPr/>
          </p:nvGrpSpPr>
          <p:grpSpPr>
            <a:xfrm>
              <a:off x="5257" y="1084"/>
              <a:ext cx="431" cy="346"/>
              <a:chOff x="664" y="2928"/>
              <a:chExt cx="431" cy="346"/>
            </a:xfrm>
          </p:grpSpPr>
          <p:grpSp>
            <p:nvGrpSpPr>
              <p:cNvPr id="134258" name="Group 115"/>
              <p:cNvGrpSpPr/>
              <p:nvPr/>
            </p:nvGrpSpPr>
            <p:grpSpPr>
              <a:xfrm>
                <a:off x="664" y="3002"/>
                <a:ext cx="431" cy="272"/>
                <a:chOff x="216" y="384"/>
                <a:chExt cx="431" cy="272"/>
              </a:xfrm>
            </p:grpSpPr>
            <p:sp>
              <p:nvSpPr>
                <p:cNvPr id="134259" name="Rectangle 116"/>
                <p:cNvSpPr/>
                <p:nvPr/>
              </p:nvSpPr>
              <p:spPr>
                <a:xfrm>
                  <a:off x="216" y="384"/>
                  <a:ext cx="431" cy="272"/>
                </a:xfrm>
                <a:prstGeom prst="rect">
                  <a:avLst/>
                </a:prstGeom>
                <a:solidFill>
                  <a:srgbClr val="E1FDFF"/>
                </a:solidFill>
                <a:ln w="9525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260" name="Text Box 117"/>
                <p:cNvSpPr txBox="1"/>
                <p:nvPr/>
              </p:nvSpPr>
              <p:spPr>
                <a:xfrm>
                  <a:off x="240" y="384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134261" name="Oval 118"/>
              <p:cNvSpPr/>
              <p:nvPr/>
            </p:nvSpPr>
            <p:spPr>
              <a:xfrm>
                <a:off x="840" y="2928"/>
                <a:ext cx="72" cy="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262" name="Group 119"/>
            <p:cNvGrpSpPr/>
            <p:nvPr/>
          </p:nvGrpSpPr>
          <p:grpSpPr>
            <a:xfrm>
              <a:off x="5269" y="1760"/>
              <a:ext cx="431" cy="346"/>
              <a:chOff x="664" y="2928"/>
              <a:chExt cx="431" cy="346"/>
            </a:xfrm>
          </p:grpSpPr>
          <p:grpSp>
            <p:nvGrpSpPr>
              <p:cNvPr id="134263" name="Group 120"/>
              <p:cNvGrpSpPr/>
              <p:nvPr/>
            </p:nvGrpSpPr>
            <p:grpSpPr>
              <a:xfrm>
                <a:off x="664" y="3002"/>
                <a:ext cx="431" cy="272"/>
                <a:chOff x="216" y="384"/>
                <a:chExt cx="431" cy="272"/>
              </a:xfrm>
            </p:grpSpPr>
            <p:sp>
              <p:nvSpPr>
                <p:cNvPr id="134264" name="Rectangle 121"/>
                <p:cNvSpPr/>
                <p:nvPr/>
              </p:nvSpPr>
              <p:spPr>
                <a:xfrm>
                  <a:off x="216" y="384"/>
                  <a:ext cx="431" cy="272"/>
                </a:xfrm>
                <a:prstGeom prst="rect">
                  <a:avLst/>
                </a:prstGeom>
                <a:solidFill>
                  <a:srgbClr val="E1FDFF"/>
                </a:solidFill>
                <a:ln w="9525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265" name="Text Box 122"/>
                <p:cNvSpPr txBox="1"/>
                <p:nvPr/>
              </p:nvSpPr>
              <p:spPr>
                <a:xfrm>
                  <a:off x="240" y="384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134266" name="Oval 123"/>
              <p:cNvSpPr/>
              <p:nvPr/>
            </p:nvSpPr>
            <p:spPr>
              <a:xfrm>
                <a:off x="840" y="2928"/>
                <a:ext cx="72" cy="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267" name="Group 124"/>
            <p:cNvGrpSpPr/>
            <p:nvPr/>
          </p:nvGrpSpPr>
          <p:grpSpPr>
            <a:xfrm>
              <a:off x="1036" y="2868"/>
              <a:ext cx="948" cy="756"/>
              <a:chOff x="4504" y="3096"/>
              <a:chExt cx="948" cy="756"/>
            </a:xfrm>
          </p:grpSpPr>
          <p:grpSp>
            <p:nvGrpSpPr>
              <p:cNvPr id="134268" name="Group 125"/>
              <p:cNvGrpSpPr/>
              <p:nvPr/>
            </p:nvGrpSpPr>
            <p:grpSpPr>
              <a:xfrm>
                <a:off x="4504" y="3216"/>
                <a:ext cx="431" cy="346"/>
                <a:chOff x="664" y="2928"/>
                <a:chExt cx="431" cy="346"/>
              </a:xfrm>
            </p:grpSpPr>
            <p:grpSp>
              <p:nvGrpSpPr>
                <p:cNvPr id="134269" name="Group 126"/>
                <p:cNvGrpSpPr/>
                <p:nvPr/>
              </p:nvGrpSpPr>
              <p:grpSpPr>
                <a:xfrm>
                  <a:off x="664" y="3002"/>
                  <a:ext cx="431" cy="272"/>
                  <a:chOff x="216" y="384"/>
                  <a:chExt cx="431" cy="272"/>
                </a:xfrm>
              </p:grpSpPr>
              <p:sp>
                <p:nvSpPr>
                  <p:cNvPr id="134270" name="Rectangle 127"/>
                  <p:cNvSpPr/>
                  <p:nvPr/>
                </p:nvSpPr>
                <p:spPr>
                  <a:xfrm>
                    <a:off x="216" y="384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271" name="Text Box 128"/>
                  <p:cNvSpPr txBox="1"/>
                  <p:nvPr/>
                </p:nvSpPr>
                <p:spPr>
                  <a:xfrm>
                    <a:off x="240" y="384"/>
                    <a:ext cx="24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&amp;</a:t>
                    </a:r>
                  </a:p>
                </p:txBody>
              </p:sp>
            </p:grpSp>
            <p:sp>
              <p:nvSpPr>
                <p:cNvPr id="134272" name="Oval 129"/>
                <p:cNvSpPr/>
                <p:nvPr/>
              </p:nvSpPr>
              <p:spPr>
                <a:xfrm>
                  <a:off x="840" y="2928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4273" name="Group 130"/>
              <p:cNvGrpSpPr/>
              <p:nvPr/>
            </p:nvGrpSpPr>
            <p:grpSpPr>
              <a:xfrm>
                <a:off x="5008" y="3220"/>
                <a:ext cx="444" cy="342"/>
                <a:chOff x="1300" y="3340"/>
                <a:chExt cx="444" cy="342"/>
              </a:xfrm>
            </p:grpSpPr>
            <p:grpSp>
              <p:nvGrpSpPr>
                <p:cNvPr id="134274" name="Group 131"/>
                <p:cNvGrpSpPr/>
                <p:nvPr/>
              </p:nvGrpSpPr>
              <p:grpSpPr>
                <a:xfrm>
                  <a:off x="1300" y="3410"/>
                  <a:ext cx="444" cy="272"/>
                  <a:chOff x="1300" y="3410"/>
                  <a:chExt cx="444" cy="272"/>
                </a:xfrm>
              </p:grpSpPr>
              <p:sp>
                <p:nvSpPr>
                  <p:cNvPr id="134275" name="Rectangle 132"/>
                  <p:cNvSpPr/>
                  <p:nvPr/>
                </p:nvSpPr>
                <p:spPr>
                  <a:xfrm>
                    <a:off x="1300" y="3410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276" name="Text Box 133"/>
                  <p:cNvSpPr txBox="1"/>
                  <p:nvPr/>
                </p:nvSpPr>
                <p:spPr>
                  <a:xfrm>
                    <a:off x="1336" y="3422"/>
                    <a:ext cx="408" cy="23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1</a:t>
                    </a:r>
                  </a:p>
                </p:txBody>
              </p:sp>
            </p:grpSp>
            <p:sp>
              <p:nvSpPr>
                <p:cNvPr id="134277" name="Oval 134"/>
                <p:cNvSpPr/>
                <p:nvPr/>
              </p:nvSpPr>
              <p:spPr>
                <a:xfrm>
                  <a:off x="1480" y="3340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278" name="Line 135"/>
              <p:cNvSpPr/>
              <p:nvPr/>
            </p:nvSpPr>
            <p:spPr>
              <a:xfrm>
                <a:off x="4596" y="3564"/>
                <a:ext cx="0" cy="2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79" name="Line 136"/>
              <p:cNvSpPr/>
              <p:nvPr/>
            </p:nvSpPr>
            <p:spPr>
              <a:xfrm flipH="1">
                <a:off x="4848" y="3564"/>
                <a:ext cx="0" cy="10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80" name="Line 137"/>
              <p:cNvSpPr/>
              <p:nvPr/>
            </p:nvSpPr>
            <p:spPr>
              <a:xfrm>
                <a:off x="5136" y="355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81" name="Line 138"/>
              <p:cNvSpPr/>
              <p:nvPr/>
            </p:nvSpPr>
            <p:spPr>
              <a:xfrm flipH="1">
                <a:off x="5340" y="3564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82" name="Line 139"/>
              <p:cNvSpPr/>
              <p:nvPr/>
            </p:nvSpPr>
            <p:spPr>
              <a:xfrm>
                <a:off x="4860" y="3672"/>
                <a:ext cx="4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83" name="Line 140"/>
              <p:cNvSpPr/>
              <p:nvPr/>
            </p:nvSpPr>
            <p:spPr>
              <a:xfrm flipH="1">
                <a:off x="4596" y="3744"/>
                <a:ext cx="5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84" name="Oval 141"/>
              <p:cNvSpPr/>
              <p:nvPr/>
            </p:nvSpPr>
            <p:spPr>
              <a:xfrm flipH="1">
                <a:off x="5308" y="3640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285" name="Oval 142"/>
              <p:cNvSpPr/>
              <p:nvPr/>
            </p:nvSpPr>
            <p:spPr>
              <a:xfrm flipH="1">
                <a:off x="4580" y="3716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286" name="Line 143"/>
              <p:cNvSpPr/>
              <p:nvPr/>
            </p:nvSpPr>
            <p:spPr>
              <a:xfrm>
                <a:off x="4704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287" name="Line 144"/>
              <p:cNvSpPr/>
              <p:nvPr/>
            </p:nvSpPr>
            <p:spPr>
              <a:xfrm>
                <a:off x="5220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grpSp>
          <p:nvGrpSpPr>
            <p:cNvPr id="134288" name="Group 145"/>
            <p:cNvGrpSpPr/>
            <p:nvPr/>
          </p:nvGrpSpPr>
          <p:grpSpPr>
            <a:xfrm>
              <a:off x="1516" y="2402"/>
              <a:ext cx="431" cy="334"/>
              <a:chOff x="1456" y="614"/>
              <a:chExt cx="431" cy="334"/>
            </a:xfrm>
          </p:grpSpPr>
          <p:grpSp>
            <p:nvGrpSpPr>
              <p:cNvPr id="134289" name="Group 146"/>
              <p:cNvGrpSpPr/>
              <p:nvPr/>
            </p:nvGrpSpPr>
            <p:grpSpPr>
              <a:xfrm>
                <a:off x="1456" y="614"/>
                <a:ext cx="431" cy="272"/>
                <a:chOff x="216" y="384"/>
                <a:chExt cx="431" cy="272"/>
              </a:xfrm>
            </p:grpSpPr>
            <p:sp>
              <p:nvSpPr>
                <p:cNvPr id="134290" name="Rectangle 147"/>
                <p:cNvSpPr/>
                <p:nvPr/>
              </p:nvSpPr>
              <p:spPr>
                <a:xfrm>
                  <a:off x="216" y="384"/>
                  <a:ext cx="431" cy="272"/>
                </a:xfrm>
                <a:prstGeom prst="rect">
                  <a:avLst/>
                </a:prstGeom>
                <a:solidFill>
                  <a:srgbClr val="CCFFCC"/>
                </a:solidFill>
                <a:ln w="9525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291" name="Text Box 148"/>
                <p:cNvSpPr txBox="1"/>
                <p:nvPr/>
              </p:nvSpPr>
              <p:spPr>
                <a:xfrm>
                  <a:off x="240" y="384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&amp;</a:t>
                  </a:r>
                </a:p>
              </p:txBody>
            </p:sp>
          </p:grpSp>
          <p:sp>
            <p:nvSpPr>
              <p:cNvPr id="134292" name="Oval 149"/>
              <p:cNvSpPr/>
              <p:nvPr/>
            </p:nvSpPr>
            <p:spPr>
              <a:xfrm>
                <a:off x="1752" y="876"/>
                <a:ext cx="72" cy="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293" name="Oval 150"/>
            <p:cNvSpPr/>
            <p:nvPr/>
          </p:nvSpPr>
          <p:spPr>
            <a:xfrm flipH="1">
              <a:off x="4509" y="972"/>
              <a:ext cx="63" cy="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94" name="Oval 151"/>
            <p:cNvSpPr/>
            <p:nvPr/>
          </p:nvSpPr>
          <p:spPr>
            <a:xfrm flipH="1">
              <a:off x="3625" y="976"/>
              <a:ext cx="63" cy="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95" name="Oval 152"/>
            <p:cNvSpPr/>
            <p:nvPr/>
          </p:nvSpPr>
          <p:spPr>
            <a:xfrm flipH="1">
              <a:off x="2465" y="980"/>
              <a:ext cx="63" cy="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296" name="Oval 153"/>
            <p:cNvSpPr/>
            <p:nvPr/>
          </p:nvSpPr>
          <p:spPr>
            <a:xfrm flipH="1">
              <a:off x="837" y="972"/>
              <a:ext cx="63" cy="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4297" name="Group 154"/>
            <p:cNvGrpSpPr/>
            <p:nvPr/>
          </p:nvGrpSpPr>
          <p:grpSpPr>
            <a:xfrm>
              <a:off x="4212" y="562"/>
              <a:ext cx="444" cy="272"/>
              <a:chOff x="1300" y="3410"/>
              <a:chExt cx="444" cy="272"/>
            </a:xfrm>
          </p:grpSpPr>
          <p:sp>
            <p:nvSpPr>
              <p:cNvPr id="134298" name="Rectangle 155"/>
              <p:cNvSpPr/>
              <p:nvPr/>
            </p:nvSpPr>
            <p:spPr>
              <a:xfrm>
                <a:off x="1300" y="3410"/>
                <a:ext cx="431" cy="272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299" name="Text Box 156"/>
              <p:cNvSpPr txBox="1"/>
              <p:nvPr/>
            </p:nvSpPr>
            <p:spPr>
              <a:xfrm>
                <a:off x="1336" y="3422"/>
                <a:ext cx="40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=1</a:t>
                </a:r>
              </a:p>
            </p:txBody>
          </p:sp>
        </p:grpSp>
        <p:grpSp>
          <p:nvGrpSpPr>
            <p:cNvPr id="134300" name="Group 157"/>
            <p:cNvGrpSpPr/>
            <p:nvPr/>
          </p:nvGrpSpPr>
          <p:grpSpPr>
            <a:xfrm>
              <a:off x="3364" y="554"/>
              <a:ext cx="444" cy="272"/>
              <a:chOff x="1300" y="3410"/>
              <a:chExt cx="444" cy="272"/>
            </a:xfrm>
          </p:grpSpPr>
          <p:sp>
            <p:nvSpPr>
              <p:cNvPr id="134301" name="Rectangle 158"/>
              <p:cNvSpPr/>
              <p:nvPr/>
            </p:nvSpPr>
            <p:spPr>
              <a:xfrm>
                <a:off x="1300" y="3410"/>
                <a:ext cx="431" cy="272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302" name="Text Box 159"/>
              <p:cNvSpPr txBox="1"/>
              <p:nvPr/>
            </p:nvSpPr>
            <p:spPr>
              <a:xfrm>
                <a:off x="1336" y="3422"/>
                <a:ext cx="40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=1</a:t>
                </a:r>
              </a:p>
            </p:txBody>
          </p:sp>
        </p:grpSp>
        <p:grpSp>
          <p:nvGrpSpPr>
            <p:cNvPr id="134303" name="Group 160"/>
            <p:cNvGrpSpPr/>
            <p:nvPr/>
          </p:nvGrpSpPr>
          <p:grpSpPr>
            <a:xfrm>
              <a:off x="2180" y="558"/>
              <a:ext cx="444" cy="272"/>
              <a:chOff x="1300" y="3410"/>
              <a:chExt cx="444" cy="272"/>
            </a:xfrm>
          </p:grpSpPr>
          <p:sp>
            <p:nvSpPr>
              <p:cNvPr id="134304" name="Rectangle 161"/>
              <p:cNvSpPr/>
              <p:nvPr/>
            </p:nvSpPr>
            <p:spPr>
              <a:xfrm>
                <a:off x="1300" y="3410"/>
                <a:ext cx="431" cy="272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305" name="Text Box 162"/>
              <p:cNvSpPr txBox="1"/>
              <p:nvPr/>
            </p:nvSpPr>
            <p:spPr>
              <a:xfrm>
                <a:off x="1336" y="3422"/>
                <a:ext cx="40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=1</a:t>
                </a:r>
              </a:p>
            </p:txBody>
          </p:sp>
        </p:grpSp>
        <p:sp>
          <p:nvSpPr>
            <p:cNvPr id="134306" name="Line 163"/>
            <p:cNvSpPr/>
            <p:nvPr/>
          </p:nvSpPr>
          <p:spPr>
            <a:xfrm>
              <a:off x="456" y="1284"/>
              <a:ext cx="0" cy="2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07" name="Line 164"/>
            <p:cNvSpPr/>
            <p:nvPr/>
          </p:nvSpPr>
          <p:spPr>
            <a:xfrm>
              <a:off x="384" y="1536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08" name="Oval 165"/>
            <p:cNvSpPr/>
            <p:nvPr/>
          </p:nvSpPr>
          <p:spPr>
            <a:xfrm>
              <a:off x="593" y="2224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09" name="Oval 166"/>
            <p:cNvSpPr/>
            <p:nvPr/>
          </p:nvSpPr>
          <p:spPr>
            <a:xfrm>
              <a:off x="501" y="2348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10" name="Oval 167"/>
            <p:cNvSpPr/>
            <p:nvPr/>
          </p:nvSpPr>
          <p:spPr>
            <a:xfrm>
              <a:off x="2665" y="2220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11" name="Oval 168"/>
            <p:cNvSpPr/>
            <p:nvPr/>
          </p:nvSpPr>
          <p:spPr>
            <a:xfrm>
              <a:off x="689" y="2032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12" name="Line 169"/>
            <p:cNvSpPr/>
            <p:nvPr/>
          </p:nvSpPr>
          <p:spPr>
            <a:xfrm flipV="1">
              <a:off x="312" y="1536"/>
              <a:ext cx="0" cy="3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3" name="Line 170"/>
            <p:cNvSpPr/>
            <p:nvPr/>
          </p:nvSpPr>
          <p:spPr>
            <a:xfrm flipV="1">
              <a:off x="240" y="1548"/>
              <a:ext cx="0" cy="4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4" name="Line 171"/>
            <p:cNvSpPr/>
            <p:nvPr/>
          </p:nvSpPr>
          <p:spPr>
            <a:xfrm flipH="1">
              <a:off x="168" y="1536"/>
              <a:ext cx="0" cy="6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5" name="Line 172"/>
            <p:cNvSpPr/>
            <p:nvPr/>
          </p:nvSpPr>
          <p:spPr>
            <a:xfrm flipH="1">
              <a:off x="96" y="1536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6" name="Line 173"/>
            <p:cNvSpPr/>
            <p:nvPr/>
          </p:nvSpPr>
          <p:spPr>
            <a:xfrm flipH="1">
              <a:off x="1716" y="912"/>
              <a:ext cx="0" cy="14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7" name="Line 174"/>
            <p:cNvSpPr/>
            <p:nvPr/>
          </p:nvSpPr>
          <p:spPr>
            <a:xfrm>
              <a:off x="1716" y="912"/>
              <a:ext cx="5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8" name="Line 175"/>
            <p:cNvSpPr/>
            <p:nvPr/>
          </p:nvSpPr>
          <p:spPr>
            <a:xfrm>
              <a:off x="2280" y="82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19" name="Line 176"/>
            <p:cNvSpPr/>
            <p:nvPr/>
          </p:nvSpPr>
          <p:spPr>
            <a:xfrm flipH="1">
              <a:off x="1848" y="2736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20" name="Line 177"/>
            <p:cNvSpPr/>
            <p:nvPr/>
          </p:nvSpPr>
          <p:spPr>
            <a:xfrm flipH="1">
              <a:off x="1464" y="2856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21" name="Oval 178"/>
            <p:cNvSpPr/>
            <p:nvPr/>
          </p:nvSpPr>
          <p:spPr>
            <a:xfrm>
              <a:off x="2129" y="1828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22" name="Oval 179"/>
            <p:cNvSpPr/>
            <p:nvPr/>
          </p:nvSpPr>
          <p:spPr>
            <a:xfrm>
              <a:off x="1221" y="2708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23" name="Oval 180"/>
            <p:cNvSpPr/>
            <p:nvPr/>
          </p:nvSpPr>
          <p:spPr>
            <a:xfrm>
              <a:off x="1729" y="2844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24" name="Line 181"/>
            <p:cNvSpPr/>
            <p:nvPr/>
          </p:nvSpPr>
          <p:spPr>
            <a:xfrm>
              <a:off x="1236" y="2724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25" name="Line 182"/>
            <p:cNvSpPr/>
            <p:nvPr/>
          </p:nvSpPr>
          <p:spPr>
            <a:xfrm flipH="1">
              <a:off x="1632" y="2652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26" name="Text Box 183"/>
            <p:cNvSpPr txBox="1"/>
            <p:nvPr/>
          </p:nvSpPr>
          <p:spPr>
            <a:xfrm>
              <a:off x="4060" y="3518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34327" name="Text Box 184"/>
            <p:cNvSpPr txBox="1"/>
            <p:nvPr/>
          </p:nvSpPr>
          <p:spPr>
            <a:xfrm>
              <a:off x="3628" y="3530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134328" name="Group 185"/>
            <p:cNvGrpSpPr/>
            <p:nvPr/>
          </p:nvGrpSpPr>
          <p:grpSpPr>
            <a:xfrm>
              <a:off x="3512" y="2884"/>
              <a:ext cx="948" cy="756"/>
              <a:chOff x="4504" y="3096"/>
              <a:chExt cx="948" cy="756"/>
            </a:xfrm>
          </p:grpSpPr>
          <p:grpSp>
            <p:nvGrpSpPr>
              <p:cNvPr id="134329" name="Group 186"/>
              <p:cNvGrpSpPr/>
              <p:nvPr/>
            </p:nvGrpSpPr>
            <p:grpSpPr>
              <a:xfrm>
                <a:off x="4504" y="3216"/>
                <a:ext cx="431" cy="346"/>
                <a:chOff x="664" y="2928"/>
                <a:chExt cx="431" cy="346"/>
              </a:xfrm>
            </p:grpSpPr>
            <p:grpSp>
              <p:nvGrpSpPr>
                <p:cNvPr id="134330" name="Group 187"/>
                <p:cNvGrpSpPr/>
                <p:nvPr/>
              </p:nvGrpSpPr>
              <p:grpSpPr>
                <a:xfrm>
                  <a:off x="664" y="3002"/>
                  <a:ext cx="431" cy="272"/>
                  <a:chOff x="216" y="384"/>
                  <a:chExt cx="431" cy="272"/>
                </a:xfrm>
              </p:grpSpPr>
              <p:sp>
                <p:nvSpPr>
                  <p:cNvPr id="134331" name="Rectangle 188"/>
                  <p:cNvSpPr/>
                  <p:nvPr/>
                </p:nvSpPr>
                <p:spPr>
                  <a:xfrm>
                    <a:off x="216" y="384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332" name="Text Box 189"/>
                  <p:cNvSpPr txBox="1"/>
                  <p:nvPr/>
                </p:nvSpPr>
                <p:spPr>
                  <a:xfrm>
                    <a:off x="240" y="384"/>
                    <a:ext cx="24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&amp;</a:t>
                    </a:r>
                  </a:p>
                </p:txBody>
              </p:sp>
            </p:grpSp>
            <p:sp>
              <p:nvSpPr>
                <p:cNvPr id="134333" name="Oval 190"/>
                <p:cNvSpPr/>
                <p:nvPr/>
              </p:nvSpPr>
              <p:spPr>
                <a:xfrm>
                  <a:off x="840" y="2928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4334" name="Group 191"/>
              <p:cNvGrpSpPr/>
              <p:nvPr/>
            </p:nvGrpSpPr>
            <p:grpSpPr>
              <a:xfrm>
                <a:off x="5008" y="3220"/>
                <a:ext cx="444" cy="342"/>
                <a:chOff x="1300" y="3340"/>
                <a:chExt cx="444" cy="342"/>
              </a:xfrm>
            </p:grpSpPr>
            <p:grpSp>
              <p:nvGrpSpPr>
                <p:cNvPr id="134335" name="Group 192"/>
                <p:cNvGrpSpPr/>
                <p:nvPr/>
              </p:nvGrpSpPr>
              <p:grpSpPr>
                <a:xfrm>
                  <a:off x="1300" y="3410"/>
                  <a:ext cx="444" cy="272"/>
                  <a:chOff x="1300" y="3410"/>
                  <a:chExt cx="444" cy="272"/>
                </a:xfrm>
              </p:grpSpPr>
              <p:sp>
                <p:nvSpPr>
                  <p:cNvPr id="134336" name="Rectangle 193"/>
                  <p:cNvSpPr/>
                  <p:nvPr/>
                </p:nvSpPr>
                <p:spPr>
                  <a:xfrm>
                    <a:off x="1300" y="3410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337" name="Text Box 194"/>
                  <p:cNvSpPr txBox="1"/>
                  <p:nvPr/>
                </p:nvSpPr>
                <p:spPr>
                  <a:xfrm>
                    <a:off x="1336" y="3422"/>
                    <a:ext cx="408" cy="23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1</a:t>
                    </a:r>
                  </a:p>
                </p:txBody>
              </p:sp>
            </p:grpSp>
            <p:sp>
              <p:nvSpPr>
                <p:cNvPr id="134338" name="Oval 195"/>
                <p:cNvSpPr/>
                <p:nvPr/>
              </p:nvSpPr>
              <p:spPr>
                <a:xfrm>
                  <a:off x="1480" y="3340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339" name="Line 196"/>
              <p:cNvSpPr/>
              <p:nvPr/>
            </p:nvSpPr>
            <p:spPr>
              <a:xfrm>
                <a:off x="4596" y="3564"/>
                <a:ext cx="0" cy="2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0" name="Line 197"/>
              <p:cNvSpPr/>
              <p:nvPr/>
            </p:nvSpPr>
            <p:spPr>
              <a:xfrm flipH="1">
                <a:off x="4848" y="3564"/>
                <a:ext cx="0" cy="10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1" name="Line 198"/>
              <p:cNvSpPr/>
              <p:nvPr/>
            </p:nvSpPr>
            <p:spPr>
              <a:xfrm>
                <a:off x="5136" y="355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2" name="Line 199"/>
              <p:cNvSpPr/>
              <p:nvPr/>
            </p:nvSpPr>
            <p:spPr>
              <a:xfrm flipH="1">
                <a:off x="5340" y="3564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3" name="Line 200"/>
              <p:cNvSpPr/>
              <p:nvPr/>
            </p:nvSpPr>
            <p:spPr>
              <a:xfrm>
                <a:off x="4860" y="3672"/>
                <a:ext cx="4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4" name="Line 201"/>
              <p:cNvSpPr/>
              <p:nvPr/>
            </p:nvSpPr>
            <p:spPr>
              <a:xfrm flipH="1">
                <a:off x="4596" y="3744"/>
                <a:ext cx="5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5" name="Oval 202"/>
              <p:cNvSpPr/>
              <p:nvPr/>
            </p:nvSpPr>
            <p:spPr>
              <a:xfrm flipH="1">
                <a:off x="5308" y="3640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346" name="Oval 203"/>
              <p:cNvSpPr/>
              <p:nvPr/>
            </p:nvSpPr>
            <p:spPr>
              <a:xfrm flipH="1">
                <a:off x="4580" y="3716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347" name="Line 204"/>
              <p:cNvSpPr/>
              <p:nvPr/>
            </p:nvSpPr>
            <p:spPr>
              <a:xfrm>
                <a:off x="4704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48" name="Line 205"/>
              <p:cNvSpPr/>
              <p:nvPr/>
            </p:nvSpPr>
            <p:spPr>
              <a:xfrm>
                <a:off x="5220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grpSp>
          <p:nvGrpSpPr>
            <p:cNvPr id="134349" name="Group 206"/>
            <p:cNvGrpSpPr/>
            <p:nvPr/>
          </p:nvGrpSpPr>
          <p:grpSpPr>
            <a:xfrm>
              <a:off x="3992" y="2418"/>
              <a:ext cx="431" cy="334"/>
              <a:chOff x="1456" y="614"/>
              <a:chExt cx="431" cy="334"/>
            </a:xfrm>
          </p:grpSpPr>
          <p:grpSp>
            <p:nvGrpSpPr>
              <p:cNvPr id="134350" name="Group 207"/>
              <p:cNvGrpSpPr/>
              <p:nvPr/>
            </p:nvGrpSpPr>
            <p:grpSpPr>
              <a:xfrm>
                <a:off x="1456" y="614"/>
                <a:ext cx="431" cy="272"/>
                <a:chOff x="216" y="384"/>
                <a:chExt cx="431" cy="272"/>
              </a:xfrm>
            </p:grpSpPr>
            <p:sp>
              <p:nvSpPr>
                <p:cNvPr id="134351" name="Rectangle 208"/>
                <p:cNvSpPr/>
                <p:nvPr/>
              </p:nvSpPr>
              <p:spPr>
                <a:xfrm>
                  <a:off x="216" y="384"/>
                  <a:ext cx="431" cy="272"/>
                </a:xfrm>
                <a:prstGeom prst="rect">
                  <a:avLst/>
                </a:prstGeom>
                <a:solidFill>
                  <a:srgbClr val="CCFFCC"/>
                </a:solidFill>
                <a:ln w="9525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352" name="Text Box 209"/>
                <p:cNvSpPr txBox="1"/>
                <p:nvPr/>
              </p:nvSpPr>
              <p:spPr>
                <a:xfrm>
                  <a:off x="240" y="384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&amp;</a:t>
                  </a:r>
                </a:p>
              </p:txBody>
            </p:sp>
          </p:grpSp>
          <p:sp>
            <p:nvSpPr>
              <p:cNvPr id="134353" name="Oval 210"/>
              <p:cNvSpPr/>
              <p:nvPr/>
            </p:nvSpPr>
            <p:spPr>
              <a:xfrm>
                <a:off x="1752" y="876"/>
                <a:ext cx="72" cy="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354" name="Line 211"/>
            <p:cNvSpPr/>
            <p:nvPr/>
          </p:nvSpPr>
          <p:spPr>
            <a:xfrm flipH="1">
              <a:off x="4324" y="2752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55" name="Line 212"/>
            <p:cNvSpPr/>
            <p:nvPr/>
          </p:nvSpPr>
          <p:spPr>
            <a:xfrm flipH="1">
              <a:off x="3940" y="2872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56" name="Oval 213"/>
            <p:cNvSpPr/>
            <p:nvPr/>
          </p:nvSpPr>
          <p:spPr>
            <a:xfrm>
              <a:off x="3697" y="2724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57" name="Oval 214"/>
            <p:cNvSpPr/>
            <p:nvPr/>
          </p:nvSpPr>
          <p:spPr>
            <a:xfrm>
              <a:off x="4205" y="2860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58" name="Line 215"/>
            <p:cNvSpPr/>
            <p:nvPr/>
          </p:nvSpPr>
          <p:spPr>
            <a:xfrm>
              <a:off x="3712" y="2740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59" name="Line 216"/>
            <p:cNvSpPr/>
            <p:nvPr/>
          </p:nvSpPr>
          <p:spPr>
            <a:xfrm flipH="1">
              <a:off x="4108" y="2668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60" name="Text Box 217"/>
            <p:cNvSpPr txBox="1"/>
            <p:nvPr/>
          </p:nvSpPr>
          <p:spPr>
            <a:xfrm>
              <a:off x="3040" y="3518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34361" name="Text Box 218"/>
            <p:cNvSpPr txBox="1"/>
            <p:nvPr/>
          </p:nvSpPr>
          <p:spPr>
            <a:xfrm>
              <a:off x="2596" y="3530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grpSp>
          <p:nvGrpSpPr>
            <p:cNvPr id="134362" name="Group 219"/>
            <p:cNvGrpSpPr/>
            <p:nvPr/>
          </p:nvGrpSpPr>
          <p:grpSpPr>
            <a:xfrm>
              <a:off x="2492" y="2884"/>
              <a:ext cx="948" cy="756"/>
              <a:chOff x="4504" y="3096"/>
              <a:chExt cx="948" cy="756"/>
            </a:xfrm>
          </p:grpSpPr>
          <p:grpSp>
            <p:nvGrpSpPr>
              <p:cNvPr id="134363" name="Group 220"/>
              <p:cNvGrpSpPr/>
              <p:nvPr/>
            </p:nvGrpSpPr>
            <p:grpSpPr>
              <a:xfrm>
                <a:off x="4504" y="3216"/>
                <a:ext cx="431" cy="346"/>
                <a:chOff x="664" y="2928"/>
                <a:chExt cx="431" cy="346"/>
              </a:xfrm>
            </p:grpSpPr>
            <p:grpSp>
              <p:nvGrpSpPr>
                <p:cNvPr id="134364" name="Group 221"/>
                <p:cNvGrpSpPr/>
                <p:nvPr/>
              </p:nvGrpSpPr>
              <p:grpSpPr>
                <a:xfrm>
                  <a:off x="664" y="3002"/>
                  <a:ext cx="431" cy="272"/>
                  <a:chOff x="216" y="384"/>
                  <a:chExt cx="431" cy="272"/>
                </a:xfrm>
              </p:grpSpPr>
              <p:sp>
                <p:nvSpPr>
                  <p:cNvPr id="134365" name="Rectangle 222"/>
                  <p:cNvSpPr/>
                  <p:nvPr/>
                </p:nvSpPr>
                <p:spPr>
                  <a:xfrm>
                    <a:off x="216" y="384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366" name="Text Box 223"/>
                  <p:cNvSpPr txBox="1"/>
                  <p:nvPr/>
                </p:nvSpPr>
                <p:spPr>
                  <a:xfrm>
                    <a:off x="240" y="384"/>
                    <a:ext cx="24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&amp;</a:t>
                    </a:r>
                  </a:p>
                </p:txBody>
              </p:sp>
            </p:grpSp>
            <p:sp>
              <p:nvSpPr>
                <p:cNvPr id="134367" name="Oval 224"/>
                <p:cNvSpPr/>
                <p:nvPr/>
              </p:nvSpPr>
              <p:spPr>
                <a:xfrm>
                  <a:off x="840" y="2928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4368" name="Group 225"/>
              <p:cNvGrpSpPr/>
              <p:nvPr/>
            </p:nvGrpSpPr>
            <p:grpSpPr>
              <a:xfrm>
                <a:off x="5008" y="3220"/>
                <a:ext cx="444" cy="342"/>
                <a:chOff x="1300" y="3340"/>
                <a:chExt cx="444" cy="342"/>
              </a:xfrm>
            </p:grpSpPr>
            <p:grpSp>
              <p:nvGrpSpPr>
                <p:cNvPr id="134369" name="Group 226"/>
                <p:cNvGrpSpPr/>
                <p:nvPr/>
              </p:nvGrpSpPr>
              <p:grpSpPr>
                <a:xfrm>
                  <a:off x="1300" y="3410"/>
                  <a:ext cx="444" cy="272"/>
                  <a:chOff x="1300" y="3410"/>
                  <a:chExt cx="444" cy="272"/>
                </a:xfrm>
              </p:grpSpPr>
              <p:sp>
                <p:nvSpPr>
                  <p:cNvPr id="134370" name="Rectangle 227"/>
                  <p:cNvSpPr/>
                  <p:nvPr/>
                </p:nvSpPr>
                <p:spPr>
                  <a:xfrm>
                    <a:off x="1300" y="3410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371" name="Text Box 228"/>
                  <p:cNvSpPr txBox="1"/>
                  <p:nvPr/>
                </p:nvSpPr>
                <p:spPr>
                  <a:xfrm>
                    <a:off x="1336" y="3422"/>
                    <a:ext cx="408" cy="23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1</a:t>
                    </a:r>
                  </a:p>
                </p:txBody>
              </p:sp>
            </p:grpSp>
            <p:sp>
              <p:nvSpPr>
                <p:cNvPr id="134372" name="Oval 229"/>
                <p:cNvSpPr/>
                <p:nvPr/>
              </p:nvSpPr>
              <p:spPr>
                <a:xfrm>
                  <a:off x="1480" y="3340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373" name="Line 230"/>
              <p:cNvSpPr/>
              <p:nvPr/>
            </p:nvSpPr>
            <p:spPr>
              <a:xfrm>
                <a:off x="4596" y="3564"/>
                <a:ext cx="0" cy="2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74" name="Line 231"/>
              <p:cNvSpPr/>
              <p:nvPr/>
            </p:nvSpPr>
            <p:spPr>
              <a:xfrm flipH="1">
                <a:off x="4848" y="3564"/>
                <a:ext cx="0" cy="10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75" name="Line 232"/>
              <p:cNvSpPr/>
              <p:nvPr/>
            </p:nvSpPr>
            <p:spPr>
              <a:xfrm>
                <a:off x="5136" y="355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76" name="Line 233"/>
              <p:cNvSpPr/>
              <p:nvPr/>
            </p:nvSpPr>
            <p:spPr>
              <a:xfrm flipH="1">
                <a:off x="5340" y="3564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77" name="Line 234"/>
              <p:cNvSpPr/>
              <p:nvPr/>
            </p:nvSpPr>
            <p:spPr>
              <a:xfrm>
                <a:off x="4860" y="3672"/>
                <a:ext cx="4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78" name="Line 235"/>
              <p:cNvSpPr/>
              <p:nvPr/>
            </p:nvSpPr>
            <p:spPr>
              <a:xfrm flipH="1">
                <a:off x="4596" y="3744"/>
                <a:ext cx="5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79" name="Oval 236"/>
              <p:cNvSpPr/>
              <p:nvPr/>
            </p:nvSpPr>
            <p:spPr>
              <a:xfrm flipH="1">
                <a:off x="5308" y="3640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380" name="Oval 237"/>
              <p:cNvSpPr/>
              <p:nvPr/>
            </p:nvSpPr>
            <p:spPr>
              <a:xfrm flipH="1">
                <a:off x="4580" y="3716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381" name="Line 238"/>
              <p:cNvSpPr/>
              <p:nvPr/>
            </p:nvSpPr>
            <p:spPr>
              <a:xfrm>
                <a:off x="4704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382" name="Line 239"/>
              <p:cNvSpPr/>
              <p:nvPr/>
            </p:nvSpPr>
            <p:spPr>
              <a:xfrm>
                <a:off x="5220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grpSp>
          <p:nvGrpSpPr>
            <p:cNvPr id="134383" name="Group 240"/>
            <p:cNvGrpSpPr/>
            <p:nvPr/>
          </p:nvGrpSpPr>
          <p:grpSpPr>
            <a:xfrm>
              <a:off x="2972" y="2418"/>
              <a:ext cx="431" cy="334"/>
              <a:chOff x="1456" y="614"/>
              <a:chExt cx="431" cy="334"/>
            </a:xfrm>
          </p:grpSpPr>
          <p:grpSp>
            <p:nvGrpSpPr>
              <p:cNvPr id="134384" name="Group 241"/>
              <p:cNvGrpSpPr/>
              <p:nvPr/>
            </p:nvGrpSpPr>
            <p:grpSpPr>
              <a:xfrm>
                <a:off x="1456" y="614"/>
                <a:ext cx="431" cy="272"/>
                <a:chOff x="216" y="384"/>
                <a:chExt cx="431" cy="272"/>
              </a:xfrm>
            </p:grpSpPr>
            <p:sp>
              <p:nvSpPr>
                <p:cNvPr id="134385" name="Rectangle 242"/>
                <p:cNvSpPr/>
                <p:nvPr/>
              </p:nvSpPr>
              <p:spPr>
                <a:xfrm>
                  <a:off x="216" y="384"/>
                  <a:ext cx="431" cy="272"/>
                </a:xfrm>
                <a:prstGeom prst="rect">
                  <a:avLst/>
                </a:prstGeom>
                <a:solidFill>
                  <a:srgbClr val="CCFFCC"/>
                </a:solidFill>
                <a:ln w="9525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386" name="Text Box 243"/>
                <p:cNvSpPr txBox="1"/>
                <p:nvPr/>
              </p:nvSpPr>
              <p:spPr>
                <a:xfrm>
                  <a:off x="240" y="384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&amp;</a:t>
                  </a:r>
                </a:p>
              </p:txBody>
            </p:sp>
          </p:grpSp>
          <p:sp>
            <p:nvSpPr>
              <p:cNvPr id="134387" name="Oval 244"/>
              <p:cNvSpPr/>
              <p:nvPr/>
            </p:nvSpPr>
            <p:spPr>
              <a:xfrm>
                <a:off x="1752" y="876"/>
                <a:ext cx="72" cy="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388" name="Line 245"/>
            <p:cNvSpPr/>
            <p:nvPr/>
          </p:nvSpPr>
          <p:spPr>
            <a:xfrm flipH="1">
              <a:off x="3304" y="2752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89" name="Line 246"/>
            <p:cNvSpPr/>
            <p:nvPr/>
          </p:nvSpPr>
          <p:spPr>
            <a:xfrm flipH="1">
              <a:off x="2920" y="2872"/>
              <a:ext cx="3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90" name="Oval 247"/>
            <p:cNvSpPr/>
            <p:nvPr/>
          </p:nvSpPr>
          <p:spPr>
            <a:xfrm>
              <a:off x="2677" y="2724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91" name="Oval 248"/>
            <p:cNvSpPr/>
            <p:nvPr/>
          </p:nvSpPr>
          <p:spPr>
            <a:xfrm>
              <a:off x="3185" y="2860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392" name="Line 249"/>
            <p:cNvSpPr/>
            <p:nvPr/>
          </p:nvSpPr>
          <p:spPr>
            <a:xfrm>
              <a:off x="2692" y="2740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93" name="Line 250"/>
            <p:cNvSpPr/>
            <p:nvPr/>
          </p:nvSpPr>
          <p:spPr>
            <a:xfrm flipH="1">
              <a:off x="3088" y="2668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394" name="Text Box 251"/>
            <p:cNvSpPr txBox="1"/>
            <p:nvPr/>
          </p:nvSpPr>
          <p:spPr>
            <a:xfrm>
              <a:off x="5032" y="3506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A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4395" name="Text Box 252"/>
            <p:cNvSpPr txBox="1"/>
            <p:nvPr/>
          </p:nvSpPr>
          <p:spPr>
            <a:xfrm>
              <a:off x="4612" y="3506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34396" name="Group 253"/>
            <p:cNvGrpSpPr/>
            <p:nvPr/>
          </p:nvGrpSpPr>
          <p:grpSpPr>
            <a:xfrm>
              <a:off x="4484" y="2872"/>
              <a:ext cx="948" cy="756"/>
              <a:chOff x="4504" y="3096"/>
              <a:chExt cx="948" cy="756"/>
            </a:xfrm>
          </p:grpSpPr>
          <p:grpSp>
            <p:nvGrpSpPr>
              <p:cNvPr id="134397" name="Group 254"/>
              <p:cNvGrpSpPr/>
              <p:nvPr/>
            </p:nvGrpSpPr>
            <p:grpSpPr>
              <a:xfrm>
                <a:off x="4504" y="3216"/>
                <a:ext cx="431" cy="346"/>
                <a:chOff x="664" y="2928"/>
                <a:chExt cx="431" cy="346"/>
              </a:xfrm>
            </p:grpSpPr>
            <p:grpSp>
              <p:nvGrpSpPr>
                <p:cNvPr id="134398" name="Group 255"/>
                <p:cNvGrpSpPr/>
                <p:nvPr/>
              </p:nvGrpSpPr>
              <p:grpSpPr>
                <a:xfrm>
                  <a:off x="664" y="3002"/>
                  <a:ext cx="431" cy="272"/>
                  <a:chOff x="216" y="384"/>
                  <a:chExt cx="431" cy="272"/>
                </a:xfrm>
              </p:grpSpPr>
              <p:sp>
                <p:nvSpPr>
                  <p:cNvPr id="134399" name="Rectangle 256"/>
                  <p:cNvSpPr/>
                  <p:nvPr/>
                </p:nvSpPr>
                <p:spPr>
                  <a:xfrm>
                    <a:off x="216" y="384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400" name="Text Box 257"/>
                  <p:cNvSpPr txBox="1"/>
                  <p:nvPr/>
                </p:nvSpPr>
                <p:spPr>
                  <a:xfrm>
                    <a:off x="240" y="384"/>
                    <a:ext cx="240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sz="2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&amp;</a:t>
                    </a:r>
                  </a:p>
                </p:txBody>
              </p:sp>
            </p:grpSp>
            <p:sp>
              <p:nvSpPr>
                <p:cNvPr id="134401" name="Oval 258"/>
                <p:cNvSpPr/>
                <p:nvPr/>
              </p:nvSpPr>
              <p:spPr>
                <a:xfrm>
                  <a:off x="840" y="2928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4402" name="Group 259"/>
              <p:cNvGrpSpPr/>
              <p:nvPr/>
            </p:nvGrpSpPr>
            <p:grpSpPr>
              <a:xfrm>
                <a:off x="5008" y="3220"/>
                <a:ext cx="444" cy="342"/>
                <a:chOff x="1300" y="3340"/>
                <a:chExt cx="444" cy="342"/>
              </a:xfrm>
            </p:grpSpPr>
            <p:grpSp>
              <p:nvGrpSpPr>
                <p:cNvPr id="134403" name="Group 260"/>
                <p:cNvGrpSpPr/>
                <p:nvPr/>
              </p:nvGrpSpPr>
              <p:grpSpPr>
                <a:xfrm>
                  <a:off x="1300" y="3410"/>
                  <a:ext cx="444" cy="272"/>
                  <a:chOff x="1300" y="3410"/>
                  <a:chExt cx="444" cy="272"/>
                </a:xfrm>
              </p:grpSpPr>
              <p:sp>
                <p:nvSpPr>
                  <p:cNvPr id="134404" name="Rectangle 261"/>
                  <p:cNvSpPr/>
                  <p:nvPr/>
                </p:nvSpPr>
                <p:spPr>
                  <a:xfrm>
                    <a:off x="1300" y="3410"/>
                    <a:ext cx="431" cy="272"/>
                  </a:xfrm>
                  <a:prstGeom prst="rect">
                    <a:avLst/>
                  </a:prstGeom>
                  <a:solidFill>
                    <a:srgbClr val="E1FDFF"/>
                  </a:solidFill>
                  <a:ln w="9525" cap="flat" cmpd="sng">
                    <a:solidFill>
                      <a:srgbClr val="3333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sz="2000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4405" name="Text Box 262"/>
                  <p:cNvSpPr txBox="1"/>
                  <p:nvPr/>
                </p:nvSpPr>
                <p:spPr>
                  <a:xfrm>
                    <a:off x="1336" y="3422"/>
                    <a:ext cx="408" cy="23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fontAlgn="base"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r>
                      <a:rPr lang="en-US" altLang="zh-CN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1</a:t>
                    </a:r>
                  </a:p>
                </p:txBody>
              </p:sp>
            </p:grpSp>
            <p:sp>
              <p:nvSpPr>
                <p:cNvPr id="134406" name="Oval 263"/>
                <p:cNvSpPr/>
                <p:nvPr/>
              </p:nvSpPr>
              <p:spPr>
                <a:xfrm>
                  <a:off x="1480" y="3340"/>
                  <a:ext cx="72" cy="7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407" name="Line 264"/>
              <p:cNvSpPr/>
              <p:nvPr/>
            </p:nvSpPr>
            <p:spPr>
              <a:xfrm>
                <a:off x="4596" y="3564"/>
                <a:ext cx="0" cy="2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08" name="Line 265"/>
              <p:cNvSpPr/>
              <p:nvPr/>
            </p:nvSpPr>
            <p:spPr>
              <a:xfrm flipH="1">
                <a:off x="4848" y="3564"/>
                <a:ext cx="0" cy="10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09" name="Line 266"/>
              <p:cNvSpPr/>
              <p:nvPr/>
            </p:nvSpPr>
            <p:spPr>
              <a:xfrm>
                <a:off x="5136" y="3552"/>
                <a:ext cx="0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10" name="Line 267"/>
              <p:cNvSpPr/>
              <p:nvPr/>
            </p:nvSpPr>
            <p:spPr>
              <a:xfrm flipH="1">
                <a:off x="5340" y="3564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11" name="Line 268"/>
              <p:cNvSpPr/>
              <p:nvPr/>
            </p:nvSpPr>
            <p:spPr>
              <a:xfrm>
                <a:off x="4860" y="3672"/>
                <a:ext cx="4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12" name="Line 269"/>
              <p:cNvSpPr/>
              <p:nvPr/>
            </p:nvSpPr>
            <p:spPr>
              <a:xfrm flipH="1">
                <a:off x="4596" y="3744"/>
                <a:ext cx="5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13" name="Oval 270"/>
              <p:cNvSpPr/>
              <p:nvPr/>
            </p:nvSpPr>
            <p:spPr>
              <a:xfrm flipH="1">
                <a:off x="5308" y="3640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414" name="Oval 271"/>
              <p:cNvSpPr/>
              <p:nvPr/>
            </p:nvSpPr>
            <p:spPr>
              <a:xfrm flipH="1">
                <a:off x="4580" y="3716"/>
                <a:ext cx="60" cy="63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415" name="Line 272"/>
              <p:cNvSpPr/>
              <p:nvPr/>
            </p:nvSpPr>
            <p:spPr>
              <a:xfrm>
                <a:off x="4704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34416" name="Line 273"/>
              <p:cNvSpPr/>
              <p:nvPr/>
            </p:nvSpPr>
            <p:spPr>
              <a:xfrm>
                <a:off x="5220" y="3096"/>
                <a:ext cx="0" cy="1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grpSp>
          <p:nvGrpSpPr>
            <p:cNvPr id="134417" name="Group 274"/>
            <p:cNvGrpSpPr/>
            <p:nvPr/>
          </p:nvGrpSpPr>
          <p:grpSpPr>
            <a:xfrm>
              <a:off x="4964" y="2406"/>
              <a:ext cx="431" cy="334"/>
              <a:chOff x="1456" y="614"/>
              <a:chExt cx="431" cy="334"/>
            </a:xfrm>
          </p:grpSpPr>
          <p:grpSp>
            <p:nvGrpSpPr>
              <p:cNvPr id="134418" name="Group 275"/>
              <p:cNvGrpSpPr/>
              <p:nvPr/>
            </p:nvGrpSpPr>
            <p:grpSpPr>
              <a:xfrm>
                <a:off x="1456" y="614"/>
                <a:ext cx="431" cy="272"/>
                <a:chOff x="216" y="384"/>
                <a:chExt cx="431" cy="272"/>
              </a:xfrm>
            </p:grpSpPr>
            <p:sp>
              <p:nvSpPr>
                <p:cNvPr id="134419" name="Rectangle 276"/>
                <p:cNvSpPr/>
                <p:nvPr/>
              </p:nvSpPr>
              <p:spPr>
                <a:xfrm>
                  <a:off x="216" y="384"/>
                  <a:ext cx="431" cy="272"/>
                </a:xfrm>
                <a:prstGeom prst="rect">
                  <a:avLst/>
                </a:prstGeom>
                <a:solidFill>
                  <a:srgbClr val="CCFFCC"/>
                </a:solidFill>
                <a:ln w="9525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420" name="Text Box 277"/>
                <p:cNvSpPr txBox="1"/>
                <p:nvPr/>
              </p:nvSpPr>
              <p:spPr>
                <a:xfrm>
                  <a:off x="240" y="384"/>
                  <a:ext cx="24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&amp;</a:t>
                  </a:r>
                </a:p>
              </p:txBody>
            </p:sp>
          </p:grpSp>
          <p:sp>
            <p:nvSpPr>
              <p:cNvPr id="134421" name="Oval 278"/>
              <p:cNvSpPr/>
              <p:nvPr/>
            </p:nvSpPr>
            <p:spPr>
              <a:xfrm>
                <a:off x="1752" y="876"/>
                <a:ext cx="72" cy="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422" name="Line 279"/>
            <p:cNvSpPr/>
            <p:nvPr/>
          </p:nvSpPr>
          <p:spPr>
            <a:xfrm flipH="1">
              <a:off x="5296" y="2740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23" name="Line 280"/>
            <p:cNvSpPr/>
            <p:nvPr/>
          </p:nvSpPr>
          <p:spPr>
            <a:xfrm flipH="1">
              <a:off x="4864" y="2860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24" name="Oval 281"/>
            <p:cNvSpPr/>
            <p:nvPr/>
          </p:nvSpPr>
          <p:spPr>
            <a:xfrm>
              <a:off x="4669" y="2712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425" name="Oval 282"/>
            <p:cNvSpPr/>
            <p:nvPr/>
          </p:nvSpPr>
          <p:spPr>
            <a:xfrm>
              <a:off x="5177" y="2848"/>
              <a:ext cx="46" cy="4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426" name="Line 283"/>
            <p:cNvSpPr/>
            <p:nvPr/>
          </p:nvSpPr>
          <p:spPr>
            <a:xfrm>
              <a:off x="4684" y="272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27" name="Line 284"/>
            <p:cNvSpPr/>
            <p:nvPr/>
          </p:nvSpPr>
          <p:spPr>
            <a:xfrm flipH="1">
              <a:off x="5080" y="2656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28" name="Line 285"/>
            <p:cNvSpPr/>
            <p:nvPr/>
          </p:nvSpPr>
          <p:spPr>
            <a:xfrm flipV="1">
              <a:off x="3168" y="912"/>
              <a:ext cx="0" cy="15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29" name="Line 286"/>
            <p:cNvSpPr/>
            <p:nvPr/>
          </p:nvSpPr>
          <p:spPr>
            <a:xfrm>
              <a:off x="3168" y="912"/>
              <a:ext cx="3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0" name="Line 287"/>
            <p:cNvSpPr/>
            <p:nvPr/>
          </p:nvSpPr>
          <p:spPr>
            <a:xfrm>
              <a:off x="3468" y="816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1" name="Line 288"/>
            <p:cNvSpPr/>
            <p:nvPr/>
          </p:nvSpPr>
          <p:spPr>
            <a:xfrm flipV="1">
              <a:off x="4200" y="912"/>
              <a:ext cx="0" cy="15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2" name="Line 289"/>
            <p:cNvSpPr/>
            <p:nvPr/>
          </p:nvSpPr>
          <p:spPr>
            <a:xfrm>
              <a:off x="4200" y="912"/>
              <a:ext cx="1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3" name="Line 290"/>
            <p:cNvSpPr/>
            <p:nvPr/>
          </p:nvSpPr>
          <p:spPr>
            <a:xfrm>
              <a:off x="4308" y="840"/>
              <a:ext cx="0" cy="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4" name="Line 291"/>
            <p:cNvSpPr/>
            <p:nvPr/>
          </p:nvSpPr>
          <p:spPr>
            <a:xfrm>
              <a:off x="4404" y="2268"/>
              <a:ext cx="2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5" name="Line 292"/>
            <p:cNvSpPr/>
            <p:nvPr/>
          </p:nvSpPr>
          <p:spPr>
            <a:xfrm>
              <a:off x="4692" y="2148"/>
              <a:ext cx="1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6" name="Line 293"/>
            <p:cNvSpPr/>
            <p:nvPr/>
          </p:nvSpPr>
          <p:spPr>
            <a:xfrm>
              <a:off x="4860" y="2148"/>
              <a:ext cx="0" cy="6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7" name="Line 294"/>
            <p:cNvSpPr/>
            <p:nvPr/>
          </p:nvSpPr>
          <p:spPr>
            <a:xfrm flipV="1">
              <a:off x="4680" y="2268"/>
              <a:ext cx="0" cy="6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8" name="Line 295"/>
            <p:cNvSpPr/>
            <p:nvPr/>
          </p:nvSpPr>
          <p:spPr>
            <a:xfrm flipV="1">
              <a:off x="5160" y="936"/>
              <a:ext cx="0" cy="14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39" name="Line 296"/>
            <p:cNvSpPr/>
            <p:nvPr/>
          </p:nvSpPr>
          <p:spPr>
            <a:xfrm>
              <a:off x="5172" y="936"/>
              <a:ext cx="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0" name="Line 297"/>
            <p:cNvSpPr/>
            <p:nvPr/>
          </p:nvSpPr>
          <p:spPr>
            <a:xfrm>
              <a:off x="5232" y="828"/>
              <a:ext cx="0" cy="1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1" name="Line 298"/>
            <p:cNvSpPr/>
            <p:nvPr/>
          </p:nvSpPr>
          <p:spPr>
            <a:xfrm>
              <a:off x="5460" y="828"/>
              <a:ext cx="0" cy="2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2" name="Line 299"/>
            <p:cNvSpPr/>
            <p:nvPr/>
          </p:nvSpPr>
          <p:spPr>
            <a:xfrm>
              <a:off x="5496" y="2112"/>
              <a:ext cx="0" cy="15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3" name="Line 300"/>
            <p:cNvSpPr/>
            <p:nvPr/>
          </p:nvSpPr>
          <p:spPr>
            <a:xfrm>
              <a:off x="2400" y="348"/>
              <a:ext cx="0" cy="20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4" name="Line 301"/>
            <p:cNvSpPr/>
            <p:nvPr/>
          </p:nvSpPr>
          <p:spPr>
            <a:xfrm>
              <a:off x="3576" y="324"/>
              <a:ext cx="0" cy="2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5" name="Line 302"/>
            <p:cNvSpPr/>
            <p:nvPr/>
          </p:nvSpPr>
          <p:spPr>
            <a:xfrm>
              <a:off x="4416" y="324"/>
              <a:ext cx="0" cy="2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6" name="Line 303"/>
            <p:cNvSpPr/>
            <p:nvPr/>
          </p:nvSpPr>
          <p:spPr>
            <a:xfrm>
              <a:off x="5328" y="336"/>
              <a:ext cx="0" cy="2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34447" name="Text Box 304"/>
            <p:cNvSpPr txBox="1"/>
            <p:nvPr/>
          </p:nvSpPr>
          <p:spPr>
            <a:xfrm>
              <a:off x="2102" y="253"/>
              <a:ext cx="315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34448" name="Text Box 305"/>
            <p:cNvSpPr txBox="1"/>
            <p:nvPr/>
          </p:nvSpPr>
          <p:spPr>
            <a:xfrm>
              <a:off x="3270" y="245"/>
              <a:ext cx="315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34449" name="Text Box 306"/>
            <p:cNvSpPr txBox="1"/>
            <p:nvPr/>
          </p:nvSpPr>
          <p:spPr>
            <a:xfrm>
              <a:off x="4090" y="249"/>
              <a:ext cx="315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34450" name="Text Box 307"/>
            <p:cNvSpPr txBox="1"/>
            <p:nvPr/>
          </p:nvSpPr>
          <p:spPr>
            <a:xfrm>
              <a:off x="4982" y="217"/>
              <a:ext cx="315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US" altLang="zh-CN" sz="2400" baseline="-25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07640" name="Group 308"/>
          <p:cNvGrpSpPr/>
          <p:nvPr/>
        </p:nvGrpSpPr>
        <p:grpSpPr>
          <a:xfrm>
            <a:off x="1524001" y="4073525"/>
            <a:ext cx="1706563" cy="457200"/>
            <a:chOff x="0" y="2770"/>
            <a:chExt cx="1075" cy="288"/>
          </a:xfrm>
        </p:grpSpPr>
        <p:sp>
          <p:nvSpPr>
            <p:cNvPr id="107829" name="Text Box 309"/>
            <p:cNvSpPr txBox="1">
              <a:spLocks noChangeArrowheads="1"/>
            </p:cNvSpPr>
            <p:nvPr/>
          </p:nvSpPr>
          <p:spPr bwMode="auto">
            <a:xfrm>
              <a:off x="0" y="2770"/>
              <a:ext cx="1075" cy="288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∙</a:t>
              </a: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=A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34453" name="Line 310"/>
            <p:cNvSpPr/>
            <p:nvPr/>
          </p:nvSpPr>
          <p:spPr>
            <a:xfrm>
              <a:off x="264" y="2820"/>
              <a:ext cx="13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sm" len="lg"/>
            </a:ln>
          </p:spPr>
        </p:sp>
      </p:grpSp>
      <p:sp>
        <p:nvSpPr>
          <p:cNvPr id="107831" name="Rectangle 311"/>
          <p:cNvSpPr/>
          <p:nvPr/>
        </p:nvSpPr>
        <p:spPr>
          <a:xfrm>
            <a:off x="1524000" y="1562100"/>
            <a:ext cx="9144000" cy="2228850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 cmpd="sng">
            <a:solidFill>
              <a:srgbClr val="FF0000"/>
            </a:solidFill>
            <a:prstDash val="sysDot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000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4455" name="Group 317"/>
          <p:cNvGrpSpPr/>
          <p:nvPr/>
        </p:nvGrpSpPr>
        <p:grpSpPr>
          <a:xfrm>
            <a:off x="1520826" y="4648200"/>
            <a:ext cx="1230313" cy="457200"/>
            <a:chOff x="102" y="3080"/>
            <a:chExt cx="775" cy="288"/>
          </a:xfrm>
        </p:grpSpPr>
        <p:sp>
          <p:nvSpPr>
            <p:cNvPr id="107833" name="Rectangle 313"/>
            <p:cNvSpPr>
              <a:spLocks noChangeArrowheads="1"/>
            </p:cNvSpPr>
            <p:nvPr/>
          </p:nvSpPr>
          <p:spPr bwMode="auto">
            <a:xfrm>
              <a:off x="102" y="3080"/>
              <a:ext cx="775" cy="288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∙</a:t>
              </a: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i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=P</a:t>
              </a:r>
              <a:r>
                <a:rPr lang="en-US" altLang="zh-CN" sz="2400" i="1" baseline="-25000">
                  <a:solidFill>
                    <a:srgbClr val="3333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34457" name="Line 314"/>
            <p:cNvSpPr/>
            <p:nvPr/>
          </p:nvSpPr>
          <p:spPr>
            <a:xfrm flipV="1">
              <a:off x="178" y="3126"/>
              <a:ext cx="136" cy="0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458" name="Line 315"/>
            <p:cNvSpPr/>
            <p:nvPr/>
          </p:nvSpPr>
          <p:spPr>
            <a:xfrm flipV="1">
              <a:off x="690" y="3134"/>
              <a:ext cx="136" cy="0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459" name="Line 316"/>
            <p:cNvSpPr/>
            <p:nvPr/>
          </p:nvSpPr>
          <p:spPr>
            <a:xfrm flipV="1">
              <a:off x="386" y="3134"/>
              <a:ext cx="136" cy="0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7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7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2000"/>
                                        <p:tgtEl>
                                          <p:spTgt spid="10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7"/>
          <p:cNvGrpSpPr/>
          <p:nvPr/>
        </p:nvGrpSpPr>
        <p:grpSpPr>
          <a:xfrm>
            <a:off x="1774825" y="1268413"/>
            <a:ext cx="2952750" cy="5256212"/>
            <a:chOff x="4044" y="10081"/>
            <a:chExt cx="3036" cy="4637"/>
          </a:xfrm>
        </p:grpSpPr>
        <p:grpSp>
          <p:nvGrpSpPr>
            <p:cNvPr id="6191" name="Group 8"/>
            <p:cNvGrpSpPr/>
            <p:nvPr/>
          </p:nvGrpSpPr>
          <p:grpSpPr>
            <a:xfrm>
              <a:off x="4495" y="10081"/>
              <a:ext cx="2585" cy="4263"/>
              <a:chOff x="4495" y="9481"/>
              <a:chExt cx="2585" cy="4263"/>
            </a:xfrm>
          </p:grpSpPr>
          <p:sp>
            <p:nvSpPr>
              <p:cNvPr id="6193" name="Rectangle 9"/>
              <p:cNvSpPr/>
              <p:nvPr/>
            </p:nvSpPr>
            <p:spPr>
              <a:xfrm>
                <a:off x="4495" y="13193"/>
                <a:ext cx="0" cy="5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4" name="Rectangle 10"/>
              <p:cNvSpPr/>
              <p:nvPr/>
            </p:nvSpPr>
            <p:spPr>
              <a:xfrm>
                <a:off x="6714" y="12646"/>
                <a:ext cx="0" cy="5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5" name="Rectangle 11"/>
              <p:cNvSpPr/>
              <p:nvPr/>
            </p:nvSpPr>
            <p:spPr>
              <a:xfrm>
                <a:off x="6714" y="10789"/>
                <a:ext cx="0" cy="5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6" name="Rectangle 12"/>
              <p:cNvSpPr/>
              <p:nvPr/>
            </p:nvSpPr>
            <p:spPr>
              <a:xfrm>
                <a:off x="6714" y="9859"/>
                <a:ext cx="0" cy="5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7" name="Rectangle 13"/>
              <p:cNvSpPr/>
              <p:nvPr/>
            </p:nvSpPr>
            <p:spPr>
              <a:xfrm>
                <a:off x="4530" y="12853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8" name="Rectangle 14"/>
              <p:cNvSpPr/>
              <p:nvPr/>
            </p:nvSpPr>
            <p:spPr>
              <a:xfrm>
                <a:off x="4560" y="12259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9" name="Rectangle 15"/>
              <p:cNvSpPr/>
              <p:nvPr/>
            </p:nvSpPr>
            <p:spPr>
              <a:xfrm>
                <a:off x="4515" y="9481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0" name="Rectangle 16"/>
              <p:cNvSpPr/>
              <p:nvPr/>
            </p:nvSpPr>
            <p:spPr>
              <a:xfrm>
                <a:off x="4545" y="10447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1" name="Rectangle 17"/>
              <p:cNvSpPr/>
              <p:nvPr/>
            </p:nvSpPr>
            <p:spPr>
              <a:xfrm>
                <a:off x="4530" y="11347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2" name="Rectangle 18"/>
              <p:cNvSpPr/>
              <p:nvPr/>
            </p:nvSpPr>
            <p:spPr>
              <a:xfrm>
                <a:off x="5901" y="9544"/>
                <a:ext cx="540" cy="780"/>
              </a:xfrm>
              <a:prstGeom prst="rect">
                <a:avLst/>
              </a:prstGeom>
              <a:solidFill>
                <a:srgbClr val="99CCFF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C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3" name="Freeform 19"/>
              <p:cNvSpPr/>
              <p:nvPr/>
            </p:nvSpPr>
            <p:spPr>
              <a:xfrm>
                <a:off x="5916" y="9868"/>
                <a:ext cx="119" cy="102"/>
              </a:xfrm>
              <a:custGeom>
                <a:avLst/>
                <a:gdLst>
                  <a:gd name="txL" fmla="*/ 0 w 60"/>
                  <a:gd name="txT" fmla="*/ 0 h 156"/>
                  <a:gd name="txR" fmla="*/ 60 w 6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236" y="35"/>
                  </a:cxn>
                  <a:cxn ang="0">
                    <a:pos x="4" y="67"/>
                  </a:cxn>
                </a:cxnLst>
                <a:rect l="txL" t="txT" r="txR" b="txB"/>
                <a:pathLst>
                  <a:path w="60" h="156">
                    <a:moveTo>
                      <a:pt x="0" y="0"/>
                    </a:moveTo>
                    <a:lnTo>
                      <a:pt x="60" y="81"/>
                    </a:lnTo>
                    <a:lnTo>
                      <a:pt x="1" y="156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4" name="Oval 20"/>
              <p:cNvSpPr/>
              <p:nvPr/>
            </p:nvSpPr>
            <p:spPr>
              <a:xfrm>
                <a:off x="5841" y="9878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5" name="Oval 21"/>
              <p:cNvSpPr/>
              <p:nvPr/>
            </p:nvSpPr>
            <p:spPr>
              <a:xfrm>
                <a:off x="5841" y="10135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6" name="Line 22"/>
              <p:cNvSpPr/>
              <p:nvPr/>
            </p:nvSpPr>
            <p:spPr>
              <a:xfrm>
                <a:off x="5481" y="9898"/>
                <a:ext cx="3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07" name="Line 23"/>
              <p:cNvSpPr/>
              <p:nvPr/>
            </p:nvSpPr>
            <p:spPr>
              <a:xfrm>
                <a:off x="5661" y="10165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08" name="Line 24"/>
              <p:cNvSpPr/>
              <p:nvPr/>
            </p:nvSpPr>
            <p:spPr>
              <a:xfrm>
                <a:off x="4873" y="9667"/>
                <a:ext cx="102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09" name="Line 25"/>
              <p:cNvSpPr/>
              <p:nvPr/>
            </p:nvSpPr>
            <p:spPr>
              <a:xfrm>
                <a:off x="6441" y="9712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0" name="Line 26"/>
              <p:cNvSpPr/>
              <p:nvPr/>
            </p:nvSpPr>
            <p:spPr>
              <a:xfrm>
                <a:off x="6471" y="10153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1" name="Oval 27"/>
              <p:cNvSpPr/>
              <p:nvPr/>
            </p:nvSpPr>
            <p:spPr>
              <a:xfrm>
                <a:off x="6443" y="10117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2" name="Rectangle 28"/>
              <p:cNvSpPr/>
              <p:nvPr/>
            </p:nvSpPr>
            <p:spPr>
              <a:xfrm>
                <a:off x="5901" y="10477"/>
                <a:ext cx="540" cy="780"/>
              </a:xfrm>
              <a:prstGeom prst="rect">
                <a:avLst/>
              </a:prstGeom>
              <a:solidFill>
                <a:srgbClr val="99CCFF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C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3" name="Freeform 29"/>
              <p:cNvSpPr/>
              <p:nvPr/>
            </p:nvSpPr>
            <p:spPr>
              <a:xfrm>
                <a:off x="5916" y="10801"/>
                <a:ext cx="119" cy="102"/>
              </a:xfrm>
              <a:custGeom>
                <a:avLst/>
                <a:gdLst>
                  <a:gd name="txL" fmla="*/ 0 w 60"/>
                  <a:gd name="txT" fmla="*/ 0 h 156"/>
                  <a:gd name="txR" fmla="*/ 60 w 6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236" y="35"/>
                  </a:cxn>
                  <a:cxn ang="0">
                    <a:pos x="4" y="67"/>
                  </a:cxn>
                </a:cxnLst>
                <a:rect l="txL" t="txT" r="txR" b="txB"/>
                <a:pathLst>
                  <a:path w="60" h="156">
                    <a:moveTo>
                      <a:pt x="0" y="0"/>
                    </a:moveTo>
                    <a:lnTo>
                      <a:pt x="60" y="81"/>
                    </a:lnTo>
                    <a:lnTo>
                      <a:pt x="1" y="156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4" name="Oval 30"/>
              <p:cNvSpPr/>
              <p:nvPr/>
            </p:nvSpPr>
            <p:spPr>
              <a:xfrm>
                <a:off x="5841" y="1080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5" name="Oval 31"/>
              <p:cNvSpPr/>
              <p:nvPr/>
            </p:nvSpPr>
            <p:spPr>
              <a:xfrm>
                <a:off x="5841" y="11068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6" name="Line 32"/>
              <p:cNvSpPr/>
              <p:nvPr/>
            </p:nvSpPr>
            <p:spPr>
              <a:xfrm>
                <a:off x="5481" y="10831"/>
                <a:ext cx="3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7" name="Line 33"/>
              <p:cNvSpPr/>
              <p:nvPr/>
            </p:nvSpPr>
            <p:spPr>
              <a:xfrm>
                <a:off x="5661" y="11098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8" name="Line 34"/>
              <p:cNvSpPr/>
              <p:nvPr/>
            </p:nvSpPr>
            <p:spPr>
              <a:xfrm>
                <a:off x="4880" y="10600"/>
                <a:ext cx="102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9" name="Line 35"/>
              <p:cNvSpPr/>
              <p:nvPr/>
            </p:nvSpPr>
            <p:spPr>
              <a:xfrm>
                <a:off x="6441" y="10645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0" name="Line 36"/>
              <p:cNvSpPr/>
              <p:nvPr/>
            </p:nvSpPr>
            <p:spPr>
              <a:xfrm>
                <a:off x="6471" y="11086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1" name="Oval 37"/>
              <p:cNvSpPr/>
              <p:nvPr/>
            </p:nvSpPr>
            <p:spPr>
              <a:xfrm>
                <a:off x="6435" y="11058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2" name="Rectangle 38"/>
              <p:cNvSpPr/>
              <p:nvPr/>
            </p:nvSpPr>
            <p:spPr>
              <a:xfrm>
                <a:off x="5901" y="11398"/>
                <a:ext cx="540" cy="780"/>
              </a:xfrm>
              <a:prstGeom prst="rect">
                <a:avLst/>
              </a:prstGeom>
              <a:solidFill>
                <a:srgbClr val="99CCFF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C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3" name="Freeform 39"/>
              <p:cNvSpPr/>
              <p:nvPr/>
            </p:nvSpPr>
            <p:spPr>
              <a:xfrm>
                <a:off x="5916" y="11722"/>
                <a:ext cx="119" cy="102"/>
              </a:xfrm>
              <a:custGeom>
                <a:avLst/>
                <a:gdLst>
                  <a:gd name="txL" fmla="*/ 0 w 60"/>
                  <a:gd name="txT" fmla="*/ 0 h 156"/>
                  <a:gd name="txR" fmla="*/ 60 w 6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236" y="35"/>
                  </a:cxn>
                  <a:cxn ang="0">
                    <a:pos x="4" y="67"/>
                  </a:cxn>
                </a:cxnLst>
                <a:rect l="txL" t="txT" r="txR" b="txB"/>
                <a:pathLst>
                  <a:path w="60" h="156">
                    <a:moveTo>
                      <a:pt x="0" y="0"/>
                    </a:moveTo>
                    <a:lnTo>
                      <a:pt x="60" y="81"/>
                    </a:lnTo>
                    <a:lnTo>
                      <a:pt x="1" y="156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4" name="Oval 40"/>
              <p:cNvSpPr/>
              <p:nvPr/>
            </p:nvSpPr>
            <p:spPr>
              <a:xfrm>
                <a:off x="5841" y="11740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5" name="Oval 41"/>
              <p:cNvSpPr/>
              <p:nvPr/>
            </p:nvSpPr>
            <p:spPr>
              <a:xfrm>
                <a:off x="5841" y="1198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6" name="Line 42"/>
              <p:cNvSpPr/>
              <p:nvPr/>
            </p:nvSpPr>
            <p:spPr>
              <a:xfrm>
                <a:off x="5481" y="11768"/>
                <a:ext cx="3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7" name="Line 43"/>
              <p:cNvSpPr/>
              <p:nvPr/>
            </p:nvSpPr>
            <p:spPr>
              <a:xfrm>
                <a:off x="5661" y="12019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8" name="Line 44"/>
              <p:cNvSpPr/>
              <p:nvPr/>
            </p:nvSpPr>
            <p:spPr>
              <a:xfrm>
                <a:off x="4881" y="11521"/>
                <a:ext cx="102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9" name="Line 45"/>
              <p:cNvSpPr/>
              <p:nvPr/>
            </p:nvSpPr>
            <p:spPr>
              <a:xfrm>
                <a:off x="6441" y="11566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0" name="Line 46"/>
              <p:cNvSpPr/>
              <p:nvPr/>
            </p:nvSpPr>
            <p:spPr>
              <a:xfrm>
                <a:off x="6471" y="12007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1" name="Oval 47"/>
              <p:cNvSpPr/>
              <p:nvPr/>
            </p:nvSpPr>
            <p:spPr>
              <a:xfrm>
                <a:off x="6443" y="1197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2" name="Rectangle 48"/>
              <p:cNvSpPr/>
              <p:nvPr/>
            </p:nvSpPr>
            <p:spPr>
              <a:xfrm>
                <a:off x="5901" y="12334"/>
                <a:ext cx="540" cy="780"/>
              </a:xfrm>
              <a:prstGeom prst="rect">
                <a:avLst/>
              </a:prstGeom>
              <a:solidFill>
                <a:srgbClr val="99CCFF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C</a:t>
                </a:r>
              </a:p>
              <a:p>
                <a:pPr algn="just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3" name="Freeform 49"/>
              <p:cNvSpPr/>
              <p:nvPr/>
            </p:nvSpPr>
            <p:spPr>
              <a:xfrm>
                <a:off x="5916" y="12658"/>
                <a:ext cx="119" cy="102"/>
              </a:xfrm>
              <a:custGeom>
                <a:avLst/>
                <a:gdLst>
                  <a:gd name="txL" fmla="*/ 0 w 60"/>
                  <a:gd name="txT" fmla="*/ 0 h 156"/>
                  <a:gd name="txR" fmla="*/ 60 w 6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236" y="35"/>
                  </a:cxn>
                  <a:cxn ang="0">
                    <a:pos x="4" y="67"/>
                  </a:cxn>
                </a:cxnLst>
                <a:rect l="txL" t="txT" r="txR" b="txB"/>
                <a:pathLst>
                  <a:path w="60" h="156">
                    <a:moveTo>
                      <a:pt x="0" y="0"/>
                    </a:moveTo>
                    <a:lnTo>
                      <a:pt x="60" y="81"/>
                    </a:lnTo>
                    <a:lnTo>
                      <a:pt x="1" y="156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4" name="Oval 50"/>
              <p:cNvSpPr/>
              <p:nvPr/>
            </p:nvSpPr>
            <p:spPr>
              <a:xfrm>
                <a:off x="5841" y="12676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5" name="Oval 51"/>
              <p:cNvSpPr/>
              <p:nvPr/>
            </p:nvSpPr>
            <p:spPr>
              <a:xfrm>
                <a:off x="5841" y="12925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6" name="Line 52"/>
              <p:cNvSpPr/>
              <p:nvPr/>
            </p:nvSpPr>
            <p:spPr>
              <a:xfrm>
                <a:off x="5481" y="12704"/>
                <a:ext cx="3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7" name="Line 53"/>
              <p:cNvSpPr/>
              <p:nvPr/>
            </p:nvSpPr>
            <p:spPr>
              <a:xfrm>
                <a:off x="5661" y="12955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8" name="Line 54"/>
              <p:cNvSpPr/>
              <p:nvPr/>
            </p:nvSpPr>
            <p:spPr>
              <a:xfrm flipV="1">
                <a:off x="4881" y="12457"/>
                <a:ext cx="102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9" name="Line 55"/>
              <p:cNvSpPr/>
              <p:nvPr/>
            </p:nvSpPr>
            <p:spPr>
              <a:xfrm>
                <a:off x="6441" y="12502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0" name="Line 56"/>
              <p:cNvSpPr/>
              <p:nvPr/>
            </p:nvSpPr>
            <p:spPr>
              <a:xfrm>
                <a:off x="6471" y="12943"/>
                <a:ext cx="249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1" name="Oval 57"/>
              <p:cNvSpPr/>
              <p:nvPr/>
            </p:nvSpPr>
            <p:spPr>
              <a:xfrm>
                <a:off x="6443" y="12915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2" name="Line 58"/>
              <p:cNvSpPr/>
              <p:nvPr/>
            </p:nvSpPr>
            <p:spPr>
              <a:xfrm>
                <a:off x="5661" y="10168"/>
                <a:ext cx="0" cy="3334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3" name="Line 59"/>
              <p:cNvSpPr/>
              <p:nvPr/>
            </p:nvSpPr>
            <p:spPr>
              <a:xfrm>
                <a:off x="5466" y="9898"/>
                <a:ext cx="0" cy="312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4" name="Line 60"/>
              <p:cNvSpPr/>
              <p:nvPr/>
            </p:nvSpPr>
            <p:spPr>
              <a:xfrm>
                <a:off x="5286" y="13018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5" name="Rectangle 61"/>
              <p:cNvSpPr/>
              <p:nvPr/>
            </p:nvSpPr>
            <p:spPr>
              <a:xfrm>
                <a:off x="5046" y="12817"/>
                <a:ext cx="238" cy="414"/>
              </a:xfrm>
              <a:prstGeom prst="rect">
                <a:avLst/>
              </a:prstGeom>
              <a:solidFill>
                <a:srgbClr val="99CCFF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6" name="Oval 62"/>
              <p:cNvSpPr/>
              <p:nvPr/>
            </p:nvSpPr>
            <p:spPr>
              <a:xfrm>
                <a:off x="5289" y="12987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7" name="Oval 63"/>
              <p:cNvSpPr/>
              <p:nvPr/>
            </p:nvSpPr>
            <p:spPr>
              <a:xfrm>
                <a:off x="5286" y="1347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8" name="Rectangle 64"/>
              <p:cNvSpPr/>
              <p:nvPr/>
            </p:nvSpPr>
            <p:spPr>
              <a:xfrm>
                <a:off x="5046" y="13330"/>
                <a:ext cx="238" cy="414"/>
              </a:xfrm>
              <a:prstGeom prst="rect">
                <a:avLst/>
              </a:prstGeom>
              <a:solidFill>
                <a:srgbClr val="99CCFF"/>
              </a:solidFill>
              <a:ln w="190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9" name="Line 65"/>
              <p:cNvSpPr/>
              <p:nvPr/>
            </p:nvSpPr>
            <p:spPr>
              <a:xfrm>
                <a:off x="5346" y="13507"/>
                <a:ext cx="306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0" name="Line 66"/>
              <p:cNvSpPr/>
              <p:nvPr/>
            </p:nvSpPr>
            <p:spPr>
              <a:xfrm>
                <a:off x="4830" y="13018"/>
                <a:ext cx="204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1" name="Line 67"/>
              <p:cNvSpPr/>
              <p:nvPr/>
            </p:nvSpPr>
            <p:spPr>
              <a:xfrm>
                <a:off x="4851" y="13537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2" name="Oval 68"/>
              <p:cNvSpPr/>
              <p:nvPr/>
            </p:nvSpPr>
            <p:spPr>
              <a:xfrm>
                <a:off x="5439" y="10804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3" name="Oval 69"/>
              <p:cNvSpPr/>
              <p:nvPr/>
            </p:nvSpPr>
            <p:spPr>
              <a:xfrm>
                <a:off x="5641" y="11067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4" name="Oval 70"/>
              <p:cNvSpPr/>
              <p:nvPr/>
            </p:nvSpPr>
            <p:spPr>
              <a:xfrm>
                <a:off x="5436" y="11741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5" name="Oval 71"/>
              <p:cNvSpPr/>
              <p:nvPr/>
            </p:nvSpPr>
            <p:spPr>
              <a:xfrm>
                <a:off x="5638" y="11991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6" name="Oval 72"/>
              <p:cNvSpPr/>
              <p:nvPr/>
            </p:nvSpPr>
            <p:spPr>
              <a:xfrm>
                <a:off x="5443" y="12677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7" name="Oval 73"/>
              <p:cNvSpPr/>
              <p:nvPr/>
            </p:nvSpPr>
            <p:spPr>
              <a:xfrm>
                <a:off x="5630" y="12928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8" name="Oval 74"/>
              <p:cNvSpPr/>
              <p:nvPr/>
            </p:nvSpPr>
            <p:spPr>
              <a:xfrm>
                <a:off x="4986" y="13507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9" name="Rectangle 75"/>
              <p:cNvSpPr/>
              <p:nvPr/>
            </p:nvSpPr>
            <p:spPr>
              <a:xfrm>
                <a:off x="6720" y="9541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60" name="Rectangle 76"/>
              <p:cNvSpPr/>
              <p:nvPr/>
            </p:nvSpPr>
            <p:spPr>
              <a:xfrm>
                <a:off x="6720" y="10492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61" name="Rectangle 77"/>
              <p:cNvSpPr/>
              <p:nvPr/>
            </p:nvSpPr>
            <p:spPr>
              <a:xfrm>
                <a:off x="6720" y="11413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62" name="Rectangle 78"/>
              <p:cNvSpPr/>
              <p:nvPr/>
            </p:nvSpPr>
            <p:spPr>
              <a:xfrm>
                <a:off x="6720" y="12334"/>
                <a:ext cx="360" cy="3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0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63" name="Rectangle 79"/>
              <p:cNvSpPr/>
              <p:nvPr/>
            </p:nvSpPr>
            <p:spPr>
              <a:xfrm>
                <a:off x="6714" y="11703"/>
                <a:ext cx="0" cy="54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92" name="Text Box 80"/>
            <p:cNvSpPr txBox="1"/>
            <p:nvPr/>
          </p:nvSpPr>
          <p:spPr>
            <a:xfrm>
              <a:off x="4044" y="14274"/>
              <a:ext cx="2442" cy="44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74LS175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的逻辑图</a:t>
              </a:r>
              <a:endParaRPr lang="zh-CN" altLang="en-US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47" name="Rectangle 82"/>
          <p:cNvSpPr/>
          <p:nvPr/>
        </p:nvSpPr>
        <p:spPr>
          <a:xfrm>
            <a:off x="3389314" y="2870201"/>
            <a:ext cx="18473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148" name="Object 81"/>
          <p:cNvGraphicFramePr>
            <a:graphicFrameLocks noChangeAspect="1"/>
          </p:cNvGraphicFramePr>
          <p:nvPr/>
        </p:nvGraphicFramePr>
        <p:xfrm>
          <a:off x="2135189" y="5589588"/>
          <a:ext cx="504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0500" imgH="190500" progId="Equation.3">
                  <p:embed/>
                </p:oleObj>
              </mc:Choice>
              <mc:Fallback>
                <p:oleObj r:id="rId2" imgW="190500" imgH="190500" progId="Equation.3">
                  <p:embed/>
                  <p:pic>
                    <p:nvPicPr>
                      <p:cNvPr id="6148" name="Object 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5189" y="5589588"/>
                        <a:ext cx="5048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Line 205"/>
          <p:cNvSpPr/>
          <p:nvPr/>
        </p:nvSpPr>
        <p:spPr>
          <a:xfrm>
            <a:off x="7178675" y="3470275"/>
            <a:ext cx="0" cy="0"/>
          </a:xfrm>
          <a:prstGeom prst="line">
            <a:avLst/>
          </a:prstGeom>
          <a:ln w="12700" cap="rnd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5835" name="Group 299"/>
          <p:cNvGraphicFramePr>
            <a:graphicFrameLocks noGrp="1"/>
          </p:cNvGraphicFramePr>
          <p:nvPr/>
        </p:nvGraphicFramePr>
        <p:xfrm>
          <a:off x="4727576" y="2708275"/>
          <a:ext cx="5413375" cy="22860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3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endParaRPr kumimoji="1" lang="en-US" altLang="zh-CN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    持</a:t>
                      </a:r>
                      <a:endParaRPr kumimoji="1" lang="zh-CN" altLang="en-US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86" name="Rectangle 246"/>
          <p:cNvSpPr/>
          <p:nvPr/>
        </p:nvSpPr>
        <p:spPr>
          <a:xfrm>
            <a:off x="1524001" y="3041364"/>
            <a:ext cx="184731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187" name="Object 245"/>
          <p:cNvGraphicFramePr>
            <a:graphicFrameLocks noChangeAspect="1"/>
          </p:cNvGraphicFramePr>
          <p:nvPr/>
        </p:nvGraphicFramePr>
        <p:xfrm>
          <a:off x="4727576" y="2997201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0500" imgH="190500" progId="Equation.3">
                  <p:embed/>
                </p:oleObj>
              </mc:Choice>
              <mc:Fallback>
                <p:oleObj r:id="rId4" imgW="190500" imgH="190500" progId="Equation.3">
                  <p:embed/>
                  <p:pic>
                    <p:nvPicPr>
                      <p:cNvPr id="6187" name="Object 24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27576" y="2997201"/>
                        <a:ext cx="5048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8" name="Rectangle 247"/>
          <p:cNvSpPr/>
          <p:nvPr/>
        </p:nvSpPr>
        <p:spPr>
          <a:xfrm>
            <a:off x="6383338" y="2024570"/>
            <a:ext cx="331052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74LS175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功能表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89" name="Rectangle 300"/>
          <p:cNvSpPr/>
          <p:nvPr/>
        </p:nvSpPr>
        <p:spPr>
          <a:xfrm>
            <a:off x="4656138" y="259239"/>
            <a:ext cx="3313112" cy="759460"/>
          </a:xfrm>
          <a:prstGeom prst="rect">
            <a:avLst/>
          </a:prstGeom>
          <a:noFill/>
          <a:ln w="9525">
            <a:noFill/>
          </a:ln>
        </p:spPr>
        <p:txBody>
          <a:bodyPr tIns="165048" bIns="165048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7.3.1    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数码寄存器</a:t>
            </a:r>
            <a:endParaRPr lang="zh-CN" altLang="en-US" sz="3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0" name="Rectangle 301"/>
          <p:cNvSpPr/>
          <p:nvPr/>
        </p:nvSpPr>
        <p:spPr>
          <a:xfrm>
            <a:off x="1919288" y="656145"/>
            <a:ext cx="4697120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一．数码寄存器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74LS175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/>
          <p:nvPr/>
        </p:nvSpPr>
        <p:spPr>
          <a:xfrm>
            <a:off x="2208213" y="511683"/>
            <a:ext cx="4697120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二．数码锁存器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74LS373</a:t>
            </a:r>
          </a:p>
        </p:txBody>
      </p:sp>
      <p:grpSp>
        <p:nvGrpSpPr>
          <p:cNvPr id="7171" name="Group 720"/>
          <p:cNvGrpSpPr/>
          <p:nvPr/>
        </p:nvGrpSpPr>
        <p:grpSpPr>
          <a:xfrm>
            <a:off x="1558925" y="1628776"/>
            <a:ext cx="8705850" cy="4772025"/>
            <a:chOff x="22" y="1026"/>
            <a:chExt cx="5484" cy="3006"/>
          </a:xfrm>
        </p:grpSpPr>
        <p:sp>
          <p:nvSpPr>
            <p:cNvPr id="7173" name="Oval 526"/>
            <p:cNvSpPr/>
            <p:nvPr/>
          </p:nvSpPr>
          <p:spPr>
            <a:xfrm>
              <a:off x="5182" y="2512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" name="Line 527"/>
            <p:cNvSpPr/>
            <p:nvPr/>
          </p:nvSpPr>
          <p:spPr>
            <a:xfrm>
              <a:off x="4584" y="2500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" name="Text Box 528"/>
            <p:cNvSpPr txBox="1"/>
            <p:nvPr/>
          </p:nvSpPr>
          <p:spPr>
            <a:xfrm>
              <a:off x="5210" y="102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6" name="Text Box 529"/>
            <p:cNvSpPr txBox="1"/>
            <p:nvPr/>
          </p:nvSpPr>
          <p:spPr>
            <a:xfrm>
              <a:off x="679" y="102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7" name="Text Box 530"/>
            <p:cNvSpPr txBox="1"/>
            <p:nvPr/>
          </p:nvSpPr>
          <p:spPr>
            <a:xfrm>
              <a:off x="1343" y="1026"/>
              <a:ext cx="246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8" name="Text Box 531"/>
            <p:cNvSpPr txBox="1"/>
            <p:nvPr/>
          </p:nvSpPr>
          <p:spPr>
            <a:xfrm>
              <a:off x="2008" y="1026"/>
              <a:ext cx="246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Text Box 532"/>
            <p:cNvSpPr txBox="1"/>
            <p:nvPr/>
          </p:nvSpPr>
          <p:spPr>
            <a:xfrm>
              <a:off x="2694" y="102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0" name="Text Box 533"/>
            <p:cNvSpPr txBox="1"/>
            <p:nvPr/>
          </p:nvSpPr>
          <p:spPr>
            <a:xfrm>
              <a:off x="3338" y="102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1" name="Text Box 534"/>
            <p:cNvSpPr txBox="1"/>
            <p:nvPr/>
          </p:nvSpPr>
          <p:spPr>
            <a:xfrm>
              <a:off x="3992" y="1026"/>
              <a:ext cx="246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2" name="Text Box 535"/>
            <p:cNvSpPr txBox="1"/>
            <p:nvPr/>
          </p:nvSpPr>
          <p:spPr>
            <a:xfrm>
              <a:off x="4637" y="102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3" name="Line 536"/>
            <p:cNvSpPr/>
            <p:nvPr/>
          </p:nvSpPr>
          <p:spPr>
            <a:xfrm>
              <a:off x="503" y="2816"/>
              <a:ext cx="0" cy="1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4" name="Line 537"/>
            <p:cNvSpPr/>
            <p:nvPr/>
          </p:nvSpPr>
          <p:spPr>
            <a:xfrm>
              <a:off x="648" y="2532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5" name="Line 538"/>
            <p:cNvSpPr/>
            <p:nvPr/>
          </p:nvSpPr>
          <p:spPr>
            <a:xfrm>
              <a:off x="1282" y="2528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6" name="Line 539"/>
            <p:cNvSpPr/>
            <p:nvPr/>
          </p:nvSpPr>
          <p:spPr>
            <a:xfrm>
              <a:off x="1957" y="2528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7" name="Line 540"/>
            <p:cNvSpPr/>
            <p:nvPr/>
          </p:nvSpPr>
          <p:spPr>
            <a:xfrm>
              <a:off x="2612" y="2528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8" name="Line 541"/>
            <p:cNvSpPr/>
            <p:nvPr/>
          </p:nvSpPr>
          <p:spPr>
            <a:xfrm>
              <a:off x="3266" y="2528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9" name="Line 542"/>
            <p:cNvSpPr/>
            <p:nvPr/>
          </p:nvSpPr>
          <p:spPr>
            <a:xfrm>
              <a:off x="3941" y="2553"/>
              <a:ext cx="0" cy="25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0" name="Line 544"/>
            <p:cNvSpPr/>
            <p:nvPr/>
          </p:nvSpPr>
          <p:spPr>
            <a:xfrm>
              <a:off x="750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1" name="Line 552"/>
            <p:cNvSpPr/>
            <p:nvPr/>
          </p:nvSpPr>
          <p:spPr>
            <a:xfrm>
              <a:off x="2059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2" name="Line 553"/>
            <p:cNvSpPr/>
            <p:nvPr/>
          </p:nvSpPr>
          <p:spPr>
            <a:xfrm>
              <a:off x="2734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3" name="Line 554"/>
            <p:cNvSpPr/>
            <p:nvPr/>
          </p:nvSpPr>
          <p:spPr>
            <a:xfrm>
              <a:off x="3379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4" name="Line 555"/>
            <p:cNvSpPr/>
            <p:nvPr/>
          </p:nvSpPr>
          <p:spPr>
            <a:xfrm>
              <a:off x="4033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5" name="Line 556"/>
            <p:cNvSpPr/>
            <p:nvPr/>
          </p:nvSpPr>
          <p:spPr>
            <a:xfrm>
              <a:off x="4678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6" name="Line 557"/>
            <p:cNvSpPr/>
            <p:nvPr/>
          </p:nvSpPr>
          <p:spPr>
            <a:xfrm>
              <a:off x="5291" y="1188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7" name="Line 558"/>
            <p:cNvSpPr/>
            <p:nvPr/>
          </p:nvSpPr>
          <p:spPr>
            <a:xfrm>
              <a:off x="443" y="1650"/>
              <a:ext cx="1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Line 559"/>
            <p:cNvSpPr/>
            <p:nvPr/>
          </p:nvSpPr>
          <p:spPr>
            <a:xfrm>
              <a:off x="443" y="1649"/>
              <a:ext cx="0" cy="24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9" name="Line 560"/>
            <p:cNvSpPr/>
            <p:nvPr/>
          </p:nvSpPr>
          <p:spPr>
            <a:xfrm>
              <a:off x="1088" y="1656"/>
              <a:ext cx="12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0" name="Line 561"/>
            <p:cNvSpPr/>
            <p:nvPr/>
          </p:nvSpPr>
          <p:spPr>
            <a:xfrm>
              <a:off x="1088" y="1659"/>
              <a:ext cx="0" cy="2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1" name="Line 562"/>
            <p:cNvSpPr/>
            <p:nvPr/>
          </p:nvSpPr>
          <p:spPr>
            <a:xfrm>
              <a:off x="2428" y="1659"/>
              <a:ext cx="0" cy="2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2" name="Line 563"/>
            <p:cNvSpPr/>
            <p:nvPr/>
          </p:nvSpPr>
          <p:spPr>
            <a:xfrm>
              <a:off x="3727" y="1659"/>
              <a:ext cx="0" cy="2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3" name="Line 564"/>
            <p:cNvSpPr/>
            <p:nvPr/>
          </p:nvSpPr>
          <p:spPr>
            <a:xfrm>
              <a:off x="2428" y="1659"/>
              <a:ext cx="12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4" name="Line 565"/>
            <p:cNvSpPr/>
            <p:nvPr/>
          </p:nvSpPr>
          <p:spPr>
            <a:xfrm>
              <a:off x="3727" y="1659"/>
              <a:ext cx="12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5" name="Line 566"/>
            <p:cNvSpPr/>
            <p:nvPr/>
          </p:nvSpPr>
          <p:spPr>
            <a:xfrm>
              <a:off x="4371" y="1659"/>
              <a:ext cx="1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6" name="Line 567"/>
            <p:cNvSpPr/>
            <p:nvPr/>
          </p:nvSpPr>
          <p:spPr>
            <a:xfrm>
              <a:off x="4371" y="1659"/>
              <a:ext cx="0" cy="2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7" name="Line 568"/>
            <p:cNvSpPr/>
            <p:nvPr/>
          </p:nvSpPr>
          <p:spPr>
            <a:xfrm>
              <a:off x="4985" y="1659"/>
              <a:ext cx="12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8" name="Line 569"/>
            <p:cNvSpPr/>
            <p:nvPr/>
          </p:nvSpPr>
          <p:spPr>
            <a:xfrm>
              <a:off x="4985" y="1659"/>
              <a:ext cx="0" cy="2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9" name="Line 570"/>
            <p:cNvSpPr/>
            <p:nvPr/>
          </p:nvSpPr>
          <p:spPr>
            <a:xfrm>
              <a:off x="3072" y="1659"/>
              <a:ext cx="1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0" name="Line 571"/>
            <p:cNvSpPr/>
            <p:nvPr/>
          </p:nvSpPr>
          <p:spPr>
            <a:xfrm flipH="1">
              <a:off x="3071" y="1659"/>
              <a:ext cx="1" cy="2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1" name="Line 572"/>
            <p:cNvSpPr/>
            <p:nvPr/>
          </p:nvSpPr>
          <p:spPr>
            <a:xfrm>
              <a:off x="1732" y="1659"/>
              <a:ext cx="0" cy="24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2" name="Line 573"/>
            <p:cNvSpPr/>
            <p:nvPr/>
          </p:nvSpPr>
          <p:spPr>
            <a:xfrm>
              <a:off x="1732" y="1659"/>
              <a:ext cx="1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3" name="Line 574"/>
            <p:cNvSpPr/>
            <p:nvPr/>
          </p:nvSpPr>
          <p:spPr>
            <a:xfrm>
              <a:off x="745" y="1764"/>
              <a:ext cx="0" cy="3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4" name="Line 575"/>
            <p:cNvSpPr/>
            <p:nvPr/>
          </p:nvSpPr>
          <p:spPr>
            <a:xfrm>
              <a:off x="205" y="1894"/>
              <a:ext cx="47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5" name="Line 576"/>
            <p:cNvSpPr/>
            <p:nvPr/>
          </p:nvSpPr>
          <p:spPr>
            <a:xfrm>
              <a:off x="1374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6" name="Line 577"/>
            <p:cNvSpPr/>
            <p:nvPr/>
          </p:nvSpPr>
          <p:spPr>
            <a:xfrm>
              <a:off x="2724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7" name="Line 578"/>
            <p:cNvSpPr/>
            <p:nvPr/>
          </p:nvSpPr>
          <p:spPr>
            <a:xfrm>
              <a:off x="2059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8" name="Line 579"/>
            <p:cNvSpPr/>
            <p:nvPr/>
          </p:nvSpPr>
          <p:spPr>
            <a:xfrm>
              <a:off x="3369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19" name="Line 580"/>
            <p:cNvSpPr/>
            <p:nvPr/>
          </p:nvSpPr>
          <p:spPr>
            <a:xfrm>
              <a:off x="4033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0" name="Line 581"/>
            <p:cNvSpPr/>
            <p:nvPr/>
          </p:nvSpPr>
          <p:spPr>
            <a:xfrm>
              <a:off x="4678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1" name="Line 582"/>
            <p:cNvSpPr/>
            <p:nvPr/>
          </p:nvSpPr>
          <p:spPr>
            <a:xfrm>
              <a:off x="5281" y="1754"/>
              <a:ext cx="0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2" name="Oval 583"/>
            <p:cNvSpPr/>
            <p:nvPr/>
          </p:nvSpPr>
          <p:spPr>
            <a:xfrm>
              <a:off x="422" y="1875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3" name="Oval 584"/>
            <p:cNvSpPr/>
            <p:nvPr/>
          </p:nvSpPr>
          <p:spPr>
            <a:xfrm>
              <a:off x="1067" y="1875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4" name="Oval 585"/>
            <p:cNvSpPr/>
            <p:nvPr/>
          </p:nvSpPr>
          <p:spPr>
            <a:xfrm>
              <a:off x="1712" y="1875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5" name="Oval 586"/>
            <p:cNvSpPr/>
            <p:nvPr/>
          </p:nvSpPr>
          <p:spPr>
            <a:xfrm>
              <a:off x="2407" y="1875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6" name="Oval 587"/>
            <p:cNvSpPr/>
            <p:nvPr/>
          </p:nvSpPr>
          <p:spPr>
            <a:xfrm>
              <a:off x="3052" y="1875"/>
              <a:ext cx="38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7" name="Oval 588"/>
            <p:cNvSpPr/>
            <p:nvPr/>
          </p:nvSpPr>
          <p:spPr>
            <a:xfrm>
              <a:off x="3706" y="1875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8" name="Oval 589"/>
            <p:cNvSpPr/>
            <p:nvPr/>
          </p:nvSpPr>
          <p:spPr>
            <a:xfrm>
              <a:off x="4350" y="1875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29" name="Oval 590"/>
            <p:cNvSpPr/>
            <p:nvPr/>
          </p:nvSpPr>
          <p:spPr>
            <a:xfrm>
              <a:off x="724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0" name="Oval 591"/>
            <p:cNvSpPr/>
            <p:nvPr/>
          </p:nvSpPr>
          <p:spPr>
            <a:xfrm>
              <a:off x="1356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1" name="Oval 592"/>
            <p:cNvSpPr/>
            <p:nvPr/>
          </p:nvSpPr>
          <p:spPr>
            <a:xfrm>
              <a:off x="2039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2" name="Oval 593"/>
            <p:cNvSpPr/>
            <p:nvPr/>
          </p:nvSpPr>
          <p:spPr>
            <a:xfrm>
              <a:off x="3353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3" name="Oval 594"/>
            <p:cNvSpPr/>
            <p:nvPr/>
          </p:nvSpPr>
          <p:spPr>
            <a:xfrm>
              <a:off x="2704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4" name="Oval 595"/>
            <p:cNvSpPr/>
            <p:nvPr/>
          </p:nvSpPr>
          <p:spPr>
            <a:xfrm>
              <a:off x="4013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5" name="Oval 596"/>
            <p:cNvSpPr/>
            <p:nvPr/>
          </p:nvSpPr>
          <p:spPr>
            <a:xfrm>
              <a:off x="4662" y="175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6" name="Oval 597"/>
            <p:cNvSpPr/>
            <p:nvPr/>
          </p:nvSpPr>
          <p:spPr>
            <a:xfrm>
              <a:off x="5266" y="1754"/>
              <a:ext cx="38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7" name="Rectangle 598"/>
            <p:cNvSpPr/>
            <p:nvPr/>
          </p:nvSpPr>
          <p:spPr>
            <a:xfrm>
              <a:off x="566" y="2037"/>
              <a:ext cx="366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8" name="Rectangle 599"/>
            <p:cNvSpPr/>
            <p:nvPr/>
          </p:nvSpPr>
          <p:spPr>
            <a:xfrm>
              <a:off x="1865" y="2037"/>
              <a:ext cx="366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39" name="Rectangle 600"/>
            <p:cNvSpPr/>
            <p:nvPr/>
          </p:nvSpPr>
          <p:spPr>
            <a:xfrm>
              <a:off x="2520" y="2037"/>
              <a:ext cx="365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0" name="Rectangle 601"/>
            <p:cNvSpPr/>
            <p:nvPr/>
          </p:nvSpPr>
          <p:spPr>
            <a:xfrm>
              <a:off x="3174" y="2037"/>
              <a:ext cx="366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1" name="Rectangle 602"/>
            <p:cNvSpPr/>
            <p:nvPr/>
          </p:nvSpPr>
          <p:spPr>
            <a:xfrm>
              <a:off x="3839" y="2037"/>
              <a:ext cx="366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2" name="Rectangle 603"/>
            <p:cNvSpPr/>
            <p:nvPr/>
          </p:nvSpPr>
          <p:spPr>
            <a:xfrm>
              <a:off x="4483" y="2037"/>
              <a:ext cx="366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3" name="Rectangle 604"/>
            <p:cNvSpPr/>
            <p:nvPr/>
          </p:nvSpPr>
          <p:spPr>
            <a:xfrm>
              <a:off x="5087" y="2037"/>
              <a:ext cx="365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4" name="Oval 605"/>
            <p:cNvSpPr/>
            <p:nvPr/>
          </p:nvSpPr>
          <p:spPr>
            <a:xfrm>
              <a:off x="725" y="2001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5" name="Rectangle 606"/>
            <p:cNvSpPr/>
            <p:nvPr/>
          </p:nvSpPr>
          <p:spPr>
            <a:xfrm>
              <a:off x="1180" y="2037"/>
              <a:ext cx="365" cy="4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/>
            <a:lstStyle/>
            <a:p>
              <a:pPr algn="ctr" fontAlgn="base">
                <a:lnSpc>
                  <a:spcPct val="96000"/>
                </a:lnSpc>
                <a:spcBef>
                  <a:spcPts val="465"/>
                </a:spcBef>
                <a:spcAft>
                  <a:spcPts val="775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   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6" name="Oval 607"/>
            <p:cNvSpPr/>
            <p:nvPr/>
          </p:nvSpPr>
          <p:spPr>
            <a:xfrm>
              <a:off x="1359" y="2001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7" name="Oval 608"/>
            <p:cNvSpPr/>
            <p:nvPr/>
          </p:nvSpPr>
          <p:spPr>
            <a:xfrm>
              <a:off x="2044" y="1997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8" name="Oval 609"/>
            <p:cNvSpPr/>
            <p:nvPr/>
          </p:nvSpPr>
          <p:spPr>
            <a:xfrm>
              <a:off x="2709" y="1998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49" name="Oval 610"/>
            <p:cNvSpPr/>
            <p:nvPr/>
          </p:nvSpPr>
          <p:spPr>
            <a:xfrm>
              <a:off x="3354" y="2000"/>
              <a:ext cx="38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0" name="Oval 611"/>
            <p:cNvSpPr/>
            <p:nvPr/>
          </p:nvSpPr>
          <p:spPr>
            <a:xfrm>
              <a:off x="4018" y="2001"/>
              <a:ext cx="39" cy="3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1" name="Oval 612"/>
            <p:cNvSpPr/>
            <p:nvPr/>
          </p:nvSpPr>
          <p:spPr>
            <a:xfrm>
              <a:off x="4663" y="2001"/>
              <a:ext cx="39" cy="3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2" name="Oval 613"/>
            <p:cNvSpPr/>
            <p:nvPr/>
          </p:nvSpPr>
          <p:spPr>
            <a:xfrm>
              <a:off x="5266" y="2004"/>
              <a:ext cx="38" cy="3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3" name="Oval 614"/>
            <p:cNvSpPr/>
            <p:nvPr/>
          </p:nvSpPr>
          <p:spPr>
            <a:xfrm>
              <a:off x="632" y="2509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4" name="Oval 615"/>
            <p:cNvSpPr/>
            <p:nvPr/>
          </p:nvSpPr>
          <p:spPr>
            <a:xfrm>
              <a:off x="627" y="2803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5" name="Oval 616"/>
            <p:cNvSpPr/>
            <p:nvPr/>
          </p:nvSpPr>
          <p:spPr>
            <a:xfrm>
              <a:off x="1266" y="2509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6" name="Oval 617"/>
            <p:cNvSpPr/>
            <p:nvPr/>
          </p:nvSpPr>
          <p:spPr>
            <a:xfrm>
              <a:off x="1262" y="2799"/>
              <a:ext cx="38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7" name="Oval 618"/>
            <p:cNvSpPr/>
            <p:nvPr/>
          </p:nvSpPr>
          <p:spPr>
            <a:xfrm>
              <a:off x="1941" y="2509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8" name="Oval 619"/>
            <p:cNvSpPr/>
            <p:nvPr/>
          </p:nvSpPr>
          <p:spPr>
            <a:xfrm>
              <a:off x="1937" y="2803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59" name="Oval 620"/>
            <p:cNvSpPr/>
            <p:nvPr/>
          </p:nvSpPr>
          <p:spPr>
            <a:xfrm>
              <a:off x="4565" y="2509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0" name="Oval 621"/>
            <p:cNvSpPr/>
            <p:nvPr/>
          </p:nvSpPr>
          <p:spPr>
            <a:xfrm>
              <a:off x="4566" y="2799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1" name="Line 622"/>
            <p:cNvSpPr/>
            <p:nvPr/>
          </p:nvSpPr>
          <p:spPr>
            <a:xfrm flipH="1">
              <a:off x="5204" y="2551"/>
              <a:ext cx="1" cy="26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62" name="Oval 623"/>
            <p:cNvSpPr/>
            <p:nvPr/>
          </p:nvSpPr>
          <p:spPr>
            <a:xfrm>
              <a:off x="2596" y="2509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3" name="Oval 624"/>
            <p:cNvSpPr/>
            <p:nvPr/>
          </p:nvSpPr>
          <p:spPr>
            <a:xfrm>
              <a:off x="2591" y="2801"/>
              <a:ext cx="39" cy="3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4" name="Oval 625"/>
            <p:cNvSpPr/>
            <p:nvPr/>
          </p:nvSpPr>
          <p:spPr>
            <a:xfrm>
              <a:off x="3251" y="2509"/>
              <a:ext cx="38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5" name="Oval 626"/>
            <p:cNvSpPr/>
            <p:nvPr/>
          </p:nvSpPr>
          <p:spPr>
            <a:xfrm>
              <a:off x="3246" y="2799"/>
              <a:ext cx="39" cy="3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6" name="Oval 627"/>
            <p:cNvSpPr/>
            <p:nvPr/>
          </p:nvSpPr>
          <p:spPr>
            <a:xfrm>
              <a:off x="3920" y="2509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7" name="Oval 628"/>
            <p:cNvSpPr/>
            <p:nvPr/>
          </p:nvSpPr>
          <p:spPr>
            <a:xfrm>
              <a:off x="3921" y="2800"/>
              <a:ext cx="39" cy="34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68" name="Line 629"/>
            <p:cNvSpPr/>
            <p:nvPr/>
          </p:nvSpPr>
          <p:spPr>
            <a:xfrm>
              <a:off x="5353" y="2511"/>
              <a:ext cx="0" cy="8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69" name="Line 630"/>
            <p:cNvSpPr/>
            <p:nvPr/>
          </p:nvSpPr>
          <p:spPr>
            <a:xfrm>
              <a:off x="502" y="2819"/>
              <a:ext cx="470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0" name="Line 631"/>
            <p:cNvSpPr/>
            <p:nvPr/>
          </p:nvSpPr>
          <p:spPr>
            <a:xfrm flipH="1">
              <a:off x="853" y="2512"/>
              <a:ext cx="0" cy="84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1" name="Line 632"/>
            <p:cNvSpPr/>
            <p:nvPr/>
          </p:nvSpPr>
          <p:spPr>
            <a:xfrm>
              <a:off x="1468" y="2511"/>
              <a:ext cx="0" cy="8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2" name="Line 633"/>
            <p:cNvSpPr/>
            <p:nvPr/>
          </p:nvSpPr>
          <p:spPr>
            <a:xfrm>
              <a:off x="2162" y="2512"/>
              <a:ext cx="0" cy="84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" name="Line 634"/>
            <p:cNvSpPr/>
            <p:nvPr/>
          </p:nvSpPr>
          <p:spPr>
            <a:xfrm flipH="1">
              <a:off x="2796" y="2512"/>
              <a:ext cx="0" cy="84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" name="Line 635"/>
            <p:cNvSpPr/>
            <p:nvPr/>
          </p:nvSpPr>
          <p:spPr>
            <a:xfrm>
              <a:off x="3450" y="2511"/>
              <a:ext cx="0" cy="8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5" name="Line 636"/>
            <p:cNvSpPr/>
            <p:nvPr/>
          </p:nvSpPr>
          <p:spPr>
            <a:xfrm>
              <a:off x="4125" y="2511"/>
              <a:ext cx="0" cy="8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6" name="Line 637"/>
            <p:cNvSpPr/>
            <p:nvPr/>
          </p:nvSpPr>
          <p:spPr>
            <a:xfrm flipH="1">
              <a:off x="4739" y="2511"/>
              <a:ext cx="0" cy="84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7" name="Rectangle 638"/>
            <p:cNvSpPr/>
            <p:nvPr/>
          </p:nvSpPr>
          <p:spPr>
            <a:xfrm>
              <a:off x="330" y="3031"/>
              <a:ext cx="368" cy="189"/>
            </a:xfrm>
            <a:prstGeom prst="rect">
              <a:avLst/>
            </a:prstGeom>
            <a:solidFill>
              <a:srgbClr val="CC99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78" name="Line 639"/>
            <p:cNvSpPr/>
            <p:nvPr/>
          </p:nvSpPr>
          <p:spPr>
            <a:xfrm>
              <a:off x="514" y="3223"/>
              <a:ext cx="0" cy="1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9" name="Line 640"/>
            <p:cNvSpPr/>
            <p:nvPr/>
          </p:nvSpPr>
          <p:spPr>
            <a:xfrm>
              <a:off x="205" y="1890"/>
              <a:ext cx="1" cy="6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80" name="Rectangle 641"/>
            <p:cNvSpPr/>
            <p:nvPr/>
          </p:nvSpPr>
          <p:spPr>
            <a:xfrm>
              <a:off x="22" y="2570"/>
              <a:ext cx="368" cy="189"/>
            </a:xfrm>
            <a:prstGeom prst="rect">
              <a:avLst/>
            </a:prstGeom>
            <a:solidFill>
              <a:srgbClr val="CC99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1" name="Line 642"/>
            <p:cNvSpPr/>
            <p:nvPr/>
          </p:nvSpPr>
          <p:spPr>
            <a:xfrm>
              <a:off x="205" y="2772"/>
              <a:ext cx="1" cy="5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82" name="Text Box 643"/>
            <p:cNvSpPr txBox="1"/>
            <p:nvPr/>
          </p:nvSpPr>
          <p:spPr>
            <a:xfrm>
              <a:off x="760" y="3407"/>
              <a:ext cx="246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3" name="Text Box 644"/>
            <p:cNvSpPr txBox="1"/>
            <p:nvPr/>
          </p:nvSpPr>
          <p:spPr>
            <a:xfrm>
              <a:off x="1364" y="341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4" name="Text Box 645"/>
            <p:cNvSpPr txBox="1"/>
            <p:nvPr/>
          </p:nvSpPr>
          <p:spPr>
            <a:xfrm>
              <a:off x="2080" y="341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5" name="Text Box 646"/>
            <p:cNvSpPr txBox="1"/>
            <p:nvPr/>
          </p:nvSpPr>
          <p:spPr>
            <a:xfrm>
              <a:off x="2704" y="341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6" name="Text Box 647"/>
            <p:cNvSpPr txBox="1"/>
            <p:nvPr/>
          </p:nvSpPr>
          <p:spPr>
            <a:xfrm>
              <a:off x="3338" y="3416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7" name="Text Box 648"/>
            <p:cNvSpPr txBox="1"/>
            <p:nvPr/>
          </p:nvSpPr>
          <p:spPr>
            <a:xfrm>
              <a:off x="4044" y="3407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8" name="Text Box 649"/>
            <p:cNvSpPr txBox="1"/>
            <p:nvPr/>
          </p:nvSpPr>
          <p:spPr>
            <a:xfrm>
              <a:off x="4647" y="3404"/>
              <a:ext cx="246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89" name="Text Box 650"/>
            <p:cNvSpPr txBox="1"/>
            <p:nvPr/>
          </p:nvSpPr>
          <p:spPr>
            <a:xfrm>
              <a:off x="5261" y="3385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90" name="Text Box 651"/>
            <p:cNvSpPr txBox="1"/>
            <p:nvPr/>
          </p:nvSpPr>
          <p:spPr>
            <a:xfrm>
              <a:off x="422" y="3407"/>
              <a:ext cx="245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91" name="Text Box 652"/>
            <p:cNvSpPr txBox="1"/>
            <p:nvPr/>
          </p:nvSpPr>
          <p:spPr>
            <a:xfrm>
              <a:off x="127" y="3402"/>
              <a:ext cx="245" cy="18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92" name="Line 653"/>
            <p:cNvSpPr/>
            <p:nvPr/>
          </p:nvSpPr>
          <p:spPr>
            <a:xfrm>
              <a:off x="1395" y="1177"/>
              <a:ext cx="0" cy="2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293" name="Group 654"/>
            <p:cNvGrpSpPr/>
            <p:nvPr/>
          </p:nvGrpSpPr>
          <p:grpSpPr>
            <a:xfrm>
              <a:off x="1241" y="2451"/>
              <a:ext cx="89" cy="51"/>
              <a:chOff x="1709" y="8982"/>
              <a:chExt cx="131" cy="84"/>
            </a:xfrm>
          </p:grpSpPr>
          <p:sp>
            <p:nvSpPr>
              <p:cNvPr id="7342" name="Line 655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43" name="Line 656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94" name="Group 657"/>
            <p:cNvGrpSpPr/>
            <p:nvPr/>
          </p:nvGrpSpPr>
          <p:grpSpPr>
            <a:xfrm>
              <a:off x="1912" y="2454"/>
              <a:ext cx="89" cy="51"/>
              <a:chOff x="1709" y="8982"/>
              <a:chExt cx="131" cy="84"/>
            </a:xfrm>
          </p:grpSpPr>
          <p:sp>
            <p:nvSpPr>
              <p:cNvPr id="7340" name="Line 658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41" name="Line 659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95" name="Group 660"/>
            <p:cNvGrpSpPr/>
            <p:nvPr/>
          </p:nvGrpSpPr>
          <p:grpSpPr>
            <a:xfrm>
              <a:off x="2572" y="2455"/>
              <a:ext cx="89" cy="51"/>
              <a:chOff x="1709" y="8982"/>
              <a:chExt cx="131" cy="84"/>
            </a:xfrm>
          </p:grpSpPr>
          <p:sp>
            <p:nvSpPr>
              <p:cNvPr id="7338" name="Line 661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39" name="Line 662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96" name="Group 663"/>
            <p:cNvGrpSpPr/>
            <p:nvPr/>
          </p:nvGrpSpPr>
          <p:grpSpPr>
            <a:xfrm>
              <a:off x="3221" y="2454"/>
              <a:ext cx="90" cy="51"/>
              <a:chOff x="1709" y="8982"/>
              <a:chExt cx="131" cy="84"/>
            </a:xfrm>
          </p:grpSpPr>
          <p:sp>
            <p:nvSpPr>
              <p:cNvPr id="7336" name="Line 664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37" name="Line 665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97" name="Group 666"/>
            <p:cNvGrpSpPr/>
            <p:nvPr/>
          </p:nvGrpSpPr>
          <p:grpSpPr>
            <a:xfrm>
              <a:off x="603" y="2450"/>
              <a:ext cx="89" cy="51"/>
              <a:chOff x="1709" y="8982"/>
              <a:chExt cx="131" cy="84"/>
            </a:xfrm>
          </p:grpSpPr>
          <p:sp>
            <p:nvSpPr>
              <p:cNvPr id="7334" name="Line 667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35" name="Line 668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98" name="Group 669"/>
            <p:cNvGrpSpPr/>
            <p:nvPr/>
          </p:nvGrpSpPr>
          <p:grpSpPr>
            <a:xfrm>
              <a:off x="5152" y="2456"/>
              <a:ext cx="90" cy="51"/>
              <a:chOff x="1709" y="8982"/>
              <a:chExt cx="131" cy="84"/>
            </a:xfrm>
          </p:grpSpPr>
          <p:sp>
            <p:nvSpPr>
              <p:cNvPr id="7332" name="Line 670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33" name="Line 671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99" name="Group 672"/>
            <p:cNvGrpSpPr/>
            <p:nvPr/>
          </p:nvGrpSpPr>
          <p:grpSpPr>
            <a:xfrm>
              <a:off x="4536" y="2456"/>
              <a:ext cx="89" cy="51"/>
              <a:chOff x="1709" y="8982"/>
              <a:chExt cx="131" cy="84"/>
            </a:xfrm>
          </p:grpSpPr>
          <p:sp>
            <p:nvSpPr>
              <p:cNvPr id="7330" name="Line 673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31" name="Line 674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300" name="Group 675"/>
            <p:cNvGrpSpPr/>
            <p:nvPr/>
          </p:nvGrpSpPr>
          <p:grpSpPr>
            <a:xfrm>
              <a:off x="3892" y="2456"/>
              <a:ext cx="90" cy="51"/>
              <a:chOff x="1709" y="8982"/>
              <a:chExt cx="131" cy="84"/>
            </a:xfrm>
          </p:grpSpPr>
          <p:sp>
            <p:nvSpPr>
              <p:cNvPr id="7328" name="Line 676"/>
              <p:cNvSpPr/>
              <p:nvPr/>
            </p:nvSpPr>
            <p:spPr>
              <a:xfrm flipH="1">
                <a:off x="1709" y="8988"/>
                <a:ext cx="56" cy="7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29" name="Line 677"/>
              <p:cNvSpPr/>
              <p:nvPr/>
            </p:nvSpPr>
            <p:spPr>
              <a:xfrm>
                <a:off x="1768" y="8982"/>
                <a:ext cx="72" cy="8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301" name="Oval 678"/>
            <p:cNvSpPr/>
            <p:nvPr/>
          </p:nvSpPr>
          <p:spPr>
            <a:xfrm>
              <a:off x="485" y="2994"/>
              <a:ext cx="39" cy="3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02" name="Oval 679"/>
            <p:cNvSpPr/>
            <p:nvPr/>
          </p:nvSpPr>
          <p:spPr>
            <a:xfrm>
              <a:off x="186" y="2760"/>
              <a:ext cx="39" cy="3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03" name="Text Box 696"/>
            <p:cNvSpPr txBox="1"/>
            <p:nvPr/>
          </p:nvSpPr>
          <p:spPr>
            <a:xfrm>
              <a:off x="1882" y="3748"/>
              <a:ext cx="1670" cy="2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74LS373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的逻辑图</a:t>
              </a:r>
              <a:endParaRPr lang="zh-CN" altLang="en-US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304" name="Group 698"/>
            <p:cNvGrpSpPr/>
            <p:nvPr/>
          </p:nvGrpSpPr>
          <p:grpSpPr>
            <a:xfrm>
              <a:off x="225" y="1471"/>
              <a:ext cx="709" cy="335"/>
              <a:chOff x="225" y="1471"/>
              <a:chExt cx="709" cy="335"/>
            </a:xfrm>
          </p:grpSpPr>
          <p:sp>
            <p:nvSpPr>
              <p:cNvPr id="7326" name="Rectangle 543"/>
              <p:cNvSpPr/>
              <p:nvPr/>
            </p:nvSpPr>
            <p:spPr>
              <a:xfrm>
                <a:off x="566" y="1471"/>
                <a:ext cx="368" cy="283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△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27" name="Text Box 697"/>
              <p:cNvSpPr txBox="1"/>
              <p:nvPr/>
            </p:nvSpPr>
            <p:spPr>
              <a:xfrm>
                <a:off x="225" y="1488"/>
                <a:ext cx="413" cy="3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no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EN</a:t>
                </a:r>
              </a:p>
            </p:txBody>
          </p:sp>
        </p:grpSp>
        <p:sp>
          <p:nvSpPr>
            <p:cNvPr id="7324" name="Rectangle 700"/>
            <p:cNvSpPr/>
            <p:nvPr/>
          </p:nvSpPr>
          <p:spPr>
            <a:xfrm>
              <a:off x="1201" y="1471"/>
              <a:ext cx="368" cy="283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△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22" name="Rectangle 703"/>
            <p:cNvSpPr/>
            <p:nvPr/>
          </p:nvSpPr>
          <p:spPr>
            <a:xfrm>
              <a:off x="1881" y="1480"/>
              <a:ext cx="368" cy="283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ctr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△</a:t>
              </a: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307" name="Group 705"/>
            <p:cNvGrpSpPr/>
            <p:nvPr/>
          </p:nvGrpSpPr>
          <p:grpSpPr>
            <a:xfrm>
              <a:off x="2280" y="1471"/>
              <a:ext cx="650" cy="283"/>
              <a:chOff x="284" y="1471"/>
              <a:chExt cx="650" cy="283"/>
            </a:xfrm>
          </p:grpSpPr>
          <p:sp>
            <p:nvSpPr>
              <p:cNvPr id="7320" name="Rectangle 706"/>
              <p:cNvSpPr/>
              <p:nvPr/>
            </p:nvSpPr>
            <p:spPr>
              <a:xfrm>
                <a:off x="566" y="1471"/>
                <a:ext cx="368" cy="283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△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21" name="Text Box 707"/>
              <p:cNvSpPr txBox="1"/>
              <p:nvPr/>
            </p:nvSpPr>
            <p:spPr>
              <a:xfrm>
                <a:off x="284" y="1471"/>
                <a:ext cx="44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EN 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7308" name="Group 708"/>
            <p:cNvGrpSpPr/>
            <p:nvPr/>
          </p:nvGrpSpPr>
          <p:grpSpPr>
            <a:xfrm>
              <a:off x="2950" y="1471"/>
              <a:ext cx="615" cy="283"/>
              <a:chOff x="319" y="1471"/>
              <a:chExt cx="615" cy="283"/>
            </a:xfrm>
          </p:grpSpPr>
          <p:sp>
            <p:nvSpPr>
              <p:cNvPr id="7318" name="Rectangle 709"/>
              <p:cNvSpPr/>
              <p:nvPr/>
            </p:nvSpPr>
            <p:spPr>
              <a:xfrm>
                <a:off x="566" y="1471"/>
                <a:ext cx="368" cy="283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△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9" name="Text Box 710"/>
              <p:cNvSpPr txBox="1"/>
              <p:nvPr/>
            </p:nvSpPr>
            <p:spPr>
              <a:xfrm>
                <a:off x="319" y="1488"/>
                <a:ext cx="44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EN 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7309" name="Group 711"/>
            <p:cNvGrpSpPr/>
            <p:nvPr/>
          </p:nvGrpSpPr>
          <p:grpSpPr>
            <a:xfrm>
              <a:off x="3602" y="1471"/>
              <a:ext cx="608" cy="283"/>
              <a:chOff x="326" y="1471"/>
              <a:chExt cx="608" cy="283"/>
            </a:xfrm>
          </p:grpSpPr>
          <p:sp>
            <p:nvSpPr>
              <p:cNvPr id="7316" name="Rectangle 712"/>
              <p:cNvSpPr/>
              <p:nvPr/>
            </p:nvSpPr>
            <p:spPr>
              <a:xfrm>
                <a:off x="566" y="1471"/>
                <a:ext cx="368" cy="283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△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7" name="Text Box 713"/>
              <p:cNvSpPr txBox="1"/>
              <p:nvPr/>
            </p:nvSpPr>
            <p:spPr>
              <a:xfrm>
                <a:off x="326" y="1488"/>
                <a:ext cx="44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EN 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7310" name="Group 714"/>
            <p:cNvGrpSpPr/>
            <p:nvPr/>
          </p:nvGrpSpPr>
          <p:grpSpPr>
            <a:xfrm>
              <a:off x="4259" y="1480"/>
              <a:ext cx="586" cy="283"/>
              <a:chOff x="348" y="1471"/>
              <a:chExt cx="586" cy="283"/>
            </a:xfrm>
          </p:grpSpPr>
          <p:sp>
            <p:nvSpPr>
              <p:cNvPr id="7314" name="Rectangle 715"/>
              <p:cNvSpPr/>
              <p:nvPr/>
            </p:nvSpPr>
            <p:spPr>
              <a:xfrm>
                <a:off x="566" y="1471"/>
                <a:ext cx="368" cy="283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△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5" name="Text Box 716"/>
              <p:cNvSpPr txBox="1"/>
              <p:nvPr/>
            </p:nvSpPr>
            <p:spPr>
              <a:xfrm>
                <a:off x="348" y="1479"/>
                <a:ext cx="44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EN 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7311" name="Group 717"/>
            <p:cNvGrpSpPr/>
            <p:nvPr/>
          </p:nvGrpSpPr>
          <p:grpSpPr>
            <a:xfrm>
              <a:off x="4837" y="1471"/>
              <a:ext cx="633" cy="283"/>
              <a:chOff x="301" y="1471"/>
              <a:chExt cx="633" cy="283"/>
            </a:xfrm>
          </p:grpSpPr>
          <p:sp>
            <p:nvSpPr>
              <p:cNvPr id="7312" name="Rectangle 718"/>
              <p:cNvSpPr/>
              <p:nvPr/>
            </p:nvSpPr>
            <p:spPr>
              <a:xfrm>
                <a:off x="566" y="1471"/>
                <a:ext cx="368" cy="283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△</a:t>
                </a:r>
                <a:endPara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40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3" name="Text Box 719"/>
              <p:cNvSpPr txBox="1"/>
              <p:nvPr/>
            </p:nvSpPr>
            <p:spPr>
              <a:xfrm>
                <a:off x="301" y="1480"/>
                <a:ext cx="448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EN 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</p:grpSp>
      <p:graphicFrame>
        <p:nvGraphicFramePr>
          <p:cNvPr id="7172" name="Object 721"/>
          <p:cNvGraphicFramePr>
            <a:graphicFrameLocks noChangeAspect="1"/>
          </p:cNvGraphicFramePr>
          <p:nvPr/>
        </p:nvGraphicFramePr>
        <p:xfrm>
          <a:off x="1703388" y="5373689"/>
          <a:ext cx="3111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700" imgH="152400" progId="Equation.3">
                  <p:embed/>
                </p:oleObj>
              </mc:Choice>
              <mc:Fallback>
                <p:oleObj r:id="rId2" imgW="139700" imgH="152400" progId="Equation.3">
                  <p:embed/>
                  <p:pic>
                    <p:nvPicPr>
                      <p:cNvPr id="7172" name="Object 7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3388" y="5373689"/>
                        <a:ext cx="311150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697"/>
          <p:cNvSpPr txBox="1"/>
          <p:nvPr/>
        </p:nvSpPr>
        <p:spPr>
          <a:xfrm>
            <a:off x="2990851" y="2362201"/>
            <a:ext cx="655955" cy="51371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</a:p>
        </p:txBody>
      </p:sp>
      <p:sp>
        <p:nvSpPr>
          <p:cNvPr id="3" name="Text Box 697"/>
          <p:cNvSpPr txBox="1"/>
          <p:nvPr/>
        </p:nvSpPr>
        <p:spPr>
          <a:xfrm>
            <a:off x="4055428" y="2349501"/>
            <a:ext cx="655638" cy="5048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668" name="Group 156"/>
          <p:cNvGraphicFramePr>
            <a:graphicFrameLocks noGrp="1"/>
          </p:cNvGraphicFramePr>
          <p:nvPr/>
        </p:nvGraphicFramePr>
        <p:xfrm>
          <a:off x="2927351" y="2708275"/>
          <a:ext cx="6227763" cy="2286000"/>
        </p:xfrm>
        <a:graphic>
          <a:graphicData uri="http://schemas.openxmlformats.org/drawingml/2006/table">
            <a:tbl>
              <a:tblPr/>
              <a:tblGrid>
                <a:gridCol w="1598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~8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~8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×~×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~8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×~×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高阻</a:t>
                      </a:r>
                      <a:endParaRPr kumimoji="1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~8</a:t>
                      </a: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保持</a:t>
                      </a:r>
                      <a:endParaRPr kumimoji="1" lang="zh-CN" altLang="en-US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07" name="Rectangle 136"/>
          <p:cNvSpPr/>
          <p:nvPr/>
        </p:nvSpPr>
        <p:spPr>
          <a:xfrm>
            <a:off x="4943475" y="1665795"/>
            <a:ext cx="2840842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74LS373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功能表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8208" name="Object 6"/>
          <p:cNvGraphicFramePr>
            <a:graphicFrameLocks noChangeAspect="1"/>
          </p:cNvGraphicFramePr>
          <p:nvPr/>
        </p:nvGraphicFramePr>
        <p:xfrm>
          <a:off x="3575051" y="2924175"/>
          <a:ext cx="4365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700" imgH="152400" progId="Equation.3">
                  <p:embed/>
                </p:oleObj>
              </mc:Choice>
              <mc:Fallback>
                <p:oleObj r:id="rId2" imgW="139700" imgH="152400" progId="Equation.3">
                  <p:embed/>
                  <p:pic>
                    <p:nvPicPr>
                      <p:cNvPr id="8208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75051" y="2924175"/>
                        <a:ext cx="436563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/>
          <p:nvPr/>
        </p:nvSpPr>
        <p:spPr>
          <a:xfrm>
            <a:off x="3935413" y="619601"/>
            <a:ext cx="3600450" cy="759460"/>
          </a:xfrm>
          <a:prstGeom prst="rect">
            <a:avLst/>
          </a:prstGeom>
          <a:noFill/>
          <a:ln w="9525">
            <a:noFill/>
          </a:ln>
        </p:spPr>
        <p:txBody>
          <a:bodyPr tIns="165048" bIns="165048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7.3.2  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移位寄存器</a:t>
            </a:r>
            <a:endParaRPr lang="zh-CN" altLang="en-US" sz="3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9" name="Rectangle 5"/>
          <p:cNvSpPr/>
          <p:nvPr/>
        </p:nvSpPr>
        <p:spPr>
          <a:xfrm>
            <a:off x="1703389" y="1375283"/>
            <a:ext cx="5517857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一．单向移位寄存器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74LS164</a:t>
            </a:r>
          </a:p>
        </p:txBody>
      </p:sp>
      <p:grpSp>
        <p:nvGrpSpPr>
          <p:cNvPr id="9220" name="Group 6"/>
          <p:cNvGrpSpPr/>
          <p:nvPr/>
        </p:nvGrpSpPr>
        <p:grpSpPr>
          <a:xfrm>
            <a:off x="1847850" y="1773238"/>
            <a:ext cx="8496300" cy="5084762"/>
            <a:chOff x="3092" y="5148"/>
            <a:chExt cx="6345" cy="3288"/>
          </a:xfrm>
        </p:grpSpPr>
        <p:sp>
          <p:nvSpPr>
            <p:cNvPr id="9222" name="Rectangle 7"/>
            <p:cNvSpPr/>
            <p:nvPr/>
          </p:nvSpPr>
          <p:spPr>
            <a:xfrm>
              <a:off x="4697" y="5154"/>
              <a:ext cx="36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32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5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3" name="Rectangle 8"/>
            <p:cNvSpPr/>
            <p:nvPr/>
          </p:nvSpPr>
          <p:spPr>
            <a:xfrm>
              <a:off x="6152" y="5148"/>
              <a:ext cx="36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32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5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224" name="Group 9"/>
            <p:cNvGrpSpPr/>
            <p:nvPr/>
          </p:nvGrpSpPr>
          <p:grpSpPr>
            <a:xfrm>
              <a:off x="3092" y="5184"/>
              <a:ext cx="6345" cy="2913"/>
              <a:chOff x="3092" y="4472"/>
              <a:chExt cx="6345" cy="2913"/>
            </a:xfrm>
          </p:grpSpPr>
          <p:sp>
            <p:nvSpPr>
              <p:cNvPr id="9226" name="Rectangle 10"/>
              <p:cNvSpPr/>
              <p:nvPr/>
            </p:nvSpPr>
            <p:spPr>
              <a:xfrm>
                <a:off x="8342" y="4502"/>
                <a:ext cx="36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32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27" name="Rectangle 11"/>
              <p:cNvSpPr/>
              <p:nvPr/>
            </p:nvSpPr>
            <p:spPr>
              <a:xfrm>
                <a:off x="6946" y="6848"/>
                <a:ext cx="0" cy="5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28" name="Rectangle 12"/>
              <p:cNvSpPr/>
              <p:nvPr/>
            </p:nvSpPr>
            <p:spPr>
              <a:xfrm>
                <a:off x="3092" y="6999"/>
                <a:ext cx="90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4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29" name="Rectangle 13"/>
              <p:cNvSpPr/>
              <p:nvPr/>
            </p:nvSpPr>
            <p:spPr>
              <a:xfrm>
                <a:off x="3242" y="5111"/>
                <a:ext cx="1080" cy="624"/>
              </a:xfrm>
              <a:prstGeom prst="rect">
                <a:avLst/>
              </a:prstGeom>
              <a:solidFill>
                <a:srgbClr val="CCFF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        R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0" name="Freeform 14"/>
              <p:cNvSpPr/>
              <p:nvPr/>
            </p:nvSpPr>
            <p:spPr>
              <a:xfrm>
                <a:off x="3677" y="5618"/>
                <a:ext cx="180" cy="103"/>
              </a:xfrm>
              <a:custGeom>
                <a:avLst/>
                <a:gdLst>
                  <a:gd name="txL" fmla="*/ 0 w 180"/>
                  <a:gd name="txT" fmla="*/ 0 h 103"/>
                  <a:gd name="txR" fmla="*/ 180 w 180"/>
                  <a:gd name="txB" fmla="*/ 103 h 103"/>
                </a:gdLst>
                <a:ahLst/>
                <a:cxnLst>
                  <a:cxn ang="0">
                    <a:pos x="0" y="102"/>
                  </a:cxn>
                  <a:cxn ang="0">
                    <a:pos x="90" y="0"/>
                  </a:cxn>
                  <a:cxn ang="0">
                    <a:pos x="180" y="103"/>
                  </a:cxn>
                </a:cxnLst>
                <a:rect l="txL" t="txT" r="txR" b="txB"/>
                <a:pathLst>
                  <a:path w="180" h="103">
                    <a:moveTo>
                      <a:pt x="0" y="102"/>
                    </a:moveTo>
                    <a:lnTo>
                      <a:pt x="90" y="0"/>
                    </a:lnTo>
                    <a:lnTo>
                      <a:pt x="180" y="103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1" name="Rectangle 15"/>
              <p:cNvSpPr/>
              <p:nvPr/>
            </p:nvSpPr>
            <p:spPr>
              <a:xfrm>
                <a:off x="3632" y="5327"/>
                <a:ext cx="306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2" name="Line 16"/>
              <p:cNvSpPr/>
              <p:nvPr/>
            </p:nvSpPr>
            <p:spPr>
              <a:xfrm>
                <a:off x="3377" y="479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3" name="Oval 17"/>
              <p:cNvSpPr/>
              <p:nvPr/>
            </p:nvSpPr>
            <p:spPr>
              <a:xfrm>
                <a:off x="4172" y="505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4" name="Line 18"/>
              <p:cNvSpPr/>
              <p:nvPr/>
            </p:nvSpPr>
            <p:spPr>
              <a:xfrm>
                <a:off x="3395" y="4925"/>
                <a:ext cx="1106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35" name="Oval 19"/>
              <p:cNvSpPr/>
              <p:nvPr/>
            </p:nvSpPr>
            <p:spPr>
              <a:xfrm>
                <a:off x="3737" y="57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6" name="Oval 20"/>
              <p:cNvSpPr/>
              <p:nvPr/>
            </p:nvSpPr>
            <p:spPr>
              <a:xfrm>
                <a:off x="4164" y="57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7" name="Oval 21"/>
              <p:cNvSpPr/>
              <p:nvPr/>
            </p:nvSpPr>
            <p:spPr>
              <a:xfrm>
                <a:off x="3346" y="4888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8" name="Rectangle 22"/>
              <p:cNvSpPr/>
              <p:nvPr/>
            </p:nvSpPr>
            <p:spPr>
              <a:xfrm>
                <a:off x="4682" y="5111"/>
                <a:ext cx="1080" cy="624"/>
              </a:xfrm>
              <a:prstGeom prst="rect">
                <a:avLst/>
              </a:prstGeom>
              <a:solidFill>
                <a:srgbClr val="CCFF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        R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39" name="Freeform 23"/>
              <p:cNvSpPr/>
              <p:nvPr/>
            </p:nvSpPr>
            <p:spPr>
              <a:xfrm>
                <a:off x="5117" y="5618"/>
                <a:ext cx="180" cy="103"/>
              </a:xfrm>
              <a:custGeom>
                <a:avLst/>
                <a:gdLst>
                  <a:gd name="txL" fmla="*/ 0 w 180"/>
                  <a:gd name="txT" fmla="*/ 0 h 103"/>
                  <a:gd name="txR" fmla="*/ 180 w 180"/>
                  <a:gd name="txB" fmla="*/ 103 h 103"/>
                </a:gdLst>
                <a:ahLst/>
                <a:cxnLst>
                  <a:cxn ang="0">
                    <a:pos x="0" y="102"/>
                  </a:cxn>
                  <a:cxn ang="0">
                    <a:pos x="90" y="0"/>
                  </a:cxn>
                  <a:cxn ang="0">
                    <a:pos x="180" y="103"/>
                  </a:cxn>
                </a:cxnLst>
                <a:rect l="txL" t="txT" r="txR" b="txB"/>
                <a:pathLst>
                  <a:path w="180" h="103">
                    <a:moveTo>
                      <a:pt x="0" y="102"/>
                    </a:moveTo>
                    <a:lnTo>
                      <a:pt x="90" y="0"/>
                    </a:lnTo>
                    <a:lnTo>
                      <a:pt x="180" y="103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0" name="Rectangle 24"/>
              <p:cNvSpPr/>
              <p:nvPr/>
            </p:nvSpPr>
            <p:spPr>
              <a:xfrm>
                <a:off x="5072" y="5327"/>
                <a:ext cx="306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1" name="Line 25"/>
              <p:cNvSpPr/>
              <p:nvPr/>
            </p:nvSpPr>
            <p:spPr>
              <a:xfrm>
                <a:off x="4817" y="4784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42" name="Oval 26"/>
              <p:cNvSpPr/>
              <p:nvPr/>
            </p:nvSpPr>
            <p:spPr>
              <a:xfrm>
                <a:off x="5612" y="505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3" name="Oval 27"/>
              <p:cNvSpPr/>
              <p:nvPr/>
            </p:nvSpPr>
            <p:spPr>
              <a:xfrm>
                <a:off x="5177" y="57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4" name="Oval 28"/>
              <p:cNvSpPr/>
              <p:nvPr/>
            </p:nvSpPr>
            <p:spPr>
              <a:xfrm>
                <a:off x="5604" y="57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5" name="Oval 29"/>
              <p:cNvSpPr/>
              <p:nvPr/>
            </p:nvSpPr>
            <p:spPr>
              <a:xfrm>
                <a:off x="4786" y="4888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6" name="Rectangle 30"/>
              <p:cNvSpPr/>
              <p:nvPr/>
            </p:nvSpPr>
            <p:spPr>
              <a:xfrm>
                <a:off x="6122" y="5126"/>
                <a:ext cx="1080" cy="624"/>
              </a:xfrm>
              <a:prstGeom prst="rect">
                <a:avLst/>
              </a:prstGeom>
              <a:solidFill>
                <a:srgbClr val="CCFF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        R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7" name="Freeform 31"/>
              <p:cNvSpPr/>
              <p:nvPr/>
            </p:nvSpPr>
            <p:spPr>
              <a:xfrm>
                <a:off x="6557" y="5633"/>
                <a:ext cx="180" cy="103"/>
              </a:xfrm>
              <a:custGeom>
                <a:avLst/>
                <a:gdLst>
                  <a:gd name="txL" fmla="*/ 0 w 180"/>
                  <a:gd name="txT" fmla="*/ 0 h 103"/>
                  <a:gd name="txR" fmla="*/ 180 w 180"/>
                  <a:gd name="txB" fmla="*/ 103 h 103"/>
                </a:gdLst>
                <a:ahLst/>
                <a:cxnLst>
                  <a:cxn ang="0">
                    <a:pos x="0" y="102"/>
                  </a:cxn>
                  <a:cxn ang="0">
                    <a:pos x="90" y="0"/>
                  </a:cxn>
                  <a:cxn ang="0">
                    <a:pos x="180" y="103"/>
                  </a:cxn>
                </a:cxnLst>
                <a:rect l="txL" t="txT" r="txR" b="txB"/>
                <a:pathLst>
                  <a:path w="180" h="103">
                    <a:moveTo>
                      <a:pt x="0" y="102"/>
                    </a:moveTo>
                    <a:lnTo>
                      <a:pt x="90" y="0"/>
                    </a:lnTo>
                    <a:lnTo>
                      <a:pt x="180" y="103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8" name="Rectangle 32"/>
              <p:cNvSpPr/>
              <p:nvPr/>
            </p:nvSpPr>
            <p:spPr>
              <a:xfrm>
                <a:off x="6512" y="5342"/>
                <a:ext cx="306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49" name="Line 33"/>
              <p:cNvSpPr/>
              <p:nvPr/>
            </p:nvSpPr>
            <p:spPr>
              <a:xfrm>
                <a:off x="6257" y="4814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0" name="Oval 34"/>
              <p:cNvSpPr/>
              <p:nvPr/>
            </p:nvSpPr>
            <p:spPr>
              <a:xfrm>
                <a:off x="7052" y="5066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1" name="Line 35"/>
              <p:cNvSpPr/>
              <p:nvPr/>
            </p:nvSpPr>
            <p:spPr>
              <a:xfrm>
                <a:off x="6257" y="4940"/>
                <a:ext cx="10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2" name="Oval 36"/>
              <p:cNvSpPr/>
              <p:nvPr/>
            </p:nvSpPr>
            <p:spPr>
              <a:xfrm>
                <a:off x="6609" y="5756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3" name="Oval 37"/>
              <p:cNvSpPr/>
              <p:nvPr/>
            </p:nvSpPr>
            <p:spPr>
              <a:xfrm>
                <a:off x="7044" y="5756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4" name="Oval 38"/>
              <p:cNvSpPr/>
              <p:nvPr/>
            </p:nvSpPr>
            <p:spPr>
              <a:xfrm>
                <a:off x="6226" y="4903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5" name="Rectangle 39"/>
              <p:cNvSpPr/>
              <p:nvPr/>
            </p:nvSpPr>
            <p:spPr>
              <a:xfrm>
                <a:off x="8357" y="5111"/>
                <a:ext cx="1080" cy="624"/>
              </a:xfrm>
              <a:prstGeom prst="rect">
                <a:avLst/>
              </a:prstGeom>
              <a:solidFill>
                <a:srgbClr val="CCFF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        R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6" name="Freeform 40"/>
              <p:cNvSpPr/>
              <p:nvPr/>
            </p:nvSpPr>
            <p:spPr>
              <a:xfrm>
                <a:off x="8792" y="5618"/>
                <a:ext cx="180" cy="103"/>
              </a:xfrm>
              <a:custGeom>
                <a:avLst/>
                <a:gdLst>
                  <a:gd name="txL" fmla="*/ 0 w 180"/>
                  <a:gd name="txT" fmla="*/ 0 h 103"/>
                  <a:gd name="txR" fmla="*/ 180 w 180"/>
                  <a:gd name="txB" fmla="*/ 103 h 103"/>
                </a:gdLst>
                <a:ahLst/>
                <a:cxnLst>
                  <a:cxn ang="0">
                    <a:pos x="0" y="102"/>
                  </a:cxn>
                  <a:cxn ang="0">
                    <a:pos x="90" y="0"/>
                  </a:cxn>
                  <a:cxn ang="0">
                    <a:pos x="180" y="103"/>
                  </a:cxn>
                </a:cxnLst>
                <a:rect l="txL" t="txT" r="txR" b="txB"/>
                <a:pathLst>
                  <a:path w="180" h="103">
                    <a:moveTo>
                      <a:pt x="0" y="102"/>
                    </a:moveTo>
                    <a:lnTo>
                      <a:pt x="90" y="0"/>
                    </a:lnTo>
                    <a:lnTo>
                      <a:pt x="180" y="103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7" name="Rectangle 41"/>
              <p:cNvSpPr/>
              <p:nvPr/>
            </p:nvSpPr>
            <p:spPr>
              <a:xfrm>
                <a:off x="8747" y="5327"/>
                <a:ext cx="306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58" name="Line 42"/>
              <p:cNvSpPr/>
              <p:nvPr/>
            </p:nvSpPr>
            <p:spPr>
              <a:xfrm>
                <a:off x="8492" y="479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9" name="Oval 43"/>
              <p:cNvSpPr/>
              <p:nvPr/>
            </p:nvSpPr>
            <p:spPr>
              <a:xfrm>
                <a:off x="9287" y="505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60" name="Line 44"/>
              <p:cNvSpPr/>
              <p:nvPr/>
            </p:nvSpPr>
            <p:spPr>
              <a:xfrm>
                <a:off x="4817" y="5735"/>
                <a:ext cx="0" cy="19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1" name="Line 45"/>
              <p:cNvSpPr/>
              <p:nvPr/>
            </p:nvSpPr>
            <p:spPr>
              <a:xfrm>
                <a:off x="4502" y="4925"/>
                <a:ext cx="0" cy="101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2" name="Line 46"/>
              <p:cNvSpPr/>
              <p:nvPr/>
            </p:nvSpPr>
            <p:spPr>
              <a:xfrm>
                <a:off x="4502" y="5939"/>
                <a:ext cx="31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3" name="Line 47"/>
              <p:cNvSpPr/>
              <p:nvPr/>
            </p:nvSpPr>
            <p:spPr>
              <a:xfrm>
                <a:off x="4187" y="5795"/>
                <a:ext cx="0" cy="30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4" name="Line 48"/>
              <p:cNvSpPr/>
              <p:nvPr/>
            </p:nvSpPr>
            <p:spPr>
              <a:xfrm>
                <a:off x="4187" y="6092"/>
                <a:ext cx="3305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5" name="Line 49"/>
              <p:cNvSpPr/>
              <p:nvPr/>
            </p:nvSpPr>
            <p:spPr>
              <a:xfrm>
                <a:off x="3419" y="5735"/>
                <a:ext cx="0" cy="62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6" name="Line 50"/>
              <p:cNvSpPr/>
              <p:nvPr/>
            </p:nvSpPr>
            <p:spPr>
              <a:xfrm>
                <a:off x="3767" y="6188"/>
                <a:ext cx="374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67" name="Line 51"/>
              <p:cNvSpPr/>
              <p:nvPr/>
            </p:nvSpPr>
            <p:spPr>
              <a:xfrm>
                <a:off x="7562" y="6092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68" name="Line 52"/>
              <p:cNvSpPr/>
              <p:nvPr/>
            </p:nvSpPr>
            <p:spPr>
              <a:xfrm>
                <a:off x="7577" y="6194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69" name="Line 53"/>
              <p:cNvSpPr/>
              <p:nvPr/>
            </p:nvSpPr>
            <p:spPr>
              <a:xfrm>
                <a:off x="7562" y="5996"/>
                <a:ext cx="5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9270" name="Line 54"/>
              <p:cNvSpPr/>
              <p:nvPr/>
            </p:nvSpPr>
            <p:spPr>
              <a:xfrm>
                <a:off x="3767" y="5810"/>
                <a:ext cx="0" cy="3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1" name="Line 55"/>
              <p:cNvSpPr/>
              <p:nvPr/>
            </p:nvSpPr>
            <p:spPr>
              <a:xfrm>
                <a:off x="7337" y="4940"/>
                <a:ext cx="0" cy="104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2" name="Line 56"/>
              <p:cNvSpPr/>
              <p:nvPr/>
            </p:nvSpPr>
            <p:spPr>
              <a:xfrm>
                <a:off x="7337" y="6002"/>
                <a:ext cx="18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3" name="Rectangle 57"/>
              <p:cNvSpPr/>
              <p:nvPr/>
            </p:nvSpPr>
            <p:spPr>
              <a:xfrm>
                <a:off x="3137" y="6353"/>
                <a:ext cx="540" cy="312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t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&amp;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74" name="Line 58"/>
              <p:cNvSpPr/>
              <p:nvPr/>
            </p:nvSpPr>
            <p:spPr>
              <a:xfrm>
                <a:off x="6227" y="5765"/>
                <a:ext cx="0" cy="19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5" name="Line 59"/>
              <p:cNvSpPr/>
              <p:nvPr/>
            </p:nvSpPr>
            <p:spPr>
              <a:xfrm>
                <a:off x="5912" y="4932"/>
                <a:ext cx="0" cy="102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6" name="Line 60"/>
              <p:cNvSpPr/>
              <p:nvPr/>
            </p:nvSpPr>
            <p:spPr>
              <a:xfrm>
                <a:off x="5912" y="5969"/>
                <a:ext cx="31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7" name="Line 61"/>
              <p:cNvSpPr/>
              <p:nvPr/>
            </p:nvSpPr>
            <p:spPr>
              <a:xfrm>
                <a:off x="6632" y="5810"/>
                <a:ext cx="0" cy="39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8" name="Line 62"/>
              <p:cNvSpPr/>
              <p:nvPr/>
            </p:nvSpPr>
            <p:spPr>
              <a:xfrm>
                <a:off x="7067" y="5816"/>
                <a:ext cx="0" cy="52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79" name="Rectangle 63"/>
              <p:cNvSpPr/>
              <p:nvPr/>
            </p:nvSpPr>
            <p:spPr>
              <a:xfrm>
                <a:off x="6887" y="6359"/>
                <a:ext cx="360" cy="312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80" name="Line 64"/>
              <p:cNvSpPr/>
              <p:nvPr/>
            </p:nvSpPr>
            <p:spPr>
              <a:xfrm>
                <a:off x="5207" y="5795"/>
                <a:ext cx="0" cy="52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1" name="Rectangle 65"/>
              <p:cNvSpPr/>
              <p:nvPr/>
            </p:nvSpPr>
            <p:spPr>
              <a:xfrm>
                <a:off x="5027" y="6359"/>
                <a:ext cx="360" cy="312"/>
              </a:xfrm>
              <a:prstGeom prst="rect">
                <a:avLst/>
              </a:prstGeom>
              <a:solidFill>
                <a:srgbClr val="FFFF99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82" name="Line 66"/>
              <p:cNvSpPr/>
              <p:nvPr/>
            </p:nvSpPr>
            <p:spPr>
              <a:xfrm>
                <a:off x="8462" y="5735"/>
                <a:ext cx="0" cy="25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3" name="Line 67"/>
              <p:cNvSpPr/>
              <p:nvPr/>
            </p:nvSpPr>
            <p:spPr>
              <a:xfrm>
                <a:off x="8177" y="6002"/>
                <a:ext cx="27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4" name="Line 68"/>
              <p:cNvSpPr/>
              <p:nvPr/>
            </p:nvSpPr>
            <p:spPr>
              <a:xfrm>
                <a:off x="8177" y="6077"/>
                <a:ext cx="114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5" name="Line 69"/>
              <p:cNvSpPr/>
              <p:nvPr/>
            </p:nvSpPr>
            <p:spPr>
              <a:xfrm>
                <a:off x="8882" y="5779"/>
                <a:ext cx="0" cy="39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6" name="Line 70"/>
              <p:cNvSpPr/>
              <p:nvPr/>
            </p:nvSpPr>
            <p:spPr>
              <a:xfrm>
                <a:off x="8177" y="6173"/>
                <a:ext cx="70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7" name="Line 71"/>
              <p:cNvSpPr/>
              <p:nvPr/>
            </p:nvSpPr>
            <p:spPr>
              <a:xfrm>
                <a:off x="3227" y="6664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8" name="Line 72"/>
              <p:cNvSpPr/>
              <p:nvPr/>
            </p:nvSpPr>
            <p:spPr>
              <a:xfrm>
                <a:off x="3557" y="6664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89" name="Line 73"/>
              <p:cNvSpPr/>
              <p:nvPr/>
            </p:nvSpPr>
            <p:spPr>
              <a:xfrm>
                <a:off x="5207" y="6671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90" name="Line 74"/>
              <p:cNvSpPr/>
              <p:nvPr/>
            </p:nvSpPr>
            <p:spPr>
              <a:xfrm>
                <a:off x="7067" y="6671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91" name="Oval 75"/>
              <p:cNvSpPr/>
              <p:nvPr/>
            </p:nvSpPr>
            <p:spPr>
              <a:xfrm>
                <a:off x="7036" y="6062"/>
                <a:ext cx="57" cy="57"/>
              </a:xfrm>
              <a:prstGeom prst="ellipse">
                <a:avLst/>
              </a:prstGeom>
              <a:solidFill>
                <a:srgbClr val="000000">
                  <a:alpha val="96861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2" name="Oval 76"/>
              <p:cNvSpPr/>
              <p:nvPr/>
            </p:nvSpPr>
            <p:spPr>
              <a:xfrm>
                <a:off x="6602" y="6165"/>
                <a:ext cx="57" cy="57"/>
              </a:xfrm>
              <a:prstGeom prst="ellipse">
                <a:avLst/>
              </a:prstGeom>
              <a:solidFill>
                <a:srgbClr val="000000">
                  <a:alpha val="96861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3" name="Oval 77"/>
              <p:cNvSpPr/>
              <p:nvPr/>
            </p:nvSpPr>
            <p:spPr>
              <a:xfrm>
                <a:off x="5184" y="6165"/>
                <a:ext cx="57" cy="57"/>
              </a:xfrm>
              <a:prstGeom prst="ellipse">
                <a:avLst/>
              </a:prstGeom>
              <a:solidFill>
                <a:srgbClr val="000000">
                  <a:alpha val="96861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4" name="Line 78"/>
              <p:cNvSpPr/>
              <p:nvPr/>
            </p:nvSpPr>
            <p:spPr>
              <a:xfrm>
                <a:off x="5627" y="5810"/>
                <a:ext cx="0" cy="25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95" name="Oval 79"/>
              <p:cNvSpPr/>
              <p:nvPr/>
            </p:nvSpPr>
            <p:spPr>
              <a:xfrm>
                <a:off x="5604" y="6055"/>
                <a:ext cx="57" cy="57"/>
              </a:xfrm>
              <a:prstGeom prst="ellipse">
                <a:avLst/>
              </a:prstGeom>
              <a:solidFill>
                <a:srgbClr val="000000">
                  <a:alpha val="96861"/>
                </a:srgbClr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6" name="Oval 80"/>
              <p:cNvSpPr/>
              <p:nvPr/>
            </p:nvSpPr>
            <p:spPr>
              <a:xfrm>
                <a:off x="5176" y="6308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7" name="Oval 81"/>
              <p:cNvSpPr/>
              <p:nvPr/>
            </p:nvSpPr>
            <p:spPr>
              <a:xfrm>
                <a:off x="7039" y="629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8" name="Oval 82"/>
              <p:cNvSpPr/>
              <p:nvPr/>
            </p:nvSpPr>
            <p:spPr>
              <a:xfrm>
                <a:off x="7037" y="6670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99" name="Rectangle 83"/>
              <p:cNvSpPr/>
              <p:nvPr/>
            </p:nvSpPr>
            <p:spPr>
              <a:xfrm>
                <a:off x="5042" y="6999"/>
                <a:ext cx="36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CP</a:t>
                </a:r>
                <a:endParaRPr lang="en-US" altLang="zh-CN" sz="4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0" name="Rectangle 84"/>
              <p:cNvSpPr/>
              <p:nvPr/>
            </p:nvSpPr>
            <p:spPr>
              <a:xfrm>
                <a:off x="3272" y="4472"/>
                <a:ext cx="36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32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1" name="Line 85"/>
              <p:cNvSpPr/>
              <p:nvPr/>
            </p:nvSpPr>
            <p:spPr>
              <a:xfrm>
                <a:off x="9320" y="5790"/>
                <a:ext cx="0" cy="28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02" name="Oval 86"/>
              <p:cNvSpPr/>
              <p:nvPr/>
            </p:nvSpPr>
            <p:spPr>
              <a:xfrm>
                <a:off x="9287" y="57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3" name="Oval 87"/>
              <p:cNvSpPr/>
              <p:nvPr/>
            </p:nvSpPr>
            <p:spPr>
              <a:xfrm>
                <a:off x="8852" y="57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3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4" name="Text Box 88"/>
              <p:cNvSpPr txBox="1"/>
              <p:nvPr/>
            </p:nvSpPr>
            <p:spPr>
              <a:xfrm>
                <a:off x="8416" y="5090"/>
                <a:ext cx="192" cy="3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5" name="Text Box 89"/>
              <p:cNvSpPr txBox="1"/>
              <p:nvPr/>
            </p:nvSpPr>
            <p:spPr>
              <a:xfrm>
                <a:off x="6192" y="5100"/>
                <a:ext cx="192" cy="3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6" name="Text Box 90"/>
              <p:cNvSpPr txBox="1"/>
              <p:nvPr/>
            </p:nvSpPr>
            <p:spPr>
              <a:xfrm>
                <a:off x="4752" y="5094"/>
                <a:ext cx="192" cy="3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7" name="Text Box 91"/>
              <p:cNvSpPr txBox="1"/>
              <p:nvPr/>
            </p:nvSpPr>
            <p:spPr>
              <a:xfrm>
                <a:off x="3320" y="5096"/>
                <a:ext cx="192" cy="3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54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08" name="Line 92"/>
              <p:cNvSpPr/>
              <p:nvPr/>
            </p:nvSpPr>
            <p:spPr>
              <a:xfrm>
                <a:off x="4804" y="4920"/>
                <a:ext cx="1106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225" name="Text Box 93"/>
            <p:cNvSpPr txBox="1"/>
            <p:nvPr/>
          </p:nvSpPr>
          <p:spPr>
            <a:xfrm>
              <a:off x="4524" y="7968"/>
              <a:ext cx="2449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74LS164</a:t>
              </a:r>
              <a:r>
                <a:rPr lang="zh-CN" altLang="en-US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的逻辑图</a:t>
              </a:r>
              <a:endParaRPr lang="zh-CN" altLang="en-US" sz="54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9221" name="Object 94"/>
          <p:cNvGraphicFramePr>
            <a:graphicFrameLocks noChangeAspect="1"/>
          </p:cNvGraphicFramePr>
          <p:nvPr/>
        </p:nvGraphicFramePr>
        <p:xfrm>
          <a:off x="7032625" y="5661025"/>
          <a:ext cx="5032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3200" imgH="203200" progId="Equation.3">
                  <p:embed/>
                </p:oleObj>
              </mc:Choice>
              <mc:Fallback>
                <p:oleObj r:id="rId2" imgW="203200" imgH="203200" progId="Equation.3">
                  <p:embed/>
                  <p:pic>
                    <p:nvPicPr>
                      <p:cNvPr id="9221" name="Object 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32625" y="5661025"/>
                        <a:ext cx="503238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/>
          <p:nvPr/>
        </p:nvSpPr>
        <p:spPr>
          <a:xfrm>
            <a:off x="3389314" y="2376202"/>
            <a:ext cx="184731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243" name="Object 4"/>
          <p:cNvGraphicFramePr>
            <a:graphicFrameLocks noChangeAspect="1"/>
          </p:cNvGraphicFramePr>
          <p:nvPr/>
        </p:nvGraphicFramePr>
        <p:xfrm>
          <a:off x="1992313" y="2349501"/>
          <a:ext cx="5762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0500" imgH="190500" progId="Equation.3">
                  <p:embed/>
                </p:oleObj>
              </mc:Choice>
              <mc:Fallback>
                <p:oleObj r:id="rId2" imgW="190500" imgH="190500" progId="Equation.3">
                  <p:embed/>
                  <p:pic>
                    <p:nvPicPr>
                      <p:cNvPr id="10243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2313" y="2349501"/>
                        <a:ext cx="576262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195" name="Group 355"/>
          <p:cNvGraphicFramePr>
            <a:graphicFrameLocks noGrp="1"/>
          </p:cNvGraphicFramePr>
          <p:nvPr/>
        </p:nvGraphicFramePr>
        <p:xfrm>
          <a:off x="1774826" y="2060575"/>
          <a:ext cx="8569325" cy="4297644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5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886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7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32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32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32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32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6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80" name="Rectangle 356"/>
          <p:cNvSpPr/>
          <p:nvPr/>
        </p:nvSpPr>
        <p:spPr>
          <a:xfrm>
            <a:off x="4295776" y="1125538"/>
            <a:ext cx="3313113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75LS164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功能表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/>
          <p:nvPr/>
        </p:nvSpPr>
        <p:spPr>
          <a:xfrm>
            <a:off x="2351089" y="762001"/>
            <a:ext cx="4689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二．双向移位寄存器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74LS194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1267" name="Group 7"/>
          <p:cNvGrpSpPr/>
          <p:nvPr/>
        </p:nvGrpSpPr>
        <p:grpSpPr>
          <a:xfrm>
            <a:off x="2063750" y="1341438"/>
            <a:ext cx="7920038" cy="5333186"/>
            <a:chOff x="1932" y="1448"/>
            <a:chExt cx="8313" cy="5348"/>
          </a:xfrm>
        </p:grpSpPr>
        <p:sp>
          <p:nvSpPr>
            <p:cNvPr id="11272" name="Oval 8"/>
            <p:cNvSpPr/>
            <p:nvPr/>
          </p:nvSpPr>
          <p:spPr>
            <a:xfrm>
              <a:off x="4116" y="3500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3" name="Oval 9"/>
            <p:cNvSpPr/>
            <p:nvPr/>
          </p:nvSpPr>
          <p:spPr>
            <a:xfrm>
              <a:off x="4380" y="3179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4" name="Line 10"/>
            <p:cNvSpPr/>
            <p:nvPr/>
          </p:nvSpPr>
          <p:spPr>
            <a:xfrm>
              <a:off x="5760" y="2897"/>
              <a:ext cx="0" cy="5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5" name="Line 11"/>
            <p:cNvSpPr/>
            <p:nvPr/>
          </p:nvSpPr>
          <p:spPr>
            <a:xfrm>
              <a:off x="6270" y="2897"/>
              <a:ext cx="0" cy="4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6" name="Oval 12"/>
            <p:cNvSpPr/>
            <p:nvPr/>
          </p:nvSpPr>
          <p:spPr>
            <a:xfrm>
              <a:off x="6000" y="3179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7" name="Line 13"/>
            <p:cNvSpPr/>
            <p:nvPr/>
          </p:nvSpPr>
          <p:spPr>
            <a:xfrm>
              <a:off x="8085" y="2873"/>
              <a:ext cx="0" cy="5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8" name="Oval 14"/>
            <p:cNvSpPr/>
            <p:nvPr/>
          </p:nvSpPr>
          <p:spPr>
            <a:xfrm>
              <a:off x="7800" y="3179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Line 15"/>
            <p:cNvSpPr/>
            <p:nvPr/>
          </p:nvSpPr>
          <p:spPr>
            <a:xfrm>
              <a:off x="9180" y="2913"/>
              <a:ext cx="0" cy="5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0" name="Line 16"/>
            <p:cNvSpPr/>
            <p:nvPr/>
          </p:nvSpPr>
          <p:spPr>
            <a:xfrm>
              <a:off x="9685" y="2897"/>
              <a:ext cx="0" cy="4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1" name="Oval 17"/>
            <p:cNvSpPr/>
            <p:nvPr/>
          </p:nvSpPr>
          <p:spPr>
            <a:xfrm>
              <a:off x="9150" y="3499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2" name="Line 18"/>
            <p:cNvSpPr/>
            <p:nvPr/>
          </p:nvSpPr>
          <p:spPr>
            <a:xfrm>
              <a:off x="6030" y="2882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3" name="Line 19"/>
            <p:cNvSpPr/>
            <p:nvPr/>
          </p:nvSpPr>
          <p:spPr>
            <a:xfrm>
              <a:off x="7830" y="2897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4" name="Line 20"/>
            <p:cNvSpPr/>
            <p:nvPr/>
          </p:nvSpPr>
          <p:spPr>
            <a:xfrm>
              <a:off x="9450" y="2897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5" name="Line 21"/>
            <p:cNvSpPr/>
            <p:nvPr/>
          </p:nvSpPr>
          <p:spPr>
            <a:xfrm>
              <a:off x="2382" y="3209"/>
              <a:ext cx="0" cy="25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6" name="Line 22"/>
            <p:cNvSpPr/>
            <p:nvPr/>
          </p:nvSpPr>
          <p:spPr>
            <a:xfrm>
              <a:off x="2925" y="5228"/>
              <a:ext cx="636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7" name="Line 23"/>
            <p:cNvSpPr/>
            <p:nvPr/>
          </p:nvSpPr>
          <p:spPr>
            <a:xfrm>
              <a:off x="2820" y="5690"/>
              <a:ext cx="0" cy="1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8" name="Line 24"/>
            <p:cNvSpPr/>
            <p:nvPr/>
          </p:nvSpPr>
          <p:spPr>
            <a:xfrm>
              <a:off x="2985" y="5690"/>
              <a:ext cx="0" cy="1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9" name="Line 25"/>
            <p:cNvSpPr/>
            <p:nvPr/>
          </p:nvSpPr>
          <p:spPr>
            <a:xfrm>
              <a:off x="2508" y="5816"/>
              <a:ext cx="31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0" name="Line 26"/>
            <p:cNvSpPr/>
            <p:nvPr/>
          </p:nvSpPr>
          <p:spPr>
            <a:xfrm>
              <a:off x="2490" y="5816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1" name="Line 27"/>
            <p:cNvSpPr/>
            <p:nvPr/>
          </p:nvSpPr>
          <p:spPr>
            <a:xfrm>
              <a:off x="3300" y="5816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2" name="Line 28"/>
            <p:cNvSpPr/>
            <p:nvPr/>
          </p:nvSpPr>
          <p:spPr>
            <a:xfrm>
              <a:off x="2985" y="5816"/>
              <a:ext cx="31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3" name="Rectangle 29"/>
            <p:cNvSpPr/>
            <p:nvPr/>
          </p:nvSpPr>
          <p:spPr>
            <a:xfrm>
              <a:off x="3600" y="6365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 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4" name="Line 30"/>
            <p:cNvSpPr/>
            <p:nvPr/>
          </p:nvSpPr>
          <p:spPr>
            <a:xfrm>
              <a:off x="3315" y="5399"/>
              <a:ext cx="612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5" name="Line 31"/>
            <p:cNvSpPr/>
            <p:nvPr/>
          </p:nvSpPr>
          <p:spPr>
            <a:xfrm>
              <a:off x="6135" y="4955"/>
              <a:ext cx="2700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6" name="Rectangle 32"/>
            <p:cNvSpPr/>
            <p:nvPr/>
          </p:nvSpPr>
          <p:spPr>
            <a:xfrm>
              <a:off x="10128" y="6179"/>
              <a:ext cx="0" cy="61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7" name="Rectangle 33"/>
            <p:cNvSpPr/>
            <p:nvPr/>
          </p:nvSpPr>
          <p:spPr>
            <a:xfrm>
              <a:off x="3180" y="6347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 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8" name="Rectangle 34"/>
            <p:cNvSpPr/>
            <p:nvPr/>
          </p:nvSpPr>
          <p:spPr>
            <a:xfrm>
              <a:off x="2340" y="6329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9" name="Rectangle 35"/>
            <p:cNvSpPr/>
            <p:nvPr/>
          </p:nvSpPr>
          <p:spPr>
            <a:xfrm>
              <a:off x="3960" y="2228"/>
              <a:ext cx="900" cy="6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  C  R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0" name="Freeform 36"/>
            <p:cNvSpPr/>
            <p:nvPr/>
          </p:nvSpPr>
          <p:spPr>
            <a:xfrm>
              <a:off x="4321" y="2767"/>
              <a:ext cx="170" cy="85"/>
            </a:xfrm>
            <a:custGeom>
              <a:avLst/>
              <a:gdLst>
                <a:gd name="txL" fmla="*/ 0 w 360"/>
                <a:gd name="txT" fmla="*/ 0 h 202"/>
                <a:gd name="txR" fmla="*/ 360 w 360"/>
                <a:gd name="txB" fmla="*/ 202 h 202"/>
              </a:gdLst>
              <a:ahLst/>
              <a:cxnLst>
                <a:cxn ang="0">
                  <a:pos x="0" y="36"/>
                </a:cxn>
                <a:cxn ang="0">
                  <a:pos x="37" y="0"/>
                </a:cxn>
                <a:cxn ang="0">
                  <a:pos x="80" y="36"/>
                </a:cxn>
              </a:cxnLst>
              <a:rect l="txL" t="txT" r="txR" b="txB"/>
              <a:pathLst>
                <a:path w="360" h="202">
                  <a:moveTo>
                    <a:pt x="0" y="201"/>
                  </a:moveTo>
                  <a:lnTo>
                    <a:pt x="165" y="0"/>
                  </a:lnTo>
                  <a:lnTo>
                    <a:pt x="360" y="20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1" name="Line 37"/>
            <p:cNvSpPr/>
            <p:nvPr/>
          </p:nvSpPr>
          <p:spPr>
            <a:xfrm>
              <a:off x="4410" y="1760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2" name="Oval 38"/>
            <p:cNvSpPr/>
            <p:nvPr/>
          </p:nvSpPr>
          <p:spPr>
            <a:xfrm>
              <a:off x="4379" y="1961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3" name="Line 39"/>
            <p:cNvSpPr/>
            <p:nvPr/>
          </p:nvSpPr>
          <p:spPr>
            <a:xfrm>
              <a:off x="4410" y="1991"/>
              <a:ext cx="607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4" name="Rectangle 40"/>
            <p:cNvSpPr/>
            <p:nvPr/>
          </p:nvSpPr>
          <p:spPr>
            <a:xfrm>
              <a:off x="4302" y="1448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5" name="Oval 41"/>
            <p:cNvSpPr/>
            <p:nvPr/>
          </p:nvSpPr>
          <p:spPr>
            <a:xfrm>
              <a:off x="3269" y="6128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6" name="Oval 42"/>
            <p:cNvSpPr/>
            <p:nvPr/>
          </p:nvSpPr>
          <p:spPr>
            <a:xfrm>
              <a:off x="410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7" name="Oval 43"/>
            <p:cNvSpPr/>
            <p:nvPr/>
          </p:nvSpPr>
          <p:spPr>
            <a:xfrm>
              <a:off x="4380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8" name="Oval 44"/>
            <p:cNvSpPr/>
            <p:nvPr/>
          </p:nvSpPr>
          <p:spPr>
            <a:xfrm>
              <a:off x="461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09" name="Line 45"/>
            <p:cNvSpPr/>
            <p:nvPr/>
          </p:nvSpPr>
          <p:spPr>
            <a:xfrm>
              <a:off x="4140" y="2913"/>
              <a:ext cx="0" cy="5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0" name="Line 46"/>
            <p:cNvSpPr/>
            <p:nvPr/>
          </p:nvSpPr>
          <p:spPr>
            <a:xfrm>
              <a:off x="4410" y="2905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1" name="Line 47"/>
            <p:cNvSpPr/>
            <p:nvPr/>
          </p:nvSpPr>
          <p:spPr>
            <a:xfrm>
              <a:off x="4650" y="2905"/>
              <a:ext cx="0" cy="4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2" name="Rectangle 48"/>
            <p:cNvSpPr/>
            <p:nvPr/>
          </p:nvSpPr>
          <p:spPr>
            <a:xfrm>
              <a:off x="5580" y="2228"/>
              <a:ext cx="900" cy="6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  C  R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13" name="Freeform 49"/>
            <p:cNvSpPr/>
            <p:nvPr/>
          </p:nvSpPr>
          <p:spPr>
            <a:xfrm>
              <a:off x="5941" y="2767"/>
              <a:ext cx="170" cy="85"/>
            </a:xfrm>
            <a:custGeom>
              <a:avLst/>
              <a:gdLst>
                <a:gd name="txL" fmla="*/ 0 w 360"/>
                <a:gd name="txT" fmla="*/ 0 h 202"/>
                <a:gd name="txR" fmla="*/ 360 w 360"/>
                <a:gd name="txB" fmla="*/ 202 h 202"/>
              </a:gdLst>
              <a:ahLst/>
              <a:cxnLst>
                <a:cxn ang="0">
                  <a:pos x="0" y="36"/>
                </a:cxn>
                <a:cxn ang="0">
                  <a:pos x="37" y="0"/>
                </a:cxn>
                <a:cxn ang="0">
                  <a:pos x="80" y="36"/>
                </a:cxn>
              </a:cxnLst>
              <a:rect l="txL" t="txT" r="txR" b="txB"/>
              <a:pathLst>
                <a:path w="360" h="202">
                  <a:moveTo>
                    <a:pt x="0" y="201"/>
                  </a:moveTo>
                  <a:lnTo>
                    <a:pt x="165" y="0"/>
                  </a:lnTo>
                  <a:lnTo>
                    <a:pt x="360" y="20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14" name="Line 50"/>
            <p:cNvSpPr/>
            <p:nvPr/>
          </p:nvSpPr>
          <p:spPr>
            <a:xfrm>
              <a:off x="6030" y="1760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5" name="Oval 51"/>
            <p:cNvSpPr/>
            <p:nvPr/>
          </p:nvSpPr>
          <p:spPr>
            <a:xfrm>
              <a:off x="5999" y="1961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16" name="Line 52"/>
            <p:cNvSpPr/>
            <p:nvPr/>
          </p:nvSpPr>
          <p:spPr>
            <a:xfrm>
              <a:off x="6030" y="1991"/>
              <a:ext cx="720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7" name="Rectangle 53"/>
            <p:cNvSpPr/>
            <p:nvPr/>
          </p:nvSpPr>
          <p:spPr>
            <a:xfrm>
              <a:off x="5922" y="1448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18" name="Oval 54"/>
            <p:cNvSpPr/>
            <p:nvPr/>
          </p:nvSpPr>
          <p:spPr>
            <a:xfrm>
              <a:off x="572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19" name="Oval 55"/>
            <p:cNvSpPr/>
            <p:nvPr/>
          </p:nvSpPr>
          <p:spPr>
            <a:xfrm>
              <a:off x="6000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0" name="Oval 56"/>
            <p:cNvSpPr/>
            <p:nvPr/>
          </p:nvSpPr>
          <p:spPr>
            <a:xfrm>
              <a:off x="623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1" name="Oval 57"/>
            <p:cNvSpPr/>
            <p:nvPr/>
          </p:nvSpPr>
          <p:spPr>
            <a:xfrm>
              <a:off x="5730" y="3491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2" name="Rectangle 58"/>
            <p:cNvSpPr/>
            <p:nvPr/>
          </p:nvSpPr>
          <p:spPr>
            <a:xfrm>
              <a:off x="7380" y="2228"/>
              <a:ext cx="900" cy="6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  C  R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3" name="Freeform 59"/>
            <p:cNvSpPr/>
            <p:nvPr/>
          </p:nvSpPr>
          <p:spPr>
            <a:xfrm>
              <a:off x="7741" y="2767"/>
              <a:ext cx="170" cy="85"/>
            </a:xfrm>
            <a:custGeom>
              <a:avLst/>
              <a:gdLst>
                <a:gd name="txL" fmla="*/ 0 w 360"/>
                <a:gd name="txT" fmla="*/ 0 h 202"/>
                <a:gd name="txR" fmla="*/ 360 w 360"/>
                <a:gd name="txB" fmla="*/ 202 h 202"/>
              </a:gdLst>
              <a:ahLst/>
              <a:cxnLst>
                <a:cxn ang="0">
                  <a:pos x="0" y="36"/>
                </a:cxn>
                <a:cxn ang="0">
                  <a:pos x="37" y="0"/>
                </a:cxn>
                <a:cxn ang="0">
                  <a:pos x="80" y="36"/>
                </a:cxn>
              </a:cxnLst>
              <a:rect l="txL" t="txT" r="txR" b="txB"/>
              <a:pathLst>
                <a:path w="360" h="202">
                  <a:moveTo>
                    <a:pt x="0" y="201"/>
                  </a:moveTo>
                  <a:lnTo>
                    <a:pt x="165" y="0"/>
                  </a:lnTo>
                  <a:lnTo>
                    <a:pt x="360" y="20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24" name="Line 60"/>
            <p:cNvSpPr/>
            <p:nvPr/>
          </p:nvSpPr>
          <p:spPr>
            <a:xfrm>
              <a:off x="7830" y="1760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25" name="Oval 61"/>
            <p:cNvSpPr/>
            <p:nvPr/>
          </p:nvSpPr>
          <p:spPr>
            <a:xfrm>
              <a:off x="7799" y="1961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6" name="Line 62"/>
            <p:cNvSpPr/>
            <p:nvPr/>
          </p:nvSpPr>
          <p:spPr>
            <a:xfrm>
              <a:off x="7842" y="1991"/>
              <a:ext cx="607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27" name="Rectangle 63"/>
            <p:cNvSpPr/>
            <p:nvPr/>
          </p:nvSpPr>
          <p:spPr>
            <a:xfrm>
              <a:off x="7722" y="1448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8" name="Oval 64"/>
            <p:cNvSpPr/>
            <p:nvPr/>
          </p:nvSpPr>
          <p:spPr>
            <a:xfrm>
              <a:off x="752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29" name="Oval 65"/>
            <p:cNvSpPr/>
            <p:nvPr/>
          </p:nvSpPr>
          <p:spPr>
            <a:xfrm>
              <a:off x="7800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30" name="Oval 66"/>
            <p:cNvSpPr/>
            <p:nvPr/>
          </p:nvSpPr>
          <p:spPr>
            <a:xfrm>
              <a:off x="8055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31" name="Line 67"/>
            <p:cNvSpPr/>
            <p:nvPr/>
          </p:nvSpPr>
          <p:spPr>
            <a:xfrm>
              <a:off x="7560" y="2897"/>
              <a:ext cx="0" cy="5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32" name="Oval 68"/>
            <p:cNvSpPr/>
            <p:nvPr/>
          </p:nvSpPr>
          <p:spPr>
            <a:xfrm>
              <a:off x="7530" y="3491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33" name="Rectangle 69"/>
            <p:cNvSpPr/>
            <p:nvPr/>
          </p:nvSpPr>
          <p:spPr>
            <a:xfrm>
              <a:off x="9000" y="2228"/>
              <a:ext cx="900" cy="6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fontAlgn="base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  C  R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34" name="Freeform 70"/>
            <p:cNvSpPr/>
            <p:nvPr/>
          </p:nvSpPr>
          <p:spPr>
            <a:xfrm>
              <a:off x="9361" y="2767"/>
              <a:ext cx="170" cy="85"/>
            </a:xfrm>
            <a:custGeom>
              <a:avLst/>
              <a:gdLst>
                <a:gd name="txL" fmla="*/ 0 w 360"/>
                <a:gd name="txT" fmla="*/ 0 h 202"/>
                <a:gd name="txR" fmla="*/ 360 w 360"/>
                <a:gd name="txB" fmla="*/ 202 h 202"/>
              </a:gdLst>
              <a:ahLst/>
              <a:cxnLst>
                <a:cxn ang="0">
                  <a:pos x="0" y="36"/>
                </a:cxn>
                <a:cxn ang="0">
                  <a:pos x="37" y="0"/>
                </a:cxn>
                <a:cxn ang="0">
                  <a:pos x="80" y="36"/>
                </a:cxn>
              </a:cxnLst>
              <a:rect l="txL" t="txT" r="txR" b="txB"/>
              <a:pathLst>
                <a:path w="360" h="202">
                  <a:moveTo>
                    <a:pt x="0" y="201"/>
                  </a:moveTo>
                  <a:lnTo>
                    <a:pt x="165" y="0"/>
                  </a:lnTo>
                  <a:lnTo>
                    <a:pt x="360" y="20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35" name="Line 71"/>
            <p:cNvSpPr/>
            <p:nvPr/>
          </p:nvSpPr>
          <p:spPr>
            <a:xfrm>
              <a:off x="9450" y="1760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36" name="Oval 72"/>
            <p:cNvSpPr/>
            <p:nvPr/>
          </p:nvSpPr>
          <p:spPr>
            <a:xfrm>
              <a:off x="9419" y="1961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37" name="Line 73"/>
            <p:cNvSpPr/>
            <p:nvPr/>
          </p:nvSpPr>
          <p:spPr>
            <a:xfrm>
              <a:off x="9450" y="1991"/>
              <a:ext cx="629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38" name="Rectangle 74"/>
            <p:cNvSpPr/>
            <p:nvPr/>
          </p:nvSpPr>
          <p:spPr>
            <a:xfrm>
              <a:off x="9342" y="1448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39" name="Oval 75"/>
            <p:cNvSpPr/>
            <p:nvPr/>
          </p:nvSpPr>
          <p:spPr>
            <a:xfrm>
              <a:off x="914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40" name="Oval 76"/>
            <p:cNvSpPr/>
            <p:nvPr/>
          </p:nvSpPr>
          <p:spPr>
            <a:xfrm>
              <a:off x="9420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41" name="Oval 77"/>
            <p:cNvSpPr/>
            <p:nvPr/>
          </p:nvSpPr>
          <p:spPr>
            <a:xfrm>
              <a:off x="9659" y="2852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42" name="Rectangle 78"/>
            <p:cNvSpPr/>
            <p:nvPr/>
          </p:nvSpPr>
          <p:spPr>
            <a:xfrm>
              <a:off x="3675" y="3557"/>
              <a:ext cx="900" cy="78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≥1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43" name="Line 79"/>
            <p:cNvSpPr/>
            <p:nvPr/>
          </p:nvSpPr>
          <p:spPr>
            <a:xfrm>
              <a:off x="3675" y="3944"/>
              <a:ext cx="9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4" name="Line 80"/>
            <p:cNvSpPr/>
            <p:nvPr/>
          </p:nvSpPr>
          <p:spPr>
            <a:xfrm>
              <a:off x="3990" y="3959"/>
              <a:ext cx="0" cy="3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5" name="Line 81"/>
            <p:cNvSpPr/>
            <p:nvPr/>
          </p:nvSpPr>
          <p:spPr>
            <a:xfrm>
              <a:off x="4290" y="3944"/>
              <a:ext cx="0" cy="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6" name="Rectangle 82"/>
            <p:cNvSpPr/>
            <p:nvPr/>
          </p:nvSpPr>
          <p:spPr>
            <a:xfrm>
              <a:off x="5310" y="3557"/>
              <a:ext cx="900" cy="78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≥1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47" name="Line 83"/>
            <p:cNvSpPr/>
            <p:nvPr/>
          </p:nvSpPr>
          <p:spPr>
            <a:xfrm>
              <a:off x="5310" y="3959"/>
              <a:ext cx="9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8" name="Line 84"/>
            <p:cNvSpPr/>
            <p:nvPr/>
          </p:nvSpPr>
          <p:spPr>
            <a:xfrm>
              <a:off x="5610" y="3959"/>
              <a:ext cx="0" cy="3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49" name="Line 85"/>
            <p:cNvSpPr/>
            <p:nvPr/>
          </p:nvSpPr>
          <p:spPr>
            <a:xfrm>
              <a:off x="5925" y="3959"/>
              <a:ext cx="0" cy="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0" name="Rectangle 86"/>
            <p:cNvSpPr/>
            <p:nvPr/>
          </p:nvSpPr>
          <p:spPr>
            <a:xfrm>
              <a:off x="7110" y="3557"/>
              <a:ext cx="900" cy="78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≥1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51" name="Line 87"/>
            <p:cNvSpPr/>
            <p:nvPr/>
          </p:nvSpPr>
          <p:spPr>
            <a:xfrm>
              <a:off x="7110" y="3959"/>
              <a:ext cx="9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2" name="Line 88"/>
            <p:cNvSpPr/>
            <p:nvPr/>
          </p:nvSpPr>
          <p:spPr>
            <a:xfrm>
              <a:off x="7425" y="3959"/>
              <a:ext cx="0" cy="3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3" name="Line 89"/>
            <p:cNvSpPr/>
            <p:nvPr/>
          </p:nvSpPr>
          <p:spPr>
            <a:xfrm>
              <a:off x="7725" y="3959"/>
              <a:ext cx="0" cy="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4" name="Rectangle 90"/>
            <p:cNvSpPr/>
            <p:nvPr/>
          </p:nvSpPr>
          <p:spPr>
            <a:xfrm>
              <a:off x="8730" y="3566"/>
              <a:ext cx="900" cy="78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≥1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55" name="Line 91"/>
            <p:cNvSpPr/>
            <p:nvPr/>
          </p:nvSpPr>
          <p:spPr>
            <a:xfrm>
              <a:off x="8730" y="3968"/>
              <a:ext cx="9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6" name="Line 92"/>
            <p:cNvSpPr/>
            <p:nvPr/>
          </p:nvSpPr>
          <p:spPr>
            <a:xfrm>
              <a:off x="9060" y="3967"/>
              <a:ext cx="0" cy="3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7" name="Line 93"/>
            <p:cNvSpPr/>
            <p:nvPr/>
          </p:nvSpPr>
          <p:spPr>
            <a:xfrm>
              <a:off x="9345" y="3968"/>
              <a:ext cx="0" cy="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58" name="Rectangle 94"/>
            <p:cNvSpPr/>
            <p:nvPr/>
          </p:nvSpPr>
          <p:spPr>
            <a:xfrm>
              <a:off x="1932" y="3542"/>
              <a:ext cx="900" cy="78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≥1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59" name="Line 95"/>
            <p:cNvSpPr/>
            <p:nvPr/>
          </p:nvSpPr>
          <p:spPr>
            <a:xfrm>
              <a:off x="1932" y="3944"/>
              <a:ext cx="90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0" name="Line 96"/>
            <p:cNvSpPr/>
            <p:nvPr/>
          </p:nvSpPr>
          <p:spPr>
            <a:xfrm>
              <a:off x="2412" y="3944"/>
              <a:ext cx="0" cy="3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1" name="Oval 97"/>
            <p:cNvSpPr/>
            <p:nvPr/>
          </p:nvSpPr>
          <p:spPr>
            <a:xfrm>
              <a:off x="2352" y="3476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62" name="Line 98"/>
            <p:cNvSpPr/>
            <p:nvPr/>
          </p:nvSpPr>
          <p:spPr>
            <a:xfrm>
              <a:off x="2376" y="3204"/>
              <a:ext cx="7074" cy="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3" name="Line 99"/>
            <p:cNvSpPr/>
            <p:nvPr/>
          </p:nvSpPr>
          <p:spPr>
            <a:xfrm>
              <a:off x="4650" y="3401"/>
              <a:ext cx="55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4" name="Oval 100"/>
            <p:cNvSpPr/>
            <p:nvPr/>
          </p:nvSpPr>
          <p:spPr>
            <a:xfrm>
              <a:off x="6239" y="3373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65" name="Oval 101"/>
            <p:cNvSpPr/>
            <p:nvPr/>
          </p:nvSpPr>
          <p:spPr>
            <a:xfrm>
              <a:off x="8054" y="3366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66" name="Oval 102"/>
            <p:cNvSpPr/>
            <p:nvPr/>
          </p:nvSpPr>
          <p:spPr>
            <a:xfrm>
              <a:off x="9659" y="3373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67" name="Line 103"/>
            <p:cNvSpPr/>
            <p:nvPr/>
          </p:nvSpPr>
          <p:spPr>
            <a:xfrm>
              <a:off x="2125" y="4322"/>
              <a:ext cx="0" cy="20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" name="Line 104"/>
            <p:cNvSpPr/>
            <p:nvPr/>
          </p:nvSpPr>
          <p:spPr>
            <a:xfrm>
              <a:off x="3765" y="4337"/>
              <a:ext cx="0" cy="202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1369" name="Line 105"/>
            <p:cNvSpPr/>
            <p:nvPr/>
          </p:nvSpPr>
          <p:spPr>
            <a:xfrm>
              <a:off x="4080" y="4337"/>
              <a:ext cx="0" cy="20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0" name="Line 106"/>
            <p:cNvSpPr/>
            <p:nvPr/>
          </p:nvSpPr>
          <p:spPr>
            <a:xfrm>
              <a:off x="5025" y="1991"/>
              <a:ext cx="0" cy="2653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1371" name="Line 107"/>
            <p:cNvSpPr/>
            <p:nvPr/>
          </p:nvSpPr>
          <p:spPr>
            <a:xfrm>
              <a:off x="5025" y="4649"/>
              <a:ext cx="360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2" name="Line 108"/>
            <p:cNvSpPr/>
            <p:nvPr/>
          </p:nvSpPr>
          <p:spPr>
            <a:xfrm>
              <a:off x="5385" y="4346"/>
              <a:ext cx="0" cy="289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3" name="Line 109"/>
            <p:cNvSpPr/>
            <p:nvPr/>
          </p:nvSpPr>
          <p:spPr>
            <a:xfrm>
              <a:off x="3915" y="4337"/>
              <a:ext cx="0" cy="7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4" name="Line 110"/>
            <p:cNvSpPr/>
            <p:nvPr/>
          </p:nvSpPr>
          <p:spPr>
            <a:xfrm>
              <a:off x="4257" y="4343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5" name="Line 111"/>
            <p:cNvSpPr/>
            <p:nvPr/>
          </p:nvSpPr>
          <p:spPr>
            <a:xfrm>
              <a:off x="4395" y="4346"/>
              <a:ext cx="0" cy="10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76" name="Line 112"/>
            <p:cNvSpPr/>
            <p:nvPr/>
          </p:nvSpPr>
          <p:spPr>
            <a:xfrm>
              <a:off x="4530" y="4346"/>
              <a:ext cx="0" cy="459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1377" name="Oval 113"/>
            <p:cNvSpPr/>
            <p:nvPr/>
          </p:nvSpPr>
          <p:spPr>
            <a:xfrm>
              <a:off x="3880" y="5036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78" name="Oval 114"/>
            <p:cNvSpPr/>
            <p:nvPr/>
          </p:nvSpPr>
          <p:spPr>
            <a:xfrm>
              <a:off x="4223" y="5192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79" name="Oval 115"/>
            <p:cNvSpPr/>
            <p:nvPr/>
          </p:nvSpPr>
          <p:spPr>
            <a:xfrm>
              <a:off x="4365" y="5378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80" name="Line 116"/>
            <p:cNvSpPr/>
            <p:nvPr/>
          </p:nvSpPr>
          <p:spPr>
            <a:xfrm>
              <a:off x="5505" y="4337"/>
              <a:ext cx="0" cy="7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81" name="Oval 117"/>
            <p:cNvSpPr/>
            <p:nvPr/>
          </p:nvSpPr>
          <p:spPr>
            <a:xfrm>
              <a:off x="5478" y="5036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82" name="Line 118"/>
            <p:cNvSpPr/>
            <p:nvPr/>
          </p:nvSpPr>
          <p:spPr>
            <a:xfrm>
              <a:off x="5655" y="4346"/>
              <a:ext cx="0" cy="20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83" name="Line 119"/>
            <p:cNvSpPr/>
            <p:nvPr/>
          </p:nvSpPr>
          <p:spPr>
            <a:xfrm>
              <a:off x="5820" y="4346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84" name="Oval 120"/>
            <p:cNvSpPr/>
            <p:nvPr/>
          </p:nvSpPr>
          <p:spPr>
            <a:xfrm>
              <a:off x="5793" y="5195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85" name="Line 121"/>
            <p:cNvSpPr/>
            <p:nvPr/>
          </p:nvSpPr>
          <p:spPr>
            <a:xfrm>
              <a:off x="5985" y="4334"/>
              <a:ext cx="0" cy="10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86" name="Oval 122"/>
            <p:cNvSpPr/>
            <p:nvPr/>
          </p:nvSpPr>
          <p:spPr>
            <a:xfrm>
              <a:off x="5955" y="5374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87" name="Line 123"/>
            <p:cNvSpPr/>
            <p:nvPr/>
          </p:nvSpPr>
          <p:spPr>
            <a:xfrm>
              <a:off x="6138" y="4337"/>
              <a:ext cx="0" cy="624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1388" name="Line 124"/>
            <p:cNvSpPr/>
            <p:nvPr/>
          </p:nvSpPr>
          <p:spPr>
            <a:xfrm>
              <a:off x="7200" y="4337"/>
              <a:ext cx="0" cy="471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89" name="Line 125"/>
            <p:cNvSpPr/>
            <p:nvPr/>
          </p:nvSpPr>
          <p:spPr>
            <a:xfrm>
              <a:off x="7320" y="4343"/>
              <a:ext cx="0" cy="7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90" name="Oval 126"/>
            <p:cNvSpPr/>
            <p:nvPr/>
          </p:nvSpPr>
          <p:spPr>
            <a:xfrm>
              <a:off x="7293" y="5027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91" name="Line 127"/>
            <p:cNvSpPr/>
            <p:nvPr/>
          </p:nvSpPr>
          <p:spPr>
            <a:xfrm>
              <a:off x="7470" y="4337"/>
              <a:ext cx="0" cy="20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92" name="Line 128"/>
            <p:cNvSpPr/>
            <p:nvPr/>
          </p:nvSpPr>
          <p:spPr>
            <a:xfrm>
              <a:off x="7635" y="4337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93" name="Oval 129"/>
            <p:cNvSpPr/>
            <p:nvPr/>
          </p:nvSpPr>
          <p:spPr>
            <a:xfrm>
              <a:off x="7608" y="5194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94" name="Line 130"/>
            <p:cNvSpPr/>
            <p:nvPr/>
          </p:nvSpPr>
          <p:spPr>
            <a:xfrm>
              <a:off x="7800" y="4340"/>
              <a:ext cx="0" cy="10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95" name="Oval 131"/>
            <p:cNvSpPr/>
            <p:nvPr/>
          </p:nvSpPr>
          <p:spPr>
            <a:xfrm>
              <a:off x="7770" y="5365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96" name="Line 132"/>
            <p:cNvSpPr/>
            <p:nvPr/>
          </p:nvSpPr>
          <p:spPr>
            <a:xfrm>
              <a:off x="7950" y="4343"/>
              <a:ext cx="0" cy="459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1397" name="Line 133"/>
            <p:cNvSpPr/>
            <p:nvPr/>
          </p:nvSpPr>
          <p:spPr>
            <a:xfrm>
              <a:off x="6765" y="1991"/>
              <a:ext cx="0" cy="280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1398" name="Oval 134"/>
            <p:cNvSpPr/>
            <p:nvPr/>
          </p:nvSpPr>
          <p:spPr>
            <a:xfrm>
              <a:off x="6735" y="4791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99" name="Line 135"/>
            <p:cNvSpPr/>
            <p:nvPr/>
          </p:nvSpPr>
          <p:spPr>
            <a:xfrm>
              <a:off x="4530" y="4820"/>
              <a:ext cx="2674" cy="4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0" name="Line 136"/>
            <p:cNvSpPr/>
            <p:nvPr/>
          </p:nvSpPr>
          <p:spPr>
            <a:xfrm>
              <a:off x="2487" y="4331"/>
              <a:ext cx="0" cy="7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1" name="Line 137"/>
            <p:cNvSpPr/>
            <p:nvPr/>
          </p:nvSpPr>
          <p:spPr>
            <a:xfrm>
              <a:off x="2685" y="4331"/>
              <a:ext cx="0" cy="5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2" name="Line 138"/>
            <p:cNvSpPr/>
            <p:nvPr/>
          </p:nvSpPr>
          <p:spPr>
            <a:xfrm>
              <a:off x="8832" y="4346"/>
              <a:ext cx="0" cy="61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3" name="Line 139"/>
            <p:cNvSpPr/>
            <p:nvPr/>
          </p:nvSpPr>
          <p:spPr>
            <a:xfrm>
              <a:off x="8970" y="4345"/>
              <a:ext cx="0" cy="7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4" name="Line 140"/>
            <p:cNvSpPr/>
            <p:nvPr/>
          </p:nvSpPr>
          <p:spPr>
            <a:xfrm>
              <a:off x="9285" y="4345"/>
              <a:ext cx="0" cy="87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5" name="Line 141"/>
            <p:cNvSpPr/>
            <p:nvPr/>
          </p:nvSpPr>
          <p:spPr>
            <a:xfrm>
              <a:off x="9435" y="4345"/>
              <a:ext cx="0" cy="10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6" name="Line 142"/>
            <p:cNvSpPr/>
            <p:nvPr/>
          </p:nvSpPr>
          <p:spPr>
            <a:xfrm>
              <a:off x="9135" y="4345"/>
              <a:ext cx="0" cy="20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7" name="Line 143"/>
            <p:cNvSpPr/>
            <p:nvPr/>
          </p:nvSpPr>
          <p:spPr>
            <a:xfrm>
              <a:off x="9570" y="4345"/>
              <a:ext cx="0" cy="202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1408" name="Line 144"/>
            <p:cNvSpPr/>
            <p:nvPr/>
          </p:nvSpPr>
          <p:spPr>
            <a:xfrm>
              <a:off x="2488" y="5064"/>
              <a:ext cx="6482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09" name="Line 145"/>
            <p:cNvSpPr/>
            <p:nvPr/>
          </p:nvSpPr>
          <p:spPr>
            <a:xfrm>
              <a:off x="2910" y="5222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10" name="Rectangle 146"/>
            <p:cNvSpPr/>
            <p:nvPr/>
          </p:nvSpPr>
          <p:spPr>
            <a:xfrm>
              <a:off x="2640" y="5423"/>
              <a:ext cx="540" cy="255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≥1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1" name="Oval 147"/>
            <p:cNvSpPr/>
            <p:nvPr/>
          </p:nvSpPr>
          <p:spPr>
            <a:xfrm>
              <a:off x="2880" y="5363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2" name="Rectangle 148"/>
            <p:cNvSpPr/>
            <p:nvPr/>
          </p:nvSpPr>
          <p:spPr>
            <a:xfrm>
              <a:off x="2322" y="5972"/>
              <a:ext cx="306" cy="15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3" name="Rectangle 149"/>
            <p:cNvSpPr/>
            <p:nvPr/>
          </p:nvSpPr>
          <p:spPr>
            <a:xfrm>
              <a:off x="3150" y="5972"/>
              <a:ext cx="306" cy="156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4" name="Oval 150"/>
            <p:cNvSpPr/>
            <p:nvPr/>
          </p:nvSpPr>
          <p:spPr>
            <a:xfrm>
              <a:off x="2453" y="6128"/>
              <a:ext cx="57" cy="57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5" name="Oval 151"/>
            <p:cNvSpPr/>
            <p:nvPr/>
          </p:nvSpPr>
          <p:spPr>
            <a:xfrm>
              <a:off x="2459" y="5780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6" name="Line 152"/>
            <p:cNvSpPr/>
            <p:nvPr/>
          </p:nvSpPr>
          <p:spPr>
            <a:xfrm>
              <a:off x="2484" y="6181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17" name="Line 153"/>
            <p:cNvSpPr/>
            <p:nvPr/>
          </p:nvSpPr>
          <p:spPr>
            <a:xfrm>
              <a:off x="3300" y="6188"/>
              <a:ext cx="0" cy="1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18" name="Rectangle 154"/>
            <p:cNvSpPr/>
            <p:nvPr/>
          </p:nvSpPr>
          <p:spPr>
            <a:xfrm>
              <a:off x="5535" y="6344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19" name="Rectangle 155"/>
            <p:cNvSpPr/>
            <p:nvPr/>
          </p:nvSpPr>
          <p:spPr>
            <a:xfrm>
              <a:off x="3975" y="6365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20" name="Rectangle 156"/>
            <p:cNvSpPr/>
            <p:nvPr/>
          </p:nvSpPr>
          <p:spPr>
            <a:xfrm>
              <a:off x="7365" y="6314"/>
              <a:ext cx="540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21" name="Rectangle 157"/>
            <p:cNvSpPr/>
            <p:nvPr/>
          </p:nvSpPr>
          <p:spPr>
            <a:xfrm>
              <a:off x="9000" y="6320"/>
              <a:ext cx="36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22" name="Rectangle 158"/>
            <p:cNvSpPr/>
            <p:nvPr/>
          </p:nvSpPr>
          <p:spPr>
            <a:xfrm>
              <a:off x="9480" y="6329"/>
              <a:ext cx="36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23" name="Line 159"/>
            <p:cNvSpPr/>
            <p:nvPr/>
          </p:nvSpPr>
          <p:spPr>
            <a:xfrm>
              <a:off x="10245" y="3395"/>
              <a:ext cx="0" cy="28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24" name="Line 160"/>
            <p:cNvSpPr/>
            <p:nvPr/>
          </p:nvSpPr>
          <p:spPr>
            <a:xfrm>
              <a:off x="7965" y="4799"/>
              <a:ext cx="2103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25" name="Line 161"/>
            <p:cNvSpPr/>
            <p:nvPr/>
          </p:nvSpPr>
          <p:spPr>
            <a:xfrm>
              <a:off x="10080" y="1991"/>
              <a:ext cx="0" cy="280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26" name="Line 162"/>
            <p:cNvSpPr/>
            <p:nvPr/>
          </p:nvSpPr>
          <p:spPr>
            <a:xfrm>
              <a:off x="3300" y="4910"/>
              <a:ext cx="0" cy="93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27" name="Line 163"/>
            <p:cNvSpPr/>
            <p:nvPr/>
          </p:nvSpPr>
          <p:spPr>
            <a:xfrm flipV="1">
              <a:off x="2684" y="4910"/>
              <a:ext cx="615" cy="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28" name="Oval 164"/>
            <p:cNvSpPr/>
            <p:nvPr/>
          </p:nvSpPr>
          <p:spPr>
            <a:xfrm>
              <a:off x="3269" y="5788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29" name="Line 165"/>
            <p:cNvSpPr/>
            <p:nvPr/>
          </p:nvSpPr>
          <p:spPr>
            <a:xfrm>
              <a:off x="2490" y="5075"/>
              <a:ext cx="0" cy="7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430" name="Oval 166"/>
            <p:cNvSpPr/>
            <p:nvPr/>
          </p:nvSpPr>
          <p:spPr>
            <a:xfrm>
              <a:off x="2460" y="5032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31" name="Oval 167"/>
            <p:cNvSpPr/>
            <p:nvPr/>
          </p:nvSpPr>
          <p:spPr>
            <a:xfrm>
              <a:off x="3270" y="5378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32" name="Line 168"/>
            <p:cNvSpPr/>
            <p:nvPr/>
          </p:nvSpPr>
          <p:spPr>
            <a:xfrm>
              <a:off x="8460" y="1991"/>
              <a:ext cx="0" cy="296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1433" name="Oval 169"/>
            <p:cNvSpPr/>
            <p:nvPr/>
          </p:nvSpPr>
          <p:spPr>
            <a:xfrm>
              <a:off x="8430" y="4925"/>
              <a:ext cx="57" cy="5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34" name="Rectangle 170"/>
            <p:cNvSpPr/>
            <p:nvPr/>
          </p:nvSpPr>
          <p:spPr>
            <a:xfrm>
              <a:off x="1964" y="6360"/>
              <a:ext cx="36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lang="en-US" altLang="zh-CN" sz="4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68" name="Rectangle 173"/>
          <p:cNvSpPr/>
          <p:nvPr/>
        </p:nvSpPr>
        <p:spPr>
          <a:xfrm>
            <a:off x="1524001" y="3036602"/>
            <a:ext cx="184731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69" name="Object 172"/>
          <p:cNvGraphicFramePr>
            <a:graphicFrameLocks noChangeAspect="1"/>
          </p:cNvGraphicFramePr>
          <p:nvPr/>
        </p:nvGraphicFramePr>
        <p:xfrm>
          <a:off x="9809164" y="6165850"/>
          <a:ext cx="390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7800" imgH="203200" progId="Equation.3">
                  <p:embed/>
                </p:oleObj>
              </mc:Choice>
              <mc:Fallback>
                <p:oleObj r:id="rId2" imgW="177800" imgH="203200" progId="Equation.3">
                  <p:embed/>
                  <p:pic>
                    <p:nvPicPr>
                      <p:cNvPr id="11269" name="Object 1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09164" y="6165850"/>
                        <a:ext cx="3905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Line 174"/>
          <p:cNvSpPr/>
          <p:nvPr/>
        </p:nvSpPr>
        <p:spPr>
          <a:xfrm>
            <a:off x="6672263" y="4689475"/>
            <a:ext cx="4318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1" name="Line 175"/>
          <p:cNvSpPr/>
          <p:nvPr/>
        </p:nvSpPr>
        <p:spPr>
          <a:xfrm>
            <a:off x="8220075" y="4833938"/>
            <a:ext cx="4318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/>
          <p:nvPr/>
        </p:nvSpPr>
        <p:spPr>
          <a:xfrm>
            <a:off x="3387726" y="2241264"/>
            <a:ext cx="184731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Object 6"/>
          <p:cNvGraphicFramePr>
            <a:graphicFrameLocks noChangeAspect="1"/>
          </p:cNvGraphicFramePr>
          <p:nvPr/>
        </p:nvGraphicFramePr>
        <p:xfrm>
          <a:off x="1631950" y="2563814"/>
          <a:ext cx="457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7800" imgH="203200" progId="Equation.3">
                  <p:embed/>
                </p:oleObj>
              </mc:Choice>
              <mc:Fallback>
                <p:oleObj r:id="rId2" imgW="177800" imgH="203200" progId="Equation.3">
                  <p:embed/>
                  <p:pic>
                    <p:nvPicPr>
                      <p:cNvPr id="12291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950" y="2563814"/>
                        <a:ext cx="45720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294" name="Group 710"/>
          <p:cNvGraphicFramePr>
            <a:graphicFrameLocks noGrp="1"/>
          </p:cNvGraphicFramePr>
          <p:nvPr/>
        </p:nvGraphicFramePr>
        <p:xfrm>
          <a:off x="1524000" y="2276475"/>
          <a:ext cx="9144000" cy="4023230"/>
        </p:xfrm>
        <a:graphic>
          <a:graphicData uri="http://schemas.openxmlformats.org/drawingml/2006/table">
            <a:tbl>
              <a:tblPr/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097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6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  持</a:t>
                      </a:r>
                      <a:endParaRPr kumimoji="1" lang="zh-CN" altLang="en-US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3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1" lang="en-US" altLang="zh-CN" sz="2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8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  持</a:t>
                      </a:r>
                      <a:endParaRPr kumimoji="1" lang="zh-CN" altLang="en-US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63" name="Rectangle 711"/>
          <p:cNvSpPr/>
          <p:nvPr/>
        </p:nvSpPr>
        <p:spPr>
          <a:xfrm>
            <a:off x="4224338" y="1341438"/>
            <a:ext cx="352901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74LS194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功能表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F2416D-E069-BA8B-3506-98B1E6F7F48A}"/>
              </a:ext>
            </a:extLst>
          </p:cNvPr>
          <p:cNvSpPr txBox="1"/>
          <p:nvPr/>
        </p:nvSpPr>
        <p:spPr>
          <a:xfrm>
            <a:off x="4578136" y="2875002"/>
            <a:ext cx="38232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艰苦奋斗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6C1C92-D14A-AAB5-170A-F512BFEEFF49}"/>
              </a:ext>
            </a:extLst>
          </p:cNvPr>
          <p:cNvSpPr/>
          <p:nvPr/>
        </p:nvSpPr>
        <p:spPr>
          <a:xfrm>
            <a:off x="3811022" y="2387259"/>
            <a:ext cx="5044543" cy="2221563"/>
          </a:xfrm>
          <a:prstGeom prst="rect">
            <a:avLst/>
          </a:prstGeom>
          <a:noFill/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EFDB06-A3F0-02E5-8BBD-EEB1984FD7C9}"/>
              </a:ext>
            </a:extLst>
          </p:cNvPr>
          <p:cNvSpPr txBox="1"/>
          <p:nvPr/>
        </p:nvSpPr>
        <p:spPr>
          <a:xfrm>
            <a:off x="1006453" y="945085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下定决心，不怕牺牲，排除万难，去争取胜利</a:t>
            </a:r>
            <a:endParaRPr lang="zh-CN" altLang="en-US" dirty="0">
              <a:solidFill>
                <a:schemeClr val="bg2"/>
              </a:solidFill>
              <a:latin typeface="方正舒体" panose="02010601030101010101" pitchFamily="2" charset="-122"/>
              <a:ea typeface="方正舒体" panose="0201060103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C3AC8D-FFEC-961A-45CC-4D126A30A11E}"/>
              </a:ext>
            </a:extLst>
          </p:cNvPr>
          <p:cNvSpPr txBox="1"/>
          <p:nvPr/>
        </p:nvSpPr>
        <p:spPr>
          <a:xfrm>
            <a:off x="4871447" y="5558972"/>
            <a:ext cx="6825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我们要振作精神，下苦功学习。下苦功，三个字，一个叫下，一个叫苦，一个叫功，一定要振作精神，下苦功。</a:t>
            </a:r>
            <a:endParaRPr lang="zh-CN" altLang="en-US" sz="2000" dirty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BF89C0-CD80-4079-4FE9-CD4CDCF9DA21}"/>
              </a:ext>
            </a:extLst>
          </p:cNvPr>
          <p:cNvSpPr txBox="1"/>
          <p:nvPr/>
        </p:nvSpPr>
        <p:spPr>
          <a:xfrm>
            <a:off x="583007" y="509977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世上无难事，只要肯登攀</a:t>
            </a:r>
            <a:endParaRPr lang="zh-CN" altLang="en-US" dirty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3191AF-21E5-587E-5F88-6A471097633F}"/>
              </a:ext>
            </a:extLst>
          </p:cNvPr>
          <p:cNvSpPr txBox="1"/>
          <p:nvPr/>
        </p:nvSpPr>
        <p:spPr>
          <a:xfrm>
            <a:off x="6965396" y="1542852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青年人应具备生机勃勃的朝气，敢作敢为的锐气</a:t>
            </a:r>
            <a:endParaRPr lang="zh-CN" altLang="en-US" dirty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96683D-ADD2-AE82-1A4B-7CEEE9729FA0}"/>
              </a:ext>
            </a:extLst>
          </p:cNvPr>
          <p:cNvSpPr txBox="1"/>
          <p:nvPr/>
        </p:nvSpPr>
        <p:spPr>
          <a:xfrm>
            <a:off x="1894071" y="2237600"/>
            <a:ext cx="738664" cy="193899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自力更生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684988-311A-3789-E468-E5D3E1AB48EE}"/>
              </a:ext>
            </a:extLst>
          </p:cNvPr>
          <p:cNvSpPr txBox="1"/>
          <p:nvPr/>
        </p:nvSpPr>
        <p:spPr>
          <a:xfrm>
            <a:off x="9993866" y="3050045"/>
            <a:ext cx="1046440" cy="9329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愚 公移 山</a:t>
            </a:r>
          </a:p>
        </p:txBody>
      </p:sp>
    </p:spTree>
    <p:extLst>
      <p:ext uri="{BB962C8B-B14F-4D97-AF65-F5344CB8AC3E}">
        <p14:creationId xmlns:p14="http://schemas.microsoft.com/office/powerpoint/2010/main" val="247454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04FB396D-93C4-3A6B-B36E-D33C33DABDC6}"/>
              </a:ext>
            </a:extLst>
          </p:cNvPr>
          <p:cNvGrpSpPr/>
          <p:nvPr/>
        </p:nvGrpSpPr>
        <p:grpSpPr>
          <a:xfrm>
            <a:off x="4389904" y="632986"/>
            <a:ext cx="3345939" cy="5121385"/>
            <a:chOff x="4389904" y="632986"/>
            <a:chExt cx="3345939" cy="512138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66CBB8E-E9D6-62D4-6B77-BF4ADD40F192}"/>
                </a:ext>
              </a:extLst>
            </p:cNvPr>
            <p:cNvGrpSpPr/>
            <p:nvPr/>
          </p:nvGrpSpPr>
          <p:grpSpPr>
            <a:xfrm>
              <a:off x="5811791" y="1649095"/>
              <a:ext cx="755650" cy="1263650"/>
              <a:chOff x="5765800" y="1822450"/>
              <a:chExt cx="933450" cy="126365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CE54CB5-685B-67EA-8AAA-C466DEDE83DD}"/>
                  </a:ext>
                </a:extLst>
              </p:cNvPr>
              <p:cNvSpPr/>
              <p:nvPr/>
            </p:nvSpPr>
            <p:spPr>
              <a:xfrm>
                <a:off x="5765800" y="1822450"/>
                <a:ext cx="819150" cy="12636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&amp;</a:t>
                </a:r>
                <a:endParaRPr lang="zh-CN" altLang="en-US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35AF7660-AEB2-D5A9-3DD7-C90E12D38535}"/>
                  </a:ext>
                </a:extLst>
              </p:cNvPr>
              <p:cNvSpPr/>
              <p:nvPr/>
            </p:nvSpPr>
            <p:spPr>
              <a:xfrm>
                <a:off x="6584950" y="2397125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DFED5CD-F50B-2AE5-AE7B-E0DD51752856}"/>
                </a:ext>
              </a:extLst>
            </p:cNvPr>
            <p:cNvGrpSpPr/>
            <p:nvPr/>
          </p:nvGrpSpPr>
          <p:grpSpPr>
            <a:xfrm>
              <a:off x="5810431" y="3069908"/>
              <a:ext cx="755650" cy="1263650"/>
              <a:chOff x="5765800" y="1822450"/>
              <a:chExt cx="933450" cy="126365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E1276D1-4CC2-C31C-C77D-C72FF09FD31E}"/>
                  </a:ext>
                </a:extLst>
              </p:cNvPr>
              <p:cNvSpPr/>
              <p:nvPr/>
            </p:nvSpPr>
            <p:spPr>
              <a:xfrm>
                <a:off x="5765800" y="1822450"/>
                <a:ext cx="819150" cy="12636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&amp;</a:t>
                </a:r>
                <a:endParaRPr lang="zh-CN" altLang="en-US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7160D5E2-BC21-7623-5FB3-823CE2757F35}"/>
                  </a:ext>
                </a:extLst>
              </p:cNvPr>
              <p:cNvSpPr/>
              <p:nvPr/>
            </p:nvSpPr>
            <p:spPr>
              <a:xfrm>
                <a:off x="6584950" y="2397125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65C00AD-7F2A-7E68-5DF7-DA8E873E0432}"/>
                </a:ext>
              </a:extLst>
            </p:cNvPr>
            <p:cNvGrpSpPr/>
            <p:nvPr/>
          </p:nvGrpSpPr>
          <p:grpSpPr>
            <a:xfrm>
              <a:off x="5810431" y="4490721"/>
              <a:ext cx="755650" cy="1263650"/>
              <a:chOff x="5765800" y="1822450"/>
              <a:chExt cx="933450" cy="1263650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C8114DA-DC73-22FE-86F2-701513B49487}"/>
                  </a:ext>
                </a:extLst>
              </p:cNvPr>
              <p:cNvSpPr/>
              <p:nvPr/>
            </p:nvSpPr>
            <p:spPr>
              <a:xfrm>
                <a:off x="5765800" y="1822450"/>
                <a:ext cx="819150" cy="12636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&amp;</a:t>
                </a:r>
                <a:endParaRPr lang="zh-CN" altLang="en-US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FB040BB8-8FF0-4828-D7A4-C07A409876E1}"/>
                  </a:ext>
                </a:extLst>
              </p:cNvPr>
              <p:cNvSpPr/>
              <p:nvPr/>
            </p:nvSpPr>
            <p:spPr>
              <a:xfrm>
                <a:off x="6584950" y="2397125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99408F3-6BEF-0063-D1D0-A5C935C5829F}"/>
                </a:ext>
              </a:extLst>
            </p:cNvPr>
            <p:cNvCxnSpPr>
              <a:cxnSpLocks/>
            </p:cNvCxnSpPr>
            <p:nvPr/>
          </p:nvCxnSpPr>
          <p:spPr>
            <a:xfrm>
              <a:off x="4652010" y="1957070"/>
              <a:ext cx="11584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EEAB4D2-7CC9-E370-D0EF-5EA63C05F84D}"/>
                </a:ext>
              </a:extLst>
            </p:cNvPr>
            <p:cNvCxnSpPr>
              <a:cxnSpLocks/>
            </p:cNvCxnSpPr>
            <p:nvPr/>
          </p:nvCxnSpPr>
          <p:spPr>
            <a:xfrm>
              <a:off x="5502910" y="2623820"/>
              <a:ext cx="3075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6B7E524-4494-2F4A-9E1C-C377CF5E3837}"/>
                </a:ext>
              </a:extLst>
            </p:cNvPr>
            <p:cNvCxnSpPr>
              <a:cxnSpLocks/>
            </p:cNvCxnSpPr>
            <p:nvPr/>
          </p:nvCxnSpPr>
          <p:spPr>
            <a:xfrm>
              <a:off x="4652010" y="3417570"/>
              <a:ext cx="11584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229C13C-3D5A-D4E5-A652-6A2F156912ED}"/>
                </a:ext>
              </a:extLst>
            </p:cNvPr>
            <p:cNvCxnSpPr>
              <a:cxnSpLocks/>
            </p:cNvCxnSpPr>
            <p:nvPr/>
          </p:nvCxnSpPr>
          <p:spPr>
            <a:xfrm>
              <a:off x="5490210" y="1966598"/>
              <a:ext cx="6350" cy="6667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1D8BCF6-F17C-8A12-5934-1284FF8C451B}"/>
                </a:ext>
              </a:extLst>
            </p:cNvPr>
            <p:cNvCxnSpPr>
              <a:cxnSpLocks/>
            </p:cNvCxnSpPr>
            <p:nvPr/>
          </p:nvCxnSpPr>
          <p:spPr>
            <a:xfrm>
              <a:off x="4652010" y="4084320"/>
              <a:ext cx="11584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35FF4FE-730B-7414-A7DA-908728B86680}"/>
                </a:ext>
              </a:extLst>
            </p:cNvPr>
            <p:cNvCxnSpPr>
              <a:cxnSpLocks/>
            </p:cNvCxnSpPr>
            <p:nvPr/>
          </p:nvCxnSpPr>
          <p:spPr>
            <a:xfrm>
              <a:off x="5496560" y="4751069"/>
              <a:ext cx="3075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813FDDF-7E39-3A0E-3C81-C61D125CEA16}"/>
                </a:ext>
              </a:extLst>
            </p:cNvPr>
            <p:cNvCxnSpPr>
              <a:cxnSpLocks/>
            </p:cNvCxnSpPr>
            <p:nvPr/>
          </p:nvCxnSpPr>
          <p:spPr>
            <a:xfrm>
              <a:off x="5483860" y="4093847"/>
              <a:ext cx="6350" cy="66675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18AF450-71A2-BED6-211D-CECD15E28057}"/>
                </a:ext>
              </a:extLst>
            </p:cNvPr>
            <p:cNvCxnSpPr>
              <a:cxnSpLocks/>
            </p:cNvCxnSpPr>
            <p:nvPr/>
          </p:nvCxnSpPr>
          <p:spPr>
            <a:xfrm>
              <a:off x="4702810" y="5570220"/>
              <a:ext cx="110762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D71CDF0-B9E0-4B01-4374-EB7240D78CC3}"/>
                </a:ext>
              </a:extLst>
            </p:cNvPr>
            <p:cNvSpPr txBox="1"/>
            <p:nvPr/>
          </p:nvSpPr>
          <p:spPr>
            <a:xfrm>
              <a:off x="4393410" y="177240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619BEC8-053C-41F1-2E7D-819B1C2ABDD5}"/>
                </a:ext>
              </a:extLst>
            </p:cNvPr>
            <p:cNvSpPr txBox="1"/>
            <p:nvPr/>
          </p:nvSpPr>
          <p:spPr>
            <a:xfrm>
              <a:off x="4398218" y="3221235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AC549FE-147D-01D7-2C97-190330516667}"/>
                </a:ext>
              </a:extLst>
            </p:cNvPr>
            <p:cNvSpPr txBox="1"/>
            <p:nvPr/>
          </p:nvSpPr>
          <p:spPr>
            <a:xfrm>
              <a:off x="4389904" y="386738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22777F-204A-6009-DCE4-E953EBDCA1A0}"/>
                </a:ext>
              </a:extLst>
            </p:cNvPr>
            <p:cNvSpPr txBox="1"/>
            <p:nvPr/>
          </p:nvSpPr>
          <p:spPr>
            <a:xfrm>
              <a:off x="4398218" y="5385039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D</a:t>
              </a:r>
              <a:endParaRPr lang="zh-CN" altLang="en-US" dirty="0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8C57FEA-4482-C8D9-26F3-659E1A36816C}"/>
                </a:ext>
              </a:extLst>
            </p:cNvPr>
            <p:cNvCxnSpPr>
              <a:endCxn id="10" idx="6"/>
            </p:cNvCxnSpPr>
            <p:nvPr/>
          </p:nvCxnSpPr>
          <p:spPr>
            <a:xfrm flipH="1">
              <a:off x="6566081" y="5122546"/>
              <a:ext cx="23222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70C262D-C378-FEFF-E703-A3ECA6C2B3E3}"/>
                </a:ext>
              </a:extLst>
            </p:cNvPr>
            <p:cNvCxnSpPr/>
            <p:nvPr/>
          </p:nvCxnSpPr>
          <p:spPr>
            <a:xfrm flipH="1">
              <a:off x="6566081" y="3701733"/>
              <a:ext cx="23222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660D68A-90CF-B297-DD7B-640756126564}"/>
                </a:ext>
              </a:extLst>
            </p:cNvPr>
            <p:cNvCxnSpPr/>
            <p:nvPr/>
          </p:nvCxnSpPr>
          <p:spPr>
            <a:xfrm flipH="1">
              <a:off x="6566081" y="2280920"/>
              <a:ext cx="23222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F849089-4067-F9F3-94F0-B79FC67687E8}"/>
                </a:ext>
              </a:extLst>
            </p:cNvPr>
            <p:cNvCxnSpPr>
              <a:cxnSpLocks/>
            </p:cNvCxnSpPr>
            <p:nvPr/>
          </p:nvCxnSpPr>
          <p:spPr>
            <a:xfrm>
              <a:off x="6798310" y="2280920"/>
              <a:ext cx="0" cy="28416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28159C5-16C9-7A35-20AD-52E802FF976E}"/>
                </a:ext>
              </a:extLst>
            </p:cNvPr>
            <p:cNvCxnSpPr/>
            <p:nvPr/>
          </p:nvCxnSpPr>
          <p:spPr>
            <a:xfrm flipH="1">
              <a:off x="6798310" y="2280391"/>
              <a:ext cx="7366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A07B243-620C-E371-883D-AB2A03D7B2E0}"/>
                </a:ext>
              </a:extLst>
            </p:cNvPr>
            <p:cNvSpPr txBox="1"/>
            <p:nvPr/>
          </p:nvSpPr>
          <p:spPr>
            <a:xfrm>
              <a:off x="7440569" y="2105779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</a:t>
              </a:r>
              <a:endParaRPr lang="zh-CN" altLang="en-US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A4200F41-B4C3-B34C-6906-4228EF25BF0A}"/>
                </a:ext>
              </a:extLst>
            </p:cNvPr>
            <p:cNvCxnSpPr/>
            <p:nvPr/>
          </p:nvCxnSpPr>
          <p:spPr>
            <a:xfrm>
              <a:off x="6798310" y="1772404"/>
              <a:ext cx="0" cy="5079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5B11DFE4-0907-4817-A0C3-FBA4F585D783}"/>
                </a:ext>
              </a:extLst>
            </p:cNvPr>
            <p:cNvSpPr/>
            <p:nvPr/>
          </p:nvSpPr>
          <p:spPr>
            <a:xfrm>
              <a:off x="6734170" y="1352549"/>
              <a:ext cx="128261" cy="4165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CC27E17-649C-D9AE-EA97-859CF02E6EA1}"/>
                </a:ext>
              </a:extLst>
            </p:cNvPr>
            <p:cNvSpPr txBox="1"/>
            <p:nvPr/>
          </p:nvSpPr>
          <p:spPr>
            <a:xfrm>
              <a:off x="6830681" y="1376162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R</a:t>
              </a:r>
              <a:r>
                <a:rPr lang="en-US" altLang="zh-CN" baseline="-25000" dirty="0" err="1"/>
                <a:t>c</a:t>
              </a:r>
              <a:endParaRPr lang="zh-CN" altLang="en-US" dirty="0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B29CDE1-D9B0-8350-5648-A952E1B73650}"/>
                </a:ext>
              </a:extLst>
            </p:cNvPr>
            <p:cNvCxnSpPr/>
            <p:nvPr/>
          </p:nvCxnSpPr>
          <p:spPr>
            <a:xfrm>
              <a:off x="6798310" y="929640"/>
              <a:ext cx="0" cy="42290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6104FFB-DE49-28DB-DDD7-635D8D4FEDE2}"/>
                </a:ext>
              </a:extLst>
            </p:cNvPr>
            <p:cNvSpPr txBox="1"/>
            <p:nvPr/>
          </p:nvSpPr>
          <p:spPr>
            <a:xfrm>
              <a:off x="6574521" y="632986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5V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1503173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>
        <a:ln w="19050" cap="flat" cmpd="sng">
          <a:solidFill>
            <a:srgbClr val="3333FF"/>
          </a:solidFill>
          <a:prstDash val="solid"/>
          <a:round/>
          <a:headEnd type="none" w="med" len="med"/>
          <a:tailEnd type="none" w="sm" len="lg"/>
        </a:ln>
      </a:spPr>
      <a:bodyPr/>
      <a:lstStyle/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1">
          <a:blip xmlns:r="http://schemas.openxmlformats.org/officeDocument/2006/relationships" r:embed="rId1"/>
          <a:srcRect/>
          <a:tile tx="0" ty="0" sx="100000" sy="100000" flip="none" algn="tl"/>
        </a:blipFill>
        <a:ln w="38100" cap="flat" cmpd="sng" algn="ctr">
          <a:noFill/>
          <a:prstDash val="solid"/>
          <a:round/>
          <a:headEnd type="none" w="med" len="med"/>
          <a:tailEnd type="none" w="sm" len="lg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1">
          <a:blip xmlns:r="http://schemas.openxmlformats.org/officeDocument/2006/relationships" r:embed="rId1"/>
          <a:srcRect/>
          <a:tile tx="0" ty="0" sx="100000" sy="100000" flip="none" algn="tl"/>
        </a:blipFill>
        <a:ln w="38100" cap="flat" cmpd="sng" algn="ctr">
          <a:noFill/>
          <a:prstDash val="solid"/>
          <a:round/>
          <a:headEnd type="none" w="med" len="med"/>
          <a:tailEnd type="none" w="sm" len="lg"/>
        </a:ln>
      </a:spPr>
      <a:bodyPr vert="horz" wrap="non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885</Words>
  <Application>Microsoft Office PowerPoint</Application>
  <PresentationFormat>宽屏</PresentationFormat>
  <Paragraphs>561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Microsoft JhengHei UI</vt:lpstr>
      <vt:lpstr>等线</vt:lpstr>
      <vt:lpstr>等线 Light</vt:lpstr>
      <vt:lpstr>方正舒体</vt:lpstr>
      <vt:lpstr>方正姚体</vt:lpstr>
      <vt:lpstr>宋体</vt:lpstr>
      <vt:lpstr>Arial</vt:lpstr>
      <vt:lpstr>Arial Black</vt:lpstr>
      <vt:lpstr>Times New Roman</vt:lpstr>
      <vt:lpstr>Wingdings</vt:lpstr>
      <vt:lpstr>Office 主题​​</vt:lpstr>
      <vt:lpstr>Pixel</vt:lpstr>
      <vt:lpstr>1_Pixel</vt:lpstr>
      <vt:lpstr>Photoshop.Image.5</vt:lpstr>
      <vt:lpstr>Equation.3</vt:lpstr>
      <vt:lpstr>Document</vt:lpstr>
      <vt:lpstr>PowerPoint 演示文稿</vt:lpstr>
      <vt:lpstr>PowerPoint 演示文稿</vt:lpstr>
      <vt:lpstr>PowerPoint 演示文稿</vt:lpstr>
      <vt:lpstr>PowerPoint 演示文稿</vt:lpstr>
      <vt:lpstr>8选1数据选择器74LS151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chuanbo Gao</dc:creator>
  <cp:lastModifiedBy>chuanbo Gao</cp:lastModifiedBy>
  <cp:revision>9</cp:revision>
  <dcterms:created xsi:type="dcterms:W3CDTF">2026-06-19T07:05:25Z</dcterms:created>
  <dcterms:modified xsi:type="dcterms:W3CDTF">2026-06-22T15:34:14Z</dcterms:modified>
</cp:coreProperties>
</file>