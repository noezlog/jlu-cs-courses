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598" r:id="rId3"/>
    <p:sldId id="809" r:id="rId4"/>
    <p:sldId id="891" r:id="rId5"/>
    <p:sldId id="607" r:id="rId6"/>
    <p:sldId id="711" r:id="rId7"/>
    <p:sldId id="713" r:id="rId8"/>
    <p:sldId id="712" r:id="rId9"/>
    <p:sldId id="609" r:id="rId10"/>
    <p:sldId id="613" r:id="rId11"/>
    <p:sldId id="614" r:id="rId12"/>
    <p:sldId id="615" r:id="rId13"/>
    <p:sldId id="814" r:id="rId14"/>
    <p:sldId id="882" r:id="rId15"/>
    <p:sldId id="629" r:id="rId16"/>
    <p:sldId id="625" r:id="rId17"/>
    <p:sldId id="627" r:id="rId18"/>
    <p:sldId id="892" r:id="rId19"/>
    <p:sldId id="590" r:id="rId20"/>
    <p:sldId id="633" r:id="rId21"/>
    <p:sldId id="634" r:id="rId22"/>
    <p:sldId id="637" r:id="rId23"/>
    <p:sldId id="635" r:id="rId24"/>
    <p:sldId id="636" r:id="rId25"/>
    <p:sldId id="638" r:id="rId26"/>
    <p:sldId id="885" r:id="rId27"/>
    <p:sldId id="639" r:id="rId28"/>
    <p:sldId id="886" r:id="rId29"/>
    <p:sldId id="887" r:id="rId30"/>
    <p:sldId id="888" r:id="rId31"/>
    <p:sldId id="889" r:id="rId32"/>
    <p:sldId id="645" r:id="rId33"/>
    <p:sldId id="646" r:id="rId34"/>
    <p:sldId id="647" r:id="rId35"/>
    <p:sldId id="648" r:id="rId36"/>
    <p:sldId id="654" r:id="rId37"/>
    <p:sldId id="656" r:id="rId38"/>
    <p:sldId id="817" r:id="rId39"/>
    <p:sldId id="818" r:id="rId40"/>
    <p:sldId id="819" r:id="rId41"/>
    <p:sldId id="820" r:id="rId42"/>
    <p:sldId id="821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B6B02-C31B-4E2E-9F5F-428DA4C5CC18}" v="80" dt="2026-06-06T05:15:58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anbo Gao" userId="92944737ba3885ac" providerId="LiveId" clId="{8D8984D0-ABC8-44A5-BA4E-CD70426A91D2}"/>
    <pc:docChg chg="addSld delSld modSld">
      <pc:chgData name="chuanbo Gao" userId="92944737ba3885ac" providerId="LiveId" clId="{8D8984D0-ABC8-44A5-BA4E-CD70426A91D2}" dt="2026-06-06T05:15:58.559" v="79"/>
      <pc:docMkLst>
        <pc:docMk/>
      </pc:docMkLst>
      <pc:sldChg chg="add del">
        <pc:chgData name="chuanbo Gao" userId="92944737ba3885ac" providerId="LiveId" clId="{8D8984D0-ABC8-44A5-BA4E-CD70426A91D2}" dt="2026-06-06T05:04:57.015" v="36"/>
        <pc:sldMkLst>
          <pc:docMk/>
          <pc:sldMk cId="0" sldId="590"/>
        </pc:sldMkLst>
      </pc:sldChg>
      <pc:sldChg chg="add">
        <pc:chgData name="chuanbo Gao" userId="92944737ba3885ac" providerId="LiveId" clId="{8D8984D0-ABC8-44A5-BA4E-CD70426A91D2}" dt="2026-06-06T04:58:27.606" v="0"/>
        <pc:sldMkLst>
          <pc:docMk/>
          <pc:sldMk cId="0" sldId="607"/>
        </pc:sldMkLst>
      </pc:sldChg>
      <pc:sldChg chg="add del">
        <pc:chgData name="chuanbo Gao" userId="92944737ba3885ac" providerId="LiveId" clId="{8D8984D0-ABC8-44A5-BA4E-CD70426A91D2}" dt="2026-06-06T05:00:09.255" v="12"/>
        <pc:sldMkLst>
          <pc:docMk/>
          <pc:sldMk cId="0" sldId="609"/>
        </pc:sldMkLst>
      </pc:sldChg>
      <pc:sldChg chg="add del">
        <pc:chgData name="chuanbo Gao" userId="92944737ba3885ac" providerId="LiveId" clId="{8D8984D0-ABC8-44A5-BA4E-CD70426A91D2}" dt="2026-06-06T05:00:29.793" v="15"/>
        <pc:sldMkLst>
          <pc:docMk/>
          <pc:sldMk cId="0" sldId="613"/>
        </pc:sldMkLst>
      </pc:sldChg>
      <pc:sldChg chg="add del">
        <pc:chgData name="chuanbo Gao" userId="92944737ba3885ac" providerId="LiveId" clId="{8D8984D0-ABC8-44A5-BA4E-CD70426A91D2}" dt="2026-06-06T05:00:45.430" v="18"/>
        <pc:sldMkLst>
          <pc:docMk/>
          <pc:sldMk cId="0" sldId="614"/>
        </pc:sldMkLst>
      </pc:sldChg>
      <pc:sldChg chg="add">
        <pc:chgData name="chuanbo Gao" userId="92944737ba3885ac" providerId="LiveId" clId="{8D8984D0-ABC8-44A5-BA4E-CD70426A91D2}" dt="2026-06-06T05:01:00.206" v="19"/>
        <pc:sldMkLst>
          <pc:docMk/>
          <pc:sldMk cId="0" sldId="615"/>
        </pc:sldMkLst>
      </pc:sldChg>
      <pc:sldChg chg="add del">
        <pc:chgData name="chuanbo Gao" userId="92944737ba3885ac" providerId="LiveId" clId="{8D8984D0-ABC8-44A5-BA4E-CD70426A91D2}" dt="2026-06-06T05:04:02.944" v="27"/>
        <pc:sldMkLst>
          <pc:docMk/>
          <pc:sldMk cId="0" sldId="625"/>
        </pc:sldMkLst>
      </pc:sldChg>
      <pc:sldChg chg="add del">
        <pc:chgData name="chuanbo Gao" userId="92944737ba3885ac" providerId="LiveId" clId="{8D8984D0-ABC8-44A5-BA4E-CD70426A91D2}" dt="2026-06-06T05:04:15.804" v="30"/>
        <pc:sldMkLst>
          <pc:docMk/>
          <pc:sldMk cId="0" sldId="627"/>
        </pc:sldMkLst>
      </pc:sldChg>
      <pc:sldChg chg="add">
        <pc:chgData name="chuanbo Gao" userId="92944737ba3885ac" providerId="LiveId" clId="{8D8984D0-ABC8-44A5-BA4E-CD70426A91D2}" dt="2026-06-06T05:03:44.950" v="24"/>
        <pc:sldMkLst>
          <pc:docMk/>
          <pc:sldMk cId="0" sldId="629"/>
        </pc:sldMkLst>
      </pc:sldChg>
      <pc:sldChg chg="add del">
        <pc:chgData name="chuanbo Gao" userId="92944737ba3885ac" providerId="LiveId" clId="{8D8984D0-ABC8-44A5-BA4E-CD70426A91D2}" dt="2026-06-06T05:05:15.112" v="39"/>
        <pc:sldMkLst>
          <pc:docMk/>
          <pc:sldMk cId="0" sldId="633"/>
        </pc:sldMkLst>
      </pc:sldChg>
      <pc:sldChg chg="add del">
        <pc:chgData name="chuanbo Gao" userId="92944737ba3885ac" providerId="LiveId" clId="{8D8984D0-ABC8-44A5-BA4E-CD70426A91D2}" dt="2026-06-06T05:06:09.253" v="42"/>
        <pc:sldMkLst>
          <pc:docMk/>
          <pc:sldMk cId="0" sldId="634"/>
        </pc:sldMkLst>
      </pc:sldChg>
      <pc:sldChg chg="add">
        <pc:chgData name="chuanbo Gao" userId="92944737ba3885ac" providerId="LiveId" clId="{8D8984D0-ABC8-44A5-BA4E-CD70426A91D2}" dt="2026-06-06T05:07:01.972" v="46"/>
        <pc:sldMkLst>
          <pc:docMk/>
          <pc:sldMk cId="0" sldId="635"/>
        </pc:sldMkLst>
      </pc:sldChg>
      <pc:sldChg chg="add del">
        <pc:chgData name="chuanbo Gao" userId="92944737ba3885ac" providerId="LiveId" clId="{8D8984D0-ABC8-44A5-BA4E-CD70426A91D2}" dt="2026-06-06T05:07:45.540" v="49"/>
        <pc:sldMkLst>
          <pc:docMk/>
          <pc:sldMk cId="0" sldId="636"/>
        </pc:sldMkLst>
      </pc:sldChg>
      <pc:sldChg chg="add del">
        <pc:chgData name="chuanbo Gao" userId="92944737ba3885ac" providerId="LiveId" clId="{8D8984D0-ABC8-44A5-BA4E-CD70426A91D2}" dt="2026-06-06T05:06:23.409" v="45"/>
        <pc:sldMkLst>
          <pc:docMk/>
          <pc:sldMk cId="0" sldId="637"/>
        </pc:sldMkLst>
      </pc:sldChg>
      <pc:sldChg chg="add del">
        <pc:chgData name="chuanbo Gao" userId="92944737ba3885ac" providerId="LiveId" clId="{8D8984D0-ABC8-44A5-BA4E-CD70426A91D2}" dt="2026-06-06T05:08:03.347" v="52"/>
        <pc:sldMkLst>
          <pc:docMk/>
          <pc:sldMk cId="0" sldId="638"/>
        </pc:sldMkLst>
      </pc:sldChg>
      <pc:sldChg chg="add del">
        <pc:chgData name="chuanbo Gao" userId="92944737ba3885ac" providerId="LiveId" clId="{8D8984D0-ABC8-44A5-BA4E-CD70426A91D2}" dt="2026-06-06T05:08:38.864" v="58"/>
        <pc:sldMkLst>
          <pc:docMk/>
          <pc:sldMk cId="0" sldId="639"/>
        </pc:sldMkLst>
      </pc:sldChg>
      <pc:sldChg chg="add del">
        <pc:chgData name="chuanbo Gao" userId="92944737ba3885ac" providerId="LiveId" clId="{8D8984D0-ABC8-44A5-BA4E-CD70426A91D2}" dt="2026-06-06T05:13:22.319" v="73"/>
        <pc:sldMkLst>
          <pc:docMk/>
          <pc:sldMk cId="0" sldId="645"/>
        </pc:sldMkLst>
      </pc:sldChg>
      <pc:sldChg chg="add del">
        <pc:chgData name="chuanbo Gao" userId="92944737ba3885ac" providerId="LiveId" clId="{8D8984D0-ABC8-44A5-BA4E-CD70426A91D2}" dt="2026-06-06T05:13:22.319" v="73"/>
        <pc:sldMkLst>
          <pc:docMk/>
          <pc:sldMk cId="0" sldId="646"/>
        </pc:sldMkLst>
      </pc:sldChg>
      <pc:sldChg chg="add del">
        <pc:chgData name="chuanbo Gao" userId="92944737ba3885ac" providerId="LiveId" clId="{8D8984D0-ABC8-44A5-BA4E-CD70426A91D2}" dt="2026-06-06T05:13:22.319" v="73"/>
        <pc:sldMkLst>
          <pc:docMk/>
          <pc:sldMk cId="0" sldId="647"/>
        </pc:sldMkLst>
      </pc:sldChg>
      <pc:sldChg chg="add del">
        <pc:chgData name="chuanbo Gao" userId="92944737ba3885ac" providerId="LiveId" clId="{8D8984D0-ABC8-44A5-BA4E-CD70426A91D2}" dt="2026-06-06T05:13:49.320" v="76"/>
        <pc:sldMkLst>
          <pc:docMk/>
          <pc:sldMk cId="0" sldId="648"/>
        </pc:sldMkLst>
      </pc:sldChg>
      <pc:sldChg chg="add del">
        <pc:chgData name="chuanbo Gao" userId="92944737ba3885ac" providerId="LiveId" clId="{8D8984D0-ABC8-44A5-BA4E-CD70426A91D2}" dt="2026-06-06T05:13:49.320" v="76"/>
        <pc:sldMkLst>
          <pc:docMk/>
          <pc:sldMk cId="0" sldId="654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656"/>
        </pc:sldMkLst>
      </pc:sldChg>
      <pc:sldChg chg="add del">
        <pc:chgData name="chuanbo Gao" userId="92944737ba3885ac" providerId="LiveId" clId="{8D8984D0-ABC8-44A5-BA4E-CD70426A91D2}" dt="2026-06-06T04:58:53.241" v="3"/>
        <pc:sldMkLst>
          <pc:docMk/>
          <pc:sldMk cId="0" sldId="711"/>
        </pc:sldMkLst>
      </pc:sldChg>
      <pc:sldChg chg="add del">
        <pc:chgData name="chuanbo Gao" userId="92944737ba3885ac" providerId="LiveId" clId="{8D8984D0-ABC8-44A5-BA4E-CD70426A91D2}" dt="2026-06-06T04:59:31.815" v="9"/>
        <pc:sldMkLst>
          <pc:docMk/>
          <pc:sldMk cId="0" sldId="712"/>
        </pc:sldMkLst>
      </pc:sldChg>
      <pc:sldChg chg="add del">
        <pc:chgData name="chuanbo Gao" userId="92944737ba3885ac" providerId="LiveId" clId="{8D8984D0-ABC8-44A5-BA4E-CD70426A91D2}" dt="2026-06-06T04:59:10.500" v="6"/>
        <pc:sldMkLst>
          <pc:docMk/>
          <pc:sldMk cId="0" sldId="713"/>
        </pc:sldMkLst>
      </pc:sldChg>
      <pc:sldChg chg="add">
        <pc:chgData name="chuanbo Gao" userId="92944737ba3885ac" providerId="LiveId" clId="{8D8984D0-ABC8-44A5-BA4E-CD70426A91D2}" dt="2026-06-06T05:01:52.453" v="20"/>
        <pc:sldMkLst>
          <pc:docMk/>
          <pc:sldMk cId="0" sldId="814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817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818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819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820"/>
        </pc:sldMkLst>
      </pc:sldChg>
      <pc:sldChg chg="add del">
        <pc:chgData name="chuanbo Gao" userId="92944737ba3885ac" providerId="LiveId" clId="{8D8984D0-ABC8-44A5-BA4E-CD70426A91D2}" dt="2026-06-06T05:15:58.559" v="79"/>
        <pc:sldMkLst>
          <pc:docMk/>
          <pc:sldMk cId="0" sldId="821"/>
        </pc:sldMkLst>
      </pc:sldChg>
      <pc:sldChg chg="add del">
        <pc:chgData name="chuanbo Gao" userId="92944737ba3885ac" providerId="LiveId" clId="{8D8984D0-ABC8-44A5-BA4E-CD70426A91D2}" dt="2026-06-06T05:02:46.549" v="23"/>
        <pc:sldMkLst>
          <pc:docMk/>
          <pc:sldMk cId="0" sldId="882"/>
        </pc:sldMkLst>
      </pc:sldChg>
      <pc:sldChg chg="add del">
        <pc:chgData name="chuanbo Gao" userId="92944737ba3885ac" providerId="LiveId" clId="{8D8984D0-ABC8-44A5-BA4E-CD70426A91D2}" dt="2026-06-06T05:08:21.139" v="55"/>
        <pc:sldMkLst>
          <pc:docMk/>
          <pc:sldMk cId="0" sldId="885"/>
        </pc:sldMkLst>
      </pc:sldChg>
      <pc:sldChg chg="add del">
        <pc:chgData name="chuanbo Gao" userId="92944737ba3885ac" providerId="LiveId" clId="{8D8984D0-ABC8-44A5-BA4E-CD70426A91D2}" dt="2026-06-06T05:09:42.933" v="61"/>
        <pc:sldMkLst>
          <pc:docMk/>
          <pc:sldMk cId="0" sldId="886"/>
        </pc:sldMkLst>
      </pc:sldChg>
      <pc:sldChg chg="add del">
        <pc:chgData name="chuanbo Gao" userId="92944737ba3885ac" providerId="LiveId" clId="{8D8984D0-ABC8-44A5-BA4E-CD70426A91D2}" dt="2026-06-06T05:10:07.402" v="64"/>
        <pc:sldMkLst>
          <pc:docMk/>
          <pc:sldMk cId="0" sldId="887"/>
        </pc:sldMkLst>
      </pc:sldChg>
      <pc:sldChg chg="add del">
        <pc:chgData name="chuanbo Gao" userId="92944737ba3885ac" providerId="LiveId" clId="{8D8984D0-ABC8-44A5-BA4E-CD70426A91D2}" dt="2026-06-06T05:10:18.557" v="67"/>
        <pc:sldMkLst>
          <pc:docMk/>
          <pc:sldMk cId="0" sldId="888"/>
        </pc:sldMkLst>
      </pc:sldChg>
      <pc:sldChg chg="add del">
        <pc:chgData name="chuanbo Gao" userId="92944737ba3885ac" providerId="LiveId" clId="{8D8984D0-ABC8-44A5-BA4E-CD70426A91D2}" dt="2026-06-06T05:12:41.074" v="70"/>
        <pc:sldMkLst>
          <pc:docMk/>
          <pc:sldMk cId="0" sldId="889"/>
        </pc:sldMkLst>
      </pc:sldChg>
      <pc:sldChg chg="add del">
        <pc:chgData name="chuanbo Gao" userId="92944737ba3885ac" providerId="LiveId" clId="{8D8984D0-ABC8-44A5-BA4E-CD70426A91D2}" dt="2026-06-06T05:04:30.347" v="33"/>
        <pc:sldMkLst>
          <pc:docMk/>
          <pc:sldMk cId="0" sldId="8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32391-39FC-E1DD-E7CA-68C0873EC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191E1B-7803-210A-D9BF-382FDA9A9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7BDA8-03C3-2E43-BC97-B71E2A9F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A6C80-F72F-0A13-6E05-5CDF3FF4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8A222-1AA2-0D72-F675-40DA371E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4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5F29F-4D68-E7E6-8C9D-C0C83B2C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E6BBE-A329-F9BD-0797-C5A68AC20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9E08B0-822F-A4D3-B271-08687345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F72D1-1FD0-3F14-4ED6-2065C77F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E8365-AE2C-ED93-7EAA-101496F7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08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AECA0-A5D8-5C9B-9EB9-EA4E4C4C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2B7D48-1D47-04D4-88BC-177E20998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1F581-BB9C-72DE-4E5B-B3F7F655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C1F2C3-AAC6-DAAE-1010-5FE720C8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0BD81-964B-88D4-EAED-8362FF89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8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4EDED-59C0-06F5-8DA9-EE4D76DD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602D4-3D96-D27F-50C8-AED1EAF3C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E1915E-7CB8-809B-B31C-1EE63FD90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5683D6-5092-0E53-AF67-BBF0FBAB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7A65F-406E-D6D6-DEAA-849CADDE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FF3A8E-57A5-A08B-A124-9828BF8E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50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7391C-2AC9-0B40-083C-425903AB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FF68F5-64AA-F7BD-EA95-EE6AA155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B566DF-11C4-E5BD-7BBC-04678C9C5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DE2C4B-DD17-0BE2-C443-9E5D13DBF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779DA5-BEB2-E029-38A1-B4C41A0EE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01CEC5-C441-FE61-5537-FB24BE23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903159-3F02-8300-BF77-7945E420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166F95-C58C-5986-41C2-57D6C6D5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70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74D2C-8185-B5CB-BCCE-138CB9DC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099E37-5B41-0C0A-B2A5-709D6779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93A70A-33BD-F2C5-606D-B2845D5A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11288F-FB54-C1B7-5EC1-7DF54442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2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B34C84-6BD1-BC33-A9A0-23D36C73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20C221-0400-9C30-73E1-8FEFCA221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FBF8B-491C-463F-4464-DC086323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41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A2A28-6516-E235-9E50-51FB0668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37B873-BB92-94AC-F9E4-07517AC3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EC2670-5D78-ED94-E222-889DAF38C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B4C053-D54C-5A35-D852-A0E6D883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888069-F72F-3144-4F3A-14167972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D7FD08-767A-2FEC-2CB5-D1C664B8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92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A6BC0-66B1-2164-1FF2-3E4B8E8F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15A02A-C33E-68A1-5119-F3A354951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03F8BC-6A92-F1C7-2050-E77AB8DF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BD5A48-EFF8-98CB-3FFE-626C2298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46B88D-490E-A508-22E0-981D3654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2C0293-9D83-CC9D-532E-C0260759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39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92151-17B3-C511-4CAD-174C6CE5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B4596-3487-3C55-A3A2-402F0E89D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A28BF-1A69-6330-A745-2CAD112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BED7B5-701C-4174-22DA-8EB6D04E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B3CE5-6BD7-B4E2-FE67-2C606ACF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6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5DE09E-5302-F689-D239-6878A4659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615ACD-FC97-1E77-D4CA-7037BDFB9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C817C-7D3F-94C3-A6D6-C4351961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FD53D3-F0FE-806F-282F-7190CAE9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BEB0A-C958-17E6-FFC0-F722AA94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264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bg>
      <p:bgPr>
        <a:gradFill rotWithShape="0">
          <a:gsLst>
            <a:gs pos="0">
              <a:srgbClr val="CCFF33"/>
            </a:gs>
            <a:gs pos="50000">
              <a:schemeClr val="bg1"/>
            </a:gs>
            <a:gs pos="100000">
              <a:srgbClr val="CCFF33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370" name="组合 186369"/>
          <p:cNvGrpSpPr/>
          <p:nvPr/>
        </p:nvGrpSpPr>
        <p:grpSpPr>
          <a:xfrm>
            <a:off x="0" y="1"/>
            <a:ext cx="2438400" cy="6856413"/>
            <a:chOff x="0" y="0"/>
            <a:chExt cx="1152" cy="4319"/>
          </a:xfrm>
        </p:grpSpPr>
        <p:sp>
          <p:nvSpPr>
            <p:cNvPr id="186371" name="矩形 186370"/>
            <p:cNvSpPr/>
            <p:nvPr/>
          </p:nvSpPr>
          <p:spPr>
            <a:xfrm>
              <a:off x="0" y="0"/>
              <a:ext cx="1152" cy="10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0" hangingPunct="0">
                <a:spcBef>
                  <a:spcPct val="50000"/>
                </a:spcBef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6372" name="矩形 186371"/>
            <p:cNvSpPr/>
            <p:nvPr/>
          </p:nvSpPr>
          <p:spPr>
            <a:xfrm>
              <a:off x="0" y="2400"/>
              <a:ext cx="1152" cy="191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0" hangingPunct="0">
                <a:spcBef>
                  <a:spcPct val="50000"/>
                </a:spcBef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pic>
          <p:nvPicPr>
            <p:cNvPr id="186373" name="图片 18637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28"/>
              <a:ext cx="1152" cy="14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6374" name="标题 186373"/>
          <p:cNvSpPr>
            <a:spLocks noGrp="1"/>
          </p:cNvSpPr>
          <p:nvPr>
            <p:ph type="ctrTitle" sz="quarter"/>
          </p:nvPr>
        </p:nvSpPr>
        <p:spPr>
          <a:xfrm>
            <a:off x="2540000" y="1676400"/>
            <a:ext cx="9245600" cy="2116138"/>
          </a:xfrm>
          <a:prstGeom prst="rect">
            <a:avLst/>
          </a:prstGeom>
          <a:noFill/>
          <a:ln w="12700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6375" name="副标题 186374"/>
          <p:cNvSpPr>
            <a:spLocks noGrp="1"/>
          </p:cNvSpPr>
          <p:nvPr>
            <p:ph type="subTitle" sz="quarter" idx="1"/>
          </p:nvPr>
        </p:nvSpPr>
        <p:spPr>
          <a:xfrm>
            <a:off x="2548467" y="3968750"/>
            <a:ext cx="8534400" cy="1752600"/>
          </a:xfrm>
          <a:prstGeom prst="rect">
            <a:avLst/>
          </a:prstGeom>
          <a:noFill/>
          <a:ln w="12700">
            <a:noFill/>
          </a:ln>
        </p:spPr>
        <p:txBody>
          <a:bodyPr anchor="t"/>
          <a:lstStyle>
            <a:lvl1pPr marL="0" lvl="0" indent="0"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Tx/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86376" name="日期占位符 186375"/>
          <p:cNvSpPr>
            <a:spLocks noGrp="1"/>
          </p:cNvSpPr>
          <p:nvPr>
            <p:ph type="dt" sz="quarter" idx="2"/>
          </p:nvPr>
        </p:nvSpPr>
        <p:spPr>
          <a:xfrm>
            <a:off x="2438400" y="6400800"/>
            <a:ext cx="2540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>
              <a:defRPr sz="14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7" name="页脚占位符 186376"/>
          <p:cNvSpPr>
            <a:spLocks noGrp="1"/>
          </p:cNvSpPr>
          <p:nvPr>
            <p:ph type="ftr" sz="quarter" idx="3"/>
          </p:nvPr>
        </p:nvSpPr>
        <p:spPr>
          <a:xfrm>
            <a:off x="5283200" y="6400800"/>
            <a:ext cx="3860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ctr">
              <a:defRPr sz="14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8" name="灯片编号占位符 186377"/>
          <p:cNvSpPr>
            <a:spLocks noGrp="1"/>
          </p:cNvSpPr>
          <p:nvPr>
            <p:ph type="sldNum" sz="quarter" idx="4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r">
              <a:defRPr sz="1400"/>
            </a:lvl1pPr>
          </a:lstStyle>
          <a:p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51638"/>
      </p:ext>
    </p:extLst>
  </p:cSld>
  <p:clrMapOvr>
    <a:masterClrMapping/>
  </p:clrMapOvr>
  <p:transition>
    <p:wipe dir="d"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922638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29844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06238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29743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174166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33041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02825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38347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552148"/>
      </p:ext>
    </p:extLst>
  </p:cSld>
  <p:clrMapOvr>
    <a:masterClrMapping/>
  </p:clrMapOvr>
  <p:transition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99712"/>
      </p:ext>
    </p:extLst>
  </p:cSld>
  <p:clrMapOvr>
    <a:masterClrMapping/>
  </p:clrMapOvr>
  <p:transition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304800"/>
            <a:ext cx="10363200" cy="12065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625600" y="1600200"/>
            <a:ext cx="50800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08800" y="1600200"/>
            <a:ext cx="50800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19195"/>
      </p:ext>
    </p:extLst>
  </p:cSld>
  <p:clrMapOvr>
    <a:masterClrMapping/>
  </p:clrMapOvr>
  <p:transition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625600" y="304800"/>
            <a:ext cx="10363200" cy="579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704731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C5DA5F-904C-E1F7-5607-0B6A40EA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88FBC2-2F85-4F67-0246-21A5F6DF7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C46970-7820-8245-E62C-5B3091E81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1066D-699A-40B6-A989-5716319C4E7A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873D83-E4DC-1A4B-B5FB-056E79558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EA809-1322-01F5-25B3-DCB0CC844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6170C-A9F6-4E72-B590-AC5A7AC9B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93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33"/>
            </a:gs>
            <a:gs pos="50000">
              <a:schemeClr val="bg1"/>
            </a:gs>
            <a:gs pos="100000">
              <a:srgbClr val="CCFF33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52" name="日期占位符 185351"/>
          <p:cNvSpPr>
            <a:spLocks noGrp="1"/>
          </p:cNvSpPr>
          <p:nvPr>
            <p:ph type="dt" sz="half" idx="2"/>
          </p:nvPr>
        </p:nvSpPr>
        <p:spPr>
          <a:xfrm>
            <a:off x="1524000" y="6400800"/>
            <a:ext cx="2540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5353" name="页脚占位符 185352"/>
          <p:cNvSpPr>
            <a:spLocks noGrp="1"/>
          </p:cNvSpPr>
          <p:nvPr>
            <p:ph type="ftr" sz="quarter" idx="3"/>
          </p:nvPr>
        </p:nvSpPr>
        <p:spPr>
          <a:xfrm>
            <a:off x="4775200" y="6400800"/>
            <a:ext cx="3860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5354" name="灯片编号占位符 185353"/>
          <p:cNvSpPr>
            <a:spLocks noGrp="1"/>
          </p:cNvSpPr>
          <p:nvPr>
            <p:ph type="sldNum" sz="quarter" idx="4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68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>
    <p:wipe dir="d"/>
  </p:transition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90000"/>
        <a:buFont typeface="Symbol" panose="05050102010706020507" pitchFamily="18" charset="2"/>
        <a:buChar char="¨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4.bin"/><Relationship Id="rId18" Type="http://schemas.openxmlformats.org/officeDocument/2006/relationships/image" Target="../media/image14.wmf"/><Relationship Id="rId3" Type="http://schemas.openxmlformats.org/officeDocument/2006/relationships/image" Target="../media/image5.wmf"/><Relationship Id="rId21" Type="http://schemas.openxmlformats.org/officeDocument/2006/relationships/image" Target="../media/image16.wmf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6.bin"/><Relationship Id="rId2" Type="http://schemas.openxmlformats.org/officeDocument/2006/relationships/image" Target="../media/image4.wmf"/><Relationship Id="rId16" Type="http://schemas.openxmlformats.org/officeDocument/2006/relationships/image" Target="../media/image13.wmf"/><Relationship Id="rId20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19" Type="http://schemas.openxmlformats.org/officeDocument/2006/relationships/image" Target="../media/image15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2.bin"/><Relationship Id="rId14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40.wmf"/><Relationship Id="rId7" Type="http://schemas.openxmlformats.org/officeDocument/2006/relationships/oleObject" Target="../embeddings/oleObject13.bin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1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image" Target="../media/image76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79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2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8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83.wmf"/><Relationship Id="rId9" Type="http://schemas.openxmlformats.org/officeDocument/2006/relationships/image" Target="../media/image71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矩形 518145"/>
          <p:cNvSpPr/>
          <p:nvPr/>
        </p:nvSpPr>
        <p:spPr>
          <a:xfrm>
            <a:off x="3224213" y="762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NPN</a:t>
            </a:r>
            <a:r>
              <a:rPr lang="zh-CN" altLang="en-US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518147" name="矩形 518146"/>
          <p:cNvSpPr/>
          <p:nvPr/>
        </p:nvSpPr>
        <p:spPr>
          <a:xfrm>
            <a:off x="7796213" y="762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PNP</a:t>
            </a:r>
            <a:r>
              <a:rPr lang="zh-CN" altLang="en-US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518148" name="文本框 518147"/>
          <p:cNvSpPr txBox="1"/>
          <p:nvPr/>
        </p:nvSpPr>
        <p:spPr>
          <a:xfrm>
            <a:off x="2005013" y="3352800"/>
            <a:ext cx="12192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符号:</a:t>
            </a:r>
            <a:endParaRPr lang="en-US" altLang="zh-CN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18149" name="图片 518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3362326"/>
            <a:ext cx="2209800" cy="156686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18150" name="图片 518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13" y="3352800"/>
            <a:ext cx="2209800" cy="15684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18151" name="矩形 518150"/>
          <p:cNvSpPr/>
          <p:nvPr/>
        </p:nvSpPr>
        <p:spPr>
          <a:xfrm>
            <a:off x="2351088" y="5084763"/>
            <a:ext cx="7467600" cy="160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sz="32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</a:rPr>
              <a:t>三极管的结构特点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</a:p>
          <a:p>
            <a:pPr lvl="0"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）发射区的掺杂浓度＞＞集电区掺杂浓度</a:t>
            </a:r>
            <a:r>
              <a:rPr lang="zh-CN" altLang="en-US" sz="2400" b="1" dirty="0">
                <a:solidFill>
                  <a:schemeClr val="tx2"/>
                </a:solidFill>
              </a:rPr>
              <a:t>。</a:t>
            </a:r>
          </a:p>
          <a:p>
            <a:pPr lvl="0"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）基区要制造得很薄且浓度很低。</a:t>
            </a:r>
          </a:p>
        </p:txBody>
      </p:sp>
      <p:grpSp>
        <p:nvGrpSpPr>
          <p:cNvPr id="518152" name="组合 518151"/>
          <p:cNvGrpSpPr/>
          <p:nvPr/>
        </p:nvGrpSpPr>
        <p:grpSpPr>
          <a:xfrm>
            <a:off x="1773239" y="1371600"/>
            <a:ext cx="4251325" cy="1989138"/>
            <a:chOff x="142" y="1056"/>
            <a:chExt cx="2678" cy="1253"/>
          </a:xfrm>
        </p:grpSpPr>
        <p:sp>
          <p:nvSpPr>
            <p:cNvPr id="518153" name="椭圆 518152"/>
            <p:cNvSpPr/>
            <p:nvPr/>
          </p:nvSpPr>
          <p:spPr>
            <a:xfrm>
              <a:off x="2493" y="1540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4" name="椭圆 518153"/>
            <p:cNvSpPr/>
            <p:nvPr/>
          </p:nvSpPr>
          <p:spPr>
            <a:xfrm>
              <a:off x="452" y="1555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5" name="矩形 518154"/>
            <p:cNvSpPr/>
            <p:nvPr/>
          </p:nvSpPr>
          <p:spPr>
            <a:xfrm>
              <a:off x="320" y="1484"/>
              <a:ext cx="61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300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-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56" name="直接连接符 518155"/>
            <p:cNvSpPr/>
            <p:nvPr/>
          </p:nvSpPr>
          <p:spPr>
            <a:xfrm flipV="1">
              <a:off x="1400" y="1962"/>
              <a:ext cx="1" cy="38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57" name="椭圆 518156"/>
            <p:cNvSpPr/>
            <p:nvPr/>
          </p:nvSpPr>
          <p:spPr>
            <a:xfrm>
              <a:off x="1374" y="2000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8" name="矩形 518157"/>
            <p:cNvSpPr/>
            <p:nvPr/>
          </p:nvSpPr>
          <p:spPr>
            <a:xfrm>
              <a:off x="1256" y="1773"/>
              <a:ext cx="61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300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-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59" name="矩形 518158"/>
            <p:cNvSpPr/>
            <p:nvPr/>
          </p:nvSpPr>
          <p:spPr>
            <a:xfrm>
              <a:off x="778" y="1294"/>
              <a:ext cx="1423" cy="523"/>
            </a:xfrm>
            <a:prstGeom prst="rect">
              <a:avLst/>
            </a:prstGeom>
            <a:noFill/>
            <a:ln w="46038" cap="flat" cmpd="sng">
              <a:solidFill>
                <a:srgbClr val="8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60" name="直接连接符 518159"/>
            <p:cNvSpPr/>
            <p:nvPr/>
          </p:nvSpPr>
          <p:spPr>
            <a:xfrm flipH="1">
              <a:off x="1242" y="1283"/>
              <a:ext cx="0" cy="540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1" name="直接连接符 518160"/>
            <p:cNvSpPr/>
            <p:nvPr/>
          </p:nvSpPr>
          <p:spPr>
            <a:xfrm>
              <a:off x="1648" y="1294"/>
              <a:ext cx="1" cy="518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2" name="直接连接符 518161"/>
            <p:cNvSpPr/>
            <p:nvPr/>
          </p:nvSpPr>
          <p:spPr>
            <a:xfrm flipH="1">
              <a:off x="2201" y="1579"/>
              <a:ext cx="274" cy="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3" name="直接连接符 518162"/>
            <p:cNvSpPr/>
            <p:nvPr/>
          </p:nvSpPr>
          <p:spPr>
            <a:xfrm>
              <a:off x="511" y="1579"/>
              <a:ext cx="273" cy="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4" name="直接连接符 518163"/>
            <p:cNvSpPr/>
            <p:nvPr/>
          </p:nvSpPr>
          <p:spPr>
            <a:xfrm>
              <a:off x="1400" y="1821"/>
              <a:ext cx="1" cy="14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5" name="矩形 518164"/>
            <p:cNvSpPr/>
            <p:nvPr/>
          </p:nvSpPr>
          <p:spPr>
            <a:xfrm>
              <a:off x="964" y="1358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6" name="矩形 518165"/>
            <p:cNvSpPr/>
            <p:nvPr/>
          </p:nvSpPr>
          <p:spPr>
            <a:xfrm>
              <a:off x="1876" y="1389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7" name="矩形 518166"/>
            <p:cNvSpPr/>
            <p:nvPr/>
          </p:nvSpPr>
          <p:spPr>
            <a:xfrm>
              <a:off x="1390" y="1358"/>
              <a:ext cx="11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8" name="矩形 518167"/>
            <p:cNvSpPr/>
            <p:nvPr/>
          </p:nvSpPr>
          <p:spPr>
            <a:xfrm>
              <a:off x="819" y="1604"/>
              <a:ext cx="412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发射区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69" name="矩形 518168"/>
            <p:cNvSpPr/>
            <p:nvPr/>
          </p:nvSpPr>
          <p:spPr>
            <a:xfrm>
              <a:off x="1739" y="1627"/>
              <a:ext cx="412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集电区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0" name="矩形 518169"/>
            <p:cNvSpPr/>
            <p:nvPr/>
          </p:nvSpPr>
          <p:spPr>
            <a:xfrm>
              <a:off x="1343" y="1627"/>
              <a:ext cx="27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基区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1" name="矩形 518170"/>
            <p:cNvSpPr/>
            <p:nvPr/>
          </p:nvSpPr>
          <p:spPr>
            <a:xfrm>
              <a:off x="1025" y="1056"/>
              <a:ext cx="460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发射结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2" name="矩形 518171"/>
            <p:cNvSpPr/>
            <p:nvPr/>
          </p:nvSpPr>
          <p:spPr>
            <a:xfrm>
              <a:off x="1515" y="1056"/>
              <a:ext cx="460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集电结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3" name="矩形 518172"/>
            <p:cNvSpPr/>
            <p:nvPr/>
          </p:nvSpPr>
          <p:spPr>
            <a:xfrm>
              <a:off x="286" y="1389"/>
              <a:ext cx="8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4" name="矩形 518173"/>
            <p:cNvSpPr/>
            <p:nvPr/>
          </p:nvSpPr>
          <p:spPr>
            <a:xfrm>
              <a:off x="2598" y="1389"/>
              <a:ext cx="8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5" name="矩形 518174"/>
            <p:cNvSpPr/>
            <p:nvPr/>
          </p:nvSpPr>
          <p:spPr>
            <a:xfrm>
              <a:off x="1407" y="2076"/>
              <a:ext cx="9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6" name="矩形 518175"/>
            <p:cNvSpPr/>
            <p:nvPr/>
          </p:nvSpPr>
          <p:spPr>
            <a:xfrm>
              <a:off x="142" y="1651"/>
              <a:ext cx="460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发射极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7" name="矩形 518176"/>
            <p:cNvSpPr/>
            <p:nvPr/>
          </p:nvSpPr>
          <p:spPr>
            <a:xfrm>
              <a:off x="2360" y="1627"/>
              <a:ext cx="460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集电极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8" name="矩形 518177"/>
            <p:cNvSpPr/>
            <p:nvPr/>
          </p:nvSpPr>
          <p:spPr>
            <a:xfrm>
              <a:off x="1505" y="1959"/>
              <a:ext cx="30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基极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9" name="直接连接符 518178"/>
            <p:cNvSpPr/>
            <p:nvPr/>
          </p:nvSpPr>
          <p:spPr>
            <a:xfrm>
              <a:off x="1311" y="1294"/>
              <a:ext cx="0" cy="523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0" name="直接连接符 518179"/>
            <p:cNvSpPr/>
            <p:nvPr/>
          </p:nvSpPr>
          <p:spPr>
            <a:xfrm>
              <a:off x="1712" y="1294"/>
              <a:ext cx="1" cy="538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1" name="直接连接符 518180"/>
            <p:cNvSpPr/>
            <p:nvPr/>
          </p:nvSpPr>
          <p:spPr>
            <a:xfrm flipV="1">
              <a:off x="1248" y="1344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2" name="直接连接符 518181"/>
            <p:cNvSpPr/>
            <p:nvPr/>
          </p:nvSpPr>
          <p:spPr>
            <a:xfrm flipV="1">
              <a:off x="1248" y="1392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3" name="直接连接符 518182"/>
            <p:cNvSpPr/>
            <p:nvPr/>
          </p:nvSpPr>
          <p:spPr>
            <a:xfrm flipV="1">
              <a:off x="1248" y="1440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4" name="直接连接符 518183"/>
            <p:cNvSpPr/>
            <p:nvPr/>
          </p:nvSpPr>
          <p:spPr>
            <a:xfrm flipV="1">
              <a:off x="1248" y="1488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5" name="直接连接符 518184"/>
            <p:cNvSpPr/>
            <p:nvPr/>
          </p:nvSpPr>
          <p:spPr>
            <a:xfrm flipV="1">
              <a:off x="1248" y="1536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6" name="直接连接符 518185"/>
            <p:cNvSpPr/>
            <p:nvPr/>
          </p:nvSpPr>
          <p:spPr>
            <a:xfrm flipV="1">
              <a:off x="1248" y="1584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7" name="直接连接符 518186"/>
            <p:cNvSpPr/>
            <p:nvPr/>
          </p:nvSpPr>
          <p:spPr>
            <a:xfrm flipV="1">
              <a:off x="1248" y="1632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8" name="直接连接符 518187"/>
            <p:cNvSpPr/>
            <p:nvPr/>
          </p:nvSpPr>
          <p:spPr>
            <a:xfrm flipV="1">
              <a:off x="1248" y="1680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9" name="直接连接符 518188"/>
            <p:cNvSpPr/>
            <p:nvPr/>
          </p:nvSpPr>
          <p:spPr>
            <a:xfrm flipV="1">
              <a:off x="1248" y="1728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8190" name="组合 518189"/>
            <p:cNvGrpSpPr/>
            <p:nvPr/>
          </p:nvGrpSpPr>
          <p:grpSpPr>
            <a:xfrm>
              <a:off x="1668" y="1320"/>
              <a:ext cx="48" cy="432"/>
              <a:chOff x="2640" y="2016"/>
              <a:chExt cx="48" cy="432"/>
            </a:xfrm>
          </p:grpSpPr>
          <p:sp>
            <p:nvSpPr>
              <p:cNvPr id="518191" name="直接连接符 51819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2" name="直接连接符 51819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3" name="直接连接符 51819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4" name="直接连接符 51819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5" name="直接连接符 51819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6" name="直接连接符 51819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7" name="直接连接符 51819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8" name="直接连接符 51819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9" name="直接连接符 51819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18200" name="组合 518199"/>
          <p:cNvGrpSpPr/>
          <p:nvPr/>
        </p:nvGrpSpPr>
        <p:grpSpPr>
          <a:xfrm>
            <a:off x="6269040" y="1371600"/>
            <a:ext cx="4252913" cy="1989138"/>
            <a:chOff x="2974" y="1056"/>
            <a:chExt cx="2679" cy="1253"/>
          </a:xfrm>
        </p:grpSpPr>
        <p:grpSp>
          <p:nvGrpSpPr>
            <p:cNvPr id="518201" name="组合 518200"/>
            <p:cNvGrpSpPr/>
            <p:nvPr/>
          </p:nvGrpSpPr>
          <p:grpSpPr>
            <a:xfrm>
              <a:off x="2974" y="1056"/>
              <a:ext cx="2679" cy="1253"/>
              <a:chOff x="1282" y="1248"/>
              <a:chExt cx="2891" cy="1265"/>
            </a:xfrm>
          </p:grpSpPr>
          <p:sp>
            <p:nvSpPr>
              <p:cNvPr id="518202" name="椭圆 518201"/>
              <p:cNvSpPr/>
              <p:nvPr/>
            </p:nvSpPr>
            <p:spPr>
              <a:xfrm>
                <a:off x="3819" y="1737"/>
                <a:ext cx="57" cy="57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3" name="椭圆 518202"/>
              <p:cNvSpPr/>
              <p:nvPr/>
            </p:nvSpPr>
            <p:spPr>
              <a:xfrm>
                <a:off x="1616" y="1752"/>
                <a:ext cx="58" cy="57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4" name="矩形 518203"/>
              <p:cNvSpPr/>
              <p:nvPr/>
            </p:nvSpPr>
            <p:spPr>
              <a:xfrm>
                <a:off x="1474" y="1680"/>
                <a:ext cx="66" cy="2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300" i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-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05" name="直接连接符 518204"/>
              <p:cNvSpPr/>
              <p:nvPr/>
            </p:nvSpPr>
            <p:spPr>
              <a:xfrm flipV="1">
                <a:off x="2640" y="2163"/>
                <a:ext cx="1" cy="3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06" name="椭圆 518205"/>
              <p:cNvSpPr/>
              <p:nvPr/>
            </p:nvSpPr>
            <p:spPr>
              <a:xfrm>
                <a:off x="2612" y="2201"/>
                <a:ext cx="57" cy="58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7" name="矩形 518206"/>
              <p:cNvSpPr/>
              <p:nvPr/>
            </p:nvSpPr>
            <p:spPr>
              <a:xfrm>
                <a:off x="2484" y="1972"/>
                <a:ext cx="66" cy="2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300" i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-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08" name="矩形 518207"/>
              <p:cNvSpPr/>
              <p:nvPr/>
            </p:nvSpPr>
            <p:spPr>
              <a:xfrm>
                <a:off x="1968" y="1488"/>
                <a:ext cx="1536" cy="528"/>
              </a:xfrm>
              <a:prstGeom prst="rect">
                <a:avLst/>
              </a:prstGeom>
              <a:noFill/>
              <a:ln w="46038" cap="flat" cmpd="sng">
                <a:solidFill>
                  <a:srgbClr val="8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9" name="直接连接符 518208"/>
              <p:cNvSpPr/>
              <p:nvPr/>
            </p:nvSpPr>
            <p:spPr>
              <a:xfrm flipH="1">
                <a:off x="2469" y="1477"/>
                <a:ext cx="0" cy="545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0" name="直接连接符 518209"/>
              <p:cNvSpPr/>
              <p:nvPr/>
            </p:nvSpPr>
            <p:spPr>
              <a:xfrm>
                <a:off x="2907" y="1488"/>
                <a:ext cx="1" cy="523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1" name="直接连接符 518210"/>
              <p:cNvSpPr/>
              <p:nvPr/>
            </p:nvSpPr>
            <p:spPr>
              <a:xfrm flipH="1">
                <a:off x="3504" y="1776"/>
                <a:ext cx="296" cy="1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2" name="直接连接符 518211"/>
              <p:cNvSpPr/>
              <p:nvPr/>
            </p:nvSpPr>
            <p:spPr>
              <a:xfrm>
                <a:off x="1680" y="1776"/>
                <a:ext cx="295" cy="1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3" name="直接连接符 518212"/>
              <p:cNvSpPr/>
              <p:nvPr/>
            </p:nvSpPr>
            <p:spPr>
              <a:xfrm>
                <a:off x="2640" y="2020"/>
                <a:ext cx="1" cy="143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4" name="矩形 518213"/>
              <p:cNvSpPr/>
              <p:nvPr/>
            </p:nvSpPr>
            <p:spPr>
              <a:xfrm>
                <a:off x="2181" y="1553"/>
                <a:ext cx="128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5" name="矩形 518214"/>
              <p:cNvSpPr/>
              <p:nvPr/>
            </p:nvSpPr>
            <p:spPr>
              <a:xfrm>
                <a:off x="3166" y="1584"/>
                <a:ext cx="128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6" name="矩形 518215"/>
              <p:cNvSpPr/>
              <p:nvPr/>
            </p:nvSpPr>
            <p:spPr>
              <a:xfrm>
                <a:off x="2617" y="1553"/>
                <a:ext cx="151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7" name="矩形 518216"/>
              <p:cNvSpPr/>
              <p:nvPr/>
            </p:nvSpPr>
            <p:spPr>
              <a:xfrm>
                <a:off x="2013" y="1801"/>
                <a:ext cx="445" cy="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发射区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8" name="矩形 518217"/>
              <p:cNvSpPr/>
              <p:nvPr/>
            </p:nvSpPr>
            <p:spPr>
              <a:xfrm>
                <a:off x="3006" y="1824"/>
                <a:ext cx="445" cy="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集电区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9" name="矩形 518218"/>
              <p:cNvSpPr/>
              <p:nvPr/>
            </p:nvSpPr>
            <p:spPr>
              <a:xfrm>
                <a:off x="2579" y="1824"/>
                <a:ext cx="294" cy="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基区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0" name="矩形 518219"/>
              <p:cNvSpPr/>
              <p:nvPr/>
            </p:nvSpPr>
            <p:spPr>
              <a:xfrm>
                <a:off x="2235" y="1248"/>
                <a:ext cx="497" cy="1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发射结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1" name="矩形 518220"/>
              <p:cNvSpPr/>
              <p:nvPr/>
            </p:nvSpPr>
            <p:spPr>
              <a:xfrm>
                <a:off x="2764" y="1248"/>
                <a:ext cx="497" cy="1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集电结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2" name="矩形 518221"/>
              <p:cNvSpPr/>
              <p:nvPr/>
            </p:nvSpPr>
            <p:spPr>
              <a:xfrm>
                <a:off x="1437" y="1584"/>
                <a:ext cx="93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3" name="矩形 518222"/>
              <p:cNvSpPr/>
              <p:nvPr/>
            </p:nvSpPr>
            <p:spPr>
              <a:xfrm>
                <a:off x="3932" y="1584"/>
                <a:ext cx="93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4" name="矩形 518223"/>
              <p:cNvSpPr/>
              <p:nvPr/>
            </p:nvSpPr>
            <p:spPr>
              <a:xfrm>
                <a:off x="2647" y="2278"/>
                <a:ext cx="105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5" name="矩形 518224"/>
              <p:cNvSpPr/>
              <p:nvPr/>
            </p:nvSpPr>
            <p:spPr>
              <a:xfrm>
                <a:off x="1282" y="1849"/>
                <a:ext cx="497" cy="1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发射极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6" name="矩形 518225"/>
              <p:cNvSpPr/>
              <p:nvPr/>
            </p:nvSpPr>
            <p:spPr>
              <a:xfrm>
                <a:off x="3676" y="1824"/>
                <a:ext cx="497" cy="1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集电极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7" name="矩形 518226"/>
              <p:cNvSpPr/>
              <p:nvPr/>
            </p:nvSpPr>
            <p:spPr>
              <a:xfrm>
                <a:off x="2752" y="2160"/>
                <a:ext cx="331" cy="1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基极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8" name="直接连接符 518227"/>
              <p:cNvSpPr/>
              <p:nvPr/>
            </p:nvSpPr>
            <p:spPr>
              <a:xfrm>
                <a:off x="2544" y="1488"/>
                <a:ext cx="0" cy="528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29" name="直接连接符 518228"/>
              <p:cNvSpPr/>
              <p:nvPr/>
            </p:nvSpPr>
            <p:spPr>
              <a:xfrm>
                <a:off x="2976" y="1488"/>
                <a:ext cx="1" cy="543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8230" name="组合 518229"/>
            <p:cNvGrpSpPr/>
            <p:nvPr/>
          </p:nvGrpSpPr>
          <p:grpSpPr>
            <a:xfrm>
              <a:off x="4086" y="1338"/>
              <a:ext cx="48" cy="432"/>
              <a:chOff x="2640" y="2016"/>
              <a:chExt cx="48" cy="432"/>
            </a:xfrm>
          </p:grpSpPr>
          <p:sp>
            <p:nvSpPr>
              <p:cNvPr id="518231" name="直接连接符 51823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2" name="直接连接符 51823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3" name="直接连接符 51823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4" name="直接连接符 51823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5" name="直接连接符 51823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6" name="直接连接符 51823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7" name="直接连接符 51823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8" name="直接连接符 51823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9" name="直接连接符 51823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8240" name="组合 518239"/>
            <p:cNvGrpSpPr/>
            <p:nvPr/>
          </p:nvGrpSpPr>
          <p:grpSpPr>
            <a:xfrm>
              <a:off x="4494" y="1338"/>
              <a:ext cx="48" cy="432"/>
              <a:chOff x="2640" y="2016"/>
              <a:chExt cx="48" cy="432"/>
            </a:xfrm>
          </p:grpSpPr>
          <p:sp>
            <p:nvSpPr>
              <p:cNvPr id="518241" name="直接连接符 51824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2" name="直接连接符 51824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3" name="直接连接符 51824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4" name="直接连接符 51824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5" name="直接连接符 51824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6" name="直接连接符 51824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7" name="直接连接符 51824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8" name="直接连接符 51824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9" name="直接连接符 51824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18250" name="矩形 518249"/>
          <p:cNvSpPr/>
          <p:nvPr/>
        </p:nvSpPr>
        <p:spPr>
          <a:xfrm>
            <a:off x="4672013" y="0"/>
            <a:ext cx="2398712" cy="6413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BJT</a:t>
            </a:r>
            <a:r>
              <a:rPr lang="zh-CN" altLang="en-US" sz="36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8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8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8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6" grpId="0"/>
      <p:bldP spid="518147" grpId="0"/>
      <p:bldP spid="518148" grpId="0"/>
      <p:bldP spid="5181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/>
          <p:nvPr/>
        </p:nvSpPr>
        <p:spPr>
          <a:xfrm>
            <a:off x="1905000" y="228600"/>
            <a:ext cx="4114800" cy="609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之间的关系：</a:t>
            </a:r>
          </a:p>
        </p:txBody>
      </p:sp>
      <p:pic>
        <p:nvPicPr>
          <p:cNvPr id="2253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63" y="279400"/>
            <a:ext cx="5029200" cy="48958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138" y="2647950"/>
            <a:ext cx="1319212" cy="2108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33375"/>
            <a:ext cx="762000" cy="2006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3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339" y="1047750"/>
            <a:ext cx="606425" cy="12573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4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3" y="1123950"/>
            <a:ext cx="1536700" cy="28194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29416" name="Rectangle 8"/>
          <p:cNvSpPr/>
          <p:nvPr/>
        </p:nvSpPr>
        <p:spPr>
          <a:xfrm>
            <a:off x="1909763" y="908050"/>
            <a:ext cx="2514600" cy="3762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r>
              <a:rPr lang="zh-CN" altLang="en-US" sz="2000" b="1" dirty="0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联立以下两式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graphicFrame>
        <p:nvGraphicFramePr>
          <p:cNvPr id="529417" name="Object 9"/>
          <p:cNvGraphicFramePr/>
          <p:nvPr/>
        </p:nvGraphicFramePr>
        <p:xfrm>
          <a:off x="1820864" y="1403350"/>
          <a:ext cx="21939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51865" imgH="254000" progId="Equation.3">
                  <p:embed/>
                </p:oleObj>
              </mc:Choice>
              <mc:Fallback>
                <p:oleObj r:id="rId7" imgW="951865" imgH="254000" progId="Equation.3">
                  <p:embed/>
                  <p:pic>
                    <p:nvPicPr>
                      <p:cNvPr id="529417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20864" y="1403350"/>
                        <a:ext cx="21939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8" name="Object 10"/>
          <p:cNvGraphicFramePr/>
          <p:nvPr/>
        </p:nvGraphicFramePr>
        <p:xfrm>
          <a:off x="4521200" y="1493838"/>
          <a:ext cx="1752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36600" imgH="228600" progId="Equation.3">
                  <p:embed/>
                </p:oleObj>
              </mc:Choice>
              <mc:Fallback>
                <p:oleObj r:id="rId9" imgW="736600" imgH="228600" progId="Equation.3">
                  <p:embed/>
                  <p:pic>
                    <p:nvPicPr>
                      <p:cNvPr id="529418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21200" y="1493838"/>
                        <a:ext cx="1752600" cy="45085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1524000" y="1989139"/>
            <a:ext cx="4953000" cy="655637"/>
            <a:chOff x="144" y="1152"/>
            <a:chExt cx="3120" cy="405"/>
          </a:xfrm>
        </p:grpSpPr>
        <p:sp>
          <p:nvSpPr>
            <p:cNvPr id="22539" name="Rectangle 12"/>
            <p:cNvSpPr/>
            <p:nvPr/>
          </p:nvSpPr>
          <p:spPr>
            <a:xfrm>
              <a:off x="144" y="1152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得：</a:t>
              </a:r>
            </a:p>
          </p:txBody>
        </p:sp>
        <p:graphicFrame>
          <p:nvGraphicFramePr>
            <p:cNvPr id="22540" name="Object 13"/>
            <p:cNvGraphicFramePr/>
            <p:nvPr/>
          </p:nvGraphicFramePr>
          <p:xfrm>
            <a:off x="480" y="1248"/>
            <a:ext cx="278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284095" imgH="254000" progId="Equation.3">
                    <p:embed/>
                  </p:oleObj>
                </mc:Choice>
                <mc:Fallback>
                  <p:oleObj r:id="rId11" imgW="2284095" imgH="254000" progId="Equation.3">
                    <p:embed/>
                    <p:pic>
                      <p:nvPicPr>
                        <p:cNvPr id="22540" name="Object 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80" y="1248"/>
                          <a:ext cx="2784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1524000" y="2693988"/>
            <a:ext cx="4191000" cy="914400"/>
            <a:chOff x="144" y="1697"/>
            <a:chExt cx="2474" cy="563"/>
          </a:xfrm>
        </p:grpSpPr>
        <p:sp>
          <p:nvSpPr>
            <p:cNvPr id="22542" name="Rectangle 15"/>
            <p:cNvSpPr/>
            <p:nvPr/>
          </p:nvSpPr>
          <p:spPr>
            <a:xfrm>
              <a:off x="144" y="1728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所以</a:t>
              </a:r>
              <a:r>
                <a:rPr lang="zh-CN" altLang="en-US" sz="24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22543" name="Object 16"/>
            <p:cNvGraphicFramePr/>
            <p:nvPr/>
          </p:nvGraphicFramePr>
          <p:xfrm>
            <a:off x="624" y="1697"/>
            <a:ext cx="1994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74165" imgH="444500" progId="Equation.3">
                    <p:embed/>
                  </p:oleObj>
                </mc:Choice>
                <mc:Fallback>
                  <p:oleObj r:id="rId13" imgW="1574165" imgH="444500" progId="Equation.3">
                    <p:embed/>
                    <p:pic>
                      <p:nvPicPr>
                        <p:cNvPr id="22543" name="Object 1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24" y="1697"/>
                          <a:ext cx="1994" cy="5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/>
          <p:nvPr/>
        </p:nvGrpSpPr>
        <p:grpSpPr>
          <a:xfrm>
            <a:off x="1828800" y="3519488"/>
            <a:ext cx="2819400" cy="1689100"/>
            <a:chOff x="192" y="2400"/>
            <a:chExt cx="1747" cy="1060"/>
          </a:xfrm>
        </p:grpSpPr>
        <p:graphicFrame>
          <p:nvGraphicFramePr>
            <p:cNvPr id="22545" name="Object 21"/>
            <p:cNvGraphicFramePr/>
            <p:nvPr/>
          </p:nvGraphicFramePr>
          <p:xfrm>
            <a:off x="720" y="2400"/>
            <a:ext cx="782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635000" imgH="444500" progId="Equation.3">
                    <p:embed/>
                  </p:oleObj>
                </mc:Choice>
                <mc:Fallback>
                  <p:oleObj r:id="rId15" imgW="635000" imgH="444500" progId="Equation.3">
                    <p:embed/>
                    <p:pic>
                      <p:nvPicPr>
                        <p:cNvPr id="22545" name="Object 2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20" y="2400"/>
                          <a:ext cx="782" cy="5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22"/>
            <p:cNvSpPr/>
            <p:nvPr/>
          </p:nvSpPr>
          <p:spPr>
            <a:xfrm>
              <a:off x="192" y="2448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令</a:t>
              </a:r>
              <a:r>
                <a:rPr lang="zh-CN" altLang="en-US" sz="24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22547" name="Object 23"/>
            <p:cNvGraphicFramePr/>
            <p:nvPr/>
          </p:nvGraphicFramePr>
          <p:xfrm>
            <a:off x="624" y="2949"/>
            <a:ext cx="1315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079500" imgH="419100" progId="Equation.3">
                    <p:embed/>
                  </p:oleObj>
                </mc:Choice>
                <mc:Fallback>
                  <p:oleObj r:id="rId17" imgW="1079500" imgH="419100" progId="Equation.3">
                    <p:embed/>
                    <p:pic>
                      <p:nvPicPr>
                        <p:cNvPr id="22547" name="Object 2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4" y="2949"/>
                          <a:ext cx="1315" cy="5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2548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4113" y="2114551"/>
            <a:ext cx="2209800" cy="7143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2549" name="Text Box 25"/>
          <p:cNvSpPr txBox="1"/>
          <p:nvPr/>
        </p:nvSpPr>
        <p:spPr>
          <a:xfrm>
            <a:off x="4025901" y="1379538"/>
            <a:ext cx="360363" cy="36933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grpSp>
        <p:nvGrpSpPr>
          <p:cNvPr id="5" name="Group 38"/>
          <p:cNvGrpSpPr/>
          <p:nvPr/>
        </p:nvGrpSpPr>
        <p:grpSpPr>
          <a:xfrm>
            <a:off x="1774826" y="5094289"/>
            <a:ext cx="8469313" cy="1476375"/>
            <a:chOff x="0" y="3379"/>
            <a:chExt cx="5335" cy="930"/>
          </a:xfrm>
        </p:grpSpPr>
        <p:grpSp>
          <p:nvGrpSpPr>
            <p:cNvPr id="22551" name="Group 31"/>
            <p:cNvGrpSpPr/>
            <p:nvPr/>
          </p:nvGrpSpPr>
          <p:grpSpPr>
            <a:xfrm>
              <a:off x="0" y="3379"/>
              <a:ext cx="2241" cy="466"/>
              <a:chOff x="0" y="3436"/>
              <a:chExt cx="2241" cy="466"/>
            </a:xfrm>
          </p:grpSpPr>
          <p:graphicFrame>
            <p:nvGraphicFramePr>
              <p:cNvPr id="22552" name="Object 18"/>
              <p:cNvGraphicFramePr/>
              <p:nvPr/>
            </p:nvGraphicFramePr>
            <p:xfrm>
              <a:off x="414" y="3521"/>
              <a:ext cx="1827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383030" imgH="254000" progId="Equation.3">
                      <p:embed/>
                    </p:oleObj>
                  </mc:Choice>
                  <mc:Fallback>
                    <p:oleObj r:id="rId20" imgW="1383030" imgH="254000" progId="Equation.3">
                      <p:embed/>
                      <p:pic>
                        <p:nvPicPr>
                          <p:cNvPr id="22552" name="Object 18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14" y="3521"/>
                            <a:ext cx="1827" cy="381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chemeClr val="tx2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3" name="Rectangle 19"/>
              <p:cNvSpPr/>
              <p:nvPr/>
            </p:nvSpPr>
            <p:spPr>
              <a:xfrm>
                <a:off x="0" y="3436"/>
                <a:ext cx="384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b" anchorCtr="0"/>
              <a:lstStyle/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得：</a:t>
                </a:r>
              </a:p>
            </p:txBody>
          </p:sp>
        </p:grpSp>
        <p:sp>
          <p:nvSpPr>
            <p:cNvPr id="22554" name="Text Box 27"/>
            <p:cNvSpPr txBox="1"/>
            <p:nvPr/>
          </p:nvSpPr>
          <p:spPr>
            <a:xfrm>
              <a:off x="2455" y="3407"/>
              <a:ext cx="2880" cy="90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为共发射极电流放大系数</a:t>
              </a: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可见三极管具有电流放大作用：</a:t>
              </a: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是 </a:t>
              </a: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</a:t>
              </a:r>
              <a:r>
                <a:rPr lang="el-GR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β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倍。</a:t>
              </a:r>
            </a:p>
          </p:txBody>
        </p:sp>
      </p:grpSp>
      <p:grpSp>
        <p:nvGrpSpPr>
          <p:cNvPr id="7" name="Group 33"/>
          <p:cNvGrpSpPr/>
          <p:nvPr/>
        </p:nvGrpSpPr>
        <p:grpSpPr>
          <a:xfrm>
            <a:off x="1865630" y="6039486"/>
            <a:ext cx="4032250" cy="525463"/>
            <a:chOff x="295" y="3702"/>
            <a:chExt cx="2540" cy="331"/>
          </a:xfrm>
        </p:grpSpPr>
        <p:sp>
          <p:nvSpPr>
            <p:cNvPr id="22556" name="Text Box 34"/>
            <p:cNvSpPr txBox="1"/>
            <p:nvPr/>
          </p:nvSpPr>
          <p:spPr>
            <a:xfrm>
              <a:off x="295" y="3702"/>
              <a:ext cx="254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(3)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=(1+    )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22557" name="Group 35"/>
            <p:cNvGrpSpPr/>
            <p:nvPr/>
          </p:nvGrpSpPr>
          <p:grpSpPr>
            <a:xfrm>
              <a:off x="1927" y="3793"/>
              <a:ext cx="135" cy="240"/>
              <a:chOff x="3384" y="3828"/>
              <a:chExt cx="135" cy="240"/>
            </a:xfrm>
          </p:grpSpPr>
          <p:sp>
            <p:nvSpPr>
              <p:cNvPr id="22558" name="Line 36"/>
              <p:cNvSpPr/>
              <p:nvPr/>
            </p:nvSpPr>
            <p:spPr>
              <a:xfrm>
                <a:off x="3384" y="3840"/>
                <a:ext cx="135" cy="1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9" name="Rectangle 37"/>
              <p:cNvSpPr/>
              <p:nvPr/>
            </p:nvSpPr>
            <p:spPr>
              <a:xfrm>
                <a:off x="3384" y="3828"/>
                <a:ext cx="110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500" b="1" i="1" dirty="0">
                    <a:solidFill>
                      <a:srgbClr val="0000FF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b</a:t>
                </a:r>
                <a:endPara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70126" y="773431"/>
            <a:ext cx="77209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l-G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三极管的电流控制放大特性：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l-GR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三极管的集电极电流</a:t>
            </a: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受基极电流</a:t>
            </a: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控制，在放大状态下</a:t>
            </a: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</a:t>
            </a:r>
            <a:r>
              <a:rPr lang="el-GR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β</a:t>
            </a:r>
            <a:r>
              <a:rPr lang="en-US" altLang="el-GR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el-GR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，通过一个小的基极电流</a:t>
            </a: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的变化就可控制大的集电极电流</a:t>
            </a: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的变化，实现电流放大。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l-GR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正常放大时共发射极放大倍数</a:t>
            </a:r>
            <a:r>
              <a:rPr lang="zh-CN" altLang="el-GR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β</a:t>
            </a:r>
            <a:r>
              <a:rPr lang="zh-CN" altLang="el-GR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大小只与三极管材料特性和结构参数有关，其值基本不变，一般在几十到几百之间。</a:t>
            </a:r>
            <a:endParaRPr lang="en-US" altLang="zh-CN" sz="2800" b="1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放大状态重要两个公式：</a:t>
            </a:r>
            <a:endParaRPr lang="en-US" altLang="zh-CN" sz="2800" b="1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E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el-GR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el-GR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+</a:t>
            </a:r>
            <a:r>
              <a:rPr lang="en-US" altLang="el-GR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el-GR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 </a:t>
            </a:r>
            <a:r>
              <a:rPr lang="zh-CN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</a:t>
            </a:r>
            <a:r>
              <a:rPr lang="el-GR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β</a:t>
            </a:r>
            <a:r>
              <a:rPr lang="en-US" altLang="el-GR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el-GR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endParaRPr lang="zh-CN" altLang="el-GR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100" y="4286680"/>
            <a:ext cx="3240360" cy="22082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56240" y="482415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1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65882" y="4375872"/>
            <a:ext cx="264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altLang="en-US" sz="1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61285" y="4893260"/>
            <a:ext cx="219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zh-CN" altLang="en-US" sz="1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454" y="5675802"/>
            <a:ext cx="580693" cy="646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98E9877-B199-C83C-393A-4363BB01105D}"/>
              </a:ext>
            </a:extLst>
          </p:cNvPr>
          <p:cNvGrpSpPr/>
          <p:nvPr/>
        </p:nvGrpSpPr>
        <p:grpSpPr>
          <a:xfrm>
            <a:off x="1" y="5241756"/>
            <a:ext cx="2887663" cy="1600200"/>
            <a:chOff x="1968" y="3168"/>
            <a:chExt cx="1819" cy="100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7C8E3E3-5230-EA3C-1DF4-81324D00D385}"/>
                </a:ext>
              </a:extLst>
            </p:cNvPr>
            <p:cNvSpPr/>
            <p:nvPr/>
          </p:nvSpPr>
          <p:spPr>
            <a:xfrm>
              <a:off x="1968" y="3168"/>
              <a:ext cx="1761" cy="1008"/>
            </a:xfrm>
            <a:prstGeom prst="rect">
              <a:avLst/>
            </a:prstGeom>
            <a:solidFill>
              <a:srgbClr val="CCFFCC"/>
            </a:solidFill>
            <a:ln w="27051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E7C8199-2A05-6D89-AFFC-2018EEACD51C}"/>
                </a:ext>
              </a:extLst>
            </p:cNvPr>
            <p:cNvGrpSpPr/>
            <p:nvPr/>
          </p:nvGrpSpPr>
          <p:grpSpPr>
            <a:xfrm>
              <a:off x="1968" y="3168"/>
              <a:ext cx="1819" cy="853"/>
              <a:chOff x="3264" y="3024"/>
              <a:chExt cx="1632" cy="528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EFBE5C-CAA4-FB2D-5130-ED8C43AB4D9C}"/>
                  </a:ext>
                </a:extLst>
              </p:cNvPr>
              <p:cNvSpPr txBox="1"/>
              <p:nvPr/>
            </p:nvSpPr>
            <p:spPr>
              <a:xfrm>
                <a:off x="3264" y="3216"/>
                <a:ext cx="768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导通压降</a:t>
                </a:r>
              </a:p>
            </p:txBody>
          </p:sp>
          <p:sp>
            <p:nvSpPr>
              <p:cNvPr id="12" name="左大括号 11">
                <a:extLst>
                  <a:ext uri="{FF2B5EF4-FFF2-40B4-BE49-F238E27FC236}">
                    <a16:creationId xmlns:a16="http://schemas.microsoft.com/office/drawing/2014/main" id="{DC4AD00C-8146-BDEB-6870-0CDFBCBB9F5B}"/>
                  </a:ext>
                </a:extLst>
              </p:cNvPr>
              <p:cNvSpPr/>
              <p:nvPr/>
            </p:nvSpPr>
            <p:spPr>
              <a:xfrm>
                <a:off x="4032" y="3120"/>
                <a:ext cx="144" cy="43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27051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endParaRPr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D3B82A-DE83-A457-15E0-22AB8DC1E003}"/>
                  </a:ext>
                </a:extLst>
              </p:cNvPr>
              <p:cNvSpPr txBox="1"/>
              <p:nvPr/>
            </p:nvSpPr>
            <p:spPr>
              <a:xfrm>
                <a:off x="4177" y="3024"/>
                <a:ext cx="719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硅 </a:t>
                </a:r>
                <a:r>
                  <a:rPr lang="en-US" altLang="zh-CN" sz="2000" b="1" dirty="0"/>
                  <a:t>0.7V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857649D-1F04-C83B-18C6-156DB4CD0305}"/>
                  </a:ext>
                </a:extLst>
              </p:cNvPr>
              <p:cNvSpPr txBox="1"/>
              <p:nvPr/>
            </p:nvSpPr>
            <p:spPr>
              <a:xfrm>
                <a:off x="4177" y="3360"/>
                <a:ext cx="719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锗 </a:t>
                </a:r>
                <a:r>
                  <a:rPr lang="en-US" altLang="zh-CN" sz="2000" b="1" dirty="0"/>
                  <a:t>0.3V</a:t>
                </a:r>
              </a:p>
            </p:txBody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矩形 531457"/>
          <p:cNvSpPr/>
          <p:nvPr/>
        </p:nvSpPr>
        <p:spPr>
          <a:xfrm>
            <a:off x="1981200" y="2362200"/>
            <a:ext cx="3429000" cy="685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 ↑ → 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↑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31459" name="矩形 531458"/>
          <p:cNvSpPr/>
          <p:nvPr/>
        </p:nvSpPr>
        <p:spPr>
          <a:xfrm>
            <a:off x="1752600" y="2971800"/>
            <a:ext cx="3657600" cy="2971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） 当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＞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1V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后，收集电子的能力足够强。这时，发射到基区的电子都被集电极收集，形成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。所以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再增加，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基本保持不变。</a:t>
            </a:r>
          </a:p>
        </p:txBody>
      </p:sp>
      <p:sp>
        <p:nvSpPr>
          <p:cNvPr id="531460" name="矩形 531459"/>
          <p:cNvSpPr/>
          <p:nvPr/>
        </p:nvSpPr>
        <p:spPr>
          <a:xfrm>
            <a:off x="2133600" y="5867400"/>
            <a:ext cx="4800600" cy="685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同理，可作出</a:t>
            </a:r>
            <a:r>
              <a:rPr lang="en-US" altLang="zh-CN" sz="2400" b="1" i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3333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其他值的曲线。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                                  </a:t>
            </a:r>
            <a:r>
              <a:rPr lang="zh-CN" altLang="en-US" sz="2000" dirty="0">
                <a:solidFill>
                  <a:srgbClr val="FF5050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pic>
        <p:nvPicPr>
          <p:cNvPr id="531461" name="图片 5314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67001"/>
            <a:ext cx="4738688" cy="31527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1462" name="图片 5314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50" y="3048001"/>
            <a:ext cx="4114800" cy="257651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31463" name="矩形 531462"/>
          <p:cNvSpPr/>
          <p:nvPr/>
        </p:nvSpPr>
        <p:spPr>
          <a:xfrm>
            <a:off x="2046289" y="638175"/>
            <a:ext cx="54451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输出特性曲线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const</a:t>
            </a:r>
          </a:p>
        </p:txBody>
      </p:sp>
      <p:sp>
        <p:nvSpPr>
          <p:cNvPr id="531464" name="矩形 531463"/>
          <p:cNvSpPr/>
          <p:nvPr/>
        </p:nvSpPr>
        <p:spPr>
          <a:xfrm>
            <a:off x="2316164" y="1179514"/>
            <a:ext cx="4067139" cy="46166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现以</a:t>
            </a:r>
            <a:r>
              <a:rPr lang="en-US" altLang="zh-CN" sz="2400" b="1" i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3333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=60uA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一条加以说明。</a:t>
            </a:r>
          </a:p>
        </p:txBody>
      </p:sp>
      <p:sp>
        <p:nvSpPr>
          <p:cNvPr id="531465" name="矩形 531464"/>
          <p:cNvSpPr/>
          <p:nvPr/>
        </p:nvSpPr>
        <p:spPr>
          <a:xfrm>
            <a:off x="2000251" y="1628776"/>
            <a:ext cx="7064375" cy="83099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）当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sz="1400" b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时，</a:t>
            </a:r>
          </a:p>
          <a:p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因集电极无收集作用，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531466" name="图片 5314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563" y="368301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8" grpId="0"/>
      <p:bldP spid="531459" grpId="0"/>
      <p:bldP spid="531460" grpId="0"/>
      <p:bldP spid="531464" grpId="0"/>
      <p:bldP spid="5314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5" name="文本框 653314"/>
          <p:cNvSpPr txBox="1"/>
          <p:nvPr/>
        </p:nvSpPr>
        <p:spPr>
          <a:xfrm>
            <a:off x="2180590" y="1313816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截止区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接近零的区域，相当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的曲线的下方。                     此时，发射结反偏，集电结反偏。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53318" name="图片 6533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933701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3321" name="圆角矩形标注 653320"/>
          <p:cNvSpPr/>
          <p:nvPr/>
        </p:nvSpPr>
        <p:spPr>
          <a:xfrm>
            <a:off x="8796020" y="4156749"/>
            <a:ext cx="1206500" cy="511735"/>
          </a:xfrm>
          <a:prstGeom prst="wedgeRoundRectCallout">
            <a:avLst>
              <a:gd name="adj1" fmla="val -101368"/>
              <a:gd name="adj2" fmla="val 340335"/>
              <a:gd name="adj3" fmla="val 16667"/>
            </a:avLst>
          </a:prstGeom>
          <a:solidFill>
            <a:srgbClr val="FF99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截止区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3322" name="矩形 653321"/>
          <p:cNvSpPr/>
          <p:nvPr/>
        </p:nvSpPr>
        <p:spPr>
          <a:xfrm>
            <a:off x="2895600" y="381000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输出特性曲线可以分为三个区域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pic>
        <p:nvPicPr>
          <p:cNvPr id="653323" name="图片 653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788" y="368301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955165" y="3608706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开关工作特性</a:t>
            </a: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三极管电流为零，电路断开不通，相当于三极管开关特性的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5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65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/>
      <p:bldP spid="653321" grpId="0" bldLvl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文本框 655361"/>
          <p:cNvSpPr txBox="1"/>
          <p:nvPr/>
        </p:nvSpPr>
        <p:spPr>
          <a:xfrm>
            <a:off x="2000251" y="863601"/>
            <a:ext cx="3508375" cy="19996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饱和区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受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显著控制的区域，该区域内输出电压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非常小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CE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＜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0.7</a:t>
            </a:r>
            <a:r>
              <a:rPr lang="en-US" altLang="zh-CN" sz="10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，此时发射结正偏，集电结也正偏。</a:t>
            </a:r>
          </a:p>
        </p:txBody>
      </p:sp>
      <p:pic>
        <p:nvPicPr>
          <p:cNvPr id="655366" name="图片 6553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743201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5367" name="圆角矩形标注 655366"/>
          <p:cNvSpPr/>
          <p:nvPr/>
        </p:nvSpPr>
        <p:spPr>
          <a:xfrm>
            <a:off x="4475163" y="3070013"/>
            <a:ext cx="1206500" cy="511603"/>
          </a:xfrm>
          <a:prstGeom prst="wedgeRoundRectCallout">
            <a:avLst>
              <a:gd name="adj1" fmla="val 82552"/>
              <a:gd name="adj2" fmla="val 217339"/>
              <a:gd name="adj3" fmla="val 16667"/>
            </a:avLst>
          </a:prstGeom>
          <a:solidFill>
            <a:srgbClr val="FFFF00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饱和区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5370" name="矩形 655369"/>
          <p:cNvSpPr/>
          <p:nvPr/>
        </p:nvSpPr>
        <p:spPr>
          <a:xfrm>
            <a:off x="2540635" y="278765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输出特性曲线可以分为三个区域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pic>
        <p:nvPicPr>
          <p:cNvPr id="655371" name="图片 655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788" y="368301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910080" y="3563621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开关工作特性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：饱和区三极管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非常小，接近于零，这意味着三极管几乎完全导通，相当于三极管开关特性的“开”特性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5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2" grpId="0"/>
      <p:bldP spid="655367" grpId="0" bldLvl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文本框 654337"/>
          <p:cNvSpPr txBox="1"/>
          <p:nvPr/>
        </p:nvSpPr>
        <p:spPr>
          <a:xfrm>
            <a:off x="2148206" y="914400"/>
            <a:ext cx="8519795" cy="89154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饱和区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受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显著控制，该区域内输出电压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非常小。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此时发射结正偏，集电结也正偏。</a:t>
            </a:r>
          </a:p>
        </p:txBody>
      </p:sp>
      <p:sp>
        <p:nvSpPr>
          <p:cNvPr id="654339" name="文本框 654338"/>
          <p:cNvSpPr txBox="1"/>
          <p:nvPr/>
        </p:nvSpPr>
        <p:spPr>
          <a:xfrm>
            <a:off x="2148206" y="1828800"/>
            <a:ext cx="7940675" cy="1261884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截止区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接近零的区域，相当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的曲线的下方。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此时，发射结反偏，集电结反偏。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4340" name="文本框 654339"/>
          <p:cNvSpPr txBox="1"/>
          <p:nvPr/>
        </p:nvSpPr>
        <p:spPr>
          <a:xfrm>
            <a:off x="2225040" y="3048000"/>
            <a:ext cx="2971800" cy="2369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放大区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曲线基本平行等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距。 此时，发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射结正偏，集电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结反偏。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该区中有：</a:t>
            </a:r>
          </a:p>
        </p:txBody>
      </p:sp>
      <p:graphicFrame>
        <p:nvGraphicFramePr>
          <p:cNvPr id="654341" name="对象 654340"/>
          <p:cNvGraphicFramePr/>
          <p:nvPr/>
        </p:nvGraphicFramePr>
        <p:xfrm>
          <a:off x="3055939" y="5562601"/>
          <a:ext cx="1584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5965" imgH="254000" progId="Equation.3">
                  <p:embed/>
                </p:oleObj>
              </mc:Choice>
              <mc:Fallback>
                <p:oleObj r:id="rId2" imgW="735965" imgH="254000" progId="Equation.3">
                  <p:embed/>
                  <p:pic>
                    <p:nvPicPr>
                      <p:cNvPr id="654341" name="对象 65434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55939" y="5562601"/>
                        <a:ext cx="158432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4342" name="图片 6543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43201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4343" name="圆角矩形标注 654342"/>
          <p:cNvSpPr/>
          <p:nvPr/>
        </p:nvSpPr>
        <p:spPr>
          <a:xfrm>
            <a:off x="4372731" y="2750130"/>
            <a:ext cx="1147838" cy="513191"/>
          </a:xfrm>
          <a:prstGeom prst="wedgeRoundRectCallout">
            <a:avLst>
              <a:gd name="adj1" fmla="val 100130"/>
              <a:gd name="adj2" fmla="val 240662"/>
              <a:gd name="adj3" fmla="val 16667"/>
            </a:avLst>
          </a:prstGeom>
          <a:solidFill>
            <a:srgbClr val="FFFF00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饱和区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4" name="圆角矩形标注 654343"/>
          <p:cNvSpPr/>
          <p:nvPr/>
        </p:nvSpPr>
        <p:spPr>
          <a:xfrm>
            <a:off x="7649331" y="2826330"/>
            <a:ext cx="1147838" cy="513191"/>
          </a:xfrm>
          <a:prstGeom prst="wedgeRoundRectCallout">
            <a:avLst>
              <a:gd name="adj1" fmla="val -90394"/>
              <a:gd name="adj2" fmla="val 233435"/>
              <a:gd name="adj3" fmla="val 16667"/>
            </a:avLst>
          </a:prstGeom>
          <a:solidFill>
            <a:srgbClr val="CCFF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放大区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5" name="圆角矩形标注 654344"/>
          <p:cNvSpPr/>
          <p:nvPr/>
        </p:nvSpPr>
        <p:spPr>
          <a:xfrm>
            <a:off x="6125331" y="6179130"/>
            <a:ext cx="1147838" cy="513191"/>
          </a:xfrm>
          <a:prstGeom prst="wedgeRoundRectCallout">
            <a:avLst>
              <a:gd name="adj1" fmla="val 100130"/>
              <a:gd name="adj2" fmla="val -85843"/>
              <a:gd name="adj3" fmla="val 16667"/>
            </a:avLst>
          </a:prstGeom>
          <a:solidFill>
            <a:srgbClr val="FF99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截止区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6" name="矩形 654345"/>
          <p:cNvSpPr/>
          <p:nvPr/>
        </p:nvSpPr>
        <p:spPr>
          <a:xfrm>
            <a:off x="2895600" y="381000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输出特性曲线可以分为三个区域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5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8" grpId="0"/>
      <p:bldP spid="654339" grpId="0"/>
      <p:bldP spid="654340" grpId="0"/>
      <p:bldP spid="654343" grpId="0" animBg="1"/>
      <p:bldP spid="654344" grpId="0" animBg="1"/>
      <p:bldP spid="6543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文本占位符 533506"/>
          <p:cNvSpPr>
            <a:spLocks noGrp="1"/>
          </p:cNvSpPr>
          <p:nvPr>
            <p:ph type="body" idx="4294967295"/>
          </p:nvPr>
        </p:nvSpPr>
        <p:spPr>
          <a:xfrm>
            <a:off x="2090103" y="638176"/>
            <a:ext cx="2457450" cy="430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电流放大系数</a:t>
            </a:r>
          </a:p>
        </p:txBody>
      </p:sp>
      <p:sp>
        <p:nvSpPr>
          <p:cNvPr id="533508" name="矩形 533507"/>
          <p:cNvSpPr/>
          <p:nvPr/>
        </p:nvSpPr>
        <p:spPr>
          <a:xfrm>
            <a:off x="1524000" y="5049838"/>
            <a:ext cx="4267200" cy="539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）共基极电流放大系数：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sz="2400" b="1" dirty="0">
              <a:solidFill>
                <a:srgbClr val="39393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33509" name="对象 533508"/>
          <p:cNvGraphicFramePr/>
          <p:nvPr/>
        </p:nvGraphicFramePr>
        <p:xfrm>
          <a:off x="2362200" y="1981201"/>
          <a:ext cx="9906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5300" imgH="444500" progId="Equation.3">
                  <p:embed/>
                </p:oleObj>
              </mc:Choice>
              <mc:Fallback>
                <p:oleObj r:id="rId2" imgW="495300" imgH="444500" progId="Equation.3">
                  <p:embed/>
                  <p:pic>
                    <p:nvPicPr>
                      <p:cNvPr id="533509" name="对象 53350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2200" y="1981201"/>
                        <a:ext cx="99060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0" name="对象 533509"/>
          <p:cNvGraphicFramePr/>
          <p:nvPr/>
        </p:nvGraphicFramePr>
        <p:xfrm>
          <a:off x="3581400" y="1981201"/>
          <a:ext cx="1066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6100" imgH="444500" progId="Equation.3">
                  <p:embed/>
                </p:oleObj>
              </mc:Choice>
              <mc:Fallback>
                <p:oleObj r:id="rId2" imgW="546100" imgH="444500" progId="Equation.3">
                  <p:embed/>
                  <p:pic>
                    <p:nvPicPr>
                      <p:cNvPr id="533510" name="对象 5335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1981201"/>
                        <a:ext cx="106680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1" name="对象 533510"/>
          <p:cNvGraphicFramePr/>
          <p:nvPr/>
        </p:nvGraphicFramePr>
        <p:xfrm>
          <a:off x="2405063" y="5634038"/>
          <a:ext cx="1295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4200" imgH="444500" progId="Equation.3">
                  <p:embed/>
                </p:oleObj>
              </mc:Choice>
              <mc:Fallback>
                <p:oleObj r:id="rId2" imgW="584200" imgH="444500" progId="Equation.3">
                  <p:embed/>
                  <p:pic>
                    <p:nvPicPr>
                      <p:cNvPr id="533511" name="对象 5335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05063" y="5634038"/>
                        <a:ext cx="1295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2" name="对象 533511"/>
          <p:cNvGraphicFramePr/>
          <p:nvPr/>
        </p:nvGraphicFramePr>
        <p:xfrm>
          <a:off x="3981451" y="5634038"/>
          <a:ext cx="14398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5000" imgH="444500" progId="Equation.3">
                  <p:embed/>
                </p:oleObj>
              </mc:Choice>
              <mc:Fallback>
                <p:oleObj r:id="rId2" imgW="635000" imgH="444500" progId="Equation.3">
                  <p:embed/>
                  <p:pic>
                    <p:nvPicPr>
                      <p:cNvPr id="533512" name="对象 5335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1451" y="5634038"/>
                        <a:ext cx="1439863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3513" name="组合 533512"/>
          <p:cNvGrpSpPr/>
          <p:nvPr/>
        </p:nvGrpSpPr>
        <p:grpSpPr>
          <a:xfrm>
            <a:off x="5316474" y="1154114"/>
            <a:ext cx="5286504" cy="3060715"/>
            <a:chOff x="2388" y="727"/>
            <a:chExt cx="3201" cy="1919"/>
          </a:xfrm>
        </p:grpSpPr>
        <p:sp>
          <p:nvSpPr>
            <p:cNvPr id="533514" name="直接连接符 533513"/>
            <p:cNvSpPr/>
            <p:nvPr/>
          </p:nvSpPr>
          <p:spPr>
            <a:xfrm flipH="1">
              <a:off x="4949" y="2525"/>
              <a:ext cx="68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5" name="直接连接符 533514"/>
            <p:cNvSpPr/>
            <p:nvPr/>
          </p:nvSpPr>
          <p:spPr>
            <a:xfrm>
              <a:off x="4949" y="2514"/>
              <a:ext cx="68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6" name="直接连接符 533515"/>
            <p:cNvSpPr/>
            <p:nvPr/>
          </p:nvSpPr>
          <p:spPr>
            <a:xfrm flipV="1">
              <a:off x="4949" y="2514"/>
              <a:ext cx="1" cy="2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7" name="直接连接符 533516"/>
            <p:cNvSpPr/>
            <p:nvPr/>
          </p:nvSpPr>
          <p:spPr>
            <a:xfrm>
              <a:off x="4949" y="2514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8" name="直接连接符 533517"/>
            <p:cNvSpPr/>
            <p:nvPr/>
          </p:nvSpPr>
          <p:spPr>
            <a:xfrm>
              <a:off x="5017" y="252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9" name="直接连接符 533518"/>
            <p:cNvSpPr/>
            <p:nvPr/>
          </p:nvSpPr>
          <p:spPr>
            <a:xfrm>
              <a:off x="4949" y="2525"/>
              <a:ext cx="68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0" name="直接连接符 533519"/>
            <p:cNvSpPr/>
            <p:nvPr/>
          </p:nvSpPr>
          <p:spPr>
            <a:xfrm>
              <a:off x="4949" y="2536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1" name="直接连接符 533520"/>
            <p:cNvSpPr/>
            <p:nvPr/>
          </p:nvSpPr>
          <p:spPr>
            <a:xfrm>
              <a:off x="4836" y="2525"/>
              <a:ext cx="11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2" name="直接连接符 533521"/>
            <p:cNvSpPr/>
            <p:nvPr/>
          </p:nvSpPr>
          <p:spPr>
            <a:xfrm flipH="1">
              <a:off x="2779" y="749"/>
              <a:ext cx="1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3" name="直接连接符 533522"/>
            <p:cNvSpPr/>
            <p:nvPr/>
          </p:nvSpPr>
          <p:spPr>
            <a:xfrm flipH="1" flipV="1">
              <a:off x="2790" y="749"/>
              <a:ext cx="1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4" name="直接连接符 533523"/>
            <p:cNvSpPr/>
            <p:nvPr/>
          </p:nvSpPr>
          <p:spPr>
            <a:xfrm>
              <a:off x="2779" y="815"/>
              <a:ext cx="2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5" name="直接连接符 533524"/>
            <p:cNvSpPr/>
            <p:nvPr/>
          </p:nvSpPr>
          <p:spPr>
            <a:xfrm>
              <a:off x="2801" y="81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6" name="直接连接符 533525"/>
            <p:cNvSpPr/>
            <p:nvPr/>
          </p:nvSpPr>
          <p:spPr>
            <a:xfrm>
              <a:off x="2790" y="749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7" name="直接连接符 533526"/>
            <p:cNvSpPr/>
            <p:nvPr/>
          </p:nvSpPr>
          <p:spPr>
            <a:xfrm flipV="1">
              <a:off x="2790" y="749"/>
              <a:ext cx="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8" name="直接连接符 533527"/>
            <p:cNvSpPr/>
            <p:nvPr/>
          </p:nvSpPr>
          <p:spPr>
            <a:xfrm>
              <a:off x="2779" y="81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9" name="直接连接符 533528"/>
            <p:cNvSpPr/>
            <p:nvPr/>
          </p:nvSpPr>
          <p:spPr>
            <a:xfrm flipV="1">
              <a:off x="2790" y="815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0" name="任意多边形 533529"/>
            <p:cNvSpPr/>
            <p:nvPr/>
          </p:nvSpPr>
          <p:spPr>
            <a:xfrm>
              <a:off x="2899" y="1324"/>
              <a:ext cx="157" cy="154"/>
            </a:xfrm>
            <a:custGeom>
              <a:avLst/>
              <a:gdLst>
                <a:gd name="txL" fmla="*/ 0 w 20642"/>
                <a:gd name="txT" fmla="*/ 0 h 20895"/>
                <a:gd name="txR" fmla="*/ 20642 w 20642"/>
                <a:gd name="txB" fmla="*/ 20895 h 20895"/>
              </a:gdLst>
              <a:ahLst/>
              <a:cxnLst>
                <a:cxn ang="180">
                  <a:pos x="0" y="14533"/>
                </a:cxn>
                <a:cxn ang="270">
                  <a:pos x="15166" y="0"/>
                </a:cxn>
                <a:cxn ang="90">
                  <a:pos x="20642" y="20895"/>
                </a:cxn>
              </a:cxnLst>
              <a:rect l="txL" t="txT" r="txR" b="txB"/>
              <a:pathLst>
                <a:path w="20642" h="20895" fill="none">
                  <a:moveTo>
                    <a:pt x="0" y="14533"/>
                  </a:moveTo>
                  <a:arcTo wR="21600" hR="21600" stAng="-9772221" swAng="3491099"/>
                </a:path>
                <a:path w="20642" h="20895" stroke="0">
                  <a:moveTo>
                    <a:pt x="0" y="14533"/>
                  </a:moveTo>
                  <a:arcTo wR="21600" hR="21600" stAng="-9772221" swAng="3491099"/>
                  <a:lnTo>
                    <a:pt x="20642" y="20895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31" name="任意多边形 533530"/>
            <p:cNvSpPr/>
            <p:nvPr/>
          </p:nvSpPr>
          <p:spPr>
            <a:xfrm>
              <a:off x="2926" y="1072"/>
              <a:ext cx="164" cy="154"/>
            </a:xfrm>
            <a:custGeom>
              <a:avLst/>
              <a:gdLst>
                <a:gd name="txL" fmla="*/ 0 w 21585"/>
                <a:gd name="txT" fmla="*/ 0 h 20895"/>
                <a:gd name="txR" fmla="*/ 21585 w 21585"/>
                <a:gd name="txB" fmla="*/ 20895 h 20895"/>
              </a:gdLst>
              <a:ahLst/>
              <a:cxnLst>
                <a:cxn ang="180">
                  <a:pos x="0" y="20080"/>
                </a:cxn>
                <a:cxn ang="270">
                  <a:pos x="16109" y="0"/>
                </a:cxn>
                <a:cxn ang="0">
                  <a:pos x="21585" y="20895"/>
                </a:cxn>
              </a:cxnLst>
              <a:rect l="txL" t="txT" r="txR" b="txB"/>
              <a:pathLst>
                <a:path w="21585" h="20895" fill="none">
                  <a:moveTo>
                    <a:pt x="0" y="20080"/>
                  </a:moveTo>
                  <a:arcTo wR="21600" hR="21600" stAng="-10670260" swAng="4389138"/>
                </a:path>
                <a:path w="21585" h="20895" stroke="0">
                  <a:moveTo>
                    <a:pt x="0" y="20080"/>
                  </a:moveTo>
                  <a:arcTo wR="21600" hR="21600" stAng="-10670260" swAng="4389138"/>
                  <a:lnTo>
                    <a:pt x="21585" y="20895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32" name="任意多边形 533531"/>
            <p:cNvSpPr/>
            <p:nvPr/>
          </p:nvSpPr>
          <p:spPr>
            <a:xfrm>
              <a:off x="2887" y="1609"/>
              <a:ext cx="157" cy="154"/>
            </a:xfrm>
            <a:custGeom>
              <a:avLst/>
              <a:gdLst>
                <a:gd name="txL" fmla="*/ 0 w 20642"/>
                <a:gd name="txT" fmla="*/ 0 h 20928"/>
                <a:gd name="txR" fmla="*/ 20642 w 20642"/>
                <a:gd name="txB" fmla="*/ 20928 h 20928"/>
              </a:gdLst>
              <a:ahLst/>
              <a:cxnLst>
                <a:cxn ang="180">
                  <a:pos x="0" y="14566"/>
                </a:cxn>
                <a:cxn ang="270">
                  <a:pos x="15295" y="0"/>
                </a:cxn>
                <a:cxn ang="90">
                  <a:pos x="20642" y="20928"/>
                </a:cxn>
              </a:cxnLst>
              <a:rect l="txL" t="txT" r="txR" b="txB"/>
              <a:pathLst>
                <a:path w="20642" h="20928" fill="none">
                  <a:moveTo>
                    <a:pt x="0" y="14566"/>
                  </a:moveTo>
                  <a:arcTo wR="21600" hR="21600" stAng="-9772221" swAng="3512291"/>
                </a:path>
                <a:path w="20642" h="20928" stroke="0">
                  <a:moveTo>
                    <a:pt x="0" y="14566"/>
                  </a:moveTo>
                  <a:arcTo wR="21600" hR="21600" stAng="-9772221" swAng="3512291"/>
                  <a:lnTo>
                    <a:pt x="20642" y="20928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33" name="任意多边形 533532"/>
            <p:cNvSpPr/>
            <p:nvPr/>
          </p:nvSpPr>
          <p:spPr>
            <a:xfrm>
              <a:off x="2852" y="1934"/>
              <a:ext cx="193" cy="191"/>
            </a:xfrm>
            <a:custGeom>
              <a:avLst/>
              <a:gdLst>
                <a:gd name="txL" fmla="*/ 0 w 21143"/>
                <a:gd name="txT" fmla="*/ 0 h 21511"/>
                <a:gd name="txR" fmla="*/ 21143 w 21143"/>
                <a:gd name="txB" fmla="*/ 21511 h 21511"/>
              </a:gdLst>
              <a:ahLst/>
              <a:cxnLst>
                <a:cxn ang="180">
                  <a:pos x="0" y="17091"/>
                </a:cxn>
                <a:cxn ang="270">
                  <a:pos x="19182" y="0"/>
                </a:cxn>
                <a:cxn ang="90">
                  <a:pos x="21143" y="21511"/>
                </a:cxn>
              </a:cxnLst>
              <a:rect l="txL" t="txT" r="txR" b="txB"/>
              <a:pathLst>
                <a:path w="21143" h="21511" fill="none">
                  <a:moveTo>
                    <a:pt x="0" y="17091"/>
                  </a:moveTo>
                  <a:arcTo wR="21600" hR="21600" stAng="-10091533" swAng="4379003"/>
                </a:path>
                <a:path w="21143" h="21511" stroke="0">
                  <a:moveTo>
                    <a:pt x="0" y="17091"/>
                  </a:moveTo>
                  <a:arcTo wR="21600" hR="21600" stAng="-10091533" swAng="4379003"/>
                  <a:lnTo>
                    <a:pt x="21143" y="21511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34" name="任意多边形 533533"/>
            <p:cNvSpPr/>
            <p:nvPr/>
          </p:nvSpPr>
          <p:spPr>
            <a:xfrm>
              <a:off x="2805" y="2263"/>
              <a:ext cx="194" cy="191"/>
            </a:xfrm>
            <a:custGeom>
              <a:avLst/>
              <a:gdLst>
                <a:gd name="txL" fmla="*/ 0 w 21136"/>
                <a:gd name="txT" fmla="*/ 0 h 21521"/>
                <a:gd name="txR" fmla="*/ 21136 w 21136"/>
                <a:gd name="txB" fmla="*/ 21521 h 21521"/>
              </a:gdLst>
              <a:ahLst/>
              <a:cxnLst>
                <a:cxn ang="180">
                  <a:pos x="0" y="17067"/>
                </a:cxn>
                <a:cxn ang="270">
                  <a:pos x="19288" y="0"/>
                </a:cxn>
                <a:cxn ang="90">
                  <a:pos x="21136" y="21521"/>
                </a:cxn>
              </a:cxnLst>
              <a:rect l="txL" t="txT" r="txR" b="txB"/>
              <a:pathLst>
                <a:path w="21136" h="21521" fill="none">
                  <a:moveTo>
                    <a:pt x="0" y="17067"/>
                  </a:moveTo>
                  <a:arcTo wR="21600" hR="21600" stAng="-10086008" swAng="4391533"/>
                </a:path>
                <a:path w="21136" h="21521" stroke="0">
                  <a:moveTo>
                    <a:pt x="0" y="17067"/>
                  </a:moveTo>
                  <a:arcTo wR="21600" hR="21600" stAng="-10086008" swAng="4391533"/>
                  <a:lnTo>
                    <a:pt x="21136" y="21521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35" name="直接连接符 533534"/>
            <p:cNvSpPr/>
            <p:nvPr/>
          </p:nvSpPr>
          <p:spPr>
            <a:xfrm>
              <a:off x="2666" y="1725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6" name="直接连接符 533535"/>
            <p:cNvSpPr/>
            <p:nvPr/>
          </p:nvSpPr>
          <p:spPr>
            <a:xfrm flipV="1">
              <a:off x="3909" y="1604"/>
              <a:ext cx="1" cy="7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7" name="直接连接符 533536"/>
            <p:cNvSpPr/>
            <p:nvPr/>
          </p:nvSpPr>
          <p:spPr>
            <a:xfrm>
              <a:off x="3920" y="1769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8" name="直接连接符 533537"/>
            <p:cNvSpPr/>
            <p:nvPr/>
          </p:nvSpPr>
          <p:spPr>
            <a:xfrm flipV="1">
              <a:off x="3050" y="1023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9" name="直接连接符 533538"/>
            <p:cNvSpPr/>
            <p:nvPr/>
          </p:nvSpPr>
          <p:spPr>
            <a:xfrm>
              <a:off x="2835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0" name="直接连接符 533539"/>
            <p:cNvSpPr/>
            <p:nvPr/>
          </p:nvSpPr>
          <p:spPr>
            <a:xfrm>
              <a:off x="2847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1" name="直接连接符 533540"/>
            <p:cNvSpPr/>
            <p:nvPr/>
          </p:nvSpPr>
          <p:spPr>
            <a:xfrm>
              <a:off x="3853" y="1626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2" name="直接连接符 533541"/>
            <p:cNvSpPr/>
            <p:nvPr/>
          </p:nvSpPr>
          <p:spPr>
            <a:xfrm>
              <a:off x="3853" y="2021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3" name="直接连接符 533542"/>
            <p:cNvSpPr/>
            <p:nvPr/>
          </p:nvSpPr>
          <p:spPr>
            <a:xfrm>
              <a:off x="3265" y="1900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4" name="直接连接符 533543"/>
            <p:cNvSpPr/>
            <p:nvPr/>
          </p:nvSpPr>
          <p:spPr>
            <a:xfrm>
              <a:off x="3683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5" name="直接连接符 533544"/>
            <p:cNvSpPr/>
            <p:nvPr/>
          </p:nvSpPr>
          <p:spPr>
            <a:xfrm flipH="1">
              <a:off x="3920" y="1725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6" name="直接连接符 533545"/>
            <p:cNvSpPr/>
            <p:nvPr/>
          </p:nvSpPr>
          <p:spPr>
            <a:xfrm flipV="1">
              <a:off x="2711" y="1604"/>
              <a:ext cx="1" cy="7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7" name="直接连接符 533546"/>
            <p:cNvSpPr/>
            <p:nvPr/>
          </p:nvSpPr>
          <p:spPr>
            <a:xfrm>
              <a:off x="3853" y="1824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8" name="直接连接符 533547"/>
            <p:cNvSpPr/>
            <p:nvPr/>
          </p:nvSpPr>
          <p:spPr>
            <a:xfrm flipV="1">
              <a:off x="2982" y="1900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9" name="直接连接符 533548"/>
            <p:cNvSpPr/>
            <p:nvPr/>
          </p:nvSpPr>
          <p:spPr>
            <a:xfrm>
              <a:off x="3468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0" name="直接连接符 533549"/>
            <p:cNvSpPr/>
            <p:nvPr/>
          </p:nvSpPr>
          <p:spPr>
            <a:xfrm>
              <a:off x="3073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1" name="直接连接符 533550"/>
            <p:cNvSpPr/>
            <p:nvPr/>
          </p:nvSpPr>
          <p:spPr>
            <a:xfrm>
              <a:off x="2790" y="2525"/>
              <a:ext cx="193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2" name="直接连接符 533551"/>
            <p:cNvSpPr/>
            <p:nvPr/>
          </p:nvSpPr>
          <p:spPr>
            <a:xfrm flipH="1">
              <a:off x="2892" y="1198"/>
              <a:ext cx="45" cy="46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3" name="直接连接符 533552"/>
            <p:cNvSpPr/>
            <p:nvPr/>
          </p:nvSpPr>
          <p:spPr>
            <a:xfrm>
              <a:off x="3853" y="1209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4" name="直接连接符 533553"/>
            <p:cNvSpPr/>
            <p:nvPr/>
          </p:nvSpPr>
          <p:spPr>
            <a:xfrm>
              <a:off x="3853" y="1429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5" name="直接连接符 533554"/>
            <p:cNvSpPr/>
            <p:nvPr/>
          </p:nvSpPr>
          <p:spPr>
            <a:xfrm>
              <a:off x="2700" y="1769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6" name="直接连接符 533555"/>
            <p:cNvSpPr/>
            <p:nvPr/>
          </p:nvSpPr>
          <p:spPr>
            <a:xfrm>
              <a:off x="2700" y="1878"/>
              <a:ext cx="56" cy="2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7" name="直接连接符 533556"/>
            <p:cNvSpPr/>
            <p:nvPr/>
          </p:nvSpPr>
          <p:spPr>
            <a:xfrm flipH="1">
              <a:off x="2801" y="1670"/>
              <a:ext cx="79" cy="855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8" name="直接连接符 533557"/>
            <p:cNvSpPr/>
            <p:nvPr/>
          </p:nvSpPr>
          <p:spPr>
            <a:xfrm>
              <a:off x="2790" y="804"/>
              <a:ext cx="1" cy="175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9" name="直接连接符 533558"/>
            <p:cNvSpPr/>
            <p:nvPr/>
          </p:nvSpPr>
          <p:spPr>
            <a:xfrm flipV="1">
              <a:off x="2790" y="2493"/>
              <a:ext cx="1741" cy="3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0" name="直接连接符 533559"/>
            <p:cNvSpPr/>
            <p:nvPr/>
          </p:nvSpPr>
          <p:spPr>
            <a:xfrm flipH="1" flipV="1">
              <a:off x="3853" y="1582"/>
              <a:ext cx="56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1" name="直接连接符 533560"/>
            <p:cNvSpPr/>
            <p:nvPr/>
          </p:nvSpPr>
          <p:spPr>
            <a:xfrm flipH="1">
              <a:off x="2971" y="1330"/>
              <a:ext cx="1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2" name="直接连接符 533561"/>
            <p:cNvSpPr/>
            <p:nvPr/>
          </p:nvSpPr>
          <p:spPr>
            <a:xfrm>
              <a:off x="3672" y="1900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3" name="直接连接符 533562"/>
            <p:cNvSpPr/>
            <p:nvPr/>
          </p:nvSpPr>
          <p:spPr>
            <a:xfrm flipV="1">
              <a:off x="2677" y="1681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4" name="直接连接符 533563"/>
            <p:cNvSpPr/>
            <p:nvPr/>
          </p:nvSpPr>
          <p:spPr>
            <a:xfrm>
              <a:off x="3864" y="2394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5" name="直接连接符 533564"/>
            <p:cNvSpPr/>
            <p:nvPr/>
          </p:nvSpPr>
          <p:spPr>
            <a:xfrm>
              <a:off x="3480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6" name="直接连接符 533565"/>
            <p:cNvSpPr/>
            <p:nvPr/>
          </p:nvSpPr>
          <p:spPr>
            <a:xfrm flipH="1" flipV="1">
              <a:off x="3909" y="1681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7" name="直接连接符 533566"/>
            <p:cNvSpPr/>
            <p:nvPr/>
          </p:nvSpPr>
          <p:spPr>
            <a:xfrm flipV="1">
              <a:off x="2982" y="1297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8" name="直接连接符 533567"/>
            <p:cNvSpPr/>
            <p:nvPr/>
          </p:nvSpPr>
          <p:spPr>
            <a:xfrm flipH="1">
              <a:off x="3864" y="1878"/>
              <a:ext cx="56" cy="2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9" name="直接连接符 533568"/>
            <p:cNvSpPr/>
            <p:nvPr/>
          </p:nvSpPr>
          <p:spPr>
            <a:xfrm flipV="1">
              <a:off x="2971" y="1582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0" name="直接连接符 533569"/>
            <p:cNvSpPr/>
            <p:nvPr/>
          </p:nvSpPr>
          <p:spPr>
            <a:xfrm>
              <a:off x="3061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1" name="直接连接符 533570"/>
            <p:cNvSpPr/>
            <p:nvPr/>
          </p:nvSpPr>
          <p:spPr>
            <a:xfrm>
              <a:off x="3864" y="2196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2" name="直接连接符 533571"/>
            <p:cNvSpPr/>
            <p:nvPr/>
          </p:nvSpPr>
          <p:spPr>
            <a:xfrm>
              <a:off x="3853" y="1012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3" name="直接连接符 533572"/>
            <p:cNvSpPr/>
            <p:nvPr/>
          </p:nvSpPr>
          <p:spPr>
            <a:xfrm>
              <a:off x="3276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4" name="直接连接符 533573"/>
            <p:cNvSpPr/>
            <p:nvPr/>
          </p:nvSpPr>
          <p:spPr>
            <a:xfrm flipV="1">
              <a:off x="2711" y="1582"/>
              <a:ext cx="56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5" name="直接连接符 533574"/>
            <p:cNvSpPr/>
            <p:nvPr/>
          </p:nvSpPr>
          <p:spPr>
            <a:xfrm flipV="1">
              <a:off x="2982" y="2229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6" name="直接连接符 533575"/>
            <p:cNvSpPr/>
            <p:nvPr/>
          </p:nvSpPr>
          <p:spPr>
            <a:xfrm flipV="1">
              <a:off x="2790" y="924"/>
              <a:ext cx="1" cy="27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7" name="直接连接符 533576"/>
            <p:cNvSpPr/>
            <p:nvPr/>
          </p:nvSpPr>
          <p:spPr>
            <a:xfrm>
              <a:off x="2971" y="1330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8" name="直接连接符 533577"/>
            <p:cNvSpPr/>
            <p:nvPr/>
          </p:nvSpPr>
          <p:spPr>
            <a:xfrm>
              <a:off x="4011" y="2229"/>
              <a:ext cx="1" cy="1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9" name="直接连接符 533578"/>
            <p:cNvSpPr/>
            <p:nvPr/>
          </p:nvSpPr>
          <p:spPr>
            <a:xfrm>
              <a:off x="4723" y="2525"/>
              <a:ext cx="11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0" name="直接连接符 533579"/>
            <p:cNvSpPr/>
            <p:nvPr/>
          </p:nvSpPr>
          <p:spPr>
            <a:xfrm>
              <a:off x="2994" y="1330"/>
              <a:ext cx="1" cy="1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1" name="直接连接符 533580"/>
            <p:cNvSpPr/>
            <p:nvPr/>
          </p:nvSpPr>
          <p:spPr>
            <a:xfrm>
              <a:off x="3762" y="1911"/>
              <a:ext cx="2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2" name="矩形 533581"/>
            <p:cNvSpPr/>
            <p:nvPr/>
          </p:nvSpPr>
          <p:spPr>
            <a:xfrm>
              <a:off x="2551" y="1615"/>
              <a:ext cx="4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3" name="矩形 533582"/>
            <p:cNvSpPr/>
            <p:nvPr/>
          </p:nvSpPr>
          <p:spPr>
            <a:xfrm>
              <a:off x="5149" y="2514"/>
              <a:ext cx="11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4" name="矩形 533583"/>
            <p:cNvSpPr/>
            <p:nvPr/>
          </p:nvSpPr>
          <p:spPr>
            <a:xfrm>
              <a:off x="2388" y="1670"/>
              <a:ext cx="148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endParaRPr lang="en-US" altLang="zh-CN" sz="24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5" name="矩形 533584"/>
            <p:cNvSpPr/>
            <p:nvPr/>
          </p:nvSpPr>
          <p:spPr>
            <a:xfrm>
              <a:off x="4750" y="2120"/>
              <a:ext cx="39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=20uA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6" name="矩形 533585"/>
            <p:cNvSpPr/>
            <p:nvPr/>
          </p:nvSpPr>
          <p:spPr>
            <a:xfrm>
              <a:off x="2999" y="760"/>
              <a:ext cx="31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err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(mA</a:t>
              </a: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)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7" name="矩形 533586"/>
            <p:cNvSpPr/>
            <p:nvPr/>
          </p:nvSpPr>
          <p:spPr>
            <a:xfrm>
              <a:off x="4658" y="1560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8" name="矩形 533587"/>
            <p:cNvSpPr/>
            <p:nvPr/>
          </p:nvSpPr>
          <p:spPr>
            <a:xfrm>
              <a:off x="4760" y="1802"/>
              <a:ext cx="39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=40uA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89" name="矩形 533588"/>
            <p:cNvSpPr/>
            <p:nvPr/>
          </p:nvSpPr>
          <p:spPr>
            <a:xfrm>
              <a:off x="4616" y="1506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0" name="矩形 533589"/>
            <p:cNvSpPr/>
            <p:nvPr/>
          </p:nvSpPr>
          <p:spPr>
            <a:xfrm>
              <a:off x="2601" y="1725"/>
              <a:ext cx="73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1" name="矩形 533590"/>
            <p:cNvSpPr/>
            <p:nvPr/>
          </p:nvSpPr>
          <p:spPr>
            <a:xfrm>
              <a:off x="5090" y="2427"/>
              <a:ext cx="66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2" name="矩形 533591"/>
            <p:cNvSpPr/>
            <p:nvPr/>
          </p:nvSpPr>
          <p:spPr>
            <a:xfrm>
              <a:off x="4709" y="2372"/>
              <a:ext cx="140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3" name="矩形 533592"/>
            <p:cNvSpPr/>
            <p:nvPr/>
          </p:nvSpPr>
          <p:spPr>
            <a:xfrm>
              <a:off x="5350" y="2482"/>
              <a:ext cx="239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(V)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4" name="矩形 533593"/>
            <p:cNvSpPr/>
            <p:nvPr/>
          </p:nvSpPr>
          <p:spPr>
            <a:xfrm>
              <a:off x="4772" y="1253"/>
              <a:ext cx="39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=80uA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5" name="矩形 533594"/>
            <p:cNvSpPr/>
            <p:nvPr/>
          </p:nvSpPr>
          <p:spPr>
            <a:xfrm>
              <a:off x="4605" y="1780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6" name="矩形 533595"/>
            <p:cNvSpPr/>
            <p:nvPr/>
          </p:nvSpPr>
          <p:spPr>
            <a:xfrm>
              <a:off x="4038" y="1648"/>
              <a:ext cx="148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endParaRPr lang="en-US" altLang="zh-CN" sz="24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7" name="矩形 533596"/>
            <p:cNvSpPr/>
            <p:nvPr/>
          </p:nvSpPr>
          <p:spPr>
            <a:xfrm>
              <a:off x="4691" y="1001"/>
              <a:ext cx="62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8" name="矩形 533597"/>
            <p:cNvSpPr/>
            <p:nvPr/>
          </p:nvSpPr>
          <p:spPr>
            <a:xfrm>
              <a:off x="4646" y="1835"/>
              <a:ext cx="62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599" name="矩形 533598"/>
            <p:cNvSpPr/>
            <p:nvPr/>
          </p:nvSpPr>
          <p:spPr>
            <a:xfrm>
              <a:off x="4646" y="2405"/>
              <a:ext cx="62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0" name="矩形 533599"/>
            <p:cNvSpPr/>
            <p:nvPr/>
          </p:nvSpPr>
          <p:spPr>
            <a:xfrm>
              <a:off x="4605" y="2350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1" name="矩形 533600"/>
            <p:cNvSpPr/>
            <p:nvPr/>
          </p:nvSpPr>
          <p:spPr>
            <a:xfrm>
              <a:off x="4229" y="1703"/>
              <a:ext cx="73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2" name="矩形 533601"/>
            <p:cNvSpPr/>
            <p:nvPr/>
          </p:nvSpPr>
          <p:spPr>
            <a:xfrm>
              <a:off x="4202" y="1593"/>
              <a:ext cx="4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3" name="矩形 533602"/>
            <p:cNvSpPr/>
            <p:nvPr/>
          </p:nvSpPr>
          <p:spPr>
            <a:xfrm>
              <a:off x="4616" y="1231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4" name="矩形 533603"/>
            <p:cNvSpPr/>
            <p:nvPr/>
          </p:nvSpPr>
          <p:spPr>
            <a:xfrm>
              <a:off x="4658" y="1286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5" name="矩形 533604"/>
            <p:cNvSpPr/>
            <p:nvPr/>
          </p:nvSpPr>
          <p:spPr>
            <a:xfrm>
              <a:off x="4650" y="946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6" name="矩形 533605"/>
            <p:cNvSpPr/>
            <p:nvPr/>
          </p:nvSpPr>
          <p:spPr>
            <a:xfrm>
              <a:off x="4767" y="968"/>
              <a:ext cx="47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=100uA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7" name="矩形 533606"/>
            <p:cNvSpPr/>
            <p:nvPr/>
          </p:nvSpPr>
          <p:spPr>
            <a:xfrm>
              <a:off x="2917" y="804"/>
              <a:ext cx="62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8" name="矩形 533607"/>
            <p:cNvSpPr/>
            <p:nvPr/>
          </p:nvSpPr>
          <p:spPr>
            <a:xfrm>
              <a:off x="4635" y="2153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09" name="矩形 533608"/>
            <p:cNvSpPr/>
            <p:nvPr/>
          </p:nvSpPr>
          <p:spPr>
            <a:xfrm>
              <a:off x="4594" y="2098"/>
              <a:ext cx="44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10" name="矩形 533609"/>
            <p:cNvSpPr/>
            <p:nvPr/>
          </p:nvSpPr>
          <p:spPr>
            <a:xfrm>
              <a:off x="4784" y="1527"/>
              <a:ext cx="398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=60uA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611" name="矩形 533610"/>
            <p:cNvSpPr/>
            <p:nvPr/>
          </p:nvSpPr>
          <p:spPr>
            <a:xfrm>
              <a:off x="2862" y="727"/>
              <a:ext cx="37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3612" name="文本框 533611"/>
          <p:cNvSpPr txBox="1"/>
          <p:nvPr/>
        </p:nvSpPr>
        <p:spPr>
          <a:xfrm>
            <a:off x="6553201" y="4495800"/>
            <a:ext cx="3503613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l-GR" altLang="zh-CN" sz="2400" b="1" i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一般在  </a:t>
            </a:r>
            <a:r>
              <a:rPr lang="en-US" altLang="zh-CN" sz="24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 ~ 200 </a:t>
            </a: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</a:t>
            </a:r>
            <a:endParaRPr lang="zh-CN" altLang="en-US" sz="2400" b="1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3613" name="文本框 533612"/>
          <p:cNvSpPr txBox="1"/>
          <p:nvPr/>
        </p:nvSpPr>
        <p:spPr>
          <a:xfrm>
            <a:off x="5410200" y="2286001"/>
            <a:ext cx="8382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2.3</a:t>
            </a:r>
          </a:p>
        </p:txBody>
      </p:sp>
      <p:sp>
        <p:nvSpPr>
          <p:cNvPr id="533614" name="文本框 533613"/>
          <p:cNvSpPr txBox="1"/>
          <p:nvPr/>
        </p:nvSpPr>
        <p:spPr>
          <a:xfrm>
            <a:off x="5486400" y="2895601"/>
            <a:ext cx="6858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</a:t>
            </a:r>
          </a:p>
        </p:txBody>
      </p:sp>
      <p:graphicFrame>
        <p:nvGraphicFramePr>
          <p:cNvPr id="533615" name="对象 533614"/>
          <p:cNvGraphicFramePr/>
          <p:nvPr/>
        </p:nvGraphicFramePr>
        <p:xfrm>
          <a:off x="2225675" y="3068639"/>
          <a:ext cx="27432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0965" imgH="431800" progId="Equation.3">
                  <p:embed/>
                </p:oleObj>
              </mc:Choice>
              <mc:Fallback>
                <p:oleObj r:id="rId2" imgW="1370965" imgH="431800" progId="Equation.3">
                  <p:embed/>
                  <p:pic>
                    <p:nvPicPr>
                      <p:cNvPr id="533615" name="对象 5336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25675" y="3068639"/>
                        <a:ext cx="2743200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616" name="对象 533615"/>
          <p:cNvGraphicFramePr/>
          <p:nvPr/>
        </p:nvGraphicFramePr>
        <p:xfrm>
          <a:off x="2135188" y="4103688"/>
          <a:ext cx="3886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0865" imgH="431800" progId="Equation.3">
                  <p:embed/>
                </p:oleObj>
              </mc:Choice>
              <mc:Fallback>
                <p:oleObj r:id="rId2" imgW="1840865" imgH="431800" progId="Equation.3">
                  <p:embed/>
                  <p:pic>
                    <p:nvPicPr>
                      <p:cNvPr id="533616" name="对象 5336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5188" y="4103688"/>
                        <a:ext cx="38862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617" name="矩形 533616"/>
          <p:cNvSpPr/>
          <p:nvPr/>
        </p:nvSpPr>
        <p:spPr>
          <a:xfrm>
            <a:off x="1503542" y="1371601"/>
            <a:ext cx="4362092" cy="490519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）共发射极电流放大系数：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3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 build="p"/>
      <p:bldP spid="533508" grpId="0"/>
      <p:bldP spid="533612" grpId="0"/>
      <p:bldP spid="533613" grpId="0"/>
      <p:bldP spid="533614" grpId="0"/>
      <p:bldP spid="5336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3" name="矩形 537602"/>
          <p:cNvSpPr/>
          <p:nvPr/>
        </p:nvSpPr>
        <p:spPr>
          <a:xfrm>
            <a:off x="2046288" y="503238"/>
            <a:ext cx="5499100" cy="6143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放大倍数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表示放大器的放大能力</a:t>
            </a:r>
            <a:endParaRPr lang="zh-CN" altLang="en-US" sz="24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7604" name="文本占位符 537603"/>
          <p:cNvSpPr>
            <a:spLocks noGrp="1"/>
          </p:cNvSpPr>
          <p:nvPr>
            <p:ph type="body" idx="4294967295"/>
          </p:nvPr>
        </p:nvSpPr>
        <p:spPr>
          <a:xfrm>
            <a:off x="1524000" y="1066800"/>
            <a:ext cx="88392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457200" indent="-457200" algn="just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放大倍数是放大电路核心指标，如电压放大倍数、电流放大倍数，能表明电路将微弱信号增强到所需幅度的能力。</a:t>
            </a:r>
          </a:p>
        </p:txBody>
      </p:sp>
      <p:sp>
        <p:nvSpPr>
          <p:cNvPr id="537605" name="文本框 537604"/>
          <p:cNvSpPr txBox="1"/>
          <p:nvPr/>
        </p:nvSpPr>
        <p:spPr>
          <a:xfrm>
            <a:off x="2225040" y="5048886"/>
            <a:ext cx="64008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电压放大倍数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定义为</a:t>
            </a:r>
            <a:r>
              <a: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     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aseline="-250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37609" name="图片 537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3" y="2079626"/>
            <a:ext cx="5867400" cy="230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135505" y="5768976"/>
            <a:ext cx="64008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电流放大倍数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定义为</a:t>
            </a:r>
            <a:r>
              <a: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     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aseline="-250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4" grpId="0" build="p"/>
      <p:bldP spid="53760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文本框 538625"/>
          <p:cNvSpPr txBox="1"/>
          <p:nvPr/>
        </p:nvSpPr>
        <p:spPr>
          <a:xfrm>
            <a:off x="1638300" y="188595"/>
            <a:ext cx="8839200" cy="4572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输入电阻</a:t>
            </a:r>
            <a:r>
              <a:rPr lang="en-US" altLang="zh-CN" sz="24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：从放大电路输入端看进去的等效电阻</a:t>
            </a:r>
            <a:endParaRPr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8627" name="文本框 538626"/>
          <p:cNvSpPr txBox="1"/>
          <p:nvPr/>
        </p:nvSpPr>
        <p:spPr>
          <a:xfrm>
            <a:off x="4745355" y="3926840"/>
            <a:ext cx="1652588" cy="528638"/>
          </a:xfrm>
          <a:prstGeom prst="rect">
            <a:avLst/>
          </a:prstGeom>
          <a:noFill/>
          <a:ln w="9525" cap="flat" cmpd="sng">
            <a:solidFill>
              <a:srgbClr val="00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/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8628" name="文本框 538627"/>
          <p:cNvSpPr txBox="1"/>
          <p:nvPr/>
        </p:nvSpPr>
        <p:spPr>
          <a:xfrm>
            <a:off x="2000250" y="4553585"/>
            <a:ext cx="8458200" cy="2245360"/>
          </a:xfrm>
          <a:prstGeom prst="rect">
            <a:avLst/>
          </a:prstGeom>
          <a:noFill/>
          <a:ln w="9525" cap="flat" cmpd="sng">
            <a:solidFill>
              <a:srgbClr val="66FF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一般来说，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越大越好。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越大，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就越小，从信号源索取的电流越小，减轻信号源负担；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）当信号源有内阻时，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越大， 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就越接近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pic>
        <p:nvPicPr>
          <p:cNvPr id="538629" name="图片 5386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1750"/>
            <a:ext cx="6858000" cy="269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8630" name="图片 5386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6" y="1854200"/>
            <a:ext cx="1812925" cy="2166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7604" name="文本占位符 537603"/>
          <p:cNvSpPr>
            <a:spLocks noGrp="1"/>
          </p:cNvSpPr>
          <p:nvPr/>
        </p:nvSpPr>
        <p:spPr>
          <a:xfrm>
            <a:off x="1619250" y="593725"/>
            <a:ext cx="88392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Clr>
                <a:srgbClr val="FF0000"/>
              </a:buClr>
              <a:buNone/>
            </a:pPr>
            <a:r>
              <a:rPr lang="en-US" altLang="zh-CN" sz="2400" b="1" dirty="0">
                <a:solidFill>
                  <a:srgbClr val="393939"/>
                </a:solidFill>
                <a:latin typeface="宋体" panose="02010600030101010101" pitchFamily="2" charset="-122"/>
                <a:ea typeface="宋体"/>
              </a:rPr>
              <a:t>   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/>
              </a:rPr>
              <a:t>输入电阻反映了放大电路对信号源的影响，与信号源内阻共同决定信号的传输效率。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386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ldLvl="0" animBg="1"/>
      <p:bldP spid="538628" grpId="0" build="p" animBg="1"/>
      <p:bldP spid="53760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50" name="图片 5396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838200"/>
            <a:ext cx="6553200" cy="2611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9651" name="图片 5396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1" y="1343025"/>
            <a:ext cx="1890713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9652" name="文本框 539651"/>
          <p:cNvSpPr txBox="1"/>
          <p:nvPr/>
        </p:nvSpPr>
        <p:spPr>
          <a:xfrm>
            <a:off x="1981200" y="5105401"/>
            <a:ext cx="8153400" cy="109549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输出电阻是表明放大电路带负载能力的</a:t>
            </a:r>
            <a:r>
              <a:rPr lang="zh-CN" altLang="en-US" sz="28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越小，放大电路带负载的能力越强，反之则差。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39653" name="对象 539652"/>
          <p:cNvGraphicFramePr/>
          <p:nvPr/>
        </p:nvGraphicFramePr>
        <p:xfrm>
          <a:off x="5692775" y="3856038"/>
          <a:ext cx="3367088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67765" imgH="431800" progId="Equation.3">
                  <p:embed/>
                </p:oleObj>
              </mc:Choice>
              <mc:Fallback>
                <p:oleObj r:id="rId4" imgW="1167765" imgH="431800" progId="Equation.3">
                  <p:embed/>
                  <p:pic>
                    <p:nvPicPr>
                      <p:cNvPr id="539653" name="对象 53965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92775" y="3856038"/>
                        <a:ext cx="3367088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4" name="矩形 539653"/>
          <p:cNvSpPr/>
          <p:nvPr/>
        </p:nvSpPr>
        <p:spPr>
          <a:xfrm>
            <a:off x="2209800" y="3962401"/>
            <a:ext cx="3429000" cy="6143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输出电阻</a:t>
            </a: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的定义：</a:t>
            </a:r>
            <a:endParaRPr lang="zh-CN" altLang="en-US" sz="2400" b="1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9655" name="矩形 539654"/>
          <p:cNvSpPr/>
          <p:nvPr/>
        </p:nvSpPr>
        <p:spPr>
          <a:xfrm>
            <a:off x="1730375" y="188914"/>
            <a:ext cx="8763000" cy="630237"/>
          </a:xfrm>
          <a:prstGeom prst="rect">
            <a:avLst/>
          </a:prstGeom>
          <a:noFill/>
          <a:ln w="12700">
            <a:noFill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输出电阻</a:t>
            </a:r>
            <a:r>
              <a:rPr lang="en-US" altLang="zh-CN" sz="24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从放大电路输出端看进去的等效电阻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/>
      <p:bldP spid="5396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2"/>
          <p:cNvSpPr txBox="1"/>
          <p:nvPr/>
        </p:nvSpPr>
        <p:spPr>
          <a:xfrm>
            <a:off x="3035300" y="-3759"/>
            <a:ext cx="58674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基本放大电路的习惯画法</a:t>
            </a:r>
          </a:p>
        </p:txBody>
      </p:sp>
      <p:pic>
        <p:nvPicPr>
          <p:cNvPr id="54784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788" y="4341814"/>
            <a:ext cx="3581400" cy="233997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5843" name="AutoShape 6"/>
          <p:cNvSpPr>
            <a:spLocks noChangeAspect="1" noTextEdit="1"/>
          </p:cNvSpPr>
          <p:nvPr/>
        </p:nvSpPr>
        <p:spPr>
          <a:xfrm>
            <a:off x="1865313" y="4329114"/>
            <a:ext cx="3581400" cy="233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44" name="Group 238"/>
          <p:cNvGrpSpPr/>
          <p:nvPr/>
        </p:nvGrpSpPr>
        <p:grpSpPr>
          <a:xfrm>
            <a:off x="3709988" y="549276"/>
            <a:ext cx="4419600" cy="2835275"/>
            <a:chOff x="1661" y="657"/>
            <a:chExt cx="2784" cy="1701"/>
          </a:xfrm>
        </p:grpSpPr>
        <p:sp>
          <p:nvSpPr>
            <p:cNvPr id="35845" name="AutoShape 105"/>
            <p:cNvSpPr>
              <a:spLocks noChangeAspect="1" noTextEdit="1"/>
            </p:cNvSpPr>
            <p:nvPr/>
          </p:nvSpPr>
          <p:spPr>
            <a:xfrm>
              <a:off x="1661" y="657"/>
              <a:ext cx="2784" cy="17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6" name="Line 107"/>
            <p:cNvSpPr/>
            <p:nvPr/>
          </p:nvSpPr>
          <p:spPr>
            <a:xfrm>
              <a:off x="1870" y="1159"/>
              <a:ext cx="50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7" name="Oval 108"/>
            <p:cNvSpPr/>
            <p:nvPr/>
          </p:nvSpPr>
          <p:spPr>
            <a:xfrm>
              <a:off x="1797" y="1126"/>
              <a:ext cx="73" cy="65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Rectangle 109"/>
            <p:cNvSpPr/>
            <p:nvPr/>
          </p:nvSpPr>
          <p:spPr>
            <a:xfrm>
              <a:off x="1723" y="1126"/>
              <a:ext cx="47" cy="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Line 110"/>
            <p:cNvSpPr/>
            <p:nvPr/>
          </p:nvSpPr>
          <p:spPr>
            <a:xfrm>
              <a:off x="1895" y="2205"/>
              <a:ext cx="49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0" name="Oval 111"/>
            <p:cNvSpPr/>
            <p:nvPr/>
          </p:nvSpPr>
          <p:spPr>
            <a:xfrm>
              <a:off x="1821" y="2173"/>
              <a:ext cx="74" cy="65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Rectangle 112"/>
            <p:cNvSpPr/>
            <p:nvPr/>
          </p:nvSpPr>
          <p:spPr>
            <a:xfrm>
              <a:off x="1747" y="2173"/>
              <a:ext cx="47" cy="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Line 113"/>
            <p:cNvSpPr/>
            <p:nvPr/>
          </p:nvSpPr>
          <p:spPr>
            <a:xfrm>
              <a:off x="2339" y="1900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3" name="Line 114"/>
            <p:cNvSpPr/>
            <p:nvPr/>
          </p:nvSpPr>
          <p:spPr>
            <a:xfrm flipH="1">
              <a:off x="2277" y="1933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4" name="Line 115"/>
            <p:cNvSpPr/>
            <p:nvPr/>
          </p:nvSpPr>
          <p:spPr>
            <a:xfrm>
              <a:off x="2339" y="1976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5" name="Line 116"/>
            <p:cNvSpPr/>
            <p:nvPr/>
          </p:nvSpPr>
          <p:spPr>
            <a:xfrm>
              <a:off x="2400" y="1813"/>
              <a:ext cx="1" cy="5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6" name="Line 117"/>
            <p:cNvSpPr/>
            <p:nvPr/>
          </p:nvSpPr>
          <p:spPr>
            <a:xfrm flipV="1">
              <a:off x="2400" y="1976"/>
              <a:ext cx="1" cy="6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7" name="Line 118"/>
            <p:cNvSpPr/>
            <p:nvPr/>
          </p:nvSpPr>
          <p:spPr>
            <a:xfrm>
              <a:off x="2277" y="1867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8" name="Line 119"/>
            <p:cNvSpPr/>
            <p:nvPr/>
          </p:nvSpPr>
          <p:spPr>
            <a:xfrm flipV="1">
              <a:off x="2400" y="1715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9" name="Line 120"/>
            <p:cNvSpPr/>
            <p:nvPr/>
          </p:nvSpPr>
          <p:spPr>
            <a:xfrm>
              <a:off x="2400" y="1715"/>
              <a:ext cx="1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0" name="Line 121"/>
            <p:cNvSpPr/>
            <p:nvPr/>
          </p:nvSpPr>
          <p:spPr>
            <a:xfrm flipV="1">
              <a:off x="2400" y="2042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1" name="Line 122"/>
            <p:cNvSpPr/>
            <p:nvPr/>
          </p:nvSpPr>
          <p:spPr>
            <a:xfrm>
              <a:off x="3435" y="1202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2" name="Line 123"/>
            <p:cNvSpPr/>
            <p:nvPr/>
          </p:nvSpPr>
          <p:spPr>
            <a:xfrm>
              <a:off x="3533" y="1202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3" name="Line 124"/>
            <p:cNvSpPr/>
            <p:nvPr/>
          </p:nvSpPr>
          <p:spPr>
            <a:xfrm flipH="1">
              <a:off x="3435" y="1420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4" name="Line 125"/>
            <p:cNvSpPr/>
            <p:nvPr/>
          </p:nvSpPr>
          <p:spPr>
            <a:xfrm flipV="1">
              <a:off x="3435" y="1202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5" name="Line 126"/>
            <p:cNvSpPr/>
            <p:nvPr/>
          </p:nvSpPr>
          <p:spPr>
            <a:xfrm>
              <a:off x="3484" y="1093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6" name="Line 127"/>
            <p:cNvSpPr/>
            <p:nvPr/>
          </p:nvSpPr>
          <p:spPr>
            <a:xfrm flipV="1">
              <a:off x="3484" y="1420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7" name="Line 128"/>
            <p:cNvSpPr/>
            <p:nvPr/>
          </p:nvSpPr>
          <p:spPr>
            <a:xfrm>
              <a:off x="2351" y="1388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8" name="Line 129"/>
            <p:cNvSpPr/>
            <p:nvPr/>
          </p:nvSpPr>
          <p:spPr>
            <a:xfrm>
              <a:off x="2449" y="1388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9" name="Line 130"/>
            <p:cNvSpPr/>
            <p:nvPr/>
          </p:nvSpPr>
          <p:spPr>
            <a:xfrm flipH="1">
              <a:off x="2351" y="1606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0" name="Line 131"/>
            <p:cNvSpPr/>
            <p:nvPr/>
          </p:nvSpPr>
          <p:spPr>
            <a:xfrm flipV="1">
              <a:off x="2351" y="1388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1" name="Line 132"/>
            <p:cNvSpPr/>
            <p:nvPr/>
          </p:nvSpPr>
          <p:spPr>
            <a:xfrm>
              <a:off x="2400" y="1279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2" name="Line 133"/>
            <p:cNvSpPr/>
            <p:nvPr/>
          </p:nvSpPr>
          <p:spPr>
            <a:xfrm flipV="1">
              <a:off x="2400" y="1606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3" name="Line 134"/>
            <p:cNvSpPr/>
            <p:nvPr/>
          </p:nvSpPr>
          <p:spPr>
            <a:xfrm>
              <a:off x="3731" y="886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4" name="Line 135"/>
            <p:cNvSpPr/>
            <p:nvPr/>
          </p:nvSpPr>
          <p:spPr>
            <a:xfrm>
              <a:off x="3780" y="886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5" name="Line 136"/>
            <p:cNvSpPr/>
            <p:nvPr/>
          </p:nvSpPr>
          <p:spPr>
            <a:xfrm>
              <a:off x="3780" y="941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6" name="Line 137"/>
            <p:cNvSpPr/>
            <p:nvPr/>
          </p:nvSpPr>
          <p:spPr>
            <a:xfrm>
              <a:off x="3694" y="941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7" name="Line 138"/>
            <p:cNvSpPr/>
            <p:nvPr/>
          </p:nvSpPr>
          <p:spPr>
            <a:xfrm>
              <a:off x="3570" y="941"/>
              <a:ext cx="124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8" name="Line 139"/>
            <p:cNvSpPr/>
            <p:nvPr/>
          </p:nvSpPr>
          <p:spPr>
            <a:xfrm flipH="1">
              <a:off x="3817" y="941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9" name="Line 140"/>
            <p:cNvSpPr/>
            <p:nvPr/>
          </p:nvSpPr>
          <p:spPr>
            <a:xfrm flipH="1">
              <a:off x="2856" y="1050"/>
              <a:ext cx="123" cy="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0" name="Line 141"/>
            <p:cNvSpPr/>
            <p:nvPr/>
          </p:nvSpPr>
          <p:spPr>
            <a:xfrm>
              <a:off x="2856" y="1191"/>
              <a:ext cx="123" cy="7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1" name="Line 142"/>
            <p:cNvSpPr/>
            <p:nvPr/>
          </p:nvSpPr>
          <p:spPr>
            <a:xfrm>
              <a:off x="2856" y="105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2" name="Line 143"/>
            <p:cNvSpPr/>
            <p:nvPr/>
          </p:nvSpPr>
          <p:spPr>
            <a:xfrm flipH="1">
              <a:off x="2733" y="1159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3" name="Freeform 144"/>
            <p:cNvSpPr/>
            <p:nvPr/>
          </p:nvSpPr>
          <p:spPr>
            <a:xfrm>
              <a:off x="2905" y="1213"/>
              <a:ext cx="74" cy="55"/>
            </a:xfrm>
            <a:custGeom>
              <a:avLst/>
              <a:gdLst/>
              <a:ahLst/>
              <a:cxnLst>
                <a:cxn ang="0">
                  <a:pos x="74" y="55"/>
                </a:cxn>
                <a:cxn ang="0">
                  <a:pos x="25" y="0"/>
                </a:cxn>
                <a:cxn ang="0">
                  <a:pos x="0" y="33"/>
                </a:cxn>
                <a:cxn ang="0">
                  <a:pos x="74" y="55"/>
                </a:cxn>
              </a:cxnLst>
              <a:rect l="0" t="0" r="0" b="0"/>
              <a:pathLst>
                <a:path w="74" h="55">
                  <a:moveTo>
                    <a:pt x="74" y="55"/>
                  </a:moveTo>
                  <a:lnTo>
                    <a:pt x="25" y="0"/>
                  </a:lnTo>
                  <a:lnTo>
                    <a:pt x="0" y="33"/>
                  </a:lnTo>
                  <a:lnTo>
                    <a:pt x="74" y="55"/>
                  </a:lnTo>
                  <a:close/>
                </a:path>
              </a:pathLst>
            </a:custGeom>
            <a:solidFill>
              <a:srgbClr val="0000FF"/>
            </a:solidFill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Line 145"/>
            <p:cNvSpPr/>
            <p:nvPr/>
          </p:nvSpPr>
          <p:spPr>
            <a:xfrm>
              <a:off x="2979" y="941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5" name="Line 146"/>
            <p:cNvSpPr/>
            <p:nvPr/>
          </p:nvSpPr>
          <p:spPr>
            <a:xfrm flipV="1">
              <a:off x="2979" y="1268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6" name="Line 147"/>
            <p:cNvSpPr/>
            <p:nvPr/>
          </p:nvSpPr>
          <p:spPr>
            <a:xfrm>
              <a:off x="2610" y="1159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7" name="Line 148"/>
            <p:cNvSpPr/>
            <p:nvPr/>
          </p:nvSpPr>
          <p:spPr>
            <a:xfrm>
              <a:off x="2104" y="1104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8" name="Line 149"/>
            <p:cNvSpPr/>
            <p:nvPr/>
          </p:nvSpPr>
          <p:spPr>
            <a:xfrm>
              <a:off x="2154" y="1104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9" name="Line 150"/>
            <p:cNvSpPr/>
            <p:nvPr/>
          </p:nvSpPr>
          <p:spPr>
            <a:xfrm>
              <a:off x="2154" y="1159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0" name="Line 151"/>
            <p:cNvSpPr/>
            <p:nvPr/>
          </p:nvSpPr>
          <p:spPr>
            <a:xfrm>
              <a:off x="2068" y="1159"/>
              <a:ext cx="3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1" name="Line 152"/>
            <p:cNvSpPr/>
            <p:nvPr/>
          </p:nvSpPr>
          <p:spPr>
            <a:xfrm>
              <a:off x="1944" y="1159"/>
              <a:ext cx="124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2" name="Line 153"/>
            <p:cNvSpPr/>
            <p:nvPr/>
          </p:nvSpPr>
          <p:spPr>
            <a:xfrm flipH="1">
              <a:off x="2191" y="1159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3" name="Line 154"/>
            <p:cNvSpPr/>
            <p:nvPr/>
          </p:nvSpPr>
          <p:spPr>
            <a:xfrm>
              <a:off x="4038" y="1420"/>
              <a:ext cx="99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4" name="Line 155"/>
            <p:cNvSpPr/>
            <p:nvPr/>
          </p:nvSpPr>
          <p:spPr>
            <a:xfrm>
              <a:off x="4137" y="142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5" name="Line 156"/>
            <p:cNvSpPr/>
            <p:nvPr/>
          </p:nvSpPr>
          <p:spPr>
            <a:xfrm flipH="1">
              <a:off x="4038" y="1638"/>
              <a:ext cx="99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6" name="Line 157"/>
            <p:cNvSpPr/>
            <p:nvPr/>
          </p:nvSpPr>
          <p:spPr>
            <a:xfrm flipV="1">
              <a:off x="4038" y="142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7" name="Line 158"/>
            <p:cNvSpPr/>
            <p:nvPr/>
          </p:nvSpPr>
          <p:spPr>
            <a:xfrm>
              <a:off x="4088" y="1311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8" name="Line 159"/>
            <p:cNvSpPr/>
            <p:nvPr/>
          </p:nvSpPr>
          <p:spPr>
            <a:xfrm flipV="1">
              <a:off x="4088" y="1638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9" name="Line 160"/>
            <p:cNvSpPr/>
            <p:nvPr/>
          </p:nvSpPr>
          <p:spPr>
            <a:xfrm>
              <a:off x="3423" y="1715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0" name="Line 161"/>
            <p:cNvSpPr/>
            <p:nvPr/>
          </p:nvSpPr>
          <p:spPr>
            <a:xfrm flipH="1">
              <a:off x="3361" y="1747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1" name="Line 162"/>
            <p:cNvSpPr/>
            <p:nvPr/>
          </p:nvSpPr>
          <p:spPr>
            <a:xfrm>
              <a:off x="3423" y="1791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2" name="Line 163"/>
            <p:cNvSpPr/>
            <p:nvPr/>
          </p:nvSpPr>
          <p:spPr>
            <a:xfrm>
              <a:off x="3484" y="1627"/>
              <a:ext cx="1" cy="55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3" name="Line 164"/>
            <p:cNvSpPr/>
            <p:nvPr/>
          </p:nvSpPr>
          <p:spPr>
            <a:xfrm flipV="1">
              <a:off x="3484" y="1791"/>
              <a:ext cx="1" cy="65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4" name="Line 165"/>
            <p:cNvSpPr/>
            <p:nvPr/>
          </p:nvSpPr>
          <p:spPr>
            <a:xfrm>
              <a:off x="3361" y="1682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5" name="Line 166"/>
            <p:cNvSpPr/>
            <p:nvPr/>
          </p:nvSpPr>
          <p:spPr>
            <a:xfrm flipV="1">
              <a:off x="3484" y="1529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6" name="Line 167"/>
            <p:cNvSpPr/>
            <p:nvPr/>
          </p:nvSpPr>
          <p:spPr>
            <a:xfrm>
              <a:off x="3484" y="1529"/>
              <a:ext cx="1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7" name="Line 168"/>
            <p:cNvSpPr/>
            <p:nvPr/>
          </p:nvSpPr>
          <p:spPr>
            <a:xfrm flipV="1">
              <a:off x="3484" y="1856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8" name="Line 169"/>
            <p:cNvSpPr/>
            <p:nvPr/>
          </p:nvSpPr>
          <p:spPr>
            <a:xfrm>
              <a:off x="2856" y="2303"/>
              <a:ext cx="246" cy="1"/>
            </a:xfrm>
            <a:prstGeom prst="line">
              <a:avLst/>
            </a:prstGeom>
            <a:ln w="19050" cap="flat" cmpd="sng">
              <a:solidFill>
                <a:srgbClr val="0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9" name="Rectangle 170"/>
            <p:cNvSpPr/>
            <p:nvPr/>
          </p:nvSpPr>
          <p:spPr>
            <a:xfrm>
              <a:off x="4038" y="1420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0" name="Rectangle 171"/>
            <p:cNvSpPr/>
            <p:nvPr/>
          </p:nvSpPr>
          <p:spPr>
            <a:xfrm>
              <a:off x="4038" y="1420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1" name="Rectangle 172"/>
            <p:cNvSpPr/>
            <p:nvPr/>
          </p:nvSpPr>
          <p:spPr>
            <a:xfrm>
              <a:off x="2351" y="1388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2" name="Rectangle 173"/>
            <p:cNvSpPr/>
            <p:nvPr/>
          </p:nvSpPr>
          <p:spPr>
            <a:xfrm>
              <a:off x="2351" y="1388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3" name="Rectangle 174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4" name="Rectangle 175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5" name="Rectangle 176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6" name="Rectangle 177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FFFF00"/>
            </a:solidFill>
            <a:ln w="1905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7" name="Rectangle 178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8" name="Line 179"/>
            <p:cNvSpPr/>
            <p:nvPr/>
          </p:nvSpPr>
          <p:spPr>
            <a:xfrm>
              <a:off x="1920" y="1159"/>
              <a:ext cx="24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19" name="Line 180"/>
            <p:cNvSpPr/>
            <p:nvPr/>
          </p:nvSpPr>
          <p:spPr>
            <a:xfrm flipV="1">
              <a:off x="4088" y="941"/>
              <a:ext cx="1" cy="37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0" name="Line 181"/>
            <p:cNvSpPr/>
            <p:nvPr/>
          </p:nvSpPr>
          <p:spPr>
            <a:xfrm>
              <a:off x="2400" y="1159"/>
              <a:ext cx="210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1" name="Oval 182"/>
            <p:cNvSpPr/>
            <p:nvPr/>
          </p:nvSpPr>
          <p:spPr>
            <a:xfrm>
              <a:off x="2375" y="1137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22" name="Line 183"/>
            <p:cNvSpPr/>
            <p:nvPr/>
          </p:nvSpPr>
          <p:spPr>
            <a:xfrm>
              <a:off x="2314" y="1159"/>
              <a:ext cx="8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3" name="Line 184"/>
            <p:cNvSpPr/>
            <p:nvPr/>
          </p:nvSpPr>
          <p:spPr>
            <a:xfrm>
              <a:off x="2979" y="1377"/>
              <a:ext cx="1" cy="817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4" name="Line 185"/>
            <p:cNvSpPr/>
            <p:nvPr/>
          </p:nvSpPr>
          <p:spPr>
            <a:xfrm>
              <a:off x="3940" y="941"/>
              <a:ext cx="148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5" name="Line 186"/>
            <p:cNvSpPr/>
            <p:nvPr/>
          </p:nvSpPr>
          <p:spPr>
            <a:xfrm flipV="1">
              <a:off x="2400" y="1169"/>
              <a:ext cx="1" cy="11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6" name="Line 187"/>
            <p:cNvSpPr/>
            <p:nvPr/>
          </p:nvSpPr>
          <p:spPr>
            <a:xfrm flipV="1">
              <a:off x="3484" y="941"/>
              <a:ext cx="1" cy="152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7" name="Line 188"/>
            <p:cNvSpPr/>
            <p:nvPr/>
          </p:nvSpPr>
          <p:spPr>
            <a:xfrm>
              <a:off x="2979" y="941"/>
              <a:ext cx="505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8" name="Oval 189"/>
            <p:cNvSpPr/>
            <p:nvPr/>
          </p:nvSpPr>
          <p:spPr>
            <a:xfrm>
              <a:off x="3460" y="919"/>
              <a:ext cx="49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29" name="Line 190"/>
            <p:cNvSpPr/>
            <p:nvPr/>
          </p:nvSpPr>
          <p:spPr>
            <a:xfrm>
              <a:off x="3484" y="941"/>
              <a:ext cx="8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0" name="Line 191"/>
            <p:cNvSpPr/>
            <p:nvPr/>
          </p:nvSpPr>
          <p:spPr>
            <a:xfrm flipH="1">
              <a:off x="3484" y="2205"/>
              <a:ext cx="604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1" name="Oval 192"/>
            <p:cNvSpPr/>
            <p:nvPr/>
          </p:nvSpPr>
          <p:spPr>
            <a:xfrm>
              <a:off x="3460" y="2184"/>
              <a:ext cx="49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2" name="Line 193"/>
            <p:cNvSpPr/>
            <p:nvPr/>
          </p:nvSpPr>
          <p:spPr>
            <a:xfrm>
              <a:off x="2400" y="2151"/>
              <a:ext cx="1" cy="54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3" name="Oval 194"/>
            <p:cNvSpPr/>
            <p:nvPr/>
          </p:nvSpPr>
          <p:spPr>
            <a:xfrm>
              <a:off x="2375" y="2184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4" name="Line 195"/>
            <p:cNvSpPr/>
            <p:nvPr/>
          </p:nvSpPr>
          <p:spPr>
            <a:xfrm>
              <a:off x="3484" y="1965"/>
              <a:ext cx="1" cy="24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5" name="Line 196"/>
            <p:cNvSpPr/>
            <p:nvPr/>
          </p:nvSpPr>
          <p:spPr>
            <a:xfrm flipH="1">
              <a:off x="2979" y="2205"/>
              <a:ext cx="505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6" name="Oval 197"/>
            <p:cNvSpPr/>
            <p:nvPr/>
          </p:nvSpPr>
          <p:spPr>
            <a:xfrm>
              <a:off x="2954" y="2184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7" name="Line 198"/>
            <p:cNvSpPr/>
            <p:nvPr/>
          </p:nvSpPr>
          <p:spPr>
            <a:xfrm>
              <a:off x="1944" y="2205"/>
              <a:ext cx="45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8" name="Line 199"/>
            <p:cNvSpPr/>
            <p:nvPr/>
          </p:nvSpPr>
          <p:spPr>
            <a:xfrm flipH="1">
              <a:off x="2400" y="2205"/>
              <a:ext cx="579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9" name="Line 200"/>
            <p:cNvSpPr/>
            <p:nvPr/>
          </p:nvSpPr>
          <p:spPr>
            <a:xfrm>
              <a:off x="4088" y="1747"/>
              <a:ext cx="1" cy="458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40" name="Line 201"/>
            <p:cNvSpPr/>
            <p:nvPr/>
          </p:nvSpPr>
          <p:spPr>
            <a:xfrm>
              <a:off x="2979" y="2205"/>
              <a:ext cx="1" cy="98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41" name="Rectangle 202"/>
            <p:cNvSpPr/>
            <p:nvPr/>
          </p:nvSpPr>
          <p:spPr>
            <a:xfrm>
              <a:off x="3792" y="788"/>
              <a:ext cx="113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2" name="Rectangle 203"/>
            <p:cNvSpPr/>
            <p:nvPr/>
          </p:nvSpPr>
          <p:spPr>
            <a:xfrm>
              <a:off x="2215" y="1486"/>
              <a:ext cx="57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3" name="Rectangle 204"/>
            <p:cNvSpPr/>
            <p:nvPr/>
          </p:nvSpPr>
          <p:spPr>
            <a:xfrm>
              <a:off x="1784" y="1900"/>
              <a:ext cx="10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4" name="Rectangle 205"/>
            <p:cNvSpPr/>
            <p:nvPr/>
          </p:nvSpPr>
          <p:spPr>
            <a:xfrm>
              <a:off x="1858" y="1693"/>
              <a:ext cx="31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5" name="Rectangle 206"/>
            <p:cNvSpPr/>
            <p:nvPr/>
          </p:nvSpPr>
          <p:spPr>
            <a:xfrm>
              <a:off x="1760" y="1573"/>
              <a:ext cx="8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6" name="Rectangle 207"/>
            <p:cNvSpPr/>
            <p:nvPr/>
          </p:nvSpPr>
          <p:spPr>
            <a:xfrm>
              <a:off x="3669" y="712"/>
              <a:ext cx="118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7" name="Rectangle 208"/>
            <p:cNvSpPr/>
            <p:nvPr/>
          </p:nvSpPr>
          <p:spPr>
            <a:xfrm>
              <a:off x="1784" y="1235"/>
              <a:ext cx="92" cy="1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8" name="Rectangle 209"/>
            <p:cNvSpPr/>
            <p:nvPr/>
          </p:nvSpPr>
          <p:spPr>
            <a:xfrm>
              <a:off x="2104" y="1388"/>
              <a:ext cx="10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9" name="Rectangle 210"/>
            <p:cNvSpPr/>
            <p:nvPr/>
          </p:nvSpPr>
          <p:spPr>
            <a:xfrm>
              <a:off x="4236" y="1846"/>
              <a:ext cx="10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0" name="Rectangle 211"/>
            <p:cNvSpPr/>
            <p:nvPr/>
          </p:nvSpPr>
          <p:spPr>
            <a:xfrm>
              <a:off x="2117" y="941"/>
              <a:ext cx="113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1" name="Rectangle 212"/>
            <p:cNvSpPr/>
            <p:nvPr/>
          </p:nvSpPr>
          <p:spPr>
            <a:xfrm>
              <a:off x="3792" y="1431"/>
              <a:ext cx="10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2" name="Rectangle 213"/>
            <p:cNvSpPr/>
            <p:nvPr/>
          </p:nvSpPr>
          <p:spPr>
            <a:xfrm>
              <a:off x="4211" y="1388"/>
              <a:ext cx="8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3" name="Rectangle 214"/>
            <p:cNvSpPr/>
            <p:nvPr/>
          </p:nvSpPr>
          <p:spPr>
            <a:xfrm>
              <a:off x="3028" y="1093"/>
              <a:ext cx="107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T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4" name="Rectangle 215"/>
            <p:cNvSpPr/>
            <p:nvPr/>
          </p:nvSpPr>
          <p:spPr>
            <a:xfrm>
              <a:off x="4309" y="1508"/>
              <a:ext cx="57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5" name="Rectangle 216"/>
            <p:cNvSpPr/>
            <p:nvPr/>
          </p:nvSpPr>
          <p:spPr>
            <a:xfrm>
              <a:off x="3903" y="1508"/>
              <a:ext cx="69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6" name="Rectangle 217"/>
            <p:cNvSpPr/>
            <p:nvPr/>
          </p:nvSpPr>
          <p:spPr>
            <a:xfrm>
              <a:off x="4236" y="1039"/>
              <a:ext cx="92" cy="1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7" name="Rectangle 218"/>
            <p:cNvSpPr/>
            <p:nvPr/>
          </p:nvSpPr>
          <p:spPr>
            <a:xfrm>
              <a:off x="1994" y="864"/>
              <a:ext cx="118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8" name="Rectangle 219"/>
            <p:cNvSpPr/>
            <p:nvPr/>
          </p:nvSpPr>
          <p:spPr>
            <a:xfrm>
              <a:off x="3731" y="1289"/>
              <a:ext cx="50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9" name="Rectangle 220"/>
            <p:cNvSpPr/>
            <p:nvPr/>
          </p:nvSpPr>
          <p:spPr>
            <a:xfrm>
              <a:off x="3620" y="1213"/>
              <a:ext cx="10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0" name="Rectangle 221"/>
            <p:cNvSpPr/>
            <p:nvPr/>
          </p:nvSpPr>
          <p:spPr>
            <a:xfrm>
              <a:off x="3644" y="1704"/>
              <a:ext cx="10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1" name="Rectangle 222"/>
            <p:cNvSpPr/>
            <p:nvPr/>
          </p:nvSpPr>
          <p:spPr>
            <a:xfrm>
              <a:off x="3731" y="1813"/>
              <a:ext cx="151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2" name="Rectangle 223"/>
            <p:cNvSpPr/>
            <p:nvPr/>
          </p:nvSpPr>
          <p:spPr>
            <a:xfrm>
              <a:off x="2092" y="1911"/>
              <a:ext cx="151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3" name="Rectangle 224"/>
            <p:cNvSpPr/>
            <p:nvPr/>
          </p:nvSpPr>
          <p:spPr>
            <a:xfrm>
              <a:off x="2006" y="1802"/>
              <a:ext cx="109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964" name="Group 240"/>
          <p:cNvGrpSpPr/>
          <p:nvPr/>
        </p:nvGrpSpPr>
        <p:grpSpPr>
          <a:xfrm>
            <a:off x="1955801" y="4554538"/>
            <a:ext cx="3876675" cy="2081212"/>
            <a:chOff x="296" y="2729"/>
            <a:chExt cx="2442" cy="1311"/>
          </a:xfrm>
        </p:grpSpPr>
        <p:sp>
          <p:nvSpPr>
            <p:cNvPr id="35965" name="Line 11"/>
            <p:cNvSpPr/>
            <p:nvPr/>
          </p:nvSpPr>
          <p:spPr>
            <a:xfrm>
              <a:off x="434" y="3379"/>
              <a:ext cx="4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66" name="Oval 12"/>
            <p:cNvSpPr/>
            <p:nvPr/>
          </p:nvSpPr>
          <p:spPr>
            <a:xfrm>
              <a:off x="365" y="3350"/>
              <a:ext cx="69" cy="58"/>
            </a:xfrm>
            <a:prstGeom prst="ellipse">
              <a:avLst/>
            </a:pr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7" name="Rectangle 13"/>
            <p:cNvSpPr/>
            <p:nvPr/>
          </p:nvSpPr>
          <p:spPr>
            <a:xfrm>
              <a:off x="296" y="3350"/>
              <a:ext cx="42" cy="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9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8" name="Line 14"/>
            <p:cNvSpPr/>
            <p:nvPr/>
          </p:nvSpPr>
          <p:spPr>
            <a:xfrm>
              <a:off x="457" y="3951"/>
              <a:ext cx="4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69" name="Oval 15"/>
            <p:cNvSpPr/>
            <p:nvPr/>
          </p:nvSpPr>
          <p:spPr>
            <a:xfrm>
              <a:off x="388" y="3922"/>
              <a:ext cx="69" cy="58"/>
            </a:xfrm>
            <a:prstGeom prst="ellipse">
              <a:avLst/>
            </a:pr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70" name="Rectangle 16"/>
            <p:cNvSpPr/>
            <p:nvPr/>
          </p:nvSpPr>
          <p:spPr>
            <a:xfrm>
              <a:off x="319" y="3922"/>
              <a:ext cx="42" cy="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9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71" name="Line 17"/>
            <p:cNvSpPr/>
            <p:nvPr/>
          </p:nvSpPr>
          <p:spPr>
            <a:xfrm>
              <a:off x="880" y="2943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2" name="Line 18"/>
            <p:cNvSpPr/>
            <p:nvPr/>
          </p:nvSpPr>
          <p:spPr>
            <a:xfrm>
              <a:off x="972" y="2943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3" name="Line 19"/>
            <p:cNvSpPr/>
            <p:nvPr/>
          </p:nvSpPr>
          <p:spPr>
            <a:xfrm flipH="1">
              <a:off x="880" y="3137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4" name="Line 20"/>
            <p:cNvSpPr/>
            <p:nvPr/>
          </p:nvSpPr>
          <p:spPr>
            <a:xfrm flipV="1">
              <a:off x="880" y="2943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5" name="Line 21"/>
            <p:cNvSpPr/>
            <p:nvPr/>
          </p:nvSpPr>
          <p:spPr>
            <a:xfrm>
              <a:off x="926" y="2846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6" name="Line 22"/>
            <p:cNvSpPr/>
            <p:nvPr/>
          </p:nvSpPr>
          <p:spPr>
            <a:xfrm flipV="1">
              <a:off x="926" y="3137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7" name="Line 23"/>
            <p:cNvSpPr/>
            <p:nvPr/>
          </p:nvSpPr>
          <p:spPr>
            <a:xfrm>
              <a:off x="651" y="3331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8" name="Line 24"/>
            <p:cNvSpPr/>
            <p:nvPr/>
          </p:nvSpPr>
          <p:spPr>
            <a:xfrm>
              <a:off x="697" y="3331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9" name="Line 25"/>
            <p:cNvSpPr/>
            <p:nvPr/>
          </p:nvSpPr>
          <p:spPr>
            <a:xfrm>
              <a:off x="697" y="3379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0" name="Line 26"/>
            <p:cNvSpPr/>
            <p:nvPr/>
          </p:nvSpPr>
          <p:spPr>
            <a:xfrm>
              <a:off x="617" y="3379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1" name="Line 27"/>
            <p:cNvSpPr/>
            <p:nvPr/>
          </p:nvSpPr>
          <p:spPr>
            <a:xfrm>
              <a:off x="502" y="3379"/>
              <a:ext cx="115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2" name="Line 28"/>
            <p:cNvSpPr/>
            <p:nvPr/>
          </p:nvSpPr>
          <p:spPr>
            <a:xfrm flipH="1">
              <a:off x="731" y="3379"/>
              <a:ext cx="115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3" name="Line 29"/>
            <p:cNvSpPr/>
            <p:nvPr/>
          </p:nvSpPr>
          <p:spPr>
            <a:xfrm>
              <a:off x="1419" y="2894"/>
              <a:ext cx="9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4" name="Line 30"/>
            <p:cNvSpPr/>
            <p:nvPr/>
          </p:nvSpPr>
          <p:spPr>
            <a:xfrm>
              <a:off x="1510" y="2894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5" name="Line 31"/>
            <p:cNvSpPr/>
            <p:nvPr/>
          </p:nvSpPr>
          <p:spPr>
            <a:xfrm flipH="1">
              <a:off x="1419" y="3088"/>
              <a:ext cx="9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6" name="Line 32"/>
            <p:cNvSpPr/>
            <p:nvPr/>
          </p:nvSpPr>
          <p:spPr>
            <a:xfrm flipV="1">
              <a:off x="1419" y="2894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7" name="Line 33"/>
            <p:cNvSpPr/>
            <p:nvPr/>
          </p:nvSpPr>
          <p:spPr>
            <a:xfrm>
              <a:off x="1464" y="2797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8" name="Line 34"/>
            <p:cNvSpPr/>
            <p:nvPr/>
          </p:nvSpPr>
          <p:spPr>
            <a:xfrm flipV="1">
              <a:off x="1464" y="3088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9" name="Line 35"/>
            <p:cNvSpPr/>
            <p:nvPr/>
          </p:nvSpPr>
          <p:spPr>
            <a:xfrm>
              <a:off x="2152" y="3166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0" name="Line 36"/>
            <p:cNvSpPr/>
            <p:nvPr/>
          </p:nvSpPr>
          <p:spPr>
            <a:xfrm>
              <a:off x="2198" y="3166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1" name="Line 37"/>
            <p:cNvSpPr/>
            <p:nvPr/>
          </p:nvSpPr>
          <p:spPr>
            <a:xfrm>
              <a:off x="2198" y="3214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2" name="Line 38"/>
            <p:cNvSpPr/>
            <p:nvPr/>
          </p:nvSpPr>
          <p:spPr>
            <a:xfrm>
              <a:off x="2117" y="3214"/>
              <a:ext cx="35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3" name="Line 40"/>
            <p:cNvSpPr/>
            <p:nvPr/>
          </p:nvSpPr>
          <p:spPr>
            <a:xfrm flipH="1">
              <a:off x="2232" y="3214"/>
              <a:ext cx="114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4" name="Line 41"/>
            <p:cNvSpPr/>
            <p:nvPr/>
          </p:nvSpPr>
          <p:spPr>
            <a:xfrm>
              <a:off x="2438" y="3447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5" name="Line 42"/>
            <p:cNvSpPr/>
            <p:nvPr/>
          </p:nvSpPr>
          <p:spPr>
            <a:xfrm>
              <a:off x="2530" y="3447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6" name="Line 43"/>
            <p:cNvSpPr/>
            <p:nvPr/>
          </p:nvSpPr>
          <p:spPr>
            <a:xfrm flipH="1">
              <a:off x="2438" y="3641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7" name="Line 44"/>
            <p:cNvSpPr/>
            <p:nvPr/>
          </p:nvSpPr>
          <p:spPr>
            <a:xfrm flipV="1">
              <a:off x="2438" y="3447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8" name="Line 45"/>
            <p:cNvSpPr/>
            <p:nvPr/>
          </p:nvSpPr>
          <p:spPr>
            <a:xfrm>
              <a:off x="2484" y="3350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9" name="Line 46"/>
            <p:cNvSpPr/>
            <p:nvPr/>
          </p:nvSpPr>
          <p:spPr>
            <a:xfrm flipV="1">
              <a:off x="2484" y="3641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0" name="Line 47"/>
            <p:cNvSpPr/>
            <p:nvPr/>
          </p:nvSpPr>
          <p:spPr>
            <a:xfrm flipH="1">
              <a:off x="1350" y="3282"/>
              <a:ext cx="114" cy="68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1" name="Line 48"/>
            <p:cNvSpPr/>
            <p:nvPr/>
          </p:nvSpPr>
          <p:spPr>
            <a:xfrm>
              <a:off x="1350" y="3408"/>
              <a:ext cx="114" cy="68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2" name="Line 49"/>
            <p:cNvSpPr/>
            <p:nvPr/>
          </p:nvSpPr>
          <p:spPr>
            <a:xfrm>
              <a:off x="1350" y="3282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3" name="Line 50"/>
            <p:cNvSpPr/>
            <p:nvPr/>
          </p:nvSpPr>
          <p:spPr>
            <a:xfrm flipH="1">
              <a:off x="1235" y="3379"/>
              <a:ext cx="115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4" name="Freeform 51"/>
            <p:cNvSpPr/>
            <p:nvPr/>
          </p:nvSpPr>
          <p:spPr>
            <a:xfrm>
              <a:off x="1396" y="3428"/>
              <a:ext cx="68" cy="48"/>
            </a:xfrm>
            <a:custGeom>
              <a:avLst/>
              <a:gdLst/>
              <a:ahLst/>
              <a:cxnLst>
                <a:cxn ang="0">
                  <a:pos x="68" y="48"/>
                </a:cxn>
                <a:cxn ang="0">
                  <a:pos x="23" y="0"/>
                </a:cxn>
                <a:cxn ang="0">
                  <a:pos x="0" y="29"/>
                </a:cxn>
                <a:cxn ang="0">
                  <a:pos x="68" y="48"/>
                </a:cxn>
              </a:cxnLst>
              <a:rect l="0" t="0" r="0" b="0"/>
              <a:pathLst>
                <a:path w="68" h="48">
                  <a:moveTo>
                    <a:pt x="68" y="48"/>
                  </a:moveTo>
                  <a:lnTo>
                    <a:pt x="23" y="0"/>
                  </a:lnTo>
                  <a:lnTo>
                    <a:pt x="0" y="29"/>
                  </a:lnTo>
                  <a:lnTo>
                    <a:pt x="68" y="48"/>
                  </a:lnTo>
                  <a:close/>
                </a:path>
              </a:pathLst>
            </a:custGeom>
            <a:solidFill>
              <a:srgbClr val="0000FF"/>
            </a:solidFill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05" name="Line 52"/>
            <p:cNvSpPr/>
            <p:nvPr/>
          </p:nvSpPr>
          <p:spPr>
            <a:xfrm>
              <a:off x="1464" y="3185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6" name="Line 53"/>
            <p:cNvSpPr/>
            <p:nvPr/>
          </p:nvSpPr>
          <p:spPr>
            <a:xfrm flipV="1">
              <a:off x="1464" y="3476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7" name="Line 54"/>
            <p:cNvSpPr/>
            <p:nvPr/>
          </p:nvSpPr>
          <p:spPr>
            <a:xfrm>
              <a:off x="1121" y="3379"/>
              <a:ext cx="114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8" name="Line 55"/>
            <p:cNvSpPr/>
            <p:nvPr/>
          </p:nvSpPr>
          <p:spPr>
            <a:xfrm>
              <a:off x="1350" y="4039"/>
              <a:ext cx="229" cy="1"/>
            </a:xfrm>
            <a:prstGeom prst="line">
              <a:avLst/>
            </a:prstGeom>
            <a:ln w="17463" cap="flat" cmpd="sng">
              <a:solidFill>
                <a:srgbClr val="0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9" name="Rectangle 56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FFFF00"/>
            </a:solidFill>
            <a:ln w="17463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0" name="Rectangle 57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1" name="Rectangle 58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2" name="Rectangle 59"/>
            <p:cNvSpPr/>
            <p:nvPr/>
          </p:nvSpPr>
          <p:spPr>
            <a:xfrm>
              <a:off x="880" y="2943"/>
              <a:ext cx="103" cy="203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3" name="Rectangle 60"/>
            <p:cNvSpPr/>
            <p:nvPr/>
          </p:nvSpPr>
          <p:spPr>
            <a:xfrm>
              <a:off x="2438" y="3447"/>
              <a:ext cx="103" cy="204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4" name="Rectangle 61"/>
            <p:cNvSpPr/>
            <p:nvPr/>
          </p:nvSpPr>
          <p:spPr>
            <a:xfrm>
              <a:off x="880" y="2943"/>
              <a:ext cx="103" cy="203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5" name="Rectangle 62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6" name="Rectangle 63"/>
            <p:cNvSpPr/>
            <p:nvPr/>
          </p:nvSpPr>
          <p:spPr>
            <a:xfrm>
              <a:off x="2438" y="3447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7" name="Rectangle 64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8" name="Line 65"/>
            <p:cNvSpPr/>
            <p:nvPr/>
          </p:nvSpPr>
          <p:spPr>
            <a:xfrm>
              <a:off x="846" y="3379"/>
              <a:ext cx="80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19" name="Line 66"/>
            <p:cNvSpPr/>
            <p:nvPr/>
          </p:nvSpPr>
          <p:spPr>
            <a:xfrm>
              <a:off x="479" y="3379"/>
              <a:ext cx="23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0" name="Line 67"/>
            <p:cNvSpPr/>
            <p:nvPr/>
          </p:nvSpPr>
          <p:spPr>
            <a:xfrm>
              <a:off x="926" y="3234"/>
              <a:ext cx="1" cy="145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1" name="Oval 68"/>
            <p:cNvSpPr/>
            <p:nvPr/>
          </p:nvSpPr>
          <p:spPr>
            <a:xfrm>
              <a:off x="903" y="3360"/>
              <a:ext cx="46" cy="38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22" name="Line 69"/>
            <p:cNvSpPr/>
            <p:nvPr/>
          </p:nvSpPr>
          <p:spPr>
            <a:xfrm>
              <a:off x="926" y="3379"/>
              <a:ext cx="195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3" name="Line 70"/>
            <p:cNvSpPr/>
            <p:nvPr/>
          </p:nvSpPr>
          <p:spPr>
            <a:xfrm flipV="1">
              <a:off x="1464" y="3573"/>
              <a:ext cx="1" cy="369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4" name="Line 71"/>
            <p:cNvSpPr/>
            <p:nvPr/>
          </p:nvSpPr>
          <p:spPr>
            <a:xfrm>
              <a:off x="2346" y="3214"/>
              <a:ext cx="138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5" name="Line 73"/>
            <p:cNvSpPr/>
            <p:nvPr/>
          </p:nvSpPr>
          <p:spPr>
            <a:xfrm flipV="1">
              <a:off x="2484" y="3214"/>
              <a:ext cx="1" cy="136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6" name="Line 74"/>
            <p:cNvSpPr/>
            <p:nvPr/>
          </p:nvSpPr>
          <p:spPr>
            <a:xfrm>
              <a:off x="1464" y="3951"/>
              <a:ext cx="1" cy="88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7" name="Line 75"/>
            <p:cNvSpPr/>
            <p:nvPr/>
          </p:nvSpPr>
          <p:spPr>
            <a:xfrm>
              <a:off x="1464" y="2749"/>
              <a:ext cx="1" cy="48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8" name="Oval 76"/>
            <p:cNvSpPr/>
            <p:nvPr/>
          </p:nvSpPr>
          <p:spPr>
            <a:xfrm>
              <a:off x="1441" y="2729"/>
              <a:ext cx="46" cy="39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29" name="Oval 78"/>
            <p:cNvSpPr/>
            <p:nvPr/>
          </p:nvSpPr>
          <p:spPr>
            <a:xfrm>
              <a:off x="1441" y="3932"/>
              <a:ext cx="46" cy="39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0" name="Line 80"/>
            <p:cNvSpPr/>
            <p:nvPr/>
          </p:nvSpPr>
          <p:spPr>
            <a:xfrm>
              <a:off x="2484" y="3738"/>
              <a:ext cx="1" cy="213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31" name="Line 82"/>
            <p:cNvSpPr/>
            <p:nvPr/>
          </p:nvSpPr>
          <p:spPr>
            <a:xfrm flipV="1">
              <a:off x="926" y="2749"/>
              <a:ext cx="1" cy="97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32" name="Rectangle 84"/>
            <p:cNvSpPr/>
            <p:nvPr/>
          </p:nvSpPr>
          <p:spPr>
            <a:xfrm>
              <a:off x="548" y="3117"/>
              <a:ext cx="10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3" name="Rectangle 85"/>
            <p:cNvSpPr/>
            <p:nvPr/>
          </p:nvSpPr>
          <p:spPr>
            <a:xfrm>
              <a:off x="1510" y="3321"/>
              <a:ext cx="9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T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4" name="Rectangle 86"/>
            <p:cNvSpPr/>
            <p:nvPr/>
          </p:nvSpPr>
          <p:spPr>
            <a:xfrm>
              <a:off x="663" y="3185"/>
              <a:ext cx="97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5" name="Rectangle 87"/>
            <p:cNvSpPr/>
            <p:nvPr/>
          </p:nvSpPr>
          <p:spPr>
            <a:xfrm>
              <a:off x="1718" y="3634"/>
              <a:ext cx="12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6" name="Rectangle 88"/>
            <p:cNvSpPr/>
            <p:nvPr/>
          </p:nvSpPr>
          <p:spPr>
            <a:xfrm>
              <a:off x="605" y="2855"/>
              <a:ext cx="9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7" name="Rectangle 89"/>
            <p:cNvSpPr/>
            <p:nvPr/>
          </p:nvSpPr>
          <p:spPr>
            <a:xfrm>
              <a:off x="709" y="2943"/>
              <a:ext cx="48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8" name="Rectangle 90"/>
            <p:cNvSpPr/>
            <p:nvPr/>
          </p:nvSpPr>
          <p:spPr>
            <a:xfrm>
              <a:off x="1633" y="3549"/>
              <a:ext cx="9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9" name="Rectangle 91"/>
            <p:cNvSpPr/>
            <p:nvPr/>
          </p:nvSpPr>
          <p:spPr>
            <a:xfrm>
              <a:off x="2312" y="3525"/>
              <a:ext cx="60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0" name="Rectangle 92"/>
            <p:cNvSpPr/>
            <p:nvPr/>
          </p:nvSpPr>
          <p:spPr>
            <a:xfrm>
              <a:off x="2621" y="3272"/>
              <a:ext cx="83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1" name="Rectangle 93"/>
            <p:cNvSpPr/>
            <p:nvPr/>
          </p:nvSpPr>
          <p:spPr>
            <a:xfrm>
              <a:off x="2598" y="3418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2" name="Rectangle 94"/>
            <p:cNvSpPr/>
            <p:nvPr/>
          </p:nvSpPr>
          <p:spPr>
            <a:xfrm>
              <a:off x="2690" y="3525"/>
              <a:ext cx="48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3" name="Rectangle 95"/>
            <p:cNvSpPr/>
            <p:nvPr/>
          </p:nvSpPr>
          <p:spPr>
            <a:xfrm>
              <a:off x="2209" y="3457"/>
              <a:ext cx="9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4" name="Rectangle 96"/>
            <p:cNvSpPr/>
            <p:nvPr/>
          </p:nvSpPr>
          <p:spPr>
            <a:xfrm>
              <a:off x="2621" y="3699"/>
              <a:ext cx="9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5" name="Rectangle 97"/>
            <p:cNvSpPr/>
            <p:nvPr/>
          </p:nvSpPr>
          <p:spPr>
            <a:xfrm>
              <a:off x="331" y="3592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6" name="Rectangle 98"/>
            <p:cNvSpPr/>
            <p:nvPr/>
          </p:nvSpPr>
          <p:spPr>
            <a:xfrm>
              <a:off x="354" y="3447"/>
              <a:ext cx="83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7" name="Rectangle 99"/>
            <p:cNvSpPr/>
            <p:nvPr/>
          </p:nvSpPr>
          <p:spPr>
            <a:xfrm>
              <a:off x="354" y="3757"/>
              <a:ext cx="9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8" name="Rectangle 100"/>
            <p:cNvSpPr/>
            <p:nvPr/>
          </p:nvSpPr>
          <p:spPr>
            <a:xfrm>
              <a:off x="422" y="3699"/>
              <a:ext cx="27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9" name="Rectangle 101"/>
            <p:cNvSpPr/>
            <p:nvPr/>
          </p:nvSpPr>
          <p:spPr>
            <a:xfrm>
              <a:off x="2209" y="3049"/>
              <a:ext cx="97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0" name="Rectangle 102"/>
            <p:cNvSpPr/>
            <p:nvPr/>
          </p:nvSpPr>
          <p:spPr>
            <a:xfrm>
              <a:off x="2095" y="2982"/>
              <a:ext cx="10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1" name="Rectangle 103"/>
            <p:cNvSpPr/>
            <p:nvPr/>
          </p:nvSpPr>
          <p:spPr>
            <a:xfrm>
              <a:off x="1315" y="2894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2" name="Rectangle 104"/>
            <p:cNvSpPr/>
            <p:nvPr/>
          </p:nvSpPr>
          <p:spPr>
            <a:xfrm>
              <a:off x="1212" y="2826"/>
              <a:ext cx="9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3" name="Line 227"/>
            <p:cNvSpPr/>
            <p:nvPr/>
          </p:nvSpPr>
          <p:spPr>
            <a:xfrm flipH="1">
              <a:off x="1463" y="3209"/>
              <a:ext cx="68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4" name="Line 229"/>
            <p:cNvSpPr/>
            <p:nvPr/>
          </p:nvSpPr>
          <p:spPr>
            <a:xfrm>
              <a:off x="442" y="3946"/>
              <a:ext cx="2041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5" name="Line 230"/>
            <p:cNvSpPr/>
            <p:nvPr/>
          </p:nvSpPr>
          <p:spPr>
            <a:xfrm>
              <a:off x="1790" y="3464"/>
              <a:ext cx="199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6" name="Line 231"/>
            <p:cNvSpPr/>
            <p:nvPr/>
          </p:nvSpPr>
          <p:spPr>
            <a:xfrm>
              <a:off x="1847" y="3492"/>
              <a:ext cx="85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7" name="Line 232"/>
            <p:cNvSpPr/>
            <p:nvPr/>
          </p:nvSpPr>
          <p:spPr>
            <a:xfrm>
              <a:off x="1798" y="3521"/>
              <a:ext cx="199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8" name="Line 233"/>
            <p:cNvSpPr/>
            <p:nvPr/>
          </p:nvSpPr>
          <p:spPr>
            <a:xfrm>
              <a:off x="1847" y="3549"/>
              <a:ext cx="85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9" name="Line 234"/>
            <p:cNvSpPr/>
            <p:nvPr/>
          </p:nvSpPr>
          <p:spPr>
            <a:xfrm>
              <a:off x="924" y="2755"/>
              <a:ext cx="96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0" name="Line 235"/>
            <p:cNvSpPr/>
            <p:nvPr/>
          </p:nvSpPr>
          <p:spPr>
            <a:xfrm>
              <a:off x="1888" y="2755"/>
              <a:ext cx="0" cy="709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1" name="Line 236"/>
            <p:cNvSpPr/>
            <p:nvPr/>
          </p:nvSpPr>
          <p:spPr>
            <a:xfrm>
              <a:off x="1888" y="3549"/>
              <a:ext cx="0" cy="397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2" name="Oval 237"/>
            <p:cNvSpPr/>
            <p:nvPr/>
          </p:nvSpPr>
          <p:spPr>
            <a:xfrm>
              <a:off x="1867" y="3921"/>
              <a:ext cx="46" cy="38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063" name="Text Box 239"/>
          <p:cNvSpPr txBox="1"/>
          <p:nvPr/>
        </p:nvSpPr>
        <p:spPr>
          <a:xfrm>
            <a:off x="1774825" y="3429001"/>
            <a:ext cx="4770438" cy="46166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适当调节</a:t>
            </a:r>
            <a:r>
              <a:rPr lang="en-US" altLang="zh-CN" sz="2400" i="1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aseline="-25000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i="1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aseline="-25000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 </a:t>
            </a:r>
            <a:r>
              <a:rPr lang="en-US" altLang="zh-CN" sz="2400" i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代替</a:t>
            </a:r>
            <a:r>
              <a:rPr lang="en-US" altLang="zh-CN" sz="2400" i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064" name="Text Box 241"/>
          <p:cNvSpPr txBox="1"/>
          <p:nvPr/>
        </p:nvSpPr>
        <p:spPr>
          <a:xfrm>
            <a:off x="7131050" y="3743325"/>
            <a:ext cx="2655888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工程上的习惯画法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/>
          <p:nvPr/>
        </p:nvSpPr>
        <p:spPr>
          <a:xfrm>
            <a:off x="2136141" y="160656"/>
            <a:ext cx="7992745" cy="2638275"/>
          </a:xfrm>
          <a:prstGeom prst="rect">
            <a:avLst/>
          </a:prstGeom>
          <a:noFill/>
          <a:ln w="76200" cap="flat" cmpd="thickThin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</a:extLst>
        </p:spPr>
        <p:txBody>
          <a:bodyPr anchor="t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电路知识</a:t>
            </a:r>
            <a:r>
              <a:rPr lang="en-US" altLang="zh-CN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叠加定理：</a:t>
            </a:r>
            <a:endParaRPr lang="zh-CN" altLang="en-US" sz="32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在线性电路中，任一支路电流</a:t>
            </a:r>
            <a:r>
              <a:rPr lang="en-US" altLang="zh-CN" sz="3200" i="1" dirty="0">
                <a:solidFill>
                  <a:srgbClr val="39393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或电压</a:t>
            </a:r>
            <a:r>
              <a:rPr lang="en-US" altLang="zh-CN" sz="3200" i="1" dirty="0">
                <a:solidFill>
                  <a:srgbClr val="39393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3200" baseline="-250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都是电路中各个独立源</a:t>
            </a:r>
            <a:r>
              <a:rPr lang="en-US" altLang="zh-CN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电压源</a:t>
            </a:r>
            <a:r>
              <a:rPr lang="en-US" altLang="zh-CN" sz="3200" i="1" dirty="0" err="1">
                <a:solidFill>
                  <a:srgbClr val="39393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u</a:t>
            </a:r>
            <a:r>
              <a:rPr lang="en-US" altLang="zh-CN" sz="3200" baseline="-25000" dirty="0" err="1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sm</a:t>
            </a: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或电流源</a:t>
            </a:r>
            <a:r>
              <a:rPr lang="en-US" altLang="zh-CN" sz="3200" i="1" dirty="0" err="1">
                <a:solidFill>
                  <a:srgbClr val="39393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3200" baseline="-25000" dirty="0" err="1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sn</a:t>
            </a:r>
            <a:r>
              <a:rPr lang="en-US" altLang="zh-CN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 dirty="0">
                <a:solidFill>
                  <a:srgbClr val="393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单独作用时在该支路产生的电流（或电压）的叠加。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3939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735" y="3023955"/>
            <a:ext cx="3829050" cy="236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6"/>
          <p:cNvSpPr txBox="1"/>
          <p:nvPr/>
        </p:nvSpPr>
        <p:spPr>
          <a:xfrm>
            <a:off x="1526541" y="5499231"/>
            <a:ext cx="9004935" cy="1113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单个独立源处理时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其他电压源置零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短路，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电流源置零开路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      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5" name="文本占位符 556034"/>
          <p:cNvSpPr>
            <a:spLocks noGrp="1"/>
          </p:cNvSpPr>
          <p:nvPr>
            <p:ph type="body" idx="4294967295"/>
          </p:nvPr>
        </p:nvSpPr>
        <p:spPr>
          <a:xfrm>
            <a:off x="2095500" y="1600200"/>
            <a:ext cx="7772400" cy="4495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当输入电压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6" name="文本框 556035"/>
          <p:cNvSpPr txBox="1"/>
          <p:nvPr/>
        </p:nvSpPr>
        <p:spPr>
          <a:xfrm>
            <a:off x="4746626" y="1439864"/>
            <a:ext cx="736099" cy="58477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u</a:t>
            </a:r>
            <a:r>
              <a:rPr lang="en-US" altLang="zh-CN" sz="3200" b="1" baseline="-2500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7" name="文本框 556036"/>
          <p:cNvSpPr txBox="1"/>
          <p:nvPr/>
        </p:nvSpPr>
        <p:spPr>
          <a:xfrm>
            <a:off x="5219700" y="1600200"/>
            <a:ext cx="41910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0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时，电路中各点的电压及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8" name="文本框 556037"/>
          <p:cNvSpPr txBox="1"/>
          <p:nvPr/>
        </p:nvSpPr>
        <p:spPr>
          <a:xfrm>
            <a:off x="3162300" y="1981201"/>
            <a:ext cx="5791200" cy="1200329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电流都是不变的直流，电路此时的工作状态叫直流工作状态，也叫静止状态，简称静态。</a:t>
            </a:r>
          </a:p>
        </p:txBody>
      </p:sp>
      <p:sp>
        <p:nvSpPr>
          <p:cNvPr id="556039" name="文本框 556038"/>
          <p:cNvSpPr txBox="1"/>
          <p:nvPr/>
        </p:nvSpPr>
        <p:spPr>
          <a:xfrm>
            <a:off x="2171700" y="3429000"/>
            <a:ext cx="76962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在静态时，</a:t>
            </a: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BJT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各极的电压及电流，在其特性曲线              </a:t>
            </a:r>
          </a:p>
        </p:txBody>
      </p:sp>
      <p:sp>
        <p:nvSpPr>
          <p:cNvPr id="556040" name="文本框 556039"/>
          <p:cNvSpPr txBox="1"/>
          <p:nvPr/>
        </p:nvSpPr>
        <p:spPr>
          <a:xfrm>
            <a:off x="3009900" y="3810001"/>
            <a:ext cx="6019800" cy="10156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上会确定一个点，这个点就叫做</a:t>
            </a: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</a:p>
          <a:p>
            <a:pPr>
              <a:spcBef>
                <a:spcPct val="50000"/>
              </a:spcBef>
            </a:pP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1" name="文本框 556040"/>
          <p:cNvSpPr txBox="1"/>
          <p:nvPr/>
        </p:nvSpPr>
        <p:spPr>
          <a:xfrm>
            <a:off x="2247901" y="4419600"/>
            <a:ext cx="3497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当输入电压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2" name="文本框 556041"/>
          <p:cNvSpPr txBox="1"/>
          <p:nvPr/>
        </p:nvSpPr>
        <p:spPr>
          <a:xfrm>
            <a:off x="4762500" y="4316414"/>
            <a:ext cx="529312" cy="58477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en-US" altLang="zh-CN" sz="3200" b="1" baseline="-2500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3" name="文本框 556042"/>
          <p:cNvSpPr txBox="1"/>
          <p:nvPr/>
        </p:nvSpPr>
        <p:spPr>
          <a:xfrm>
            <a:off x="5219700" y="4495800"/>
            <a:ext cx="4800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时，电路中各点的电压及电流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4" name="直接连接符 556043"/>
          <p:cNvSpPr/>
          <p:nvPr/>
        </p:nvSpPr>
        <p:spPr>
          <a:xfrm>
            <a:off x="5308600" y="4622800"/>
            <a:ext cx="152400" cy="228600"/>
          </a:xfrm>
          <a:prstGeom prst="line">
            <a:avLst/>
          </a:prstGeom>
          <a:ln w="28575" cap="sq" cmpd="sng">
            <a:solidFill>
              <a:schemeClr val="folHlink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556045" name="文本框 556044"/>
          <p:cNvSpPr txBox="1"/>
          <p:nvPr/>
        </p:nvSpPr>
        <p:spPr>
          <a:xfrm>
            <a:off x="3238500" y="4953001"/>
            <a:ext cx="6629400" cy="10156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都会处于变动状态，电路此时工作在交流状态，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简称动态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7" name="文本框 556046"/>
          <p:cNvSpPr txBox="1"/>
          <p:nvPr/>
        </p:nvSpPr>
        <p:spPr>
          <a:xfrm>
            <a:off x="3709989" y="503238"/>
            <a:ext cx="43195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直流工作状态、交流工作状态</a:t>
            </a:r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2" name="圆角矩形标注 551941"/>
          <p:cNvSpPr/>
          <p:nvPr/>
        </p:nvSpPr>
        <p:spPr>
          <a:xfrm>
            <a:off x="4521200" y="954088"/>
            <a:ext cx="5029200" cy="838200"/>
          </a:xfrm>
          <a:prstGeom prst="wedgeRoundRectCallout">
            <a:avLst>
              <a:gd name="adj1" fmla="val -48106"/>
              <a:gd name="adj2" fmla="val 144319"/>
              <a:gd name="adj3" fmla="val 16667"/>
            </a:avLst>
          </a:prstGeom>
          <a:solidFill>
            <a:srgbClr val="CCFFCC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将交流电压源短路，将电容开路。</a:t>
            </a:r>
            <a:endParaRPr lang="zh-CN" altLang="en-US" sz="2400">
              <a:solidFill>
                <a:srgbClr val="A5002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1943" name="文本框 551942"/>
          <p:cNvSpPr txBox="1"/>
          <p:nvPr/>
        </p:nvSpPr>
        <p:spPr>
          <a:xfrm>
            <a:off x="1524000" y="1358901"/>
            <a:ext cx="3581400" cy="66364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直流通路的画法：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1948" name="文本框 551947"/>
          <p:cNvSpPr txBox="1"/>
          <p:nvPr/>
        </p:nvSpPr>
        <p:spPr>
          <a:xfrm>
            <a:off x="1524000" y="323850"/>
            <a:ext cx="517525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直流通路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------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分析静态工作情况</a:t>
            </a:r>
          </a:p>
        </p:txBody>
      </p:sp>
      <p:grpSp>
        <p:nvGrpSpPr>
          <p:cNvPr id="552183" name="组合 552182"/>
          <p:cNvGrpSpPr/>
          <p:nvPr/>
        </p:nvGrpSpPr>
        <p:grpSpPr>
          <a:xfrm>
            <a:off x="7040564" y="2933701"/>
            <a:ext cx="3468687" cy="3465513"/>
            <a:chOff x="3475" y="1848"/>
            <a:chExt cx="2185" cy="2183"/>
          </a:xfrm>
        </p:grpSpPr>
        <p:sp>
          <p:nvSpPr>
            <p:cNvPr id="551951" name="直接连接符 551950"/>
            <p:cNvSpPr/>
            <p:nvPr/>
          </p:nvSpPr>
          <p:spPr>
            <a:xfrm flipH="1">
              <a:off x="4976" y="1972"/>
              <a:ext cx="62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2" name="椭圆 551951"/>
            <p:cNvSpPr/>
            <p:nvPr/>
          </p:nvSpPr>
          <p:spPr>
            <a:xfrm>
              <a:off x="5038" y="1926"/>
              <a:ext cx="93" cy="93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53" name="矩形 551952"/>
            <p:cNvSpPr/>
            <p:nvPr/>
          </p:nvSpPr>
          <p:spPr>
            <a:xfrm>
              <a:off x="5177" y="1848"/>
              <a:ext cx="146" cy="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54" name="矩形 551953"/>
            <p:cNvSpPr/>
            <p:nvPr/>
          </p:nvSpPr>
          <p:spPr>
            <a:xfrm>
              <a:off x="4481" y="2204"/>
              <a:ext cx="139" cy="325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55" name="矩形 551954"/>
            <p:cNvSpPr/>
            <p:nvPr/>
          </p:nvSpPr>
          <p:spPr>
            <a:xfrm>
              <a:off x="3862" y="2204"/>
              <a:ext cx="139" cy="325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56" name="直接连接符 551955"/>
            <p:cNvSpPr/>
            <p:nvPr/>
          </p:nvSpPr>
          <p:spPr>
            <a:xfrm>
              <a:off x="4543" y="3890"/>
              <a:ext cx="1" cy="140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7" name="直接连接符 551956"/>
            <p:cNvSpPr/>
            <p:nvPr/>
          </p:nvSpPr>
          <p:spPr>
            <a:xfrm>
              <a:off x="4373" y="4030"/>
              <a:ext cx="340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8" name="直接连接符 551957"/>
            <p:cNvSpPr/>
            <p:nvPr/>
          </p:nvSpPr>
          <p:spPr>
            <a:xfrm flipH="1">
              <a:off x="4388" y="2869"/>
              <a:ext cx="155" cy="109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9" name="直接连接符 551958"/>
            <p:cNvSpPr/>
            <p:nvPr/>
          </p:nvSpPr>
          <p:spPr>
            <a:xfrm>
              <a:off x="4388" y="3070"/>
              <a:ext cx="155" cy="109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0" name="直接连接符 551959"/>
            <p:cNvSpPr/>
            <p:nvPr/>
          </p:nvSpPr>
          <p:spPr>
            <a:xfrm>
              <a:off x="4388" y="2869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1" name="直接连接符 551960"/>
            <p:cNvSpPr/>
            <p:nvPr/>
          </p:nvSpPr>
          <p:spPr>
            <a:xfrm flipH="1">
              <a:off x="4234" y="3024"/>
              <a:ext cx="15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2" name="任意多边形 551961"/>
            <p:cNvSpPr/>
            <p:nvPr/>
          </p:nvSpPr>
          <p:spPr>
            <a:xfrm>
              <a:off x="4450" y="3101"/>
              <a:ext cx="93" cy="78"/>
            </a:xfrm>
            <a:custGeom>
              <a:avLst/>
              <a:gdLst/>
              <a:ahLst/>
              <a:cxnLst/>
              <a:rect l="0" t="0" r="0" b="0"/>
              <a:pathLst>
                <a:path w="93" h="78">
                  <a:moveTo>
                    <a:pt x="93" y="78"/>
                  </a:moveTo>
                  <a:lnTo>
                    <a:pt x="31" y="0"/>
                  </a:lnTo>
                  <a:lnTo>
                    <a:pt x="0" y="47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0000FF"/>
            </a:solidFill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63" name="矩形 551962"/>
            <p:cNvSpPr/>
            <p:nvPr/>
          </p:nvSpPr>
          <p:spPr>
            <a:xfrm>
              <a:off x="4667" y="2947"/>
              <a:ext cx="152" cy="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00">
                  <a:solidFill>
                    <a:srgbClr val="0000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64" name="直接连接符 551963"/>
            <p:cNvSpPr/>
            <p:nvPr/>
          </p:nvSpPr>
          <p:spPr>
            <a:xfrm>
              <a:off x="4543" y="2715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5" name="直接连接符 551964"/>
            <p:cNvSpPr/>
            <p:nvPr/>
          </p:nvSpPr>
          <p:spPr>
            <a:xfrm flipV="1">
              <a:off x="4543" y="3179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6" name="直接连接符 551965"/>
            <p:cNvSpPr/>
            <p:nvPr/>
          </p:nvSpPr>
          <p:spPr>
            <a:xfrm>
              <a:off x="4079" y="3024"/>
              <a:ext cx="155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7" name="直接连接符 551966"/>
            <p:cNvSpPr/>
            <p:nvPr/>
          </p:nvSpPr>
          <p:spPr>
            <a:xfrm>
              <a:off x="3862" y="220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8" name="直接连接符 551967"/>
            <p:cNvSpPr/>
            <p:nvPr/>
          </p:nvSpPr>
          <p:spPr>
            <a:xfrm>
              <a:off x="3986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9" name="直接连接符 551968"/>
            <p:cNvSpPr/>
            <p:nvPr/>
          </p:nvSpPr>
          <p:spPr>
            <a:xfrm flipH="1">
              <a:off x="3862" y="251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0" name="直接连接符 551969"/>
            <p:cNvSpPr/>
            <p:nvPr/>
          </p:nvSpPr>
          <p:spPr>
            <a:xfrm flipV="1">
              <a:off x="3862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1" name="直接连接符 551970"/>
            <p:cNvSpPr/>
            <p:nvPr/>
          </p:nvSpPr>
          <p:spPr>
            <a:xfrm>
              <a:off x="3924" y="2049"/>
              <a:ext cx="1" cy="155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2" name="直接连接符 551971"/>
            <p:cNvSpPr/>
            <p:nvPr/>
          </p:nvSpPr>
          <p:spPr>
            <a:xfrm flipV="1">
              <a:off x="3924" y="2514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3" name="直接连接符 551972"/>
            <p:cNvSpPr/>
            <p:nvPr/>
          </p:nvSpPr>
          <p:spPr>
            <a:xfrm>
              <a:off x="4481" y="220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4" name="直接连接符 551973"/>
            <p:cNvSpPr/>
            <p:nvPr/>
          </p:nvSpPr>
          <p:spPr>
            <a:xfrm>
              <a:off x="4605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5" name="直接连接符 551974"/>
            <p:cNvSpPr/>
            <p:nvPr/>
          </p:nvSpPr>
          <p:spPr>
            <a:xfrm flipH="1">
              <a:off x="4481" y="251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6" name="直接连接符 551975"/>
            <p:cNvSpPr/>
            <p:nvPr/>
          </p:nvSpPr>
          <p:spPr>
            <a:xfrm flipV="1">
              <a:off x="4481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7" name="直接连接符 551976"/>
            <p:cNvSpPr/>
            <p:nvPr/>
          </p:nvSpPr>
          <p:spPr>
            <a:xfrm>
              <a:off x="4543" y="2049"/>
              <a:ext cx="1" cy="155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8" name="直接连接符 551977"/>
            <p:cNvSpPr/>
            <p:nvPr/>
          </p:nvSpPr>
          <p:spPr>
            <a:xfrm flipV="1">
              <a:off x="4543" y="2514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9" name="直接连接符 551978"/>
            <p:cNvSpPr/>
            <p:nvPr/>
          </p:nvSpPr>
          <p:spPr>
            <a:xfrm>
              <a:off x="4543" y="3333"/>
              <a:ext cx="1" cy="573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0" name="直接连接符 551979"/>
            <p:cNvSpPr/>
            <p:nvPr/>
          </p:nvSpPr>
          <p:spPr>
            <a:xfrm flipV="1">
              <a:off x="3924" y="1972"/>
              <a:ext cx="1" cy="7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1" name="直接连接符 551980"/>
            <p:cNvSpPr/>
            <p:nvPr/>
          </p:nvSpPr>
          <p:spPr>
            <a:xfrm>
              <a:off x="3924" y="1972"/>
              <a:ext cx="61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2" name="椭圆 551981"/>
            <p:cNvSpPr/>
            <p:nvPr/>
          </p:nvSpPr>
          <p:spPr>
            <a:xfrm>
              <a:off x="4512" y="1941"/>
              <a:ext cx="62" cy="6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83" name="直接连接符 551982"/>
            <p:cNvSpPr/>
            <p:nvPr/>
          </p:nvSpPr>
          <p:spPr>
            <a:xfrm>
              <a:off x="3924" y="2668"/>
              <a:ext cx="1" cy="35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4" name="直接连接符 551983"/>
            <p:cNvSpPr/>
            <p:nvPr/>
          </p:nvSpPr>
          <p:spPr>
            <a:xfrm flipV="1">
              <a:off x="4543" y="1972"/>
              <a:ext cx="1" cy="7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5" name="直接连接符 551984"/>
            <p:cNvSpPr/>
            <p:nvPr/>
          </p:nvSpPr>
          <p:spPr>
            <a:xfrm>
              <a:off x="4543" y="1972"/>
              <a:ext cx="433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6" name="直接连接符 551985"/>
            <p:cNvSpPr/>
            <p:nvPr/>
          </p:nvSpPr>
          <p:spPr>
            <a:xfrm>
              <a:off x="4543" y="2668"/>
              <a:ext cx="1" cy="4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7" name="直接连接符 551986"/>
            <p:cNvSpPr/>
            <p:nvPr/>
          </p:nvSpPr>
          <p:spPr>
            <a:xfrm>
              <a:off x="3924" y="3024"/>
              <a:ext cx="1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8" name="矩形 551987"/>
            <p:cNvSpPr/>
            <p:nvPr/>
          </p:nvSpPr>
          <p:spPr>
            <a:xfrm>
              <a:off x="3475" y="2251"/>
              <a:ext cx="307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89" name="矩形 551988"/>
            <p:cNvSpPr/>
            <p:nvPr/>
          </p:nvSpPr>
          <p:spPr>
            <a:xfrm>
              <a:off x="3630" y="2328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90" name="矩形 551989"/>
            <p:cNvSpPr/>
            <p:nvPr/>
          </p:nvSpPr>
          <p:spPr>
            <a:xfrm>
              <a:off x="4203" y="2251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91" name="矩形 551990"/>
            <p:cNvSpPr/>
            <p:nvPr/>
          </p:nvSpPr>
          <p:spPr>
            <a:xfrm>
              <a:off x="5456" y="1957"/>
              <a:ext cx="20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92" name="矩形 551991"/>
            <p:cNvSpPr/>
            <p:nvPr/>
          </p:nvSpPr>
          <p:spPr>
            <a:xfrm>
              <a:off x="5348" y="1848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1993" name="矩形 551992"/>
            <p:cNvSpPr/>
            <p:nvPr/>
          </p:nvSpPr>
          <p:spPr>
            <a:xfrm>
              <a:off x="4357" y="2328"/>
              <a:ext cx="6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2090" name="直接连接符 552089"/>
          <p:cNvSpPr/>
          <p:nvPr/>
        </p:nvSpPr>
        <p:spPr>
          <a:xfrm>
            <a:off x="2305050" y="6140450"/>
            <a:ext cx="95250" cy="1588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1" name="椭圆 552090"/>
          <p:cNvSpPr/>
          <p:nvPr/>
        </p:nvSpPr>
        <p:spPr>
          <a:xfrm>
            <a:off x="2165350" y="6062663"/>
            <a:ext cx="139700" cy="157162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2" name="矩形 552091"/>
          <p:cNvSpPr/>
          <p:nvPr/>
        </p:nvSpPr>
        <p:spPr>
          <a:xfrm>
            <a:off x="2187575" y="5508625"/>
            <a:ext cx="139700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3" name="直接连接符 552092"/>
          <p:cNvSpPr/>
          <p:nvPr/>
        </p:nvSpPr>
        <p:spPr>
          <a:xfrm>
            <a:off x="2305050" y="4664075"/>
            <a:ext cx="95250" cy="1588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4" name="椭圆 552093"/>
          <p:cNvSpPr/>
          <p:nvPr/>
        </p:nvSpPr>
        <p:spPr>
          <a:xfrm>
            <a:off x="2165350" y="4586288"/>
            <a:ext cx="139700" cy="157162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5" name="矩形 552094"/>
          <p:cNvSpPr/>
          <p:nvPr/>
        </p:nvSpPr>
        <p:spPr>
          <a:xfrm>
            <a:off x="2117725" y="5192714"/>
            <a:ext cx="20955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6" name="直接连接符 552095"/>
          <p:cNvSpPr/>
          <p:nvPr/>
        </p:nvSpPr>
        <p:spPr>
          <a:xfrm flipH="1">
            <a:off x="4935538" y="2871789"/>
            <a:ext cx="95250" cy="1587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7" name="椭圆 552096"/>
          <p:cNvSpPr/>
          <p:nvPr/>
        </p:nvSpPr>
        <p:spPr>
          <a:xfrm>
            <a:off x="5030788" y="2792413"/>
            <a:ext cx="139700" cy="158750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8" name="矩形 552097"/>
          <p:cNvSpPr/>
          <p:nvPr/>
        </p:nvSpPr>
        <p:spPr>
          <a:xfrm>
            <a:off x="5241926" y="2660650"/>
            <a:ext cx="244475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099" name="矩形 552098"/>
          <p:cNvSpPr/>
          <p:nvPr/>
        </p:nvSpPr>
        <p:spPr>
          <a:xfrm>
            <a:off x="4184650" y="3267075"/>
            <a:ext cx="211138" cy="554038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00" name="矩形 552099"/>
          <p:cNvSpPr/>
          <p:nvPr/>
        </p:nvSpPr>
        <p:spPr>
          <a:xfrm>
            <a:off x="5570539" y="5113339"/>
            <a:ext cx="211137" cy="554037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01" name="矩形 552100"/>
          <p:cNvSpPr/>
          <p:nvPr/>
        </p:nvSpPr>
        <p:spPr>
          <a:xfrm>
            <a:off x="3244850" y="3267075"/>
            <a:ext cx="211138" cy="554038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02" name="直接连接符 552101"/>
          <p:cNvSpPr/>
          <p:nvPr/>
        </p:nvSpPr>
        <p:spPr>
          <a:xfrm>
            <a:off x="4278314" y="6140451"/>
            <a:ext cx="1587" cy="238125"/>
          </a:xfrm>
          <a:prstGeom prst="line">
            <a:avLst/>
          </a:prstGeom>
          <a:ln w="238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3" name="直接连接符 552102"/>
          <p:cNvSpPr/>
          <p:nvPr/>
        </p:nvSpPr>
        <p:spPr>
          <a:xfrm>
            <a:off x="4019551" y="6378575"/>
            <a:ext cx="517525" cy="1588"/>
          </a:xfrm>
          <a:prstGeom prst="line">
            <a:avLst/>
          </a:prstGeom>
          <a:ln w="238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4" name="直接连接符 552103"/>
          <p:cNvSpPr/>
          <p:nvPr/>
        </p:nvSpPr>
        <p:spPr>
          <a:xfrm>
            <a:off x="5006975" y="4057651"/>
            <a:ext cx="1588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5" name="直接连接符 552104"/>
          <p:cNvSpPr/>
          <p:nvPr/>
        </p:nvSpPr>
        <p:spPr>
          <a:xfrm>
            <a:off x="5100639" y="4057651"/>
            <a:ext cx="1587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6" name="直接连接符 552105"/>
          <p:cNvSpPr/>
          <p:nvPr/>
        </p:nvSpPr>
        <p:spPr>
          <a:xfrm>
            <a:off x="5100638" y="4189414"/>
            <a:ext cx="69850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7" name="直接连接符 552106"/>
          <p:cNvSpPr/>
          <p:nvPr/>
        </p:nvSpPr>
        <p:spPr>
          <a:xfrm>
            <a:off x="4935539" y="4189414"/>
            <a:ext cx="71437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8" name="直接连接符 552107"/>
          <p:cNvSpPr/>
          <p:nvPr/>
        </p:nvSpPr>
        <p:spPr>
          <a:xfrm>
            <a:off x="4700588" y="4189414"/>
            <a:ext cx="234950" cy="1587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9" name="直接连接符 552108"/>
          <p:cNvSpPr/>
          <p:nvPr/>
        </p:nvSpPr>
        <p:spPr>
          <a:xfrm flipH="1">
            <a:off x="5170488" y="4189414"/>
            <a:ext cx="234950" cy="1587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0" name="直接连接符 552109"/>
          <p:cNvSpPr/>
          <p:nvPr/>
        </p:nvSpPr>
        <p:spPr>
          <a:xfrm>
            <a:off x="5570539" y="5113339"/>
            <a:ext cx="187325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1" name="直接连接符 552110"/>
          <p:cNvSpPr/>
          <p:nvPr/>
        </p:nvSpPr>
        <p:spPr>
          <a:xfrm>
            <a:off x="5757864" y="5113338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2" name="直接连接符 552111"/>
          <p:cNvSpPr/>
          <p:nvPr/>
        </p:nvSpPr>
        <p:spPr>
          <a:xfrm flipH="1">
            <a:off x="5570539" y="5640389"/>
            <a:ext cx="187325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3" name="直接连接符 552112"/>
          <p:cNvSpPr/>
          <p:nvPr/>
        </p:nvSpPr>
        <p:spPr>
          <a:xfrm flipV="1">
            <a:off x="5570539" y="5113338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4" name="直接连接符 552113"/>
          <p:cNvSpPr/>
          <p:nvPr/>
        </p:nvSpPr>
        <p:spPr>
          <a:xfrm>
            <a:off x="5664200" y="4849814"/>
            <a:ext cx="1588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5" name="直接连接符 552114"/>
          <p:cNvSpPr/>
          <p:nvPr/>
        </p:nvSpPr>
        <p:spPr>
          <a:xfrm flipV="1">
            <a:off x="5664200" y="5640389"/>
            <a:ext cx="1588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6" name="直接连接符 552115"/>
          <p:cNvSpPr/>
          <p:nvPr/>
        </p:nvSpPr>
        <p:spPr>
          <a:xfrm flipH="1">
            <a:off x="4043363" y="4400550"/>
            <a:ext cx="234950" cy="18573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7" name="直接连接符 552116"/>
          <p:cNvSpPr/>
          <p:nvPr/>
        </p:nvSpPr>
        <p:spPr>
          <a:xfrm>
            <a:off x="4043363" y="4743450"/>
            <a:ext cx="234950" cy="1841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8" name="直接连接符 552117"/>
          <p:cNvSpPr/>
          <p:nvPr/>
        </p:nvSpPr>
        <p:spPr>
          <a:xfrm>
            <a:off x="4043364" y="4400550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9" name="直接连接符 552118"/>
          <p:cNvSpPr/>
          <p:nvPr/>
        </p:nvSpPr>
        <p:spPr>
          <a:xfrm flipH="1">
            <a:off x="3808413" y="4664075"/>
            <a:ext cx="234950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0" name="任意多边形 552119"/>
          <p:cNvSpPr/>
          <p:nvPr/>
        </p:nvSpPr>
        <p:spPr>
          <a:xfrm>
            <a:off x="4137025" y="4795838"/>
            <a:ext cx="141288" cy="131762"/>
          </a:xfrm>
          <a:custGeom>
            <a:avLst/>
            <a:gdLst/>
            <a:ahLst/>
            <a:cxnLst/>
            <a:rect l="0" t="0" r="0" b="0"/>
            <a:pathLst>
              <a:path w="89" h="83">
                <a:moveTo>
                  <a:pt x="89" y="83"/>
                </a:moveTo>
                <a:lnTo>
                  <a:pt x="30" y="0"/>
                </a:lnTo>
                <a:lnTo>
                  <a:pt x="0" y="50"/>
                </a:lnTo>
                <a:lnTo>
                  <a:pt x="89" y="83"/>
                </a:lnTo>
                <a:close/>
              </a:path>
            </a:pathLst>
          </a:custGeom>
          <a:solidFill>
            <a:srgbClr val="0000FF"/>
          </a:solidFill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21" name="矩形 552120"/>
          <p:cNvSpPr/>
          <p:nvPr/>
        </p:nvSpPr>
        <p:spPr>
          <a:xfrm>
            <a:off x="4465638" y="4532314"/>
            <a:ext cx="258084" cy="5078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>
                <a:solidFill>
                  <a:srgbClr val="0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22" name="直接连接符 552121"/>
          <p:cNvSpPr/>
          <p:nvPr/>
        </p:nvSpPr>
        <p:spPr>
          <a:xfrm>
            <a:off x="4278314" y="4137026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3" name="直接连接符 552122"/>
          <p:cNvSpPr/>
          <p:nvPr/>
        </p:nvSpPr>
        <p:spPr>
          <a:xfrm flipV="1">
            <a:off x="4278314" y="4927601"/>
            <a:ext cx="1587" cy="265113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4" name="直接连接符 552123"/>
          <p:cNvSpPr/>
          <p:nvPr/>
        </p:nvSpPr>
        <p:spPr>
          <a:xfrm>
            <a:off x="3573463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5" name="直接连接符 552124"/>
          <p:cNvSpPr/>
          <p:nvPr/>
        </p:nvSpPr>
        <p:spPr>
          <a:xfrm>
            <a:off x="2681289" y="4532314"/>
            <a:ext cx="1587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6" name="直接连接符 552125"/>
          <p:cNvSpPr/>
          <p:nvPr/>
        </p:nvSpPr>
        <p:spPr>
          <a:xfrm>
            <a:off x="2774950" y="4532314"/>
            <a:ext cx="1588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7" name="直接连接符 552126"/>
          <p:cNvSpPr/>
          <p:nvPr/>
        </p:nvSpPr>
        <p:spPr>
          <a:xfrm>
            <a:off x="2774950" y="4664075"/>
            <a:ext cx="71438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8" name="直接连接符 552127"/>
          <p:cNvSpPr/>
          <p:nvPr/>
        </p:nvSpPr>
        <p:spPr>
          <a:xfrm>
            <a:off x="2611438" y="4664075"/>
            <a:ext cx="69850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9" name="直接连接符 552128"/>
          <p:cNvSpPr/>
          <p:nvPr/>
        </p:nvSpPr>
        <p:spPr>
          <a:xfrm>
            <a:off x="2376488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0" name="直接连接符 552129"/>
          <p:cNvSpPr/>
          <p:nvPr/>
        </p:nvSpPr>
        <p:spPr>
          <a:xfrm flipH="1">
            <a:off x="2846388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1" name="直接连接符 552130"/>
          <p:cNvSpPr/>
          <p:nvPr/>
        </p:nvSpPr>
        <p:spPr>
          <a:xfrm>
            <a:off x="3244851" y="3267075"/>
            <a:ext cx="188913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2" name="直接连接符 552131"/>
          <p:cNvSpPr/>
          <p:nvPr/>
        </p:nvSpPr>
        <p:spPr>
          <a:xfrm>
            <a:off x="3433764" y="3267075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3" name="直接连接符 552132"/>
          <p:cNvSpPr/>
          <p:nvPr/>
        </p:nvSpPr>
        <p:spPr>
          <a:xfrm flipH="1">
            <a:off x="3244851" y="3794125"/>
            <a:ext cx="188913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4" name="直接连接符 552133"/>
          <p:cNvSpPr/>
          <p:nvPr/>
        </p:nvSpPr>
        <p:spPr>
          <a:xfrm flipV="1">
            <a:off x="3244850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5" name="直接连接符 552134"/>
          <p:cNvSpPr/>
          <p:nvPr/>
        </p:nvSpPr>
        <p:spPr>
          <a:xfrm>
            <a:off x="3338514" y="3003551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6" name="直接连接符 552135"/>
          <p:cNvSpPr/>
          <p:nvPr/>
        </p:nvSpPr>
        <p:spPr>
          <a:xfrm flipV="1">
            <a:off x="3338514" y="3794126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7" name="直接连接符 552136"/>
          <p:cNvSpPr/>
          <p:nvPr/>
        </p:nvSpPr>
        <p:spPr>
          <a:xfrm>
            <a:off x="4184651" y="3267075"/>
            <a:ext cx="187325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8" name="直接连接符 552137"/>
          <p:cNvSpPr/>
          <p:nvPr/>
        </p:nvSpPr>
        <p:spPr>
          <a:xfrm>
            <a:off x="4371975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9" name="直接连接符 552138"/>
          <p:cNvSpPr/>
          <p:nvPr/>
        </p:nvSpPr>
        <p:spPr>
          <a:xfrm flipH="1">
            <a:off x="4184651" y="3794125"/>
            <a:ext cx="187325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0" name="直接连接符 552139"/>
          <p:cNvSpPr/>
          <p:nvPr/>
        </p:nvSpPr>
        <p:spPr>
          <a:xfrm flipV="1">
            <a:off x="4184650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1" name="直接连接符 552140"/>
          <p:cNvSpPr/>
          <p:nvPr/>
        </p:nvSpPr>
        <p:spPr>
          <a:xfrm>
            <a:off x="4278314" y="3003551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2" name="直接连接符 552141"/>
          <p:cNvSpPr/>
          <p:nvPr/>
        </p:nvSpPr>
        <p:spPr>
          <a:xfrm flipV="1">
            <a:off x="4278314" y="3794126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3" name="直接连接符 552142"/>
          <p:cNvSpPr/>
          <p:nvPr/>
        </p:nvSpPr>
        <p:spPr>
          <a:xfrm>
            <a:off x="4278314" y="6140450"/>
            <a:ext cx="1385887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4" name="椭圆 552143"/>
          <p:cNvSpPr/>
          <p:nvPr/>
        </p:nvSpPr>
        <p:spPr>
          <a:xfrm>
            <a:off x="4232276" y="6088063"/>
            <a:ext cx="93663" cy="106362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45" name="直接连接符 552144"/>
          <p:cNvSpPr/>
          <p:nvPr/>
        </p:nvSpPr>
        <p:spPr>
          <a:xfrm>
            <a:off x="5405438" y="4189414"/>
            <a:ext cx="258762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6" name="直接连接符 552145"/>
          <p:cNvSpPr/>
          <p:nvPr/>
        </p:nvSpPr>
        <p:spPr>
          <a:xfrm>
            <a:off x="2400301" y="6140450"/>
            <a:ext cx="1878013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7" name="直接连接符 552146"/>
          <p:cNvSpPr/>
          <p:nvPr/>
        </p:nvSpPr>
        <p:spPr>
          <a:xfrm>
            <a:off x="4278314" y="6140450"/>
            <a:ext cx="1587" cy="269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8" name="直接连接符 552147"/>
          <p:cNvSpPr/>
          <p:nvPr/>
        </p:nvSpPr>
        <p:spPr>
          <a:xfrm flipV="1">
            <a:off x="3338514" y="2871788"/>
            <a:ext cx="1587" cy="131762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9" name="直接连接符 552148"/>
          <p:cNvSpPr/>
          <p:nvPr/>
        </p:nvSpPr>
        <p:spPr>
          <a:xfrm>
            <a:off x="3338513" y="2871789"/>
            <a:ext cx="939800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0" name="椭圆 552149"/>
          <p:cNvSpPr/>
          <p:nvPr/>
        </p:nvSpPr>
        <p:spPr>
          <a:xfrm>
            <a:off x="4232276" y="2819401"/>
            <a:ext cx="93663" cy="104775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51" name="直接连接符 552150"/>
          <p:cNvSpPr/>
          <p:nvPr/>
        </p:nvSpPr>
        <p:spPr>
          <a:xfrm>
            <a:off x="3338514" y="4057651"/>
            <a:ext cx="1587" cy="606425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2" name="椭圆 552151"/>
          <p:cNvSpPr/>
          <p:nvPr/>
        </p:nvSpPr>
        <p:spPr>
          <a:xfrm>
            <a:off x="3292476" y="4611688"/>
            <a:ext cx="93663" cy="106362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53" name="直接连接符 552152"/>
          <p:cNvSpPr/>
          <p:nvPr/>
        </p:nvSpPr>
        <p:spPr>
          <a:xfrm flipV="1">
            <a:off x="4278314" y="2871788"/>
            <a:ext cx="1587" cy="131762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4" name="直接连接符 552153"/>
          <p:cNvSpPr/>
          <p:nvPr/>
        </p:nvSpPr>
        <p:spPr>
          <a:xfrm>
            <a:off x="5664200" y="4189413"/>
            <a:ext cx="1588" cy="660400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5" name="直接连接符 552154"/>
          <p:cNvSpPr/>
          <p:nvPr/>
        </p:nvSpPr>
        <p:spPr>
          <a:xfrm>
            <a:off x="3081339" y="4664075"/>
            <a:ext cx="257175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6" name="直接连接符 552155"/>
          <p:cNvSpPr/>
          <p:nvPr/>
        </p:nvSpPr>
        <p:spPr>
          <a:xfrm flipH="1">
            <a:off x="2376488" y="4664075"/>
            <a:ext cx="23812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7" name="直接连接符 552156"/>
          <p:cNvSpPr/>
          <p:nvPr/>
        </p:nvSpPr>
        <p:spPr>
          <a:xfrm>
            <a:off x="4278314" y="5192714"/>
            <a:ext cx="1587" cy="94773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8" name="直接连接符 552157"/>
          <p:cNvSpPr/>
          <p:nvPr/>
        </p:nvSpPr>
        <p:spPr>
          <a:xfrm>
            <a:off x="4278314" y="4189414"/>
            <a:ext cx="422275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9" name="直接连接符 552158"/>
          <p:cNvSpPr/>
          <p:nvPr/>
        </p:nvSpPr>
        <p:spPr>
          <a:xfrm>
            <a:off x="5664200" y="5903914"/>
            <a:ext cx="1588" cy="23653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0" name="直接连接符 552159"/>
          <p:cNvSpPr/>
          <p:nvPr/>
        </p:nvSpPr>
        <p:spPr>
          <a:xfrm>
            <a:off x="4278314" y="2871789"/>
            <a:ext cx="657225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1" name="直接连接符 552160"/>
          <p:cNvSpPr/>
          <p:nvPr/>
        </p:nvSpPr>
        <p:spPr>
          <a:xfrm>
            <a:off x="4278314" y="4057651"/>
            <a:ext cx="1587" cy="79375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2" name="直接连接符 552161"/>
          <p:cNvSpPr/>
          <p:nvPr/>
        </p:nvSpPr>
        <p:spPr>
          <a:xfrm>
            <a:off x="3338513" y="4664075"/>
            <a:ext cx="234950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3" name="矩形 552162"/>
          <p:cNvSpPr/>
          <p:nvPr/>
        </p:nvSpPr>
        <p:spPr>
          <a:xfrm>
            <a:off x="2657475" y="3346450"/>
            <a:ext cx="22762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4" name="矩形 552163"/>
          <p:cNvSpPr/>
          <p:nvPr/>
        </p:nvSpPr>
        <p:spPr>
          <a:xfrm>
            <a:off x="5194300" y="3689351"/>
            <a:ext cx="2667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5" name="矩形 552164"/>
          <p:cNvSpPr/>
          <p:nvPr/>
        </p:nvSpPr>
        <p:spPr>
          <a:xfrm>
            <a:off x="6134101" y="5376864"/>
            <a:ext cx="16351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6" name="矩形 552165"/>
          <p:cNvSpPr/>
          <p:nvPr/>
        </p:nvSpPr>
        <p:spPr>
          <a:xfrm>
            <a:off x="2892426" y="3478214"/>
            <a:ext cx="200025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7" name="矩形 552166"/>
          <p:cNvSpPr/>
          <p:nvPr/>
        </p:nvSpPr>
        <p:spPr>
          <a:xfrm>
            <a:off x="6556375" y="4981575"/>
            <a:ext cx="158750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8" name="矩形 552167"/>
          <p:cNvSpPr/>
          <p:nvPr/>
        </p:nvSpPr>
        <p:spPr>
          <a:xfrm>
            <a:off x="2422525" y="4057650"/>
            <a:ext cx="24846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69" name="矩形 552168"/>
          <p:cNvSpPr/>
          <p:nvPr/>
        </p:nvSpPr>
        <p:spPr>
          <a:xfrm>
            <a:off x="5899150" y="5245100"/>
            <a:ext cx="22762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0" name="矩形 552169"/>
          <p:cNvSpPr/>
          <p:nvPr/>
        </p:nvSpPr>
        <p:spPr>
          <a:xfrm>
            <a:off x="4959350" y="3557588"/>
            <a:ext cx="24846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1" name="矩形 552170"/>
          <p:cNvSpPr/>
          <p:nvPr/>
        </p:nvSpPr>
        <p:spPr>
          <a:xfrm>
            <a:off x="6392863" y="4795839"/>
            <a:ext cx="20955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2" name="矩形 552171"/>
          <p:cNvSpPr/>
          <p:nvPr/>
        </p:nvSpPr>
        <p:spPr>
          <a:xfrm>
            <a:off x="2657475" y="4189414"/>
            <a:ext cx="2667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3" name="矩形 552172"/>
          <p:cNvSpPr/>
          <p:nvPr/>
        </p:nvSpPr>
        <p:spPr>
          <a:xfrm>
            <a:off x="6392863" y="4506914"/>
            <a:ext cx="181140" cy="38472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4" name="矩形 552173"/>
          <p:cNvSpPr/>
          <p:nvPr/>
        </p:nvSpPr>
        <p:spPr>
          <a:xfrm>
            <a:off x="3762375" y="3346450"/>
            <a:ext cx="22762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5" name="矩形 552174"/>
          <p:cNvSpPr/>
          <p:nvPr/>
        </p:nvSpPr>
        <p:spPr>
          <a:xfrm>
            <a:off x="2187576" y="4954589"/>
            <a:ext cx="15081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6" name="矩形 552175"/>
          <p:cNvSpPr/>
          <p:nvPr/>
        </p:nvSpPr>
        <p:spPr>
          <a:xfrm>
            <a:off x="5664200" y="2844801"/>
            <a:ext cx="3556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7" name="矩形 552176"/>
          <p:cNvSpPr/>
          <p:nvPr/>
        </p:nvSpPr>
        <p:spPr>
          <a:xfrm>
            <a:off x="6438900" y="5297489"/>
            <a:ext cx="13970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8" name="矩形 552177"/>
          <p:cNvSpPr/>
          <p:nvPr/>
        </p:nvSpPr>
        <p:spPr>
          <a:xfrm rot="16200000">
            <a:off x="6402389" y="4594225"/>
            <a:ext cx="104775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79" name="矩形 552178"/>
          <p:cNvSpPr/>
          <p:nvPr/>
        </p:nvSpPr>
        <p:spPr>
          <a:xfrm>
            <a:off x="2328863" y="5349876"/>
            <a:ext cx="75342" cy="32316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80" name="矩形 552179"/>
          <p:cNvSpPr/>
          <p:nvPr/>
        </p:nvSpPr>
        <p:spPr>
          <a:xfrm>
            <a:off x="5499100" y="2660650"/>
            <a:ext cx="227626" cy="44627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181" name="矩形 552180"/>
          <p:cNvSpPr/>
          <p:nvPr/>
        </p:nvSpPr>
        <p:spPr>
          <a:xfrm>
            <a:off x="3997326" y="3478214"/>
            <a:ext cx="11906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52197" name="组合 552196"/>
          <p:cNvGrpSpPr/>
          <p:nvPr/>
        </p:nvGrpSpPr>
        <p:grpSpPr>
          <a:xfrm>
            <a:off x="2360614" y="3698876"/>
            <a:ext cx="3995737" cy="1882776"/>
            <a:chOff x="527" y="2362"/>
            <a:chExt cx="2517" cy="1186"/>
          </a:xfrm>
        </p:grpSpPr>
        <p:sp>
          <p:nvSpPr>
            <p:cNvPr id="552192" name="直接连接符 552191"/>
            <p:cNvSpPr/>
            <p:nvPr/>
          </p:nvSpPr>
          <p:spPr>
            <a:xfrm>
              <a:off x="527" y="2727"/>
              <a:ext cx="562" cy="525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2193" name="组合 552192"/>
            <p:cNvGrpSpPr/>
            <p:nvPr/>
          </p:nvGrpSpPr>
          <p:grpSpPr>
            <a:xfrm>
              <a:off x="1921" y="2362"/>
              <a:ext cx="1123" cy="816"/>
              <a:chOff x="1176" y="1860"/>
              <a:chExt cx="1440" cy="932"/>
            </a:xfrm>
          </p:grpSpPr>
          <p:sp>
            <p:nvSpPr>
              <p:cNvPr id="552194" name="直接连接符 552193"/>
              <p:cNvSpPr/>
              <p:nvPr/>
            </p:nvSpPr>
            <p:spPr>
              <a:xfrm>
                <a:off x="1176" y="1860"/>
                <a:ext cx="720" cy="600"/>
              </a:xfrm>
              <a:prstGeom prst="line">
                <a:avLst/>
              </a:prstGeom>
              <a:ln w="762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2195" name="文本框 552194"/>
              <p:cNvSpPr txBox="1"/>
              <p:nvPr/>
            </p:nvSpPr>
            <p:spPr>
              <a:xfrm>
                <a:off x="1752" y="2370"/>
                <a:ext cx="864" cy="42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32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开路</a:t>
                </a:r>
                <a:endPara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552196" name="文本框 552195"/>
            <p:cNvSpPr txBox="1"/>
            <p:nvPr/>
          </p:nvSpPr>
          <p:spPr>
            <a:xfrm>
              <a:off x="981" y="3178"/>
              <a:ext cx="67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开路</a:t>
              </a:r>
              <a:endPara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文本框 553985"/>
          <p:cNvSpPr txBox="1"/>
          <p:nvPr/>
        </p:nvSpPr>
        <p:spPr>
          <a:xfrm>
            <a:off x="1865313" y="769970"/>
            <a:ext cx="4005262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交流信号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输入信号</a:t>
            </a:r>
            <a:r>
              <a:rPr lang="en-US" altLang="zh-CN" sz="28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553988" name="文本框 553987"/>
          <p:cNvSpPr txBox="1"/>
          <p:nvPr/>
        </p:nvSpPr>
        <p:spPr>
          <a:xfrm>
            <a:off x="1774825" y="188913"/>
            <a:ext cx="5041900" cy="52084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交流通路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------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分析动态工作情况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53989" name="图片 5539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3" y="2255838"/>
            <a:ext cx="6248400" cy="460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990" name="圆角矩形标注 553989"/>
          <p:cNvSpPr/>
          <p:nvPr/>
        </p:nvSpPr>
        <p:spPr>
          <a:xfrm>
            <a:off x="5029200" y="1223963"/>
            <a:ext cx="5638800" cy="685800"/>
          </a:xfrm>
          <a:prstGeom prst="wedgeRoundRectCallout">
            <a:avLst>
              <a:gd name="adj1" fmla="val -32995"/>
              <a:gd name="adj2" fmla="val 151157"/>
              <a:gd name="adj3" fmla="val 16667"/>
            </a:avLst>
          </a:prstGeom>
          <a:solidFill>
            <a:srgbClr val="FFFFCC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将直流电压源短路，将电容短路。</a:t>
            </a:r>
            <a:endParaRPr lang="zh-CN" altLang="en-US" sz="2400" dirty="0">
              <a:solidFill>
                <a:srgbClr val="A5002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53991" name="组合 553990"/>
          <p:cNvGrpSpPr/>
          <p:nvPr/>
        </p:nvGrpSpPr>
        <p:grpSpPr>
          <a:xfrm>
            <a:off x="3276600" y="4114801"/>
            <a:ext cx="1104900" cy="1419226"/>
            <a:chOff x="1296" y="1944"/>
            <a:chExt cx="696" cy="894"/>
          </a:xfrm>
        </p:grpSpPr>
        <p:sp>
          <p:nvSpPr>
            <p:cNvPr id="553992" name="椭圆 553991"/>
            <p:cNvSpPr/>
            <p:nvPr/>
          </p:nvSpPr>
          <p:spPr>
            <a:xfrm>
              <a:off x="1296" y="1944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993" name="文本框 553992"/>
            <p:cNvSpPr txBox="1"/>
            <p:nvPr/>
          </p:nvSpPr>
          <p:spPr>
            <a:xfrm>
              <a:off x="1332" y="2468"/>
              <a:ext cx="660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3994" name="组合 553993"/>
          <p:cNvGrpSpPr/>
          <p:nvPr/>
        </p:nvGrpSpPr>
        <p:grpSpPr>
          <a:xfrm>
            <a:off x="6248400" y="3581401"/>
            <a:ext cx="1104900" cy="1419226"/>
            <a:chOff x="1296" y="1944"/>
            <a:chExt cx="696" cy="894"/>
          </a:xfrm>
        </p:grpSpPr>
        <p:sp>
          <p:nvSpPr>
            <p:cNvPr id="553995" name="椭圆 553994"/>
            <p:cNvSpPr/>
            <p:nvPr/>
          </p:nvSpPr>
          <p:spPr>
            <a:xfrm>
              <a:off x="1296" y="1944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996" name="文本框 553995"/>
            <p:cNvSpPr txBox="1"/>
            <p:nvPr/>
          </p:nvSpPr>
          <p:spPr>
            <a:xfrm>
              <a:off x="1332" y="2468"/>
              <a:ext cx="660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3997" name="组合 553996"/>
          <p:cNvGrpSpPr/>
          <p:nvPr/>
        </p:nvGrpSpPr>
        <p:grpSpPr>
          <a:xfrm>
            <a:off x="6477000" y="2133600"/>
            <a:ext cx="1866900" cy="1247776"/>
            <a:chOff x="3420" y="540"/>
            <a:chExt cx="1176" cy="786"/>
          </a:xfrm>
        </p:grpSpPr>
        <p:sp>
          <p:nvSpPr>
            <p:cNvPr id="553998" name="椭圆 553997"/>
            <p:cNvSpPr/>
            <p:nvPr/>
          </p:nvSpPr>
          <p:spPr>
            <a:xfrm>
              <a:off x="3420" y="540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999" name="文本框 553998"/>
            <p:cNvSpPr txBox="1"/>
            <p:nvPr/>
          </p:nvSpPr>
          <p:spPr>
            <a:xfrm>
              <a:off x="3936" y="956"/>
              <a:ext cx="660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置零</a:t>
              </a:r>
              <a:endParaRPr lang="zh-CN" altLang="en-US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4000" name="组合 553999"/>
          <p:cNvGrpSpPr/>
          <p:nvPr/>
        </p:nvGrpSpPr>
        <p:grpSpPr>
          <a:xfrm>
            <a:off x="6858000" y="2667000"/>
            <a:ext cx="2514600" cy="3733800"/>
            <a:chOff x="4116" y="912"/>
            <a:chExt cx="972" cy="2580"/>
          </a:xfrm>
        </p:grpSpPr>
        <p:sp>
          <p:nvSpPr>
            <p:cNvPr id="554001" name="直接连接符 554000"/>
            <p:cNvSpPr/>
            <p:nvPr/>
          </p:nvSpPr>
          <p:spPr>
            <a:xfrm>
              <a:off x="4116" y="912"/>
              <a:ext cx="97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02" name="直接连接符 554001"/>
            <p:cNvSpPr/>
            <p:nvPr/>
          </p:nvSpPr>
          <p:spPr>
            <a:xfrm>
              <a:off x="5076" y="924"/>
              <a:ext cx="0" cy="256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03" name="直接连接符 554002"/>
            <p:cNvSpPr/>
            <p:nvPr/>
          </p:nvSpPr>
          <p:spPr>
            <a:xfrm>
              <a:off x="4320" y="3492"/>
              <a:ext cx="7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54006" name="文本框 554005"/>
          <p:cNvSpPr txBox="1"/>
          <p:nvPr/>
        </p:nvSpPr>
        <p:spPr>
          <a:xfrm>
            <a:off x="1774826" y="1449388"/>
            <a:ext cx="3509963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交流通路的画法：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99845" y="318008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5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6" grpId="0" build="p"/>
      <p:bldP spid="553988" grpId="0"/>
      <p:bldP spid="55399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oup 68"/>
          <p:cNvGrpSpPr/>
          <p:nvPr/>
        </p:nvGrpSpPr>
        <p:grpSpPr>
          <a:xfrm>
            <a:off x="3081339" y="549275"/>
            <a:ext cx="5722937" cy="3373438"/>
            <a:chOff x="976" y="892"/>
            <a:chExt cx="3407" cy="2551"/>
          </a:xfrm>
        </p:grpSpPr>
        <p:grpSp>
          <p:nvGrpSpPr>
            <p:cNvPr id="56322" name="Group 13"/>
            <p:cNvGrpSpPr/>
            <p:nvPr/>
          </p:nvGrpSpPr>
          <p:grpSpPr>
            <a:xfrm>
              <a:off x="2455" y="2047"/>
              <a:ext cx="309" cy="310"/>
              <a:chOff x="345" y="1706"/>
              <a:chExt cx="309" cy="310"/>
            </a:xfrm>
          </p:grpSpPr>
          <p:sp>
            <p:nvSpPr>
              <p:cNvPr id="56323" name="Line 14"/>
              <p:cNvSpPr/>
              <p:nvPr/>
            </p:nvSpPr>
            <p:spPr>
              <a:xfrm flipH="1">
                <a:off x="499" y="1706"/>
                <a:ext cx="155" cy="109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4" name="Line 15"/>
              <p:cNvSpPr/>
              <p:nvPr/>
            </p:nvSpPr>
            <p:spPr>
              <a:xfrm>
                <a:off x="499" y="1907"/>
                <a:ext cx="155" cy="109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5" name="Line 16"/>
              <p:cNvSpPr/>
              <p:nvPr/>
            </p:nvSpPr>
            <p:spPr>
              <a:xfrm>
                <a:off x="499" y="1706"/>
                <a:ext cx="1" cy="310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6" name="Line 17"/>
              <p:cNvSpPr/>
              <p:nvPr/>
            </p:nvSpPr>
            <p:spPr>
              <a:xfrm flipH="1">
                <a:off x="345" y="1861"/>
                <a:ext cx="154" cy="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7" name="Freeform 18"/>
              <p:cNvSpPr/>
              <p:nvPr/>
            </p:nvSpPr>
            <p:spPr>
              <a:xfrm>
                <a:off x="561" y="1938"/>
                <a:ext cx="93" cy="78"/>
              </a:xfrm>
              <a:custGeom>
                <a:avLst/>
                <a:gdLst/>
                <a:ahLst/>
                <a:cxnLst>
                  <a:cxn ang="0">
                    <a:pos x="93" y="78"/>
                  </a:cxn>
                  <a:cxn ang="0">
                    <a:pos x="31" y="0"/>
                  </a:cxn>
                  <a:cxn ang="0">
                    <a:pos x="0" y="47"/>
                  </a:cxn>
                  <a:cxn ang="0">
                    <a:pos x="93" y="78"/>
                  </a:cxn>
                </a:cxnLst>
                <a:rect l="0" t="0" r="0" b="0"/>
                <a:pathLst>
                  <a:path w="93" h="78">
                    <a:moveTo>
                      <a:pt x="93" y="78"/>
                    </a:moveTo>
                    <a:lnTo>
                      <a:pt x="31" y="0"/>
                    </a:lnTo>
                    <a:lnTo>
                      <a:pt x="0" y="47"/>
                    </a:lnTo>
                    <a:lnTo>
                      <a:pt x="93" y="78"/>
                    </a:lnTo>
                    <a:close/>
                  </a:path>
                </a:pathLst>
              </a:custGeom>
              <a:solidFill>
                <a:srgbClr val="0000FF"/>
              </a:solidFill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328" name="Rectangle 19"/>
            <p:cNvSpPr/>
            <p:nvPr/>
          </p:nvSpPr>
          <p:spPr>
            <a:xfrm>
              <a:off x="2710" y="1451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9" name="Rectangle 20"/>
            <p:cNvSpPr/>
            <p:nvPr/>
          </p:nvSpPr>
          <p:spPr>
            <a:xfrm>
              <a:off x="1875" y="1451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0" name="Rectangle 21"/>
            <p:cNvSpPr/>
            <p:nvPr/>
          </p:nvSpPr>
          <p:spPr>
            <a:xfrm>
              <a:off x="3419" y="2415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1" name="Line 22"/>
            <p:cNvSpPr/>
            <p:nvPr/>
          </p:nvSpPr>
          <p:spPr>
            <a:xfrm flipV="1">
              <a:off x="2767" y="1848"/>
              <a:ext cx="0" cy="199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2" name="Line 23"/>
            <p:cNvSpPr/>
            <p:nvPr/>
          </p:nvSpPr>
          <p:spPr>
            <a:xfrm flipV="1">
              <a:off x="2767" y="941"/>
              <a:ext cx="0" cy="51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3" name="Line 24"/>
            <p:cNvSpPr/>
            <p:nvPr/>
          </p:nvSpPr>
          <p:spPr>
            <a:xfrm>
              <a:off x="1944" y="941"/>
              <a:ext cx="2439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4" name="Line 25"/>
            <p:cNvSpPr/>
            <p:nvPr/>
          </p:nvSpPr>
          <p:spPr>
            <a:xfrm>
              <a:off x="1944" y="941"/>
              <a:ext cx="0" cy="51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5" name="Line 26"/>
            <p:cNvSpPr/>
            <p:nvPr/>
          </p:nvSpPr>
          <p:spPr>
            <a:xfrm flipH="1">
              <a:off x="1321" y="2201"/>
              <a:ext cx="1134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6" name="Line 27"/>
            <p:cNvSpPr/>
            <p:nvPr/>
          </p:nvSpPr>
          <p:spPr>
            <a:xfrm flipV="1">
              <a:off x="1944" y="1856"/>
              <a:ext cx="0" cy="34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7" name="Line 35"/>
            <p:cNvSpPr/>
            <p:nvPr/>
          </p:nvSpPr>
          <p:spPr>
            <a:xfrm>
              <a:off x="2767" y="1962"/>
              <a:ext cx="708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8" name="Line 37"/>
            <p:cNvSpPr/>
            <p:nvPr/>
          </p:nvSpPr>
          <p:spPr>
            <a:xfrm>
              <a:off x="3475" y="1962"/>
              <a:ext cx="0" cy="453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9" name="Line 38"/>
            <p:cNvSpPr/>
            <p:nvPr/>
          </p:nvSpPr>
          <p:spPr>
            <a:xfrm>
              <a:off x="1349" y="3237"/>
              <a:ext cx="3034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0" name="Line 39"/>
            <p:cNvSpPr/>
            <p:nvPr/>
          </p:nvSpPr>
          <p:spPr>
            <a:xfrm>
              <a:off x="4383" y="941"/>
              <a:ext cx="0" cy="2296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1" name="Line 41"/>
            <p:cNvSpPr/>
            <p:nvPr/>
          </p:nvSpPr>
          <p:spPr>
            <a:xfrm>
              <a:off x="3491" y="2812"/>
              <a:ext cx="0" cy="425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2" name="Line 42"/>
            <p:cNvSpPr/>
            <p:nvPr/>
          </p:nvSpPr>
          <p:spPr>
            <a:xfrm>
              <a:off x="2767" y="2358"/>
              <a:ext cx="0" cy="993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3" name="Line 43"/>
            <p:cNvSpPr/>
            <p:nvPr/>
          </p:nvSpPr>
          <p:spPr>
            <a:xfrm>
              <a:off x="2682" y="3351"/>
              <a:ext cx="14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4" name="Oval 50"/>
            <p:cNvSpPr/>
            <p:nvPr/>
          </p:nvSpPr>
          <p:spPr>
            <a:xfrm>
              <a:off x="1264" y="3181"/>
              <a:ext cx="85" cy="85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5" name="Oval 51"/>
            <p:cNvSpPr/>
            <p:nvPr/>
          </p:nvSpPr>
          <p:spPr>
            <a:xfrm>
              <a:off x="1236" y="2160"/>
              <a:ext cx="85" cy="85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6" name="Text Box 52"/>
            <p:cNvSpPr txBox="1"/>
            <p:nvPr/>
          </p:nvSpPr>
          <p:spPr>
            <a:xfrm>
              <a:off x="3559" y="2016"/>
              <a:ext cx="284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6347" name="Text Box 53"/>
            <p:cNvSpPr txBox="1"/>
            <p:nvPr/>
          </p:nvSpPr>
          <p:spPr>
            <a:xfrm>
              <a:off x="3559" y="2754"/>
              <a:ext cx="19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3939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348" name="Text Box 54"/>
            <p:cNvSpPr txBox="1"/>
            <p:nvPr/>
          </p:nvSpPr>
          <p:spPr>
            <a:xfrm>
              <a:off x="976" y="2032"/>
              <a:ext cx="282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6349" name="Text Box 55"/>
            <p:cNvSpPr txBox="1"/>
            <p:nvPr/>
          </p:nvSpPr>
          <p:spPr>
            <a:xfrm>
              <a:off x="1005" y="3051"/>
              <a:ext cx="19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3939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350" name="Oval 56"/>
            <p:cNvSpPr/>
            <p:nvPr/>
          </p:nvSpPr>
          <p:spPr>
            <a:xfrm>
              <a:off x="2722" y="1913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1" name="Oval 57"/>
            <p:cNvSpPr/>
            <p:nvPr/>
          </p:nvSpPr>
          <p:spPr>
            <a:xfrm>
              <a:off x="3447" y="3184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2" name="Oval 58"/>
            <p:cNvSpPr/>
            <p:nvPr/>
          </p:nvSpPr>
          <p:spPr>
            <a:xfrm>
              <a:off x="2722" y="3181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Oval 59"/>
            <p:cNvSpPr/>
            <p:nvPr/>
          </p:nvSpPr>
          <p:spPr>
            <a:xfrm>
              <a:off x="1900" y="2132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4" name="Oval 60"/>
            <p:cNvSpPr/>
            <p:nvPr/>
          </p:nvSpPr>
          <p:spPr>
            <a:xfrm>
              <a:off x="2718" y="892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5" name="Text Box 62"/>
            <p:cNvSpPr txBox="1"/>
            <p:nvPr/>
          </p:nvSpPr>
          <p:spPr>
            <a:xfrm>
              <a:off x="1491" y="1480"/>
              <a:ext cx="339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6" name="Text Box 64"/>
            <p:cNvSpPr txBox="1"/>
            <p:nvPr/>
          </p:nvSpPr>
          <p:spPr>
            <a:xfrm>
              <a:off x="2313" y="1480"/>
              <a:ext cx="339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7" name="Text Box 65"/>
            <p:cNvSpPr txBox="1"/>
            <p:nvPr/>
          </p:nvSpPr>
          <p:spPr>
            <a:xfrm>
              <a:off x="3078" y="2443"/>
              <a:ext cx="424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56358" name="Text Box 66"/>
            <p:cNvSpPr txBox="1"/>
            <p:nvPr/>
          </p:nvSpPr>
          <p:spPr>
            <a:xfrm>
              <a:off x="1010" y="2530"/>
              <a:ext cx="33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9" name="Text Box 67"/>
            <p:cNvSpPr txBox="1"/>
            <p:nvPr/>
          </p:nvSpPr>
          <p:spPr>
            <a:xfrm>
              <a:off x="3589" y="2416"/>
              <a:ext cx="341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50981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76" y="3833814"/>
            <a:ext cx="6035675" cy="2846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61" name="Text Box 70"/>
          <p:cNvSpPr txBox="1"/>
          <p:nvPr/>
        </p:nvSpPr>
        <p:spPr>
          <a:xfrm>
            <a:off x="1730375" y="229604"/>
            <a:ext cx="28956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交流通路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6" name="文本框 509955"/>
          <p:cNvSpPr txBox="1"/>
          <p:nvPr/>
        </p:nvSpPr>
        <p:spPr>
          <a:xfrm>
            <a:off x="3981450" y="368300"/>
            <a:ext cx="36004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2.4.1  </a:t>
            </a:r>
            <a:r>
              <a:rPr lang="zh-CN" altLang="en-US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估算分析法</a:t>
            </a:r>
          </a:p>
        </p:txBody>
      </p:sp>
      <p:sp>
        <p:nvSpPr>
          <p:cNvPr id="509958" name="文本框 509957"/>
          <p:cNvSpPr txBox="1"/>
          <p:nvPr/>
        </p:nvSpPr>
        <p:spPr>
          <a:xfrm>
            <a:off x="1909764" y="1042988"/>
            <a:ext cx="84169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对放大电路分析时，通常是把直流、交流分开进行的。</a:t>
            </a:r>
          </a:p>
        </p:txBody>
      </p:sp>
      <p:sp>
        <p:nvSpPr>
          <p:cNvPr id="509962" name="文本框 509961"/>
          <p:cNvSpPr txBox="1"/>
          <p:nvPr/>
        </p:nvSpPr>
        <p:spPr>
          <a:xfrm>
            <a:off x="1936751" y="1493838"/>
            <a:ext cx="84867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估算法，是电路直流分析时采用的一种方法。 </a:t>
            </a:r>
          </a:p>
        </p:txBody>
      </p:sp>
      <p:sp>
        <p:nvSpPr>
          <p:cNvPr id="509964" name="文本框 509963"/>
          <p:cNvSpPr txBox="1"/>
          <p:nvPr/>
        </p:nvSpPr>
        <p:spPr>
          <a:xfrm>
            <a:off x="3125788" y="1943100"/>
            <a:ext cx="71548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可以求出电路在直流状态下各点的电压、电流。</a:t>
            </a:r>
          </a:p>
        </p:txBody>
      </p:sp>
      <p:pic>
        <p:nvPicPr>
          <p:cNvPr id="509965" name="图片 509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3563938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9966" name="文本框 509965"/>
          <p:cNvSpPr txBox="1"/>
          <p:nvPr/>
        </p:nvSpPr>
        <p:spPr>
          <a:xfrm>
            <a:off x="2316163" y="2708276"/>
            <a:ext cx="77406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求电路中的</a:t>
            </a:r>
            <a:r>
              <a:rPr lang="en-US" altLang="zh-CN" sz="2800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aseline="-2500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BQ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aseline="-2500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CQ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i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CEQ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（静态工作点</a:t>
            </a:r>
            <a:r>
              <a:rPr lang="en-US" altLang="zh-CN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10032" name="文本框 510031"/>
          <p:cNvSpPr txBox="1"/>
          <p:nvPr/>
        </p:nvSpPr>
        <p:spPr>
          <a:xfrm>
            <a:off x="6005513" y="5815013"/>
            <a:ext cx="94615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sz="2800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10049" name="组合 510048"/>
          <p:cNvGrpSpPr/>
          <p:nvPr/>
        </p:nvGrpSpPr>
        <p:grpSpPr>
          <a:xfrm>
            <a:off x="7535863" y="3698876"/>
            <a:ext cx="3135312" cy="2879725"/>
            <a:chOff x="3787" y="2330"/>
            <a:chExt cx="1975" cy="1814"/>
          </a:xfrm>
        </p:grpSpPr>
        <p:sp>
          <p:nvSpPr>
            <p:cNvPr id="509976" name="直接连接符 509975"/>
            <p:cNvSpPr/>
            <p:nvPr/>
          </p:nvSpPr>
          <p:spPr>
            <a:xfrm flipH="1">
              <a:off x="5128" y="2433"/>
              <a:ext cx="56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77" name="椭圆 509976"/>
            <p:cNvSpPr/>
            <p:nvPr/>
          </p:nvSpPr>
          <p:spPr>
            <a:xfrm>
              <a:off x="5184" y="2395"/>
              <a:ext cx="83" cy="77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9978" name="矩形 509977"/>
            <p:cNvSpPr/>
            <p:nvPr/>
          </p:nvSpPr>
          <p:spPr>
            <a:xfrm>
              <a:off x="5308" y="2330"/>
              <a:ext cx="146" cy="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9979" name="矩形 509978"/>
            <p:cNvSpPr/>
            <p:nvPr/>
          </p:nvSpPr>
          <p:spPr>
            <a:xfrm>
              <a:off x="4685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9980" name="矩形 509979"/>
            <p:cNvSpPr/>
            <p:nvPr/>
          </p:nvSpPr>
          <p:spPr>
            <a:xfrm>
              <a:off x="4130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9981" name="直接连接符 509980"/>
            <p:cNvSpPr/>
            <p:nvPr/>
          </p:nvSpPr>
          <p:spPr>
            <a:xfrm>
              <a:off x="4740" y="4027"/>
              <a:ext cx="1" cy="116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82" name="直接连接符 509981"/>
            <p:cNvSpPr/>
            <p:nvPr/>
          </p:nvSpPr>
          <p:spPr>
            <a:xfrm>
              <a:off x="4588" y="4143"/>
              <a:ext cx="304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1" name="直接连接符 509990"/>
            <p:cNvSpPr/>
            <p:nvPr/>
          </p:nvSpPr>
          <p:spPr>
            <a:xfrm>
              <a:off x="4324" y="3307"/>
              <a:ext cx="139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2" name="直接连接符 509991"/>
            <p:cNvSpPr/>
            <p:nvPr/>
          </p:nvSpPr>
          <p:spPr>
            <a:xfrm>
              <a:off x="4130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3" name="直接连接符 509992"/>
            <p:cNvSpPr/>
            <p:nvPr/>
          </p:nvSpPr>
          <p:spPr>
            <a:xfrm>
              <a:off x="4241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4" name="直接连接符 509993"/>
            <p:cNvSpPr/>
            <p:nvPr/>
          </p:nvSpPr>
          <p:spPr>
            <a:xfrm flipH="1">
              <a:off x="4130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5" name="直接连接符 509994"/>
            <p:cNvSpPr/>
            <p:nvPr/>
          </p:nvSpPr>
          <p:spPr>
            <a:xfrm flipV="1">
              <a:off x="4130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6" name="直接连接符 509995"/>
            <p:cNvSpPr/>
            <p:nvPr/>
          </p:nvSpPr>
          <p:spPr>
            <a:xfrm>
              <a:off x="4185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7" name="直接连接符 509996"/>
            <p:cNvSpPr/>
            <p:nvPr/>
          </p:nvSpPr>
          <p:spPr>
            <a:xfrm flipV="1">
              <a:off x="4185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8" name="直接连接符 509997"/>
            <p:cNvSpPr/>
            <p:nvPr/>
          </p:nvSpPr>
          <p:spPr>
            <a:xfrm>
              <a:off x="4685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9" name="直接连接符 509998"/>
            <p:cNvSpPr/>
            <p:nvPr/>
          </p:nvSpPr>
          <p:spPr>
            <a:xfrm>
              <a:off x="4796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0" name="直接连接符 509999"/>
            <p:cNvSpPr/>
            <p:nvPr/>
          </p:nvSpPr>
          <p:spPr>
            <a:xfrm flipH="1">
              <a:off x="4685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1" name="直接连接符 510000"/>
            <p:cNvSpPr/>
            <p:nvPr/>
          </p:nvSpPr>
          <p:spPr>
            <a:xfrm flipV="1">
              <a:off x="4685" y="2626"/>
              <a:ext cx="0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2" name="直接连接符 510001"/>
            <p:cNvSpPr/>
            <p:nvPr/>
          </p:nvSpPr>
          <p:spPr>
            <a:xfrm>
              <a:off x="4740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3" name="直接连接符 510002"/>
            <p:cNvSpPr/>
            <p:nvPr/>
          </p:nvSpPr>
          <p:spPr>
            <a:xfrm flipV="1">
              <a:off x="4740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4" name="直接连接符 510003"/>
            <p:cNvSpPr/>
            <p:nvPr/>
          </p:nvSpPr>
          <p:spPr>
            <a:xfrm>
              <a:off x="4740" y="3564"/>
              <a:ext cx="1" cy="47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5" name="直接连接符 510004"/>
            <p:cNvSpPr/>
            <p:nvPr/>
          </p:nvSpPr>
          <p:spPr>
            <a:xfrm flipV="1">
              <a:off x="4185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6" name="直接连接符 510005"/>
            <p:cNvSpPr/>
            <p:nvPr/>
          </p:nvSpPr>
          <p:spPr>
            <a:xfrm>
              <a:off x="4185" y="2433"/>
              <a:ext cx="5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7" name="椭圆 510006"/>
            <p:cNvSpPr/>
            <p:nvPr/>
          </p:nvSpPr>
          <p:spPr>
            <a:xfrm>
              <a:off x="4712" y="2407"/>
              <a:ext cx="56" cy="5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08" name="直接连接符 510007"/>
            <p:cNvSpPr/>
            <p:nvPr/>
          </p:nvSpPr>
          <p:spPr>
            <a:xfrm>
              <a:off x="4184" y="3010"/>
              <a:ext cx="1" cy="29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9" name="直接连接符 510008"/>
            <p:cNvSpPr/>
            <p:nvPr/>
          </p:nvSpPr>
          <p:spPr>
            <a:xfrm flipV="1">
              <a:off x="4740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0" name="直接连接符 510009"/>
            <p:cNvSpPr/>
            <p:nvPr/>
          </p:nvSpPr>
          <p:spPr>
            <a:xfrm>
              <a:off x="4740" y="2433"/>
              <a:ext cx="388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0048" name="组合 510047"/>
            <p:cNvGrpSpPr/>
            <p:nvPr/>
          </p:nvGrpSpPr>
          <p:grpSpPr>
            <a:xfrm>
              <a:off x="4463" y="3178"/>
              <a:ext cx="348" cy="258"/>
              <a:chOff x="4463" y="3178"/>
              <a:chExt cx="348" cy="258"/>
            </a:xfrm>
          </p:grpSpPr>
          <p:sp>
            <p:nvSpPr>
              <p:cNvPr id="509983" name="直接连接符 509982"/>
              <p:cNvSpPr/>
              <p:nvPr/>
            </p:nvSpPr>
            <p:spPr>
              <a:xfrm flipH="1">
                <a:off x="4601" y="3178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4" name="直接连接符 509983"/>
              <p:cNvSpPr/>
              <p:nvPr/>
            </p:nvSpPr>
            <p:spPr>
              <a:xfrm>
                <a:off x="4601" y="3345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5" name="直接连接符 509984"/>
              <p:cNvSpPr/>
              <p:nvPr/>
            </p:nvSpPr>
            <p:spPr>
              <a:xfrm>
                <a:off x="4601" y="3178"/>
                <a:ext cx="1" cy="258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6" name="直接连接符 509985"/>
              <p:cNvSpPr/>
              <p:nvPr/>
            </p:nvSpPr>
            <p:spPr>
              <a:xfrm flipH="1">
                <a:off x="4463" y="3307"/>
                <a:ext cx="138" cy="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7" name="任意多边形 509986"/>
              <p:cNvSpPr/>
              <p:nvPr/>
            </p:nvSpPr>
            <p:spPr>
              <a:xfrm>
                <a:off x="4657" y="3371"/>
                <a:ext cx="83" cy="65"/>
              </a:xfrm>
              <a:custGeom>
                <a:avLst/>
                <a:gdLst/>
                <a:ahLst/>
                <a:cxnLst/>
                <a:rect l="0" t="0" r="0" b="0"/>
                <a:pathLst>
                  <a:path w="93" h="78">
                    <a:moveTo>
                      <a:pt x="93" y="78"/>
                    </a:moveTo>
                    <a:lnTo>
                      <a:pt x="31" y="0"/>
                    </a:lnTo>
                    <a:lnTo>
                      <a:pt x="0" y="47"/>
                    </a:lnTo>
                    <a:lnTo>
                      <a:pt x="93" y="78"/>
                    </a:lnTo>
                    <a:close/>
                  </a:path>
                </a:pathLst>
              </a:custGeom>
              <a:solidFill>
                <a:srgbClr val="0000FF"/>
              </a:solidFill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9988" name="矩形 509987"/>
              <p:cNvSpPr/>
              <p:nvPr/>
            </p:nvSpPr>
            <p:spPr>
              <a:xfrm>
                <a:off x="4723" y="3209"/>
                <a:ext cx="88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>
                    <a:solidFill>
                      <a:srgbClr val="0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09989" name="直接连接符 509988"/>
            <p:cNvSpPr/>
            <p:nvPr/>
          </p:nvSpPr>
          <p:spPr>
            <a:xfrm>
              <a:off x="4740" y="3050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0" name="直接连接符 509989"/>
            <p:cNvSpPr/>
            <p:nvPr/>
          </p:nvSpPr>
          <p:spPr>
            <a:xfrm flipV="1">
              <a:off x="4740" y="3436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1" name="直接连接符 510010"/>
            <p:cNvSpPr/>
            <p:nvPr/>
          </p:nvSpPr>
          <p:spPr>
            <a:xfrm>
              <a:off x="4740" y="3011"/>
              <a:ext cx="1" cy="39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2" name="直接连接符 510011"/>
            <p:cNvSpPr/>
            <p:nvPr/>
          </p:nvSpPr>
          <p:spPr>
            <a:xfrm>
              <a:off x="4185" y="3307"/>
              <a:ext cx="13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3" name="矩形 510012"/>
            <p:cNvSpPr/>
            <p:nvPr/>
          </p:nvSpPr>
          <p:spPr>
            <a:xfrm>
              <a:off x="3787" y="2618"/>
              <a:ext cx="275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14" name="矩形 510013"/>
            <p:cNvSpPr/>
            <p:nvPr/>
          </p:nvSpPr>
          <p:spPr>
            <a:xfrm>
              <a:off x="3922" y="2729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15" name="矩形 510014"/>
            <p:cNvSpPr/>
            <p:nvPr/>
          </p:nvSpPr>
          <p:spPr>
            <a:xfrm>
              <a:off x="4439" y="2634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16" name="矩形 510015"/>
            <p:cNvSpPr/>
            <p:nvPr/>
          </p:nvSpPr>
          <p:spPr>
            <a:xfrm>
              <a:off x="5558" y="2421"/>
              <a:ext cx="20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17" name="矩形 510016"/>
            <p:cNvSpPr/>
            <p:nvPr/>
          </p:nvSpPr>
          <p:spPr>
            <a:xfrm>
              <a:off x="5462" y="2330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18" name="矩形 510017"/>
            <p:cNvSpPr/>
            <p:nvPr/>
          </p:nvSpPr>
          <p:spPr>
            <a:xfrm>
              <a:off x="4573" y="2729"/>
              <a:ext cx="6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0027" name="直接连接符 510026"/>
            <p:cNvSpPr/>
            <p:nvPr/>
          </p:nvSpPr>
          <p:spPr>
            <a:xfrm>
              <a:off x="4184" y="3379"/>
              <a:ext cx="284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10029" name="直接连接符 510028"/>
            <p:cNvSpPr/>
            <p:nvPr/>
          </p:nvSpPr>
          <p:spPr>
            <a:xfrm>
              <a:off x="4921" y="2557"/>
              <a:ext cx="0" cy="368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10030" name="文本框 510029"/>
            <p:cNvSpPr txBox="1"/>
            <p:nvPr/>
          </p:nvSpPr>
          <p:spPr>
            <a:xfrm>
              <a:off x="4779" y="2954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10031" name="文本框 510030"/>
            <p:cNvSpPr txBox="1"/>
            <p:nvPr/>
          </p:nvSpPr>
          <p:spPr>
            <a:xfrm>
              <a:off x="4779" y="3407"/>
              <a:ext cx="3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10033" name="文本框 510032"/>
            <p:cNvSpPr txBox="1"/>
            <p:nvPr/>
          </p:nvSpPr>
          <p:spPr>
            <a:xfrm>
              <a:off x="4836" y="3181"/>
              <a:ext cx="5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CEQ</a:t>
              </a:r>
            </a:p>
          </p:txBody>
        </p:sp>
        <p:sp>
          <p:nvSpPr>
            <p:cNvPr id="510034" name="文本框 510033"/>
            <p:cNvSpPr txBox="1"/>
            <p:nvPr/>
          </p:nvSpPr>
          <p:spPr>
            <a:xfrm>
              <a:off x="4127" y="3351"/>
              <a:ext cx="4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BQ</a:t>
              </a:r>
            </a:p>
          </p:txBody>
        </p:sp>
        <p:sp>
          <p:nvSpPr>
            <p:cNvPr id="510035" name="文本框 510034"/>
            <p:cNvSpPr txBox="1"/>
            <p:nvPr/>
          </p:nvSpPr>
          <p:spPr>
            <a:xfrm>
              <a:off x="4949" y="2557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CQ</a:t>
              </a:r>
            </a:p>
          </p:txBody>
        </p:sp>
      </p:grpSp>
      <p:grpSp>
        <p:nvGrpSpPr>
          <p:cNvPr id="510050" name="组合 510049"/>
          <p:cNvGrpSpPr/>
          <p:nvPr/>
        </p:nvGrpSpPr>
        <p:grpSpPr>
          <a:xfrm>
            <a:off x="5510214" y="3789363"/>
            <a:ext cx="1800225" cy="1574800"/>
            <a:chOff x="2511" y="2387"/>
            <a:chExt cx="1134" cy="992"/>
          </a:xfrm>
        </p:grpSpPr>
        <p:sp>
          <p:nvSpPr>
            <p:cNvPr id="509968" name="直接连接符 509967"/>
            <p:cNvSpPr/>
            <p:nvPr/>
          </p:nvSpPr>
          <p:spPr>
            <a:xfrm>
              <a:off x="2625" y="3010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69" name="直接连接符 509968"/>
            <p:cNvSpPr/>
            <p:nvPr/>
          </p:nvSpPr>
          <p:spPr>
            <a:xfrm>
              <a:off x="2625" y="3266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0" name="直接连接符 509969"/>
            <p:cNvSpPr/>
            <p:nvPr/>
          </p:nvSpPr>
          <p:spPr>
            <a:xfrm flipV="1">
              <a:off x="3192" y="2897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2" name="直接连接符 509971"/>
            <p:cNvSpPr/>
            <p:nvPr/>
          </p:nvSpPr>
          <p:spPr>
            <a:xfrm flipV="1">
              <a:off x="3192" y="3266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3" name="直接连接符 509972"/>
            <p:cNvSpPr/>
            <p:nvPr/>
          </p:nvSpPr>
          <p:spPr>
            <a:xfrm>
              <a:off x="3192" y="2897"/>
              <a:ext cx="340" cy="227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4" name="直接连接符 509973"/>
            <p:cNvSpPr/>
            <p:nvPr/>
          </p:nvSpPr>
          <p:spPr>
            <a:xfrm flipV="1">
              <a:off x="3192" y="3124"/>
              <a:ext cx="340" cy="255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10037" name="文本框 510036"/>
            <p:cNvSpPr txBox="1"/>
            <p:nvPr/>
          </p:nvSpPr>
          <p:spPr>
            <a:xfrm>
              <a:off x="2511" y="2387"/>
              <a:ext cx="113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画直流通路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99" name="文本框 561198"/>
          <p:cNvSpPr txBox="1"/>
          <p:nvPr/>
        </p:nvSpPr>
        <p:spPr>
          <a:xfrm>
            <a:off x="2316163" y="4911757"/>
            <a:ext cx="6570662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偏置电阻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BQ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偏置电流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1201" name="文本框 561200"/>
          <p:cNvSpPr txBox="1"/>
          <p:nvPr/>
        </p:nvSpPr>
        <p:spPr>
          <a:xfrm>
            <a:off x="6545264" y="3068638"/>
            <a:ext cx="23447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CQ</a:t>
            </a:r>
            <a:r>
              <a:rPr lang="en-US" altLang="zh-CN" sz="28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 </a:t>
            </a: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BQ</a:t>
            </a:r>
          </a:p>
        </p:txBody>
      </p:sp>
      <p:graphicFrame>
        <p:nvGraphicFramePr>
          <p:cNvPr id="561202" name="对象 561201"/>
          <p:cNvGraphicFramePr/>
          <p:nvPr/>
        </p:nvGraphicFramePr>
        <p:xfrm>
          <a:off x="6545264" y="593726"/>
          <a:ext cx="2560637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66800" imgH="457200" progId="Equation.DSMT4">
                  <p:embed/>
                </p:oleObj>
              </mc:Choice>
              <mc:Fallback>
                <p:oleObj r:id="rId2" imgW="1066800" imgH="457200" progId="Equation.DSMT4">
                  <p:embed/>
                  <p:pic>
                    <p:nvPicPr>
                      <p:cNvPr id="561202" name="对象 5612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5264" y="593726"/>
                        <a:ext cx="2560637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203" name="对象 561202"/>
          <p:cNvGraphicFramePr/>
          <p:nvPr/>
        </p:nvGraphicFramePr>
        <p:xfrm>
          <a:off x="7158038" y="1752601"/>
          <a:ext cx="21780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457200" progId="Equation.3">
                  <p:embed/>
                </p:oleObj>
              </mc:Choice>
              <mc:Fallback>
                <p:oleObj r:id="rId2" imgW="914400" imgH="457200" progId="Equation.3">
                  <p:embed/>
                  <p:pic>
                    <p:nvPicPr>
                      <p:cNvPr id="561203" name="对象 5612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8038" y="1752601"/>
                        <a:ext cx="217805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204" name="对象 561203"/>
          <p:cNvGraphicFramePr/>
          <p:nvPr/>
        </p:nvGraphicFramePr>
        <p:xfrm>
          <a:off x="6589713" y="4014788"/>
          <a:ext cx="3016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93165" imgH="241300" progId="Equation.DSMT4">
                  <p:embed/>
                </p:oleObj>
              </mc:Choice>
              <mc:Fallback>
                <p:oleObj r:id="rId2" imgW="1193165" imgH="241300" progId="Equation.DSMT4">
                  <p:embed/>
                  <p:pic>
                    <p:nvPicPr>
                      <p:cNvPr id="561204" name="对象 5612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89713" y="4014788"/>
                        <a:ext cx="30162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1256" name="组合 561255"/>
          <p:cNvGrpSpPr/>
          <p:nvPr/>
        </p:nvGrpSpPr>
        <p:grpSpPr>
          <a:xfrm>
            <a:off x="2090738" y="1358901"/>
            <a:ext cx="3141662" cy="2879725"/>
            <a:chOff x="300" y="1310"/>
            <a:chExt cx="1979" cy="1814"/>
          </a:xfrm>
        </p:grpSpPr>
        <p:sp>
          <p:nvSpPr>
            <p:cNvPr id="561206" name="直接连接符 561205"/>
            <p:cNvSpPr/>
            <p:nvPr/>
          </p:nvSpPr>
          <p:spPr>
            <a:xfrm flipH="1">
              <a:off x="1645" y="1413"/>
              <a:ext cx="56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07" name="椭圆 561206"/>
            <p:cNvSpPr/>
            <p:nvPr/>
          </p:nvSpPr>
          <p:spPr>
            <a:xfrm>
              <a:off x="1701" y="1375"/>
              <a:ext cx="83" cy="77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08" name="矩形 561207"/>
            <p:cNvSpPr/>
            <p:nvPr/>
          </p:nvSpPr>
          <p:spPr>
            <a:xfrm>
              <a:off x="1825" y="1310"/>
              <a:ext cx="146" cy="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09" name="矩形 561208"/>
            <p:cNvSpPr/>
            <p:nvPr/>
          </p:nvSpPr>
          <p:spPr>
            <a:xfrm>
              <a:off x="1202" y="160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10" name="矩形 561209"/>
            <p:cNvSpPr/>
            <p:nvPr/>
          </p:nvSpPr>
          <p:spPr>
            <a:xfrm>
              <a:off x="647" y="160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11" name="直接连接符 561210"/>
            <p:cNvSpPr/>
            <p:nvPr/>
          </p:nvSpPr>
          <p:spPr>
            <a:xfrm>
              <a:off x="1257" y="3007"/>
              <a:ext cx="1" cy="116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2" name="直接连接符 561211"/>
            <p:cNvSpPr/>
            <p:nvPr/>
          </p:nvSpPr>
          <p:spPr>
            <a:xfrm>
              <a:off x="1105" y="3123"/>
              <a:ext cx="304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3" name="直接连接符 561212"/>
            <p:cNvSpPr/>
            <p:nvPr/>
          </p:nvSpPr>
          <p:spPr>
            <a:xfrm flipH="1">
              <a:off x="1118" y="2158"/>
              <a:ext cx="139" cy="9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4" name="直接连接符 561213"/>
            <p:cNvSpPr/>
            <p:nvPr/>
          </p:nvSpPr>
          <p:spPr>
            <a:xfrm>
              <a:off x="1118" y="2325"/>
              <a:ext cx="139" cy="9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5" name="直接连接符 561214"/>
            <p:cNvSpPr/>
            <p:nvPr/>
          </p:nvSpPr>
          <p:spPr>
            <a:xfrm>
              <a:off x="1118" y="2158"/>
              <a:ext cx="1" cy="258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6" name="直接连接符 561215"/>
            <p:cNvSpPr/>
            <p:nvPr/>
          </p:nvSpPr>
          <p:spPr>
            <a:xfrm flipH="1">
              <a:off x="980" y="2287"/>
              <a:ext cx="138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7" name="任意多边形 561216"/>
            <p:cNvSpPr/>
            <p:nvPr/>
          </p:nvSpPr>
          <p:spPr>
            <a:xfrm>
              <a:off x="1174" y="2351"/>
              <a:ext cx="83" cy="65"/>
            </a:xfrm>
            <a:custGeom>
              <a:avLst/>
              <a:gdLst/>
              <a:ahLst/>
              <a:cxnLst/>
              <a:rect l="0" t="0" r="0" b="0"/>
              <a:pathLst>
                <a:path w="93" h="78">
                  <a:moveTo>
                    <a:pt x="93" y="78"/>
                  </a:moveTo>
                  <a:lnTo>
                    <a:pt x="31" y="0"/>
                  </a:lnTo>
                  <a:lnTo>
                    <a:pt x="0" y="47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0000FF"/>
            </a:solidFill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18" name="矩形 561217"/>
            <p:cNvSpPr/>
            <p:nvPr/>
          </p:nvSpPr>
          <p:spPr>
            <a:xfrm>
              <a:off x="1240" y="2189"/>
              <a:ext cx="8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rgbClr val="0000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19" name="直接连接符 561218"/>
            <p:cNvSpPr/>
            <p:nvPr/>
          </p:nvSpPr>
          <p:spPr>
            <a:xfrm>
              <a:off x="1257" y="2030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0" name="直接连接符 561219"/>
            <p:cNvSpPr/>
            <p:nvPr/>
          </p:nvSpPr>
          <p:spPr>
            <a:xfrm flipV="1">
              <a:off x="1257" y="2416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1" name="直接连接符 561220"/>
            <p:cNvSpPr/>
            <p:nvPr/>
          </p:nvSpPr>
          <p:spPr>
            <a:xfrm>
              <a:off x="841" y="2287"/>
              <a:ext cx="139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2" name="直接连接符 561221"/>
            <p:cNvSpPr/>
            <p:nvPr/>
          </p:nvSpPr>
          <p:spPr>
            <a:xfrm>
              <a:off x="647" y="160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3" name="直接连接符 561222"/>
            <p:cNvSpPr/>
            <p:nvPr/>
          </p:nvSpPr>
          <p:spPr>
            <a:xfrm>
              <a:off x="758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4" name="直接连接符 561223"/>
            <p:cNvSpPr/>
            <p:nvPr/>
          </p:nvSpPr>
          <p:spPr>
            <a:xfrm flipH="1">
              <a:off x="647" y="186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5" name="直接连接符 561224"/>
            <p:cNvSpPr/>
            <p:nvPr/>
          </p:nvSpPr>
          <p:spPr>
            <a:xfrm flipV="1">
              <a:off x="647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6" name="直接连接符 561225"/>
            <p:cNvSpPr/>
            <p:nvPr/>
          </p:nvSpPr>
          <p:spPr>
            <a:xfrm>
              <a:off x="702" y="147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7" name="直接连接符 561226"/>
            <p:cNvSpPr/>
            <p:nvPr/>
          </p:nvSpPr>
          <p:spPr>
            <a:xfrm flipV="1">
              <a:off x="702" y="186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8" name="直接连接符 561227"/>
            <p:cNvSpPr/>
            <p:nvPr/>
          </p:nvSpPr>
          <p:spPr>
            <a:xfrm>
              <a:off x="1202" y="160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9" name="直接连接符 561228"/>
            <p:cNvSpPr/>
            <p:nvPr/>
          </p:nvSpPr>
          <p:spPr>
            <a:xfrm>
              <a:off x="1313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0" name="直接连接符 561229"/>
            <p:cNvSpPr/>
            <p:nvPr/>
          </p:nvSpPr>
          <p:spPr>
            <a:xfrm flipH="1">
              <a:off x="1202" y="186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1" name="直接连接符 561230"/>
            <p:cNvSpPr/>
            <p:nvPr/>
          </p:nvSpPr>
          <p:spPr>
            <a:xfrm flipV="1">
              <a:off x="1202" y="1606"/>
              <a:ext cx="0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2" name="直接连接符 561231"/>
            <p:cNvSpPr/>
            <p:nvPr/>
          </p:nvSpPr>
          <p:spPr>
            <a:xfrm>
              <a:off x="1257" y="147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3" name="直接连接符 561232"/>
            <p:cNvSpPr/>
            <p:nvPr/>
          </p:nvSpPr>
          <p:spPr>
            <a:xfrm flipV="1">
              <a:off x="1257" y="186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4" name="直接连接符 561233"/>
            <p:cNvSpPr/>
            <p:nvPr/>
          </p:nvSpPr>
          <p:spPr>
            <a:xfrm>
              <a:off x="1257" y="2544"/>
              <a:ext cx="1" cy="47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5" name="直接连接符 561234"/>
            <p:cNvSpPr/>
            <p:nvPr/>
          </p:nvSpPr>
          <p:spPr>
            <a:xfrm flipV="1">
              <a:off x="702" y="141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6" name="直接连接符 561235"/>
            <p:cNvSpPr/>
            <p:nvPr/>
          </p:nvSpPr>
          <p:spPr>
            <a:xfrm>
              <a:off x="702" y="1413"/>
              <a:ext cx="5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7" name="椭圆 561236"/>
            <p:cNvSpPr/>
            <p:nvPr/>
          </p:nvSpPr>
          <p:spPr>
            <a:xfrm>
              <a:off x="1229" y="1387"/>
              <a:ext cx="56" cy="5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38" name="直接连接符 561237"/>
            <p:cNvSpPr/>
            <p:nvPr/>
          </p:nvSpPr>
          <p:spPr>
            <a:xfrm>
              <a:off x="702" y="1991"/>
              <a:ext cx="1" cy="29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9" name="直接连接符 561238"/>
            <p:cNvSpPr/>
            <p:nvPr/>
          </p:nvSpPr>
          <p:spPr>
            <a:xfrm flipV="1">
              <a:off x="1257" y="141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0" name="直接连接符 561239"/>
            <p:cNvSpPr/>
            <p:nvPr/>
          </p:nvSpPr>
          <p:spPr>
            <a:xfrm>
              <a:off x="1257" y="1413"/>
              <a:ext cx="388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1" name="直接连接符 561240"/>
            <p:cNvSpPr/>
            <p:nvPr/>
          </p:nvSpPr>
          <p:spPr>
            <a:xfrm>
              <a:off x="1257" y="1991"/>
              <a:ext cx="1" cy="39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2" name="直接连接符 561241"/>
            <p:cNvSpPr/>
            <p:nvPr/>
          </p:nvSpPr>
          <p:spPr>
            <a:xfrm>
              <a:off x="702" y="2287"/>
              <a:ext cx="13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3" name="矩形 561242"/>
            <p:cNvSpPr/>
            <p:nvPr/>
          </p:nvSpPr>
          <p:spPr>
            <a:xfrm>
              <a:off x="300" y="1597"/>
              <a:ext cx="275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4" name="矩形 561243"/>
            <p:cNvSpPr/>
            <p:nvPr/>
          </p:nvSpPr>
          <p:spPr>
            <a:xfrm>
              <a:off x="439" y="1709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5" name="矩形 561244"/>
            <p:cNvSpPr/>
            <p:nvPr/>
          </p:nvSpPr>
          <p:spPr>
            <a:xfrm>
              <a:off x="952" y="1605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6" name="矩形 561245"/>
            <p:cNvSpPr/>
            <p:nvPr/>
          </p:nvSpPr>
          <p:spPr>
            <a:xfrm>
              <a:off x="2075" y="1401"/>
              <a:ext cx="20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7" name="矩形 561246"/>
            <p:cNvSpPr/>
            <p:nvPr/>
          </p:nvSpPr>
          <p:spPr>
            <a:xfrm>
              <a:off x="1979" y="1310"/>
              <a:ext cx="133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8" name="矩形 561247"/>
            <p:cNvSpPr/>
            <p:nvPr/>
          </p:nvSpPr>
          <p:spPr>
            <a:xfrm>
              <a:off x="1090" y="1709"/>
              <a:ext cx="6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1249" name="直接连接符 561248"/>
            <p:cNvSpPr/>
            <p:nvPr/>
          </p:nvSpPr>
          <p:spPr>
            <a:xfrm>
              <a:off x="701" y="2359"/>
              <a:ext cx="284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61250" name="直接连接符 561249"/>
            <p:cNvSpPr/>
            <p:nvPr/>
          </p:nvSpPr>
          <p:spPr>
            <a:xfrm>
              <a:off x="1438" y="1537"/>
              <a:ext cx="0" cy="368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61251" name="文本框 561250"/>
            <p:cNvSpPr txBox="1"/>
            <p:nvPr/>
          </p:nvSpPr>
          <p:spPr>
            <a:xfrm>
              <a:off x="1296" y="1934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61252" name="文本框 561251"/>
            <p:cNvSpPr txBox="1"/>
            <p:nvPr/>
          </p:nvSpPr>
          <p:spPr>
            <a:xfrm>
              <a:off x="1296" y="2387"/>
              <a:ext cx="3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1253" name="文本框 561252"/>
            <p:cNvSpPr txBox="1"/>
            <p:nvPr/>
          </p:nvSpPr>
          <p:spPr>
            <a:xfrm>
              <a:off x="1353" y="2161"/>
              <a:ext cx="5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CEQ</a:t>
              </a:r>
            </a:p>
          </p:txBody>
        </p:sp>
        <p:sp>
          <p:nvSpPr>
            <p:cNvPr id="561254" name="文本框 561253"/>
            <p:cNvSpPr txBox="1"/>
            <p:nvPr/>
          </p:nvSpPr>
          <p:spPr>
            <a:xfrm>
              <a:off x="644" y="2331"/>
              <a:ext cx="4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BQ</a:t>
              </a:r>
            </a:p>
          </p:txBody>
        </p:sp>
        <p:sp>
          <p:nvSpPr>
            <p:cNvPr id="561255" name="文本框 561254"/>
            <p:cNvSpPr txBox="1"/>
            <p:nvPr/>
          </p:nvSpPr>
          <p:spPr>
            <a:xfrm>
              <a:off x="1466" y="1537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i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aseline="-2500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CQ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6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6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6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99" grpId="0"/>
      <p:bldP spid="56120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文本框 562177"/>
          <p:cNvSpPr txBox="1"/>
          <p:nvPr/>
        </p:nvSpPr>
        <p:spPr>
          <a:xfrm>
            <a:off x="2057400" y="453442"/>
            <a:ext cx="70866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长城楷体" pitchFamily="49" charset="-122"/>
              </a:rPr>
              <a:t>例：用估算法计算静态工作点。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562179" name="文本框 562178"/>
          <p:cNvSpPr txBox="1"/>
          <p:nvPr/>
        </p:nvSpPr>
        <p:spPr>
          <a:xfrm>
            <a:off x="2360613" y="1619322"/>
            <a:ext cx="3810000" cy="163339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marL="1238250" indent="-123825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已知： 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=12V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   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=4K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=300K 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=37.5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62180" name="文本框 562179"/>
          <p:cNvSpPr txBox="1"/>
          <p:nvPr/>
        </p:nvSpPr>
        <p:spPr>
          <a:xfrm>
            <a:off x="1828800" y="3273457"/>
            <a:ext cx="666750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rPr>
              <a:t>解：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graphicFrame>
        <p:nvGraphicFramePr>
          <p:cNvPr id="562181" name="对象 562180"/>
          <p:cNvGraphicFramePr/>
          <p:nvPr/>
        </p:nvGraphicFramePr>
        <p:xfrm>
          <a:off x="1820863" y="3878263"/>
          <a:ext cx="44815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21230" imgH="431800" progId="Equation.DSMT4">
                  <p:embed/>
                </p:oleObj>
              </mc:Choice>
              <mc:Fallback>
                <p:oleObj r:id="rId2" imgW="2221230" imgH="431800" progId="Equation.DSMT4">
                  <p:embed/>
                  <p:pic>
                    <p:nvPicPr>
                      <p:cNvPr id="562181" name="对象 5621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20863" y="3878263"/>
                        <a:ext cx="4481512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2" name="对象 562181"/>
          <p:cNvGraphicFramePr/>
          <p:nvPr/>
        </p:nvGraphicFramePr>
        <p:xfrm>
          <a:off x="1730375" y="4778375"/>
          <a:ext cx="48910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92960" imgH="266065" progId="Equation.DSMT4">
                  <p:embed/>
                </p:oleObj>
              </mc:Choice>
              <mc:Fallback>
                <p:oleObj r:id="rId2" imgW="2092960" imgH="266065" progId="Equation.DSMT4">
                  <p:embed/>
                  <p:pic>
                    <p:nvPicPr>
                      <p:cNvPr id="562182" name="对象 562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0375" y="4778375"/>
                        <a:ext cx="48910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3" name="对象 562182"/>
          <p:cNvGraphicFramePr/>
          <p:nvPr/>
        </p:nvGraphicFramePr>
        <p:xfrm>
          <a:off x="1730375" y="5364164"/>
          <a:ext cx="58610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73630" imgH="241300" progId="Equation.DSMT4">
                  <p:embed/>
                </p:oleObj>
              </mc:Choice>
              <mc:Fallback>
                <p:oleObj r:id="rId2" imgW="2373630" imgH="241300" progId="Equation.DSMT4">
                  <p:embed/>
                  <p:pic>
                    <p:nvPicPr>
                      <p:cNvPr id="562183" name="对象 5621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30375" y="5364164"/>
                        <a:ext cx="5861050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84" name="文本框 562183"/>
          <p:cNvSpPr txBox="1"/>
          <p:nvPr/>
        </p:nvSpPr>
        <p:spPr>
          <a:xfrm>
            <a:off x="7716838" y="4014788"/>
            <a:ext cx="2736850" cy="116046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请注意电路中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和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C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的数量级</a:t>
            </a:r>
            <a:endParaRPr lang="zh-CN" altLang="en-US" sz="2800" b="1">
              <a:solidFill>
                <a:srgbClr val="FF3300"/>
              </a:solidFill>
              <a:latin typeface="Times New Roman" panose="02020603050405020304" pitchFamily="18" charset="0"/>
              <a:ea typeface="长城楷体" pitchFamily="49" charset="-122"/>
              <a:sym typeface="Webdings" panose="05030102010509060703" pitchFamily="18" charset="2"/>
            </a:endParaRPr>
          </a:p>
        </p:txBody>
      </p:sp>
      <p:pic>
        <p:nvPicPr>
          <p:cNvPr id="562185" name="图片 5621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1175" y="1223963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2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2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build="p"/>
      <p:bldP spid="562180" grpId="0" build="p"/>
      <p:bldP spid="56218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2" name="文本框 565251"/>
          <p:cNvSpPr txBox="1"/>
          <p:nvPr/>
        </p:nvSpPr>
        <p:spPr>
          <a:xfrm>
            <a:off x="4610100" y="549275"/>
            <a:ext cx="33845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2.4.2  </a:t>
            </a:r>
            <a:r>
              <a:rPr lang="zh-CN" altLang="en-US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图解分析法</a:t>
            </a:r>
          </a:p>
        </p:txBody>
      </p:sp>
      <p:sp>
        <p:nvSpPr>
          <p:cNvPr id="565253" name="文本框 565252"/>
          <p:cNvSpPr txBox="1"/>
          <p:nvPr/>
        </p:nvSpPr>
        <p:spPr>
          <a:xfrm>
            <a:off x="2414906" y="1673226"/>
            <a:ext cx="4265295" cy="19996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图解分析法：是利用三极管的输入、输出伏安特性曲线及管外电路的特性，通过作图的方法对放大电路的工作状态进行分析。</a:t>
            </a:r>
            <a:r>
              <a: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65254" name="文本框 565253"/>
          <p:cNvSpPr txBox="1"/>
          <p:nvPr/>
        </p:nvSpPr>
        <p:spPr>
          <a:xfrm>
            <a:off x="2495233" y="4508819"/>
            <a:ext cx="6210300" cy="8842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图解分析法：既可以对电路的直流状态进行分析，也可以对电路的交流状态进行分析。</a:t>
            </a:r>
          </a:p>
        </p:txBody>
      </p:sp>
      <p:pic>
        <p:nvPicPr>
          <p:cNvPr id="565255" name="图片 565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25" y="1403351"/>
            <a:ext cx="3581400" cy="2678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矩形 563201"/>
          <p:cNvSpPr/>
          <p:nvPr/>
        </p:nvSpPr>
        <p:spPr>
          <a:xfrm>
            <a:off x="5330825" y="5565627"/>
            <a:ext cx="2357438" cy="463846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CE </a:t>
            </a: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CC </a:t>
            </a: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– 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grpSp>
        <p:nvGrpSpPr>
          <p:cNvPr id="563203" name="组合 563202"/>
          <p:cNvGrpSpPr/>
          <p:nvPr/>
        </p:nvGrpSpPr>
        <p:grpSpPr>
          <a:xfrm>
            <a:off x="2135189" y="2646364"/>
            <a:ext cx="3209925" cy="3381375"/>
            <a:chOff x="3264" y="1407"/>
            <a:chExt cx="2021" cy="2130"/>
          </a:xfrm>
        </p:grpSpPr>
        <p:sp>
          <p:nvSpPr>
            <p:cNvPr id="563204" name="文本框 563203"/>
            <p:cNvSpPr txBox="1"/>
            <p:nvPr/>
          </p:nvSpPr>
          <p:spPr>
            <a:xfrm>
              <a:off x="3315" y="1407"/>
              <a:ext cx="1154" cy="23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05" name="文本框 563204"/>
            <p:cNvSpPr txBox="1"/>
            <p:nvPr/>
          </p:nvSpPr>
          <p:spPr>
            <a:xfrm>
              <a:off x="4863" y="3245"/>
              <a:ext cx="422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3206" name="组合 563205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63207" name="直接连接符 563206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63208" name="组合 563207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63209" name="直接连接符 563208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63210" name="组合 563209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63211" name="任意多边形 563210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2" name="任意多边形 563211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3" name="任意多边形 563212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4" name="任意多边形 563213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5" name="任意多边形 563214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6" name="任意多边形 563215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63217" name="圆角矩形 563216"/>
          <p:cNvSpPr/>
          <p:nvPr/>
        </p:nvSpPr>
        <p:spPr>
          <a:xfrm>
            <a:off x="5375275" y="3830743"/>
            <a:ext cx="1903688" cy="652255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直流负载线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18" name="圆角矩形标注 563217"/>
          <p:cNvSpPr/>
          <p:nvPr/>
        </p:nvSpPr>
        <p:spPr>
          <a:xfrm>
            <a:off x="8031164" y="4215711"/>
            <a:ext cx="2471737" cy="2147681"/>
          </a:xfrm>
          <a:prstGeom prst="wedgeRoundRectCallout">
            <a:avLst>
              <a:gd name="adj1" fmla="val -45569"/>
              <a:gd name="adj2" fmla="val -37764"/>
              <a:gd name="adj3" fmla="val 16667"/>
            </a:avLst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由估算法求出</a:t>
            </a:r>
            <a:r>
              <a:rPr lang="en-US" altLang="zh-CN" sz="2400" b="1" i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sz="2400" b="1" baseline="-25000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BQ</a:t>
            </a: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i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sz="2400" b="1" baseline="-25000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BQ</a:t>
            </a: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对应的输出特性与直流负载线的交点就是工作点</a:t>
            </a:r>
            <a:r>
              <a:rPr lang="en-US" altLang="zh-CN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Q</a:t>
            </a:r>
          </a:p>
        </p:txBody>
      </p:sp>
      <p:grpSp>
        <p:nvGrpSpPr>
          <p:cNvPr id="563226" name="组合 563225"/>
          <p:cNvGrpSpPr/>
          <p:nvPr/>
        </p:nvGrpSpPr>
        <p:grpSpPr>
          <a:xfrm>
            <a:off x="2711450" y="3841750"/>
            <a:ext cx="838200" cy="615950"/>
            <a:chOff x="2328" y="1676"/>
            <a:chExt cx="528" cy="388"/>
          </a:xfrm>
        </p:grpSpPr>
        <p:sp>
          <p:nvSpPr>
            <p:cNvPr id="563227" name="椭圆 563226"/>
            <p:cNvSpPr/>
            <p:nvPr/>
          </p:nvSpPr>
          <p:spPr>
            <a:xfrm>
              <a:off x="2376" y="1992"/>
              <a:ext cx="84" cy="72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28" name="文本框 563227"/>
            <p:cNvSpPr txBox="1"/>
            <p:nvPr/>
          </p:nvSpPr>
          <p:spPr>
            <a:xfrm>
              <a:off x="2328" y="1676"/>
              <a:ext cx="528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63229" name="文本框 563228"/>
          <p:cNvSpPr txBox="1"/>
          <p:nvPr/>
        </p:nvSpPr>
        <p:spPr>
          <a:xfrm>
            <a:off x="3713164" y="4109890"/>
            <a:ext cx="1163637" cy="463846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BQ</a:t>
            </a:r>
            <a:endParaRPr lang="en-US" altLang="zh-CN" sz="24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30" name="直接连接符 563229"/>
          <p:cNvSpPr/>
          <p:nvPr/>
        </p:nvSpPr>
        <p:spPr>
          <a:xfrm>
            <a:off x="2854325" y="4095750"/>
            <a:ext cx="0" cy="20574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63231" name="直接连接符 563230"/>
          <p:cNvSpPr/>
          <p:nvPr/>
        </p:nvSpPr>
        <p:spPr>
          <a:xfrm flipH="1">
            <a:off x="1524000" y="4419600"/>
            <a:ext cx="15303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63232" name="文本框 563231"/>
          <p:cNvSpPr txBox="1"/>
          <p:nvPr/>
        </p:nvSpPr>
        <p:spPr>
          <a:xfrm>
            <a:off x="1730376" y="5867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CEQ</a:t>
            </a:r>
            <a:endParaRPr lang="en-US" altLang="zh-CN" sz="24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33" name="文本框 563232"/>
          <p:cNvSpPr txBox="1"/>
          <p:nvPr/>
        </p:nvSpPr>
        <p:spPr>
          <a:xfrm>
            <a:off x="1524001" y="3878263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CQ</a:t>
            </a:r>
            <a:endParaRPr lang="en-US" altLang="zh-CN" sz="24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73" name="矩形 563272"/>
          <p:cNvSpPr/>
          <p:nvPr/>
        </p:nvSpPr>
        <p:spPr>
          <a:xfrm>
            <a:off x="6337102" y="279401"/>
            <a:ext cx="1321196" cy="461665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=40μA</a:t>
            </a:r>
            <a:endParaRPr lang="en-US" altLang="zh-CN" sz="2400" b="1" baseline="-25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96" name="组合 563295"/>
          <p:cNvGrpSpPr/>
          <p:nvPr/>
        </p:nvGrpSpPr>
        <p:grpSpPr>
          <a:xfrm>
            <a:off x="5791200" y="0"/>
            <a:ext cx="4876800" cy="3803650"/>
            <a:chOff x="2688" y="0"/>
            <a:chExt cx="3072" cy="2396"/>
          </a:xfrm>
        </p:grpSpPr>
        <p:sp>
          <p:nvSpPr>
            <p:cNvPr id="563236" name="直接连接符 563235"/>
            <p:cNvSpPr/>
            <p:nvPr/>
          </p:nvSpPr>
          <p:spPr>
            <a:xfrm flipV="1">
              <a:off x="3135" y="916"/>
              <a:ext cx="1" cy="4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37" name="直接连接符 563236"/>
            <p:cNvSpPr/>
            <p:nvPr/>
          </p:nvSpPr>
          <p:spPr>
            <a:xfrm rot="5400000">
              <a:off x="3143" y="1152"/>
              <a:ext cx="1" cy="4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38" name="直接连接符 563237"/>
            <p:cNvSpPr/>
            <p:nvPr/>
          </p:nvSpPr>
          <p:spPr>
            <a:xfrm rot="5400000">
              <a:off x="3146" y="1384"/>
              <a:ext cx="1" cy="23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grpSp>
          <p:nvGrpSpPr>
            <p:cNvPr id="563239" name="组合 563238"/>
            <p:cNvGrpSpPr/>
            <p:nvPr/>
          </p:nvGrpSpPr>
          <p:grpSpPr>
            <a:xfrm>
              <a:off x="3390" y="381"/>
              <a:ext cx="694" cy="1179"/>
              <a:chOff x="2369" y="1132"/>
              <a:chExt cx="750" cy="1578"/>
            </a:xfrm>
          </p:grpSpPr>
          <p:sp>
            <p:nvSpPr>
              <p:cNvPr id="563240" name="直接连接符 563239"/>
              <p:cNvSpPr/>
              <p:nvPr/>
            </p:nvSpPr>
            <p:spPr>
              <a:xfrm>
                <a:off x="2369" y="1873"/>
                <a:ext cx="564" cy="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1" name="直接连接符 563240"/>
              <p:cNvSpPr/>
              <p:nvPr/>
            </p:nvSpPr>
            <p:spPr>
              <a:xfrm>
                <a:off x="2921" y="1696"/>
                <a:ext cx="0" cy="3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2" name="直接连接符 563241"/>
              <p:cNvSpPr/>
              <p:nvPr/>
            </p:nvSpPr>
            <p:spPr>
              <a:xfrm>
                <a:off x="2921" y="1876"/>
                <a:ext cx="198" cy="18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563243" name="直接连接符 563242"/>
              <p:cNvSpPr/>
              <p:nvPr/>
            </p:nvSpPr>
            <p:spPr>
              <a:xfrm flipV="1">
                <a:off x="2921" y="1702"/>
                <a:ext cx="198" cy="16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4" name="直接连接符 563243"/>
              <p:cNvSpPr/>
              <p:nvPr/>
            </p:nvSpPr>
            <p:spPr>
              <a:xfrm>
                <a:off x="3107" y="1132"/>
                <a:ext cx="0" cy="58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5" name="直接连接符 563244"/>
              <p:cNvSpPr/>
              <p:nvPr/>
            </p:nvSpPr>
            <p:spPr>
              <a:xfrm>
                <a:off x="3107" y="2050"/>
                <a:ext cx="0" cy="6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</p:grpSp>
        <p:sp>
          <p:nvSpPr>
            <p:cNvPr id="563246" name="直接连接符 563245"/>
            <p:cNvSpPr/>
            <p:nvPr/>
          </p:nvSpPr>
          <p:spPr>
            <a:xfrm>
              <a:off x="3138" y="932"/>
              <a:ext cx="356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7" name="直接连接符 563246"/>
            <p:cNvSpPr/>
            <p:nvPr/>
          </p:nvSpPr>
          <p:spPr>
            <a:xfrm>
              <a:off x="3146" y="1922"/>
              <a:ext cx="2411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8" name="直接连接符 563247"/>
            <p:cNvSpPr/>
            <p:nvPr/>
          </p:nvSpPr>
          <p:spPr>
            <a:xfrm>
              <a:off x="4073" y="1466"/>
              <a:ext cx="1" cy="4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9" name="文本框 563248"/>
            <p:cNvSpPr txBox="1"/>
            <p:nvPr/>
          </p:nvSpPr>
          <p:spPr>
            <a:xfrm>
              <a:off x="5183" y="868"/>
              <a:ext cx="430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50" name="矩形 563249"/>
            <p:cNvSpPr/>
            <p:nvPr/>
          </p:nvSpPr>
          <p:spPr>
            <a:xfrm rot="5400000">
              <a:off x="3372" y="812"/>
              <a:ext cx="139" cy="267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51" name="文本框 563250"/>
            <p:cNvSpPr txBox="1"/>
            <p:nvPr/>
          </p:nvSpPr>
          <p:spPr>
            <a:xfrm>
              <a:off x="2688" y="1063"/>
              <a:ext cx="427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BB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3252" name="组合 563251"/>
            <p:cNvGrpSpPr/>
            <p:nvPr/>
          </p:nvGrpSpPr>
          <p:grpSpPr>
            <a:xfrm>
              <a:off x="3979" y="1929"/>
              <a:ext cx="188" cy="154"/>
              <a:chOff x="2898" y="3684"/>
              <a:chExt cx="204" cy="204"/>
            </a:xfrm>
          </p:grpSpPr>
          <p:sp>
            <p:nvSpPr>
              <p:cNvPr id="563253" name="直接连接符 563252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54" name="直接连接符 563253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3255" name="椭圆 563254"/>
            <p:cNvSpPr/>
            <p:nvPr/>
          </p:nvSpPr>
          <p:spPr>
            <a:xfrm>
              <a:off x="4052" y="1904"/>
              <a:ext cx="43" cy="3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56" name="直接连接符 563255"/>
            <p:cNvSpPr/>
            <p:nvPr/>
          </p:nvSpPr>
          <p:spPr>
            <a:xfrm>
              <a:off x="5365" y="1153"/>
              <a:ext cx="365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7" name="直接连接符 563256"/>
            <p:cNvSpPr/>
            <p:nvPr/>
          </p:nvSpPr>
          <p:spPr>
            <a:xfrm>
              <a:off x="5469" y="1239"/>
              <a:ext cx="157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8" name="直接连接符 563257"/>
            <p:cNvSpPr/>
            <p:nvPr/>
          </p:nvSpPr>
          <p:spPr>
            <a:xfrm>
              <a:off x="5365" y="1323"/>
              <a:ext cx="365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9" name="直接连接符 563258"/>
            <p:cNvSpPr/>
            <p:nvPr/>
          </p:nvSpPr>
          <p:spPr>
            <a:xfrm>
              <a:off x="5469" y="1407"/>
              <a:ext cx="157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60" name="直接连接符 563259"/>
            <p:cNvSpPr/>
            <p:nvPr/>
          </p:nvSpPr>
          <p:spPr>
            <a:xfrm flipV="1">
              <a:off x="4066" y="389"/>
              <a:ext cx="147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1" name="直接连接符 563260"/>
            <p:cNvSpPr/>
            <p:nvPr/>
          </p:nvSpPr>
          <p:spPr>
            <a:xfrm>
              <a:off x="5544" y="375"/>
              <a:ext cx="5" cy="7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2" name="直接连接符 563261"/>
            <p:cNvSpPr/>
            <p:nvPr/>
          </p:nvSpPr>
          <p:spPr>
            <a:xfrm>
              <a:off x="5555" y="1422"/>
              <a:ext cx="1" cy="5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3" name="直接连接符 563262"/>
            <p:cNvSpPr/>
            <p:nvPr/>
          </p:nvSpPr>
          <p:spPr>
            <a:xfrm flipH="1" flipV="1">
              <a:off x="3135" y="1511"/>
              <a:ext cx="6" cy="4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64" name="矩形 563263"/>
            <p:cNvSpPr/>
            <p:nvPr/>
          </p:nvSpPr>
          <p:spPr>
            <a:xfrm>
              <a:off x="5483" y="579"/>
              <a:ext cx="123" cy="305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65" name="文本框 563264"/>
            <p:cNvSpPr txBox="1"/>
            <p:nvPr/>
          </p:nvSpPr>
          <p:spPr>
            <a:xfrm>
              <a:off x="3263" y="395"/>
              <a:ext cx="315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66" name="文本框 563265"/>
            <p:cNvSpPr txBox="1"/>
            <p:nvPr/>
          </p:nvSpPr>
          <p:spPr>
            <a:xfrm>
              <a:off x="5198" y="430"/>
              <a:ext cx="369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67" name="文本框 563266"/>
            <p:cNvSpPr txBox="1"/>
            <p:nvPr/>
          </p:nvSpPr>
          <p:spPr>
            <a:xfrm>
              <a:off x="4962" y="1388"/>
              <a:ext cx="686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12V</a:t>
              </a:r>
            </a:p>
          </p:txBody>
        </p:sp>
        <p:sp>
          <p:nvSpPr>
            <p:cNvPr id="563268" name="文本框 563267"/>
            <p:cNvSpPr txBox="1"/>
            <p:nvPr/>
          </p:nvSpPr>
          <p:spPr>
            <a:xfrm>
              <a:off x="2776" y="1500"/>
              <a:ext cx="475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563269" name="文本框 563268"/>
            <p:cNvSpPr txBox="1"/>
            <p:nvPr/>
          </p:nvSpPr>
          <p:spPr>
            <a:xfrm>
              <a:off x="4933" y="659"/>
              <a:ext cx="686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4KΩ</a:t>
              </a:r>
            </a:p>
          </p:txBody>
        </p:sp>
        <p:sp>
          <p:nvSpPr>
            <p:cNvPr id="563270" name="文本框 563269"/>
            <p:cNvSpPr txBox="1"/>
            <p:nvPr/>
          </p:nvSpPr>
          <p:spPr>
            <a:xfrm>
              <a:off x="3041" y="625"/>
              <a:ext cx="844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150KΩ</a:t>
              </a:r>
            </a:p>
          </p:txBody>
        </p:sp>
        <p:sp>
          <p:nvSpPr>
            <p:cNvPr id="563271" name="文本框 563270"/>
            <p:cNvSpPr txBox="1"/>
            <p:nvPr/>
          </p:nvSpPr>
          <p:spPr>
            <a:xfrm>
              <a:off x="4366" y="458"/>
              <a:ext cx="486" cy="1221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i="1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CE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—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272" name="直接连接符 563271"/>
            <p:cNvSpPr/>
            <p:nvPr/>
          </p:nvSpPr>
          <p:spPr>
            <a:xfrm>
              <a:off x="3305" y="1083"/>
              <a:ext cx="265" cy="1"/>
            </a:xfrm>
            <a:prstGeom prst="line">
              <a:avLst/>
            </a:prstGeom>
            <a:ln w="27051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4" name="矩形 563273"/>
            <p:cNvSpPr/>
            <p:nvPr/>
          </p:nvSpPr>
          <p:spPr>
            <a:xfrm>
              <a:off x="4542" y="0"/>
              <a:ext cx="261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b="1" i="1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275" name="直接连接符 563274"/>
            <p:cNvSpPr/>
            <p:nvPr/>
          </p:nvSpPr>
          <p:spPr>
            <a:xfrm flipH="1">
              <a:off x="4499" y="292"/>
              <a:ext cx="441" cy="1"/>
            </a:xfrm>
            <a:prstGeom prst="line">
              <a:avLst/>
            </a:prstGeom>
            <a:ln w="27051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6" name="椭圆 563275"/>
            <p:cNvSpPr/>
            <p:nvPr/>
          </p:nvSpPr>
          <p:spPr>
            <a:xfrm>
              <a:off x="4720" y="333"/>
              <a:ext cx="88" cy="84"/>
            </a:xfrm>
            <a:prstGeom prst="ellipse">
              <a:avLst/>
            </a:prstGeom>
            <a:solidFill>
              <a:schemeClr val="bg1"/>
            </a:solidFill>
            <a:ln w="27051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7" name="椭圆 563276"/>
            <p:cNvSpPr/>
            <p:nvPr/>
          </p:nvSpPr>
          <p:spPr>
            <a:xfrm>
              <a:off x="4720" y="1875"/>
              <a:ext cx="88" cy="83"/>
            </a:xfrm>
            <a:prstGeom prst="ellipse">
              <a:avLst/>
            </a:prstGeom>
            <a:solidFill>
              <a:schemeClr val="bg1"/>
            </a:solidFill>
            <a:ln w="27051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8" name="直接连接符 563277"/>
            <p:cNvSpPr/>
            <p:nvPr/>
          </p:nvSpPr>
          <p:spPr>
            <a:xfrm flipH="1">
              <a:off x="4410" y="2041"/>
              <a:ext cx="222" cy="1"/>
            </a:xfrm>
            <a:prstGeom prst="line">
              <a:avLst/>
            </a:prstGeom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9" name="直接连接符 563278"/>
            <p:cNvSpPr/>
            <p:nvPr/>
          </p:nvSpPr>
          <p:spPr>
            <a:xfrm>
              <a:off x="4897" y="2041"/>
              <a:ext cx="220" cy="1"/>
            </a:xfrm>
            <a:prstGeom prst="line">
              <a:avLst/>
            </a:prstGeom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80" name="直接连接符 563279"/>
            <p:cNvSpPr/>
            <p:nvPr/>
          </p:nvSpPr>
          <p:spPr>
            <a:xfrm>
              <a:off x="4764" y="292"/>
              <a:ext cx="1" cy="179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3281" name="文本框 563280"/>
            <p:cNvSpPr txBox="1"/>
            <p:nvPr/>
          </p:nvSpPr>
          <p:spPr>
            <a:xfrm>
              <a:off x="3835" y="2146"/>
              <a:ext cx="967" cy="250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非线性部分</a:t>
              </a:r>
            </a:p>
          </p:txBody>
        </p:sp>
        <p:sp>
          <p:nvSpPr>
            <p:cNvPr id="563282" name="文本框 563281"/>
            <p:cNvSpPr txBox="1"/>
            <p:nvPr/>
          </p:nvSpPr>
          <p:spPr>
            <a:xfrm>
              <a:off x="4882" y="2146"/>
              <a:ext cx="878" cy="250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线性部分</a:t>
              </a:r>
            </a:p>
          </p:txBody>
        </p:sp>
      </p:grpSp>
      <p:sp>
        <p:nvSpPr>
          <p:cNvPr id="563283" name="矩形 563282"/>
          <p:cNvSpPr/>
          <p:nvPr/>
        </p:nvSpPr>
        <p:spPr>
          <a:xfrm>
            <a:off x="5105400" y="4824413"/>
            <a:ext cx="2744788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=40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μA</a:t>
            </a:r>
          </a:p>
        </p:txBody>
      </p:sp>
      <p:grpSp>
        <p:nvGrpSpPr>
          <p:cNvPr id="563284" name="组合 563283"/>
          <p:cNvGrpSpPr/>
          <p:nvPr/>
        </p:nvGrpSpPr>
        <p:grpSpPr>
          <a:xfrm>
            <a:off x="1820864" y="1223964"/>
            <a:ext cx="3208337" cy="1292225"/>
            <a:chOff x="288" y="960"/>
            <a:chExt cx="2021" cy="814"/>
          </a:xfrm>
        </p:grpSpPr>
        <p:sp>
          <p:nvSpPr>
            <p:cNvPr id="563285" name="文本框 563284"/>
            <p:cNvSpPr txBox="1"/>
            <p:nvPr/>
          </p:nvSpPr>
          <p:spPr>
            <a:xfrm>
              <a:off x="288" y="960"/>
              <a:ext cx="72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斜率：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63286" name="对象 563285"/>
            <p:cNvGraphicFramePr/>
            <p:nvPr/>
          </p:nvGraphicFramePr>
          <p:xfrm>
            <a:off x="288" y="1104"/>
            <a:ext cx="2021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90700" imgH="596900" progId="Equation.3">
                    <p:embed/>
                  </p:oleObj>
                </mc:Choice>
                <mc:Fallback>
                  <p:oleObj r:id="rId2" imgW="1790700" imgH="596900" progId="Equation.3">
                    <p:embed/>
                    <p:pic>
                      <p:nvPicPr>
                        <p:cNvPr id="563286" name="对象 56328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8" y="1104"/>
                          <a:ext cx="2021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89" name="文本框 563288"/>
          <p:cNvSpPr txBox="1"/>
          <p:nvPr/>
        </p:nvSpPr>
        <p:spPr>
          <a:xfrm>
            <a:off x="2000251" y="233363"/>
            <a:ext cx="3375025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直流分析：求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点</a:t>
            </a:r>
          </a:p>
        </p:txBody>
      </p:sp>
      <p:grpSp>
        <p:nvGrpSpPr>
          <p:cNvPr id="563295" name="组合 563294"/>
          <p:cNvGrpSpPr/>
          <p:nvPr/>
        </p:nvGrpSpPr>
        <p:grpSpPr>
          <a:xfrm>
            <a:off x="1524000" y="3024188"/>
            <a:ext cx="2973388" cy="3295650"/>
            <a:chOff x="0" y="1933"/>
            <a:chExt cx="1873" cy="2076"/>
          </a:xfrm>
        </p:grpSpPr>
        <p:sp>
          <p:nvSpPr>
            <p:cNvPr id="563292" name="文本框 563291"/>
            <p:cNvSpPr txBox="1"/>
            <p:nvPr/>
          </p:nvSpPr>
          <p:spPr>
            <a:xfrm>
              <a:off x="1321" y="3717"/>
              <a:ext cx="552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63293" name="对象 563292"/>
            <p:cNvGraphicFramePr/>
            <p:nvPr/>
          </p:nvGraphicFramePr>
          <p:xfrm>
            <a:off x="0" y="1933"/>
            <a:ext cx="364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79400" imgH="444500" progId="Equation.DSMT4">
                    <p:embed/>
                  </p:oleObj>
                </mc:Choice>
                <mc:Fallback>
                  <p:oleObj r:id="rId2" imgW="279400" imgH="444500" progId="Equation.DSMT4">
                    <p:embed/>
                    <p:pic>
                      <p:nvPicPr>
                        <p:cNvPr id="563293" name="对象 5632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1933"/>
                          <a:ext cx="364" cy="4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94" name="直接连接符 563293"/>
            <p:cNvSpPr/>
            <p:nvPr/>
          </p:nvSpPr>
          <p:spPr>
            <a:xfrm flipH="1" flipV="1">
              <a:off x="385" y="2160"/>
              <a:ext cx="1163" cy="1588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6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3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6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6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6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2" grpId="0" build="p"/>
      <p:bldP spid="563217" grpId="0" animBg="1"/>
      <p:bldP spid="563218" grpId="0" animBg="1"/>
      <p:bldP spid="563229" grpId="0" build="p"/>
      <p:bldP spid="563232" grpId="0"/>
      <p:bldP spid="563233" grpId="0"/>
      <p:bldP spid="563273" grpId="0"/>
      <p:bldP spid="56328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矩形 564225"/>
          <p:cNvSpPr/>
          <p:nvPr/>
        </p:nvSpPr>
        <p:spPr>
          <a:xfrm>
            <a:off x="7162800" y="3733800"/>
            <a:ext cx="2566988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=40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μA</a:t>
            </a:r>
          </a:p>
        </p:txBody>
      </p:sp>
      <p:graphicFrame>
        <p:nvGraphicFramePr>
          <p:cNvPr id="564227" name="对象 564226"/>
          <p:cNvGraphicFramePr/>
          <p:nvPr/>
        </p:nvGraphicFramePr>
        <p:xfrm>
          <a:off x="7315200" y="4343400"/>
          <a:ext cx="2159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02665" imgH="228600" progId="Equation.3">
                  <p:embed/>
                </p:oleObj>
              </mc:Choice>
              <mc:Fallback>
                <p:oleObj r:id="rId2" imgW="1002665" imgH="228600" progId="Equation.3">
                  <p:embed/>
                  <p:pic>
                    <p:nvPicPr>
                      <p:cNvPr id="564227" name="对象 5642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15200" y="4343400"/>
                        <a:ext cx="21590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28" name="直接连接符 564227"/>
          <p:cNvSpPr/>
          <p:nvPr/>
        </p:nvSpPr>
        <p:spPr>
          <a:xfrm>
            <a:off x="2438400" y="3810000"/>
            <a:ext cx="3124200" cy="2057400"/>
          </a:xfrm>
          <a:prstGeom prst="line">
            <a:avLst/>
          </a:prstGeom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229" name="文本框 564228"/>
          <p:cNvSpPr txBox="1"/>
          <p:nvPr/>
        </p:nvSpPr>
        <p:spPr>
          <a:xfrm>
            <a:off x="5029200" y="5867401"/>
            <a:ext cx="12192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M(</a:t>
            </a:r>
            <a:r>
              <a:rPr lang="en-US" altLang="zh-CN" i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,0)</a:t>
            </a:r>
            <a:endParaRPr lang="en-US" altLang="zh-CN" i="1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230" name="矩形 564229"/>
          <p:cNvSpPr/>
          <p:nvPr/>
        </p:nvSpPr>
        <p:spPr>
          <a:xfrm>
            <a:off x="5334000" y="6172201"/>
            <a:ext cx="908050" cy="366713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(12 ,  0)</a:t>
            </a:r>
          </a:p>
        </p:txBody>
      </p:sp>
      <p:sp>
        <p:nvSpPr>
          <p:cNvPr id="564231" name="矩形 564230"/>
          <p:cNvSpPr/>
          <p:nvPr/>
        </p:nvSpPr>
        <p:spPr>
          <a:xfrm>
            <a:off x="1752600" y="4038601"/>
            <a:ext cx="793750" cy="366713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(0 ,  3)</a:t>
            </a:r>
          </a:p>
        </p:txBody>
      </p:sp>
      <p:graphicFrame>
        <p:nvGraphicFramePr>
          <p:cNvPr id="564232" name="对象 564231"/>
          <p:cNvGraphicFramePr/>
          <p:nvPr/>
        </p:nvGraphicFramePr>
        <p:xfrm>
          <a:off x="1524000" y="3429000"/>
          <a:ext cx="977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7700" imgH="431800" progId="Equation.3">
                  <p:embed/>
                </p:oleObj>
              </mc:Choice>
              <mc:Fallback>
                <p:oleObj r:id="rId2" imgW="647700" imgH="431800" progId="Equation.3">
                  <p:embed/>
                  <p:pic>
                    <p:nvPicPr>
                      <p:cNvPr id="564232" name="对象 5642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3429000"/>
                        <a:ext cx="9779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4233" name="组合 564232"/>
          <p:cNvGrpSpPr/>
          <p:nvPr/>
        </p:nvGrpSpPr>
        <p:grpSpPr>
          <a:xfrm>
            <a:off x="2495551" y="2979738"/>
            <a:ext cx="4613275" cy="3001962"/>
            <a:chOff x="672" y="1878"/>
            <a:chExt cx="2906" cy="1891"/>
          </a:xfrm>
        </p:grpSpPr>
        <p:sp>
          <p:nvSpPr>
            <p:cNvPr id="564234" name="直接连接符 564233"/>
            <p:cNvSpPr/>
            <p:nvPr/>
          </p:nvSpPr>
          <p:spPr>
            <a:xfrm flipH="1">
              <a:off x="2964" y="3658"/>
              <a:ext cx="65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5" name="直接连接符 564234"/>
            <p:cNvSpPr/>
            <p:nvPr/>
          </p:nvSpPr>
          <p:spPr>
            <a:xfrm>
              <a:off x="2964" y="3647"/>
              <a:ext cx="65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6" name="直接连接符 564235"/>
            <p:cNvSpPr/>
            <p:nvPr/>
          </p:nvSpPr>
          <p:spPr>
            <a:xfrm flipV="1">
              <a:off x="2964" y="3647"/>
              <a:ext cx="1" cy="2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7" name="直接连接符 564236"/>
            <p:cNvSpPr/>
            <p:nvPr/>
          </p:nvSpPr>
          <p:spPr>
            <a:xfrm>
              <a:off x="2964" y="3647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8" name="直接连接符 564237"/>
            <p:cNvSpPr/>
            <p:nvPr/>
          </p:nvSpPr>
          <p:spPr>
            <a:xfrm>
              <a:off x="3029" y="3658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9" name="直接连接符 564238"/>
            <p:cNvSpPr/>
            <p:nvPr/>
          </p:nvSpPr>
          <p:spPr>
            <a:xfrm>
              <a:off x="2964" y="3658"/>
              <a:ext cx="6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0" name="直接连接符 564239"/>
            <p:cNvSpPr/>
            <p:nvPr/>
          </p:nvSpPr>
          <p:spPr>
            <a:xfrm>
              <a:off x="2964" y="3669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1" name="直接连接符 564240"/>
            <p:cNvSpPr/>
            <p:nvPr/>
          </p:nvSpPr>
          <p:spPr>
            <a:xfrm>
              <a:off x="2855" y="3658"/>
              <a:ext cx="109" cy="1"/>
            </a:xfrm>
            <a:prstGeom prst="line">
              <a:avLst/>
            </a:prstGeom>
            <a:ln w="1746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2" name="直接连接符 564241"/>
            <p:cNvSpPr/>
            <p:nvPr/>
          </p:nvSpPr>
          <p:spPr>
            <a:xfrm flipH="1">
              <a:off x="673" y="1900"/>
              <a:ext cx="1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3" name="直接连接符 564242"/>
            <p:cNvSpPr/>
            <p:nvPr/>
          </p:nvSpPr>
          <p:spPr>
            <a:xfrm flipH="1" flipV="1">
              <a:off x="684" y="1900"/>
              <a:ext cx="1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4" name="直接连接符 564243"/>
            <p:cNvSpPr/>
            <p:nvPr/>
          </p:nvSpPr>
          <p:spPr>
            <a:xfrm>
              <a:off x="673" y="1965"/>
              <a:ext cx="2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5" name="直接连接符 564244"/>
            <p:cNvSpPr/>
            <p:nvPr/>
          </p:nvSpPr>
          <p:spPr>
            <a:xfrm>
              <a:off x="695" y="196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6" name="直接连接符 564245"/>
            <p:cNvSpPr/>
            <p:nvPr/>
          </p:nvSpPr>
          <p:spPr>
            <a:xfrm>
              <a:off x="684" y="1900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7" name="直接连接符 564246"/>
            <p:cNvSpPr/>
            <p:nvPr/>
          </p:nvSpPr>
          <p:spPr>
            <a:xfrm flipV="1">
              <a:off x="684" y="1900"/>
              <a:ext cx="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8" name="直接连接符 564247"/>
            <p:cNvSpPr/>
            <p:nvPr/>
          </p:nvSpPr>
          <p:spPr>
            <a:xfrm>
              <a:off x="673" y="196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9" name="直接连接符 564248"/>
            <p:cNvSpPr/>
            <p:nvPr/>
          </p:nvSpPr>
          <p:spPr>
            <a:xfrm flipV="1">
              <a:off x="684" y="1965"/>
              <a:ext cx="1" cy="109"/>
            </a:xfrm>
            <a:prstGeom prst="line">
              <a:avLst/>
            </a:prstGeom>
            <a:ln w="1746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0" name="直接连接符 564249"/>
            <p:cNvSpPr/>
            <p:nvPr/>
          </p:nvSpPr>
          <p:spPr>
            <a:xfrm>
              <a:off x="684" y="1911"/>
              <a:ext cx="1" cy="173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1" name="直接连接符 564250"/>
            <p:cNvSpPr/>
            <p:nvPr/>
          </p:nvSpPr>
          <p:spPr>
            <a:xfrm>
              <a:off x="684" y="3658"/>
              <a:ext cx="206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2" name="直接连接符 564251"/>
            <p:cNvSpPr/>
            <p:nvPr/>
          </p:nvSpPr>
          <p:spPr>
            <a:xfrm flipH="1">
              <a:off x="695" y="3168"/>
              <a:ext cx="44" cy="49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3" name="直接连接符 564252"/>
            <p:cNvSpPr/>
            <p:nvPr/>
          </p:nvSpPr>
          <p:spPr>
            <a:xfrm flipV="1">
              <a:off x="858" y="2725"/>
              <a:ext cx="1704" cy="3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4" name="任意多边形 564253"/>
            <p:cNvSpPr/>
            <p:nvPr/>
          </p:nvSpPr>
          <p:spPr>
            <a:xfrm>
              <a:off x="757" y="2752"/>
              <a:ext cx="150" cy="152"/>
            </a:xfrm>
            <a:custGeom>
              <a:avLst/>
              <a:gdLst>
                <a:gd name="txL" fmla="*/ 0 w 20631"/>
                <a:gd name="txT" fmla="*/ 0 h 20913"/>
                <a:gd name="txR" fmla="*/ 20631 w 20631"/>
                <a:gd name="txB" fmla="*/ 20913 h 20913"/>
              </a:gdLst>
              <a:ahLst/>
              <a:cxnLst>
                <a:cxn ang="180">
                  <a:pos x="0" y="14514"/>
                </a:cxn>
                <a:cxn ang="270">
                  <a:pos x="15225" y="0"/>
                </a:cxn>
                <a:cxn ang="90">
                  <a:pos x="20631" y="20913"/>
                </a:cxn>
              </a:cxnLst>
              <a:rect l="txL" t="txT" r="txR" b="txB"/>
              <a:pathLst>
                <a:path w="20631" h="20913" fill="none">
                  <a:moveTo>
                    <a:pt x="0" y="14514"/>
                  </a:moveTo>
                  <a:arcTo wR="21600" hR="21600" stAng="-9766079" swAng="3496459"/>
                </a:path>
                <a:path w="20631" h="20913" stroke="0">
                  <a:moveTo>
                    <a:pt x="0" y="14514"/>
                  </a:moveTo>
                  <a:arcTo wR="21600" hR="21600" stAng="-9766079" swAng="3496459"/>
                  <a:lnTo>
                    <a:pt x="20631" y="20913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55" name="直接连接符 564254"/>
            <p:cNvSpPr/>
            <p:nvPr/>
          </p:nvSpPr>
          <p:spPr>
            <a:xfrm>
              <a:off x="2746" y="3658"/>
              <a:ext cx="10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6" name="直接连接符 564255"/>
            <p:cNvSpPr/>
            <p:nvPr/>
          </p:nvSpPr>
          <p:spPr>
            <a:xfrm flipV="1">
              <a:off x="684" y="2074"/>
              <a:ext cx="1" cy="27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7" name="矩形 564256"/>
            <p:cNvSpPr/>
            <p:nvPr/>
          </p:nvSpPr>
          <p:spPr>
            <a:xfrm>
              <a:off x="759" y="1878"/>
              <a:ext cx="3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58" name="矩形 564257"/>
            <p:cNvSpPr/>
            <p:nvPr/>
          </p:nvSpPr>
          <p:spPr>
            <a:xfrm>
              <a:off x="809" y="1954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59" name="矩形 564258"/>
            <p:cNvSpPr/>
            <p:nvPr/>
          </p:nvSpPr>
          <p:spPr>
            <a:xfrm>
              <a:off x="3156" y="3647"/>
              <a:ext cx="124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0" name="矩形 564259"/>
            <p:cNvSpPr/>
            <p:nvPr/>
          </p:nvSpPr>
          <p:spPr>
            <a:xfrm>
              <a:off x="3347" y="3615"/>
              <a:ext cx="231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(V)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1" name="矩形 564260"/>
            <p:cNvSpPr/>
            <p:nvPr/>
          </p:nvSpPr>
          <p:spPr>
            <a:xfrm>
              <a:off x="883" y="1911"/>
              <a:ext cx="308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err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(mA</a:t>
              </a: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)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2" name="矩形 564261"/>
            <p:cNvSpPr/>
            <p:nvPr/>
          </p:nvSpPr>
          <p:spPr>
            <a:xfrm>
              <a:off x="2792" y="2670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=60uA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3" name="矩形 564262"/>
            <p:cNvSpPr/>
            <p:nvPr/>
          </p:nvSpPr>
          <p:spPr>
            <a:xfrm>
              <a:off x="2643" y="2649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4" name="矩形 564263"/>
            <p:cNvSpPr/>
            <p:nvPr/>
          </p:nvSpPr>
          <p:spPr>
            <a:xfrm>
              <a:off x="2687" y="2703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5" name="矩形 564264"/>
            <p:cNvSpPr/>
            <p:nvPr/>
          </p:nvSpPr>
          <p:spPr>
            <a:xfrm>
              <a:off x="3094" y="3560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66" name="直接连接符 564265"/>
            <p:cNvSpPr/>
            <p:nvPr/>
          </p:nvSpPr>
          <p:spPr>
            <a:xfrm flipV="1">
              <a:off x="851" y="3034"/>
              <a:ext cx="1654" cy="3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7" name="直接连接符 564266"/>
            <p:cNvSpPr/>
            <p:nvPr/>
          </p:nvSpPr>
          <p:spPr>
            <a:xfrm flipV="1">
              <a:off x="672" y="3603"/>
              <a:ext cx="1823" cy="3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8" name="直接连接符 564267"/>
            <p:cNvSpPr/>
            <p:nvPr/>
          </p:nvSpPr>
          <p:spPr>
            <a:xfrm flipV="1">
              <a:off x="925" y="2454"/>
              <a:ext cx="1580" cy="3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9" name="直接连接符 564268"/>
            <p:cNvSpPr/>
            <p:nvPr/>
          </p:nvSpPr>
          <p:spPr>
            <a:xfrm flipV="1">
              <a:off x="861" y="3350"/>
              <a:ext cx="1655" cy="3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0" name="直接连接符 564269"/>
            <p:cNvSpPr/>
            <p:nvPr/>
          </p:nvSpPr>
          <p:spPr>
            <a:xfrm flipV="1">
              <a:off x="935" y="2190"/>
              <a:ext cx="1633" cy="43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1" name="直接连接符 564270"/>
            <p:cNvSpPr/>
            <p:nvPr/>
          </p:nvSpPr>
          <p:spPr>
            <a:xfrm flipH="1">
              <a:off x="739" y="2359"/>
              <a:ext cx="70" cy="85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2" name="任意多边形 564271"/>
            <p:cNvSpPr/>
            <p:nvPr/>
          </p:nvSpPr>
          <p:spPr>
            <a:xfrm>
              <a:off x="729" y="3066"/>
              <a:ext cx="180" cy="184"/>
            </a:xfrm>
            <a:custGeom>
              <a:avLst/>
              <a:gdLst>
                <a:gd name="txL" fmla="*/ 0 w 21128"/>
                <a:gd name="txT" fmla="*/ 0 h 21520"/>
                <a:gd name="txR" fmla="*/ 21128 w 21128"/>
                <a:gd name="txB" fmla="*/ 21520 h 21520"/>
              </a:gdLst>
              <a:ahLst/>
              <a:cxnLst>
                <a:cxn ang="180">
                  <a:pos x="0" y="17027"/>
                </a:cxn>
                <a:cxn ang="270">
                  <a:pos x="19266" y="0"/>
                </a:cxn>
                <a:cxn ang="90">
                  <a:pos x="21128" y="21520"/>
                </a:cxn>
              </a:cxnLst>
              <a:rect l="txL" t="txT" r="txR" b="txB"/>
              <a:pathLst>
                <a:path w="21128" h="21520" fill="none">
                  <a:moveTo>
                    <a:pt x="0" y="17027"/>
                  </a:moveTo>
                  <a:arcTo wR="21600" hR="21600" stAng="-10079672" swAng="4382963"/>
                </a:path>
                <a:path w="21128" h="21520" stroke="0">
                  <a:moveTo>
                    <a:pt x="0" y="17027"/>
                  </a:moveTo>
                  <a:arcTo wR="21600" hR="21600" stAng="-10079672" swAng="4382963"/>
                  <a:lnTo>
                    <a:pt x="21128" y="2152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3" name="任意多边形 564272"/>
            <p:cNvSpPr/>
            <p:nvPr/>
          </p:nvSpPr>
          <p:spPr>
            <a:xfrm>
              <a:off x="781" y="2490"/>
              <a:ext cx="170" cy="170"/>
            </a:xfrm>
            <a:custGeom>
              <a:avLst/>
              <a:gdLst>
                <a:gd name="txL" fmla="*/ 0 w 21061"/>
                <a:gd name="txT" fmla="*/ 0 h 21130"/>
                <a:gd name="txR" fmla="*/ 21061 w 21061"/>
                <a:gd name="txB" fmla="*/ 21130 h 21130"/>
              </a:gdLst>
              <a:ahLst/>
              <a:cxnLst>
                <a:cxn ang="180">
                  <a:pos x="0" y="16335"/>
                </a:cxn>
                <a:cxn ang="270">
                  <a:pos x="16580" y="0"/>
                </a:cxn>
                <a:cxn ang="90">
                  <a:pos x="21061" y="21130"/>
                </a:cxn>
              </a:cxnLst>
              <a:rect l="txL" t="txT" r="txR" b="txB"/>
              <a:pathLst>
                <a:path w="21061" h="21130" fill="none">
                  <a:moveTo>
                    <a:pt x="0" y="16335"/>
                  </a:moveTo>
                  <a:arcTo wR="21600" hR="21600" stAng="-10030439" swAng="3912046"/>
                </a:path>
                <a:path w="21061" h="21130" stroke="0">
                  <a:moveTo>
                    <a:pt x="0" y="16335"/>
                  </a:moveTo>
                  <a:arcTo wR="21600" hR="21600" stAng="-10030439" swAng="3912046"/>
                  <a:lnTo>
                    <a:pt x="21061" y="2113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4" name="任意多边形 564273"/>
            <p:cNvSpPr/>
            <p:nvPr/>
          </p:nvSpPr>
          <p:spPr>
            <a:xfrm>
              <a:off x="798" y="2237"/>
              <a:ext cx="174" cy="170"/>
            </a:xfrm>
            <a:custGeom>
              <a:avLst/>
              <a:gdLst>
                <a:gd name="txL" fmla="*/ 0 w 21587"/>
                <a:gd name="txT" fmla="*/ 0 h 21130"/>
                <a:gd name="txR" fmla="*/ 21587 w 21587"/>
                <a:gd name="txB" fmla="*/ 21130 h 21130"/>
              </a:gdLst>
              <a:ahLst/>
              <a:cxnLst>
                <a:cxn ang="180">
                  <a:pos x="0" y="20383"/>
                </a:cxn>
                <a:cxn ang="270">
                  <a:pos x="17106" y="0"/>
                </a:cxn>
                <a:cxn ang="0">
                  <a:pos x="21587" y="21130"/>
                </a:cxn>
              </a:cxnLst>
              <a:rect l="txL" t="txT" r="txR" b="txB"/>
              <a:pathLst>
                <a:path w="21587" h="21130" fill="none">
                  <a:moveTo>
                    <a:pt x="0" y="20383"/>
                  </a:moveTo>
                  <a:arcTo wR="21600" hR="21600" stAng="-10681087" swAng="4562694"/>
                </a:path>
                <a:path w="21587" h="21130" stroke="0">
                  <a:moveTo>
                    <a:pt x="0" y="20383"/>
                  </a:moveTo>
                  <a:arcTo wR="21600" hR="21600" stAng="-10681087" swAng="4562694"/>
                  <a:lnTo>
                    <a:pt x="21587" y="2113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5" name="任意多边形 564274"/>
            <p:cNvSpPr/>
            <p:nvPr/>
          </p:nvSpPr>
          <p:spPr>
            <a:xfrm>
              <a:off x="687" y="3382"/>
              <a:ext cx="180" cy="184"/>
            </a:xfrm>
            <a:custGeom>
              <a:avLst/>
              <a:gdLst>
                <a:gd name="txL" fmla="*/ 0 w 21128"/>
                <a:gd name="txT" fmla="*/ 0 h 21520"/>
                <a:gd name="txR" fmla="*/ 21128 w 21128"/>
                <a:gd name="txB" fmla="*/ 21520 h 21520"/>
              </a:gdLst>
              <a:ahLst/>
              <a:cxnLst>
                <a:cxn ang="180">
                  <a:pos x="0" y="17027"/>
                </a:cxn>
                <a:cxn ang="270">
                  <a:pos x="19266" y="0"/>
                </a:cxn>
                <a:cxn ang="90">
                  <a:pos x="21128" y="21520"/>
                </a:cxn>
              </a:cxnLst>
              <a:rect l="txL" t="txT" r="txR" b="txB"/>
              <a:pathLst>
                <a:path w="21128" h="21520" fill="none">
                  <a:moveTo>
                    <a:pt x="0" y="17027"/>
                  </a:moveTo>
                  <a:arcTo wR="21600" hR="21600" stAng="-10079672" swAng="4382963"/>
                </a:path>
                <a:path w="21128" h="21520" stroke="0">
                  <a:moveTo>
                    <a:pt x="0" y="17027"/>
                  </a:moveTo>
                  <a:arcTo wR="21600" hR="21600" stAng="-10079672" swAng="4382963"/>
                  <a:lnTo>
                    <a:pt x="21128" y="2152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6" name="直接连接符 564275"/>
            <p:cNvSpPr/>
            <p:nvPr/>
          </p:nvSpPr>
          <p:spPr>
            <a:xfrm>
              <a:off x="1578" y="3044"/>
              <a:ext cx="2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7" name="矩形 564276"/>
            <p:cNvSpPr/>
            <p:nvPr/>
          </p:nvSpPr>
          <p:spPr>
            <a:xfrm>
              <a:off x="2658" y="3487"/>
              <a:ext cx="13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8" name="矩形 564277"/>
            <p:cNvSpPr/>
            <p:nvPr/>
          </p:nvSpPr>
          <p:spPr>
            <a:xfrm>
              <a:off x="2599" y="3518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79" name="矩形 564278"/>
            <p:cNvSpPr/>
            <p:nvPr/>
          </p:nvSpPr>
          <p:spPr>
            <a:xfrm>
              <a:off x="2588" y="3276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0" name="矩形 564279"/>
            <p:cNvSpPr/>
            <p:nvPr/>
          </p:nvSpPr>
          <p:spPr>
            <a:xfrm>
              <a:off x="2552" y="3223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1" name="矩形 564280"/>
            <p:cNvSpPr/>
            <p:nvPr/>
          </p:nvSpPr>
          <p:spPr>
            <a:xfrm>
              <a:off x="2563" y="3466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2" name="矩形 564281"/>
            <p:cNvSpPr/>
            <p:nvPr/>
          </p:nvSpPr>
          <p:spPr>
            <a:xfrm>
              <a:off x="2692" y="3244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=20uA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3" name="矩形 564282"/>
            <p:cNvSpPr/>
            <p:nvPr/>
          </p:nvSpPr>
          <p:spPr>
            <a:xfrm>
              <a:off x="2599" y="2970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4" name="矩形 564283"/>
            <p:cNvSpPr/>
            <p:nvPr/>
          </p:nvSpPr>
          <p:spPr>
            <a:xfrm>
              <a:off x="2563" y="2918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5" name="矩形 564284"/>
            <p:cNvSpPr/>
            <p:nvPr/>
          </p:nvSpPr>
          <p:spPr>
            <a:xfrm>
              <a:off x="2703" y="2939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FF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=40uA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6" name="矩形 564285"/>
            <p:cNvSpPr/>
            <p:nvPr/>
          </p:nvSpPr>
          <p:spPr>
            <a:xfrm>
              <a:off x="2609" y="2443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7" name="矩形 564286"/>
            <p:cNvSpPr/>
            <p:nvPr/>
          </p:nvSpPr>
          <p:spPr>
            <a:xfrm>
              <a:off x="2713" y="2412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=80uA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8" name="矩形 564287"/>
            <p:cNvSpPr/>
            <p:nvPr/>
          </p:nvSpPr>
          <p:spPr>
            <a:xfrm>
              <a:off x="2573" y="2391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89" name="矩形 564288"/>
            <p:cNvSpPr/>
            <p:nvPr/>
          </p:nvSpPr>
          <p:spPr>
            <a:xfrm>
              <a:off x="2743" y="2138"/>
              <a:ext cx="462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=100uA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90" name="矩形 564289"/>
            <p:cNvSpPr/>
            <p:nvPr/>
          </p:nvSpPr>
          <p:spPr>
            <a:xfrm>
              <a:off x="2605" y="2117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291" name="矩形 564290"/>
            <p:cNvSpPr/>
            <p:nvPr/>
          </p:nvSpPr>
          <p:spPr>
            <a:xfrm>
              <a:off x="2641" y="2169"/>
              <a:ext cx="65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4292" name="椭圆 564291"/>
          <p:cNvSpPr/>
          <p:nvPr/>
        </p:nvSpPr>
        <p:spPr>
          <a:xfrm>
            <a:off x="3962400" y="4800600"/>
            <a:ext cx="76200" cy="76200"/>
          </a:xfrm>
          <a:prstGeom prst="ellipse">
            <a:avLst/>
          </a:prstGeom>
          <a:solidFill>
            <a:srgbClr val="FF0000"/>
          </a:solidFill>
          <a:ln w="27051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293" name="文本框 564292"/>
          <p:cNvSpPr txBox="1"/>
          <p:nvPr/>
        </p:nvSpPr>
        <p:spPr>
          <a:xfrm>
            <a:off x="1524000" y="457200"/>
            <a:ext cx="23622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例题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pSp>
        <p:nvGrpSpPr>
          <p:cNvPr id="564294" name="组合 564293"/>
          <p:cNvGrpSpPr/>
          <p:nvPr/>
        </p:nvGrpSpPr>
        <p:grpSpPr>
          <a:xfrm>
            <a:off x="1981200" y="1524001"/>
            <a:ext cx="3208338" cy="1292225"/>
            <a:chOff x="288" y="960"/>
            <a:chExt cx="2021" cy="814"/>
          </a:xfrm>
        </p:grpSpPr>
        <p:sp>
          <p:nvSpPr>
            <p:cNvPr id="564295" name="文本框 564294"/>
            <p:cNvSpPr txBox="1"/>
            <p:nvPr/>
          </p:nvSpPr>
          <p:spPr>
            <a:xfrm>
              <a:off x="288" y="960"/>
              <a:ext cx="72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斜率：</a:t>
              </a:r>
              <a:endParaRPr lang="zh-CN" altLang="en-US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64296" name="对象 564295"/>
            <p:cNvGraphicFramePr/>
            <p:nvPr/>
          </p:nvGraphicFramePr>
          <p:xfrm>
            <a:off x="288" y="1104"/>
            <a:ext cx="2021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90700" imgH="596900" progId="Equation.3">
                    <p:embed/>
                  </p:oleObj>
                </mc:Choice>
                <mc:Fallback>
                  <p:oleObj r:id="rId2" imgW="1790700" imgH="596900" progId="Equation.3">
                    <p:embed/>
                    <p:pic>
                      <p:nvPicPr>
                        <p:cNvPr id="564296" name="对象 56429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8" y="1104"/>
                          <a:ext cx="2021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4297" name="直接连接符 564296"/>
          <p:cNvSpPr/>
          <p:nvPr/>
        </p:nvSpPr>
        <p:spPr>
          <a:xfrm>
            <a:off x="4013200" y="4851400"/>
            <a:ext cx="0" cy="1066800"/>
          </a:xfrm>
          <a:prstGeom prst="line">
            <a:avLst/>
          </a:prstGeom>
          <a:ln w="27051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4298" name="直接连接符 564297"/>
          <p:cNvSpPr/>
          <p:nvPr/>
        </p:nvSpPr>
        <p:spPr>
          <a:xfrm flipH="1">
            <a:off x="2463800" y="4826000"/>
            <a:ext cx="1587500" cy="12700"/>
          </a:xfrm>
          <a:prstGeom prst="line">
            <a:avLst/>
          </a:prstGeom>
          <a:ln w="27051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4299" name="矩形 564298"/>
          <p:cNvSpPr/>
          <p:nvPr/>
        </p:nvSpPr>
        <p:spPr>
          <a:xfrm>
            <a:off x="3276600" y="5867401"/>
            <a:ext cx="1443038" cy="830997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CEQ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6V</a:t>
            </a:r>
            <a:endParaRPr lang="en-US" altLang="zh-CN" sz="2400" b="1" baseline="-250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4300" name="矩形 564299"/>
          <p:cNvSpPr/>
          <p:nvPr/>
        </p:nvSpPr>
        <p:spPr>
          <a:xfrm>
            <a:off x="1295401" y="4495801"/>
            <a:ext cx="1685925" cy="830997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CQ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1.5mA</a:t>
            </a:r>
          </a:p>
        </p:txBody>
      </p:sp>
      <p:grpSp>
        <p:nvGrpSpPr>
          <p:cNvPr id="564301" name="组合 564300"/>
          <p:cNvGrpSpPr/>
          <p:nvPr/>
        </p:nvGrpSpPr>
        <p:grpSpPr>
          <a:xfrm>
            <a:off x="7848600" y="5105400"/>
            <a:ext cx="2819400" cy="1371600"/>
            <a:chOff x="3984" y="3360"/>
            <a:chExt cx="1776" cy="864"/>
          </a:xfrm>
        </p:grpSpPr>
        <p:sp>
          <p:nvSpPr>
            <p:cNvPr id="564302" name="左大括号 564301"/>
            <p:cNvSpPr/>
            <p:nvPr/>
          </p:nvSpPr>
          <p:spPr>
            <a:xfrm>
              <a:off x="4560" y="3456"/>
              <a:ext cx="144" cy="672"/>
            </a:xfrm>
            <a:prstGeom prst="leftBrace">
              <a:avLst>
                <a:gd name="adj1" fmla="val 38888"/>
                <a:gd name="adj2" fmla="val 50000"/>
              </a:avLst>
            </a:prstGeom>
            <a:noFill/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4303" name="矩形 564302"/>
            <p:cNvSpPr/>
            <p:nvPr/>
          </p:nvSpPr>
          <p:spPr>
            <a:xfrm>
              <a:off x="4671" y="3360"/>
              <a:ext cx="933" cy="291"/>
            </a:xfrm>
            <a:prstGeom prst="rect">
              <a:avLst/>
            </a:prstGeom>
            <a:noFill/>
            <a:ln w="27051">
              <a:noFill/>
            </a:ln>
          </p:spPr>
          <p:txBody>
            <a:bodyPr wrap="none" anchor="t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BQ</a:t>
              </a:r>
              <a:r>
                <a:rPr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=40μA</a:t>
              </a:r>
            </a:p>
          </p:txBody>
        </p:sp>
        <p:sp>
          <p:nvSpPr>
            <p:cNvPr id="564304" name="矩形 564303"/>
            <p:cNvSpPr/>
            <p:nvPr/>
          </p:nvSpPr>
          <p:spPr>
            <a:xfrm>
              <a:off x="4512" y="3648"/>
              <a:ext cx="1248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CQ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=1.5mA</a:t>
              </a:r>
            </a:p>
          </p:txBody>
        </p:sp>
        <p:sp>
          <p:nvSpPr>
            <p:cNvPr id="564305" name="矩形 564304"/>
            <p:cNvSpPr/>
            <p:nvPr/>
          </p:nvSpPr>
          <p:spPr>
            <a:xfrm>
              <a:off x="4656" y="3936"/>
              <a:ext cx="909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CEQ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=6V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64306" name="文本框 564305"/>
            <p:cNvSpPr txBox="1"/>
            <p:nvPr/>
          </p:nvSpPr>
          <p:spPr>
            <a:xfrm>
              <a:off x="3984" y="3504"/>
              <a:ext cx="1488" cy="53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</a:t>
              </a:r>
              <a:r>
                <a:rPr lang="zh-CN" altLang="en-US" sz="20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直流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工作点</a:t>
              </a:r>
            </a:p>
          </p:txBody>
        </p:sp>
      </p:grpSp>
      <p:sp>
        <p:nvSpPr>
          <p:cNvPr id="564307" name="椭圆 564306"/>
          <p:cNvSpPr/>
          <p:nvPr/>
        </p:nvSpPr>
        <p:spPr>
          <a:xfrm>
            <a:off x="5422901" y="5753100"/>
            <a:ext cx="74613" cy="76200"/>
          </a:xfrm>
          <a:prstGeom prst="ellipse">
            <a:avLst/>
          </a:prstGeom>
          <a:solidFill>
            <a:srgbClr val="0000FF"/>
          </a:solidFill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08" name="椭圆 564307"/>
          <p:cNvSpPr/>
          <p:nvPr/>
        </p:nvSpPr>
        <p:spPr>
          <a:xfrm>
            <a:off x="2501901" y="3848100"/>
            <a:ext cx="74613" cy="76200"/>
          </a:xfrm>
          <a:prstGeom prst="ellipse">
            <a:avLst/>
          </a:prstGeom>
          <a:solidFill>
            <a:srgbClr val="0000FF"/>
          </a:solidFill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09" name="文本框 564308"/>
          <p:cNvSpPr txBox="1"/>
          <p:nvPr/>
        </p:nvSpPr>
        <p:spPr>
          <a:xfrm>
            <a:off x="3962400" y="4419600"/>
            <a:ext cx="3810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564310" name="直接连接符 564309"/>
          <p:cNvSpPr/>
          <p:nvPr/>
        </p:nvSpPr>
        <p:spPr>
          <a:xfrm>
            <a:off x="6989763" y="3146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1" name="椭圆 564310"/>
          <p:cNvSpPr/>
          <p:nvPr/>
        </p:nvSpPr>
        <p:spPr>
          <a:xfrm>
            <a:off x="6875463" y="3090864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12" name="矩形 564311"/>
          <p:cNvSpPr/>
          <p:nvPr/>
        </p:nvSpPr>
        <p:spPr>
          <a:xfrm>
            <a:off x="6762750" y="3090863"/>
            <a:ext cx="75342" cy="153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13" name="直接连接符 564312"/>
          <p:cNvSpPr/>
          <p:nvPr/>
        </p:nvSpPr>
        <p:spPr>
          <a:xfrm>
            <a:off x="6951663" y="2062164"/>
            <a:ext cx="76200" cy="1587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4" name="椭圆 564313"/>
          <p:cNvSpPr/>
          <p:nvPr/>
        </p:nvSpPr>
        <p:spPr>
          <a:xfrm>
            <a:off x="6837363" y="2006600"/>
            <a:ext cx="114300" cy="10953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15" name="矩形 564314"/>
          <p:cNvSpPr/>
          <p:nvPr/>
        </p:nvSpPr>
        <p:spPr>
          <a:xfrm>
            <a:off x="6724650" y="2006600"/>
            <a:ext cx="75342" cy="153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16" name="直接连接符 564315"/>
          <p:cNvSpPr/>
          <p:nvPr/>
        </p:nvSpPr>
        <p:spPr>
          <a:xfrm flipH="1">
            <a:off x="9074150" y="86677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7" name="椭圆 564316"/>
          <p:cNvSpPr/>
          <p:nvPr/>
        </p:nvSpPr>
        <p:spPr>
          <a:xfrm>
            <a:off x="9150351" y="811214"/>
            <a:ext cx="112713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18" name="直接连接符 564317"/>
          <p:cNvSpPr/>
          <p:nvPr/>
        </p:nvSpPr>
        <p:spPr>
          <a:xfrm flipH="1">
            <a:off x="9812338" y="3146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9" name="椭圆 564318"/>
          <p:cNvSpPr/>
          <p:nvPr/>
        </p:nvSpPr>
        <p:spPr>
          <a:xfrm>
            <a:off x="9888538" y="3090864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20" name="矩形 564319"/>
          <p:cNvSpPr/>
          <p:nvPr/>
        </p:nvSpPr>
        <p:spPr>
          <a:xfrm>
            <a:off x="10040938" y="3073400"/>
            <a:ext cx="75342" cy="153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21" name="直接连接符 564320"/>
          <p:cNvSpPr/>
          <p:nvPr/>
        </p:nvSpPr>
        <p:spPr>
          <a:xfrm flipH="1">
            <a:off x="9774238" y="1749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2" name="椭圆 564321"/>
          <p:cNvSpPr/>
          <p:nvPr/>
        </p:nvSpPr>
        <p:spPr>
          <a:xfrm>
            <a:off x="9850438" y="1693864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23" name="矩形 564322"/>
          <p:cNvSpPr/>
          <p:nvPr/>
        </p:nvSpPr>
        <p:spPr>
          <a:xfrm>
            <a:off x="10002838" y="1676400"/>
            <a:ext cx="75342" cy="153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24" name="直接连接符 564323"/>
          <p:cNvSpPr/>
          <p:nvPr/>
        </p:nvSpPr>
        <p:spPr>
          <a:xfrm>
            <a:off x="7312025" y="1970088"/>
            <a:ext cx="1588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5" name="直接连接符 564324"/>
          <p:cNvSpPr/>
          <p:nvPr/>
        </p:nvSpPr>
        <p:spPr>
          <a:xfrm>
            <a:off x="7386639" y="1970088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6" name="直接连接符 564325"/>
          <p:cNvSpPr/>
          <p:nvPr/>
        </p:nvSpPr>
        <p:spPr>
          <a:xfrm>
            <a:off x="7386638" y="2062164"/>
            <a:ext cx="5715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7" name="直接连接符 564326"/>
          <p:cNvSpPr/>
          <p:nvPr/>
        </p:nvSpPr>
        <p:spPr>
          <a:xfrm>
            <a:off x="7254875" y="2062164"/>
            <a:ext cx="5715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8" name="直接连接符 564327"/>
          <p:cNvSpPr/>
          <p:nvPr/>
        </p:nvSpPr>
        <p:spPr>
          <a:xfrm>
            <a:off x="7065963" y="2062164"/>
            <a:ext cx="188912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9" name="直接连接符 564328"/>
          <p:cNvSpPr/>
          <p:nvPr/>
        </p:nvSpPr>
        <p:spPr>
          <a:xfrm flipH="1">
            <a:off x="7443788" y="2062164"/>
            <a:ext cx="190500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0" name="直接连接符 564329"/>
          <p:cNvSpPr/>
          <p:nvPr/>
        </p:nvSpPr>
        <p:spPr>
          <a:xfrm flipH="1">
            <a:off x="8467726" y="1878014"/>
            <a:ext cx="188913" cy="128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1" name="直接连接符 564330"/>
          <p:cNvSpPr/>
          <p:nvPr/>
        </p:nvSpPr>
        <p:spPr>
          <a:xfrm>
            <a:off x="8467726" y="2116139"/>
            <a:ext cx="188913" cy="13017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2" name="直接连接符 564331"/>
          <p:cNvSpPr/>
          <p:nvPr/>
        </p:nvSpPr>
        <p:spPr>
          <a:xfrm>
            <a:off x="8467725" y="1878013"/>
            <a:ext cx="1588" cy="3683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3" name="直接连接符 564332"/>
          <p:cNvSpPr/>
          <p:nvPr/>
        </p:nvSpPr>
        <p:spPr>
          <a:xfrm flipH="1">
            <a:off x="8277225" y="2062164"/>
            <a:ext cx="1905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4" name="任意多边形 564333"/>
          <p:cNvSpPr/>
          <p:nvPr/>
        </p:nvSpPr>
        <p:spPr>
          <a:xfrm>
            <a:off x="8543926" y="2154239"/>
            <a:ext cx="112713" cy="92075"/>
          </a:xfrm>
          <a:custGeom>
            <a:avLst/>
            <a:gdLst/>
            <a:ahLst/>
            <a:cxnLst/>
            <a:rect l="0" t="0" r="0" b="0"/>
            <a:pathLst>
              <a:path w="71" h="58">
                <a:moveTo>
                  <a:pt x="71" y="58"/>
                </a:moveTo>
                <a:lnTo>
                  <a:pt x="23" y="0"/>
                </a:lnTo>
                <a:lnTo>
                  <a:pt x="0" y="34"/>
                </a:lnTo>
                <a:lnTo>
                  <a:pt x="71" y="58"/>
                </a:lnTo>
                <a:close/>
              </a:path>
            </a:pathLst>
          </a:custGeom>
          <a:solidFill>
            <a:srgbClr val="0000FF"/>
          </a:solidFill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35" name="直接连接符 564334"/>
          <p:cNvSpPr/>
          <p:nvPr/>
        </p:nvSpPr>
        <p:spPr>
          <a:xfrm>
            <a:off x="8656639" y="1693863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6" name="直接连接符 564335"/>
          <p:cNvSpPr/>
          <p:nvPr/>
        </p:nvSpPr>
        <p:spPr>
          <a:xfrm flipV="1">
            <a:off x="8656639" y="2246313"/>
            <a:ext cx="1587" cy="182562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7" name="直接连接符 564336"/>
          <p:cNvSpPr/>
          <p:nvPr/>
        </p:nvSpPr>
        <p:spPr>
          <a:xfrm>
            <a:off x="8088313" y="2062164"/>
            <a:ext cx="188912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8" name="直接连接符 564337"/>
          <p:cNvSpPr/>
          <p:nvPr/>
        </p:nvSpPr>
        <p:spPr>
          <a:xfrm>
            <a:off x="8580438" y="1143000"/>
            <a:ext cx="15240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9" name="直接连接符 564338"/>
          <p:cNvSpPr/>
          <p:nvPr/>
        </p:nvSpPr>
        <p:spPr>
          <a:xfrm>
            <a:off x="8732839" y="1143001"/>
            <a:ext cx="1587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0" name="直接连接符 564339"/>
          <p:cNvSpPr/>
          <p:nvPr/>
        </p:nvSpPr>
        <p:spPr>
          <a:xfrm flipH="1">
            <a:off x="8580438" y="1509714"/>
            <a:ext cx="1524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1" name="直接连接符 564340"/>
          <p:cNvSpPr/>
          <p:nvPr/>
        </p:nvSpPr>
        <p:spPr>
          <a:xfrm flipV="1">
            <a:off x="8580439" y="1143001"/>
            <a:ext cx="1587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2" name="直接连接符 564341"/>
          <p:cNvSpPr/>
          <p:nvPr/>
        </p:nvSpPr>
        <p:spPr>
          <a:xfrm>
            <a:off x="8656639" y="958850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3" name="直接连接符 564342"/>
          <p:cNvSpPr/>
          <p:nvPr/>
        </p:nvSpPr>
        <p:spPr>
          <a:xfrm flipV="1">
            <a:off x="8656639" y="1509713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4" name="直接连接符 564343"/>
          <p:cNvSpPr/>
          <p:nvPr/>
        </p:nvSpPr>
        <p:spPr>
          <a:xfrm>
            <a:off x="7689850" y="1235075"/>
            <a:ext cx="15240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5" name="直接连接符 564344"/>
          <p:cNvSpPr/>
          <p:nvPr/>
        </p:nvSpPr>
        <p:spPr>
          <a:xfrm>
            <a:off x="7842250" y="1235076"/>
            <a:ext cx="1588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6" name="直接连接符 564345"/>
          <p:cNvSpPr/>
          <p:nvPr/>
        </p:nvSpPr>
        <p:spPr>
          <a:xfrm flipH="1">
            <a:off x="7689850" y="1601789"/>
            <a:ext cx="1524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7" name="直接连接符 564346"/>
          <p:cNvSpPr/>
          <p:nvPr/>
        </p:nvSpPr>
        <p:spPr>
          <a:xfrm flipV="1">
            <a:off x="7689850" y="1235076"/>
            <a:ext cx="1588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8" name="直接连接符 564347"/>
          <p:cNvSpPr/>
          <p:nvPr/>
        </p:nvSpPr>
        <p:spPr>
          <a:xfrm>
            <a:off x="7766050" y="1050925"/>
            <a:ext cx="1588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9" name="直接连接符 564348"/>
          <p:cNvSpPr/>
          <p:nvPr/>
        </p:nvSpPr>
        <p:spPr>
          <a:xfrm flipV="1">
            <a:off x="7766050" y="1601788"/>
            <a:ext cx="1588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0" name="直接连接符 564349"/>
          <p:cNvSpPr/>
          <p:nvPr/>
        </p:nvSpPr>
        <p:spPr>
          <a:xfrm>
            <a:off x="9263064" y="1657350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1" name="直接连接符 564350"/>
          <p:cNvSpPr/>
          <p:nvPr/>
        </p:nvSpPr>
        <p:spPr>
          <a:xfrm>
            <a:off x="9339264" y="1657350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2" name="直接连接符 564351"/>
          <p:cNvSpPr/>
          <p:nvPr/>
        </p:nvSpPr>
        <p:spPr>
          <a:xfrm>
            <a:off x="9339263" y="1749425"/>
            <a:ext cx="5715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3" name="直接连接符 564352"/>
          <p:cNvSpPr/>
          <p:nvPr/>
        </p:nvSpPr>
        <p:spPr>
          <a:xfrm>
            <a:off x="9205913" y="1749425"/>
            <a:ext cx="5715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4" name="直接连接符 564353"/>
          <p:cNvSpPr/>
          <p:nvPr/>
        </p:nvSpPr>
        <p:spPr>
          <a:xfrm>
            <a:off x="9017001" y="1749425"/>
            <a:ext cx="188913" cy="1588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5" name="直接连接符 564354"/>
          <p:cNvSpPr/>
          <p:nvPr/>
        </p:nvSpPr>
        <p:spPr>
          <a:xfrm flipH="1">
            <a:off x="9396413" y="1749425"/>
            <a:ext cx="188912" cy="1588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6" name="直接连接符 564355"/>
          <p:cNvSpPr/>
          <p:nvPr/>
        </p:nvSpPr>
        <p:spPr>
          <a:xfrm>
            <a:off x="8467726" y="3311525"/>
            <a:ext cx="379413" cy="1588"/>
          </a:xfrm>
          <a:prstGeom prst="line">
            <a:avLst/>
          </a:prstGeom>
          <a:ln w="19050" cap="flat" cmpd="sng">
            <a:solidFill>
              <a:srgbClr val="0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7" name="矩形 564356"/>
          <p:cNvSpPr/>
          <p:nvPr/>
        </p:nvSpPr>
        <p:spPr>
          <a:xfrm>
            <a:off x="7689850" y="1235076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58" name="矩形 564357"/>
          <p:cNvSpPr/>
          <p:nvPr/>
        </p:nvSpPr>
        <p:spPr>
          <a:xfrm>
            <a:off x="8580438" y="1143001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59" name="矩形 564358"/>
          <p:cNvSpPr/>
          <p:nvPr/>
        </p:nvSpPr>
        <p:spPr>
          <a:xfrm>
            <a:off x="7689850" y="1235076"/>
            <a:ext cx="171450" cy="385763"/>
          </a:xfrm>
          <a:prstGeom prst="rect">
            <a:avLst/>
          </a:prstGeom>
          <a:solidFill>
            <a:srgbClr val="0080C0"/>
          </a:solidFill>
          <a:ln w="19050" cap="flat" cmpd="sng">
            <a:solidFill>
              <a:srgbClr val="0080C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0" name="矩形 564359"/>
          <p:cNvSpPr/>
          <p:nvPr/>
        </p:nvSpPr>
        <p:spPr>
          <a:xfrm>
            <a:off x="8580438" y="1143001"/>
            <a:ext cx="171450" cy="385763"/>
          </a:xfrm>
          <a:prstGeom prst="rect">
            <a:avLst/>
          </a:prstGeom>
          <a:solidFill>
            <a:srgbClr val="0080C0"/>
          </a:solidFill>
          <a:ln w="19050" cap="flat" cmpd="sng">
            <a:solidFill>
              <a:srgbClr val="0080C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1" name="矩形 564360"/>
          <p:cNvSpPr/>
          <p:nvPr/>
        </p:nvSpPr>
        <p:spPr>
          <a:xfrm>
            <a:off x="8580438" y="1143001"/>
            <a:ext cx="171450" cy="385763"/>
          </a:xfrm>
          <a:prstGeom prst="rect">
            <a:avLst/>
          </a:prstGeom>
          <a:solidFill>
            <a:srgbClr val="FFFF00"/>
          </a:solidFill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2" name="矩形 564361"/>
          <p:cNvSpPr/>
          <p:nvPr/>
        </p:nvSpPr>
        <p:spPr>
          <a:xfrm>
            <a:off x="8580438" y="1143001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3" name="矩形 564362"/>
          <p:cNvSpPr/>
          <p:nvPr/>
        </p:nvSpPr>
        <p:spPr>
          <a:xfrm>
            <a:off x="8580438" y="1143001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4" name="直接连接符 564363"/>
          <p:cNvSpPr/>
          <p:nvPr/>
        </p:nvSpPr>
        <p:spPr>
          <a:xfrm>
            <a:off x="7766050" y="1785939"/>
            <a:ext cx="1588" cy="276225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5" name="椭圆 564364"/>
          <p:cNvSpPr/>
          <p:nvPr/>
        </p:nvSpPr>
        <p:spPr>
          <a:xfrm>
            <a:off x="7727950" y="2025651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66" name="直接连接符 564365"/>
          <p:cNvSpPr/>
          <p:nvPr/>
        </p:nvSpPr>
        <p:spPr>
          <a:xfrm>
            <a:off x="7027863" y="2062164"/>
            <a:ext cx="38100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7" name="直接连接符 564366"/>
          <p:cNvSpPr/>
          <p:nvPr/>
        </p:nvSpPr>
        <p:spPr>
          <a:xfrm flipV="1">
            <a:off x="8656639" y="2428875"/>
            <a:ext cx="1587" cy="69850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8" name="直接连接符 564367"/>
          <p:cNvSpPr/>
          <p:nvPr/>
        </p:nvSpPr>
        <p:spPr>
          <a:xfrm>
            <a:off x="7766051" y="2062164"/>
            <a:ext cx="322263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9" name="直接连接符 564368"/>
          <p:cNvSpPr/>
          <p:nvPr/>
        </p:nvSpPr>
        <p:spPr>
          <a:xfrm>
            <a:off x="7634288" y="2062164"/>
            <a:ext cx="131762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0" name="直接连接符 564369"/>
          <p:cNvSpPr/>
          <p:nvPr/>
        </p:nvSpPr>
        <p:spPr>
          <a:xfrm>
            <a:off x="8656638" y="1749425"/>
            <a:ext cx="19050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1" name="椭圆 564370"/>
          <p:cNvSpPr/>
          <p:nvPr/>
        </p:nvSpPr>
        <p:spPr>
          <a:xfrm>
            <a:off x="8637588" y="1712914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72" name="直接连接符 564371"/>
          <p:cNvSpPr/>
          <p:nvPr/>
        </p:nvSpPr>
        <p:spPr>
          <a:xfrm>
            <a:off x="8656638" y="866775"/>
            <a:ext cx="417512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3" name="直接连接符 564372"/>
          <p:cNvSpPr/>
          <p:nvPr/>
        </p:nvSpPr>
        <p:spPr>
          <a:xfrm>
            <a:off x="8656639" y="3146425"/>
            <a:ext cx="1587" cy="16510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4" name="直接连接符 564373"/>
          <p:cNvSpPr/>
          <p:nvPr/>
        </p:nvSpPr>
        <p:spPr>
          <a:xfrm flipH="1">
            <a:off x="7065964" y="3146425"/>
            <a:ext cx="1590675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5" name="直接连接符 564374"/>
          <p:cNvSpPr/>
          <p:nvPr/>
        </p:nvSpPr>
        <p:spPr>
          <a:xfrm flipH="1">
            <a:off x="8656638" y="3146425"/>
            <a:ext cx="1155700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6" name="椭圆 564375"/>
          <p:cNvSpPr/>
          <p:nvPr/>
        </p:nvSpPr>
        <p:spPr>
          <a:xfrm>
            <a:off x="8618538" y="3109914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77" name="直接连接符 564376"/>
          <p:cNvSpPr/>
          <p:nvPr/>
        </p:nvSpPr>
        <p:spPr>
          <a:xfrm>
            <a:off x="8656639" y="866776"/>
            <a:ext cx="1587" cy="92075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8" name="椭圆 564377"/>
          <p:cNvSpPr/>
          <p:nvPr/>
        </p:nvSpPr>
        <p:spPr>
          <a:xfrm>
            <a:off x="8618538" y="830264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79" name="直接连接符 564378"/>
          <p:cNvSpPr/>
          <p:nvPr/>
        </p:nvSpPr>
        <p:spPr>
          <a:xfrm flipV="1">
            <a:off x="7766050" y="866775"/>
            <a:ext cx="1588" cy="18415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0" name="直接连接符 564379"/>
          <p:cNvSpPr/>
          <p:nvPr/>
        </p:nvSpPr>
        <p:spPr>
          <a:xfrm>
            <a:off x="7766050" y="866775"/>
            <a:ext cx="890588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1" name="直接连接符 564380"/>
          <p:cNvSpPr/>
          <p:nvPr/>
        </p:nvSpPr>
        <p:spPr>
          <a:xfrm>
            <a:off x="9585326" y="1749425"/>
            <a:ext cx="188913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2" name="直接连接符 564381"/>
          <p:cNvSpPr/>
          <p:nvPr/>
        </p:nvSpPr>
        <p:spPr>
          <a:xfrm>
            <a:off x="8675688" y="1749425"/>
            <a:ext cx="341312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3" name="矩形 564382"/>
          <p:cNvSpPr/>
          <p:nvPr/>
        </p:nvSpPr>
        <p:spPr>
          <a:xfrm>
            <a:off x="7140575" y="1565276"/>
            <a:ext cx="197170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4" name="矩形 564383"/>
          <p:cNvSpPr/>
          <p:nvPr/>
        </p:nvSpPr>
        <p:spPr>
          <a:xfrm>
            <a:off x="8240713" y="1014414"/>
            <a:ext cx="179536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5" name="矩形 564384"/>
          <p:cNvSpPr/>
          <p:nvPr/>
        </p:nvSpPr>
        <p:spPr>
          <a:xfrm>
            <a:off x="8410575" y="1143000"/>
            <a:ext cx="84960" cy="2308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6" name="矩形 564385"/>
          <p:cNvSpPr/>
          <p:nvPr/>
        </p:nvSpPr>
        <p:spPr>
          <a:xfrm>
            <a:off x="6932613" y="2668588"/>
            <a:ext cx="52900" cy="2308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7" name="矩形 564386"/>
          <p:cNvSpPr/>
          <p:nvPr/>
        </p:nvSpPr>
        <p:spPr>
          <a:xfrm>
            <a:off x="9756775" y="2190751"/>
            <a:ext cx="147476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8" name="矩形 564387"/>
          <p:cNvSpPr/>
          <p:nvPr/>
        </p:nvSpPr>
        <p:spPr>
          <a:xfrm>
            <a:off x="7331075" y="1693863"/>
            <a:ext cx="192360" cy="2308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89" name="矩形 564388"/>
          <p:cNvSpPr/>
          <p:nvPr/>
        </p:nvSpPr>
        <p:spPr>
          <a:xfrm>
            <a:off x="8732838" y="1951039"/>
            <a:ext cx="176330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T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0" name="矩形 564389"/>
          <p:cNvSpPr/>
          <p:nvPr/>
        </p:nvSpPr>
        <p:spPr>
          <a:xfrm>
            <a:off x="6780213" y="2465389"/>
            <a:ext cx="147476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1" name="矩形 564390"/>
          <p:cNvSpPr/>
          <p:nvPr/>
        </p:nvSpPr>
        <p:spPr>
          <a:xfrm>
            <a:off x="9793288" y="1914526"/>
            <a:ext cx="153888" cy="30777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2" name="矩形 564391"/>
          <p:cNvSpPr/>
          <p:nvPr/>
        </p:nvSpPr>
        <p:spPr>
          <a:xfrm>
            <a:off x="9296400" y="1905000"/>
            <a:ext cx="319088" cy="228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3" name="矩形 564392"/>
          <p:cNvSpPr/>
          <p:nvPr/>
        </p:nvSpPr>
        <p:spPr>
          <a:xfrm>
            <a:off x="9793288" y="2724151"/>
            <a:ext cx="176330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-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4" name="矩形 564393"/>
          <p:cNvSpPr/>
          <p:nvPr/>
        </p:nvSpPr>
        <p:spPr>
          <a:xfrm>
            <a:off x="9907588" y="2392363"/>
            <a:ext cx="96180" cy="2308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5" name="矩形 564394"/>
          <p:cNvSpPr/>
          <p:nvPr/>
        </p:nvSpPr>
        <p:spPr>
          <a:xfrm>
            <a:off x="9067801" y="1752600"/>
            <a:ext cx="195263" cy="3508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6" name="矩形 564395"/>
          <p:cNvSpPr/>
          <p:nvPr/>
        </p:nvSpPr>
        <p:spPr>
          <a:xfrm>
            <a:off x="6818313" y="2190751"/>
            <a:ext cx="153888" cy="30777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+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7" name="矩形 564396"/>
          <p:cNvSpPr/>
          <p:nvPr/>
        </p:nvSpPr>
        <p:spPr>
          <a:xfrm>
            <a:off x="6818313" y="2778126"/>
            <a:ext cx="176330" cy="353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-</a:t>
            </a:r>
            <a:endParaRPr lang="en-US" altLang="zh-CN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4398" name="文本框 564397"/>
          <p:cNvSpPr txBox="1"/>
          <p:nvPr/>
        </p:nvSpPr>
        <p:spPr>
          <a:xfrm>
            <a:off x="8610600" y="381001"/>
            <a:ext cx="16002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+12V</a:t>
            </a:r>
          </a:p>
        </p:txBody>
      </p:sp>
      <p:sp>
        <p:nvSpPr>
          <p:cNvPr id="564399" name="文本框 564398"/>
          <p:cNvSpPr txBox="1"/>
          <p:nvPr/>
        </p:nvSpPr>
        <p:spPr>
          <a:xfrm>
            <a:off x="6324600" y="990601"/>
            <a:ext cx="17526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300K</a:t>
            </a:r>
            <a:r>
              <a: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</a:p>
        </p:txBody>
      </p:sp>
      <p:sp>
        <p:nvSpPr>
          <p:cNvPr id="564400" name="文本框 564399"/>
          <p:cNvSpPr txBox="1"/>
          <p:nvPr/>
        </p:nvSpPr>
        <p:spPr>
          <a:xfrm>
            <a:off x="8839200" y="990601"/>
            <a:ext cx="14478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4K</a:t>
            </a:r>
            <a:r>
              <a:rPr lang="en-US" altLang="zh-CN" sz="2400" b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6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6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6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6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6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6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6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6" grpId="0"/>
      <p:bldP spid="564229" grpId="0"/>
      <p:bldP spid="564230" grpId="0"/>
      <p:bldP spid="564231" grpId="0"/>
      <p:bldP spid="564299" grpId="0"/>
      <p:bldP spid="564300" grpId="0"/>
      <p:bldP spid="56430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5" name="直接连接符 566274"/>
          <p:cNvSpPr/>
          <p:nvPr/>
        </p:nvSpPr>
        <p:spPr>
          <a:xfrm flipV="1">
            <a:off x="3440113" y="1898651"/>
            <a:ext cx="0" cy="27590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66276" name="直接连接符 566275"/>
          <p:cNvSpPr/>
          <p:nvPr/>
        </p:nvSpPr>
        <p:spPr>
          <a:xfrm flipV="1">
            <a:off x="3459163" y="4637088"/>
            <a:ext cx="1638300" cy="190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66277" name="文本框 566276"/>
          <p:cNvSpPr txBox="1"/>
          <p:nvPr/>
        </p:nvSpPr>
        <p:spPr>
          <a:xfrm>
            <a:off x="2895601" y="1354170"/>
            <a:ext cx="1374775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28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278" name="文本框 566277"/>
          <p:cNvSpPr txBox="1"/>
          <p:nvPr/>
        </p:nvSpPr>
        <p:spPr>
          <a:xfrm>
            <a:off x="5156466" y="4337082"/>
            <a:ext cx="702733" cy="525401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endParaRPr lang="en-US" altLang="zh-CN" sz="28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279" name="任意多边形 566278"/>
          <p:cNvSpPr/>
          <p:nvPr/>
        </p:nvSpPr>
        <p:spPr>
          <a:xfrm>
            <a:off x="3440113" y="2259014"/>
            <a:ext cx="1066800" cy="2378075"/>
          </a:xfrm>
          <a:custGeom>
            <a:avLst/>
            <a:gdLst/>
            <a:ahLst/>
            <a:cxnLst/>
            <a:rect l="0" t="0" r="0" b="0"/>
            <a:pathLst>
              <a:path w="1344" h="2280">
                <a:moveTo>
                  <a:pt x="0" y="2280"/>
                </a:moveTo>
                <a:cubicBezTo>
                  <a:pt x="174" y="2273"/>
                  <a:pt x="348" y="2266"/>
                  <a:pt x="456" y="2256"/>
                </a:cubicBezTo>
                <a:cubicBezTo>
                  <a:pt x="564" y="2246"/>
                  <a:pt x="574" y="2268"/>
                  <a:pt x="648" y="2220"/>
                </a:cubicBezTo>
                <a:cubicBezTo>
                  <a:pt x="722" y="2172"/>
                  <a:pt x="828" y="2120"/>
                  <a:pt x="900" y="1968"/>
                </a:cubicBezTo>
                <a:cubicBezTo>
                  <a:pt x="972" y="1816"/>
                  <a:pt x="1006" y="1636"/>
                  <a:pt x="1080" y="1308"/>
                </a:cubicBezTo>
                <a:cubicBezTo>
                  <a:pt x="1154" y="980"/>
                  <a:pt x="1289" y="272"/>
                  <a:pt x="1344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headEnd type="none" w="sm" len="sm"/>
            <a:tailEnd type="none" w="med" len="lg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80" name="椭圆 566279"/>
          <p:cNvSpPr/>
          <p:nvPr/>
        </p:nvSpPr>
        <p:spPr>
          <a:xfrm>
            <a:off x="4341813" y="2979738"/>
            <a:ext cx="114300" cy="133350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81" name="文本框 566280"/>
          <p:cNvSpPr txBox="1"/>
          <p:nvPr/>
        </p:nvSpPr>
        <p:spPr>
          <a:xfrm>
            <a:off x="4836766" y="2772779"/>
            <a:ext cx="500756" cy="58695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</a:p>
        </p:txBody>
      </p:sp>
      <p:sp>
        <p:nvSpPr>
          <p:cNvPr id="566282" name="直接连接符 566281"/>
          <p:cNvSpPr/>
          <p:nvPr/>
        </p:nvSpPr>
        <p:spPr>
          <a:xfrm>
            <a:off x="3351213" y="3068638"/>
            <a:ext cx="120015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6283" name="直接连接符 566282"/>
          <p:cNvSpPr/>
          <p:nvPr/>
        </p:nvSpPr>
        <p:spPr>
          <a:xfrm>
            <a:off x="4411663" y="3111500"/>
            <a:ext cx="0" cy="17145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566284" name="组合 566283"/>
          <p:cNvGrpSpPr/>
          <p:nvPr/>
        </p:nvGrpSpPr>
        <p:grpSpPr>
          <a:xfrm>
            <a:off x="4276727" y="4473576"/>
            <a:ext cx="996951" cy="1044575"/>
            <a:chOff x="1734" y="2818"/>
            <a:chExt cx="628" cy="658"/>
          </a:xfrm>
        </p:grpSpPr>
        <p:grpSp>
          <p:nvGrpSpPr>
            <p:cNvPr id="566285" name="组合 566284"/>
            <p:cNvGrpSpPr/>
            <p:nvPr/>
          </p:nvGrpSpPr>
          <p:grpSpPr>
            <a:xfrm rot="5400000">
              <a:off x="1645" y="3100"/>
              <a:ext cx="336" cy="158"/>
              <a:chOff x="1392" y="2218"/>
              <a:chExt cx="1824" cy="794"/>
            </a:xfrm>
          </p:grpSpPr>
          <p:sp>
            <p:nvSpPr>
              <p:cNvPr id="566286" name="任意多边形 566285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287" name="任意多边形 566286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6288" name="直接连接符 566287"/>
            <p:cNvSpPr/>
            <p:nvPr/>
          </p:nvSpPr>
          <p:spPr>
            <a:xfrm>
              <a:off x="1813" y="3008"/>
              <a:ext cx="0" cy="46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6289" name="直接连接符 566288"/>
            <p:cNvSpPr/>
            <p:nvPr/>
          </p:nvSpPr>
          <p:spPr>
            <a:xfrm>
              <a:off x="1765" y="2996"/>
              <a:ext cx="301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290" name="文本框 566289"/>
            <p:cNvSpPr txBox="1"/>
            <p:nvPr/>
          </p:nvSpPr>
          <p:spPr>
            <a:xfrm>
              <a:off x="2057" y="2818"/>
              <a:ext cx="305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291" name="组合 566290"/>
          <p:cNvGrpSpPr/>
          <p:nvPr/>
        </p:nvGrpSpPr>
        <p:grpSpPr>
          <a:xfrm>
            <a:off x="1524000" y="2484438"/>
            <a:ext cx="3162300" cy="1295400"/>
            <a:chOff x="0" y="1536"/>
            <a:chExt cx="1992" cy="816"/>
          </a:xfrm>
        </p:grpSpPr>
        <p:sp>
          <p:nvSpPr>
            <p:cNvPr id="566292" name="直接连接符 566291"/>
            <p:cNvSpPr/>
            <p:nvPr/>
          </p:nvSpPr>
          <p:spPr>
            <a:xfrm>
              <a:off x="192" y="1536"/>
              <a:ext cx="180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293" name="直接连接符 566292"/>
            <p:cNvSpPr/>
            <p:nvPr/>
          </p:nvSpPr>
          <p:spPr>
            <a:xfrm>
              <a:off x="168" y="2352"/>
              <a:ext cx="180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294" name="直接连接符 566293"/>
            <p:cNvSpPr/>
            <p:nvPr/>
          </p:nvSpPr>
          <p:spPr>
            <a:xfrm flipH="1" flipV="1">
              <a:off x="0" y="1896"/>
              <a:ext cx="1164" cy="1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66295" name="组合 566294"/>
          <p:cNvGrpSpPr/>
          <p:nvPr/>
        </p:nvGrpSpPr>
        <p:grpSpPr>
          <a:xfrm>
            <a:off x="1771650" y="1624014"/>
            <a:ext cx="819150" cy="2351087"/>
            <a:chOff x="156" y="1023"/>
            <a:chExt cx="516" cy="1481"/>
          </a:xfrm>
        </p:grpSpPr>
        <p:grpSp>
          <p:nvGrpSpPr>
            <p:cNvPr id="566296" name="组合 566295"/>
            <p:cNvGrpSpPr/>
            <p:nvPr/>
          </p:nvGrpSpPr>
          <p:grpSpPr>
            <a:xfrm>
              <a:off x="168" y="1528"/>
              <a:ext cx="504" cy="830"/>
              <a:chOff x="1392" y="2218"/>
              <a:chExt cx="1824" cy="794"/>
            </a:xfrm>
          </p:grpSpPr>
          <p:sp>
            <p:nvSpPr>
              <p:cNvPr id="566297" name="任意多边形 566296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298" name="任意多边形 566297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6299" name="直接连接符 566298"/>
            <p:cNvSpPr/>
            <p:nvPr/>
          </p:nvSpPr>
          <p:spPr>
            <a:xfrm flipV="1">
              <a:off x="156" y="1256"/>
              <a:ext cx="0" cy="124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00" name="文本框 566299"/>
            <p:cNvSpPr txBox="1"/>
            <p:nvPr/>
          </p:nvSpPr>
          <p:spPr>
            <a:xfrm>
              <a:off x="219" y="1023"/>
              <a:ext cx="282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301" name="组合 566300"/>
          <p:cNvGrpSpPr/>
          <p:nvPr/>
        </p:nvGrpSpPr>
        <p:grpSpPr>
          <a:xfrm>
            <a:off x="5829300" y="2584450"/>
            <a:ext cx="2514600" cy="971550"/>
            <a:chOff x="2712" y="1632"/>
            <a:chExt cx="1584" cy="612"/>
          </a:xfrm>
        </p:grpSpPr>
        <p:sp>
          <p:nvSpPr>
            <p:cNvPr id="566302" name="直接连接符 566301"/>
            <p:cNvSpPr/>
            <p:nvPr/>
          </p:nvSpPr>
          <p:spPr>
            <a:xfrm>
              <a:off x="2760" y="1632"/>
              <a:ext cx="15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03" name="直接连接符 566302"/>
            <p:cNvSpPr/>
            <p:nvPr/>
          </p:nvSpPr>
          <p:spPr>
            <a:xfrm>
              <a:off x="2712" y="2244"/>
              <a:ext cx="15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04" name="直接连接符 566303"/>
            <p:cNvSpPr/>
            <p:nvPr/>
          </p:nvSpPr>
          <p:spPr>
            <a:xfrm flipH="1">
              <a:off x="2784" y="1920"/>
              <a:ext cx="61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66305" name="组合 566304"/>
          <p:cNvGrpSpPr/>
          <p:nvPr/>
        </p:nvGrpSpPr>
        <p:grpSpPr>
          <a:xfrm>
            <a:off x="5905500" y="1844676"/>
            <a:ext cx="762000" cy="1920875"/>
            <a:chOff x="2760" y="1162"/>
            <a:chExt cx="480" cy="1210"/>
          </a:xfrm>
        </p:grpSpPr>
        <p:grpSp>
          <p:nvGrpSpPr>
            <p:cNvPr id="566306" name="组合 566305"/>
            <p:cNvGrpSpPr/>
            <p:nvPr/>
          </p:nvGrpSpPr>
          <p:grpSpPr>
            <a:xfrm>
              <a:off x="2771" y="1600"/>
              <a:ext cx="469" cy="656"/>
              <a:chOff x="1392" y="2218"/>
              <a:chExt cx="1824" cy="794"/>
            </a:xfrm>
          </p:grpSpPr>
          <p:sp>
            <p:nvSpPr>
              <p:cNvPr id="566307" name="任意多边形 566306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308" name="任意多边形 566307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6309" name="直接连接符 566308"/>
            <p:cNvSpPr/>
            <p:nvPr/>
          </p:nvSpPr>
          <p:spPr>
            <a:xfrm flipV="1">
              <a:off x="2760" y="1385"/>
              <a:ext cx="0" cy="98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10" name="文本框 566309"/>
            <p:cNvSpPr txBox="1"/>
            <p:nvPr/>
          </p:nvSpPr>
          <p:spPr>
            <a:xfrm>
              <a:off x="2819" y="1162"/>
              <a:ext cx="263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66311" name="文本框 566310"/>
          <p:cNvSpPr txBox="1"/>
          <p:nvPr/>
        </p:nvSpPr>
        <p:spPr>
          <a:xfrm>
            <a:off x="1524000" y="638176"/>
            <a:ext cx="92202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放大电路在接入正弦信号时的工作情况（设输出空载）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312" name="文本框 566311"/>
          <p:cNvSpPr txBox="1"/>
          <p:nvPr/>
        </p:nvSpPr>
        <p:spPr>
          <a:xfrm>
            <a:off x="1828800" y="5638800"/>
            <a:ext cx="4572000" cy="83185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假设在静态工作点的基础上，输入一微小的正弦信号 </a:t>
            </a:r>
            <a:r>
              <a:rPr lang="en-US" altLang="zh-CN" sz="2400" b="1" i="1" err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2400" b="1" baseline="-2500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6313" name="组合 566312"/>
          <p:cNvGrpSpPr/>
          <p:nvPr/>
        </p:nvGrpSpPr>
        <p:grpSpPr>
          <a:xfrm>
            <a:off x="8909050" y="1851026"/>
            <a:ext cx="1739900" cy="1838325"/>
            <a:chOff x="4652" y="1166"/>
            <a:chExt cx="1096" cy="1158"/>
          </a:xfrm>
        </p:grpSpPr>
        <p:sp>
          <p:nvSpPr>
            <p:cNvPr id="566314" name="直接连接符 566313"/>
            <p:cNvSpPr/>
            <p:nvPr/>
          </p:nvSpPr>
          <p:spPr>
            <a:xfrm>
              <a:off x="4884" y="1900"/>
              <a:ext cx="86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66315" name="组合 566314"/>
            <p:cNvGrpSpPr/>
            <p:nvPr/>
          </p:nvGrpSpPr>
          <p:grpSpPr>
            <a:xfrm>
              <a:off x="4652" y="1166"/>
              <a:ext cx="808" cy="1158"/>
              <a:chOff x="4652" y="1166"/>
              <a:chExt cx="808" cy="1158"/>
            </a:xfrm>
          </p:grpSpPr>
          <p:grpSp>
            <p:nvGrpSpPr>
              <p:cNvPr id="566316" name="组合 566315"/>
              <p:cNvGrpSpPr/>
              <p:nvPr/>
            </p:nvGrpSpPr>
            <p:grpSpPr>
              <a:xfrm>
                <a:off x="4956" y="1591"/>
                <a:ext cx="504" cy="623"/>
                <a:chOff x="1392" y="2218"/>
                <a:chExt cx="1824" cy="794"/>
              </a:xfrm>
            </p:grpSpPr>
            <p:sp>
              <p:nvSpPr>
                <p:cNvPr id="566317" name="任意多边形 566316"/>
                <p:cNvSpPr/>
                <p:nvPr/>
              </p:nvSpPr>
              <p:spPr>
                <a:xfrm>
                  <a:off x="1392" y="2218"/>
                  <a:ext cx="912" cy="3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12" h="398">
                      <a:moveTo>
                        <a:pt x="0" y="398"/>
                      </a:moveTo>
                      <a:cubicBezTo>
                        <a:pt x="18" y="372"/>
                        <a:pt x="60" y="296"/>
                        <a:pt x="108" y="242"/>
                      </a:cubicBezTo>
                      <a:cubicBezTo>
                        <a:pt x="156" y="188"/>
                        <a:pt x="230" y="114"/>
                        <a:pt x="288" y="74"/>
                      </a:cubicBezTo>
                      <a:cubicBezTo>
                        <a:pt x="346" y="34"/>
                        <a:pt x="398" y="0"/>
                        <a:pt x="456" y="2"/>
                      </a:cubicBezTo>
                      <a:cubicBezTo>
                        <a:pt x="514" y="4"/>
                        <a:pt x="582" y="52"/>
                        <a:pt x="636" y="86"/>
                      </a:cubicBezTo>
                      <a:cubicBezTo>
                        <a:pt x="690" y="120"/>
                        <a:pt x="734" y="154"/>
                        <a:pt x="780" y="206"/>
                      </a:cubicBezTo>
                      <a:cubicBezTo>
                        <a:pt x="826" y="258"/>
                        <a:pt x="884" y="358"/>
                        <a:pt x="912" y="39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6318" name="任意多边形 566317"/>
                <p:cNvSpPr/>
                <p:nvPr/>
              </p:nvSpPr>
              <p:spPr>
                <a:xfrm flipV="1">
                  <a:off x="2304" y="2614"/>
                  <a:ext cx="912" cy="3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12" h="398">
                      <a:moveTo>
                        <a:pt x="0" y="398"/>
                      </a:moveTo>
                      <a:cubicBezTo>
                        <a:pt x="18" y="372"/>
                        <a:pt x="60" y="296"/>
                        <a:pt x="108" y="242"/>
                      </a:cubicBezTo>
                      <a:cubicBezTo>
                        <a:pt x="156" y="188"/>
                        <a:pt x="230" y="114"/>
                        <a:pt x="288" y="74"/>
                      </a:cubicBezTo>
                      <a:cubicBezTo>
                        <a:pt x="346" y="34"/>
                        <a:pt x="398" y="0"/>
                        <a:pt x="456" y="2"/>
                      </a:cubicBezTo>
                      <a:cubicBezTo>
                        <a:pt x="514" y="4"/>
                        <a:pt x="582" y="52"/>
                        <a:pt x="636" y="86"/>
                      </a:cubicBezTo>
                      <a:cubicBezTo>
                        <a:pt x="690" y="120"/>
                        <a:pt x="734" y="154"/>
                        <a:pt x="780" y="206"/>
                      </a:cubicBezTo>
                      <a:cubicBezTo>
                        <a:pt x="826" y="258"/>
                        <a:pt x="884" y="358"/>
                        <a:pt x="912" y="39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66319" name="直接连接符 566318"/>
              <p:cNvSpPr/>
              <p:nvPr/>
            </p:nvSpPr>
            <p:spPr>
              <a:xfrm flipV="1">
                <a:off x="4944" y="1387"/>
                <a:ext cx="0" cy="937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6320" name="文本框 566319"/>
              <p:cNvSpPr txBox="1"/>
              <p:nvPr/>
            </p:nvSpPr>
            <p:spPr>
              <a:xfrm>
                <a:off x="5007" y="1166"/>
                <a:ext cx="282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b="1" i="1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566321" name="组合 566320"/>
              <p:cNvGrpSpPr/>
              <p:nvPr/>
            </p:nvGrpSpPr>
            <p:grpSpPr>
              <a:xfrm>
                <a:off x="4652" y="1604"/>
                <a:ext cx="665" cy="612"/>
                <a:chOff x="5040" y="1392"/>
                <a:chExt cx="720" cy="612"/>
              </a:xfrm>
            </p:grpSpPr>
            <p:sp>
              <p:nvSpPr>
                <p:cNvPr id="566322" name="直接连接符 566321"/>
                <p:cNvSpPr/>
                <p:nvPr/>
              </p:nvSpPr>
              <p:spPr>
                <a:xfrm flipH="1">
                  <a:off x="5040" y="1392"/>
                  <a:ext cx="444" cy="0"/>
                </a:xfrm>
                <a:prstGeom prst="line">
                  <a:avLst/>
                </a:prstGeom>
                <a:ln w="38100" cap="flat" cmpd="sng">
                  <a:solidFill>
                    <a:srgbClr val="FF7C8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66323" name="直接连接符 566322"/>
                <p:cNvSpPr/>
                <p:nvPr/>
              </p:nvSpPr>
              <p:spPr>
                <a:xfrm flipH="1">
                  <a:off x="5076" y="2004"/>
                  <a:ext cx="684" cy="0"/>
                </a:xfrm>
                <a:prstGeom prst="line">
                  <a:avLst/>
                </a:prstGeom>
                <a:ln w="38100" cap="flat" cmpd="sng">
                  <a:solidFill>
                    <a:srgbClr val="FF7C8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</p:grpSp>
      <p:sp>
        <p:nvSpPr>
          <p:cNvPr id="566324" name="文本框 566323"/>
          <p:cNvSpPr txBox="1"/>
          <p:nvPr/>
        </p:nvSpPr>
        <p:spPr>
          <a:xfrm>
            <a:off x="4495800" y="1447800"/>
            <a:ext cx="22685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静态工作点</a:t>
            </a:r>
            <a:endParaRPr lang="zh-CN" altLang="en-US" sz="2400" b="1">
              <a:solidFill>
                <a:srgbClr val="CC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6325" name="组合 566324"/>
          <p:cNvGrpSpPr/>
          <p:nvPr/>
        </p:nvGrpSpPr>
        <p:grpSpPr>
          <a:xfrm>
            <a:off x="6553200" y="1444626"/>
            <a:ext cx="3868738" cy="3375025"/>
            <a:chOff x="3168" y="910"/>
            <a:chExt cx="2437" cy="2126"/>
          </a:xfrm>
        </p:grpSpPr>
        <p:sp>
          <p:nvSpPr>
            <p:cNvPr id="566326" name="文本框 566325"/>
            <p:cNvSpPr txBox="1"/>
            <p:nvPr/>
          </p:nvSpPr>
          <p:spPr>
            <a:xfrm>
              <a:off x="3360" y="910"/>
              <a:ext cx="386" cy="33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8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6327" name="文本框 566326"/>
            <p:cNvSpPr txBox="1"/>
            <p:nvPr/>
          </p:nvSpPr>
          <p:spPr>
            <a:xfrm>
              <a:off x="5154" y="2686"/>
              <a:ext cx="451" cy="3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6328" name="组合 566327"/>
            <p:cNvGrpSpPr/>
            <p:nvPr/>
          </p:nvGrpSpPr>
          <p:grpSpPr>
            <a:xfrm>
              <a:off x="3297" y="992"/>
              <a:ext cx="1901" cy="1896"/>
              <a:chOff x="3180" y="1585"/>
              <a:chExt cx="1584" cy="1896"/>
            </a:xfrm>
          </p:grpSpPr>
          <p:sp>
            <p:nvSpPr>
              <p:cNvPr id="566329" name="直接连接符 566328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66330" name="组合 566329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66331" name="直接连接符 566330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66332" name="组合 566331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66333" name="任意多边形 566332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6334" name="任意多边形 566333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6335" name="任意多边形 566334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6336" name="任意多边形 566335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6337" name="任意多边形 566336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6338" name="任意多边形 566337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566339" name="椭圆 566338"/>
            <p:cNvSpPr/>
            <p:nvPr/>
          </p:nvSpPr>
          <p:spPr>
            <a:xfrm>
              <a:off x="3936" y="1920"/>
              <a:ext cx="87" cy="84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6340" name="直接连接符 566339"/>
            <p:cNvSpPr/>
            <p:nvPr/>
          </p:nvSpPr>
          <p:spPr>
            <a:xfrm>
              <a:off x="3984" y="1872"/>
              <a:ext cx="0" cy="116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41" name="直接连接符 566340"/>
            <p:cNvSpPr/>
            <p:nvPr/>
          </p:nvSpPr>
          <p:spPr>
            <a:xfrm>
              <a:off x="3168" y="1920"/>
              <a:ext cx="100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42" name="直接连接符 566341"/>
            <p:cNvSpPr/>
            <p:nvPr/>
          </p:nvSpPr>
          <p:spPr>
            <a:xfrm>
              <a:off x="3312" y="1200"/>
              <a:ext cx="1536" cy="172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66343" name="组合 566342"/>
          <p:cNvGrpSpPr/>
          <p:nvPr/>
        </p:nvGrpSpPr>
        <p:grpSpPr>
          <a:xfrm>
            <a:off x="7085015" y="4805365"/>
            <a:ext cx="1979613" cy="960438"/>
            <a:chOff x="3503" y="3027"/>
            <a:chExt cx="1247" cy="605"/>
          </a:xfrm>
        </p:grpSpPr>
        <p:grpSp>
          <p:nvGrpSpPr>
            <p:cNvPr id="566344" name="组合 566343"/>
            <p:cNvGrpSpPr/>
            <p:nvPr/>
          </p:nvGrpSpPr>
          <p:grpSpPr>
            <a:xfrm rot="-5400000" flipH="1">
              <a:off x="3716" y="3124"/>
              <a:ext cx="516" cy="499"/>
              <a:chOff x="1392" y="2218"/>
              <a:chExt cx="1824" cy="794"/>
            </a:xfrm>
          </p:grpSpPr>
          <p:sp>
            <p:nvSpPr>
              <p:cNvPr id="566345" name="任意多边形 566344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346" name="任意多边形 566345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6347" name="直接连接符 566346"/>
            <p:cNvSpPr/>
            <p:nvPr/>
          </p:nvSpPr>
          <p:spPr>
            <a:xfrm rot="-5400000">
              <a:off x="3984" y="2620"/>
              <a:ext cx="12" cy="97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48" name="文本框 566347"/>
            <p:cNvSpPr txBox="1"/>
            <p:nvPr/>
          </p:nvSpPr>
          <p:spPr>
            <a:xfrm rot="5400000">
              <a:off x="4359" y="3048"/>
              <a:ext cx="411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349" name="组合 566348"/>
          <p:cNvGrpSpPr/>
          <p:nvPr/>
        </p:nvGrpSpPr>
        <p:grpSpPr>
          <a:xfrm>
            <a:off x="7400925" y="2393950"/>
            <a:ext cx="838200" cy="3448050"/>
            <a:chOff x="3696" y="1536"/>
            <a:chExt cx="528" cy="2172"/>
          </a:xfrm>
        </p:grpSpPr>
        <p:sp>
          <p:nvSpPr>
            <p:cNvPr id="566350" name="直接连接符 566349"/>
            <p:cNvSpPr/>
            <p:nvPr/>
          </p:nvSpPr>
          <p:spPr>
            <a:xfrm>
              <a:off x="3696" y="1536"/>
              <a:ext cx="0" cy="217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51" name="直接连接符 566350"/>
            <p:cNvSpPr/>
            <p:nvPr/>
          </p:nvSpPr>
          <p:spPr>
            <a:xfrm>
              <a:off x="4224" y="2160"/>
              <a:ext cx="0" cy="151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52" name="直接连接符 566351"/>
            <p:cNvSpPr/>
            <p:nvPr/>
          </p:nvSpPr>
          <p:spPr>
            <a:xfrm>
              <a:off x="3984" y="2784"/>
              <a:ext cx="0" cy="85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566353" name="矩形 566352"/>
          <p:cNvSpPr/>
          <p:nvPr/>
        </p:nvSpPr>
        <p:spPr>
          <a:xfrm>
            <a:off x="6934200" y="5943600"/>
            <a:ext cx="3352800" cy="685800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  <a:r>
              <a:rPr lang="en-US" altLang="zh-CN" sz="2800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zh-CN" altLang="en-US" sz="28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800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反相！</a:t>
            </a:r>
            <a:endParaRPr lang="zh-CN" altLang="en-US" sz="2800" b="1">
              <a:solidFill>
                <a:srgbClr val="660033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6355" name="文本框 566354"/>
          <p:cNvSpPr txBox="1"/>
          <p:nvPr/>
        </p:nvSpPr>
        <p:spPr>
          <a:xfrm>
            <a:off x="1524001" y="1"/>
            <a:ext cx="193516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交流分析：</a:t>
            </a:r>
            <a:endParaRPr lang="zh-CN" altLang="en-US" sz="2800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6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6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12" grpId="0" animBg="1"/>
      <p:bldP spid="5663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0" y="684213"/>
            <a:ext cx="5715000" cy="5129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3"/>
          <p:cNvGrpSpPr/>
          <p:nvPr/>
        </p:nvGrpSpPr>
        <p:grpSpPr>
          <a:xfrm>
            <a:off x="3446463" y="3673475"/>
            <a:ext cx="1038226" cy="1144588"/>
            <a:chOff x="1211" y="2314"/>
            <a:chExt cx="654" cy="721"/>
          </a:xfrm>
        </p:grpSpPr>
        <p:grpSp>
          <p:nvGrpSpPr>
            <p:cNvPr id="64515" name="Group 4"/>
            <p:cNvGrpSpPr/>
            <p:nvPr/>
          </p:nvGrpSpPr>
          <p:grpSpPr>
            <a:xfrm>
              <a:off x="1400" y="2877"/>
              <a:ext cx="336" cy="158"/>
              <a:chOff x="1392" y="2218"/>
              <a:chExt cx="1824" cy="794"/>
            </a:xfrm>
          </p:grpSpPr>
          <p:sp>
            <p:nvSpPr>
              <p:cNvPr id="64516" name="Freeform 5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17" name="Freeform 6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4518" name="Line 7"/>
            <p:cNvSpPr/>
            <p:nvPr/>
          </p:nvSpPr>
          <p:spPr>
            <a:xfrm rot="-5400000">
              <a:off x="1631" y="2722"/>
              <a:ext cx="0" cy="46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19" name="Line 8"/>
            <p:cNvSpPr/>
            <p:nvPr/>
          </p:nvSpPr>
          <p:spPr>
            <a:xfrm rot="-5400000">
              <a:off x="1235" y="2854"/>
              <a:ext cx="300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0" name="Text Box 9"/>
            <p:cNvSpPr txBox="1"/>
            <p:nvPr/>
          </p:nvSpPr>
          <p:spPr>
            <a:xfrm>
              <a:off x="1211" y="2314"/>
              <a:ext cx="305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5013325" y="2616201"/>
            <a:ext cx="971550" cy="1312863"/>
            <a:chOff x="2361" y="2122"/>
            <a:chExt cx="612" cy="827"/>
          </a:xfrm>
        </p:grpSpPr>
        <p:grpSp>
          <p:nvGrpSpPr>
            <p:cNvPr id="64522" name="Group 11"/>
            <p:cNvGrpSpPr/>
            <p:nvPr/>
          </p:nvGrpSpPr>
          <p:grpSpPr>
            <a:xfrm>
              <a:off x="2431" y="2497"/>
              <a:ext cx="350" cy="237"/>
              <a:chOff x="1392" y="2218"/>
              <a:chExt cx="1824" cy="794"/>
            </a:xfrm>
          </p:grpSpPr>
          <p:sp>
            <p:nvSpPr>
              <p:cNvPr id="64523" name="Freeform 12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24" name="Freeform 13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4525" name="Line 14"/>
            <p:cNvSpPr/>
            <p:nvPr/>
          </p:nvSpPr>
          <p:spPr>
            <a:xfrm flipV="1">
              <a:off x="2422" y="2448"/>
              <a:ext cx="0" cy="5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6" name="Line 15"/>
            <p:cNvSpPr/>
            <p:nvPr/>
          </p:nvSpPr>
          <p:spPr>
            <a:xfrm flipV="1">
              <a:off x="2422" y="2889"/>
              <a:ext cx="551" cy="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7" name="Text Box 16"/>
            <p:cNvSpPr txBox="1"/>
            <p:nvPr/>
          </p:nvSpPr>
          <p:spPr>
            <a:xfrm>
              <a:off x="2361" y="2122"/>
              <a:ext cx="301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7010400" y="396876"/>
            <a:ext cx="3143250" cy="1482725"/>
            <a:chOff x="3456" y="250"/>
            <a:chExt cx="1980" cy="934"/>
          </a:xfrm>
        </p:grpSpPr>
        <p:grpSp>
          <p:nvGrpSpPr>
            <p:cNvPr id="64529" name="Group 18"/>
            <p:cNvGrpSpPr/>
            <p:nvPr/>
          </p:nvGrpSpPr>
          <p:grpSpPr>
            <a:xfrm>
              <a:off x="4839" y="599"/>
              <a:ext cx="412" cy="258"/>
              <a:chOff x="1392" y="2218"/>
              <a:chExt cx="1824" cy="794"/>
            </a:xfrm>
          </p:grpSpPr>
          <p:sp>
            <p:nvSpPr>
              <p:cNvPr id="64530" name="Freeform 19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31" name="Freeform 20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4532" name="Line 21"/>
            <p:cNvSpPr/>
            <p:nvPr/>
          </p:nvSpPr>
          <p:spPr>
            <a:xfrm flipV="1">
              <a:off x="4829" y="557"/>
              <a:ext cx="0" cy="434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33" name="Line 22"/>
            <p:cNvSpPr/>
            <p:nvPr/>
          </p:nvSpPr>
          <p:spPr>
            <a:xfrm flipV="1">
              <a:off x="4829" y="939"/>
              <a:ext cx="607" cy="1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34" name="Text Box 23"/>
            <p:cNvSpPr txBox="1"/>
            <p:nvPr/>
          </p:nvSpPr>
          <p:spPr>
            <a:xfrm>
              <a:off x="4774" y="250"/>
              <a:ext cx="310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4535" name="Line 24"/>
            <p:cNvSpPr/>
            <p:nvPr/>
          </p:nvSpPr>
          <p:spPr>
            <a:xfrm flipH="1">
              <a:off x="3456" y="864"/>
              <a:ext cx="1152" cy="320"/>
            </a:xfrm>
            <a:prstGeom prst="line">
              <a:avLst/>
            </a:prstGeom>
            <a:ln w="762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25"/>
          <p:cNvGrpSpPr/>
          <p:nvPr/>
        </p:nvGrpSpPr>
        <p:grpSpPr>
          <a:xfrm>
            <a:off x="6642101" y="3140076"/>
            <a:ext cx="1127125" cy="1617663"/>
            <a:chOff x="3224" y="1978"/>
            <a:chExt cx="710" cy="1019"/>
          </a:xfrm>
        </p:grpSpPr>
        <p:grpSp>
          <p:nvGrpSpPr>
            <p:cNvPr id="64537" name="Group 26"/>
            <p:cNvGrpSpPr/>
            <p:nvPr/>
          </p:nvGrpSpPr>
          <p:grpSpPr>
            <a:xfrm flipV="1">
              <a:off x="3392" y="2365"/>
              <a:ext cx="374" cy="393"/>
              <a:chOff x="1392" y="2218"/>
              <a:chExt cx="1824" cy="794"/>
            </a:xfrm>
          </p:grpSpPr>
          <p:sp>
            <p:nvSpPr>
              <p:cNvPr id="64538" name="Freeform 27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39" name="Freeform 28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4540" name="Line 29"/>
            <p:cNvSpPr/>
            <p:nvPr/>
          </p:nvSpPr>
          <p:spPr>
            <a:xfrm flipV="1">
              <a:off x="3383" y="2304"/>
              <a:ext cx="0" cy="69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1" name="Line 30"/>
            <p:cNvSpPr/>
            <p:nvPr/>
          </p:nvSpPr>
          <p:spPr>
            <a:xfrm flipV="1">
              <a:off x="3383" y="2901"/>
              <a:ext cx="551" cy="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2" name="Text Box 31"/>
            <p:cNvSpPr txBox="1"/>
            <p:nvPr/>
          </p:nvSpPr>
          <p:spPr>
            <a:xfrm>
              <a:off x="3224" y="1978"/>
              <a:ext cx="497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0" name="Group 32"/>
          <p:cNvGrpSpPr/>
          <p:nvPr/>
        </p:nvGrpSpPr>
        <p:grpSpPr>
          <a:xfrm>
            <a:off x="8321676" y="2987676"/>
            <a:ext cx="1050925" cy="1876425"/>
            <a:chOff x="4282" y="1882"/>
            <a:chExt cx="662" cy="1182"/>
          </a:xfrm>
        </p:grpSpPr>
        <p:grpSp>
          <p:nvGrpSpPr>
            <p:cNvPr id="64544" name="Group 33"/>
            <p:cNvGrpSpPr/>
            <p:nvPr/>
          </p:nvGrpSpPr>
          <p:grpSpPr>
            <a:xfrm flipV="1">
              <a:off x="4479" y="2445"/>
              <a:ext cx="348" cy="590"/>
              <a:chOff x="1392" y="2218"/>
              <a:chExt cx="1824" cy="794"/>
            </a:xfrm>
          </p:grpSpPr>
          <p:sp>
            <p:nvSpPr>
              <p:cNvPr id="64545" name="Freeform 34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46" name="Freeform 35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4547" name="Line 36"/>
            <p:cNvSpPr/>
            <p:nvPr/>
          </p:nvSpPr>
          <p:spPr>
            <a:xfrm rot="-5400000">
              <a:off x="4710" y="2494"/>
              <a:ext cx="0" cy="46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8" name="Line 37"/>
            <p:cNvSpPr/>
            <p:nvPr/>
          </p:nvSpPr>
          <p:spPr>
            <a:xfrm rot="5400000" flipH="1">
              <a:off x="4092" y="2680"/>
              <a:ext cx="76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9" name="Text Box 38"/>
            <p:cNvSpPr txBox="1"/>
            <p:nvPr/>
          </p:nvSpPr>
          <p:spPr>
            <a:xfrm>
              <a:off x="4282" y="1882"/>
              <a:ext cx="34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4550" name="Text Box 39"/>
          <p:cNvSpPr txBox="1"/>
          <p:nvPr/>
        </p:nvSpPr>
        <p:spPr>
          <a:xfrm>
            <a:off x="2226872" y="548691"/>
            <a:ext cx="1823233" cy="58695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各点波形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80" name="Text Box 40"/>
          <p:cNvSpPr txBox="1"/>
          <p:nvPr/>
        </p:nvSpPr>
        <p:spPr>
          <a:xfrm>
            <a:off x="4656139" y="6021389"/>
            <a:ext cx="4865687" cy="528637"/>
          </a:xfrm>
          <a:prstGeom prst="rect">
            <a:avLst/>
          </a:prstGeom>
          <a:noFill/>
          <a:ln w="9525" cap="flat" cmpd="sng">
            <a:solidFill>
              <a:srgbClr val="00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比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幅度放大且相位相反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文本框 567297"/>
          <p:cNvSpPr txBox="1"/>
          <p:nvPr/>
        </p:nvSpPr>
        <p:spPr>
          <a:xfrm>
            <a:off x="1905000" y="228601"/>
            <a:ext cx="4343400" cy="95410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结论：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）放大电路中的信号是交直流共存，可表示成：</a:t>
            </a:r>
            <a:endParaRPr lang="zh-CN" altLang="en-US" sz="2400" b="1">
              <a:solidFill>
                <a:srgbClr val="393939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graphicFrame>
        <p:nvGraphicFramePr>
          <p:cNvPr id="567299" name="对象 567298"/>
          <p:cNvGraphicFramePr/>
          <p:nvPr/>
        </p:nvGraphicFramePr>
        <p:xfrm>
          <a:off x="2689226" y="1371601"/>
          <a:ext cx="2392363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914400" progId="Equation.DSMT4">
                  <p:embed/>
                </p:oleObj>
              </mc:Choice>
              <mc:Fallback>
                <p:oleObj r:id="rId2" imgW="914400" imgH="914400" progId="Equation.DSMT4">
                  <p:embed/>
                  <p:pic>
                    <p:nvPicPr>
                      <p:cNvPr id="567299" name="对象 5672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89226" y="1371601"/>
                        <a:ext cx="2392363" cy="239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00" name="文本框 567299"/>
          <p:cNvSpPr txBox="1"/>
          <p:nvPr/>
        </p:nvSpPr>
        <p:spPr>
          <a:xfrm>
            <a:off x="1981200" y="3886201"/>
            <a:ext cx="39624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虽然交流量可正负变化，但瞬时量方向始终不变</a:t>
            </a:r>
            <a:endParaRPr lang="zh-CN" altLang="en-US" sz="2400" b="1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7301" name="文本框 567300"/>
          <p:cNvSpPr txBox="1"/>
          <p:nvPr/>
        </p:nvSpPr>
        <p:spPr>
          <a:xfrm>
            <a:off x="1676400" y="5029201"/>
            <a:ext cx="464820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）输出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与输入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相比，幅度被放大了，频率不变，但相位相反。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67302" name="组合 567301"/>
          <p:cNvGrpSpPr/>
          <p:nvPr/>
        </p:nvGrpSpPr>
        <p:grpSpPr>
          <a:xfrm>
            <a:off x="6629401" y="533400"/>
            <a:ext cx="3795713" cy="839788"/>
            <a:chOff x="3216" y="336"/>
            <a:chExt cx="2391" cy="529"/>
          </a:xfrm>
        </p:grpSpPr>
        <p:grpSp>
          <p:nvGrpSpPr>
            <p:cNvPr id="567303" name="组合 567302"/>
            <p:cNvGrpSpPr/>
            <p:nvPr/>
          </p:nvGrpSpPr>
          <p:grpSpPr>
            <a:xfrm>
              <a:off x="3216" y="336"/>
              <a:ext cx="2391" cy="529"/>
              <a:chOff x="3216" y="336"/>
              <a:chExt cx="2391" cy="529"/>
            </a:xfrm>
          </p:grpSpPr>
          <p:sp>
            <p:nvSpPr>
              <p:cNvPr id="567304" name="直接连接符 567303"/>
              <p:cNvSpPr/>
              <p:nvPr/>
            </p:nvSpPr>
            <p:spPr>
              <a:xfrm>
                <a:off x="3504" y="768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5" name="直接连接符 567304"/>
              <p:cNvSpPr/>
              <p:nvPr/>
            </p:nvSpPr>
            <p:spPr>
              <a:xfrm flipV="1">
                <a:off x="3504" y="432"/>
                <a:ext cx="0" cy="36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6" name="文本框 567305"/>
              <p:cNvSpPr txBox="1"/>
              <p:nvPr/>
            </p:nvSpPr>
            <p:spPr>
              <a:xfrm>
                <a:off x="3216" y="336"/>
                <a:ext cx="26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endParaRPr lang="en-US" altLang="zh-CN" sz="2000" b="1">
                  <a:solidFill>
                    <a:srgbClr val="393939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07" name="文本框 567306"/>
              <p:cNvSpPr txBox="1"/>
              <p:nvPr/>
            </p:nvSpPr>
            <p:spPr>
              <a:xfrm>
                <a:off x="5412" y="615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</p:grpSp>
        <p:sp>
          <p:nvSpPr>
            <p:cNvPr id="567308" name="任意多边形 567307"/>
            <p:cNvSpPr/>
            <p:nvPr/>
          </p:nvSpPr>
          <p:spPr>
            <a:xfrm>
              <a:off x="3504" y="672"/>
              <a:ext cx="1650" cy="192"/>
            </a:xfrm>
            <a:custGeom>
              <a:avLst/>
              <a:gdLst/>
              <a:ahLst/>
              <a:cxnLst/>
              <a:rect l="0" t="0" r="0" b="0"/>
              <a:pathLst>
                <a:path w="1650" h="289">
                  <a:moveTo>
                    <a:pt x="0" y="141"/>
                  </a:moveTo>
                  <a:cubicBezTo>
                    <a:pt x="44" y="93"/>
                    <a:pt x="100" y="47"/>
                    <a:pt x="133" y="27"/>
                  </a:cubicBezTo>
                  <a:cubicBezTo>
                    <a:pt x="166" y="7"/>
                    <a:pt x="179" y="21"/>
                    <a:pt x="201" y="21"/>
                  </a:cubicBezTo>
                  <a:cubicBezTo>
                    <a:pt x="223" y="21"/>
                    <a:pt x="233" y="7"/>
                    <a:pt x="266" y="27"/>
                  </a:cubicBezTo>
                  <a:cubicBezTo>
                    <a:pt x="299" y="47"/>
                    <a:pt x="354" y="103"/>
                    <a:pt x="399" y="141"/>
                  </a:cubicBezTo>
                  <a:cubicBezTo>
                    <a:pt x="443" y="179"/>
                    <a:pt x="487" y="236"/>
                    <a:pt x="532" y="255"/>
                  </a:cubicBezTo>
                  <a:cubicBezTo>
                    <a:pt x="576" y="274"/>
                    <a:pt x="620" y="274"/>
                    <a:pt x="665" y="255"/>
                  </a:cubicBezTo>
                  <a:cubicBezTo>
                    <a:pt x="709" y="236"/>
                    <a:pt x="767" y="172"/>
                    <a:pt x="798" y="141"/>
                  </a:cubicBezTo>
                  <a:cubicBezTo>
                    <a:pt x="829" y="109"/>
                    <a:pt x="824" y="87"/>
                    <a:pt x="849" y="65"/>
                  </a:cubicBezTo>
                  <a:cubicBezTo>
                    <a:pt x="874" y="43"/>
                    <a:pt x="916" y="16"/>
                    <a:pt x="948" y="8"/>
                  </a:cubicBezTo>
                  <a:cubicBezTo>
                    <a:pt x="980" y="0"/>
                    <a:pt x="1011" y="5"/>
                    <a:pt x="1038" y="15"/>
                  </a:cubicBezTo>
                  <a:cubicBezTo>
                    <a:pt x="1065" y="25"/>
                    <a:pt x="1080" y="48"/>
                    <a:pt x="1110" y="72"/>
                  </a:cubicBezTo>
                  <a:cubicBezTo>
                    <a:pt x="1140" y="96"/>
                    <a:pt x="1179" y="127"/>
                    <a:pt x="1218" y="157"/>
                  </a:cubicBezTo>
                  <a:cubicBezTo>
                    <a:pt x="1257" y="188"/>
                    <a:pt x="1305" y="236"/>
                    <a:pt x="1344" y="257"/>
                  </a:cubicBezTo>
                  <a:cubicBezTo>
                    <a:pt x="1383" y="279"/>
                    <a:pt x="1413" y="289"/>
                    <a:pt x="1452" y="286"/>
                  </a:cubicBezTo>
                  <a:cubicBezTo>
                    <a:pt x="1491" y="283"/>
                    <a:pt x="1546" y="259"/>
                    <a:pt x="1578" y="237"/>
                  </a:cubicBezTo>
                  <a:cubicBezTo>
                    <a:pt x="1610" y="215"/>
                    <a:pt x="1632" y="173"/>
                    <a:pt x="1641" y="157"/>
                  </a:cubicBezTo>
                  <a:cubicBezTo>
                    <a:pt x="1650" y="141"/>
                    <a:pt x="1633" y="146"/>
                    <a:pt x="1632" y="143"/>
                  </a:cubicBezTo>
                  <a:cubicBezTo>
                    <a:pt x="1631" y="140"/>
                    <a:pt x="1632" y="138"/>
                    <a:pt x="1632" y="136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7309" name="任意多边形 567308"/>
          <p:cNvSpPr/>
          <p:nvPr/>
        </p:nvSpPr>
        <p:spPr>
          <a:xfrm>
            <a:off x="7129464" y="3443288"/>
            <a:ext cx="2619375" cy="685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67310" name="组合 567309"/>
          <p:cNvGrpSpPr/>
          <p:nvPr/>
        </p:nvGrpSpPr>
        <p:grpSpPr>
          <a:xfrm>
            <a:off x="6553201" y="1295401"/>
            <a:ext cx="3814763" cy="4130675"/>
            <a:chOff x="3168" y="816"/>
            <a:chExt cx="2403" cy="2602"/>
          </a:xfrm>
        </p:grpSpPr>
        <p:grpSp>
          <p:nvGrpSpPr>
            <p:cNvPr id="567311" name="组合 567310"/>
            <p:cNvGrpSpPr/>
            <p:nvPr/>
          </p:nvGrpSpPr>
          <p:grpSpPr>
            <a:xfrm>
              <a:off x="3168" y="816"/>
              <a:ext cx="2403" cy="730"/>
              <a:chOff x="3168" y="816"/>
              <a:chExt cx="2403" cy="730"/>
            </a:xfrm>
          </p:grpSpPr>
          <p:sp>
            <p:nvSpPr>
              <p:cNvPr id="567312" name="直接连接符 567311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3" name="直接连接符 567312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4" name="文本框 567313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BE</a:t>
                </a:r>
                <a:endParaRPr lang="en-US" altLang="zh-CN" sz="20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15" name="文本框 567314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16" name="直接连接符 567315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17" name="组合 567316"/>
            <p:cNvGrpSpPr/>
            <p:nvPr/>
          </p:nvGrpSpPr>
          <p:grpSpPr>
            <a:xfrm>
              <a:off x="3168" y="1392"/>
              <a:ext cx="2403" cy="730"/>
              <a:chOff x="3168" y="816"/>
              <a:chExt cx="2403" cy="730"/>
            </a:xfrm>
          </p:grpSpPr>
          <p:sp>
            <p:nvSpPr>
              <p:cNvPr id="567318" name="直接连接符 567317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9" name="直接连接符 567318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0" name="文本框 567319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r>
                  <a:rPr lang="en-US" altLang="zh-CN" sz="2000" b="1" baseline="-25000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567321" name="文本框 567320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22" name="直接连接符 567321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23" name="组合 567322"/>
            <p:cNvGrpSpPr/>
            <p:nvPr/>
          </p:nvGrpSpPr>
          <p:grpSpPr>
            <a:xfrm>
              <a:off x="3168" y="2016"/>
              <a:ext cx="2403" cy="730"/>
              <a:chOff x="3168" y="816"/>
              <a:chExt cx="2403" cy="730"/>
            </a:xfrm>
          </p:grpSpPr>
          <p:sp>
            <p:nvSpPr>
              <p:cNvPr id="567324" name="直接连接符 567323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5" name="直接连接符 567324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6" name="文本框 567325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r>
                  <a:rPr lang="en-US" altLang="zh-CN" sz="2000" b="1" baseline="-25000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C</a:t>
                </a:r>
                <a:endParaRPr lang="en-US" altLang="zh-CN" sz="20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27" name="文本框 567326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28" name="直接连接符 567327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29" name="组合 567328"/>
            <p:cNvGrpSpPr/>
            <p:nvPr/>
          </p:nvGrpSpPr>
          <p:grpSpPr>
            <a:xfrm>
              <a:off x="3168" y="2688"/>
              <a:ext cx="2403" cy="730"/>
              <a:chOff x="3168" y="816"/>
              <a:chExt cx="2403" cy="730"/>
            </a:xfrm>
          </p:grpSpPr>
          <p:sp>
            <p:nvSpPr>
              <p:cNvPr id="567330" name="直接连接符 567329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31" name="直接连接符 567330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32" name="文本框 567331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CE</a:t>
                </a:r>
                <a:endParaRPr lang="en-US" altLang="zh-CN" sz="20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33" name="文本框 567332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34" name="直接连接符 567333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567335" name="任意多边形 567334"/>
          <p:cNvSpPr/>
          <p:nvPr/>
        </p:nvSpPr>
        <p:spPr>
          <a:xfrm>
            <a:off x="7119939" y="1738313"/>
            <a:ext cx="2619375" cy="304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7336" name="任意多边形 567335"/>
          <p:cNvSpPr/>
          <p:nvPr/>
        </p:nvSpPr>
        <p:spPr>
          <a:xfrm>
            <a:off x="7143751" y="2633663"/>
            <a:ext cx="2619375" cy="304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7337" name="任意多边形 567336"/>
          <p:cNvSpPr/>
          <p:nvPr/>
        </p:nvSpPr>
        <p:spPr>
          <a:xfrm>
            <a:off x="7086601" y="4492625"/>
            <a:ext cx="2625725" cy="687388"/>
          </a:xfrm>
          <a:custGeom>
            <a:avLst/>
            <a:gdLst/>
            <a:ahLst/>
            <a:cxnLst/>
            <a:rect l="0" t="0" r="0" b="0"/>
            <a:pathLst>
              <a:path w="1654" h="433">
                <a:moveTo>
                  <a:pt x="0" y="223"/>
                </a:moveTo>
                <a:cubicBezTo>
                  <a:pt x="44" y="295"/>
                  <a:pt x="99" y="361"/>
                  <a:pt x="133" y="394"/>
                </a:cubicBezTo>
                <a:cubicBezTo>
                  <a:pt x="167" y="427"/>
                  <a:pt x="182" y="419"/>
                  <a:pt x="204" y="419"/>
                </a:cubicBezTo>
                <a:cubicBezTo>
                  <a:pt x="226" y="419"/>
                  <a:pt x="234" y="427"/>
                  <a:pt x="266" y="394"/>
                </a:cubicBezTo>
                <a:cubicBezTo>
                  <a:pt x="298" y="361"/>
                  <a:pt x="354" y="280"/>
                  <a:pt x="399" y="223"/>
                </a:cubicBezTo>
                <a:cubicBezTo>
                  <a:pt x="444" y="166"/>
                  <a:pt x="493" y="78"/>
                  <a:pt x="537" y="50"/>
                </a:cubicBezTo>
                <a:cubicBezTo>
                  <a:pt x="581" y="22"/>
                  <a:pt x="622" y="24"/>
                  <a:pt x="665" y="53"/>
                </a:cubicBezTo>
                <a:cubicBezTo>
                  <a:pt x="708" y="82"/>
                  <a:pt x="761" y="174"/>
                  <a:pt x="798" y="223"/>
                </a:cubicBezTo>
                <a:cubicBezTo>
                  <a:pt x="835" y="272"/>
                  <a:pt x="863" y="314"/>
                  <a:pt x="888" y="347"/>
                </a:cubicBezTo>
                <a:cubicBezTo>
                  <a:pt x="913" y="380"/>
                  <a:pt x="923" y="411"/>
                  <a:pt x="948" y="422"/>
                </a:cubicBezTo>
                <a:cubicBezTo>
                  <a:pt x="973" y="433"/>
                  <a:pt x="1011" y="427"/>
                  <a:pt x="1038" y="412"/>
                </a:cubicBezTo>
                <a:cubicBezTo>
                  <a:pt x="1065" y="397"/>
                  <a:pt x="1080" y="362"/>
                  <a:pt x="1110" y="326"/>
                </a:cubicBezTo>
                <a:cubicBezTo>
                  <a:pt x="1140" y="290"/>
                  <a:pt x="1179" y="244"/>
                  <a:pt x="1218" y="199"/>
                </a:cubicBezTo>
                <a:cubicBezTo>
                  <a:pt x="1257" y="153"/>
                  <a:pt x="1305" y="81"/>
                  <a:pt x="1344" y="50"/>
                </a:cubicBezTo>
                <a:cubicBezTo>
                  <a:pt x="1383" y="17"/>
                  <a:pt x="1417" y="0"/>
                  <a:pt x="1452" y="6"/>
                </a:cubicBezTo>
                <a:cubicBezTo>
                  <a:pt x="1487" y="12"/>
                  <a:pt x="1522" y="54"/>
                  <a:pt x="1554" y="86"/>
                </a:cubicBezTo>
                <a:cubicBezTo>
                  <a:pt x="1586" y="118"/>
                  <a:pt x="1628" y="177"/>
                  <a:pt x="1641" y="199"/>
                </a:cubicBezTo>
                <a:cubicBezTo>
                  <a:pt x="1654" y="221"/>
                  <a:pt x="1633" y="216"/>
                  <a:pt x="1632" y="220"/>
                </a:cubicBezTo>
                <a:cubicBezTo>
                  <a:pt x="1631" y="225"/>
                  <a:pt x="1632" y="228"/>
                  <a:pt x="1632" y="231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67338" name="组合 567337"/>
          <p:cNvGrpSpPr/>
          <p:nvPr/>
        </p:nvGrpSpPr>
        <p:grpSpPr>
          <a:xfrm>
            <a:off x="6629401" y="5410201"/>
            <a:ext cx="3814763" cy="1033463"/>
            <a:chOff x="3216" y="3408"/>
            <a:chExt cx="2403" cy="651"/>
          </a:xfrm>
        </p:grpSpPr>
        <p:grpSp>
          <p:nvGrpSpPr>
            <p:cNvPr id="567339" name="组合 567338"/>
            <p:cNvGrpSpPr/>
            <p:nvPr/>
          </p:nvGrpSpPr>
          <p:grpSpPr>
            <a:xfrm>
              <a:off x="3216" y="3408"/>
              <a:ext cx="2403" cy="651"/>
              <a:chOff x="3216" y="3408"/>
              <a:chExt cx="2403" cy="651"/>
            </a:xfrm>
          </p:grpSpPr>
          <p:sp>
            <p:nvSpPr>
              <p:cNvPr id="567340" name="直接连接符 567339"/>
              <p:cNvSpPr/>
              <p:nvPr/>
            </p:nvSpPr>
            <p:spPr>
              <a:xfrm>
                <a:off x="3504" y="3792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41" name="直接连接符 567340"/>
              <p:cNvSpPr/>
              <p:nvPr/>
            </p:nvSpPr>
            <p:spPr>
              <a:xfrm flipH="1" flipV="1">
                <a:off x="3507" y="3456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42" name="文本框 567341"/>
              <p:cNvSpPr txBox="1"/>
              <p:nvPr/>
            </p:nvSpPr>
            <p:spPr>
              <a:xfrm>
                <a:off x="3216" y="3408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o</a:t>
                </a:r>
                <a:endParaRPr lang="en-US" altLang="zh-CN" sz="20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43" name="文本框 567342"/>
              <p:cNvSpPr txBox="1"/>
              <p:nvPr/>
            </p:nvSpPr>
            <p:spPr>
              <a:xfrm>
                <a:off x="5424" y="36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b="1" i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</p:grpSp>
        <p:sp>
          <p:nvSpPr>
            <p:cNvPr id="567344" name="任意多边形 567343"/>
            <p:cNvSpPr/>
            <p:nvPr/>
          </p:nvSpPr>
          <p:spPr>
            <a:xfrm>
              <a:off x="3537" y="3574"/>
              <a:ext cx="1654" cy="433"/>
            </a:xfrm>
            <a:custGeom>
              <a:avLst/>
              <a:gdLst/>
              <a:ahLst/>
              <a:cxnLst/>
              <a:rect l="0" t="0" r="0" b="0"/>
              <a:pathLst>
                <a:path w="1654" h="433">
                  <a:moveTo>
                    <a:pt x="0" y="223"/>
                  </a:moveTo>
                  <a:cubicBezTo>
                    <a:pt x="44" y="295"/>
                    <a:pt x="99" y="361"/>
                    <a:pt x="133" y="394"/>
                  </a:cubicBezTo>
                  <a:cubicBezTo>
                    <a:pt x="167" y="427"/>
                    <a:pt x="182" y="419"/>
                    <a:pt x="204" y="419"/>
                  </a:cubicBezTo>
                  <a:cubicBezTo>
                    <a:pt x="226" y="419"/>
                    <a:pt x="234" y="427"/>
                    <a:pt x="266" y="394"/>
                  </a:cubicBezTo>
                  <a:cubicBezTo>
                    <a:pt x="298" y="361"/>
                    <a:pt x="354" y="280"/>
                    <a:pt x="399" y="223"/>
                  </a:cubicBezTo>
                  <a:cubicBezTo>
                    <a:pt x="444" y="166"/>
                    <a:pt x="493" y="78"/>
                    <a:pt x="537" y="50"/>
                  </a:cubicBezTo>
                  <a:cubicBezTo>
                    <a:pt x="581" y="22"/>
                    <a:pt x="622" y="24"/>
                    <a:pt x="665" y="53"/>
                  </a:cubicBezTo>
                  <a:cubicBezTo>
                    <a:pt x="708" y="82"/>
                    <a:pt x="761" y="174"/>
                    <a:pt x="798" y="223"/>
                  </a:cubicBezTo>
                  <a:cubicBezTo>
                    <a:pt x="835" y="272"/>
                    <a:pt x="863" y="314"/>
                    <a:pt x="888" y="347"/>
                  </a:cubicBezTo>
                  <a:cubicBezTo>
                    <a:pt x="913" y="380"/>
                    <a:pt x="923" y="411"/>
                    <a:pt x="948" y="422"/>
                  </a:cubicBezTo>
                  <a:cubicBezTo>
                    <a:pt x="973" y="433"/>
                    <a:pt x="1011" y="427"/>
                    <a:pt x="1038" y="412"/>
                  </a:cubicBezTo>
                  <a:cubicBezTo>
                    <a:pt x="1065" y="397"/>
                    <a:pt x="1080" y="362"/>
                    <a:pt x="1110" y="326"/>
                  </a:cubicBezTo>
                  <a:cubicBezTo>
                    <a:pt x="1140" y="290"/>
                    <a:pt x="1179" y="244"/>
                    <a:pt x="1218" y="199"/>
                  </a:cubicBezTo>
                  <a:cubicBezTo>
                    <a:pt x="1257" y="153"/>
                    <a:pt x="1305" y="81"/>
                    <a:pt x="1344" y="50"/>
                  </a:cubicBezTo>
                  <a:cubicBezTo>
                    <a:pt x="1383" y="17"/>
                    <a:pt x="1417" y="0"/>
                    <a:pt x="1452" y="6"/>
                  </a:cubicBezTo>
                  <a:cubicBezTo>
                    <a:pt x="1487" y="12"/>
                    <a:pt x="1522" y="54"/>
                    <a:pt x="1554" y="86"/>
                  </a:cubicBezTo>
                  <a:cubicBezTo>
                    <a:pt x="1586" y="118"/>
                    <a:pt x="1628" y="177"/>
                    <a:pt x="1641" y="199"/>
                  </a:cubicBezTo>
                  <a:cubicBezTo>
                    <a:pt x="1654" y="221"/>
                    <a:pt x="1633" y="216"/>
                    <a:pt x="1632" y="220"/>
                  </a:cubicBezTo>
                  <a:cubicBezTo>
                    <a:pt x="1631" y="225"/>
                    <a:pt x="1632" y="228"/>
                    <a:pt x="1632" y="231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7345" name="文本框 567344"/>
          <p:cNvSpPr txBox="1"/>
          <p:nvPr/>
        </p:nvSpPr>
        <p:spPr>
          <a:xfrm>
            <a:off x="6591300" y="1628776"/>
            <a:ext cx="5842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</a:p>
        </p:txBody>
      </p:sp>
      <p:sp>
        <p:nvSpPr>
          <p:cNvPr id="567346" name="文本框 567345"/>
          <p:cNvSpPr txBox="1"/>
          <p:nvPr/>
        </p:nvSpPr>
        <p:spPr>
          <a:xfrm>
            <a:off x="6770688" y="2573338"/>
            <a:ext cx="450850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67347" name="文本框 567346"/>
          <p:cNvSpPr txBox="1"/>
          <p:nvPr/>
        </p:nvSpPr>
        <p:spPr>
          <a:xfrm>
            <a:off x="6772276" y="3563938"/>
            <a:ext cx="4937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567348" name="文本框 567347"/>
          <p:cNvSpPr txBox="1"/>
          <p:nvPr/>
        </p:nvSpPr>
        <p:spPr>
          <a:xfrm>
            <a:off x="6637338" y="4643438"/>
            <a:ext cx="584200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 animBg="1"/>
      <p:bldP spid="567300" grpId="0"/>
      <p:bldP spid="56730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2013" y="1400176"/>
            <a:ext cx="800100" cy="625475"/>
            <a:chOff x="2880" y="650"/>
            <a:chExt cx="504" cy="394"/>
          </a:xfrm>
        </p:grpSpPr>
        <p:sp>
          <p:nvSpPr>
            <p:cNvPr id="66562" name="Text Box 3"/>
            <p:cNvSpPr txBox="1"/>
            <p:nvPr/>
          </p:nvSpPr>
          <p:spPr>
            <a:xfrm>
              <a:off x="2892" y="650"/>
              <a:ext cx="492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563" name="Line 4"/>
            <p:cNvSpPr/>
            <p:nvPr/>
          </p:nvSpPr>
          <p:spPr>
            <a:xfrm flipH="1">
              <a:off x="2880" y="1044"/>
              <a:ext cx="4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70373" name="Text Box 5"/>
          <p:cNvSpPr txBox="1"/>
          <p:nvPr/>
        </p:nvSpPr>
        <p:spPr>
          <a:xfrm>
            <a:off x="7310438" y="4955592"/>
            <a:ext cx="14859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其中：</a:t>
            </a:r>
          </a:p>
        </p:txBody>
      </p:sp>
      <p:graphicFrame>
        <p:nvGraphicFramePr>
          <p:cNvPr id="570374" name="Object 6"/>
          <p:cNvGraphicFramePr/>
          <p:nvPr/>
        </p:nvGraphicFramePr>
        <p:xfrm>
          <a:off x="7369175" y="5661026"/>
          <a:ext cx="18732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99465" imgH="228600" progId="Equation.DSMT4">
                  <p:embed/>
                </p:oleObj>
              </mc:Choice>
              <mc:Fallback>
                <p:oleObj r:id="rId2" imgW="799465" imgH="228600" progId="Equation.DSMT4">
                  <p:embed/>
                  <p:pic>
                    <p:nvPicPr>
                      <p:cNvPr id="570374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69175" y="5661026"/>
                        <a:ext cx="18732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/>
          <p:nvPr/>
        </p:nvGrpSpPr>
        <p:grpSpPr>
          <a:xfrm>
            <a:off x="2590800" y="4953001"/>
            <a:ext cx="3798888" cy="1311275"/>
            <a:chOff x="372" y="3168"/>
            <a:chExt cx="2100" cy="826"/>
          </a:xfrm>
        </p:grpSpPr>
        <p:sp>
          <p:nvSpPr>
            <p:cNvPr id="66567" name="Text Box 8"/>
            <p:cNvSpPr txBox="1"/>
            <p:nvPr/>
          </p:nvSpPr>
          <p:spPr>
            <a:xfrm>
              <a:off x="372" y="3168"/>
              <a:ext cx="2100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- </a:t>
              </a: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//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- </a:t>
              </a: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</a:p>
          </p:txBody>
        </p:sp>
        <p:sp>
          <p:nvSpPr>
            <p:cNvPr id="66568" name="Line 9"/>
            <p:cNvSpPr/>
            <p:nvPr/>
          </p:nvSpPr>
          <p:spPr>
            <a:xfrm flipH="1">
              <a:off x="1500" y="3660"/>
              <a:ext cx="52" cy="6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66569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014" y="2079625"/>
            <a:ext cx="4217987" cy="1989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70" name="Text Box 11"/>
          <p:cNvSpPr txBox="1"/>
          <p:nvPr/>
        </p:nvSpPr>
        <p:spPr>
          <a:xfrm>
            <a:off x="1752600" y="228601"/>
            <a:ext cx="455453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交流负载线</a:t>
            </a:r>
          </a:p>
        </p:txBody>
      </p:sp>
      <p:pic>
        <p:nvPicPr>
          <p:cNvPr id="6657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863" y="1449388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0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2"/>
          <p:cNvSpPr txBox="1"/>
          <p:nvPr/>
        </p:nvSpPr>
        <p:spPr>
          <a:xfrm>
            <a:off x="1981200" y="301042"/>
            <a:ext cx="573405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交流量</a:t>
            </a:r>
            <a:r>
              <a:rPr lang="en-US" altLang="zh-CN" sz="32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32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ce</a:t>
            </a:r>
            <a:r>
              <a:rPr lang="zh-CN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有如下关系：</a:t>
            </a:r>
            <a:endParaRPr lang="zh-CN" altLang="en-US" sz="3200" b="1" dirty="0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038351" y="2663826"/>
            <a:ext cx="6394451" cy="595313"/>
            <a:chOff x="324" y="1678"/>
            <a:chExt cx="4028" cy="375"/>
          </a:xfrm>
        </p:grpSpPr>
        <p:sp>
          <p:nvSpPr>
            <p:cNvPr id="67587" name="Text Box 4"/>
            <p:cNvSpPr txBox="1"/>
            <p:nvPr/>
          </p:nvSpPr>
          <p:spPr>
            <a:xfrm>
              <a:off x="324" y="1678"/>
              <a:ext cx="402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 anchor="ctr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即：交流负载线的斜率为：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  <a:sym typeface="+mn-ea"/>
                </a:rPr>
                <a:t>-1/ 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  <a:sym typeface="+mn-ea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  <a:sym typeface="+mn-ea"/>
                </a:rPr>
                <a:t>L</a:t>
              </a:r>
              <a:r>
                <a:rPr lang="en-US" altLang="zh-CN" sz="3200" b="1">
                  <a:solidFill>
                    <a:srgbClr val="393939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’</a:t>
              </a:r>
              <a:endParaRPr lang="en-US" altLang="zh-CN" sz="3200" b="1" dirty="0">
                <a:solidFill>
                  <a:srgbClr val="39393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aphicFrame>
          <p:nvGraphicFramePr>
            <p:cNvPr id="67588" name="Object 5"/>
            <p:cNvGraphicFramePr/>
            <p:nvPr/>
          </p:nvGraphicFramePr>
          <p:xfrm>
            <a:off x="3656" y="1745"/>
            <a:ext cx="1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4300" imgH="215900" progId="Equation.3">
                    <p:embed/>
                  </p:oleObj>
                </mc:Choice>
                <mc:Fallback>
                  <p:oleObj r:id="rId2" imgW="114300" imgH="215900" progId="Equation.3">
                    <p:embed/>
                    <p:pic>
                      <p:nvPicPr>
                        <p:cNvPr id="67588" name="Object 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6" y="1745"/>
                          <a:ext cx="1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/>
          <p:nvPr/>
        </p:nvGrpSpPr>
        <p:grpSpPr>
          <a:xfrm>
            <a:off x="2895600" y="990600"/>
            <a:ext cx="5181600" cy="579438"/>
            <a:chOff x="864" y="624"/>
            <a:chExt cx="3264" cy="365"/>
          </a:xfrm>
        </p:grpSpPr>
        <p:sp>
          <p:nvSpPr>
            <p:cNvPr id="67590" name="Text Box 7"/>
            <p:cNvSpPr txBox="1"/>
            <p:nvPr/>
          </p:nvSpPr>
          <p:spPr>
            <a:xfrm>
              <a:off x="864" y="624"/>
              <a:ext cx="32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=-</a:t>
              </a: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//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-</a:t>
              </a: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3200" b="1" i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</a:p>
          </p:txBody>
        </p:sp>
        <p:sp>
          <p:nvSpPr>
            <p:cNvPr id="67591" name="Line 8"/>
            <p:cNvSpPr/>
            <p:nvPr/>
          </p:nvSpPr>
          <p:spPr>
            <a:xfrm flipH="1">
              <a:off x="3552" y="672"/>
              <a:ext cx="69" cy="6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9"/>
          <p:cNvGrpSpPr/>
          <p:nvPr/>
        </p:nvGrpSpPr>
        <p:grpSpPr>
          <a:xfrm>
            <a:off x="2895601" y="1905000"/>
            <a:ext cx="4524375" cy="579438"/>
            <a:chOff x="864" y="1200"/>
            <a:chExt cx="2850" cy="365"/>
          </a:xfrm>
        </p:grpSpPr>
        <p:sp>
          <p:nvSpPr>
            <p:cNvPr id="67593" name="Text Box 10"/>
            <p:cNvSpPr txBox="1"/>
            <p:nvPr/>
          </p:nvSpPr>
          <p:spPr>
            <a:xfrm>
              <a:off x="864" y="1200"/>
              <a:ext cx="285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或</a:t>
              </a:r>
              <a:r>
                <a:rPr lang="en-US" altLang="zh-CN" sz="3200" b="1" i="1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-1/ </a:t>
              </a:r>
              <a:r>
                <a:rPr lang="en-US" altLang="zh-CN" sz="3200" b="1" i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 </a:t>
              </a:r>
              <a:r>
                <a:rPr lang="en-US" altLang="zh-CN" sz="3200" b="1" i="1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dirty="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7594" name="Line 11"/>
            <p:cNvSpPr/>
            <p:nvPr/>
          </p:nvSpPr>
          <p:spPr>
            <a:xfrm flipH="1">
              <a:off x="2337" y="1200"/>
              <a:ext cx="64" cy="8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71404" name="Rectangle 12"/>
          <p:cNvSpPr/>
          <p:nvPr/>
        </p:nvSpPr>
        <p:spPr>
          <a:xfrm>
            <a:off x="2133600" y="3733800"/>
            <a:ext cx="72390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交流负载线的作法：</a:t>
            </a:r>
          </a:p>
          <a:p>
            <a:pPr marL="342900" indent="-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50000"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①斜 率为</a:t>
            </a:r>
            <a:r>
              <a:rPr lang="en-US" altLang="zh-CN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R'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。（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∥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571405" name="Text Box 13"/>
          <p:cNvSpPr txBox="1"/>
          <p:nvPr/>
        </p:nvSpPr>
        <p:spPr>
          <a:xfrm>
            <a:off x="2133600" y="5181601"/>
            <a:ext cx="6205538" cy="58977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71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71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300"/>
                                        <p:tgtEl>
                                          <p:spTgt spid="5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04" grpId="0" build="p"/>
      <p:bldP spid="57140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2"/>
          <p:cNvSpPr txBox="1"/>
          <p:nvPr/>
        </p:nvSpPr>
        <p:spPr>
          <a:xfrm>
            <a:off x="1828800" y="255620"/>
            <a:ext cx="3733800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交流负载线的作法：</a:t>
            </a:r>
          </a:p>
        </p:txBody>
      </p:sp>
      <p:sp>
        <p:nvSpPr>
          <p:cNvPr id="68610" name="Text Box 4"/>
          <p:cNvSpPr txBox="1"/>
          <p:nvPr/>
        </p:nvSpPr>
        <p:spPr>
          <a:xfrm>
            <a:off x="4621214" y="910642"/>
            <a:ext cx="2803525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11" name="Text Box 5"/>
          <p:cNvSpPr txBox="1"/>
          <p:nvPr/>
        </p:nvSpPr>
        <p:spPr>
          <a:xfrm>
            <a:off x="8562577" y="3874504"/>
            <a:ext cx="675484" cy="58695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CE</a:t>
            </a:r>
            <a:endParaRPr lang="en-US" altLang="zh-CN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8612" name="Group 6"/>
          <p:cNvGrpSpPr/>
          <p:nvPr/>
        </p:nvGrpSpPr>
        <p:grpSpPr>
          <a:xfrm>
            <a:off x="4497389" y="1300163"/>
            <a:ext cx="3844925" cy="3009900"/>
            <a:chOff x="3180" y="1585"/>
            <a:chExt cx="1584" cy="1896"/>
          </a:xfrm>
        </p:grpSpPr>
        <p:sp>
          <p:nvSpPr>
            <p:cNvPr id="68613" name="Line 7"/>
            <p:cNvSpPr/>
            <p:nvPr/>
          </p:nvSpPr>
          <p:spPr>
            <a:xfrm flipV="1">
              <a:off x="3180" y="3481"/>
              <a:ext cx="15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grpSp>
          <p:nvGrpSpPr>
            <p:cNvPr id="68614" name="Group 8"/>
            <p:cNvGrpSpPr/>
            <p:nvPr/>
          </p:nvGrpSpPr>
          <p:grpSpPr>
            <a:xfrm>
              <a:off x="3181" y="1585"/>
              <a:ext cx="1288" cy="1896"/>
              <a:chOff x="3181" y="1753"/>
              <a:chExt cx="1288" cy="1896"/>
            </a:xfrm>
          </p:grpSpPr>
          <p:sp>
            <p:nvSpPr>
              <p:cNvPr id="68615" name="Line 9"/>
              <p:cNvSpPr/>
              <p:nvPr/>
            </p:nvSpPr>
            <p:spPr>
              <a:xfrm flipH="1" flipV="1">
                <a:off x="3192" y="1753"/>
                <a:ext cx="0" cy="18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lg"/>
              </a:ln>
            </p:spPr>
          </p:sp>
          <p:grpSp>
            <p:nvGrpSpPr>
              <p:cNvPr id="68616" name="Group 10"/>
              <p:cNvGrpSpPr/>
              <p:nvPr/>
            </p:nvGrpSpPr>
            <p:grpSpPr>
              <a:xfrm>
                <a:off x="3181" y="2028"/>
                <a:ext cx="1288" cy="1609"/>
                <a:chOff x="3181" y="1260"/>
                <a:chExt cx="2387" cy="2377"/>
              </a:xfrm>
            </p:grpSpPr>
            <p:sp>
              <p:nvSpPr>
                <p:cNvPr id="68617" name="Freeform 11"/>
                <p:cNvSpPr/>
                <p:nvPr/>
              </p:nvSpPr>
              <p:spPr>
                <a:xfrm>
                  <a:off x="3181" y="3505"/>
                  <a:ext cx="2387" cy="131"/>
                </a:xfrm>
                <a:custGeom>
                  <a:avLst/>
                  <a:gdLst/>
                  <a:ahLst/>
                  <a:cxnLst>
                    <a:cxn ang="0">
                      <a:pos x="19" y="131"/>
                    </a:cxn>
                    <a:cxn ang="0">
                      <a:pos x="69" y="95"/>
                    </a:cxn>
                    <a:cxn ang="0">
                      <a:pos x="431" y="24"/>
                    </a:cxn>
                    <a:cxn ang="0">
                      <a:pos x="2387" y="0"/>
                    </a:cxn>
                  </a:cxnLst>
                  <a:rect l="0" t="0" r="0" b="0"/>
                  <a:pathLst>
                    <a:path w="2387" h="131">
                      <a:moveTo>
                        <a:pt x="19" y="131"/>
                      </a:moveTo>
                      <a:cubicBezTo>
                        <a:pt x="27" y="125"/>
                        <a:pt x="0" y="113"/>
                        <a:pt x="69" y="95"/>
                      </a:cubicBezTo>
                      <a:cubicBezTo>
                        <a:pt x="138" y="77"/>
                        <a:pt x="45" y="40"/>
                        <a:pt x="431" y="24"/>
                      </a:cubicBezTo>
                      <a:cubicBezTo>
                        <a:pt x="817" y="8"/>
                        <a:pt x="1980" y="5"/>
                        <a:pt x="2387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618" name="Freeform 12"/>
                <p:cNvSpPr/>
                <p:nvPr/>
              </p:nvSpPr>
              <p:spPr>
                <a:xfrm>
                  <a:off x="3200" y="3133"/>
                  <a:ext cx="2308" cy="504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15" y="314"/>
                    </a:cxn>
                    <a:cxn ang="0">
                      <a:pos x="52" y="276"/>
                    </a:cxn>
                    <a:cxn ang="0">
                      <a:pos x="172" y="156"/>
                    </a:cxn>
                    <a:cxn ang="0">
                      <a:pos x="340" y="72"/>
                    </a:cxn>
                    <a:cxn ang="0">
                      <a:pos x="748" y="48"/>
                    </a:cxn>
                    <a:cxn ang="0">
                      <a:pos x="2308" y="0"/>
                    </a:cxn>
                  </a:cxnLst>
                  <a:rect l="0" t="0" r="0" b="0"/>
                  <a:pathLst>
                    <a:path w="2308" h="504">
                      <a:moveTo>
                        <a:pt x="0" y="504"/>
                      </a:moveTo>
                      <a:cubicBezTo>
                        <a:pt x="3" y="472"/>
                        <a:pt x="6" y="352"/>
                        <a:pt x="15" y="314"/>
                      </a:cubicBezTo>
                      <a:cubicBezTo>
                        <a:pt x="24" y="276"/>
                        <a:pt x="26" y="302"/>
                        <a:pt x="52" y="276"/>
                      </a:cubicBezTo>
                      <a:cubicBezTo>
                        <a:pt x="78" y="250"/>
                        <a:pt x="124" y="190"/>
                        <a:pt x="172" y="156"/>
                      </a:cubicBezTo>
                      <a:cubicBezTo>
                        <a:pt x="220" y="122"/>
                        <a:pt x="244" y="90"/>
                        <a:pt x="340" y="72"/>
                      </a:cubicBezTo>
                      <a:cubicBezTo>
                        <a:pt x="436" y="54"/>
                        <a:pt x="420" y="60"/>
                        <a:pt x="748" y="48"/>
                      </a:cubicBezTo>
                      <a:cubicBezTo>
                        <a:pt x="1076" y="36"/>
                        <a:pt x="1983" y="10"/>
                        <a:pt x="2308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619" name="Freeform 13"/>
                <p:cNvSpPr/>
                <p:nvPr/>
              </p:nvSpPr>
              <p:spPr>
                <a:xfrm>
                  <a:off x="3197" y="2689"/>
                  <a:ext cx="2299" cy="948"/>
                </a:xfrm>
                <a:custGeom>
                  <a:avLst/>
                  <a:gdLst/>
                  <a:ahLst/>
                  <a:cxnLst>
                    <a:cxn ang="0">
                      <a:pos x="0" y="948"/>
                    </a:cxn>
                    <a:cxn ang="0">
                      <a:pos x="55" y="408"/>
                    </a:cxn>
                    <a:cxn ang="0">
                      <a:pos x="211" y="156"/>
                    </a:cxn>
                    <a:cxn ang="0">
                      <a:pos x="413" y="69"/>
                    </a:cxn>
                    <a:cxn ang="0">
                      <a:pos x="1207" y="12"/>
                    </a:cxn>
                    <a:cxn ang="0">
                      <a:pos x="2299" y="0"/>
                    </a:cxn>
                  </a:cxnLst>
                  <a:rect l="0" t="0" r="0" b="0"/>
                  <a:pathLst>
                    <a:path w="2299" h="948">
                      <a:moveTo>
                        <a:pt x="0" y="948"/>
                      </a:moveTo>
                      <a:cubicBezTo>
                        <a:pt x="9" y="858"/>
                        <a:pt x="20" y="540"/>
                        <a:pt x="55" y="408"/>
                      </a:cubicBezTo>
                      <a:cubicBezTo>
                        <a:pt x="90" y="276"/>
                        <a:pt x="151" y="212"/>
                        <a:pt x="211" y="156"/>
                      </a:cubicBezTo>
                      <a:cubicBezTo>
                        <a:pt x="271" y="100"/>
                        <a:pt x="247" y="93"/>
                        <a:pt x="413" y="69"/>
                      </a:cubicBezTo>
                      <a:cubicBezTo>
                        <a:pt x="579" y="45"/>
                        <a:pt x="893" y="23"/>
                        <a:pt x="1207" y="12"/>
                      </a:cubicBezTo>
                      <a:cubicBezTo>
                        <a:pt x="1521" y="1"/>
                        <a:pt x="2072" y="2"/>
                        <a:pt x="2299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620" name="Freeform 14"/>
                <p:cNvSpPr/>
                <p:nvPr/>
              </p:nvSpPr>
              <p:spPr>
                <a:xfrm>
                  <a:off x="3200" y="2221"/>
                  <a:ext cx="2260" cy="1380"/>
                </a:xfrm>
                <a:custGeom>
                  <a:avLst/>
                  <a:gdLst/>
                  <a:ahLst/>
                  <a:cxnLst>
                    <a:cxn ang="0">
                      <a:pos x="0" y="1380"/>
                    </a:cxn>
                    <a:cxn ang="0">
                      <a:pos x="73" y="525"/>
                    </a:cxn>
                    <a:cxn ang="0">
                      <a:pos x="155" y="157"/>
                    </a:cxn>
                    <a:cxn ang="0">
                      <a:pos x="483" y="50"/>
                    </a:cxn>
                    <a:cxn ang="0">
                      <a:pos x="2260" y="0"/>
                    </a:cxn>
                  </a:cxnLst>
                  <a:rect l="0" t="0" r="0" b="0"/>
                  <a:pathLst>
                    <a:path w="2260" h="1380">
                      <a:moveTo>
                        <a:pt x="0" y="1380"/>
                      </a:moveTo>
                      <a:cubicBezTo>
                        <a:pt x="12" y="1237"/>
                        <a:pt x="48" y="729"/>
                        <a:pt x="73" y="525"/>
                      </a:cubicBezTo>
                      <a:cubicBezTo>
                        <a:pt x="99" y="321"/>
                        <a:pt x="86" y="236"/>
                        <a:pt x="155" y="157"/>
                      </a:cubicBezTo>
                      <a:cubicBezTo>
                        <a:pt x="223" y="77"/>
                        <a:pt x="132" y="76"/>
                        <a:pt x="483" y="50"/>
                      </a:cubicBezTo>
                      <a:cubicBezTo>
                        <a:pt x="834" y="24"/>
                        <a:pt x="1890" y="10"/>
                        <a:pt x="2260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621" name="Freeform 15"/>
                <p:cNvSpPr/>
                <p:nvPr/>
              </p:nvSpPr>
              <p:spPr>
                <a:xfrm>
                  <a:off x="3200" y="1813"/>
                  <a:ext cx="2224" cy="1788"/>
                </a:xfrm>
                <a:custGeom>
                  <a:avLst/>
                  <a:gdLst/>
                  <a:ahLst/>
                  <a:cxnLst>
                    <a:cxn ang="0">
                      <a:pos x="0" y="1788"/>
                    </a:cxn>
                    <a:cxn ang="0">
                      <a:pos x="89" y="754"/>
                    </a:cxn>
                    <a:cxn ang="0">
                      <a:pos x="112" y="312"/>
                    </a:cxn>
                    <a:cxn ang="0">
                      <a:pos x="209" y="125"/>
                    </a:cxn>
                    <a:cxn ang="0">
                      <a:pos x="640" y="36"/>
                    </a:cxn>
                    <a:cxn ang="0">
                      <a:pos x="2224" y="0"/>
                    </a:cxn>
                  </a:cxnLst>
                  <a:rect l="0" t="0" r="0" b="0"/>
                  <a:pathLst>
                    <a:path w="2224" h="1788">
                      <a:moveTo>
                        <a:pt x="0" y="1788"/>
                      </a:moveTo>
                      <a:cubicBezTo>
                        <a:pt x="15" y="1616"/>
                        <a:pt x="70" y="1000"/>
                        <a:pt x="89" y="754"/>
                      </a:cubicBezTo>
                      <a:cubicBezTo>
                        <a:pt x="108" y="508"/>
                        <a:pt x="92" y="417"/>
                        <a:pt x="112" y="312"/>
                      </a:cubicBezTo>
                      <a:cubicBezTo>
                        <a:pt x="132" y="207"/>
                        <a:pt x="121" y="171"/>
                        <a:pt x="209" y="125"/>
                      </a:cubicBezTo>
                      <a:cubicBezTo>
                        <a:pt x="297" y="79"/>
                        <a:pt x="304" y="57"/>
                        <a:pt x="640" y="36"/>
                      </a:cubicBezTo>
                      <a:cubicBezTo>
                        <a:pt x="976" y="15"/>
                        <a:pt x="1894" y="8"/>
                        <a:pt x="2224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622" name="Freeform 16"/>
                <p:cNvSpPr/>
                <p:nvPr/>
              </p:nvSpPr>
              <p:spPr>
                <a:xfrm>
                  <a:off x="3200" y="1260"/>
                  <a:ext cx="2212" cy="2377"/>
                </a:xfrm>
                <a:custGeom>
                  <a:avLst/>
                  <a:gdLst/>
                  <a:ahLst/>
                  <a:cxnLst>
                    <a:cxn ang="0">
                      <a:pos x="0" y="2377"/>
                    </a:cxn>
                    <a:cxn ang="0">
                      <a:pos x="93" y="1248"/>
                    </a:cxn>
                    <a:cxn ang="0">
                      <a:pos x="186" y="369"/>
                    </a:cxn>
                    <a:cxn ang="0">
                      <a:pos x="532" y="61"/>
                    </a:cxn>
                    <a:cxn ang="0">
                      <a:pos x="2212" y="1"/>
                    </a:cxn>
                  </a:cxnLst>
                  <a:rect l="0" t="0" r="0" b="0"/>
                  <a:pathLst>
                    <a:path w="2212" h="2377">
                      <a:moveTo>
                        <a:pt x="0" y="2377"/>
                      </a:moveTo>
                      <a:cubicBezTo>
                        <a:pt x="15" y="2189"/>
                        <a:pt x="62" y="1583"/>
                        <a:pt x="93" y="1248"/>
                      </a:cubicBezTo>
                      <a:cubicBezTo>
                        <a:pt x="124" y="914"/>
                        <a:pt x="113" y="567"/>
                        <a:pt x="186" y="369"/>
                      </a:cubicBezTo>
                      <a:cubicBezTo>
                        <a:pt x="259" y="171"/>
                        <a:pt x="194" y="122"/>
                        <a:pt x="532" y="61"/>
                      </a:cubicBezTo>
                      <a:cubicBezTo>
                        <a:pt x="870" y="0"/>
                        <a:pt x="1862" y="13"/>
                        <a:pt x="2212" y="1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aphicFrame>
        <p:nvGraphicFramePr>
          <p:cNvPr id="68623" name="Object 21"/>
          <p:cNvGraphicFramePr/>
          <p:nvPr/>
        </p:nvGraphicFramePr>
        <p:xfrm>
          <a:off x="3702050" y="1365250"/>
          <a:ext cx="5969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000" imgH="443865" progId="Equation.DSMT4">
                  <p:embed/>
                </p:oleObj>
              </mc:Choice>
              <mc:Fallback>
                <p:oleObj r:id="rId2" imgW="254000" imgH="443865" progId="Equation.DSMT4">
                  <p:embed/>
                  <p:pic>
                    <p:nvPicPr>
                      <p:cNvPr id="68623" name="Object 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02050" y="1365250"/>
                        <a:ext cx="59690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4" name="Line 22"/>
          <p:cNvSpPr/>
          <p:nvPr/>
        </p:nvSpPr>
        <p:spPr>
          <a:xfrm>
            <a:off x="4364038" y="1698625"/>
            <a:ext cx="2114550" cy="2819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8625" name="Group 23"/>
          <p:cNvGrpSpPr/>
          <p:nvPr/>
        </p:nvGrpSpPr>
        <p:grpSpPr>
          <a:xfrm>
            <a:off x="5430838" y="2686050"/>
            <a:ext cx="838200" cy="927100"/>
            <a:chOff x="2328" y="1676"/>
            <a:chExt cx="528" cy="584"/>
          </a:xfrm>
        </p:grpSpPr>
        <p:sp>
          <p:nvSpPr>
            <p:cNvPr id="68626" name="Oval 24"/>
            <p:cNvSpPr/>
            <p:nvPr/>
          </p:nvSpPr>
          <p:spPr>
            <a:xfrm>
              <a:off x="2376" y="1795"/>
              <a:ext cx="161" cy="465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27" name="Text Box 25"/>
            <p:cNvSpPr txBox="1"/>
            <p:nvPr/>
          </p:nvSpPr>
          <p:spPr>
            <a:xfrm>
              <a:off x="2328" y="1676"/>
              <a:ext cx="528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8628" name="Text Box 26"/>
          <p:cNvSpPr txBox="1"/>
          <p:nvPr/>
        </p:nvSpPr>
        <p:spPr>
          <a:xfrm>
            <a:off x="6383338" y="2909304"/>
            <a:ext cx="8001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32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2443" name="Line 27"/>
          <p:cNvSpPr/>
          <p:nvPr/>
        </p:nvSpPr>
        <p:spPr>
          <a:xfrm>
            <a:off x="4783138" y="1470025"/>
            <a:ext cx="1409700" cy="3162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72444" name="AutoShape 28"/>
          <p:cNvSpPr/>
          <p:nvPr/>
        </p:nvSpPr>
        <p:spPr>
          <a:xfrm>
            <a:off x="6663367" y="1228670"/>
            <a:ext cx="2276805" cy="649399"/>
          </a:xfrm>
          <a:prstGeom prst="wedgeRoundRectCallout">
            <a:avLst>
              <a:gd name="adj1" fmla="val -107704"/>
              <a:gd name="adj2" fmla="val 88315"/>
              <a:gd name="adj3" fmla="val 16667"/>
            </a:avLst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交流负载线</a:t>
            </a:r>
          </a:p>
        </p:txBody>
      </p:sp>
      <p:sp>
        <p:nvSpPr>
          <p:cNvPr id="68631" name="AutoShape 29"/>
          <p:cNvSpPr/>
          <p:nvPr/>
        </p:nvSpPr>
        <p:spPr>
          <a:xfrm>
            <a:off x="6965951" y="1927225"/>
            <a:ext cx="2093913" cy="1123950"/>
          </a:xfrm>
          <a:prstGeom prst="wedgeRoundRectCallout">
            <a:avLst>
              <a:gd name="adj1" fmla="val -101120"/>
              <a:gd name="adj2" fmla="val 97176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直流负载线</a:t>
            </a:r>
          </a:p>
        </p:txBody>
      </p:sp>
      <p:sp>
        <p:nvSpPr>
          <p:cNvPr id="68632" name="Rectangle 30"/>
          <p:cNvSpPr/>
          <p:nvPr/>
        </p:nvSpPr>
        <p:spPr>
          <a:xfrm>
            <a:off x="1676400" y="2362200"/>
            <a:ext cx="26670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50000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斜 率为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R'</a:t>
            </a:r>
            <a:r>
              <a:rPr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marL="342900" indent="-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50000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 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∥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33" name="Text Box 31"/>
          <p:cNvSpPr txBox="1"/>
          <p:nvPr/>
        </p:nvSpPr>
        <p:spPr>
          <a:xfrm>
            <a:off x="1752600" y="3581400"/>
            <a:ext cx="2286000" cy="46544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572448" name="Text Box 32"/>
          <p:cNvSpPr txBox="1"/>
          <p:nvPr/>
        </p:nvSpPr>
        <p:spPr>
          <a:xfrm>
            <a:off x="1981200" y="4419600"/>
            <a:ext cx="8229600" cy="103329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）交流负载线是有交流输入信号时工作点的运动轨迹。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zh-CN" altLang="en-US" sz="2400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2449" name="Text Box 33"/>
          <p:cNvSpPr txBox="1"/>
          <p:nvPr/>
        </p:nvSpPr>
        <p:spPr>
          <a:xfrm>
            <a:off x="1905000" y="5486400"/>
            <a:ext cx="7772400" cy="53469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）空载时，交流负载线与直流负载线重合。</a:t>
            </a:r>
            <a:endParaRPr lang="zh-CN" altLang="en-US" sz="24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2450" name="Rectangle 34"/>
          <p:cNvSpPr/>
          <p:nvPr/>
        </p:nvSpPr>
        <p:spPr>
          <a:xfrm>
            <a:off x="1752600" y="6096001"/>
            <a:ext cx="8915400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）输出端接入负载</a:t>
            </a:r>
            <a:r>
              <a:rPr lang="en-US" altLang="zh-CN" sz="2800" b="1" i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800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：不影响</a:t>
            </a:r>
            <a:r>
              <a:rPr lang="en-US" altLang="zh-CN" sz="2800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点， 影响动态！</a:t>
            </a:r>
          </a:p>
        </p:txBody>
      </p:sp>
      <p:sp>
        <p:nvSpPr>
          <p:cNvPr id="68637" name="Text Box 35"/>
          <p:cNvSpPr txBox="1"/>
          <p:nvPr/>
        </p:nvSpPr>
        <p:spPr>
          <a:xfrm>
            <a:off x="6500813" y="4238625"/>
            <a:ext cx="811212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</a:p>
        </p:txBody>
      </p:sp>
      <p:sp>
        <p:nvSpPr>
          <p:cNvPr id="68638" name="Oval 39"/>
          <p:cNvSpPr/>
          <p:nvPr/>
        </p:nvSpPr>
        <p:spPr>
          <a:xfrm>
            <a:off x="4475164" y="1866900"/>
            <a:ext cx="90487" cy="90488"/>
          </a:xfrm>
          <a:prstGeom prst="ellipse">
            <a:avLst/>
          </a:prstGeom>
          <a:solidFill>
            <a:srgbClr val="0000FF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39" name="Oval 41"/>
          <p:cNvSpPr/>
          <p:nvPr/>
        </p:nvSpPr>
        <p:spPr>
          <a:xfrm>
            <a:off x="6281739" y="4264025"/>
            <a:ext cx="90487" cy="90488"/>
          </a:xfrm>
          <a:prstGeom prst="ellipse">
            <a:avLst/>
          </a:prstGeom>
          <a:solidFill>
            <a:srgbClr val="0000FF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7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7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44" grpId="0" bldLvl="0" animBg="1"/>
      <p:bldP spid="572448" grpId="0"/>
      <p:bldP spid="572449" grpId="0"/>
      <p:bldP spid="5724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2"/>
          <p:cNvSpPr txBox="1"/>
          <p:nvPr/>
        </p:nvSpPr>
        <p:spPr>
          <a:xfrm>
            <a:off x="1981200" y="381001"/>
            <a:ext cx="5638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图解法分析放大电路的步骤：</a:t>
            </a:r>
          </a:p>
        </p:txBody>
      </p:sp>
      <p:sp>
        <p:nvSpPr>
          <p:cNvPr id="677891" name="Text Box 3"/>
          <p:cNvSpPr txBox="1"/>
          <p:nvPr/>
        </p:nvSpPr>
        <p:spPr>
          <a:xfrm>
            <a:off x="1981200" y="1143000"/>
            <a:ext cx="8515350" cy="54775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由直流通路作出输出回路的直流负载线。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②由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BQ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-0.7)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/R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≈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/R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估算出基极电流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BQ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，在直流负载线上找出对应的静态工作点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，得到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CQ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CEQ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③由交流通路计算等效的负载电阻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。在输出特性曲线上通过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点，作斜率为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-1/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的交流负载线。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④在输入特性曲线的静态工作点附近，根据已知△</a:t>
            </a:r>
            <a:r>
              <a:rPr lang="en-US" altLang="zh-CN" sz="28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值，查出对应的△</a:t>
            </a:r>
            <a:r>
              <a:rPr lang="en-US" altLang="zh-CN" sz="28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，再到输出特性曲线上查出对应的最大峰值变化△</a:t>
            </a:r>
            <a:r>
              <a:rPr lang="en-US" altLang="zh-CN" sz="28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值，判断是否超出晶体管线性工作范围而产生失真， △</a:t>
            </a:r>
            <a:r>
              <a:rPr lang="en-US" altLang="zh-CN" sz="28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△</a:t>
            </a:r>
            <a:r>
              <a:rPr lang="en-US" altLang="zh-CN" sz="28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的大小为放大电路的放大倍数。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7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3" name="组合 573462"/>
          <p:cNvGrpSpPr/>
          <p:nvPr/>
        </p:nvGrpSpPr>
        <p:grpSpPr>
          <a:xfrm>
            <a:off x="4791076" y="4643438"/>
            <a:ext cx="1852613" cy="1485900"/>
            <a:chOff x="2040" y="2928"/>
            <a:chExt cx="1166" cy="936"/>
          </a:xfrm>
        </p:grpSpPr>
        <p:sp>
          <p:nvSpPr>
            <p:cNvPr id="573464" name="任意多边形 573463"/>
            <p:cNvSpPr/>
            <p:nvPr/>
          </p:nvSpPr>
          <p:spPr>
            <a:xfrm>
              <a:off x="2592" y="292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465" name="任意多边形 573464"/>
            <p:cNvSpPr/>
            <p:nvPr/>
          </p:nvSpPr>
          <p:spPr>
            <a:xfrm flipH="1">
              <a:off x="2040" y="3396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3466" name="文本框 573465"/>
          <p:cNvSpPr txBox="1"/>
          <p:nvPr/>
        </p:nvSpPr>
        <p:spPr>
          <a:xfrm>
            <a:off x="7040563" y="5315954"/>
            <a:ext cx="85725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467" name="圆角矩形标注 573466"/>
          <p:cNvSpPr/>
          <p:nvPr/>
        </p:nvSpPr>
        <p:spPr>
          <a:xfrm>
            <a:off x="2268538" y="3228975"/>
            <a:ext cx="1822450" cy="2235200"/>
          </a:xfrm>
          <a:prstGeom prst="wedgeRoundRectCallout">
            <a:avLst>
              <a:gd name="adj1" fmla="val 87718"/>
              <a:gd name="adj2" fmla="val 61009"/>
              <a:gd name="adj3" fmla="val 16667"/>
            </a:avLst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可输出的最大不失真信号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468" name="文本框 573467"/>
          <p:cNvSpPr txBox="1"/>
          <p:nvPr/>
        </p:nvSpPr>
        <p:spPr>
          <a:xfrm>
            <a:off x="1524000" y="834442"/>
            <a:ext cx="63246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）合适的静态工作点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3480" name="组合 573479"/>
          <p:cNvGrpSpPr/>
          <p:nvPr/>
        </p:nvGrpSpPr>
        <p:grpSpPr>
          <a:xfrm>
            <a:off x="4610101" y="1220788"/>
            <a:ext cx="4086225" cy="5008562"/>
            <a:chOff x="1944" y="769"/>
            <a:chExt cx="2574" cy="3155"/>
          </a:xfrm>
        </p:grpSpPr>
        <p:sp>
          <p:nvSpPr>
            <p:cNvPr id="573460" name="直接连接符 573459"/>
            <p:cNvSpPr/>
            <p:nvPr/>
          </p:nvSpPr>
          <p:spPr>
            <a:xfrm>
              <a:off x="2604" y="1872"/>
              <a:ext cx="0" cy="198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3461" name="直接连接符 573460"/>
            <p:cNvSpPr/>
            <p:nvPr/>
          </p:nvSpPr>
          <p:spPr>
            <a:xfrm flipH="1">
              <a:off x="2052" y="1404"/>
              <a:ext cx="12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3462" name="直接连接符 573461"/>
            <p:cNvSpPr/>
            <p:nvPr/>
          </p:nvSpPr>
          <p:spPr>
            <a:xfrm flipH="1">
              <a:off x="3204" y="2592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73479" name="组合 573478"/>
            <p:cNvGrpSpPr/>
            <p:nvPr/>
          </p:nvGrpSpPr>
          <p:grpSpPr>
            <a:xfrm>
              <a:off x="1944" y="769"/>
              <a:ext cx="2574" cy="2356"/>
              <a:chOff x="1956" y="766"/>
              <a:chExt cx="2574" cy="2356"/>
            </a:xfrm>
          </p:grpSpPr>
          <p:sp>
            <p:nvSpPr>
              <p:cNvPr id="573443" name="直接连接符 573442"/>
              <p:cNvSpPr/>
              <p:nvPr/>
            </p:nvSpPr>
            <p:spPr>
              <a:xfrm>
                <a:off x="1966" y="1370"/>
                <a:ext cx="1679" cy="175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73444" name="组合 573443"/>
              <p:cNvGrpSpPr/>
              <p:nvPr/>
            </p:nvGrpSpPr>
            <p:grpSpPr>
              <a:xfrm>
                <a:off x="1956" y="766"/>
                <a:ext cx="2045" cy="2237"/>
                <a:chOff x="3264" y="1340"/>
                <a:chExt cx="2046" cy="2237"/>
              </a:xfrm>
            </p:grpSpPr>
            <p:sp>
              <p:nvSpPr>
                <p:cNvPr id="573445" name="文本框 573444"/>
                <p:cNvSpPr txBox="1"/>
                <p:nvPr/>
              </p:nvSpPr>
              <p:spPr>
                <a:xfrm>
                  <a:off x="3315" y="1340"/>
                  <a:ext cx="1154" cy="37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3200" b="1" i="1" err="1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i</a:t>
                  </a:r>
                  <a:r>
                    <a:rPr lang="en-US" altLang="zh-CN" sz="3200" b="1" baseline="-25000" err="1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  <a:endParaRPr lang="en-US" altLang="zh-CN" sz="3200" b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573446" name="文本框 573445"/>
                <p:cNvSpPr txBox="1"/>
                <p:nvPr/>
              </p:nvSpPr>
              <p:spPr>
                <a:xfrm>
                  <a:off x="4841" y="3207"/>
                  <a:ext cx="469" cy="37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3200" b="1" i="1" err="1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v</a:t>
                  </a:r>
                  <a:r>
                    <a:rPr lang="en-US" altLang="zh-CN" sz="3200" b="1" baseline="-25000" err="1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CE</a:t>
                  </a:r>
                  <a:endParaRPr lang="en-US" altLang="zh-CN" sz="3200" b="1">
                    <a:solidFill>
                      <a:srgbClr val="393939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pSp>
              <p:nvGrpSpPr>
                <p:cNvPr id="573447" name="组合 573446"/>
                <p:cNvGrpSpPr/>
                <p:nvPr/>
              </p:nvGrpSpPr>
              <p:grpSpPr>
                <a:xfrm>
                  <a:off x="3264" y="1585"/>
                  <a:ext cx="1584" cy="1896"/>
                  <a:chOff x="3180" y="1585"/>
                  <a:chExt cx="1584" cy="1896"/>
                </a:xfrm>
              </p:grpSpPr>
              <p:sp>
                <p:nvSpPr>
                  <p:cNvPr id="573448" name="直接连接符 573447"/>
                  <p:cNvSpPr/>
                  <p:nvPr/>
                </p:nvSpPr>
                <p:spPr>
                  <a:xfrm flipV="1">
                    <a:off x="3180" y="3481"/>
                    <a:ext cx="158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triangle" w="med" len="lg"/>
                  </a:ln>
                </p:spPr>
              </p:sp>
              <p:grpSp>
                <p:nvGrpSpPr>
                  <p:cNvPr id="573449" name="组合 573448"/>
                  <p:cNvGrpSpPr/>
                  <p:nvPr/>
                </p:nvGrpSpPr>
                <p:grpSpPr>
                  <a:xfrm>
                    <a:off x="3181" y="1585"/>
                    <a:ext cx="1288" cy="1896"/>
                    <a:chOff x="3181" y="1753"/>
                    <a:chExt cx="1288" cy="1896"/>
                  </a:xfrm>
                </p:grpSpPr>
                <p:sp>
                  <p:nvSpPr>
                    <p:cNvPr id="573450" name="直接连接符 573449"/>
                    <p:cNvSpPr/>
                    <p:nvPr/>
                  </p:nvSpPr>
                  <p:spPr>
                    <a:xfrm flipH="1" flipV="1">
                      <a:off x="3192" y="1753"/>
                      <a:ext cx="0" cy="1896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triangle" w="med" len="lg"/>
                    </a:ln>
                  </p:spPr>
                </p:sp>
                <p:grpSp>
                  <p:nvGrpSpPr>
                    <p:cNvPr id="573451" name="组合 573450"/>
                    <p:cNvGrpSpPr/>
                    <p:nvPr/>
                  </p:nvGrpSpPr>
                  <p:grpSpPr>
                    <a:xfrm>
                      <a:off x="3181" y="2028"/>
                      <a:ext cx="1288" cy="1609"/>
                      <a:chOff x="3181" y="1260"/>
                      <a:chExt cx="2387" cy="2377"/>
                    </a:xfrm>
                  </p:grpSpPr>
                  <p:sp>
                    <p:nvSpPr>
                      <p:cNvPr id="573452" name="任意多边形 573451"/>
                      <p:cNvSpPr/>
                      <p:nvPr/>
                    </p:nvSpPr>
                    <p:spPr>
                      <a:xfrm>
                        <a:off x="3181" y="3505"/>
                        <a:ext cx="2387" cy="131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387" h="131">
                            <a:moveTo>
                              <a:pt x="19" y="131"/>
                            </a:moveTo>
                            <a:cubicBezTo>
                              <a:pt x="27" y="125"/>
                              <a:pt x="0" y="113"/>
                              <a:pt x="69" y="95"/>
                            </a:cubicBezTo>
                            <a:cubicBezTo>
                              <a:pt x="138" y="77"/>
                              <a:pt x="45" y="40"/>
                              <a:pt x="431" y="24"/>
                            </a:cubicBezTo>
                            <a:cubicBezTo>
                              <a:pt x="817" y="8"/>
                              <a:pt x="1980" y="5"/>
                              <a:pt x="2387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73453" name="任意多边形 573452"/>
                      <p:cNvSpPr/>
                      <p:nvPr/>
                    </p:nvSpPr>
                    <p:spPr>
                      <a:xfrm>
                        <a:off x="3200" y="3133"/>
                        <a:ext cx="2308" cy="504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308" h="504">
                            <a:moveTo>
                              <a:pt x="0" y="504"/>
                            </a:moveTo>
                            <a:cubicBezTo>
                              <a:pt x="3" y="472"/>
                              <a:pt x="6" y="352"/>
                              <a:pt x="15" y="314"/>
                            </a:cubicBezTo>
                            <a:cubicBezTo>
                              <a:pt x="24" y="276"/>
                              <a:pt x="26" y="302"/>
                              <a:pt x="52" y="276"/>
                            </a:cubicBezTo>
                            <a:cubicBezTo>
                              <a:pt x="78" y="250"/>
                              <a:pt x="124" y="190"/>
                              <a:pt x="172" y="156"/>
                            </a:cubicBezTo>
                            <a:cubicBezTo>
                              <a:pt x="220" y="122"/>
                              <a:pt x="244" y="90"/>
                              <a:pt x="340" y="72"/>
                            </a:cubicBezTo>
                            <a:cubicBezTo>
                              <a:pt x="436" y="54"/>
                              <a:pt x="420" y="60"/>
                              <a:pt x="748" y="48"/>
                            </a:cubicBezTo>
                            <a:cubicBezTo>
                              <a:pt x="1076" y="36"/>
                              <a:pt x="1983" y="10"/>
                              <a:pt x="2308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73454" name="任意多边形 573453"/>
                      <p:cNvSpPr/>
                      <p:nvPr/>
                    </p:nvSpPr>
                    <p:spPr>
                      <a:xfrm>
                        <a:off x="3197" y="2689"/>
                        <a:ext cx="2299" cy="94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99" h="948">
                            <a:moveTo>
                              <a:pt x="0" y="948"/>
                            </a:moveTo>
                            <a:cubicBezTo>
                              <a:pt x="9" y="858"/>
                              <a:pt x="20" y="540"/>
                              <a:pt x="55" y="408"/>
                            </a:cubicBezTo>
                            <a:cubicBezTo>
                              <a:pt x="90" y="276"/>
                              <a:pt x="151" y="212"/>
                              <a:pt x="211" y="156"/>
                            </a:cubicBezTo>
                            <a:cubicBezTo>
                              <a:pt x="271" y="100"/>
                              <a:pt x="247" y="93"/>
                              <a:pt x="413" y="69"/>
                            </a:cubicBezTo>
                            <a:cubicBezTo>
                              <a:pt x="579" y="45"/>
                              <a:pt x="893" y="23"/>
                              <a:pt x="1207" y="12"/>
                            </a:cubicBezTo>
                            <a:cubicBezTo>
                              <a:pt x="1521" y="1"/>
                              <a:pt x="2072" y="2"/>
                              <a:pt x="2299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73455" name="任意多边形 573454"/>
                      <p:cNvSpPr/>
                      <p:nvPr/>
                    </p:nvSpPr>
                    <p:spPr>
                      <a:xfrm>
                        <a:off x="3200" y="2221"/>
                        <a:ext cx="2260" cy="13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60" h="1380">
                            <a:moveTo>
                              <a:pt x="0" y="1380"/>
                            </a:moveTo>
                            <a:cubicBezTo>
                              <a:pt x="12" y="1237"/>
                              <a:pt x="48" y="729"/>
                              <a:pt x="73" y="525"/>
                            </a:cubicBezTo>
                            <a:cubicBezTo>
                              <a:pt x="99" y="321"/>
                              <a:pt x="86" y="236"/>
                              <a:pt x="155" y="157"/>
                            </a:cubicBezTo>
                            <a:cubicBezTo>
                              <a:pt x="223" y="77"/>
                              <a:pt x="132" y="76"/>
                              <a:pt x="483" y="50"/>
                            </a:cubicBezTo>
                            <a:cubicBezTo>
                              <a:pt x="834" y="24"/>
                              <a:pt x="1890" y="10"/>
                              <a:pt x="2260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73456" name="任意多边形 573455"/>
                      <p:cNvSpPr/>
                      <p:nvPr/>
                    </p:nvSpPr>
                    <p:spPr>
                      <a:xfrm>
                        <a:off x="3200" y="1813"/>
                        <a:ext cx="2224" cy="178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24" h="1788">
                            <a:moveTo>
                              <a:pt x="0" y="1788"/>
                            </a:moveTo>
                            <a:cubicBezTo>
                              <a:pt x="15" y="1616"/>
                              <a:pt x="70" y="1000"/>
                              <a:pt x="89" y="754"/>
                            </a:cubicBezTo>
                            <a:cubicBezTo>
                              <a:pt x="108" y="508"/>
                              <a:pt x="92" y="417"/>
                              <a:pt x="112" y="312"/>
                            </a:cubicBezTo>
                            <a:cubicBezTo>
                              <a:pt x="132" y="207"/>
                              <a:pt x="121" y="171"/>
                              <a:pt x="209" y="125"/>
                            </a:cubicBezTo>
                            <a:cubicBezTo>
                              <a:pt x="297" y="79"/>
                              <a:pt x="304" y="57"/>
                              <a:pt x="640" y="36"/>
                            </a:cubicBezTo>
                            <a:cubicBezTo>
                              <a:pt x="976" y="15"/>
                              <a:pt x="1894" y="8"/>
                              <a:pt x="2224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73457" name="任意多边形 573456"/>
                      <p:cNvSpPr/>
                      <p:nvPr/>
                    </p:nvSpPr>
                    <p:spPr>
                      <a:xfrm>
                        <a:off x="3200" y="1260"/>
                        <a:ext cx="2212" cy="2377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12" h="2377">
                            <a:moveTo>
                              <a:pt x="0" y="2377"/>
                            </a:moveTo>
                            <a:cubicBezTo>
                              <a:pt x="15" y="2189"/>
                              <a:pt x="62" y="1583"/>
                              <a:pt x="93" y="1248"/>
                            </a:cubicBezTo>
                            <a:cubicBezTo>
                              <a:pt x="124" y="914"/>
                              <a:pt x="113" y="567"/>
                              <a:pt x="186" y="369"/>
                            </a:cubicBezTo>
                            <a:cubicBezTo>
                              <a:pt x="259" y="171"/>
                              <a:pt x="194" y="122"/>
                              <a:pt x="532" y="61"/>
                            </a:cubicBezTo>
                            <a:cubicBezTo>
                              <a:pt x="870" y="0"/>
                              <a:pt x="1862" y="13"/>
                              <a:pt x="2212" y="1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zh-CN" altLang="en-US" sz="2800">
                          <a:solidFill>
                            <a:srgbClr val="39393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573458" name="椭圆 573457"/>
              <p:cNvSpPr/>
              <p:nvPr/>
            </p:nvSpPr>
            <p:spPr>
              <a:xfrm>
                <a:off x="2556" y="1990"/>
                <a:ext cx="72" cy="72"/>
              </a:xfrm>
              <a:prstGeom prst="ellipse">
                <a:avLst/>
              </a:prstGeom>
              <a:solidFill>
                <a:srgbClr val="FF3300"/>
              </a:solidFill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3471" name="直接连接符 573470"/>
              <p:cNvSpPr/>
              <p:nvPr/>
            </p:nvSpPr>
            <p:spPr>
              <a:xfrm>
                <a:off x="2016" y="1464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73472" name="直接连接符 573471"/>
              <p:cNvSpPr/>
              <p:nvPr/>
            </p:nvSpPr>
            <p:spPr>
              <a:xfrm>
                <a:off x="2016" y="2676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73473" name="直接连接符 573472"/>
              <p:cNvSpPr/>
              <p:nvPr/>
            </p:nvSpPr>
            <p:spPr>
              <a:xfrm>
                <a:off x="2016" y="2040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grpSp>
            <p:nvGrpSpPr>
              <p:cNvPr id="573474" name="组合 573473"/>
              <p:cNvGrpSpPr/>
              <p:nvPr/>
            </p:nvGrpSpPr>
            <p:grpSpPr>
              <a:xfrm rot="-5400000" flipV="1">
                <a:off x="3237" y="1694"/>
                <a:ext cx="1204" cy="727"/>
                <a:chOff x="2040" y="2928"/>
                <a:chExt cx="1166" cy="936"/>
              </a:xfrm>
            </p:grpSpPr>
            <p:sp>
              <p:nvSpPr>
                <p:cNvPr id="573475" name="任意多边形 573474"/>
                <p:cNvSpPr/>
                <p:nvPr/>
              </p:nvSpPr>
              <p:spPr>
                <a:xfrm>
                  <a:off x="2592" y="2928"/>
                  <a:ext cx="614" cy="4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14" h="468">
                      <a:moveTo>
                        <a:pt x="0" y="0"/>
                      </a:moveTo>
                      <a:cubicBezTo>
                        <a:pt x="30" y="4"/>
                        <a:pt x="108" y="6"/>
                        <a:pt x="180" y="24"/>
                      </a:cubicBezTo>
                      <a:cubicBezTo>
                        <a:pt x="252" y="42"/>
                        <a:pt x="360" y="68"/>
                        <a:pt x="432" y="108"/>
                      </a:cubicBezTo>
                      <a:cubicBezTo>
                        <a:pt x="504" y="148"/>
                        <a:pt x="614" y="216"/>
                        <a:pt x="612" y="264"/>
                      </a:cubicBezTo>
                      <a:cubicBezTo>
                        <a:pt x="610" y="312"/>
                        <a:pt x="486" y="366"/>
                        <a:pt x="420" y="396"/>
                      </a:cubicBezTo>
                      <a:cubicBezTo>
                        <a:pt x="354" y="426"/>
                        <a:pt x="286" y="432"/>
                        <a:pt x="216" y="444"/>
                      </a:cubicBezTo>
                      <a:cubicBezTo>
                        <a:pt x="146" y="456"/>
                        <a:pt x="36" y="464"/>
                        <a:pt x="0" y="46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3476" name="任意多边形 573475"/>
                <p:cNvSpPr/>
                <p:nvPr/>
              </p:nvSpPr>
              <p:spPr>
                <a:xfrm flipH="1">
                  <a:off x="2040" y="3396"/>
                  <a:ext cx="614" cy="4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14" h="468">
                      <a:moveTo>
                        <a:pt x="0" y="0"/>
                      </a:moveTo>
                      <a:cubicBezTo>
                        <a:pt x="30" y="4"/>
                        <a:pt x="108" y="6"/>
                        <a:pt x="180" y="24"/>
                      </a:cubicBezTo>
                      <a:cubicBezTo>
                        <a:pt x="252" y="42"/>
                        <a:pt x="360" y="68"/>
                        <a:pt x="432" y="108"/>
                      </a:cubicBezTo>
                      <a:cubicBezTo>
                        <a:pt x="504" y="148"/>
                        <a:pt x="614" y="216"/>
                        <a:pt x="612" y="264"/>
                      </a:cubicBezTo>
                      <a:cubicBezTo>
                        <a:pt x="610" y="312"/>
                        <a:pt x="486" y="366"/>
                        <a:pt x="420" y="396"/>
                      </a:cubicBezTo>
                      <a:cubicBezTo>
                        <a:pt x="354" y="426"/>
                        <a:pt x="286" y="432"/>
                        <a:pt x="216" y="444"/>
                      </a:cubicBezTo>
                      <a:cubicBezTo>
                        <a:pt x="146" y="456"/>
                        <a:pt x="36" y="464"/>
                        <a:pt x="0" y="46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39393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73477" name="文本框 573476"/>
              <p:cNvSpPr txBox="1"/>
              <p:nvPr/>
            </p:nvSpPr>
            <p:spPr>
              <a:xfrm>
                <a:off x="4225" y="1380"/>
                <a:ext cx="305" cy="371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b="1" i="1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573478" name="矩形 573477"/>
          <p:cNvSpPr/>
          <p:nvPr/>
        </p:nvSpPr>
        <p:spPr>
          <a:xfrm>
            <a:off x="2133600" y="1"/>
            <a:ext cx="6167438" cy="5937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50000"/>
            </a:pP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．非线性失真与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点的关系</a:t>
            </a:r>
            <a:endParaRPr lang="zh-CN" altLang="en-US" sz="28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6" grpId="0" build="p"/>
      <p:bldP spid="573467" grpId="0" animBg="1"/>
      <p:bldP spid="57346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直接连接符 574465"/>
          <p:cNvSpPr/>
          <p:nvPr/>
        </p:nvSpPr>
        <p:spPr>
          <a:xfrm>
            <a:off x="3390900" y="1981200"/>
            <a:ext cx="2667000" cy="2781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74467" name="组合 574466"/>
          <p:cNvGrpSpPr/>
          <p:nvPr/>
        </p:nvGrpSpPr>
        <p:grpSpPr>
          <a:xfrm>
            <a:off x="3600450" y="1022350"/>
            <a:ext cx="4249814" cy="3551238"/>
            <a:chOff x="3264" y="1340"/>
            <a:chExt cx="1984" cy="2237"/>
          </a:xfrm>
        </p:grpSpPr>
        <p:sp>
          <p:nvSpPr>
            <p:cNvPr id="574468" name="文本框 574467"/>
            <p:cNvSpPr txBox="1"/>
            <p:nvPr/>
          </p:nvSpPr>
          <p:spPr>
            <a:xfrm>
              <a:off x="3315" y="1340"/>
              <a:ext cx="115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74469" name="文本框 574468"/>
            <p:cNvSpPr txBox="1"/>
            <p:nvPr/>
          </p:nvSpPr>
          <p:spPr>
            <a:xfrm>
              <a:off x="4900" y="3207"/>
              <a:ext cx="348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74470" name="组合 574469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74471" name="直接连接符 574470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74472" name="组合 574471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74473" name="直接连接符 574472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74474" name="组合 574473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74475" name="任意多边形 574474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476" name="任意多边形 574475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477" name="任意多边形 574476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478" name="任意多边形 574477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479" name="任意多边形 574478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4480" name="任意多边形 574479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574481" name="椭圆 574480"/>
          <p:cNvSpPr/>
          <p:nvPr/>
        </p:nvSpPr>
        <p:spPr>
          <a:xfrm>
            <a:off x="5162550" y="3810000"/>
            <a:ext cx="114300" cy="114300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4486" name="组合 574485"/>
          <p:cNvGrpSpPr/>
          <p:nvPr/>
        </p:nvGrpSpPr>
        <p:grpSpPr>
          <a:xfrm>
            <a:off x="3800475" y="4464050"/>
            <a:ext cx="1778000" cy="1485900"/>
            <a:chOff x="2412" y="2820"/>
            <a:chExt cx="808" cy="936"/>
          </a:xfrm>
        </p:grpSpPr>
        <p:sp>
          <p:nvSpPr>
            <p:cNvPr id="574487" name="任意多边形 574486"/>
            <p:cNvSpPr/>
            <p:nvPr/>
          </p:nvSpPr>
          <p:spPr>
            <a:xfrm>
              <a:off x="2964" y="2820"/>
              <a:ext cx="256" cy="468"/>
            </a:xfrm>
            <a:custGeom>
              <a:avLst/>
              <a:gdLst/>
              <a:ahLst/>
              <a:cxnLst/>
              <a:rect l="0" t="0" r="0" b="0"/>
              <a:pathLst>
                <a:path w="256" h="468">
                  <a:moveTo>
                    <a:pt x="0" y="0"/>
                  </a:moveTo>
                  <a:cubicBezTo>
                    <a:pt x="30" y="4"/>
                    <a:pt x="140" y="18"/>
                    <a:pt x="180" y="24"/>
                  </a:cubicBezTo>
                  <a:cubicBezTo>
                    <a:pt x="220" y="30"/>
                    <a:pt x="230" y="12"/>
                    <a:pt x="240" y="36"/>
                  </a:cubicBezTo>
                  <a:cubicBezTo>
                    <a:pt x="250" y="60"/>
                    <a:pt x="240" y="116"/>
                    <a:pt x="240" y="168"/>
                  </a:cubicBezTo>
                  <a:cubicBezTo>
                    <a:pt x="240" y="220"/>
                    <a:pt x="244" y="302"/>
                    <a:pt x="240" y="348"/>
                  </a:cubicBezTo>
                  <a:cubicBezTo>
                    <a:pt x="236" y="394"/>
                    <a:pt x="256" y="424"/>
                    <a:pt x="216" y="444"/>
                  </a:cubicBezTo>
                  <a:cubicBezTo>
                    <a:pt x="176" y="464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4488" name="任意多边形 574487"/>
            <p:cNvSpPr/>
            <p:nvPr/>
          </p:nvSpPr>
          <p:spPr>
            <a:xfrm flipH="1">
              <a:off x="2412" y="328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4489" name="文本框 574488"/>
          <p:cNvSpPr txBox="1"/>
          <p:nvPr/>
        </p:nvSpPr>
        <p:spPr>
          <a:xfrm>
            <a:off x="5695950" y="4915904"/>
            <a:ext cx="85725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4490" name="文本框 574489"/>
          <p:cNvSpPr txBox="1"/>
          <p:nvPr/>
        </p:nvSpPr>
        <p:spPr>
          <a:xfrm>
            <a:off x="2019300" y="297867"/>
            <a:ext cx="63627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点过低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信号进入截止区</a:t>
            </a:r>
            <a:endParaRPr lang="zh-CN" altLang="en-US" sz="32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4491" name="组合 574490"/>
          <p:cNvGrpSpPr/>
          <p:nvPr/>
        </p:nvGrpSpPr>
        <p:grpSpPr>
          <a:xfrm>
            <a:off x="7353300" y="3111500"/>
            <a:ext cx="2705100" cy="1282700"/>
            <a:chOff x="3672" y="1960"/>
            <a:chExt cx="1704" cy="808"/>
          </a:xfrm>
        </p:grpSpPr>
        <p:grpSp>
          <p:nvGrpSpPr>
            <p:cNvPr id="574492" name="组合 574491"/>
            <p:cNvGrpSpPr/>
            <p:nvPr/>
          </p:nvGrpSpPr>
          <p:grpSpPr>
            <a:xfrm rot="-5400000">
              <a:off x="3960" y="1896"/>
              <a:ext cx="808" cy="936"/>
              <a:chOff x="2412" y="2820"/>
              <a:chExt cx="808" cy="936"/>
            </a:xfrm>
          </p:grpSpPr>
          <p:sp>
            <p:nvSpPr>
              <p:cNvPr id="574493" name="任意多边形 574492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4494" name="任意多边形 574493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74495" name="直接连接符 574494"/>
            <p:cNvSpPr/>
            <p:nvPr/>
          </p:nvSpPr>
          <p:spPr>
            <a:xfrm>
              <a:off x="3672" y="2208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4496" name="文本框 574495"/>
          <p:cNvSpPr txBox="1"/>
          <p:nvPr/>
        </p:nvSpPr>
        <p:spPr>
          <a:xfrm>
            <a:off x="7467600" y="5106404"/>
            <a:ext cx="2705100" cy="58695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称为截止失真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4497" name="文本框 574496"/>
          <p:cNvSpPr txBox="1"/>
          <p:nvPr/>
        </p:nvSpPr>
        <p:spPr>
          <a:xfrm>
            <a:off x="7221538" y="1464679"/>
            <a:ext cx="2951162" cy="58695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输出信号波形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4503" name="组合 574502"/>
          <p:cNvGrpSpPr/>
          <p:nvPr/>
        </p:nvGrpSpPr>
        <p:grpSpPr>
          <a:xfrm>
            <a:off x="3756025" y="2214563"/>
            <a:ext cx="1785938" cy="4000500"/>
            <a:chOff x="1415" y="1355"/>
            <a:chExt cx="1125" cy="2520"/>
          </a:xfrm>
        </p:grpSpPr>
        <p:sp>
          <p:nvSpPr>
            <p:cNvPr id="574500" name="直接连接符 574499"/>
            <p:cNvSpPr/>
            <p:nvPr/>
          </p:nvSpPr>
          <p:spPr>
            <a:xfrm flipH="1">
              <a:off x="2540" y="2614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4501" name="直接连接符 574500"/>
            <p:cNvSpPr/>
            <p:nvPr/>
          </p:nvSpPr>
          <p:spPr>
            <a:xfrm>
              <a:off x="2337" y="2453"/>
              <a:ext cx="0" cy="140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4502" name="直接连接符 574501"/>
            <p:cNvSpPr/>
            <p:nvPr/>
          </p:nvSpPr>
          <p:spPr>
            <a:xfrm flipH="1">
              <a:off x="1415" y="1355"/>
              <a:ext cx="0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4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89" grpId="0" build="p"/>
      <p:bldP spid="574496" grpId="0" animBg="1"/>
      <p:bldP spid="57449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直接连接符 575489"/>
          <p:cNvSpPr/>
          <p:nvPr/>
        </p:nvSpPr>
        <p:spPr>
          <a:xfrm>
            <a:off x="3352800" y="1981200"/>
            <a:ext cx="2667000" cy="2781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75491" name="组合 575490"/>
          <p:cNvGrpSpPr/>
          <p:nvPr/>
        </p:nvGrpSpPr>
        <p:grpSpPr>
          <a:xfrm>
            <a:off x="3600450" y="1155700"/>
            <a:ext cx="3936882" cy="3551238"/>
            <a:chOff x="3264" y="1340"/>
            <a:chExt cx="2014" cy="2237"/>
          </a:xfrm>
        </p:grpSpPr>
        <p:sp>
          <p:nvSpPr>
            <p:cNvPr id="575492" name="文本框 575491"/>
            <p:cNvSpPr txBox="1"/>
            <p:nvPr/>
          </p:nvSpPr>
          <p:spPr>
            <a:xfrm>
              <a:off x="3315" y="1340"/>
              <a:ext cx="115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75493" name="文本框 575492"/>
            <p:cNvSpPr txBox="1"/>
            <p:nvPr/>
          </p:nvSpPr>
          <p:spPr>
            <a:xfrm>
              <a:off x="4874" y="3207"/>
              <a:ext cx="40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75494" name="组合 575493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75495" name="直接连接符 575494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75496" name="组合 575495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75497" name="直接连接符 575496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75498" name="组合 575497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75499" name="任意多边形 575498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5500" name="任意多边形 575499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5501" name="任意多边形 575500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5502" name="任意多边形 575501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5503" name="任意多边形 575502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5504" name="任意多边形 575503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393939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575505" name="椭圆 575504"/>
          <p:cNvSpPr/>
          <p:nvPr/>
        </p:nvSpPr>
        <p:spPr>
          <a:xfrm>
            <a:off x="4025900" y="2619375"/>
            <a:ext cx="90488" cy="134938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5510" name="组合 575509"/>
          <p:cNvGrpSpPr/>
          <p:nvPr/>
        </p:nvGrpSpPr>
        <p:grpSpPr>
          <a:xfrm flipH="1">
            <a:off x="3733800" y="4533900"/>
            <a:ext cx="1752600" cy="1485900"/>
            <a:chOff x="2412" y="2820"/>
            <a:chExt cx="808" cy="936"/>
          </a:xfrm>
        </p:grpSpPr>
        <p:sp>
          <p:nvSpPr>
            <p:cNvPr id="575511" name="任意多边形 575510"/>
            <p:cNvSpPr/>
            <p:nvPr/>
          </p:nvSpPr>
          <p:spPr>
            <a:xfrm>
              <a:off x="2964" y="2820"/>
              <a:ext cx="256" cy="468"/>
            </a:xfrm>
            <a:custGeom>
              <a:avLst/>
              <a:gdLst/>
              <a:ahLst/>
              <a:cxnLst/>
              <a:rect l="0" t="0" r="0" b="0"/>
              <a:pathLst>
                <a:path w="256" h="468">
                  <a:moveTo>
                    <a:pt x="0" y="0"/>
                  </a:moveTo>
                  <a:cubicBezTo>
                    <a:pt x="30" y="4"/>
                    <a:pt x="140" y="18"/>
                    <a:pt x="180" y="24"/>
                  </a:cubicBezTo>
                  <a:cubicBezTo>
                    <a:pt x="220" y="30"/>
                    <a:pt x="230" y="12"/>
                    <a:pt x="240" y="36"/>
                  </a:cubicBezTo>
                  <a:cubicBezTo>
                    <a:pt x="250" y="60"/>
                    <a:pt x="240" y="116"/>
                    <a:pt x="240" y="168"/>
                  </a:cubicBezTo>
                  <a:cubicBezTo>
                    <a:pt x="240" y="220"/>
                    <a:pt x="244" y="302"/>
                    <a:pt x="240" y="348"/>
                  </a:cubicBezTo>
                  <a:cubicBezTo>
                    <a:pt x="236" y="394"/>
                    <a:pt x="256" y="424"/>
                    <a:pt x="216" y="444"/>
                  </a:cubicBezTo>
                  <a:cubicBezTo>
                    <a:pt x="176" y="464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5512" name="任意多边形 575511"/>
            <p:cNvSpPr/>
            <p:nvPr/>
          </p:nvSpPr>
          <p:spPr>
            <a:xfrm flipH="1">
              <a:off x="2412" y="328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5513" name="文本框 575512"/>
          <p:cNvSpPr txBox="1"/>
          <p:nvPr/>
        </p:nvSpPr>
        <p:spPr>
          <a:xfrm>
            <a:off x="5695950" y="4915904"/>
            <a:ext cx="85725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14" name="文本框 575513"/>
          <p:cNvSpPr txBox="1"/>
          <p:nvPr/>
        </p:nvSpPr>
        <p:spPr>
          <a:xfrm>
            <a:off x="2019300" y="297867"/>
            <a:ext cx="61468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点过高</a:t>
            </a:r>
            <a:r>
              <a:rPr lang="en-US" altLang="zh-CN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信号进入饱和区</a:t>
            </a:r>
          </a:p>
        </p:txBody>
      </p:sp>
      <p:grpSp>
        <p:nvGrpSpPr>
          <p:cNvPr id="575515" name="组合 575514"/>
          <p:cNvGrpSpPr/>
          <p:nvPr/>
        </p:nvGrpSpPr>
        <p:grpSpPr>
          <a:xfrm>
            <a:off x="7391400" y="1676400"/>
            <a:ext cx="2705100" cy="1282700"/>
            <a:chOff x="3696" y="1056"/>
            <a:chExt cx="1704" cy="808"/>
          </a:xfrm>
        </p:grpSpPr>
        <p:grpSp>
          <p:nvGrpSpPr>
            <p:cNvPr id="575516" name="组合 575515"/>
            <p:cNvGrpSpPr/>
            <p:nvPr/>
          </p:nvGrpSpPr>
          <p:grpSpPr>
            <a:xfrm rot="5400000" flipV="1">
              <a:off x="3984" y="992"/>
              <a:ext cx="808" cy="936"/>
              <a:chOff x="2412" y="2820"/>
              <a:chExt cx="808" cy="936"/>
            </a:xfrm>
          </p:grpSpPr>
          <p:sp>
            <p:nvSpPr>
              <p:cNvPr id="575517" name="任意多边形 575516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5518" name="任意多边形 575517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75519" name="直接连接符 575518"/>
            <p:cNvSpPr/>
            <p:nvPr/>
          </p:nvSpPr>
          <p:spPr>
            <a:xfrm flipV="1">
              <a:off x="3696" y="1616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5520" name="文本框 575519"/>
          <p:cNvSpPr txBox="1"/>
          <p:nvPr/>
        </p:nvSpPr>
        <p:spPr>
          <a:xfrm>
            <a:off x="7467600" y="3291891"/>
            <a:ext cx="2705100" cy="58695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称为饱和失真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21" name="文本框 575520"/>
          <p:cNvSpPr txBox="1"/>
          <p:nvPr/>
        </p:nvSpPr>
        <p:spPr>
          <a:xfrm>
            <a:off x="7620001" y="929691"/>
            <a:ext cx="2797175" cy="58695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输出信号波形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23" name="文本框 575522"/>
          <p:cNvSpPr txBox="1"/>
          <p:nvPr/>
        </p:nvSpPr>
        <p:spPr>
          <a:xfrm>
            <a:off x="7239000" y="4795531"/>
            <a:ext cx="3429000" cy="956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截止失真和饱和失真统称</a:t>
            </a:r>
            <a:r>
              <a:rPr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非线性失真</a:t>
            </a:r>
            <a:r>
              <a:rPr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</a:p>
        </p:txBody>
      </p:sp>
      <p:grpSp>
        <p:nvGrpSpPr>
          <p:cNvPr id="575536" name="组合 575535"/>
          <p:cNvGrpSpPr/>
          <p:nvPr/>
        </p:nvGrpSpPr>
        <p:grpSpPr>
          <a:xfrm>
            <a:off x="3709989" y="2259014"/>
            <a:ext cx="1806575" cy="4078287"/>
            <a:chOff x="1402" y="1376"/>
            <a:chExt cx="1138" cy="2569"/>
          </a:xfrm>
        </p:grpSpPr>
        <p:sp>
          <p:nvSpPr>
            <p:cNvPr id="575533" name="直接连接符 575532"/>
            <p:cNvSpPr/>
            <p:nvPr/>
          </p:nvSpPr>
          <p:spPr>
            <a:xfrm flipH="1">
              <a:off x="2540" y="2614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5534" name="直接连接符 575533"/>
            <p:cNvSpPr/>
            <p:nvPr/>
          </p:nvSpPr>
          <p:spPr>
            <a:xfrm flipH="1">
              <a:off x="1629" y="1461"/>
              <a:ext cx="0" cy="24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5535" name="直接连接符 575534"/>
            <p:cNvSpPr/>
            <p:nvPr/>
          </p:nvSpPr>
          <p:spPr>
            <a:xfrm flipH="1">
              <a:off x="1402" y="1376"/>
              <a:ext cx="0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5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13" grpId="0" build="p"/>
      <p:bldP spid="575520" grpId="0" animBg="1"/>
      <p:bldP spid="575521" grpId="0" animBg="1"/>
      <p:bldP spid="5755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文本框 576513"/>
          <p:cNvSpPr txBox="1"/>
          <p:nvPr/>
        </p:nvSpPr>
        <p:spPr>
          <a:xfrm>
            <a:off x="2225676" y="1449388"/>
            <a:ext cx="44100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思路：将非线性的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BJT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等效成一个线性电路</a:t>
            </a:r>
          </a:p>
        </p:txBody>
      </p:sp>
      <p:sp>
        <p:nvSpPr>
          <p:cNvPr id="576515" name="文本框 576514"/>
          <p:cNvSpPr txBox="1"/>
          <p:nvPr/>
        </p:nvSpPr>
        <p:spPr>
          <a:xfrm>
            <a:off x="2135189" y="2619375"/>
            <a:ext cx="37353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条件：交流小信号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76516" name="图片 576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3450274"/>
            <a:ext cx="3048000" cy="263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6518" name="右箭头 576517"/>
          <p:cNvSpPr/>
          <p:nvPr/>
        </p:nvSpPr>
        <p:spPr>
          <a:xfrm>
            <a:off x="5286375" y="4688523"/>
            <a:ext cx="762000" cy="374650"/>
          </a:xfrm>
          <a:prstGeom prst="rightArrow">
            <a:avLst>
              <a:gd name="adj1" fmla="val 50000"/>
              <a:gd name="adj2" fmla="val 50847"/>
            </a:avLst>
          </a:prstGeom>
          <a:solidFill>
            <a:srgbClr val="FF99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6520" name="文本框 576519"/>
          <p:cNvSpPr txBox="1"/>
          <p:nvPr/>
        </p:nvSpPr>
        <p:spPr>
          <a:xfrm>
            <a:off x="3395663" y="368300"/>
            <a:ext cx="460851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2.4.3  </a:t>
            </a:r>
            <a:r>
              <a:rPr lang="zh-CN" altLang="en-US" sz="28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小信号模型分析法</a:t>
            </a:r>
          </a:p>
        </p:txBody>
      </p:sp>
      <p:pic>
        <p:nvPicPr>
          <p:cNvPr id="576521" name="图片 576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48" y="773113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Group 24"/>
          <p:cNvGrpSpPr/>
          <p:nvPr/>
        </p:nvGrpSpPr>
        <p:grpSpPr>
          <a:xfrm>
            <a:off x="6488748" y="3653790"/>
            <a:ext cx="3276600" cy="2078038"/>
            <a:chOff x="3504" y="2064"/>
            <a:chExt cx="2064" cy="1309"/>
          </a:xfrm>
        </p:grpSpPr>
        <p:pic>
          <p:nvPicPr>
            <p:cNvPr id="78860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4" y="2064"/>
              <a:ext cx="2064" cy="1309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78861" name="Group 26"/>
            <p:cNvGrpSpPr/>
            <p:nvPr/>
          </p:nvGrpSpPr>
          <p:grpSpPr>
            <a:xfrm>
              <a:off x="4656" y="2688"/>
              <a:ext cx="288" cy="294"/>
              <a:chOff x="1536" y="2682"/>
              <a:chExt cx="288" cy="294"/>
            </a:xfrm>
          </p:grpSpPr>
          <p:sp>
            <p:nvSpPr>
              <p:cNvPr id="78862" name="Rectangle 27"/>
              <p:cNvSpPr/>
              <p:nvPr/>
            </p:nvSpPr>
            <p:spPr>
              <a:xfrm>
                <a:off x="15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anchor="ctr" anchorCtr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dirty="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8863" name="Group 28"/>
              <p:cNvGrpSpPr/>
              <p:nvPr/>
            </p:nvGrpSpPr>
            <p:grpSpPr>
              <a:xfrm>
                <a:off x="1583" y="2682"/>
                <a:ext cx="192" cy="288"/>
                <a:chOff x="3120" y="3648"/>
                <a:chExt cx="192" cy="288"/>
              </a:xfrm>
            </p:grpSpPr>
            <p:grpSp>
              <p:nvGrpSpPr>
                <p:cNvPr id="78864" name="Group 29"/>
                <p:cNvGrpSpPr/>
                <p:nvPr/>
              </p:nvGrpSpPr>
              <p:grpSpPr>
                <a:xfrm>
                  <a:off x="3120" y="3648"/>
                  <a:ext cx="192" cy="288"/>
                  <a:chOff x="2496" y="3648"/>
                  <a:chExt cx="192" cy="288"/>
                </a:xfrm>
              </p:grpSpPr>
              <p:sp>
                <p:nvSpPr>
                  <p:cNvPr id="78865" name="Line 30"/>
                  <p:cNvSpPr/>
                  <p:nvPr/>
                </p:nvSpPr>
                <p:spPr>
                  <a:xfrm flipH="1">
                    <a:off x="2496" y="3648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6" name="Line 31"/>
                  <p:cNvSpPr/>
                  <p:nvPr/>
                </p:nvSpPr>
                <p:spPr>
                  <a:xfrm flipH="1">
                    <a:off x="2592" y="3792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7" name="Line 32"/>
                  <p:cNvSpPr/>
                  <p:nvPr/>
                </p:nvSpPr>
                <p:spPr>
                  <a:xfrm>
                    <a:off x="2592" y="3648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8" name="Line 33"/>
                  <p:cNvSpPr/>
                  <p:nvPr/>
                </p:nvSpPr>
                <p:spPr>
                  <a:xfrm>
                    <a:off x="2496" y="3792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78869" name="Line 34"/>
                <p:cNvSpPr/>
                <p:nvPr/>
              </p:nvSpPr>
              <p:spPr>
                <a:xfrm>
                  <a:off x="3120" y="3792"/>
                  <a:ext cx="192" cy="0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</p:grpSp>
      </p:grpSp>
      <p:graphicFrame>
        <p:nvGraphicFramePr>
          <p:cNvPr id="710676" name="Object 20"/>
          <p:cNvGraphicFramePr/>
          <p:nvPr/>
        </p:nvGraphicFramePr>
        <p:xfrm>
          <a:off x="6455728" y="5934393"/>
          <a:ext cx="12557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70865" imgH="254000" progId="Equation.DSMT4">
                  <p:embed/>
                </p:oleObj>
              </mc:Choice>
              <mc:Fallback>
                <p:oleObj r:id="rId5" imgW="570865" imgH="254000" progId="Equation.DSMT4">
                  <p:embed/>
                  <p:pic>
                    <p:nvPicPr>
                      <p:cNvPr id="710676" name="Object 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55728" y="5934393"/>
                        <a:ext cx="1255712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77" name="Object 21"/>
          <p:cNvGraphicFramePr/>
          <p:nvPr/>
        </p:nvGraphicFramePr>
        <p:xfrm>
          <a:off x="8436611" y="5934393"/>
          <a:ext cx="976313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43865" imgH="254000" progId="Equation.DSMT4">
                  <p:embed/>
                </p:oleObj>
              </mc:Choice>
              <mc:Fallback>
                <p:oleObj r:id="rId7" imgW="443865" imgH="254000" progId="Equation.DSMT4">
                  <p:embed/>
                  <p:pic>
                    <p:nvPicPr>
                      <p:cNvPr id="710677" name="Object 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36611" y="5934393"/>
                        <a:ext cx="976313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880610" y="5063491"/>
            <a:ext cx="17741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39393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h</a:t>
            </a:r>
            <a:r>
              <a:rPr lang="zh-CN" altLang="en-US" sz="2400" b="1" dirty="0">
                <a:solidFill>
                  <a:srgbClr val="39393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参数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9393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小信号模型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57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4" grpId="0"/>
      <p:bldP spid="576515" grpId="0"/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文本框 582657"/>
          <p:cNvSpPr txBox="1"/>
          <p:nvPr/>
        </p:nvSpPr>
        <p:spPr>
          <a:xfrm>
            <a:off x="2133601" y="381000"/>
            <a:ext cx="26130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的计算：</a:t>
            </a:r>
          </a:p>
        </p:txBody>
      </p:sp>
      <p:sp>
        <p:nvSpPr>
          <p:cNvPr id="582659" name="文本框 582658"/>
          <p:cNvSpPr txBox="1"/>
          <p:nvPr/>
        </p:nvSpPr>
        <p:spPr>
          <a:xfrm>
            <a:off x="2057400" y="1066801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结的电流公式：</a:t>
            </a:r>
          </a:p>
        </p:txBody>
      </p:sp>
      <p:graphicFrame>
        <p:nvGraphicFramePr>
          <p:cNvPr id="582660" name="对象 582659"/>
          <p:cNvGraphicFramePr/>
          <p:nvPr/>
        </p:nvGraphicFramePr>
        <p:xfrm>
          <a:off x="2514600" y="1600200"/>
          <a:ext cx="2590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54430" imgH="266065" progId="Equation.DSMT4">
                  <p:embed/>
                </p:oleObj>
              </mc:Choice>
              <mc:Fallback>
                <p:oleObj r:id="rId2" imgW="1154430" imgH="266065" progId="Equation.DSMT4">
                  <p:embed/>
                  <p:pic>
                    <p:nvPicPr>
                      <p:cNvPr id="582660" name="对象 58265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1600200"/>
                        <a:ext cx="25908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61" name="对象 582660"/>
          <p:cNvGraphicFramePr/>
          <p:nvPr/>
        </p:nvGraphicFramePr>
        <p:xfrm>
          <a:off x="2362201" y="2349501"/>
          <a:ext cx="14144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5800" imgH="444500" progId="Equation.DSMT4">
                  <p:embed/>
                </p:oleObj>
              </mc:Choice>
              <mc:Fallback>
                <p:oleObj r:id="rId2" imgW="685800" imgH="444500" progId="Equation.DSMT4">
                  <p:embed/>
                  <p:pic>
                    <p:nvPicPr>
                      <p:cNvPr id="582661" name="对象 5826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2201" y="2349501"/>
                        <a:ext cx="1414463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62" name="对象 582661"/>
          <p:cNvGraphicFramePr/>
          <p:nvPr/>
        </p:nvGraphicFramePr>
        <p:xfrm>
          <a:off x="3852864" y="2271713"/>
          <a:ext cx="27384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93165" imgH="444500" progId="Equation.DSMT4">
                  <p:embed/>
                </p:oleObj>
              </mc:Choice>
              <mc:Fallback>
                <p:oleObj r:id="rId2" imgW="1193165" imgH="444500" progId="Equation.DSMT4">
                  <p:embed/>
                  <p:pic>
                    <p:nvPicPr>
                      <p:cNvPr id="582662" name="对象 58266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2864" y="2271713"/>
                        <a:ext cx="2738437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2663" name="组合 582662"/>
          <p:cNvGrpSpPr/>
          <p:nvPr/>
        </p:nvGrpSpPr>
        <p:grpSpPr>
          <a:xfrm>
            <a:off x="2389188" y="3492501"/>
            <a:ext cx="4697412" cy="969963"/>
            <a:chOff x="545" y="2200"/>
            <a:chExt cx="2959" cy="611"/>
          </a:xfrm>
        </p:grpSpPr>
        <p:graphicFrame>
          <p:nvGraphicFramePr>
            <p:cNvPr id="582664" name="对象 582663"/>
            <p:cNvGraphicFramePr/>
            <p:nvPr/>
          </p:nvGraphicFramePr>
          <p:xfrm>
            <a:off x="545" y="2200"/>
            <a:ext cx="1453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53465" imgH="444500" progId="Equation.DSMT4">
                    <p:embed/>
                  </p:oleObj>
                </mc:Choice>
                <mc:Fallback>
                  <p:oleObj r:id="rId2" imgW="1053465" imgH="444500" progId="Equation.DSMT4">
                    <p:embed/>
                    <p:pic>
                      <p:nvPicPr>
                        <p:cNvPr id="582664" name="对象 5826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5" y="2200"/>
                          <a:ext cx="1453" cy="6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2665" name="文本框 582664"/>
            <p:cNvSpPr txBox="1"/>
            <p:nvPr/>
          </p:nvSpPr>
          <p:spPr>
            <a:xfrm>
              <a:off x="2064" y="2304"/>
              <a:ext cx="14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（常温下）</a:t>
              </a:r>
            </a:p>
          </p:txBody>
        </p:sp>
      </p:grpSp>
      <p:graphicFrame>
        <p:nvGraphicFramePr>
          <p:cNvPr id="582666" name="对象 582665"/>
          <p:cNvGraphicFramePr/>
          <p:nvPr/>
        </p:nvGraphicFramePr>
        <p:xfrm>
          <a:off x="2222501" y="4403725"/>
          <a:ext cx="662781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0" imgH="469900" progId="Equation.DSMT4">
                  <p:embed/>
                </p:oleObj>
              </mc:Choice>
              <mc:Fallback>
                <p:oleObj r:id="rId2" imgW="2667000" imgH="469900" progId="Equation.DSMT4">
                  <p:embed/>
                  <p:pic>
                    <p:nvPicPr>
                      <p:cNvPr id="582666" name="对象 58266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22501" y="4403725"/>
                        <a:ext cx="6627813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67" name="文本框 582666"/>
          <p:cNvSpPr txBox="1"/>
          <p:nvPr/>
        </p:nvSpPr>
        <p:spPr>
          <a:xfrm>
            <a:off x="7467600" y="4191001"/>
            <a:ext cx="28956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其中：</a:t>
            </a:r>
            <a:r>
              <a:rPr lang="en-US" altLang="zh-CN" sz="2800" b="1" i="1" dirty="0" err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 err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bb</a:t>
            </a:r>
            <a:r>
              <a:rPr lang="en-US" altLang="zh-CN" sz="2800" b="1" baseline="-250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=200Ω</a:t>
            </a:r>
          </a:p>
        </p:txBody>
      </p:sp>
      <p:pic>
        <p:nvPicPr>
          <p:cNvPr id="582668" name="图片 5826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1" y="228600"/>
            <a:ext cx="2581275" cy="4038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82669" name="组合 582668"/>
          <p:cNvGrpSpPr/>
          <p:nvPr/>
        </p:nvGrpSpPr>
        <p:grpSpPr>
          <a:xfrm>
            <a:off x="2362200" y="5562600"/>
            <a:ext cx="7239000" cy="1079500"/>
            <a:chOff x="528" y="3504"/>
            <a:chExt cx="4560" cy="680"/>
          </a:xfrm>
        </p:grpSpPr>
        <p:sp>
          <p:nvSpPr>
            <p:cNvPr id="582670" name="文本框 582669"/>
            <p:cNvSpPr txBox="1"/>
            <p:nvPr/>
          </p:nvSpPr>
          <p:spPr>
            <a:xfrm>
              <a:off x="528" y="3504"/>
              <a:ext cx="4560" cy="640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82671" name="组合 582670"/>
            <p:cNvGrpSpPr/>
            <p:nvPr/>
          </p:nvGrpSpPr>
          <p:grpSpPr>
            <a:xfrm>
              <a:off x="912" y="3504"/>
              <a:ext cx="3575" cy="680"/>
              <a:chOff x="720" y="3456"/>
              <a:chExt cx="3575" cy="680"/>
            </a:xfrm>
          </p:grpSpPr>
          <p:graphicFrame>
            <p:nvGraphicFramePr>
              <p:cNvPr id="582672" name="对象 582671"/>
              <p:cNvGraphicFramePr/>
              <p:nvPr/>
            </p:nvGraphicFramePr>
            <p:xfrm>
              <a:off x="1632" y="3456"/>
              <a:ext cx="2663" cy="6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1701165" imgH="431800" progId="Equation.3">
                      <p:embed/>
                    </p:oleObj>
                  </mc:Choice>
                  <mc:Fallback>
                    <p:oleObj r:id="rId2" imgW="1701165" imgH="431800" progId="Equation.3">
                      <p:embed/>
                      <p:pic>
                        <p:nvPicPr>
                          <p:cNvPr id="582672" name="对象 58267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632" y="3456"/>
                            <a:ext cx="2663" cy="6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2673" name="文本框 582672"/>
              <p:cNvSpPr txBox="1"/>
              <p:nvPr/>
            </p:nvSpPr>
            <p:spPr>
              <a:xfrm>
                <a:off x="720" y="3600"/>
                <a:ext cx="8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所以：</a:t>
                </a:r>
              </a:p>
            </p:txBody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9" grpId="0"/>
      <p:bldP spid="58266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文本框 584705"/>
          <p:cNvSpPr txBox="1"/>
          <p:nvPr/>
        </p:nvSpPr>
        <p:spPr>
          <a:xfrm>
            <a:off x="1685926" y="455645"/>
            <a:ext cx="4225925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电压放大倍数的计算：</a:t>
            </a:r>
            <a:endParaRPr lang="zh-CN" altLang="en-US" sz="28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84707" name="对象 584706"/>
          <p:cNvGraphicFramePr/>
          <p:nvPr/>
        </p:nvGraphicFramePr>
        <p:xfrm>
          <a:off x="2665413" y="4038601"/>
          <a:ext cx="1331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3400" imgH="228600" progId="Equation.3">
                  <p:embed/>
                </p:oleObj>
              </mc:Choice>
              <mc:Fallback>
                <p:oleObj r:id="rId2" imgW="533400" imgH="228600" progId="Equation.3">
                  <p:embed/>
                  <p:pic>
                    <p:nvPicPr>
                      <p:cNvPr id="584707" name="对象 58470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5413" y="4038601"/>
                        <a:ext cx="1331912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08" name="对象 584707"/>
          <p:cNvGraphicFramePr/>
          <p:nvPr/>
        </p:nvGraphicFramePr>
        <p:xfrm>
          <a:off x="2652714" y="4800601"/>
          <a:ext cx="17859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4065" imgH="228600" progId="Equation.DSMT4">
                  <p:embed/>
                </p:oleObj>
              </mc:Choice>
              <mc:Fallback>
                <p:oleObj r:id="rId2" imgW="774065" imgH="228600" progId="Equation.DSMT4">
                  <p:embed/>
                  <p:pic>
                    <p:nvPicPr>
                      <p:cNvPr id="584708" name="对象 5847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2714" y="4800601"/>
                        <a:ext cx="1785937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09" name="对象 584708"/>
          <p:cNvGraphicFramePr/>
          <p:nvPr/>
        </p:nvGraphicFramePr>
        <p:xfrm>
          <a:off x="4673601" y="4191001"/>
          <a:ext cx="26955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8865" imgH="431800" progId="Equation.3">
                  <p:embed/>
                </p:oleObj>
              </mc:Choice>
              <mc:Fallback>
                <p:oleObj r:id="rId2" imgW="1078865" imgH="431800" progId="Equation.3">
                  <p:embed/>
                  <p:pic>
                    <p:nvPicPr>
                      <p:cNvPr id="584709" name="对象 58470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3601" y="4191001"/>
                        <a:ext cx="2695575" cy="107791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10" name="对象 584709"/>
          <p:cNvGraphicFramePr/>
          <p:nvPr/>
        </p:nvGraphicFramePr>
        <p:xfrm>
          <a:off x="7620000" y="441960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25500" imgH="228600" progId="Equation.3">
                  <p:embed/>
                </p:oleObj>
              </mc:Choice>
              <mc:Fallback>
                <p:oleObj r:id="rId2" imgW="825500" imgH="228600" progId="Equation.3">
                  <p:embed/>
                  <p:pic>
                    <p:nvPicPr>
                      <p:cNvPr id="584710" name="对象 5847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0" y="4419600"/>
                        <a:ext cx="2070100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11" name="文本框 584710"/>
          <p:cNvSpPr txBox="1"/>
          <p:nvPr/>
        </p:nvSpPr>
        <p:spPr>
          <a:xfrm>
            <a:off x="3352800" y="5711242"/>
            <a:ext cx="594360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负载电阻越小，放大倍数越小。</a:t>
            </a:r>
            <a:endParaRPr lang="zh-CN" altLang="en-US" sz="3200" b="1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1219200"/>
            <a:ext cx="5810250" cy="26368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28" name="Group 9"/>
          <p:cNvGrpSpPr/>
          <p:nvPr/>
        </p:nvGrpSpPr>
        <p:grpSpPr>
          <a:xfrm>
            <a:off x="6254750" y="2452689"/>
            <a:ext cx="457200" cy="466725"/>
            <a:chOff x="1536" y="2682"/>
            <a:chExt cx="288" cy="294"/>
          </a:xfrm>
        </p:grpSpPr>
        <p:sp>
          <p:nvSpPr>
            <p:cNvPr id="81929" name="Rectangle 10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1930" name="Group 11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1931" name="Group 12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1932" name="Line 13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3" name="Line 14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4" name="Line 15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5" name="Line 16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1936" name="Line 17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4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1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754" name="Object 2"/>
          <p:cNvGraphicFramePr/>
          <p:nvPr/>
        </p:nvGraphicFramePr>
        <p:xfrm>
          <a:off x="2332038" y="1400176"/>
          <a:ext cx="136366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5300" imgH="482600" progId="Equation.3">
                  <p:embed/>
                </p:oleObj>
              </mc:Choice>
              <mc:Fallback>
                <p:oleObj r:id="rId2" imgW="495300" imgH="482600" progId="Equation.3">
                  <p:embed/>
                  <p:pic>
                    <p:nvPicPr>
                      <p:cNvPr id="586754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2038" y="1400176"/>
                        <a:ext cx="1363662" cy="1323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5" name="Object 3"/>
          <p:cNvGraphicFramePr/>
          <p:nvPr/>
        </p:nvGraphicFramePr>
        <p:xfrm>
          <a:off x="2209800" y="3006726"/>
          <a:ext cx="16002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3400" imgH="228600" progId="Equation.3">
                  <p:embed/>
                </p:oleObj>
              </mc:Choice>
              <mc:Fallback>
                <p:oleObj r:id="rId4" imgW="533400" imgH="228600" progId="Equation.3">
                  <p:embed/>
                  <p:pic>
                    <p:nvPicPr>
                      <p:cNvPr id="586755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9800" y="3006726"/>
                        <a:ext cx="1600200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6" name="Object 4"/>
          <p:cNvGraphicFramePr/>
          <p:nvPr/>
        </p:nvGraphicFramePr>
        <p:xfrm>
          <a:off x="3836989" y="2846389"/>
          <a:ext cx="11779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4800" imgH="228600" progId="Equation.3">
                  <p:embed/>
                </p:oleObj>
              </mc:Choice>
              <mc:Fallback>
                <p:oleObj r:id="rId6" imgW="304800" imgH="228600" progId="Equation.3">
                  <p:embed/>
                  <p:pic>
                    <p:nvPicPr>
                      <p:cNvPr id="586756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36989" y="2846389"/>
                        <a:ext cx="117792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757" name="Text Box 5"/>
          <p:cNvSpPr txBox="1"/>
          <p:nvPr/>
        </p:nvSpPr>
        <p:spPr>
          <a:xfrm>
            <a:off x="2609850" y="4320273"/>
            <a:ext cx="7334250" cy="157184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indent="66675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电路的输入电阻越大，从信号源取得的电流越小，因此一般总是希望得到较大的的输入电阻。</a:t>
            </a:r>
          </a:p>
        </p:txBody>
      </p:sp>
      <p:sp>
        <p:nvSpPr>
          <p:cNvPr id="83973" name="Text Box 6"/>
          <p:cNvSpPr txBox="1"/>
          <p:nvPr/>
        </p:nvSpPr>
        <p:spPr>
          <a:xfrm>
            <a:off x="1820864" y="230220"/>
            <a:ext cx="3595687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输入电阻的计算：</a:t>
            </a:r>
          </a:p>
        </p:txBody>
      </p:sp>
      <p:sp>
        <p:nvSpPr>
          <p:cNvPr id="586759" name="Text Box 7"/>
          <p:cNvSpPr txBox="1"/>
          <p:nvPr/>
        </p:nvSpPr>
        <p:spPr>
          <a:xfrm>
            <a:off x="1905000" y="987457"/>
            <a:ext cx="3962400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根据输入电阻的定义：</a:t>
            </a:r>
          </a:p>
        </p:txBody>
      </p:sp>
      <p:pic>
        <p:nvPicPr>
          <p:cNvPr id="83975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371601"/>
            <a:ext cx="5410200" cy="26844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3976" name="Group 9"/>
          <p:cNvGrpSpPr/>
          <p:nvPr/>
        </p:nvGrpSpPr>
        <p:grpSpPr>
          <a:xfrm>
            <a:off x="7708900" y="2528889"/>
            <a:ext cx="412750" cy="466725"/>
            <a:chOff x="1536" y="2682"/>
            <a:chExt cx="288" cy="294"/>
          </a:xfrm>
        </p:grpSpPr>
        <p:sp>
          <p:nvSpPr>
            <p:cNvPr id="83977" name="Rectangle 10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3978" name="Group 11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3979" name="Group 12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3980" name="Line 13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1" name="Line 14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2" name="Line 15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3" name="Line 16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3984" name="Line 17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6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7" grpId="0"/>
      <p:bldP spid="5867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895600"/>
            <a:ext cx="5715000" cy="34671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87779" name="Object 3"/>
          <p:cNvGraphicFramePr/>
          <p:nvPr/>
        </p:nvGraphicFramePr>
        <p:xfrm>
          <a:off x="2295526" y="4114800"/>
          <a:ext cx="19907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99465" imgH="431800" progId="Equation.DSMT4">
                  <p:embed/>
                </p:oleObj>
              </mc:Choice>
              <mc:Fallback>
                <p:oleObj r:id="rId3" imgW="799465" imgH="431800" progId="Equation.DSMT4">
                  <p:embed/>
                  <p:pic>
                    <p:nvPicPr>
                      <p:cNvPr id="587779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5526" y="4114800"/>
                        <a:ext cx="19907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0" name="Text Box 4"/>
          <p:cNvSpPr txBox="1"/>
          <p:nvPr/>
        </p:nvSpPr>
        <p:spPr>
          <a:xfrm>
            <a:off x="2286000" y="3501442"/>
            <a:ext cx="2000250" cy="58695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所以：</a:t>
            </a:r>
            <a:endParaRPr lang="zh-CN" altLang="en-US" sz="3200" dirty="0">
              <a:solidFill>
                <a:srgbClr val="393939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84996" name="Text Box 5"/>
          <p:cNvSpPr txBox="1"/>
          <p:nvPr/>
        </p:nvSpPr>
        <p:spPr>
          <a:xfrm>
            <a:off x="1524000" y="365157"/>
            <a:ext cx="3246438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输出电阻的计算：</a:t>
            </a:r>
          </a:p>
        </p:txBody>
      </p:sp>
      <p:sp>
        <p:nvSpPr>
          <p:cNvPr id="587782" name="Text Box 6"/>
          <p:cNvSpPr txBox="1"/>
          <p:nvPr/>
        </p:nvSpPr>
        <p:spPr>
          <a:xfrm>
            <a:off x="2438400" y="1520857"/>
            <a:ext cx="2209800" cy="525401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93939"/>
                </a:solidFill>
                <a:latin typeface="Times New Roman" panose="02020603050405020304" pitchFamily="18" charset="0"/>
                <a:ea typeface="楷体_GB2312" pitchFamily="49" charset="-122"/>
              </a:rPr>
              <a:t>根据定义：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7783" name="Line 7"/>
          <p:cNvSpPr/>
          <p:nvPr/>
        </p:nvSpPr>
        <p:spPr>
          <a:xfrm flipH="1">
            <a:off x="4724400" y="3886200"/>
            <a:ext cx="1588" cy="18288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" name="Group 8"/>
          <p:cNvGrpSpPr/>
          <p:nvPr/>
        </p:nvGrpSpPr>
        <p:grpSpPr>
          <a:xfrm>
            <a:off x="9448801" y="2895600"/>
            <a:ext cx="695325" cy="577850"/>
            <a:chOff x="4992" y="1824"/>
            <a:chExt cx="438" cy="364"/>
          </a:xfrm>
        </p:grpSpPr>
        <p:sp>
          <p:nvSpPr>
            <p:cNvPr id="85000" name="Line 9"/>
            <p:cNvSpPr/>
            <p:nvPr/>
          </p:nvSpPr>
          <p:spPr>
            <a:xfrm>
              <a:off x="4992" y="2188"/>
              <a:ext cx="40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85001" name="Object 10"/>
            <p:cNvGraphicFramePr/>
            <p:nvPr/>
          </p:nvGraphicFramePr>
          <p:xfrm>
            <a:off x="5232" y="1824"/>
            <a:ext cx="19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7000" imgH="227965" progId="Equation.3">
                    <p:embed/>
                  </p:oleObj>
                </mc:Choice>
                <mc:Fallback>
                  <p:oleObj r:id="rId5" imgW="127000" imgH="227965" progId="Equation.3">
                    <p:embed/>
                    <p:pic>
                      <p:nvPicPr>
                        <p:cNvPr id="85001" name="Object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32" y="1824"/>
                          <a:ext cx="198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/>
          <p:nvPr/>
        </p:nvGrpSpPr>
        <p:grpSpPr>
          <a:xfrm>
            <a:off x="5867399" y="2534182"/>
            <a:ext cx="1284058" cy="1183030"/>
            <a:chOff x="3397" y="43"/>
            <a:chExt cx="1501" cy="1343"/>
          </a:xfrm>
        </p:grpSpPr>
        <p:sp>
          <p:nvSpPr>
            <p:cNvPr id="85003" name="Oval 13"/>
            <p:cNvSpPr/>
            <p:nvPr/>
          </p:nvSpPr>
          <p:spPr>
            <a:xfrm>
              <a:off x="3397" y="547"/>
              <a:ext cx="299" cy="839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004" name="Oval 14"/>
            <p:cNvSpPr/>
            <p:nvPr/>
          </p:nvSpPr>
          <p:spPr>
            <a:xfrm>
              <a:off x="4346" y="43"/>
              <a:ext cx="552" cy="74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39393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0</a:t>
              </a:r>
            </a:p>
          </p:txBody>
        </p:sp>
        <p:cxnSp>
          <p:nvCxnSpPr>
            <p:cNvPr id="85005" name="AutoShape 15"/>
            <p:cNvCxnSpPr>
              <a:stCxn id="85003" idx="0"/>
              <a:endCxn id="85004" idx="2"/>
            </p:cNvCxnSpPr>
            <p:nvPr/>
          </p:nvCxnSpPr>
          <p:spPr>
            <a:xfrm rot="5400000" flipH="1" flipV="1">
              <a:off x="3879" y="80"/>
              <a:ext cx="134" cy="799"/>
            </a:xfrm>
            <a:prstGeom prst="curvedConnector2">
              <a:avLst/>
            </a:prstGeom>
            <a:ln w="38100" cap="flat" cmpd="sng">
              <a:solidFill>
                <a:srgbClr val="FF7C8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587792" name="Object 16"/>
          <p:cNvGraphicFramePr/>
          <p:nvPr/>
        </p:nvGraphicFramePr>
        <p:xfrm>
          <a:off x="4938714" y="1295400"/>
          <a:ext cx="275113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67765" imgH="431800" progId="Equation.3">
                  <p:embed/>
                </p:oleObj>
              </mc:Choice>
              <mc:Fallback>
                <p:oleObj r:id="rId7" imgW="1167765" imgH="431800" progId="Equation.3">
                  <p:embed/>
                  <p:pic>
                    <p:nvPicPr>
                      <p:cNvPr id="587792" name="Object 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38714" y="1295400"/>
                        <a:ext cx="2751137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7"/>
          <p:cNvGrpSpPr/>
          <p:nvPr/>
        </p:nvGrpSpPr>
        <p:grpSpPr>
          <a:xfrm>
            <a:off x="9753601" y="3959225"/>
            <a:ext cx="601663" cy="1271588"/>
            <a:chOff x="4325" y="545"/>
            <a:chExt cx="379" cy="801"/>
          </a:xfrm>
        </p:grpSpPr>
        <p:graphicFrame>
          <p:nvGraphicFramePr>
            <p:cNvPr id="85008" name="Object 18"/>
            <p:cNvGraphicFramePr/>
            <p:nvPr/>
          </p:nvGraphicFramePr>
          <p:xfrm>
            <a:off x="4325" y="768"/>
            <a:ext cx="37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65100" imgH="228600" progId="Equation.3">
                    <p:embed/>
                  </p:oleObj>
                </mc:Choice>
                <mc:Fallback>
                  <p:oleObj r:id="rId9" imgW="165100" imgH="228600" progId="Equation.3">
                    <p:embed/>
                    <p:pic>
                      <p:nvPicPr>
                        <p:cNvPr id="85008" name="Object 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25" y="768"/>
                          <a:ext cx="375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9" name="Text Box 19"/>
            <p:cNvSpPr txBox="1"/>
            <p:nvPr/>
          </p:nvSpPr>
          <p:spPr>
            <a:xfrm>
              <a:off x="4368" y="545"/>
              <a:ext cx="288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10" name="Text Box 20"/>
            <p:cNvSpPr txBox="1"/>
            <p:nvPr/>
          </p:nvSpPr>
          <p:spPr>
            <a:xfrm>
              <a:off x="4416" y="1054"/>
              <a:ext cx="288" cy="29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39393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-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5011" name="Group 21"/>
          <p:cNvGrpSpPr/>
          <p:nvPr/>
        </p:nvGrpSpPr>
        <p:grpSpPr>
          <a:xfrm>
            <a:off x="7716838" y="4373564"/>
            <a:ext cx="539750" cy="585787"/>
            <a:chOff x="1536" y="2682"/>
            <a:chExt cx="288" cy="294"/>
          </a:xfrm>
        </p:grpSpPr>
        <p:sp>
          <p:nvSpPr>
            <p:cNvPr id="85012" name="Rectangle 22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5013" name="Group 23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5014" name="Group 24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5015" name="Line 25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6" name="Line 26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7" name="Line 27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8" name="Line 28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5019" name="Line 29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  <p:sp>
        <p:nvSpPr>
          <p:cNvPr id="587787" name="Rectangle 11"/>
          <p:cNvSpPr/>
          <p:nvPr/>
        </p:nvSpPr>
        <p:spPr>
          <a:xfrm>
            <a:off x="7696201" y="3810000"/>
            <a:ext cx="1160463" cy="1752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39393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7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 build="p"/>
      <p:bldP spid="587782" grpId="0"/>
      <p:bldP spid="587787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2"/>
          <p:cNvSpPr txBox="1"/>
          <p:nvPr/>
        </p:nvSpPr>
        <p:spPr>
          <a:xfrm>
            <a:off x="2057400" y="741343"/>
            <a:ext cx="8229600" cy="10477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共射放大电路如图所示。设：</a:t>
            </a:r>
            <a:r>
              <a:rPr lang="en-US" altLang="zh-CN" sz="2400" b="1" i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baseline="-30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12V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i="1" err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 err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=300k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Ω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=3k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Ω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400" b="1" i="1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=3k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Ω,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BJT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b="1" i="1">
                <a:solidFill>
                  <a:srgbClr val="393939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2400" b="1" i="1" baseline="-30000">
                <a:solidFill>
                  <a:srgbClr val="393939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=50</a:t>
            </a:r>
            <a:r>
              <a:rPr lang="zh-CN" altLang="en-US" sz="2400" b="1" dirty="0">
                <a:solidFill>
                  <a:srgbClr val="39393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39393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8601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62151"/>
            <a:ext cx="3962400" cy="2962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8804" name="Text Box 4"/>
          <p:cNvSpPr txBox="1"/>
          <p:nvPr/>
        </p:nvSpPr>
        <p:spPr>
          <a:xfrm>
            <a:off x="2057400" y="2083456"/>
            <a:ext cx="3124200" cy="95436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试求电路的静态工作点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588805" name="Object 5"/>
          <p:cNvGraphicFramePr/>
          <p:nvPr/>
        </p:nvGraphicFramePr>
        <p:xfrm>
          <a:off x="1828800" y="3651251"/>
          <a:ext cx="47815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48230" imgH="431800" progId="Equation.DSMT4">
                  <p:embed/>
                </p:oleObj>
              </mc:Choice>
              <mc:Fallback>
                <p:oleObj r:id="rId3" imgW="2348230" imgH="431800" progId="Equation.DSMT4">
                  <p:embed/>
                  <p:pic>
                    <p:nvPicPr>
                      <p:cNvPr id="588805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3651251"/>
                        <a:ext cx="4781550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06" name="Object 6"/>
          <p:cNvGraphicFramePr/>
          <p:nvPr/>
        </p:nvGraphicFramePr>
        <p:xfrm>
          <a:off x="2003425" y="4849813"/>
          <a:ext cx="4222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93265" imgH="241300" progId="Equation.3">
                  <p:embed/>
                </p:oleObj>
              </mc:Choice>
              <mc:Fallback>
                <p:oleObj r:id="rId5" imgW="1993265" imgH="241300" progId="Equation.3">
                  <p:embed/>
                  <p:pic>
                    <p:nvPicPr>
                      <p:cNvPr id="588806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3425" y="4849813"/>
                        <a:ext cx="422275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07" name="Object 7"/>
          <p:cNvGraphicFramePr/>
          <p:nvPr/>
        </p:nvGraphicFramePr>
        <p:xfrm>
          <a:off x="1874838" y="5459413"/>
          <a:ext cx="58531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92730" imgH="241300" progId="Equation.3">
                  <p:embed/>
                </p:oleObj>
              </mc:Choice>
              <mc:Fallback>
                <p:oleObj r:id="rId7" imgW="2792730" imgH="241300" progId="Equation.3">
                  <p:embed/>
                  <p:pic>
                    <p:nvPicPr>
                      <p:cNvPr id="588807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4838" y="5459413"/>
                        <a:ext cx="5853112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08" name="Text Box 8"/>
          <p:cNvSpPr txBox="1"/>
          <p:nvPr/>
        </p:nvSpPr>
        <p:spPr>
          <a:xfrm>
            <a:off x="2133600" y="3228687"/>
            <a:ext cx="2895600" cy="4927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4" grpId="0"/>
      <p:bldP spid="58880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371601"/>
            <a:ext cx="3352800" cy="2506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2" name="Text Box 3"/>
          <p:cNvSpPr txBox="1"/>
          <p:nvPr/>
        </p:nvSpPr>
        <p:spPr>
          <a:xfrm>
            <a:off x="1905000" y="324849"/>
            <a:ext cx="8305800" cy="509179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计算电路的电压放大倍数、输入电阻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和输出电阻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589828" name="Text Box 4"/>
          <p:cNvSpPr txBox="1"/>
          <p:nvPr/>
        </p:nvSpPr>
        <p:spPr>
          <a:xfrm>
            <a:off x="1828800" y="866487"/>
            <a:ext cx="3733800" cy="4927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解：画微变等效电路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589830" name="Object 6"/>
          <p:cNvGraphicFramePr/>
          <p:nvPr/>
        </p:nvGraphicFramePr>
        <p:xfrm>
          <a:off x="2176464" y="1447801"/>
          <a:ext cx="30384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39265" imgH="431800" progId="Equation.3">
                  <p:embed/>
                </p:oleObj>
              </mc:Choice>
              <mc:Fallback>
                <p:oleObj r:id="rId3" imgW="1739265" imgH="431800" progId="Equation.3">
                  <p:embed/>
                  <p:pic>
                    <p:nvPicPr>
                      <p:cNvPr id="58983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6464" y="1447801"/>
                        <a:ext cx="3038475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1" name="Object 7"/>
          <p:cNvGraphicFramePr/>
          <p:nvPr/>
        </p:nvGraphicFramePr>
        <p:xfrm>
          <a:off x="2251076" y="2198689"/>
          <a:ext cx="34147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55165" imgH="431800" progId="Equation.DSMT4">
                  <p:embed/>
                </p:oleObj>
              </mc:Choice>
              <mc:Fallback>
                <p:oleObj r:id="rId5" imgW="1955165" imgH="431800" progId="Equation.DSMT4">
                  <p:embed/>
                  <p:pic>
                    <p:nvPicPr>
                      <p:cNvPr id="589831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1076" y="2198689"/>
                        <a:ext cx="3414713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2" name="Object 8"/>
          <p:cNvGraphicFramePr/>
          <p:nvPr/>
        </p:nvGraphicFramePr>
        <p:xfrm>
          <a:off x="2189164" y="3048001"/>
          <a:ext cx="44608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36800" imgH="457200" progId="Equation.DSMT4">
                  <p:embed/>
                </p:oleObj>
              </mc:Choice>
              <mc:Fallback>
                <p:oleObj r:id="rId7" imgW="2336800" imgH="457200" progId="Equation.DSMT4">
                  <p:embed/>
                  <p:pic>
                    <p:nvPicPr>
                      <p:cNvPr id="589832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89164" y="3048001"/>
                        <a:ext cx="4460875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33" name="Text Box 9"/>
          <p:cNvSpPr txBox="1"/>
          <p:nvPr/>
        </p:nvSpPr>
        <p:spPr>
          <a:xfrm>
            <a:off x="1905000" y="3980588"/>
            <a:ext cx="3733800" cy="51289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be</a:t>
            </a:r>
            <a:r>
              <a:rPr lang="en-US" altLang="zh-CN" sz="2400" b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//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≈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=993Ω</a:t>
            </a:r>
            <a:endParaRPr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9834" name="Text Box 10"/>
          <p:cNvSpPr txBox="1"/>
          <p:nvPr/>
        </p:nvSpPr>
        <p:spPr>
          <a:xfrm>
            <a:off x="2209800" y="4818788"/>
            <a:ext cx="2438400" cy="51289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=3kΩ</a:t>
            </a:r>
            <a:endParaRPr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5410200" y="4114801"/>
            <a:ext cx="5257800" cy="2384425"/>
            <a:chOff x="2448" y="2592"/>
            <a:chExt cx="3312" cy="1502"/>
          </a:xfrm>
        </p:grpSpPr>
        <p:pic>
          <p:nvPicPr>
            <p:cNvPr id="87050" name="Picture 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48" y="2592"/>
              <a:ext cx="3312" cy="150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7051" name="Group 11"/>
            <p:cNvGrpSpPr/>
            <p:nvPr/>
          </p:nvGrpSpPr>
          <p:grpSpPr>
            <a:xfrm>
              <a:off x="4071" y="3294"/>
              <a:ext cx="288" cy="294"/>
              <a:chOff x="1536" y="2682"/>
              <a:chExt cx="288" cy="294"/>
            </a:xfrm>
          </p:grpSpPr>
          <p:sp>
            <p:nvSpPr>
              <p:cNvPr id="87052" name="Rectangle 12"/>
              <p:cNvSpPr/>
              <p:nvPr/>
            </p:nvSpPr>
            <p:spPr>
              <a:xfrm>
                <a:off x="15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anchor="ctr" anchorCtr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dirty="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7053" name="Group 13"/>
              <p:cNvGrpSpPr/>
              <p:nvPr/>
            </p:nvGrpSpPr>
            <p:grpSpPr>
              <a:xfrm>
                <a:off x="1583" y="2682"/>
                <a:ext cx="192" cy="288"/>
                <a:chOff x="3120" y="3648"/>
                <a:chExt cx="192" cy="288"/>
              </a:xfrm>
            </p:grpSpPr>
            <p:grpSp>
              <p:nvGrpSpPr>
                <p:cNvPr id="87054" name="Group 14"/>
                <p:cNvGrpSpPr/>
                <p:nvPr/>
              </p:nvGrpSpPr>
              <p:grpSpPr>
                <a:xfrm>
                  <a:off x="3120" y="3648"/>
                  <a:ext cx="192" cy="288"/>
                  <a:chOff x="2496" y="3648"/>
                  <a:chExt cx="192" cy="288"/>
                </a:xfrm>
              </p:grpSpPr>
              <p:sp>
                <p:nvSpPr>
                  <p:cNvPr id="87055" name="Line 15"/>
                  <p:cNvSpPr/>
                  <p:nvPr/>
                </p:nvSpPr>
                <p:spPr>
                  <a:xfrm flipH="1">
                    <a:off x="2496" y="3648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6" name="Line 16"/>
                  <p:cNvSpPr/>
                  <p:nvPr/>
                </p:nvSpPr>
                <p:spPr>
                  <a:xfrm flipH="1">
                    <a:off x="2592" y="3792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7" name="Line 17"/>
                  <p:cNvSpPr/>
                  <p:nvPr/>
                </p:nvSpPr>
                <p:spPr>
                  <a:xfrm>
                    <a:off x="2592" y="3648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8" name="Line 18"/>
                  <p:cNvSpPr/>
                  <p:nvPr/>
                </p:nvSpPr>
                <p:spPr>
                  <a:xfrm>
                    <a:off x="2496" y="3792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87059" name="Line 19"/>
                <p:cNvSpPr/>
                <p:nvPr/>
              </p:nvSpPr>
              <p:spPr>
                <a:xfrm>
                  <a:off x="3120" y="3792"/>
                  <a:ext cx="192" cy="0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8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8" grpId="0"/>
      <p:bldP spid="589833" grpId="0"/>
      <p:bldP spid="5898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24001"/>
            <a:ext cx="3352800" cy="2506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6" name="Text Box 3"/>
          <p:cNvSpPr txBox="1"/>
          <p:nvPr/>
        </p:nvSpPr>
        <p:spPr>
          <a:xfrm>
            <a:off x="1905000" y="533401"/>
            <a:ext cx="8305800" cy="10064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若输出电压的波形出现如 下失真 ，是截止还是饱和 失真？应调节哪个元件？如何调节？</a:t>
            </a:r>
          </a:p>
        </p:txBody>
      </p:sp>
      <p:sp>
        <p:nvSpPr>
          <p:cNvPr id="590852" name="Text Box 4"/>
          <p:cNvSpPr txBox="1"/>
          <p:nvPr/>
        </p:nvSpPr>
        <p:spPr>
          <a:xfrm>
            <a:off x="2133600" y="1752600"/>
            <a:ext cx="3733800" cy="11890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为截止失真。</a:t>
            </a:r>
          </a:p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应减小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400" b="1" baseline="-25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88068" name="Group 5"/>
          <p:cNvGrpSpPr/>
          <p:nvPr/>
        </p:nvGrpSpPr>
        <p:grpSpPr>
          <a:xfrm>
            <a:off x="7315200" y="4572000"/>
            <a:ext cx="2362200" cy="1054100"/>
            <a:chOff x="3672" y="1960"/>
            <a:chExt cx="1704" cy="808"/>
          </a:xfrm>
        </p:grpSpPr>
        <p:grpSp>
          <p:nvGrpSpPr>
            <p:cNvPr id="88069" name="Group 6"/>
            <p:cNvGrpSpPr/>
            <p:nvPr/>
          </p:nvGrpSpPr>
          <p:grpSpPr>
            <a:xfrm rot="-5400000">
              <a:off x="3960" y="1896"/>
              <a:ext cx="808" cy="936"/>
              <a:chOff x="2412" y="2820"/>
              <a:chExt cx="808" cy="936"/>
            </a:xfrm>
          </p:grpSpPr>
          <p:sp>
            <p:nvSpPr>
              <p:cNvPr id="88070" name="Freeform 7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0" y="24"/>
                  </a:cxn>
                  <a:cxn ang="0">
                    <a:pos x="240" y="36"/>
                  </a:cxn>
                  <a:cxn ang="0">
                    <a:pos x="240" y="168"/>
                  </a:cxn>
                  <a:cxn ang="0">
                    <a:pos x="240" y="348"/>
                  </a:cxn>
                  <a:cxn ang="0">
                    <a:pos x="216" y="444"/>
                  </a:cxn>
                  <a:cxn ang="0">
                    <a:pos x="0" y="468"/>
                  </a:cxn>
                </a:cxnLst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071" name="Freeform 8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0" y="24"/>
                  </a:cxn>
                  <a:cxn ang="0">
                    <a:pos x="432" y="108"/>
                  </a:cxn>
                  <a:cxn ang="0">
                    <a:pos x="612" y="264"/>
                  </a:cxn>
                  <a:cxn ang="0">
                    <a:pos x="420" y="396"/>
                  </a:cxn>
                  <a:cxn ang="0">
                    <a:pos x="216" y="444"/>
                  </a:cxn>
                  <a:cxn ang="0">
                    <a:pos x="0" y="468"/>
                  </a:cxn>
                </a:cxnLst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39393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8072" name="Line 9"/>
            <p:cNvSpPr/>
            <p:nvPr/>
          </p:nvSpPr>
          <p:spPr>
            <a:xfrm>
              <a:off x="3672" y="2208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ock And Key">
  <a:themeElements>
    <a:clrScheme name="">
      <a:dk1>
        <a:srgbClr val="393939"/>
      </a:dk1>
      <a:lt1>
        <a:srgbClr val="FFFFFF"/>
      </a:lt1>
      <a:dk2>
        <a:srgbClr val="FF0000"/>
      </a:dk2>
      <a:lt2>
        <a:srgbClr val="FFFFFF"/>
      </a:lt2>
      <a:accent1>
        <a:srgbClr val="F9D87E"/>
      </a:accent1>
      <a:accent2>
        <a:srgbClr val="FF3300"/>
      </a:accent2>
      <a:accent3>
        <a:srgbClr val="FFFFFF"/>
      </a:accent3>
      <a:accent4>
        <a:srgbClr val="303030"/>
      </a:accent4>
      <a:accent5>
        <a:srgbClr val="FBE8C0"/>
      </a:accent5>
      <a:accent6>
        <a:srgbClr val="E52D00"/>
      </a:accent6>
      <a:hlink>
        <a:srgbClr val="FF3300"/>
      </a:hlink>
      <a:folHlink>
        <a:srgbClr val="800000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EAEAEA"/>
        </a:dk1>
        <a:lt1>
          <a:srgbClr val="6600FF"/>
        </a:lt1>
        <a:dk2>
          <a:srgbClr val="FFCC66"/>
        </a:dk2>
        <a:lt2>
          <a:srgbClr val="200B5B"/>
        </a:lt2>
        <a:accent1>
          <a:srgbClr val="EEB00B"/>
        </a:accent1>
        <a:accent2>
          <a:srgbClr val="6600CC"/>
        </a:accent2>
        <a:accent3>
          <a:srgbClr val="B9AAFF"/>
        </a:accent3>
        <a:accent4>
          <a:srgbClr val="CACACA"/>
        </a:accent4>
        <a:accent5>
          <a:srgbClr val="F5D4AA"/>
        </a:accent5>
        <a:accent6>
          <a:srgbClr val="5B00B7"/>
        </a:accent6>
        <a:hlink>
          <a:srgbClr val="FF33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303030"/>
        </a:accent4>
        <a:accent5>
          <a:srgbClr val="FBE8C0"/>
        </a:accent5>
        <a:accent6>
          <a:srgbClr val="E5B7B7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000000"/>
        </a:lt1>
        <a:dk2>
          <a:srgbClr val="FFCC00"/>
        </a:dk2>
        <a:lt2>
          <a:srgbClr val="3300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CDCAF"/>
        </a:accent4>
        <a:accent5>
          <a:srgbClr val="FFCAAA"/>
        </a:accent5>
        <a:accent6>
          <a:srgbClr val="2D0089"/>
        </a:accent6>
        <a:hlink>
          <a:srgbClr val="FF6633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DDDDDD"/>
        </a:dk1>
        <a:lt1>
          <a:srgbClr val="996600"/>
        </a:lt1>
        <a:dk2>
          <a:srgbClr val="FFCC66"/>
        </a:dk2>
        <a:lt2>
          <a:srgbClr val="333300"/>
        </a:lt2>
        <a:accent1>
          <a:srgbClr val="EEB00B"/>
        </a:accent1>
        <a:accent2>
          <a:srgbClr val="330099"/>
        </a:accent2>
        <a:accent3>
          <a:srgbClr val="CAB9AA"/>
        </a:accent3>
        <a:accent4>
          <a:srgbClr val="BEBEBE"/>
        </a:accent4>
        <a:accent5>
          <a:srgbClr val="F5D4AA"/>
        </a:accent5>
        <a:accent6>
          <a:srgbClr val="2D0089"/>
        </a:accent6>
        <a:hlink>
          <a:srgbClr val="FF6633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999933"/>
        </a:lt1>
        <a:dk2>
          <a:srgbClr val="FFFF66"/>
        </a:dk2>
        <a:lt2>
          <a:srgbClr val="003300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CDCAF"/>
        </a:accent4>
        <a:accent5>
          <a:srgbClr val="E2CAAA"/>
        </a:accent5>
        <a:accent6>
          <a:srgbClr val="2D0089"/>
        </a:accent6>
        <a:hlink>
          <a:srgbClr val="FF99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2372</Words>
  <Application>Microsoft Office PowerPoint</Application>
  <PresentationFormat>宽屏</PresentationFormat>
  <Paragraphs>519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等线</vt:lpstr>
      <vt:lpstr>等线 Light</vt:lpstr>
      <vt:lpstr>黑体</vt:lpstr>
      <vt:lpstr>华文中宋</vt:lpstr>
      <vt:lpstr>楷体_GB2312</vt:lpstr>
      <vt:lpstr>隶书</vt:lpstr>
      <vt:lpstr>宋体</vt:lpstr>
      <vt:lpstr>微软雅黑</vt:lpstr>
      <vt:lpstr>幼圆</vt:lpstr>
      <vt:lpstr>Arial</vt:lpstr>
      <vt:lpstr>Courier New</vt:lpstr>
      <vt:lpstr>Symbol</vt:lpstr>
      <vt:lpstr>Times New Roman</vt:lpstr>
      <vt:lpstr>Office 主题​​</vt:lpstr>
      <vt:lpstr>Lock And Key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chuanbo Gao</dc:creator>
  <cp:lastModifiedBy>chuanbo Gao</cp:lastModifiedBy>
  <cp:revision>3</cp:revision>
  <dcterms:created xsi:type="dcterms:W3CDTF">2026-06-06T04:54:50Z</dcterms:created>
  <dcterms:modified xsi:type="dcterms:W3CDTF">2026-06-07T04:02:17Z</dcterms:modified>
</cp:coreProperties>
</file>