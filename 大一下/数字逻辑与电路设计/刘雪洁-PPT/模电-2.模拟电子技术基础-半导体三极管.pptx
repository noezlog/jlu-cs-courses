
<file path=[Content_Types].xml><?xml version="1.0" encoding="utf-8"?>
<Types xmlns="http://schemas.openxmlformats.org/package/2006/content-types">
  <Default Extension="png" ContentType="image/png"/>
  <Default Extension="vsd" ContentType="application/vnd.visio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9"/>
  </p:notesMasterIdLst>
  <p:sldIdLst>
    <p:sldId id="326" r:id="rId2"/>
    <p:sldId id="580" r:id="rId3"/>
    <p:sldId id="585" r:id="rId4"/>
    <p:sldId id="600" r:id="rId5"/>
    <p:sldId id="598" r:id="rId6"/>
    <p:sldId id="599" r:id="rId7"/>
    <p:sldId id="601" r:id="rId8"/>
    <p:sldId id="602" r:id="rId9"/>
    <p:sldId id="603" r:id="rId10"/>
    <p:sldId id="604" r:id="rId11"/>
    <p:sldId id="809" r:id="rId12"/>
    <p:sldId id="891" r:id="rId13"/>
    <p:sldId id="606" r:id="rId14"/>
    <p:sldId id="607" r:id="rId15"/>
    <p:sldId id="608" r:id="rId16"/>
    <p:sldId id="711" r:id="rId17"/>
    <p:sldId id="713" r:id="rId18"/>
    <p:sldId id="712" r:id="rId19"/>
    <p:sldId id="609" r:id="rId20"/>
    <p:sldId id="617" r:id="rId21"/>
    <p:sldId id="613" r:id="rId22"/>
    <p:sldId id="614" r:id="rId23"/>
    <p:sldId id="615" r:id="rId24"/>
    <p:sldId id="810" r:id="rId25"/>
    <p:sldId id="815" r:id="rId26"/>
    <p:sldId id="811" r:id="rId27"/>
    <p:sldId id="812" r:id="rId28"/>
    <p:sldId id="813" r:id="rId29"/>
    <p:sldId id="814" r:id="rId30"/>
    <p:sldId id="582" r:id="rId31"/>
    <p:sldId id="882" r:id="rId32"/>
    <p:sldId id="884" r:id="rId33"/>
    <p:sldId id="629" r:id="rId34"/>
    <p:sldId id="625" r:id="rId35"/>
    <p:sldId id="627" r:id="rId36"/>
    <p:sldId id="892" r:id="rId37"/>
    <p:sldId id="590" r:id="rId38"/>
    <p:sldId id="633" r:id="rId39"/>
    <p:sldId id="634" r:id="rId40"/>
    <p:sldId id="637" r:id="rId41"/>
    <p:sldId id="635" r:id="rId42"/>
    <p:sldId id="636" r:id="rId43"/>
    <p:sldId id="638" r:id="rId44"/>
    <p:sldId id="885" r:id="rId45"/>
    <p:sldId id="639" r:id="rId46"/>
    <p:sldId id="886" r:id="rId47"/>
    <p:sldId id="887" r:id="rId48"/>
    <p:sldId id="888" r:id="rId49"/>
    <p:sldId id="889" r:id="rId50"/>
    <p:sldId id="890" r:id="rId51"/>
    <p:sldId id="645" r:id="rId52"/>
    <p:sldId id="646" r:id="rId53"/>
    <p:sldId id="647" r:id="rId54"/>
    <p:sldId id="648" r:id="rId55"/>
    <p:sldId id="654" r:id="rId56"/>
    <p:sldId id="816" r:id="rId57"/>
    <p:sldId id="656" r:id="rId58"/>
    <p:sldId id="817" r:id="rId59"/>
    <p:sldId id="818" r:id="rId60"/>
    <p:sldId id="819" r:id="rId61"/>
    <p:sldId id="820" r:id="rId62"/>
    <p:sldId id="821" r:id="rId63"/>
    <p:sldId id="822" r:id="rId64"/>
    <p:sldId id="677" r:id="rId65"/>
    <p:sldId id="683" r:id="rId66"/>
    <p:sldId id="684" r:id="rId67"/>
    <p:sldId id="583" r:id="rId68"/>
    <p:sldId id="663" r:id="rId69"/>
    <p:sldId id="664" r:id="rId70"/>
    <p:sldId id="824" r:id="rId71"/>
    <p:sldId id="667" r:id="rId72"/>
    <p:sldId id="668" r:id="rId73"/>
    <p:sldId id="584" r:id="rId74"/>
    <p:sldId id="691" r:id="rId75"/>
    <p:sldId id="692" r:id="rId76"/>
    <p:sldId id="693" r:id="rId77"/>
    <p:sldId id="694" r:id="rId78"/>
  </p:sldIdLst>
  <p:sldSz cx="9144000" cy="6858000" type="screen4x3"/>
  <p:notesSz cx="6858000" cy="9144000"/>
  <p:custDataLst>
    <p:tags r:id="rId8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0000"/>
    <a:srgbClr val="FF0000"/>
    <a:srgbClr val="CC00CC"/>
    <a:srgbClr val="FF00FF"/>
    <a:srgbClr val="FF3300"/>
    <a:srgbClr val="660066"/>
    <a:srgbClr val="CC33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63"/>
    <p:restoredTop sz="94585"/>
  </p:normalViewPr>
  <p:slideViewPr>
    <p:cSldViewPr showGuides="1">
      <p:cViewPr varScale="1">
        <p:scale>
          <a:sx n="110" d="100"/>
          <a:sy n="110" d="100"/>
        </p:scale>
        <p:origin x="2976" y="96"/>
      </p:cViewPr>
      <p:guideLst>
        <p:guide orient="horz" pos="2208"/>
        <p:guide pos="28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4" Type="http://schemas.openxmlformats.org/officeDocument/2006/relationships/image" Target="../media/image9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4" Type="http://schemas.openxmlformats.org/officeDocument/2006/relationships/image" Target="../media/image10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4" Type="http://schemas.openxmlformats.org/officeDocument/2006/relationships/image" Target="../media/image1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页眉占位符 5222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52227" name="日期占位符 52226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52228" name="幻灯片图像占位符 52227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2229" name="文本占位符 52228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2230" name="页脚占位符 5222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52231" name="灯片编号占位符 52230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‹#›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3917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6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520194" name="幻灯片图像占位符 52019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666750"/>
            <a:ext cx="4645025" cy="3484563"/>
          </a:xfrm>
        </p:spPr>
      </p:sp>
      <p:sp>
        <p:nvSpPr>
          <p:cNvPr id="520195" name="文本占位符 520194"/>
          <p:cNvSpPr>
            <a:spLocks noGrp="1"/>
          </p:cNvSpPr>
          <p:nvPr>
            <p:ph type="body" idx="1"/>
          </p:nvPr>
        </p:nvSpPr>
        <p:spPr>
          <a:xfrm>
            <a:off x="904875" y="4373563"/>
            <a:ext cx="5048250" cy="4078287"/>
          </a:xfrm>
        </p:spPr>
        <p:txBody>
          <a:bodyPr vert="horz" wrap="square" lIns="89584" tIns="44792" rIns="89584" bIns="44792" anchor="t"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1303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524290" name="幻灯片图像占位符 524289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666750"/>
            <a:ext cx="4645025" cy="3484563"/>
          </a:xfrm>
        </p:spPr>
      </p:sp>
      <p:sp>
        <p:nvSpPr>
          <p:cNvPr id="524291" name="文本占位符 524290"/>
          <p:cNvSpPr>
            <a:spLocks noGrp="1"/>
          </p:cNvSpPr>
          <p:nvPr>
            <p:ph type="body" idx="1"/>
          </p:nvPr>
        </p:nvSpPr>
        <p:spPr>
          <a:xfrm>
            <a:off x="904875" y="4373563"/>
            <a:ext cx="5048250" cy="4078287"/>
          </a:xfrm>
        </p:spPr>
        <p:txBody>
          <a:bodyPr vert="horz" wrap="square" lIns="89584" tIns="44792" rIns="89584" bIns="44792" anchor="t"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5138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10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528386" name="幻灯片图像占位符 528385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666750"/>
            <a:ext cx="4645025" cy="3484563"/>
          </a:xfrm>
        </p:spPr>
      </p:sp>
      <p:sp>
        <p:nvSpPr>
          <p:cNvPr id="528387" name="文本占位符 528386"/>
          <p:cNvSpPr>
            <a:spLocks noGrp="1"/>
          </p:cNvSpPr>
          <p:nvPr>
            <p:ph type="body" idx="1"/>
          </p:nvPr>
        </p:nvSpPr>
        <p:spPr>
          <a:xfrm>
            <a:off x="904875" y="4373563"/>
            <a:ext cx="5048250" cy="4078287"/>
          </a:xfrm>
        </p:spPr>
        <p:txBody>
          <a:bodyPr vert="horz" wrap="square" lIns="89584" tIns="44792" rIns="89584" bIns="44792" anchor="t"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5683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68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592898" name="幻灯片图像占位符 59289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2899" name="文本占位符 59289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101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69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594946" name="幻灯片图像占位符 59494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4947" name="文本占位符 59494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1190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71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601090" name="幻灯片图像占位符 60108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1091" name="文本占位符 60109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4569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72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603138" name="幻灯片图像占位符 60313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3139" name="文本占位符 60313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5536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bg>
      <p:bgPr>
        <a:gradFill rotWithShape="0">
          <a:gsLst>
            <a:gs pos="0">
              <a:srgbClr val="CCFF33"/>
            </a:gs>
            <a:gs pos="50000">
              <a:schemeClr val="bg1"/>
            </a:gs>
            <a:gs pos="100000">
              <a:srgbClr val="CCFF33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370" name="组合 186369"/>
          <p:cNvGrpSpPr/>
          <p:nvPr/>
        </p:nvGrpSpPr>
        <p:grpSpPr>
          <a:xfrm>
            <a:off x="0" y="0"/>
            <a:ext cx="1828800" cy="6856413"/>
            <a:chOff x="0" y="0"/>
            <a:chExt cx="1152" cy="4319"/>
          </a:xfrm>
        </p:grpSpPr>
        <p:sp>
          <p:nvSpPr>
            <p:cNvPr id="186371" name="矩形 186370"/>
            <p:cNvSpPr/>
            <p:nvPr/>
          </p:nvSpPr>
          <p:spPr>
            <a:xfrm>
              <a:off x="0" y="0"/>
              <a:ext cx="1152" cy="10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0" hangingPunct="0">
                <a:spcBef>
                  <a:spcPct val="50000"/>
                </a:spcBef>
              </a:pPr>
              <a:endParaRPr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6372" name="矩形 186371"/>
            <p:cNvSpPr/>
            <p:nvPr/>
          </p:nvSpPr>
          <p:spPr>
            <a:xfrm>
              <a:off x="0" y="2400"/>
              <a:ext cx="1152" cy="1919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0" hangingPunct="0">
                <a:spcBef>
                  <a:spcPct val="50000"/>
                </a:spcBef>
              </a:pPr>
              <a:endParaRPr sz="2400" dirty="0">
                <a:latin typeface="Times New Roman" panose="02020603050405020304" pitchFamily="18" charset="0"/>
              </a:endParaRPr>
            </a:p>
          </p:txBody>
        </p:sp>
        <p:pic>
          <p:nvPicPr>
            <p:cNvPr id="186373" name="图片 18637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28"/>
              <a:ext cx="1152" cy="140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86374" name="标题 186373"/>
          <p:cNvSpPr>
            <a:spLocks noGrp="1"/>
          </p:cNvSpPr>
          <p:nvPr>
            <p:ph type="ctrTitle" sz="quarter"/>
          </p:nvPr>
        </p:nvSpPr>
        <p:spPr>
          <a:xfrm>
            <a:off x="1905000" y="1676400"/>
            <a:ext cx="6934200" cy="2116138"/>
          </a:xfrm>
          <a:prstGeom prst="rect">
            <a:avLst/>
          </a:prstGeom>
          <a:noFill/>
          <a:ln w="12700">
            <a:noFill/>
          </a:ln>
        </p:spPr>
        <p:txBody>
          <a:bodyPr anchor="ctr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6375" name="副标题 186374"/>
          <p:cNvSpPr>
            <a:spLocks noGrp="1"/>
          </p:cNvSpPr>
          <p:nvPr>
            <p:ph type="subTitle" sz="quarter" idx="1"/>
          </p:nvPr>
        </p:nvSpPr>
        <p:spPr>
          <a:xfrm>
            <a:off x="1911350" y="3968750"/>
            <a:ext cx="6400800" cy="1752600"/>
          </a:xfrm>
          <a:prstGeom prst="rect">
            <a:avLst/>
          </a:prstGeom>
          <a:noFill/>
          <a:ln w="12700">
            <a:noFill/>
          </a:ln>
        </p:spPr>
        <p:txBody>
          <a:bodyPr anchor="t"/>
          <a:lstStyle>
            <a:lvl1pPr marL="0" lvl="0" indent="0"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lvl1pPr>
            <a:lvl2pPr marL="457200" lvl="1" indent="0" algn="ctr">
              <a:buClrTx/>
              <a:buSzTx/>
              <a:buFontTx/>
              <a:buNone/>
              <a:defRPr/>
            </a:lvl2pPr>
            <a:lvl3pPr marL="914400" lvl="2" indent="0" algn="ctr">
              <a:buClrTx/>
              <a:buSzTx/>
              <a:buFontTx/>
              <a:buNone/>
              <a:defRPr/>
            </a:lvl3pPr>
            <a:lvl4pPr marL="1371600" lvl="3" indent="0" algn="ctr">
              <a:buClrTx/>
              <a:buSzTx/>
              <a:buFontTx/>
              <a:buNone/>
              <a:defRPr/>
            </a:lvl4pPr>
            <a:lvl5pPr marL="1828800" lvl="4" indent="0" algn="ctr">
              <a:buClrTx/>
              <a:buSzTx/>
              <a:buFontTx/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186376" name="日期占位符 186375"/>
          <p:cNvSpPr>
            <a:spLocks noGrp="1"/>
          </p:cNvSpPr>
          <p:nvPr>
            <p:ph type="dt" sz="quarter" idx="2"/>
          </p:nvPr>
        </p:nvSpPr>
        <p:spPr>
          <a:xfrm>
            <a:off x="1828800" y="6400800"/>
            <a:ext cx="19050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>
              <a:defRPr sz="14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6377" name="页脚占位符 186376"/>
          <p:cNvSpPr>
            <a:spLocks noGrp="1"/>
          </p:cNvSpPr>
          <p:nvPr>
            <p:ph type="ftr" sz="quarter" idx="3"/>
          </p:nvPr>
        </p:nvSpPr>
        <p:spPr>
          <a:xfrm>
            <a:off x="3962400" y="6400800"/>
            <a:ext cx="28956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 algn="ctr">
              <a:defRPr sz="14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6378" name="灯片编号占位符 186377"/>
          <p:cNvSpPr>
            <a:spLocks noGrp="1"/>
          </p:cNvSpPr>
          <p:nvPr>
            <p:ph type="sldNum" sz="quarter" idx="4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 algn="r">
              <a:defRPr sz="1400"/>
            </a:lvl1pPr>
          </a:lstStyle>
          <a:p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304800"/>
            <a:ext cx="7772400" cy="12065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19200" y="1600200"/>
            <a:ext cx="38100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81600" y="1600200"/>
            <a:ext cx="38100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219200" y="304800"/>
            <a:ext cx="7772400" cy="5791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FF33"/>
            </a:gs>
            <a:gs pos="50000">
              <a:schemeClr val="bg1"/>
            </a:gs>
            <a:gs pos="100000">
              <a:srgbClr val="CCFF33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52" name="日期占位符 185351"/>
          <p:cNvSpPr>
            <a:spLocks noGrp="1"/>
          </p:cNvSpPr>
          <p:nvPr>
            <p:ph type="dt" sz="half" idx="2"/>
          </p:nvPr>
        </p:nvSpPr>
        <p:spPr>
          <a:xfrm>
            <a:off x="1143000" y="6400800"/>
            <a:ext cx="19050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>
              <a:defRPr sz="1400"/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5353" name="页脚占位符 185352"/>
          <p:cNvSpPr>
            <a:spLocks noGrp="1"/>
          </p:cNvSpPr>
          <p:nvPr>
            <p:ph type="ftr" sz="quarter" idx="3"/>
          </p:nvPr>
        </p:nvSpPr>
        <p:spPr>
          <a:xfrm>
            <a:off x="3581400" y="6400800"/>
            <a:ext cx="28956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5354" name="灯片编号占位符 185353"/>
          <p:cNvSpPr>
            <a:spLocks noGrp="1"/>
          </p:cNvSpPr>
          <p:nvPr>
            <p:ph type="sldNum" sz="quarter" idx="4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wipe dir="d"/>
  </p:transition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90000"/>
        <a:buFont typeface="Symbol" panose="05050102010706020507" pitchFamily="18" charset="2"/>
        <a:buChar char="¨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1.vsd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image" Target="../media/image9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21.wmf"/><Relationship Id="rId21" Type="http://schemas.openxmlformats.org/officeDocument/2006/relationships/oleObject" Target="../embeddings/oleObject9.bin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11" Type="http://schemas.openxmlformats.org/officeDocument/2006/relationships/image" Target="../media/image15.wmf"/><Relationship Id="rId5" Type="http://schemas.openxmlformats.org/officeDocument/2006/relationships/image" Target="../media/image23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9.wmf"/><Relationship Id="rId4" Type="http://schemas.openxmlformats.org/officeDocument/2006/relationships/image" Target="../media/image22.wmf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2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43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4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8.wmf"/><Relationship Id="rId11" Type="http://schemas.openxmlformats.org/officeDocument/2006/relationships/image" Target="../media/image56.wmf"/><Relationship Id="rId5" Type="http://schemas.openxmlformats.org/officeDocument/2006/relationships/image" Target="../media/image51.wmf"/><Relationship Id="rId10" Type="http://schemas.openxmlformats.org/officeDocument/2006/relationships/image" Target="../media/image55.wmf"/><Relationship Id="rId4" Type="http://schemas.openxmlformats.org/officeDocument/2006/relationships/image" Target="../media/image50.wmf"/><Relationship Id="rId9" Type="http://schemas.openxmlformats.org/officeDocument/2006/relationships/image" Target="../media/image54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6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66.wmf"/><Relationship Id="rId9" Type="http://schemas.openxmlformats.org/officeDocument/2006/relationships/image" Target="../media/image62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69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71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74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8.wmf"/><Relationship Id="rId5" Type="http://schemas.openxmlformats.org/officeDocument/2006/relationships/image" Target="../media/image61.wmf"/><Relationship Id="rId4" Type="http://schemas.openxmlformats.org/officeDocument/2006/relationships/image" Target="../media/image75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7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77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image" Target="../media/image81.wmf"/><Relationship Id="rId7" Type="http://schemas.openxmlformats.org/officeDocument/2006/relationships/image" Target="../media/image7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82.wmf"/><Relationship Id="rId4" Type="http://schemas.openxmlformats.org/officeDocument/2006/relationships/image" Target="../media/image62.wmf"/><Relationship Id="rId9" Type="http://schemas.openxmlformats.org/officeDocument/2006/relationships/image" Target="../media/image80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image" Target="../media/image89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image" Target="../media/image88.wmf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40.bin"/><Relationship Id="rId14" Type="http://schemas.openxmlformats.org/officeDocument/2006/relationships/oleObject" Target="../embeddings/oleObject42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2.wmf"/><Relationship Id="rId11" Type="http://schemas.openxmlformats.org/officeDocument/2006/relationships/image" Target="../media/image90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46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95.wmf"/><Relationship Id="rId9" Type="http://schemas.openxmlformats.org/officeDocument/2006/relationships/image" Target="../media/image98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102.wmf"/><Relationship Id="rId7" Type="http://schemas.openxmlformats.org/officeDocument/2006/relationships/image" Target="../media/image10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101.wmf"/><Relationship Id="rId5" Type="http://schemas.openxmlformats.org/officeDocument/2006/relationships/image" Target="../media/image99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47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58.wmf"/><Relationship Id="rId7" Type="http://schemas.openxmlformats.org/officeDocument/2006/relationships/image" Target="../media/image10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105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58.wmf"/><Relationship Id="rId7" Type="http://schemas.openxmlformats.org/officeDocument/2006/relationships/image" Target="../media/image10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106.wmf"/><Relationship Id="rId10" Type="http://schemas.openxmlformats.org/officeDocument/2006/relationships/image" Target="../media/image90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108.w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wmf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wmf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oleObject" Target="../embeddings/oleObject60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3.wmf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61.bin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wmf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19.wmf"/><Relationship Id="rId11" Type="http://schemas.openxmlformats.org/officeDocument/2006/relationships/image" Target="../media/image122.wmf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65.bin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88065"/>
          <p:cNvSpPr>
            <a:spLocks noGrp="1"/>
          </p:cNvSpPr>
          <p:nvPr>
            <p:ph type="title"/>
          </p:nvPr>
        </p:nvSpPr>
        <p:spPr>
          <a:xfrm>
            <a:off x="926148" y="368300"/>
            <a:ext cx="7561262" cy="533400"/>
          </a:xfrm>
          <a:noFill/>
          <a:ln>
            <a:noFill/>
          </a:ln>
        </p:spPr>
        <p:txBody>
          <a:bodyPr/>
          <a:lstStyle/>
          <a:p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第二章    晶体三极管</a:t>
            </a:r>
            <a:b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及其放大电路基础</a:t>
            </a:r>
            <a:endParaRPr lang="zh-CN" altLang="en-US" sz="3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8073" name="图片 88072" descr="WB01268_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5724255"/>
            <a:ext cx="7620000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074" name="矩形 88073">
            <a:hlinkClick r:id="" action="ppaction://noaction"/>
          </p:cNvPr>
          <p:cNvSpPr/>
          <p:nvPr/>
        </p:nvSpPr>
        <p:spPr>
          <a:xfrm>
            <a:off x="2124075" y="2492375"/>
            <a:ext cx="5473700" cy="60960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en-US" altLang="zh-CN" b="1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C00CC"/>
                </a:solidFill>
                <a:latin typeface="Times New Roman" panose="02020603050405020304" pitchFamily="18" charset="0"/>
                <a:ea typeface="仿宋_GB2312" pitchFamily="49" charset="-122"/>
              </a:rPr>
              <a:t>三极管放大电路的各项指标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88075" name="矩形 88074">
            <a:hlinkClick r:id="" action="ppaction://noaction"/>
          </p:cNvPr>
          <p:cNvSpPr/>
          <p:nvPr/>
        </p:nvSpPr>
        <p:spPr>
          <a:xfrm>
            <a:off x="2124075" y="3141663"/>
            <a:ext cx="4953000" cy="60960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en-US" altLang="zh-CN" b="1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b="1" dirty="0">
                <a:solidFill>
                  <a:srgbClr val="CC00CC"/>
                </a:solidFill>
                <a:latin typeface="Times New Roman" panose="02020603050405020304" pitchFamily="18" charset="0"/>
                <a:ea typeface="仿宋_GB2312" pitchFamily="49" charset="-122"/>
              </a:rPr>
              <a:t>放大电路的分析方法</a:t>
            </a:r>
            <a:r>
              <a:rPr lang="zh-CN" altLang="en-US" dirty="0">
                <a:solidFill>
                  <a:srgbClr val="CC00CC"/>
                </a:solidFill>
                <a:latin typeface="Times New Roman" panose="02020603050405020304" pitchFamily="18" charset="0"/>
              </a:rPr>
              <a:t> </a:t>
            </a:r>
            <a:endParaRPr lang="zh-CN" altLang="en-US">
              <a:solidFill>
                <a:srgbClr val="CC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76" name="矩形 88075">
            <a:hlinkClick r:id="" action="ppaction://noaction"/>
          </p:cNvPr>
          <p:cNvSpPr/>
          <p:nvPr/>
        </p:nvSpPr>
        <p:spPr>
          <a:xfrm>
            <a:off x="2124075" y="3860800"/>
            <a:ext cx="5400675" cy="68580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en-US" altLang="zh-CN" b="1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b="1" dirty="0">
                <a:solidFill>
                  <a:srgbClr val="CC00CC"/>
                </a:solidFill>
                <a:latin typeface="仿宋_GB2312" pitchFamily="49" charset="-122"/>
                <a:ea typeface="仿宋_GB2312" pitchFamily="49" charset="-122"/>
              </a:rPr>
              <a:t>放大电路静态工作点</a:t>
            </a:r>
            <a:r>
              <a:rPr lang="en-US" altLang="zh-CN" b="1" dirty="0">
                <a:solidFill>
                  <a:srgbClr val="CC00CC"/>
                </a:solidFill>
                <a:latin typeface="仿宋_GB2312" pitchFamily="49" charset="-122"/>
                <a:ea typeface="仿宋_GB2312" pitchFamily="49" charset="-122"/>
              </a:rPr>
              <a:t>Q</a:t>
            </a:r>
            <a:r>
              <a:rPr lang="zh-CN" altLang="en-US" b="1" dirty="0">
                <a:solidFill>
                  <a:srgbClr val="CC00CC"/>
                </a:solidFill>
                <a:latin typeface="仿宋_GB2312" pitchFamily="49" charset="-122"/>
                <a:ea typeface="仿宋_GB2312" pitchFamily="49" charset="-122"/>
              </a:rPr>
              <a:t>的设置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88077" name="矩形 88076">
            <a:hlinkClick r:id="" action="ppaction://noaction"/>
          </p:cNvPr>
          <p:cNvSpPr/>
          <p:nvPr/>
        </p:nvSpPr>
        <p:spPr>
          <a:xfrm>
            <a:off x="2124075" y="4581525"/>
            <a:ext cx="4392613" cy="68580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en-US" altLang="zh-CN" b="1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2.5 </a:t>
            </a:r>
            <a:r>
              <a:rPr lang="zh-CN" altLang="en-US" b="1" dirty="0">
                <a:solidFill>
                  <a:srgbClr val="CC00CC"/>
                </a:solidFill>
                <a:latin typeface="Times New Roman" panose="02020603050405020304" pitchFamily="18" charset="0"/>
                <a:ea typeface="仿宋_GB2312" pitchFamily="49" charset="-122"/>
              </a:rPr>
              <a:t>三极管多级放大电路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88080" name="矩形 88079">
            <a:hlinkClick r:id="" action="ppaction://noaction"/>
          </p:cNvPr>
          <p:cNvSpPr/>
          <p:nvPr/>
        </p:nvSpPr>
        <p:spPr>
          <a:xfrm>
            <a:off x="2124075" y="1773238"/>
            <a:ext cx="2952750" cy="60960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en-US" altLang="zh-CN" b="1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b="1" dirty="0">
                <a:solidFill>
                  <a:srgbClr val="CC00CC"/>
                </a:solidFill>
                <a:latin typeface="仿宋_GB2312" pitchFamily="49" charset="-122"/>
                <a:ea typeface="仿宋_GB2312" pitchFamily="49" charset="-122"/>
              </a:rPr>
              <a:t>晶体三极管</a:t>
            </a:r>
            <a:endParaRPr lang="zh-CN" altLang="en-US" b="1">
              <a:solidFill>
                <a:srgbClr val="CC00CC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8" name="矩形 461827">
            <a:hlinkClick r:id="" action="ppaction://noaction"/>
          </p:cNvPr>
          <p:cNvSpPr/>
          <p:nvPr/>
        </p:nvSpPr>
        <p:spPr>
          <a:xfrm>
            <a:off x="2411413" y="2573338"/>
            <a:ext cx="3833812" cy="60960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en-US" altLang="zh-CN" sz="3200" b="1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3200" b="1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晶体三极管</a:t>
            </a:r>
            <a:endParaRPr lang="zh-CN" altLang="en-US" sz="3200" b="1">
              <a:solidFill>
                <a:srgbClr val="FF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6" name="文本框 494595"/>
          <p:cNvSpPr txBox="1"/>
          <p:nvPr/>
        </p:nvSpPr>
        <p:spPr>
          <a:xfrm>
            <a:off x="2339975" y="333375"/>
            <a:ext cx="5472113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2.1.1  </a:t>
            </a:r>
            <a:r>
              <a:rPr lang="zh-CN" altLang="en-US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三极管的结构及类型</a:t>
            </a:r>
          </a:p>
        </p:txBody>
      </p:sp>
      <p:sp>
        <p:nvSpPr>
          <p:cNvPr id="494597" name="矩形 494596"/>
          <p:cNvSpPr/>
          <p:nvPr/>
        </p:nvSpPr>
        <p:spPr>
          <a:xfrm>
            <a:off x="1285875" y="1042988"/>
            <a:ext cx="7696200" cy="34020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50000"/>
              </a:spcBef>
              <a:buClr>
                <a:srgbClr val="000000"/>
              </a:buClr>
              <a:buSzPct val="90000"/>
              <a:buFont typeface="Symbol" panose="05050102010706020507" pitchFamily="18" charset="2"/>
            </a:pPr>
            <a:r>
              <a:rPr lang="zh-CN" altLang="en-US" b="1" dirty="0">
                <a:solidFill>
                  <a:srgbClr val="6600FF"/>
                </a:solidFill>
                <a:latin typeface="Times New Roman" panose="02020603050405020304" pitchFamily="18" charset="0"/>
              </a:rPr>
              <a:t>半导体三极管，也叫晶体三极管。由于工作时，多数载流子和少数载流子都参与运行，因此，</a:t>
            </a:r>
          </a:p>
          <a:p>
            <a:pPr>
              <a:lnSpc>
                <a:spcPct val="135000"/>
              </a:lnSpc>
              <a:spcBef>
                <a:spcPct val="50000"/>
              </a:spcBef>
              <a:buClr>
                <a:srgbClr val="000000"/>
              </a:buClr>
              <a:buSzPct val="90000"/>
              <a:buFont typeface="Symbol" panose="05050102010706020507" pitchFamily="18" charset="2"/>
            </a:pPr>
            <a:r>
              <a:rPr lang="zh-CN" altLang="en-US" b="1" dirty="0">
                <a:solidFill>
                  <a:srgbClr val="6600FF"/>
                </a:solidFill>
                <a:latin typeface="Times New Roman" panose="02020603050405020304" pitchFamily="18" charset="0"/>
              </a:rPr>
              <a:t>还被称为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双极型晶体管</a:t>
            </a:r>
            <a:r>
              <a:rPr lang="zh-CN" altLang="en-US" b="1" dirty="0">
                <a:solidFill>
                  <a:srgbClr val="66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6600FF"/>
                </a:solidFill>
                <a:latin typeface="Times New Roman" panose="02020603050405020304" pitchFamily="18" charset="0"/>
              </a:rPr>
              <a:t>Bipolar Junction Transistor,</a:t>
            </a:r>
            <a:r>
              <a:rPr lang="zh-CN" altLang="en-US" b="1" dirty="0">
                <a:solidFill>
                  <a:srgbClr val="6600FF"/>
                </a:solidFill>
                <a:latin typeface="Times New Roman" panose="02020603050405020304" pitchFamily="18" charset="0"/>
              </a:rPr>
              <a:t>简称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BJT</a:t>
            </a:r>
            <a:r>
              <a:rPr lang="zh-CN" altLang="en-US" b="1">
                <a:solidFill>
                  <a:srgbClr val="6600FF"/>
                </a:solidFill>
                <a:latin typeface="Times New Roman" panose="02020603050405020304" pitchFamily="18" charset="0"/>
              </a:rPr>
              <a:t>）。</a:t>
            </a:r>
          </a:p>
          <a:p>
            <a:pPr>
              <a:lnSpc>
                <a:spcPct val="135000"/>
              </a:lnSpc>
              <a:spcBef>
                <a:spcPct val="50000"/>
              </a:spcBef>
              <a:buClr>
                <a:srgbClr val="000000"/>
              </a:buClr>
              <a:buSzPct val="90000"/>
              <a:buFont typeface="Symbol" panose="05050102010706020507" pitchFamily="18" charset="2"/>
            </a:pPr>
            <a:r>
              <a:rPr lang="zh-CN" altLang="en-US" b="1">
                <a:solidFill>
                  <a:srgbClr val="6600FF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zh-CN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BJT是由两个PN结组成的。</a:t>
            </a:r>
            <a:endParaRPr lang="zh-CN" altLang="en-US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4598" name="文本框 494597"/>
          <p:cNvSpPr txBox="1"/>
          <p:nvPr/>
        </p:nvSpPr>
        <p:spPr>
          <a:xfrm>
            <a:off x="1422400" y="4914900"/>
            <a:ext cx="7110413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494600" name="文本框 494599"/>
          <p:cNvSpPr txBox="1"/>
          <p:nvPr/>
        </p:nvSpPr>
        <p:spPr>
          <a:xfrm>
            <a:off x="1285875" y="4689475"/>
            <a:ext cx="7291388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NPN</a:t>
            </a:r>
            <a:r>
              <a:rPr lang="zh-CN" altLang="en-US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PNP</a:t>
            </a:r>
            <a:r>
              <a:rPr lang="zh-CN" altLang="en-US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两种类型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44" name="对象 522243"/>
          <p:cNvGraphicFramePr/>
          <p:nvPr/>
        </p:nvGraphicFramePr>
        <p:xfrm>
          <a:off x="701040" y="1673860"/>
          <a:ext cx="6105525" cy="340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r:id="rId3" imgW="8632825" imgH="4813935" progId="Visio.Drawing.11">
                  <p:embed/>
                </p:oleObj>
              </mc:Choice>
              <mc:Fallback>
                <p:oleObj r:id="rId3" imgW="8632825" imgH="481393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1040" y="1673860"/>
                        <a:ext cx="6105525" cy="3402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45" name="文本框 522244"/>
          <p:cNvSpPr txBox="1"/>
          <p:nvPr/>
        </p:nvSpPr>
        <p:spPr>
          <a:xfrm>
            <a:off x="2546350" y="593408"/>
            <a:ext cx="3825875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NPN</a:t>
            </a:r>
            <a:r>
              <a:rPr lang="zh-CN" altLang="en-US" b="1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型三极管的截面图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6552565" y="3962400"/>
          <a:ext cx="2068195" cy="1642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r:id="rId5" imgW="1790700" imgH="1476375" progId="Paint.Picture">
                  <p:embed/>
                </p:oleObj>
              </mc:Choice>
              <mc:Fallback>
                <p:oleObj r:id="rId5" imgW="1790700" imgH="14763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52565" y="3962400"/>
                        <a:ext cx="2068195" cy="1642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8148" name="文本框 518147"/>
          <p:cNvSpPr txBox="1"/>
          <p:nvPr/>
        </p:nvSpPr>
        <p:spPr>
          <a:xfrm>
            <a:off x="6730365" y="5753100"/>
            <a:ext cx="15811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三极管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97255" y="5710555"/>
            <a:ext cx="47885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三极管主要功能：电流放大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矩形 518145"/>
          <p:cNvSpPr/>
          <p:nvPr/>
        </p:nvSpPr>
        <p:spPr>
          <a:xfrm>
            <a:off x="1700213" y="7620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28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NPN</a:t>
            </a:r>
            <a:r>
              <a:rPr lang="zh-CN" altLang="en-US" sz="28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</a:p>
        </p:txBody>
      </p:sp>
      <p:sp>
        <p:nvSpPr>
          <p:cNvPr id="518147" name="矩形 518146"/>
          <p:cNvSpPr/>
          <p:nvPr/>
        </p:nvSpPr>
        <p:spPr>
          <a:xfrm>
            <a:off x="6272213" y="7620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28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PNP</a:t>
            </a:r>
            <a:r>
              <a:rPr lang="zh-CN" altLang="en-US" sz="28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</a:p>
        </p:txBody>
      </p:sp>
      <p:sp>
        <p:nvSpPr>
          <p:cNvPr id="518148" name="文本框 518147"/>
          <p:cNvSpPr txBox="1"/>
          <p:nvPr/>
        </p:nvSpPr>
        <p:spPr>
          <a:xfrm>
            <a:off x="481013" y="3352800"/>
            <a:ext cx="1219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zh-CN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符号:</a:t>
            </a:r>
            <a:endParaRPr lang="en-US" altLang="zh-CN" b="1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518149" name="图片 518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3" y="3362325"/>
            <a:ext cx="2209800" cy="1566863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18150" name="图片 5181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813" y="3352800"/>
            <a:ext cx="2209800" cy="156845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18151" name="矩形 518150"/>
          <p:cNvSpPr/>
          <p:nvPr/>
        </p:nvSpPr>
        <p:spPr>
          <a:xfrm>
            <a:off x="827088" y="5084763"/>
            <a:ext cx="7467600" cy="1600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sz="320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</a:rPr>
              <a:t>三极管的结构特点</a:t>
            </a:r>
            <a:r>
              <a:rPr lang="en-US" altLang="zh-CN" sz="2400" b="1">
                <a:solidFill>
                  <a:srgbClr val="FF0000"/>
                </a:solidFill>
              </a:rPr>
              <a:t>:</a:t>
            </a:r>
          </a:p>
          <a:p>
            <a:pPr lvl="0"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（</a:t>
            </a: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</a:rPr>
              <a:t>）发射区的掺杂浓度＞＞集电区掺杂浓度。</a:t>
            </a:r>
          </a:p>
          <a:p>
            <a:pPr lvl="0"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）基区要制造得很薄且浓度很低。</a:t>
            </a:r>
          </a:p>
        </p:txBody>
      </p:sp>
      <p:grpSp>
        <p:nvGrpSpPr>
          <p:cNvPr id="518152" name="组合 518151"/>
          <p:cNvGrpSpPr/>
          <p:nvPr/>
        </p:nvGrpSpPr>
        <p:grpSpPr>
          <a:xfrm>
            <a:off x="252413" y="1371600"/>
            <a:ext cx="4244975" cy="1984375"/>
            <a:chOff x="144" y="1056"/>
            <a:chExt cx="2674" cy="1250"/>
          </a:xfrm>
        </p:grpSpPr>
        <p:sp>
          <p:nvSpPr>
            <p:cNvPr id="518153" name="椭圆 518152"/>
            <p:cNvSpPr/>
            <p:nvPr/>
          </p:nvSpPr>
          <p:spPr>
            <a:xfrm>
              <a:off x="2493" y="1540"/>
              <a:ext cx="53" cy="57"/>
            </a:xfrm>
            <a:prstGeom prst="ellipse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154" name="椭圆 518153"/>
            <p:cNvSpPr/>
            <p:nvPr/>
          </p:nvSpPr>
          <p:spPr>
            <a:xfrm>
              <a:off x="452" y="1555"/>
              <a:ext cx="53" cy="57"/>
            </a:xfrm>
            <a:prstGeom prst="ellipse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155" name="矩形 518154"/>
            <p:cNvSpPr/>
            <p:nvPr/>
          </p:nvSpPr>
          <p:spPr>
            <a:xfrm>
              <a:off x="320" y="1484"/>
              <a:ext cx="61" cy="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300" i="1">
                  <a:solidFill>
                    <a:srgbClr val="FFFFFF"/>
                  </a:solidFill>
                  <a:latin typeface="Times New Roman" panose="02020603050405020304" pitchFamily="18" charset="0"/>
                </a:rPr>
                <a:t>-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56" name="直接连接符 518155"/>
            <p:cNvSpPr/>
            <p:nvPr/>
          </p:nvSpPr>
          <p:spPr>
            <a:xfrm flipV="1">
              <a:off x="1400" y="1962"/>
              <a:ext cx="1" cy="38"/>
            </a:xfrm>
            <a:prstGeom prst="line">
              <a:avLst/>
            </a:prstGeom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57" name="椭圆 518156"/>
            <p:cNvSpPr/>
            <p:nvPr/>
          </p:nvSpPr>
          <p:spPr>
            <a:xfrm>
              <a:off x="1374" y="2000"/>
              <a:ext cx="53" cy="57"/>
            </a:xfrm>
            <a:prstGeom prst="ellipse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158" name="矩形 518157"/>
            <p:cNvSpPr/>
            <p:nvPr/>
          </p:nvSpPr>
          <p:spPr>
            <a:xfrm>
              <a:off x="1256" y="1773"/>
              <a:ext cx="61" cy="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300" i="1">
                  <a:solidFill>
                    <a:srgbClr val="FFFFFF"/>
                  </a:solidFill>
                  <a:latin typeface="Times New Roman" panose="02020603050405020304" pitchFamily="18" charset="0"/>
                </a:rPr>
                <a:t>-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59" name="矩形 518158"/>
            <p:cNvSpPr/>
            <p:nvPr/>
          </p:nvSpPr>
          <p:spPr>
            <a:xfrm>
              <a:off x="778" y="1294"/>
              <a:ext cx="1423" cy="523"/>
            </a:xfrm>
            <a:prstGeom prst="rect">
              <a:avLst/>
            </a:prstGeom>
            <a:noFill/>
            <a:ln w="46038" cap="flat" cmpd="sng">
              <a:solidFill>
                <a:srgbClr val="8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160" name="直接连接符 518159"/>
            <p:cNvSpPr/>
            <p:nvPr/>
          </p:nvSpPr>
          <p:spPr>
            <a:xfrm flipH="1">
              <a:off x="1242" y="1283"/>
              <a:ext cx="0" cy="540"/>
            </a:xfrm>
            <a:prstGeom prst="line">
              <a:avLst/>
            </a:prstGeom>
            <a:ln w="46038" cap="flat" cmpd="sng">
              <a:solidFill>
                <a:srgbClr val="8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61" name="直接连接符 518160"/>
            <p:cNvSpPr/>
            <p:nvPr/>
          </p:nvSpPr>
          <p:spPr>
            <a:xfrm>
              <a:off x="1648" y="1294"/>
              <a:ext cx="1" cy="518"/>
            </a:xfrm>
            <a:prstGeom prst="line">
              <a:avLst/>
            </a:prstGeom>
            <a:ln w="46038" cap="flat" cmpd="sng">
              <a:solidFill>
                <a:srgbClr val="8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62" name="直接连接符 518161"/>
            <p:cNvSpPr/>
            <p:nvPr/>
          </p:nvSpPr>
          <p:spPr>
            <a:xfrm flipH="1">
              <a:off x="2201" y="1579"/>
              <a:ext cx="274" cy="1"/>
            </a:xfrm>
            <a:prstGeom prst="line">
              <a:avLst/>
            </a:prstGeom>
            <a:ln w="15875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63" name="直接连接符 518162"/>
            <p:cNvSpPr/>
            <p:nvPr/>
          </p:nvSpPr>
          <p:spPr>
            <a:xfrm>
              <a:off x="511" y="1579"/>
              <a:ext cx="273" cy="1"/>
            </a:xfrm>
            <a:prstGeom prst="line">
              <a:avLst/>
            </a:prstGeom>
            <a:ln w="15875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64" name="直接连接符 518163"/>
            <p:cNvSpPr/>
            <p:nvPr/>
          </p:nvSpPr>
          <p:spPr>
            <a:xfrm>
              <a:off x="1400" y="1821"/>
              <a:ext cx="1" cy="141"/>
            </a:xfrm>
            <a:prstGeom prst="line">
              <a:avLst/>
            </a:prstGeom>
            <a:ln w="15875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65" name="矩形 518164"/>
            <p:cNvSpPr/>
            <p:nvPr/>
          </p:nvSpPr>
          <p:spPr>
            <a:xfrm>
              <a:off x="965" y="1358"/>
              <a:ext cx="1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 b="1">
                  <a:solidFill>
                    <a:srgbClr val="FF008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66" name="矩形 518165"/>
            <p:cNvSpPr/>
            <p:nvPr/>
          </p:nvSpPr>
          <p:spPr>
            <a:xfrm>
              <a:off x="1877" y="1389"/>
              <a:ext cx="1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 b="1">
                  <a:solidFill>
                    <a:srgbClr val="FF008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67" name="矩形 518166"/>
            <p:cNvSpPr/>
            <p:nvPr/>
          </p:nvSpPr>
          <p:spPr>
            <a:xfrm>
              <a:off x="1391" y="1358"/>
              <a:ext cx="11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 b="1">
                  <a:solidFill>
                    <a:srgbClr val="FF0080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68" name="矩形 518167"/>
            <p:cNvSpPr/>
            <p:nvPr/>
          </p:nvSpPr>
          <p:spPr>
            <a:xfrm>
              <a:off x="821" y="1604"/>
              <a:ext cx="40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700" dirty="0">
                  <a:solidFill>
                    <a:srgbClr val="400000"/>
                  </a:solidFill>
                  <a:latin typeface="Times New Roman" panose="02020603050405020304" pitchFamily="18" charset="0"/>
                </a:rPr>
                <a:t>发射区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69" name="矩形 518168"/>
            <p:cNvSpPr/>
            <p:nvPr/>
          </p:nvSpPr>
          <p:spPr>
            <a:xfrm>
              <a:off x="1741" y="1627"/>
              <a:ext cx="40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700" dirty="0">
                  <a:solidFill>
                    <a:srgbClr val="400000"/>
                  </a:solidFill>
                  <a:latin typeface="Times New Roman" panose="02020603050405020304" pitchFamily="18" charset="0"/>
                </a:rPr>
                <a:t>集电区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0" name="矩形 518169"/>
            <p:cNvSpPr/>
            <p:nvPr/>
          </p:nvSpPr>
          <p:spPr>
            <a:xfrm>
              <a:off x="1344" y="1627"/>
              <a:ext cx="272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700" dirty="0">
                  <a:solidFill>
                    <a:srgbClr val="400000"/>
                  </a:solidFill>
                  <a:latin typeface="Times New Roman" panose="02020603050405020304" pitchFamily="18" charset="0"/>
                </a:rPr>
                <a:t>基区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1" name="矩形 518170"/>
            <p:cNvSpPr/>
            <p:nvPr/>
          </p:nvSpPr>
          <p:spPr>
            <a:xfrm>
              <a:off x="1027" y="1056"/>
              <a:ext cx="4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9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发射结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2" name="矩形 518171"/>
            <p:cNvSpPr/>
            <p:nvPr/>
          </p:nvSpPr>
          <p:spPr>
            <a:xfrm>
              <a:off x="1517" y="1056"/>
              <a:ext cx="4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9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集电结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3" name="矩形 518172"/>
            <p:cNvSpPr/>
            <p:nvPr/>
          </p:nvSpPr>
          <p:spPr>
            <a:xfrm>
              <a:off x="286" y="1389"/>
              <a:ext cx="85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74" name="矩形 518173"/>
            <p:cNvSpPr/>
            <p:nvPr/>
          </p:nvSpPr>
          <p:spPr>
            <a:xfrm>
              <a:off x="2598" y="1389"/>
              <a:ext cx="85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75" name="矩形 518174"/>
            <p:cNvSpPr/>
            <p:nvPr/>
          </p:nvSpPr>
          <p:spPr>
            <a:xfrm>
              <a:off x="1407" y="2076"/>
              <a:ext cx="9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8176" name="矩形 518175"/>
            <p:cNvSpPr/>
            <p:nvPr/>
          </p:nvSpPr>
          <p:spPr>
            <a:xfrm>
              <a:off x="144" y="1651"/>
              <a:ext cx="4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9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发射极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7" name="矩形 518176"/>
            <p:cNvSpPr/>
            <p:nvPr/>
          </p:nvSpPr>
          <p:spPr>
            <a:xfrm>
              <a:off x="2362" y="1627"/>
              <a:ext cx="45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9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集电极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8" name="矩形 518177"/>
            <p:cNvSpPr/>
            <p:nvPr/>
          </p:nvSpPr>
          <p:spPr>
            <a:xfrm>
              <a:off x="1506" y="1959"/>
              <a:ext cx="30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zh-CN" altLang="en-US" sz="19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基极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79" name="直接连接符 518178"/>
            <p:cNvSpPr/>
            <p:nvPr/>
          </p:nvSpPr>
          <p:spPr>
            <a:xfrm>
              <a:off x="1311" y="1294"/>
              <a:ext cx="0" cy="523"/>
            </a:xfrm>
            <a:prstGeom prst="line">
              <a:avLst/>
            </a:prstGeom>
            <a:ln w="46038" cap="flat" cmpd="sng">
              <a:solidFill>
                <a:srgbClr val="8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0" name="直接连接符 518179"/>
            <p:cNvSpPr/>
            <p:nvPr/>
          </p:nvSpPr>
          <p:spPr>
            <a:xfrm>
              <a:off x="1712" y="1294"/>
              <a:ext cx="1" cy="538"/>
            </a:xfrm>
            <a:prstGeom prst="line">
              <a:avLst/>
            </a:prstGeom>
            <a:ln w="46038" cap="flat" cmpd="sng">
              <a:solidFill>
                <a:srgbClr val="8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1" name="直接连接符 518180"/>
            <p:cNvSpPr/>
            <p:nvPr/>
          </p:nvSpPr>
          <p:spPr>
            <a:xfrm flipV="1">
              <a:off x="1248" y="1344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2" name="直接连接符 518181"/>
            <p:cNvSpPr/>
            <p:nvPr/>
          </p:nvSpPr>
          <p:spPr>
            <a:xfrm flipV="1">
              <a:off x="1248" y="1392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3" name="直接连接符 518182"/>
            <p:cNvSpPr/>
            <p:nvPr/>
          </p:nvSpPr>
          <p:spPr>
            <a:xfrm flipV="1">
              <a:off x="1248" y="1440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4" name="直接连接符 518183"/>
            <p:cNvSpPr/>
            <p:nvPr/>
          </p:nvSpPr>
          <p:spPr>
            <a:xfrm flipV="1">
              <a:off x="1248" y="1488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5" name="直接连接符 518184"/>
            <p:cNvSpPr/>
            <p:nvPr/>
          </p:nvSpPr>
          <p:spPr>
            <a:xfrm flipV="1">
              <a:off x="1248" y="1536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6" name="直接连接符 518185"/>
            <p:cNvSpPr/>
            <p:nvPr/>
          </p:nvSpPr>
          <p:spPr>
            <a:xfrm flipV="1">
              <a:off x="1248" y="1584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7" name="直接连接符 518186"/>
            <p:cNvSpPr/>
            <p:nvPr/>
          </p:nvSpPr>
          <p:spPr>
            <a:xfrm flipV="1">
              <a:off x="1248" y="1632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8" name="直接连接符 518187"/>
            <p:cNvSpPr/>
            <p:nvPr/>
          </p:nvSpPr>
          <p:spPr>
            <a:xfrm flipV="1">
              <a:off x="1248" y="1680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89" name="直接连接符 518188"/>
            <p:cNvSpPr/>
            <p:nvPr/>
          </p:nvSpPr>
          <p:spPr>
            <a:xfrm flipV="1">
              <a:off x="1248" y="1728"/>
              <a:ext cx="48" cy="48"/>
            </a:xfrm>
            <a:prstGeom prst="line">
              <a:avLst/>
            </a:prstGeom>
            <a:ln w="63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18190" name="组合 518189"/>
            <p:cNvGrpSpPr/>
            <p:nvPr/>
          </p:nvGrpSpPr>
          <p:grpSpPr>
            <a:xfrm>
              <a:off x="1668" y="1320"/>
              <a:ext cx="48" cy="432"/>
              <a:chOff x="2640" y="2016"/>
              <a:chExt cx="48" cy="432"/>
            </a:xfrm>
          </p:grpSpPr>
          <p:sp>
            <p:nvSpPr>
              <p:cNvPr id="518191" name="直接连接符 518190"/>
              <p:cNvSpPr/>
              <p:nvPr/>
            </p:nvSpPr>
            <p:spPr>
              <a:xfrm flipV="1">
                <a:off x="2640" y="201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2" name="直接连接符 518191"/>
              <p:cNvSpPr/>
              <p:nvPr/>
            </p:nvSpPr>
            <p:spPr>
              <a:xfrm flipV="1">
                <a:off x="2640" y="206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3" name="直接连接符 518192"/>
              <p:cNvSpPr/>
              <p:nvPr/>
            </p:nvSpPr>
            <p:spPr>
              <a:xfrm flipV="1">
                <a:off x="2640" y="211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4" name="直接连接符 518193"/>
              <p:cNvSpPr/>
              <p:nvPr/>
            </p:nvSpPr>
            <p:spPr>
              <a:xfrm flipV="1">
                <a:off x="2640" y="216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5" name="直接连接符 518194"/>
              <p:cNvSpPr/>
              <p:nvPr/>
            </p:nvSpPr>
            <p:spPr>
              <a:xfrm flipV="1">
                <a:off x="2640" y="2208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6" name="直接连接符 518195"/>
              <p:cNvSpPr/>
              <p:nvPr/>
            </p:nvSpPr>
            <p:spPr>
              <a:xfrm flipV="1">
                <a:off x="2640" y="225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7" name="直接连接符 518196"/>
              <p:cNvSpPr/>
              <p:nvPr/>
            </p:nvSpPr>
            <p:spPr>
              <a:xfrm flipV="1">
                <a:off x="2640" y="230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8" name="直接连接符 518197"/>
              <p:cNvSpPr/>
              <p:nvPr/>
            </p:nvSpPr>
            <p:spPr>
              <a:xfrm flipV="1">
                <a:off x="2640" y="235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199" name="直接连接符 518198"/>
              <p:cNvSpPr/>
              <p:nvPr/>
            </p:nvSpPr>
            <p:spPr>
              <a:xfrm flipV="1">
                <a:off x="2640" y="240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18200" name="组合 518199"/>
          <p:cNvGrpSpPr/>
          <p:nvPr/>
        </p:nvGrpSpPr>
        <p:grpSpPr>
          <a:xfrm>
            <a:off x="4748213" y="1371600"/>
            <a:ext cx="4244975" cy="1984375"/>
            <a:chOff x="2976" y="1056"/>
            <a:chExt cx="2674" cy="1250"/>
          </a:xfrm>
        </p:grpSpPr>
        <p:grpSp>
          <p:nvGrpSpPr>
            <p:cNvPr id="518201" name="组合 518200"/>
            <p:cNvGrpSpPr/>
            <p:nvPr/>
          </p:nvGrpSpPr>
          <p:grpSpPr>
            <a:xfrm>
              <a:off x="2976" y="1056"/>
              <a:ext cx="2674" cy="1250"/>
              <a:chOff x="1284" y="1248"/>
              <a:chExt cx="2886" cy="1262"/>
            </a:xfrm>
          </p:grpSpPr>
          <p:sp>
            <p:nvSpPr>
              <p:cNvPr id="518202" name="椭圆 518201"/>
              <p:cNvSpPr/>
              <p:nvPr/>
            </p:nvSpPr>
            <p:spPr>
              <a:xfrm>
                <a:off x="3819" y="1737"/>
                <a:ext cx="57" cy="57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8203" name="椭圆 518202"/>
              <p:cNvSpPr/>
              <p:nvPr/>
            </p:nvSpPr>
            <p:spPr>
              <a:xfrm>
                <a:off x="1616" y="1752"/>
                <a:ext cx="58" cy="57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8204" name="矩形 518203"/>
              <p:cNvSpPr/>
              <p:nvPr/>
            </p:nvSpPr>
            <p:spPr>
              <a:xfrm>
                <a:off x="1474" y="1680"/>
                <a:ext cx="66" cy="2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300" i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-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05" name="直接连接符 518204"/>
              <p:cNvSpPr/>
              <p:nvPr/>
            </p:nvSpPr>
            <p:spPr>
              <a:xfrm flipV="1">
                <a:off x="2640" y="2163"/>
                <a:ext cx="1" cy="38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06" name="椭圆 518205"/>
              <p:cNvSpPr/>
              <p:nvPr/>
            </p:nvSpPr>
            <p:spPr>
              <a:xfrm>
                <a:off x="2612" y="2201"/>
                <a:ext cx="57" cy="58"/>
              </a:xfrm>
              <a:prstGeom prst="ellipse">
                <a:avLst/>
              </a:prstGeom>
              <a:noFill/>
              <a:ln w="158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8207" name="矩形 518206"/>
              <p:cNvSpPr/>
              <p:nvPr/>
            </p:nvSpPr>
            <p:spPr>
              <a:xfrm>
                <a:off x="2484" y="1972"/>
                <a:ext cx="66" cy="2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300" i="1">
                    <a:solidFill>
                      <a:srgbClr val="FFFFFF"/>
                    </a:solidFill>
                    <a:latin typeface="Times New Roman" panose="02020603050405020304" pitchFamily="18" charset="0"/>
                  </a:rPr>
                  <a:t>-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08" name="矩形 518207"/>
              <p:cNvSpPr/>
              <p:nvPr/>
            </p:nvSpPr>
            <p:spPr>
              <a:xfrm>
                <a:off x="1968" y="1488"/>
                <a:ext cx="1536" cy="528"/>
              </a:xfrm>
              <a:prstGeom prst="rect">
                <a:avLst/>
              </a:prstGeom>
              <a:noFill/>
              <a:ln w="46038" cap="flat" cmpd="sng">
                <a:solidFill>
                  <a:srgbClr val="8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8209" name="直接连接符 518208"/>
              <p:cNvSpPr/>
              <p:nvPr/>
            </p:nvSpPr>
            <p:spPr>
              <a:xfrm flipH="1">
                <a:off x="2469" y="1477"/>
                <a:ext cx="0" cy="545"/>
              </a:xfrm>
              <a:prstGeom prst="line">
                <a:avLst/>
              </a:prstGeom>
              <a:ln w="46038" cap="flat" cmpd="sng">
                <a:solidFill>
                  <a:srgbClr val="8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10" name="直接连接符 518209"/>
              <p:cNvSpPr/>
              <p:nvPr/>
            </p:nvSpPr>
            <p:spPr>
              <a:xfrm>
                <a:off x="2907" y="1488"/>
                <a:ext cx="1" cy="523"/>
              </a:xfrm>
              <a:prstGeom prst="line">
                <a:avLst/>
              </a:prstGeom>
              <a:ln w="46038" cap="flat" cmpd="sng">
                <a:solidFill>
                  <a:srgbClr val="8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11" name="直接连接符 518210"/>
              <p:cNvSpPr/>
              <p:nvPr/>
            </p:nvSpPr>
            <p:spPr>
              <a:xfrm flipH="1">
                <a:off x="3504" y="1776"/>
                <a:ext cx="296" cy="1"/>
              </a:xfrm>
              <a:prstGeom prst="line">
                <a:avLst/>
              </a:prstGeom>
              <a:ln w="15875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12" name="直接连接符 518211"/>
              <p:cNvSpPr/>
              <p:nvPr/>
            </p:nvSpPr>
            <p:spPr>
              <a:xfrm>
                <a:off x="1680" y="1776"/>
                <a:ext cx="295" cy="1"/>
              </a:xfrm>
              <a:prstGeom prst="line">
                <a:avLst/>
              </a:prstGeom>
              <a:ln w="15875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13" name="直接连接符 518212"/>
              <p:cNvSpPr/>
              <p:nvPr/>
            </p:nvSpPr>
            <p:spPr>
              <a:xfrm>
                <a:off x="2640" y="2020"/>
                <a:ext cx="1" cy="143"/>
              </a:xfrm>
              <a:prstGeom prst="line">
                <a:avLst/>
              </a:prstGeom>
              <a:ln w="15875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14" name="矩形 518213"/>
              <p:cNvSpPr/>
              <p:nvPr/>
            </p:nvSpPr>
            <p:spPr>
              <a:xfrm>
                <a:off x="2182" y="1553"/>
                <a:ext cx="12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F0080"/>
                    </a:solidFill>
                    <a:latin typeface="Times New Roman" panose="02020603050405020304" pitchFamily="18" charset="0"/>
                  </a:rPr>
                  <a:t>P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15" name="矩形 518214"/>
              <p:cNvSpPr/>
              <p:nvPr/>
            </p:nvSpPr>
            <p:spPr>
              <a:xfrm>
                <a:off x="3166" y="1584"/>
                <a:ext cx="12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F0080"/>
                    </a:solidFill>
                    <a:latin typeface="Times New Roman" panose="02020603050405020304" pitchFamily="18" charset="0"/>
                  </a:rPr>
                  <a:t>P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16" name="矩形 518215"/>
              <p:cNvSpPr/>
              <p:nvPr/>
            </p:nvSpPr>
            <p:spPr>
              <a:xfrm>
                <a:off x="2618" y="1553"/>
                <a:ext cx="150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F0080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17" name="矩形 518216"/>
              <p:cNvSpPr/>
              <p:nvPr/>
            </p:nvSpPr>
            <p:spPr>
              <a:xfrm>
                <a:off x="2015" y="1801"/>
                <a:ext cx="440" cy="1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700" dirty="0">
                    <a:solidFill>
                      <a:srgbClr val="400000"/>
                    </a:solidFill>
                    <a:latin typeface="Times New Roman" panose="02020603050405020304" pitchFamily="18" charset="0"/>
                  </a:rPr>
                  <a:t>发射区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18" name="矩形 518217"/>
              <p:cNvSpPr/>
              <p:nvPr/>
            </p:nvSpPr>
            <p:spPr>
              <a:xfrm>
                <a:off x="3008" y="1824"/>
                <a:ext cx="440" cy="1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700" dirty="0">
                    <a:solidFill>
                      <a:srgbClr val="400000"/>
                    </a:solidFill>
                    <a:latin typeface="Times New Roman" panose="02020603050405020304" pitchFamily="18" charset="0"/>
                  </a:rPr>
                  <a:t>集电区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19" name="矩形 518218"/>
              <p:cNvSpPr/>
              <p:nvPr/>
            </p:nvSpPr>
            <p:spPr>
              <a:xfrm>
                <a:off x="2579" y="1824"/>
                <a:ext cx="294" cy="1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700" dirty="0">
                    <a:solidFill>
                      <a:srgbClr val="400000"/>
                    </a:solidFill>
                    <a:latin typeface="Times New Roman" panose="02020603050405020304" pitchFamily="18" charset="0"/>
                  </a:rPr>
                  <a:t>基区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0" name="矩形 518219"/>
              <p:cNvSpPr/>
              <p:nvPr/>
            </p:nvSpPr>
            <p:spPr>
              <a:xfrm>
                <a:off x="2237" y="1248"/>
                <a:ext cx="49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90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发射结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1" name="矩形 518220"/>
              <p:cNvSpPr/>
              <p:nvPr/>
            </p:nvSpPr>
            <p:spPr>
              <a:xfrm>
                <a:off x="2766" y="1248"/>
                <a:ext cx="49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90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集电结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2" name="矩形 518221"/>
              <p:cNvSpPr/>
              <p:nvPr/>
            </p:nvSpPr>
            <p:spPr>
              <a:xfrm>
                <a:off x="1437" y="1584"/>
                <a:ext cx="9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e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3" name="矩形 518222"/>
              <p:cNvSpPr/>
              <p:nvPr/>
            </p:nvSpPr>
            <p:spPr>
              <a:xfrm>
                <a:off x="3933" y="1584"/>
                <a:ext cx="9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c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4" name="矩形 518223"/>
              <p:cNvSpPr/>
              <p:nvPr/>
            </p:nvSpPr>
            <p:spPr>
              <a:xfrm>
                <a:off x="2647" y="2278"/>
                <a:ext cx="104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en-US" altLang="zh-CN" sz="24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b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5" name="矩形 518224"/>
              <p:cNvSpPr/>
              <p:nvPr/>
            </p:nvSpPr>
            <p:spPr>
              <a:xfrm>
                <a:off x="1284" y="1849"/>
                <a:ext cx="492" cy="18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9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发射极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6" name="矩形 518225"/>
              <p:cNvSpPr/>
              <p:nvPr/>
            </p:nvSpPr>
            <p:spPr>
              <a:xfrm>
                <a:off x="3678" y="1824"/>
                <a:ext cx="49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9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集电极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7" name="矩形 518226"/>
              <p:cNvSpPr/>
              <p:nvPr/>
            </p:nvSpPr>
            <p:spPr>
              <a:xfrm>
                <a:off x="2754" y="2160"/>
                <a:ext cx="328" cy="18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 eaLnBrk="0" hangingPunct="0"/>
                <a:r>
                  <a:rPr lang="zh-CN" altLang="en-US" sz="19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基极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8228" name="直接连接符 518227"/>
              <p:cNvSpPr/>
              <p:nvPr/>
            </p:nvSpPr>
            <p:spPr>
              <a:xfrm>
                <a:off x="2544" y="1488"/>
                <a:ext cx="0" cy="528"/>
              </a:xfrm>
              <a:prstGeom prst="line">
                <a:avLst/>
              </a:prstGeom>
              <a:ln w="46038" cap="flat" cmpd="sng">
                <a:solidFill>
                  <a:srgbClr val="8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29" name="直接连接符 518228"/>
              <p:cNvSpPr/>
              <p:nvPr/>
            </p:nvSpPr>
            <p:spPr>
              <a:xfrm>
                <a:off x="2976" y="1488"/>
                <a:ext cx="1" cy="543"/>
              </a:xfrm>
              <a:prstGeom prst="line">
                <a:avLst/>
              </a:prstGeom>
              <a:ln w="46038" cap="flat" cmpd="sng">
                <a:solidFill>
                  <a:srgbClr val="8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8230" name="组合 518229"/>
            <p:cNvGrpSpPr/>
            <p:nvPr/>
          </p:nvGrpSpPr>
          <p:grpSpPr>
            <a:xfrm>
              <a:off x="4086" y="1338"/>
              <a:ext cx="48" cy="432"/>
              <a:chOff x="2640" y="2016"/>
              <a:chExt cx="48" cy="432"/>
            </a:xfrm>
          </p:grpSpPr>
          <p:sp>
            <p:nvSpPr>
              <p:cNvPr id="518231" name="直接连接符 518230"/>
              <p:cNvSpPr/>
              <p:nvPr/>
            </p:nvSpPr>
            <p:spPr>
              <a:xfrm flipV="1">
                <a:off x="2640" y="201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2" name="直接连接符 518231"/>
              <p:cNvSpPr/>
              <p:nvPr/>
            </p:nvSpPr>
            <p:spPr>
              <a:xfrm flipV="1">
                <a:off x="2640" y="206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3" name="直接连接符 518232"/>
              <p:cNvSpPr/>
              <p:nvPr/>
            </p:nvSpPr>
            <p:spPr>
              <a:xfrm flipV="1">
                <a:off x="2640" y="211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4" name="直接连接符 518233"/>
              <p:cNvSpPr/>
              <p:nvPr/>
            </p:nvSpPr>
            <p:spPr>
              <a:xfrm flipV="1">
                <a:off x="2640" y="216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5" name="直接连接符 518234"/>
              <p:cNvSpPr/>
              <p:nvPr/>
            </p:nvSpPr>
            <p:spPr>
              <a:xfrm flipV="1">
                <a:off x="2640" y="2208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6" name="直接连接符 518235"/>
              <p:cNvSpPr/>
              <p:nvPr/>
            </p:nvSpPr>
            <p:spPr>
              <a:xfrm flipV="1">
                <a:off x="2640" y="225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7" name="直接连接符 518236"/>
              <p:cNvSpPr/>
              <p:nvPr/>
            </p:nvSpPr>
            <p:spPr>
              <a:xfrm flipV="1">
                <a:off x="2640" y="230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8" name="直接连接符 518237"/>
              <p:cNvSpPr/>
              <p:nvPr/>
            </p:nvSpPr>
            <p:spPr>
              <a:xfrm flipV="1">
                <a:off x="2640" y="235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39" name="直接连接符 518238"/>
              <p:cNvSpPr/>
              <p:nvPr/>
            </p:nvSpPr>
            <p:spPr>
              <a:xfrm flipV="1">
                <a:off x="2640" y="240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8240" name="组合 518239"/>
            <p:cNvGrpSpPr/>
            <p:nvPr/>
          </p:nvGrpSpPr>
          <p:grpSpPr>
            <a:xfrm>
              <a:off x="4494" y="1338"/>
              <a:ext cx="48" cy="432"/>
              <a:chOff x="2640" y="2016"/>
              <a:chExt cx="48" cy="432"/>
            </a:xfrm>
          </p:grpSpPr>
          <p:sp>
            <p:nvSpPr>
              <p:cNvPr id="518241" name="直接连接符 518240"/>
              <p:cNvSpPr/>
              <p:nvPr/>
            </p:nvSpPr>
            <p:spPr>
              <a:xfrm flipV="1">
                <a:off x="2640" y="201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2" name="直接连接符 518241"/>
              <p:cNvSpPr/>
              <p:nvPr/>
            </p:nvSpPr>
            <p:spPr>
              <a:xfrm flipV="1">
                <a:off x="2640" y="206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3" name="直接连接符 518242"/>
              <p:cNvSpPr/>
              <p:nvPr/>
            </p:nvSpPr>
            <p:spPr>
              <a:xfrm flipV="1">
                <a:off x="2640" y="211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4" name="直接连接符 518243"/>
              <p:cNvSpPr/>
              <p:nvPr/>
            </p:nvSpPr>
            <p:spPr>
              <a:xfrm flipV="1">
                <a:off x="2640" y="216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5" name="直接连接符 518244"/>
              <p:cNvSpPr/>
              <p:nvPr/>
            </p:nvSpPr>
            <p:spPr>
              <a:xfrm flipV="1">
                <a:off x="2640" y="2208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6" name="直接连接符 518245"/>
              <p:cNvSpPr/>
              <p:nvPr/>
            </p:nvSpPr>
            <p:spPr>
              <a:xfrm flipV="1">
                <a:off x="2640" y="2256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7" name="直接连接符 518246"/>
              <p:cNvSpPr/>
              <p:nvPr/>
            </p:nvSpPr>
            <p:spPr>
              <a:xfrm flipV="1">
                <a:off x="2640" y="2304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8" name="直接连接符 518247"/>
              <p:cNvSpPr/>
              <p:nvPr/>
            </p:nvSpPr>
            <p:spPr>
              <a:xfrm flipV="1">
                <a:off x="2640" y="2352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8249" name="直接连接符 518248"/>
              <p:cNvSpPr/>
              <p:nvPr/>
            </p:nvSpPr>
            <p:spPr>
              <a:xfrm flipV="1">
                <a:off x="2640" y="2400"/>
                <a:ext cx="48" cy="48"/>
              </a:xfrm>
              <a:prstGeom prst="line">
                <a:avLst/>
              </a:prstGeom>
              <a:ln w="63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518250" name="矩形 518249"/>
          <p:cNvSpPr/>
          <p:nvPr/>
        </p:nvSpPr>
        <p:spPr>
          <a:xfrm>
            <a:off x="3148013" y="0"/>
            <a:ext cx="2398712" cy="6413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BJT</a:t>
            </a:r>
            <a:r>
              <a:rPr lang="zh-CN" altLang="en-US" sz="3600" b="1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的结构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8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8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8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1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46" grpId="0"/>
      <p:bldP spid="518147" grpId="0"/>
      <p:bldP spid="518148" grpId="0"/>
      <p:bldP spid="51815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  <a:t>2025/3/6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9170" name="标题 519169"/>
          <p:cNvSpPr>
            <a:spLocks noGrp="1"/>
          </p:cNvSpPr>
          <p:nvPr>
            <p:ph type="title"/>
          </p:nvPr>
        </p:nvSpPr>
        <p:spPr>
          <a:xfrm>
            <a:off x="1676400" y="228600"/>
            <a:ext cx="4953000" cy="114300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半导体三极管的型号</a:t>
            </a:r>
          </a:p>
        </p:txBody>
      </p:sp>
      <p:sp>
        <p:nvSpPr>
          <p:cNvPr id="519171" name="文本框 519170"/>
          <p:cNvSpPr txBox="1"/>
          <p:nvPr/>
        </p:nvSpPr>
        <p:spPr>
          <a:xfrm>
            <a:off x="1219200" y="4554538"/>
            <a:ext cx="7924800" cy="8842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第二位：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锗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PNP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管、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锗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NPN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管、</a:t>
            </a:r>
          </a:p>
          <a:p>
            <a:pPr eaLnBrk="0" hangingPunct="0"/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硅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PNP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管、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硅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NPN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管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</a:p>
        </p:txBody>
      </p:sp>
      <p:sp>
        <p:nvSpPr>
          <p:cNvPr id="519172" name="文本框 519171"/>
          <p:cNvSpPr txBox="1"/>
          <p:nvPr/>
        </p:nvSpPr>
        <p:spPr>
          <a:xfrm>
            <a:off x="1193800" y="5408613"/>
            <a:ext cx="8001000" cy="8223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第三位：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低频小功率管、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低频大功率管、</a:t>
            </a:r>
          </a:p>
          <a:p>
            <a:pPr eaLnBrk="0" hangingPunct="0"/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高频小功率管、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高频大功率管、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开关管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519174" name="直接连接符 519173"/>
          <p:cNvSpPr/>
          <p:nvPr/>
        </p:nvSpPr>
        <p:spPr>
          <a:xfrm>
            <a:off x="1828800" y="2667000"/>
            <a:ext cx="0" cy="1066800"/>
          </a:xfrm>
          <a:prstGeom prst="line">
            <a:avLst/>
          </a:prstGeom>
          <a:ln w="1270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9175" name="直接连接符 519174"/>
          <p:cNvSpPr/>
          <p:nvPr/>
        </p:nvSpPr>
        <p:spPr>
          <a:xfrm>
            <a:off x="1828800" y="3733800"/>
            <a:ext cx="2209800" cy="0"/>
          </a:xfrm>
          <a:prstGeom prst="line">
            <a:avLst/>
          </a:prstGeom>
          <a:ln w="1270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9176" name="文本框 519175"/>
          <p:cNvSpPr txBox="1"/>
          <p:nvPr/>
        </p:nvSpPr>
        <p:spPr>
          <a:xfrm>
            <a:off x="4038600" y="3505200"/>
            <a:ext cx="32004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用字母表示材料</a:t>
            </a:r>
            <a:endParaRPr lang="zh-CN" altLang="en-US" sz="1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519178" name="直接连接符 519177"/>
          <p:cNvSpPr/>
          <p:nvPr/>
        </p:nvSpPr>
        <p:spPr>
          <a:xfrm>
            <a:off x="2133600" y="2590800"/>
            <a:ext cx="0" cy="685800"/>
          </a:xfrm>
          <a:prstGeom prst="line">
            <a:avLst/>
          </a:prstGeom>
          <a:ln w="127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9179" name="直接连接符 519178"/>
          <p:cNvSpPr/>
          <p:nvPr/>
        </p:nvSpPr>
        <p:spPr>
          <a:xfrm>
            <a:off x="2133600" y="3276600"/>
            <a:ext cx="1905000" cy="0"/>
          </a:xfrm>
          <a:prstGeom prst="line">
            <a:avLst/>
          </a:prstGeom>
          <a:ln w="127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9180" name="文本框 519179"/>
          <p:cNvSpPr txBox="1"/>
          <p:nvPr/>
        </p:nvSpPr>
        <p:spPr>
          <a:xfrm>
            <a:off x="4038600" y="3048000"/>
            <a:ext cx="38862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用字母表示器件的种类</a:t>
            </a:r>
          </a:p>
        </p:txBody>
      </p:sp>
      <p:sp>
        <p:nvSpPr>
          <p:cNvPr id="519182" name="直接连接符 519181"/>
          <p:cNvSpPr/>
          <p:nvPr/>
        </p:nvSpPr>
        <p:spPr>
          <a:xfrm>
            <a:off x="2514600" y="2590800"/>
            <a:ext cx="0" cy="304800"/>
          </a:xfrm>
          <a:prstGeom prst="line">
            <a:avLst/>
          </a:prstGeom>
          <a:ln w="12700" cap="sq" cmpd="sng">
            <a:solidFill>
              <a:srgbClr val="008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9183" name="直接连接符 519182"/>
          <p:cNvSpPr/>
          <p:nvPr/>
        </p:nvSpPr>
        <p:spPr>
          <a:xfrm>
            <a:off x="2514600" y="2895600"/>
            <a:ext cx="1524000" cy="0"/>
          </a:xfrm>
          <a:prstGeom prst="line">
            <a:avLst/>
          </a:prstGeom>
          <a:ln w="12700" cap="sq" cmpd="sng">
            <a:solidFill>
              <a:srgbClr val="008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9184" name="文本框 519183"/>
          <p:cNvSpPr txBox="1"/>
          <p:nvPr/>
        </p:nvSpPr>
        <p:spPr>
          <a:xfrm>
            <a:off x="4038600" y="2590800"/>
            <a:ext cx="48006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</a:rPr>
              <a:t>用数字表示同种器件型号的序号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19186" name="直接连接符 519185"/>
          <p:cNvSpPr/>
          <p:nvPr/>
        </p:nvSpPr>
        <p:spPr>
          <a:xfrm>
            <a:off x="3200400" y="2438400"/>
            <a:ext cx="8382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9187" name="文本框 519186"/>
          <p:cNvSpPr txBox="1"/>
          <p:nvPr/>
        </p:nvSpPr>
        <p:spPr>
          <a:xfrm>
            <a:off x="4038600" y="2133600"/>
            <a:ext cx="48768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用字母表示同一型号中的不同规格</a:t>
            </a:r>
          </a:p>
        </p:txBody>
      </p:sp>
      <p:sp>
        <p:nvSpPr>
          <p:cNvPr id="519189" name="直接连接符 519188"/>
          <p:cNvSpPr/>
          <p:nvPr/>
        </p:nvSpPr>
        <p:spPr>
          <a:xfrm>
            <a:off x="1524000" y="2667000"/>
            <a:ext cx="0" cy="1447800"/>
          </a:xfrm>
          <a:prstGeom prst="line">
            <a:avLst/>
          </a:prstGeom>
          <a:ln w="12700" cap="sq" cmpd="sng">
            <a:solidFill>
              <a:srgbClr val="FF006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9190" name="直接连接符 519189"/>
          <p:cNvSpPr/>
          <p:nvPr/>
        </p:nvSpPr>
        <p:spPr>
          <a:xfrm>
            <a:off x="1524000" y="4114800"/>
            <a:ext cx="2514600" cy="0"/>
          </a:xfrm>
          <a:prstGeom prst="line">
            <a:avLst/>
          </a:prstGeom>
          <a:ln w="12700" cap="sq" cmpd="sng">
            <a:solidFill>
              <a:srgbClr val="FF006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9191" name="文本框 519190"/>
          <p:cNvSpPr txBox="1"/>
          <p:nvPr/>
        </p:nvSpPr>
        <p:spPr>
          <a:xfrm>
            <a:off x="4038600" y="3886200"/>
            <a:ext cx="16764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66"/>
                </a:solidFill>
                <a:latin typeface="宋体" panose="02010600030101010101" pitchFamily="2" charset="-122"/>
              </a:rPr>
              <a:t>三极管</a:t>
            </a:r>
          </a:p>
        </p:txBody>
      </p:sp>
      <p:sp>
        <p:nvSpPr>
          <p:cNvPr id="519192" name="文本框 519191"/>
          <p:cNvSpPr txBox="1"/>
          <p:nvPr/>
        </p:nvSpPr>
        <p:spPr>
          <a:xfrm>
            <a:off x="914400" y="1219200"/>
            <a:ext cx="7327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en-US" b="1" dirty="0">
                <a:latin typeface="Times New Roman" panose="02020603050405020304" pitchFamily="18" charset="0"/>
              </a:rPr>
              <a:t>国家标准对半导体器件型号的命名举例如下：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519193" name="文本框 519192"/>
          <p:cNvSpPr txBox="1"/>
          <p:nvPr/>
        </p:nvSpPr>
        <p:spPr>
          <a:xfrm>
            <a:off x="1219200" y="1981200"/>
            <a:ext cx="20891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3600" b="1">
                <a:solidFill>
                  <a:srgbClr val="3333CC"/>
                </a:solidFill>
                <a:latin typeface="Times New Roman" panose="02020603050405020304" pitchFamily="18" charset="0"/>
              </a:rPr>
              <a:t>3DG110B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  <a:t>2025/3/6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23267" name="矩形 523266"/>
          <p:cNvSpPr/>
          <p:nvPr/>
        </p:nvSpPr>
        <p:spPr>
          <a:xfrm>
            <a:off x="762000" y="2743200"/>
            <a:ext cx="2743200" cy="1295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sz="320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FF0066"/>
                </a:solidFill>
              </a:rPr>
              <a:t>处于放大工作状态：</a:t>
            </a:r>
          </a:p>
          <a:p>
            <a:pPr lvl="0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FF0066"/>
                </a:solidFill>
              </a:rPr>
              <a:t>发射结正偏：</a:t>
            </a:r>
          </a:p>
        </p:txBody>
      </p:sp>
      <p:sp>
        <p:nvSpPr>
          <p:cNvPr id="523268" name="文本框 523267"/>
          <p:cNvSpPr txBox="1"/>
          <p:nvPr/>
        </p:nvSpPr>
        <p:spPr>
          <a:xfrm>
            <a:off x="7315200" y="1600200"/>
            <a:ext cx="762000" cy="3652838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</a:p>
          <a:p>
            <a:pPr algn="ctr" eaLnBrk="0" hangingPunct="0">
              <a:spcBef>
                <a:spcPct val="50000"/>
              </a:spcBef>
            </a:pP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CE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－</a:t>
            </a:r>
          </a:p>
        </p:txBody>
      </p:sp>
      <p:sp>
        <p:nvSpPr>
          <p:cNvPr id="523269" name="文本框 523268"/>
          <p:cNvSpPr txBox="1"/>
          <p:nvPr/>
        </p:nvSpPr>
        <p:spPr>
          <a:xfrm>
            <a:off x="4495800" y="3733800"/>
            <a:ext cx="685800" cy="1768475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＋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BE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－</a:t>
            </a:r>
          </a:p>
        </p:txBody>
      </p:sp>
      <p:sp>
        <p:nvSpPr>
          <p:cNvPr id="523270" name="文本框 523269"/>
          <p:cNvSpPr txBox="1"/>
          <p:nvPr/>
        </p:nvSpPr>
        <p:spPr>
          <a:xfrm>
            <a:off x="4495800" y="1524000"/>
            <a:ext cx="685800" cy="1768475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＋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CB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－</a:t>
            </a:r>
          </a:p>
        </p:txBody>
      </p:sp>
      <p:sp>
        <p:nvSpPr>
          <p:cNvPr id="523271" name="矩形 523270"/>
          <p:cNvSpPr/>
          <p:nvPr/>
        </p:nvSpPr>
        <p:spPr>
          <a:xfrm>
            <a:off x="762000" y="4495800"/>
            <a:ext cx="2025650" cy="457200"/>
          </a:xfrm>
          <a:prstGeom prst="rect">
            <a:avLst/>
          </a:prstGeom>
          <a:noFill/>
          <a:ln w="27051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集电结反偏：</a:t>
            </a:r>
          </a:p>
        </p:txBody>
      </p:sp>
      <p:sp>
        <p:nvSpPr>
          <p:cNvPr id="523272" name="文本框 523271"/>
          <p:cNvSpPr txBox="1"/>
          <p:nvPr/>
        </p:nvSpPr>
        <p:spPr>
          <a:xfrm>
            <a:off x="571500" y="3960168"/>
            <a:ext cx="2667000" cy="461665"/>
          </a:xfrm>
          <a:prstGeom prst="rect">
            <a:avLst/>
          </a:prstGeom>
          <a:noFill/>
          <a:ln w="27051">
            <a:noFill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dirty="0" smtClean="0"/>
              <a:t>U</a:t>
            </a:r>
            <a:r>
              <a:rPr lang="en-US" altLang="zh-CN" sz="2400" b="1" baseline="-25000" dirty="0" smtClean="0"/>
              <a:t>BE</a:t>
            </a:r>
            <a:r>
              <a:rPr lang="en-US" altLang="zh-CN" sz="2400" b="1" dirty="0" smtClean="0"/>
              <a:t>&gt;0</a:t>
            </a:r>
            <a:r>
              <a:rPr lang="zh-CN" altLang="en-US" sz="2400" b="1" dirty="0" smtClean="0">
                <a:latin typeface="Times New Roman" panose="02020603050405020304" pitchFamily="18" charset="0"/>
              </a:rPr>
              <a:t>由</a:t>
            </a:r>
            <a:r>
              <a:rPr lang="en-US" altLang="zh-CN" sz="2400" b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BB</a:t>
            </a:r>
            <a:r>
              <a:rPr lang="zh-CN" altLang="en-US" sz="2400" b="1" dirty="0">
                <a:latin typeface="Times New Roman" panose="02020603050405020304" pitchFamily="18" charset="0"/>
              </a:rPr>
              <a:t>保证</a:t>
            </a:r>
          </a:p>
        </p:txBody>
      </p:sp>
      <p:sp>
        <p:nvSpPr>
          <p:cNvPr id="523273" name="文本框 523272"/>
          <p:cNvSpPr txBox="1"/>
          <p:nvPr/>
        </p:nvSpPr>
        <p:spPr>
          <a:xfrm>
            <a:off x="685800" y="5029200"/>
            <a:ext cx="2514600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由</a:t>
            </a:r>
            <a:r>
              <a:rPr lang="en-US" altLang="zh-CN" sz="2400" b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CC</a:t>
            </a:r>
            <a:r>
              <a:rPr lang="zh-CN" altLang="en-US" sz="2400" b="1">
                <a:latin typeface="Times New Roman" panose="02020603050405020304" pitchFamily="18" charset="0"/>
              </a:rPr>
              <a:t>、</a:t>
            </a:r>
            <a:r>
              <a:rPr lang="zh-CN" altLang="en-US" sz="2400" b="1" baseline="-25000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BB</a:t>
            </a:r>
            <a:r>
              <a:rPr lang="zh-CN" altLang="en-US" sz="2400" b="1" dirty="0">
                <a:latin typeface="Times New Roman" panose="02020603050405020304" pitchFamily="18" charset="0"/>
              </a:rPr>
              <a:t>保证</a:t>
            </a:r>
          </a:p>
        </p:txBody>
      </p:sp>
      <p:sp>
        <p:nvSpPr>
          <p:cNvPr id="523274" name="文本框 523273"/>
          <p:cNvSpPr txBox="1"/>
          <p:nvPr/>
        </p:nvSpPr>
        <p:spPr>
          <a:xfrm>
            <a:off x="838200" y="5562600"/>
            <a:ext cx="2895600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CB</a:t>
            </a:r>
            <a:r>
              <a:rPr lang="en-US" altLang="zh-CN" sz="2400" b="1" dirty="0">
                <a:latin typeface="Times New Roman" panose="02020603050405020304" pitchFamily="18" charset="0"/>
              </a:rPr>
              <a:t>=U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CE </a:t>
            </a:r>
            <a:r>
              <a:rPr lang="en-US" altLang="zh-CN" sz="2400" b="1" dirty="0">
                <a:latin typeface="Times New Roman" panose="02020603050405020304" pitchFamily="18" charset="0"/>
              </a:rPr>
              <a:t>- U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BE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523275" name="文本框 523274"/>
          <p:cNvSpPr txBox="1"/>
          <p:nvPr/>
        </p:nvSpPr>
        <p:spPr>
          <a:xfrm>
            <a:off x="2895600" y="5638800"/>
            <a:ext cx="609600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&gt; 0</a:t>
            </a:r>
          </a:p>
        </p:txBody>
      </p:sp>
      <p:grpSp>
        <p:nvGrpSpPr>
          <p:cNvPr id="523276" name="组合 523275"/>
          <p:cNvGrpSpPr/>
          <p:nvPr/>
        </p:nvGrpSpPr>
        <p:grpSpPr>
          <a:xfrm>
            <a:off x="3810000" y="1295400"/>
            <a:ext cx="4876800" cy="5181600"/>
            <a:chOff x="2400" y="816"/>
            <a:chExt cx="3072" cy="3264"/>
          </a:xfrm>
        </p:grpSpPr>
        <p:pic>
          <p:nvPicPr>
            <p:cNvPr id="523277" name="图片 52327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0" y="816"/>
              <a:ext cx="3072" cy="2991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523278" name="文本框 523277"/>
            <p:cNvSpPr txBox="1"/>
            <p:nvPr/>
          </p:nvSpPr>
          <p:spPr>
            <a:xfrm>
              <a:off x="2736" y="3792"/>
              <a:ext cx="2208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共发射极接法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23279" name="文本框 523278"/>
            <p:cNvSpPr txBox="1"/>
            <p:nvPr/>
          </p:nvSpPr>
          <p:spPr>
            <a:xfrm>
              <a:off x="3600" y="1344"/>
              <a:ext cx="480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c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区</a:t>
              </a:r>
            </a:p>
          </p:txBody>
        </p:sp>
        <p:sp>
          <p:nvSpPr>
            <p:cNvPr id="523280" name="文本框 523279"/>
            <p:cNvSpPr txBox="1"/>
            <p:nvPr/>
          </p:nvSpPr>
          <p:spPr>
            <a:xfrm>
              <a:off x="3648" y="2016"/>
              <a:ext cx="480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b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区</a:t>
              </a:r>
            </a:p>
          </p:txBody>
        </p:sp>
        <p:sp>
          <p:nvSpPr>
            <p:cNvPr id="523281" name="文本框 523280"/>
            <p:cNvSpPr txBox="1"/>
            <p:nvPr/>
          </p:nvSpPr>
          <p:spPr>
            <a:xfrm>
              <a:off x="3648" y="2640"/>
              <a:ext cx="480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e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区</a:t>
              </a:r>
            </a:p>
          </p:txBody>
        </p:sp>
      </p:grpSp>
      <p:sp>
        <p:nvSpPr>
          <p:cNvPr id="523282" name="矩形 523281"/>
          <p:cNvSpPr/>
          <p:nvPr/>
        </p:nvSpPr>
        <p:spPr>
          <a:xfrm>
            <a:off x="381000" y="1600200"/>
            <a:ext cx="3810000" cy="8223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三极管在工作时要加上适当的直流偏置电压。</a:t>
            </a:r>
          </a:p>
        </p:txBody>
      </p:sp>
      <p:sp>
        <p:nvSpPr>
          <p:cNvPr id="523283" name="文本框 523282"/>
          <p:cNvSpPr txBox="1"/>
          <p:nvPr/>
        </p:nvSpPr>
        <p:spPr>
          <a:xfrm>
            <a:off x="1871663" y="279400"/>
            <a:ext cx="5616575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2.1.2  </a:t>
            </a:r>
            <a:r>
              <a:rPr lang="zh-CN" altLang="en-US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三极管的放大原理</a:t>
            </a:r>
          </a:p>
        </p:txBody>
      </p:sp>
      <p:sp>
        <p:nvSpPr>
          <p:cNvPr id="523285" name="文本框 523284"/>
          <p:cNvSpPr txBox="1"/>
          <p:nvPr/>
        </p:nvSpPr>
        <p:spPr>
          <a:xfrm>
            <a:off x="566738" y="998538"/>
            <a:ext cx="319563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660066"/>
                </a:solidFill>
                <a:latin typeface="仿宋_GB2312" pitchFamily="49" charset="-122"/>
                <a:ea typeface="仿宋_GB2312" pitchFamily="49" charset="-122"/>
              </a:rPr>
              <a:t>以</a:t>
            </a:r>
            <a:r>
              <a:rPr lang="en-US" altLang="zh-CN" sz="2400" b="1" dirty="0">
                <a:solidFill>
                  <a:srgbClr val="660066"/>
                </a:solidFill>
                <a:latin typeface="仿宋_GB2312" pitchFamily="49" charset="-122"/>
                <a:ea typeface="仿宋_GB2312" pitchFamily="49" charset="-122"/>
              </a:rPr>
              <a:t>NPN</a:t>
            </a:r>
            <a:r>
              <a:rPr lang="zh-CN" altLang="en-US" sz="2400" b="1" dirty="0">
                <a:solidFill>
                  <a:srgbClr val="660066"/>
                </a:solidFill>
                <a:latin typeface="仿宋_GB2312" pitchFamily="49" charset="-122"/>
                <a:ea typeface="仿宋_GB2312" pitchFamily="49" charset="-122"/>
              </a:rPr>
              <a:t>管为例：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3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23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2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2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67" grpId="0"/>
      <p:bldP spid="523268" grpId="0"/>
      <p:bldP spid="523269" grpId="0"/>
      <p:bldP spid="523270" grpId="0"/>
      <p:bldP spid="523271" grpId="0"/>
      <p:bldP spid="523272" grpId="0"/>
      <p:bldP spid="523273" grpId="0"/>
      <p:bldP spid="523274" grpId="0"/>
      <p:bldP spid="5232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314" name="图片 5253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42988"/>
            <a:ext cx="5029200" cy="489585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25317" name="矩形 525316"/>
          <p:cNvSpPr/>
          <p:nvPr/>
        </p:nvSpPr>
        <p:spPr>
          <a:xfrm>
            <a:off x="228600" y="1066800"/>
            <a:ext cx="4648200" cy="2616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）因为发射结正偏， 所以发射区向基区注入电子 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形成了扩散电流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EN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。同时从基区向发射区也有空穴的扩散运动，形成的电流为</a:t>
            </a:r>
            <a:r>
              <a:rPr lang="en-US" altLang="zh-CN" sz="2400" b="1" i="1">
                <a:solidFill>
                  <a:srgbClr val="FF505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FF5050"/>
                </a:solidFill>
                <a:latin typeface="Times New Roman" panose="02020603050405020304" pitchFamily="18" charset="0"/>
              </a:rPr>
              <a:t>EP</a:t>
            </a:r>
            <a:r>
              <a:rPr lang="zh-CN" altLang="en-US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但其数量小，可忽略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所以发射极电流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 E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≈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 EN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5318" name="矩形 525317"/>
          <p:cNvSpPr/>
          <p:nvPr/>
        </p:nvSpPr>
        <p:spPr>
          <a:xfrm>
            <a:off x="381000" y="549275"/>
            <a:ext cx="4941888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．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BJT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内部的载流子传输过程</a:t>
            </a:r>
          </a:p>
        </p:txBody>
      </p:sp>
      <p:sp>
        <p:nvSpPr>
          <p:cNvPr id="525319" name="矩形 525318"/>
          <p:cNvSpPr/>
          <p:nvPr/>
        </p:nvSpPr>
        <p:spPr>
          <a:xfrm>
            <a:off x="206375" y="3536950"/>
            <a:ext cx="3810000" cy="33210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）发射区的电子注入基区后，变成了少数载流子。少部分遇到空穴后复合掉，形成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BN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。所以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基极电流</a:t>
            </a:r>
            <a:r>
              <a:rPr lang="en-US" altLang="zh-CN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 B </a:t>
            </a:r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≈</a:t>
            </a:r>
            <a:r>
              <a:rPr lang="en-US" altLang="zh-CN" sz="2400" b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 BN 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。大部分到达了集电区的边缘。</a:t>
            </a:r>
          </a:p>
          <a:p>
            <a:pPr>
              <a:lnSpc>
                <a:spcPct val="115000"/>
              </a:lnSpc>
              <a:spcBef>
                <a:spcPct val="5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25398" name="组合 525397"/>
          <p:cNvGrpSpPr/>
          <p:nvPr/>
        </p:nvGrpSpPr>
        <p:grpSpPr>
          <a:xfrm>
            <a:off x="6102350" y="3429000"/>
            <a:ext cx="1319213" cy="2108200"/>
            <a:chOff x="3840" y="2160"/>
            <a:chExt cx="831" cy="1328"/>
          </a:xfrm>
        </p:grpSpPr>
        <p:sp>
          <p:nvSpPr>
            <p:cNvPr id="525320" name="矩形 525319"/>
            <p:cNvSpPr>
              <a:spLocks noChangeAspect="1" noTextEdit="1"/>
            </p:cNvSpPr>
            <p:nvPr/>
          </p:nvSpPr>
          <p:spPr>
            <a:xfrm>
              <a:off x="3840" y="2160"/>
              <a:ext cx="831" cy="132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22" name="直接连接符 525321"/>
            <p:cNvSpPr/>
            <p:nvPr/>
          </p:nvSpPr>
          <p:spPr>
            <a:xfrm>
              <a:off x="3918" y="2207"/>
              <a:ext cx="10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23" name="直接连接符 525322"/>
            <p:cNvSpPr/>
            <p:nvPr/>
          </p:nvSpPr>
          <p:spPr>
            <a:xfrm flipV="1">
              <a:off x="3908" y="2207"/>
              <a:ext cx="10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24" name="直接连接符 525323"/>
            <p:cNvSpPr/>
            <p:nvPr/>
          </p:nvSpPr>
          <p:spPr>
            <a:xfrm flipH="1">
              <a:off x="3908" y="2264"/>
              <a:ext cx="20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25" name="直接连接符 525324"/>
            <p:cNvSpPr/>
            <p:nvPr/>
          </p:nvSpPr>
          <p:spPr>
            <a:xfrm>
              <a:off x="3908" y="226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26" name="直接连接符 525325"/>
            <p:cNvSpPr/>
            <p:nvPr/>
          </p:nvSpPr>
          <p:spPr>
            <a:xfrm>
              <a:off x="3918" y="2207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27" name="直接连接符 525326"/>
            <p:cNvSpPr/>
            <p:nvPr/>
          </p:nvSpPr>
          <p:spPr>
            <a:xfrm flipV="1">
              <a:off x="3918" y="2207"/>
              <a:ext cx="1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28" name="直接连接符 525327"/>
            <p:cNvSpPr/>
            <p:nvPr/>
          </p:nvSpPr>
          <p:spPr>
            <a:xfrm>
              <a:off x="3928" y="226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29" name="直接连接符 525328"/>
            <p:cNvSpPr/>
            <p:nvPr/>
          </p:nvSpPr>
          <p:spPr>
            <a:xfrm flipV="1">
              <a:off x="3918" y="2264"/>
              <a:ext cx="1" cy="95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30" name="直接连接符 525329"/>
            <p:cNvSpPr/>
            <p:nvPr/>
          </p:nvSpPr>
          <p:spPr>
            <a:xfrm>
              <a:off x="4016" y="2207"/>
              <a:ext cx="10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31" name="直接连接符 525330"/>
            <p:cNvSpPr/>
            <p:nvPr/>
          </p:nvSpPr>
          <p:spPr>
            <a:xfrm flipV="1">
              <a:off x="4006" y="2207"/>
              <a:ext cx="10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32" name="直接连接符 525331"/>
            <p:cNvSpPr/>
            <p:nvPr/>
          </p:nvSpPr>
          <p:spPr>
            <a:xfrm flipH="1">
              <a:off x="4006" y="2264"/>
              <a:ext cx="20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33" name="直接连接符 525332"/>
            <p:cNvSpPr/>
            <p:nvPr/>
          </p:nvSpPr>
          <p:spPr>
            <a:xfrm>
              <a:off x="4006" y="226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34" name="直接连接符 525333"/>
            <p:cNvSpPr/>
            <p:nvPr/>
          </p:nvSpPr>
          <p:spPr>
            <a:xfrm>
              <a:off x="4016" y="2207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35" name="直接连接符 525334"/>
            <p:cNvSpPr/>
            <p:nvPr/>
          </p:nvSpPr>
          <p:spPr>
            <a:xfrm flipV="1">
              <a:off x="4016" y="2207"/>
              <a:ext cx="1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36" name="直接连接符 525335"/>
            <p:cNvSpPr/>
            <p:nvPr/>
          </p:nvSpPr>
          <p:spPr>
            <a:xfrm>
              <a:off x="4026" y="226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37" name="直接连接符 525336"/>
            <p:cNvSpPr/>
            <p:nvPr/>
          </p:nvSpPr>
          <p:spPr>
            <a:xfrm flipV="1">
              <a:off x="4016" y="2264"/>
              <a:ext cx="1" cy="95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38" name="直接连接符 525337"/>
            <p:cNvSpPr/>
            <p:nvPr/>
          </p:nvSpPr>
          <p:spPr>
            <a:xfrm>
              <a:off x="4202" y="2207"/>
              <a:ext cx="10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39" name="直接连接符 525338"/>
            <p:cNvSpPr/>
            <p:nvPr/>
          </p:nvSpPr>
          <p:spPr>
            <a:xfrm flipV="1">
              <a:off x="4192" y="2207"/>
              <a:ext cx="10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40" name="直接连接符 525339"/>
            <p:cNvSpPr/>
            <p:nvPr/>
          </p:nvSpPr>
          <p:spPr>
            <a:xfrm flipH="1">
              <a:off x="4192" y="2264"/>
              <a:ext cx="20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41" name="直接连接符 525340"/>
            <p:cNvSpPr/>
            <p:nvPr/>
          </p:nvSpPr>
          <p:spPr>
            <a:xfrm>
              <a:off x="4192" y="226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42" name="直接连接符 525341"/>
            <p:cNvSpPr/>
            <p:nvPr/>
          </p:nvSpPr>
          <p:spPr>
            <a:xfrm>
              <a:off x="4202" y="2207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43" name="直接连接符 525342"/>
            <p:cNvSpPr/>
            <p:nvPr/>
          </p:nvSpPr>
          <p:spPr>
            <a:xfrm flipV="1">
              <a:off x="4202" y="2207"/>
              <a:ext cx="1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44" name="直接连接符 525343"/>
            <p:cNvSpPr/>
            <p:nvPr/>
          </p:nvSpPr>
          <p:spPr>
            <a:xfrm>
              <a:off x="4212" y="226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45" name="直接连接符 525344"/>
            <p:cNvSpPr/>
            <p:nvPr/>
          </p:nvSpPr>
          <p:spPr>
            <a:xfrm flipV="1">
              <a:off x="4202" y="2264"/>
              <a:ext cx="1" cy="95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46" name="直接连接符 525345"/>
            <p:cNvSpPr/>
            <p:nvPr/>
          </p:nvSpPr>
          <p:spPr>
            <a:xfrm>
              <a:off x="4104" y="2207"/>
              <a:ext cx="10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47" name="直接连接符 525346"/>
            <p:cNvSpPr/>
            <p:nvPr/>
          </p:nvSpPr>
          <p:spPr>
            <a:xfrm flipV="1">
              <a:off x="4094" y="2207"/>
              <a:ext cx="10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48" name="直接连接符 525347"/>
            <p:cNvSpPr/>
            <p:nvPr/>
          </p:nvSpPr>
          <p:spPr>
            <a:xfrm flipH="1">
              <a:off x="4094" y="2264"/>
              <a:ext cx="20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49" name="直接连接符 525348"/>
            <p:cNvSpPr/>
            <p:nvPr/>
          </p:nvSpPr>
          <p:spPr>
            <a:xfrm>
              <a:off x="4094" y="226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50" name="直接连接符 525349"/>
            <p:cNvSpPr/>
            <p:nvPr/>
          </p:nvSpPr>
          <p:spPr>
            <a:xfrm>
              <a:off x="4104" y="2207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51" name="直接连接符 525350"/>
            <p:cNvSpPr/>
            <p:nvPr/>
          </p:nvSpPr>
          <p:spPr>
            <a:xfrm flipV="1">
              <a:off x="4104" y="2207"/>
              <a:ext cx="1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52" name="直接连接符 525351"/>
            <p:cNvSpPr/>
            <p:nvPr/>
          </p:nvSpPr>
          <p:spPr>
            <a:xfrm>
              <a:off x="4114" y="226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53" name="直接连接符 525352"/>
            <p:cNvSpPr/>
            <p:nvPr/>
          </p:nvSpPr>
          <p:spPr>
            <a:xfrm flipV="1">
              <a:off x="4104" y="2264"/>
              <a:ext cx="1" cy="95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54" name="直接连接符 525353"/>
            <p:cNvSpPr/>
            <p:nvPr/>
          </p:nvSpPr>
          <p:spPr>
            <a:xfrm>
              <a:off x="4290" y="2207"/>
              <a:ext cx="9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55" name="直接连接符 525354"/>
            <p:cNvSpPr/>
            <p:nvPr/>
          </p:nvSpPr>
          <p:spPr>
            <a:xfrm flipV="1">
              <a:off x="4280" y="2207"/>
              <a:ext cx="10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56" name="直接连接符 525355"/>
            <p:cNvSpPr/>
            <p:nvPr/>
          </p:nvSpPr>
          <p:spPr>
            <a:xfrm flipH="1">
              <a:off x="4280" y="2264"/>
              <a:ext cx="19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57" name="直接连接符 525356"/>
            <p:cNvSpPr/>
            <p:nvPr/>
          </p:nvSpPr>
          <p:spPr>
            <a:xfrm>
              <a:off x="4280" y="226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58" name="直接连接符 525357"/>
            <p:cNvSpPr/>
            <p:nvPr/>
          </p:nvSpPr>
          <p:spPr>
            <a:xfrm>
              <a:off x="4290" y="2207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59" name="直接连接符 525358"/>
            <p:cNvSpPr/>
            <p:nvPr/>
          </p:nvSpPr>
          <p:spPr>
            <a:xfrm flipV="1">
              <a:off x="4290" y="2207"/>
              <a:ext cx="1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60" name="直接连接符 525359"/>
            <p:cNvSpPr/>
            <p:nvPr/>
          </p:nvSpPr>
          <p:spPr>
            <a:xfrm>
              <a:off x="4299" y="226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61" name="直接连接符 525360"/>
            <p:cNvSpPr/>
            <p:nvPr/>
          </p:nvSpPr>
          <p:spPr>
            <a:xfrm flipV="1">
              <a:off x="4290" y="2264"/>
              <a:ext cx="1" cy="95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62" name="直接连接符 525361"/>
            <p:cNvSpPr/>
            <p:nvPr/>
          </p:nvSpPr>
          <p:spPr>
            <a:xfrm flipV="1">
              <a:off x="4182" y="3384"/>
              <a:ext cx="10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63" name="直接连接符 525362"/>
            <p:cNvSpPr/>
            <p:nvPr/>
          </p:nvSpPr>
          <p:spPr>
            <a:xfrm>
              <a:off x="4172" y="3384"/>
              <a:ext cx="10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64" name="直接连接符 525363"/>
            <p:cNvSpPr/>
            <p:nvPr/>
          </p:nvSpPr>
          <p:spPr>
            <a:xfrm flipH="1">
              <a:off x="4172" y="3384"/>
              <a:ext cx="20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65" name="直接连接符 525364"/>
            <p:cNvSpPr/>
            <p:nvPr/>
          </p:nvSpPr>
          <p:spPr>
            <a:xfrm>
              <a:off x="4172" y="338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66" name="直接连接符 525365"/>
            <p:cNvSpPr/>
            <p:nvPr/>
          </p:nvSpPr>
          <p:spPr>
            <a:xfrm>
              <a:off x="4182" y="3441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67" name="直接连接符 525366"/>
            <p:cNvSpPr/>
            <p:nvPr/>
          </p:nvSpPr>
          <p:spPr>
            <a:xfrm>
              <a:off x="4182" y="3384"/>
              <a:ext cx="1" cy="5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68" name="直接连接符 525367"/>
            <p:cNvSpPr/>
            <p:nvPr/>
          </p:nvSpPr>
          <p:spPr>
            <a:xfrm>
              <a:off x="4192" y="3384"/>
              <a:ext cx="1" cy="1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69" name="直接连接符 525368"/>
            <p:cNvSpPr/>
            <p:nvPr/>
          </p:nvSpPr>
          <p:spPr>
            <a:xfrm>
              <a:off x="4182" y="3289"/>
              <a:ext cx="1" cy="95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70" name="直接连接符 525369"/>
            <p:cNvSpPr/>
            <p:nvPr/>
          </p:nvSpPr>
          <p:spPr>
            <a:xfrm flipH="1">
              <a:off x="4466" y="2596"/>
              <a:ext cx="9" cy="29"/>
            </a:xfrm>
            <a:prstGeom prst="line">
              <a:avLst/>
            </a:prstGeom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71" name="直接连接符 525370"/>
            <p:cNvSpPr/>
            <p:nvPr/>
          </p:nvSpPr>
          <p:spPr>
            <a:xfrm>
              <a:off x="4456" y="2283"/>
              <a:ext cx="1" cy="342"/>
            </a:xfrm>
            <a:prstGeom prst="line">
              <a:avLst/>
            </a:prstGeom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72" name="直接连接符 525371"/>
            <p:cNvSpPr/>
            <p:nvPr/>
          </p:nvSpPr>
          <p:spPr>
            <a:xfrm flipH="1" flipV="1">
              <a:off x="4436" y="2587"/>
              <a:ext cx="20" cy="38"/>
            </a:xfrm>
            <a:prstGeom prst="line">
              <a:avLst/>
            </a:prstGeom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73" name="直接连接符 525372"/>
            <p:cNvSpPr/>
            <p:nvPr/>
          </p:nvSpPr>
          <p:spPr>
            <a:xfrm>
              <a:off x="3918" y="2359"/>
              <a:ext cx="1" cy="24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74" name="直接连接符 525373"/>
            <p:cNvSpPr/>
            <p:nvPr/>
          </p:nvSpPr>
          <p:spPr>
            <a:xfrm>
              <a:off x="4016" y="2359"/>
              <a:ext cx="1" cy="24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75" name="直接连接符 525374"/>
            <p:cNvSpPr/>
            <p:nvPr/>
          </p:nvSpPr>
          <p:spPr>
            <a:xfrm>
              <a:off x="4104" y="2359"/>
              <a:ext cx="1" cy="24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76" name="直接连接符 525375"/>
            <p:cNvSpPr/>
            <p:nvPr/>
          </p:nvSpPr>
          <p:spPr>
            <a:xfrm>
              <a:off x="4202" y="2359"/>
              <a:ext cx="1" cy="24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77" name="直接连接符 525376"/>
            <p:cNvSpPr/>
            <p:nvPr/>
          </p:nvSpPr>
          <p:spPr>
            <a:xfrm>
              <a:off x="4290" y="2359"/>
              <a:ext cx="1" cy="24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78" name="直接连接符 525377"/>
            <p:cNvSpPr/>
            <p:nvPr/>
          </p:nvSpPr>
          <p:spPr>
            <a:xfrm flipV="1">
              <a:off x="4182" y="3156"/>
              <a:ext cx="1" cy="133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5379" name="椭圆 525378"/>
            <p:cNvSpPr/>
            <p:nvPr/>
          </p:nvSpPr>
          <p:spPr>
            <a:xfrm>
              <a:off x="3889" y="2596"/>
              <a:ext cx="49" cy="48"/>
            </a:xfrm>
            <a:prstGeom prst="ellipse">
              <a:avLst/>
            </a:prstGeom>
            <a:solidFill>
              <a:srgbClr val="FF0000"/>
            </a:solidFill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80" name="椭圆 525379"/>
            <p:cNvSpPr/>
            <p:nvPr/>
          </p:nvSpPr>
          <p:spPr>
            <a:xfrm>
              <a:off x="3987" y="2596"/>
              <a:ext cx="49" cy="48"/>
            </a:xfrm>
            <a:prstGeom prst="ellipse">
              <a:avLst/>
            </a:prstGeom>
            <a:solidFill>
              <a:srgbClr val="FF0000"/>
            </a:solidFill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81" name="椭圆 525380"/>
            <p:cNvSpPr/>
            <p:nvPr/>
          </p:nvSpPr>
          <p:spPr>
            <a:xfrm>
              <a:off x="4172" y="2596"/>
              <a:ext cx="49" cy="48"/>
            </a:xfrm>
            <a:prstGeom prst="ellipse">
              <a:avLst/>
            </a:prstGeom>
            <a:solidFill>
              <a:srgbClr val="FF0000"/>
            </a:solidFill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82" name="椭圆 525381"/>
            <p:cNvSpPr/>
            <p:nvPr/>
          </p:nvSpPr>
          <p:spPr>
            <a:xfrm>
              <a:off x="4075" y="2596"/>
              <a:ext cx="49" cy="48"/>
            </a:xfrm>
            <a:prstGeom prst="ellipse">
              <a:avLst/>
            </a:prstGeom>
            <a:solidFill>
              <a:srgbClr val="FF0000"/>
            </a:solidFill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83" name="椭圆 525382"/>
            <p:cNvSpPr/>
            <p:nvPr/>
          </p:nvSpPr>
          <p:spPr>
            <a:xfrm>
              <a:off x="4260" y="2596"/>
              <a:ext cx="49" cy="48"/>
            </a:xfrm>
            <a:prstGeom prst="ellipse">
              <a:avLst/>
            </a:prstGeom>
            <a:solidFill>
              <a:srgbClr val="FF0000"/>
            </a:solidFill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84" name="椭圆 525383"/>
            <p:cNvSpPr/>
            <p:nvPr/>
          </p:nvSpPr>
          <p:spPr>
            <a:xfrm>
              <a:off x="4419" y="2218"/>
              <a:ext cx="68" cy="67"/>
            </a:xfrm>
            <a:prstGeom prst="ellipse">
              <a:avLst/>
            </a:prstGeom>
            <a:noFill/>
            <a:ln w="15875" cap="flat" cmpd="sng">
              <a:solidFill>
                <a:srgbClr val="00008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85" name="矩形 525384"/>
            <p:cNvSpPr/>
            <p:nvPr/>
          </p:nvSpPr>
          <p:spPr>
            <a:xfrm>
              <a:off x="3856" y="2861"/>
              <a:ext cx="45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5386" name="矩形 525385"/>
            <p:cNvSpPr/>
            <p:nvPr/>
          </p:nvSpPr>
          <p:spPr>
            <a:xfrm>
              <a:off x="3894" y="2925"/>
              <a:ext cx="118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EN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5387" name="矩形 525386"/>
            <p:cNvSpPr/>
            <p:nvPr/>
          </p:nvSpPr>
          <p:spPr>
            <a:xfrm>
              <a:off x="4505" y="2739"/>
              <a:ext cx="103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EP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5388" name="矩形 525387"/>
            <p:cNvSpPr/>
            <p:nvPr/>
          </p:nvSpPr>
          <p:spPr>
            <a:xfrm>
              <a:off x="4446" y="2663"/>
              <a:ext cx="45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5389" name="矩形 525388"/>
            <p:cNvSpPr/>
            <p:nvPr/>
          </p:nvSpPr>
          <p:spPr>
            <a:xfrm>
              <a:off x="4212" y="3203"/>
              <a:ext cx="45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5390" name="矩形 525389"/>
            <p:cNvSpPr/>
            <p:nvPr/>
          </p:nvSpPr>
          <p:spPr>
            <a:xfrm>
              <a:off x="4270" y="3279"/>
              <a:ext cx="54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5391" name="直接连接符 525390"/>
            <p:cNvSpPr/>
            <p:nvPr/>
          </p:nvSpPr>
          <p:spPr>
            <a:xfrm>
              <a:off x="3852" y="2670"/>
              <a:ext cx="255" cy="255"/>
            </a:xfrm>
            <a:prstGeom prst="line">
              <a:avLst/>
            </a:prstGeom>
            <a:ln w="12700" cap="sq" cmpd="sng">
              <a:solidFill>
                <a:srgbClr val="FF33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25392" name="直接连接符 525391"/>
            <p:cNvSpPr/>
            <p:nvPr/>
          </p:nvSpPr>
          <p:spPr>
            <a:xfrm flipV="1">
              <a:off x="4099" y="2670"/>
              <a:ext cx="227" cy="255"/>
            </a:xfrm>
            <a:prstGeom prst="line">
              <a:avLst/>
            </a:prstGeom>
            <a:ln w="12700" cap="sq" cmpd="sng">
              <a:solidFill>
                <a:srgbClr val="FF33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25394" name="直接连接符 525393"/>
            <p:cNvSpPr/>
            <p:nvPr/>
          </p:nvSpPr>
          <p:spPr>
            <a:xfrm flipV="1">
              <a:off x="3852" y="2188"/>
              <a:ext cx="0" cy="482"/>
            </a:xfrm>
            <a:prstGeom prst="line">
              <a:avLst/>
            </a:prstGeom>
            <a:ln w="12700" cap="sq" cmpd="sng">
              <a:solidFill>
                <a:srgbClr val="FF33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25395" name="直接连接符 525394"/>
            <p:cNvSpPr/>
            <p:nvPr/>
          </p:nvSpPr>
          <p:spPr>
            <a:xfrm flipV="1">
              <a:off x="4342" y="2245"/>
              <a:ext cx="0" cy="425"/>
            </a:xfrm>
            <a:prstGeom prst="line">
              <a:avLst/>
            </a:prstGeom>
            <a:ln w="12700" cap="sq" cmpd="sng">
              <a:solidFill>
                <a:srgbClr val="FF3300"/>
              </a:solidFill>
              <a:prstDash val="solid"/>
              <a:miter/>
              <a:headEnd type="none" w="sm" len="sm"/>
              <a:tailEnd type="none" w="sm" len="sm"/>
            </a:ln>
          </p:spPr>
        </p:sp>
      </p:grpSp>
      <p:sp>
        <p:nvSpPr>
          <p:cNvPr id="525397" name="文本框 525396"/>
          <p:cNvSpPr txBox="1"/>
          <p:nvPr/>
        </p:nvSpPr>
        <p:spPr>
          <a:xfrm>
            <a:off x="341313" y="6308725"/>
            <a:ext cx="58515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基区缺失的电子，由电源拉走的电子补充。</a:t>
            </a:r>
          </a:p>
        </p:txBody>
      </p:sp>
      <p:grpSp>
        <p:nvGrpSpPr>
          <p:cNvPr id="525401" name="组合 525400"/>
          <p:cNvGrpSpPr/>
          <p:nvPr/>
        </p:nvGrpSpPr>
        <p:grpSpPr>
          <a:xfrm>
            <a:off x="4751388" y="2863850"/>
            <a:ext cx="2209800" cy="714375"/>
            <a:chOff x="2993" y="1820"/>
            <a:chExt cx="1392" cy="450"/>
          </a:xfrm>
        </p:grpSpPr>
        <p:pic>
          <p:nvPicPr>
            <p:cNvPr id="525399" name="图片 52539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3" y="1820"/>
              <a:ext cx="1392" cy="45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525400" name="文本框 525399"/>
            <p:cNvSpPr txBox="1"/>
            <p:nvPr/>
          </p:nvSpPr>
          <p:spPr>
            <a:xfrm>
              <a:off x="3617" y="1848"/>
              <a:ext cx="284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i="1">
                  <a:latin typeface="Times New Roman" panose="02020603050405020304" pitchFamily="18" charset="0"/>
                </a:rPr>
                <a:t>I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BN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17" grpId="0"/>
      <p:bldP spid="525319" grpId="0"/>
      <p:bldP spid="52539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338" name="图片 5263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438" y="1089025"/>
            <a:ext cx="5029200" cy="48958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6339" name="图片 5263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75" y="3429000"/>
            <a:ext cx="1319213" cy="21082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6340" name="图片 5263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2895600"/>
            <a:ext cx="2209800" cy="71437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6341" name="图片 5263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838" y="1114425"/>
            <a:ext cx="762000" cy="20066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6342" name="图片 5263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8775" y="1828800"/>
            <a:ext cx="606425" cy="12573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6343" name="图片 5263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1905000"/>
            <a:ext cx="1536700" cy="28194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26344" name="矩形 526343"/>
          <p:cNvSpPr/>
          <p:nvPr/>
        </p:nvSpPr>
        <p:spPr>
          <a:xfrm>
            <a:off x="457200" y="3505200"/>
            <a:ext cx="2971800" cy="1905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另外，集电结区的少子形成漂移电流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CBO</a:t>
            </a: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。</a:t>
            </a:r>
            <a:endParaRPr lang="zh-CN" altLang="en-US" sz="2400">
              <a:solidFill>
                <a:srgbClr val="6600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6345" name="矩形 526344"/>
          <p:cNvSpPr/>
          <p:nvPr/>
        </p:nvSpPr>
        <p:spPr>
          <a:xfrm>
            <a:off x="341313" y="1493838"/>
            <a:ext cx="3581400" cy="19177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）因为集电结反偏，收集扩散到集电区边缘的电子（漂移运动），形成电流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CN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b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  <a:t>2025/3/6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27362" name="文本占位符 527361"/>
          <p:cNvSpPr>
            <a:spLocks noGrp="1"/>
          </p:cNvSpPr>
          <p:nvPr>
            <p:ph type="body" idx="1"/>
          </p:nvPr>
        </p:nvSpPr>
        <p:spPr>
          <a:xfrm>
            <a:off x="-17145" y="953770"/>
            <a:ext cx="4177665" cy="685800"/>
          </a:xfr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三个电极上的电流关系:</a:t>
            </a:r>
          </a:p>
        </p:txBody>
      </p:sp>
      <p:sp>
        <p:nvSpPr>
          <p:cNvPr id="527363" name="文本框 527362"/>
          <p:cNvSpPr txBox="1"/>
          <p:nvPr/>
        </p:nvSpPr>
        <p:spPr>
          <a:xfrm>
            <a:off x="1142683" y="2013268"/>
            <a:ext cx="16224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=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27364" name="图片 5273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338" y="1089025"/>
            <a:ext cx="5029200" cy="48958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7365" name="图片 5273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575" y="3429000"/>
            <a:ext cx="1319213" cy="21082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7366" name="图片 52736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0550" y="2895600"/>
            <a:ext cx="2209800" cy="71437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7367" name="图片 5273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8838" y="1114425"/>
            <a:ext cx="762000" cy="20066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27368" name="图片 52736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8775" y="1828800"/>
            <a:ext cx="606425" cy="12573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27373" name="矩形 527372"/>
          <p:cNvSpPr/>
          <p:nvPr/>
        </p:nvSpPr>
        <p:spPr>
          <a:xfrm>
            <a:off x="1905" y="2602865"/>
            <a:ext cx="3546475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en-US" altLang="zh-CN" sz="2400" b="1"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  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E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之间的关系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27374" name="矩形 527373"/>
          <p:cNvSpPr/>
          <p:nvPr/>
        </p:nvSpPr>
        <p:spPr>
          <a:xfrm>
            <a:off x="611188" y="3650615"/>
            <a:ext cx="1295400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r>
              <a:rPr lang="zh-CN" altLang="en-US" sz="2400" b="1" dirty="0">
                <a:solidFill>
                  <a:srgbClr val="33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所以</a:t>
            </a:r>
            <a:r>
              <a:rPr lang="en-US" altLang="zh-CN" sz="2400" b="1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27376" name="矩形 527375"/>
          <p:cNvSpPr/>
          <p:nvPr/>
        </p:nvSpPr>
        <p:spPr>
          <a:xfrm>
            <a:off x="386715" y="5363845"/>
            <a:ext cx="3768725" cy="7905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chemeClr val="folHlink"/>
                </a:solidFill>
                <a:sym typeface="+mn-ea"/>
              </a:rPr>
              <a:t>共基极电流放大系数，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其值的大小约为</a:t>
            </a:r>
            <a:r>
              <a:rPr lang="en-US" altLang="zh-CN" sz="2400" b="1" dirty="0">
                <a:solidFill>
                  <a:schemeClr val="folHlink"/>
                </a:solidFill>
                <a:latin typeface="幼圆" panose="02010509060101010101" pitchFamily="49" charset="-122"/>
              </a:rPr>
              <a:t>0.9</a:t>
            </a:r>
            <a:r>
              <a:rPr lang="zh-CN" altLang="en-US" sz="2400" b="1" dirty="0">
                <a:solidFill>
                  <a:schemeClr val="folHlink"/>
                </a:solidFill>
                <a:latin typeface="幼圆" panose="02010509060101010101" pitchFamily="49" charset="-122"/>
              </a:rPr>
              <a:t>～</a:t>
            </a:r>
            <a:r>
              <a:rPr lang="en-US" altLang="zh-CN" sz="2400" b="1">
                <a:solidFill>
                  <a:schemeClr val="folHlink"/>
                </a:solidFill>
                <a:latin typeface="幼圆" panose="02010509060101010101" pitchFamily="49" charset="-122"/>
              </a:rPr>
              <a:t>0.99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400" b="1" dirty="0">
                <a:solidFill>
                  <a:schemeClr val="fol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527377" name="矩形 527376"/>
          <p:cNvSpPr/>
          <p:nvPr/>
        </p:nvSpPr>
        <p:spPr>
          <a:xfrm>
            <a:off x="685800" y="352425"/>
            <a:ext cx="2862263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．电流分配关系</a:t>
            </a:r>
          </a:p>
        </p:txBody>
      </p:sp>
      <p:sp>
        <p:nvSpPr>
          <p:cNvPr id="527378" name="文本框 527377"/>
          <p:cNvSpPr txBox="1"/>
          <p:nvPr/>
        </p:nvSpPr>
        <p:spPr>
          <a:xfrm>
            <a:off x="611188" y="3110230"/>
            <a:ext cx="22955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因为</a:t>
            </a:r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≈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CN</a:t>
            </a:r>
          </a:p>
        </p:txBody>
      </p:sp>
      <p:sp>
        <p:nvSpPr>
          <p:cNvPr id="527379" name="文本框 527378"/>
          <p:cNvSpPr txBox="1"/>
          <p:nvPr/>
        </p:nvSpPr>
        <p:spPr>
          <a:xfrm>
            <a:off x="251778" y="1628775"/>
            <a:ext cx="409575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根据基尔霍夫电流定律：</a:t>
            </a:r>
          </a:p>
        </p:txBody>
      </p:sp>
      <p:graphicFrame>
        <p:nvGraphicFramePr>
          <p:cNvPr id="20510" name="Object 49"/>
          <p:cNvGraphicFramePr/>
          <p:nvPr/>
        </p:nvGraphicFramePr>
        <p:xfrm>
          <a:off x="971550" y="4464050"/>
          <a:ext cx="2044065" cy="802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r:id="rId9" imgW="2032000" imgH="927100" progId="Equation.DSMT4">
                  <p:embed/>
                </p:oleObj>
              </mc:Choice>
              <mc:Fallback>
                <p:oleObj r:id="rId9" imgW="2032000" imgH="9271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1550" y="4464050"/>
                        <a:ext cx="2044065" cy="8020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"/>
          <p:cNvGrpSpPr>
            <a:grpSpLocks noChangeAspect="1"/>
          </p:cNvGrpSpPr>
          <p:nvPr/>
        </p:nvGrpSpPr>
        <p:grpSpPr bwMode="auto">
          <a:xfrm>
            <a:off x="5257800" y="1905000"/>
            <a:ext cx="1536700" cy="2819400"/>
            <a:chOff x="3312" y="1200"/>
            <a:chExt cx="968" cy="1776"/>
          </a:xfrm>
        </p:grpSpPr>
        <p:sp>
          <p:nvSpPr>
            <p:cNvPr id="4" name="AutoShape 4"/>
            <p:cNvSpPr>
              <a:spLocks noChangeAspect="1" noChangeArrowheads="1" noTextEdit="1"/>
            </p:cNvSpPr>
            <p:nvPr/>
          </p:nvSpPr>
          <p:spPr bwMode="auto">
            <a:xfrm>
              <a:off x="3312" y="1200"/>
              <a:ext cx="968" cy="1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Line 6"/>
            <p:cNvSpPr>
              <a:spLocks noChangeShapeType="1"/>
            </p:cNvSpPr>
            <p:nvPr/>
          </p:nvSpPr>
          <p:spPr bwMode="auto">
            <a:xfrm>
              <a:off x="3535" y="2672"/>
              <a:ext cx="358" cy="25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 flipH="1">
              <a:off x="3535" y="2672"/>
              <a:ext cx="7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3767" y="1249"/>
              <a:ext cx="0" cy="86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 flipV="1">
              <a:off x="3370" y="1936"/>
              <a:ext cx="116" cy="18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3767" y="1249"/>
              <a:ext cx="35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4125" y="1249"/>
              <a:ext cx="0" cy="144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 flipV="1">
              <a:off x="3893" y="2691"/>
              <a:ext cx="339" cy="23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3360" y="2122"/>
              <a:ext cx="252" cy="1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3612" y="2289"/>
              <a:ext cx="0" cy="38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 flipH="1">
              <a:off x="4125" y="2691"/>
              <a:ext cx="10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 flipH="1" flipV="1">
              <a:off x="3496" y="1946"/>
              <a:ext cx="261" cy="1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7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75"/>
                                        <p:tgtEl>
                                          <p:spTgt spid="52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2" grpId="0" build="p"/>
      <p:bldP spid="527363" grpId="0"/>
      <p:bldP spid="527373" grpId="0"/>
      <p:bldP spid="527374" grpId="0"/>
      <p:bldP spid="527376" grpId="0"/>
      <p:bldP spid="527378" grpId="0"/>
      <p:bldP spid="527379" grpId="0"/>
      <p:bldP spid="52737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/>
          <p:nvPr/>
        </p:nvSpPr>
        <p:spPr>
          <a:xfrm>
            <a:off x="381000" y="228600"/>
            <a:ext cx="4114800" cy="609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/>
          <a:p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 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之间的关系：</a:t>
            </a:r>
          </a:p>
        </p:txBody>
      </p:sp>
      <p:pic>
        <p:nvPicPr>
          <p:cNvPr id="2253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363" y="279400"/>
            <a:ext cx="5029200" cy="48958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2531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138" y="2647950"/>
            <a:ext cx="1319212" cy="21082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2532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33375"/>
            <a:ext cx="762000" cy="20066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2533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8338" y="1047750"/>
            <a:ext cx="606425" cy="12573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2534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7363" y="1123950"/>
            <a:ext cx="1536700" cy="28194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29416" name="Rectangle 8"/>
          <p:cNvSpPr/>
          <p:nvPr/>
        </p:nvSpPr>
        <p:spPr>
          <a:xfrm>
            <a:off x="385763" y="908050"/>
            <a:ext cx="2514600" cy="3762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/>
          <a:p>
            <a:r>
              <a:rPr lang="zh-CN" altLang="en-US" sz="2000" b="1" dirty="0">
                <a:solidFill>
                  <a:schemeClr val="fol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联立以下两式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</a:p>
        </p:txBody>
      </p:sp>
      <p:graphicFrame>
        <p:nvGraphicFramePr>
          <p:cNvPr id="529417" name="Object 9"/>
          <p:cNvGraphicFramePr/>
          <p:nvPr/>
        </p:nvGraphicFramePr>
        <p:xfrm>
          <a:off x="296863" y="1403350"/>
          <a:ext cx="21939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8" r:id="rId8" imgW="951865" imgH="254000" progId="Equation.3">
                  <p:embed/>
                </p:oleObj>
              </mc:Choice>
              <mc:Fallback>
                <p:oleObj r:id="rId8" imgW="951865" imgH="2540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6863" y="1403350"/>
                        <a:ext cx="219392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8" name="Object 10"/>
          <p:cNvGraphicFramePr/>
          <p:nvPr/>
        </p:nvGraphicFramePr>
        <p:xfrm>
          <a:off x="2997200" y="1493838"/>
          <a:ext cx="17526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9" r:id="rId10" imgW="736600" imgH="228600" progId="Equation.3">
                  <p:embed/>
                </p:oleObj>
              </mc:Choice>
              <mc:Fallback>
                <p:oleObj r:id="rId10" imgW="736600" imgH="22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97200" y="1493838"/>
                        <a:ext cx="1752600" cy="45085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>
          <a:xfrm>
            <a:off x="0" y="1989138"/>
            <a:ext cx="4953000" cy="655637"/>
            <a:chOff x="144" y="1152"/>
            <a:chExt cx="3120" cy="405"/>
          </a:xfrm>
        </p:grpSpPr>
        <p:sp>
          <p:nvSpPr>
            <p:cNvPr id="22539" name="Rectangle 12"/>
            <p:cNvSpPr/>
            <p:nvPr/>
          </p:nvSpPr>
          <p:spPr>
            <a:xfrm>
              <a:off x="144" y="1152"/>
              <a:ext cx="672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b" anchorCtr="0"/>
            <a:lstStyle/>
            <a:p>
              <a:r>
                <a:rPr lang="zh-CN" altLang="en-US" sz="2000" b="1" dirty="0">
                  <a:solidFill>
                    <a:schemeClr val="folHlink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得：</a:t>
              </a:r>
            </a:p>
          </p:txBody>
        </p:sp>
        <p:graphicFrame>
          <p:nvGraphicFramePr>
            <p:cNvPr id="22540" name="Object 13"/>
            <p:cNvGraphicFramePr/>
            <p:nvPr/>
          </p:nvGraphicFramePr>
          <p:xfrm>
            <a:off x="480" y="1248"/>
            <a:ext cx="2784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0" r:id="rId12" imgW="2284095" imgH="254000" progId="Equation.3">
                    <p:embed/>
                  </p:oleObj>
                </mc:Choice>
                <mc:Fallback>
                  <p:oleObj r:id="rId12" imgW="2284095" imgH="2540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80" y="1248"/>
                          <a:ext cx="2784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4"/>
          <p:cNvGrpSpPr/>
          <p:nvPr/>
        </p:nvGrpSpPr>
        <p:grpSpPr>
          <a:xfrm>
            <a:off x="0" y="2693988"/>
            <a:ext cx="4191000" cy="914400"/>
            <a:chOff x="144" y="1697"/>
            <a:chExt cx="2474" cy="563"/>
          </a:xfrm>
        </p:grpSpPr>
        <p:sp>
          <p:nvSpPr>
            <p:cNvPr id="22542" name="Rectangle 15"/>
            <p:cNvSpPr/>
            <p:nvPr/>
          </p:nvSpPr>
          <p:spPr>
            <a:xfrm>
              <a:off x="144" y="1728"/>
              <a:ext cx="672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b" anchorCtr="0"/>
            <a:lstStyle/>
            <a:p>
              <a:r>
                <a:rPr lang="zh-CN" altLang="en-US" sz="2000" b="1" dirty="0">
                  <a:solidFill>
                    <a:schemeClr val="folHlink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所以</a:t>
              </a:r>
              <a:r>
                <a:rPr lang="zh-CN" altLang="en-US" sz="2400" b="1" dirty="0">
                  <a:solidFill>
                    <a:schemeClr val="folHlink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：</a:t>
              </a:r>
            </a:p>
          </p:txBody>
        </p:sp>
        <p:graphicFrame>
          <p:nvGraphicFramePr>
            <p:cNvPr id="22543" name="Object 16"/>
            <p:cNvGraphicFramePr/>
            <p:nvPr/>
          </p:nvGraphicFramePr>
          <p:xfrm>
            <a:off x="624" y="1697"/>
            <a:ext cx="1994" cy="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1" r:id="rId14" imgW="1574165" imgH="444500" progId="Equation.3">
                    <p:embed/>
                  </p:oleObj>
                </mc:Choice>
                <mc:Fallback>
                  <p:oleObj r:id="rId14" imgW="1574165" imgH="4445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24" y="1697"/>
                          <a:ext cx="1994" cy="5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0"/>
          <p:cNvGrpSpPr/>
          <p:nvPr/>
        </p:nvGrpSpPr>
        <p:grpSpPr>
          <a:xfrm>
            <a:off x="304800" y="3519488"/>
            <a:ext cx="2819400" cy="1689100"/>
            <a:chOff x="192" y="2400"/>
            <a:chExt cx="1747" cy="1060"/>
          </a:xfrm>
        </p:grpSpPr>
        <p:graphicFrame>
          <p:nvGraphicFramePr>
            <p:cNvPr id="22545" name="Object 21"/>
            <p:cNvGraphicFramePr/>
            <p:nvPr/>
          </p:nvGraphicFramePr>
          <p:xfrm>
            <a:off x="720" y="2400"/>
            <a:ext cx="782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2" r:id="rId16" imgW="635000" imgH="444500" progId="Equation.3">
                    <p:embed/>
                  </p:oleObj>
                </mc:Choice>
                <mc:Fallback>
                  <p:oleObj r:id="rId16" imgW="635000" imgH="4445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720" y="2400"/>
                          <a:ext cx="782" cy="5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Rectangle 22"/>
            <p:cNvSpPr/>
            <p:nvPr/>
          </p:nvSpPr>
          <p:spPr>
            <a:xfrm>
              <a:off x="192" y="2448"/>
              <a:ext cx="672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b" anchorCtr="0"/>
            <a:lstStyle/>
            <a:p>
              <a:r>
                <a:rPr lang="zh-CN" altLang="en-US" sz="2000" b="1" dirty="0">
                  <a:solidFill>
                    <a:schemeClr val="folHlink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令</a:t>
              </a:r>
              <a:r>
                <a:rPr lang="zh-CN" altLang="en-US" sz="2400" b="1" dirty="0">
                  <a:solidFill>
                    <a:schemeClr val="folHlink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：</a:t>
              </a:r>
            </a:p>
          </p:txBody>
        </p:sp>
        <p:graphicFrame>
          <p:nvGraphicFramePr>
            <p:cNvPr id="22547" name="Object 23"/>
            <p:cNvGraphicFramePr/>
            <p:nvPr/>
          </p:nvGraphicFramePr>
          <p:xfrm>
            <a:off x="624" y="2949"/>
            <a:ext cx="1315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3" r:id="rId18" imgW="1079500" imgH="419100" progId="Equation.3">
                    <p:embed/>
                  </p:oleObj>
                </mc:Choice>
                <mc:Fallback>
                  <p:oleObj r:id="rId18" imgW="1079500" imgH="4191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24" y="2949"/>
                          <a:ext cx="1315" cy="5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2548" name="Picture 2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10113" y="2114550"/>
            <a:ext cx="2209800" cy="71437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2549" name="Text Box 25"/>
          <p:cNvSpPr txBox="1"/>
          <p:nvPr/>
        </p:nvSpPr>
        <p:spPr>
          <a:xfrm>
            <a:off x="2501900" y="1379538"/>
            <a:ext cx="360363" cy="5191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</a:p>
        </p:txBody>
      </p:sp>
      <p:grpSp>
        <p:nvGrpSpPr>
          <p:cNvPr id="5" name="Group 38"/>
          <p:cNvGrpSpPr/>
          <p:nvPr/>
        </p:nvGrpSpPr>
        <p:grpSpPr>
          <a:xfrm>
            <a:off x="250825" y="5094288"/>
            <a:ext cx="8469313" cy="1476375"/>
            <a:chOff x="0" y="3379"/>
            <a:chExt cx="5335" cy="930"/>
          </a:xfrm>
        </p:grpSpPr>
        <p:grpSp>
          <p:nvGrpSpPr>
            <p:cNvPr id="22551" name="Group 31"/>
            <p:cNvGrpSpPr/>
            <p:nvPr/>
          </p:nvGrpSpPr>
          <p:grpSpPr>
            <a:xfrm>
              <a:off x="0" y="3379"/>
              <a:ext cx="2241" cy="466"/>
              <a:chOff x="0" y="3436"/>
              <a:chExt cx="2241" cy="466"/>
            </a:xfrm>
          </p:grpSpPr>
          <p:graphicFrame>
            <p:nvGraphicFramePr>
              <p:cNvPr id="22552" name="Object 18"/>
              <p:cNvGraphicFramePr/>
              <p:nvPr/>
            </p:nvGraphicFramePr>
            <p:xfrm>
              <a:off x="414" y="3521"/>
              <a:ext cx="1827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04" r:id="rId21" imgW="1383030" imgH="254000" progId="Equation.3">
                      <p:embed/>
                    </p:oleObj>
                  </mc:Choice>
                  <mc:Fallback>
                    <p:oleObj r:id="rId21" imgW="1383030" imgH="254000" progId="Equation.3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14" y="3521"/>
                            <a:ext cx="1827" cy="381"/>
                          </a:xfrm>
                          <a:prstGeom prst="rect">
                            <a:avLst/>
                          </a:prstGeom>
                          <a:noFill/>
                          <a:ln w="28575" cap="flat" cmpd="sng">
                            <a:solidFill>
                              <a:schemeClr val="tx2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53" name="Rectangle 19"/>
              <p:cNvSpPr/>
              <p:nvPr/>
            </p:nvSpPr>
            <p:spPr>
              <a:xfrm>
                <a:off x="0" y="3436"/>
                <a:ext cx="384" cy="3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 anchor="b" anchorCtr="0"/>
              <a:lstStyle/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得：</a:t>
                </a:r>
              </a:p>
            </p:txBody>
          </p:sp>
        </p:grpSp>
        <p:sp>
          <p:nvSpPr>
            <p:cNvPr id="22554" name="Text Box 27"/>
            <p:cNvSpPr txBox="1"/>
            <p:nvPr/>
          </p:nvSpPr>
          <p:spPr>
            <a:xfrm>
              <a:off x="2455" y="3407"/>
              <a:ext cx="2880" cy="90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β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为共发射极电流放大系数</a:t>
              </a: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可见三极管具有电流放大作用：</a:t>
              </a:r>
              <a:r>
                <a:rPr lang="en-US" altLang="zh-CN" sz="2400" b="1" i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lang="en-US" altLang="zh-CN" sz="2400" b="1" baseline="-2500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C 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是 </a:t>
              </a:r>
              <a:r>
                <a:rPr lang="en-US" altLang="zh-CN" sz="2400" b="1" i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lang="en-US" altLang="zh-CN" sz="2400" b="1" baseline="-2500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B 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的</a:t>
              </a:r>
              <a:r>
                <a:rPr lang="el-GR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β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倍。</a:t>
              </a:r>
            </a:p>
          </p:txBody>
        </p:sp>
      </p:grpSp>
      <p:grpSp>
        <p:nvGrpSpPr>
          <p:cNvPr id="7" name="Group 33"/>
          <p:cNvGrpSpPr/>
          <p:nvPr/>
        </p:nvGrpSpPr>
        <p:grpSpPr>
          <a:xfrm>
            <a:off x="341630" y="6039485"/>
            <a:ext cx="4032250" cy="525463"/>
            <a:chOff x="295" y="3702"/>
            <a:chExt cx="2540" cy="331"/>
          </a:xfrm>
        </p:grpSpPr>
        <p:sp>
          <p:nvSpPr>
            <p:cNvPr id="22556" name="Text Box 34"/>
            <p:cNvSpPr txBox="1"/>
            <p:nvPr/>
          </p:nvSpPr>
          <p:spPr>
            <a:xfrm>
              <a:off x="295" y="3702"/>
              <a:ext cx="2540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(3)</a:t>
              </a:r>
              <a:r>
                <a:rPr lang="en-US" altLang="zh-CN" b="1" i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=</a:t>
              </a:r>
              <a:r>
                <a:rPr lang="en-US" altLang="zh-CN" b="1" i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b="1" i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 </a:t>
              </a: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=(1+    )</a:t>
              </a:r>
              <a:r>
                <a:rPr lang="en-US" altLang="zh-CN" b="1" i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="1" baseline="-25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22557" name="Group 35"/>
            <p:cNvGrpSpPr/>
            <p:nvPr/>
          </p:nvGrpSpPr>
          <p:grpSpPr>
            <a:xfrm>
              <a:off x="1927" y="3793"/>
              <a:ext cx="135" cy="240"/>
              <a:chOff x="3384" y="3828"/>
              <a:chExt cx="135" cy="240"/>
            </a:xfrm>
          </p:grpSpPr>
          <p:sp>
            <p:nvSpPr>
              <p:cNvPr id="22558" name="Line 36"/>
              <p:cNvSpPr/>
              <p:nvPr/>
            </p:nvSpPr>
            <p:spPr>
              <a:xfrm>
                <a:off x="3384" y="3840"/>
                <a:ext cx="135" cy="1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9" name="Rectangle 37"/>
              <p:cNvSpPr/>
              <p:nvPr/>
            </p:nvSpPr>
            <p:spPr>
              <a:xfrm>
                <a:off x="3384" y="3828"/>
                <a:ext cx="110" cy="2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500" b="1" i="1">
                    <a:solidFill>
                      <a:srgbClr val="0000FF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b</a:t>
                </a:r>
                <a:endParaRPr lang="en-US" altLang="zh-CN" sz="24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125" y="773430"/>
            <a:ext cx="77209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l-GR" b="1" dirty="0">
                <a:solidFill>
                  <a:schemeClr val="tx2"/>
                </a:solidFill>
                <a:sym typeface="+mn-ea"/>
              </a:rPr>
              <a:t>三极管的电流控制放大特性：</a:t>
            </a:r>
          </a:p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l-GR" b="1" dirty="0">
                <a:solidFill>
                  <a:schemeClr val="tx1"/>
                </a:solidFill>
                <a:sym typeface="+mn-ea"/>
              </a:rPr>
              <a:t>三极管的集电极电流</a:t>
            </a:r>
            <a:r>
              <a:rPr lang="en-US" altLang="zh-CN" b="1" i="1" dirty="0">
                <a:solidFill>
                  <a:schemeClr val="tx1"/>
                </a:solidFill>
                <a:sym typeface="+mn-ea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sym typeface="+mn-ea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受基极电流</a:t>
            </a:r>
            <a:r>
              <a:rPr lang="en-US" altLang="zh-CN" b="1" i="1" dirty="0">
                <a:solidFill>
                  <a:schemeClr val="tx1"/>
                </a:solidFill>
                <a:sym typeface="+mn-ea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sym typeface="+mn-ea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控制，在放大状态下</a:t>
            </a:r>
            <a:r>
              <a:rPr lang="en-US" altLang="zh-CN" b="1" i="1" dirty="0">
                <a:solidFill>
                  <a:schemeClr val="tx1"/>
                </a:solidFill>
                <a:sym typeface="+mn-ea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sym typeface="+mn-ea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=</a:t>
            </a:r>
            <a:r>
              <a:rPr lang="el-GR" altLang="zh-CN" b="1" i="1" dirty="0">
                <a:solidFill>
                  <a:schemeClr val="tx1"/>
                </a:solidFill>
                <a:sym typeface="+mn-ea"/>
              </a:rPr>
              <a:t>β</a:t>
            </a:r>
            <a:r>
              <a:rPr lang="en-US" altLang="el-GR" b="1" i="1" dirty="0">
                <a:solidFill>
                  <a:schemeClr val="tx1"/>
                </a:solidFill>
                <a:sym typeface="+mn-ea"/>
              </a:rPr>
              <a:t>I</a:t>
            </a:r>
            <a:r>
              <a:rPr lang="en-US" altLang="el-GR" b="1" baseline="-25000" dirty="0">
                <a:solidFill>
                  <a:schemeClr val="tx1"/>
                </a:solidFill>
                <a:sym typeface="+mn-ea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，通过一个小的基极电流</a:t>
            </a:r>
            <a:r>
              <a:rPr lang="en-US" altLang="zh-CN" b="1" i="1" dirty="0">
                <a:solidFill>
                  <a:schemeClr val="tx1"/>
                </a:solidFill>
                <a:sym typeface="+mn-ea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sym typeface="+mn-ea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的变化就可控制大的集电极电流</a:t>
            </a:r>
            <a:r>
              <a:rPr lang="en-US" altLang="zh-CN" b="1" i="1" dirty="0">
                <a:solidFill>
                  <a:schemeClr val="tx1"/>
                </a:solidFill>
                <a:sym typeface="+mn-ea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sym typeface="+mn-ea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的变化，实现电流放大。</a:t>
            </a:r>
          </a:p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l-GR" sz="2800" b="1" dirty="0">
                <a:solidFill>
                  <a:schemeClr val="tx1"/>
                </a:solidFill>
                <a:sym typeface="+mn-ea"/>
              </a:rPr>
              <a:t>正常放大时共发射极放大倍数</a:t>
            </a:r>
            <a:r>
              <a:rPr lang="zh-CN" altLang="el-GR" sz="2800" b="1" i="1" dirty="0">
                <a:solidFill>
                  <a:schemeClr val="tx1"/>
                </a:solidFill>
                <a:sym typeface="+mn-ea"/>
              </a:rPr>
              <a:t>β</a:t>
            </a:r>
            <a:r>
              <a:rPr lang="zh-CN" altLang="el-GR" sz="2800" b="1" dirty="0">
                <a:solidFill>
                  <a:schemeClr val="tx1"/>
                </a:solidFill>
                <a:sym typeface="+mn-ea"/>
              </a:rPr>
              <a:t>大小只与三极管材料特性和结构参数有关，其值基本不变，一般在几十到几百之间</a:t>
            </a:r>
            <a:r>
              <a:rPr lang="zh-CN" altLang="el-GR" sz="2800" b="1" dirty="0" smtClean="0">
                <a:solidFill>
                  <a:schemeClr val="tx1"/>
                </a:solidFill>
                <a:sym typeface="+mn-ea"/>
              </a:rPr>
              <a:t>。</a:t>
            </a:r>
            <a:endParaRPr lang="en-US" altLang="zh-CN" sz="2800" b="1" dirty="0" smtClean="0">
              <a:solidFill>
                <a:schemeClr val="tx1"/>
              </a:solidFill>
              <a:sym typeface="+mn-ea"/>
            </a:endParaRPr>
          </a:p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ym typeface="+mn-ea"/>
              </a:rPr>
              <a:t>放大状态重要两个公式：</a:t>
            </a:r>
            <a:endParaRPr lang="en-US" altLang="zh-CN" b="1" dirty="0" smtClean="0"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b="1" i="1" dirty="0" smtClean="0">
                <a:sym typeface="+mn-ea"/>
              </a:rPr>
              <a:t>          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 b="1" baseline="-25000" dirty="0" smtClean="0">
                <a:solidFill>
                  <a:srgbClr val="FF0000"/>
                </a:solidFill>
                <a:sym typeface="+mn-ea"/>
              </a:rPr>
              <a:t>E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=</a:t>
            </a:r>
            <a:r>
              <a:rPr lang="en-US" altLang="el-GR" b="1" i="1" dirty="0" smtClean="0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el-GR" b="1" baseline="-25000" dirty="0" smtClean="0">
                <a:solidFill>
                  <a:srgbClr val="FF0000"/>
                </a:solidFill>
                <a:sym typeface="+mn-ea"/>
              </a:rPr>
              <a:t>C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+</a:t>
            </a:r>
            <a:r>
              <a:rPr lang="en-US" altLang="el-GR" b="1" i="1" dirty="0" smtClean="0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el-GR" b="1" baseline="-25000" dirty="0" smtClean="0">
                <a:solidFill>
                  <a:srgbClr val="FF0000"/>
                </a:solidFill>
                <a:sym typeface="+mn-ea"/>
              </a:rPr>
              <a:t>B </a:t>
            </a:r>
            <a:r>
              <a:rPr lang="zh-CN" altLang="en-US" b="1" baseline="-25000" dirty="0" smtClean="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 b="1" baseline="-25000" dirty="0" smtClean="0">
                <a:solidFill>
                  <a:srgbClr val="FF0000"/>
                </a:solidFill>
                <a:sym typeface="+mn-ea"/>
              </a:rPr>
              <a:t>C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=</a:t>
            </a:r>
            <a:r>
              <a:rPr lang="el-GR" altLang="zh-CN" b="1" i="1" dirty="0">
                <a:solidFill>
                  <a:srgbClr val="FF0000"/>
                </a:solidFill>
                <a:sym typeface="+mn-ea"/>
              </a:rPr>
              <a:t>β</a:t>
            </a:r>
            <a:r>
              <a:rPr lang="en-US" altLang="el-GR" b="1" i="1" dirty="0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el-GR" b="1" baseline="-25000" dirty="0">
                <a:solidFill>
                  <a:srgbClr val="FF0000"/>
                </a:solidFill>
                <a:sym typeface="+mn-ea"/>
              </a:rPr>
              <a:t>B</a:t>
            </a:r>
            <a:endParaRPr lang="zh-CN" altLang="el-GR" sz="2800" b="1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100" y="4286680"/>
            <a:ext cx="3240360" cy="22082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32240" y="482415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rgbClr val="0000FF"/>
                </a:solidFill>
              </a:rPr>
              <a:t>b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41882" y="4375871"/>
            <a:ext cx="2648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solidFill>
                  <a:srgbClr val="0000FF"/>
                </a:solidFill>
              </a:rPr>
              <a:t>c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37284" y="4893259"/>
            <a:ext cx="219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00FF"/>
                </a:solidFill>
              </a:rPr>
              <a:t>e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pic>
        <p:nvPicPr>
          <p:cNvPr id="8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453" y="5675802"/>
            <a:ext cx="580693" cy="646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5" name="文本框 530434"/>
          <p:cNvSpPr txBox="1"/>
          <p:nvPr/>
        </p:nvSpPr>
        <p:spPr>
          <a:xfrm>
            <a:off x="746125" y="1042988"/>
            <a:ext cx="6510338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99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solidFill>
                  <a:srgbClr val="99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输入特性曲线</a:t>
            </a:r>
            <a:r>
              <a:rPr lang="zh-CN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400" b="1" i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400" b="1" i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BE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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CE</a:t>
            </a:r>
            <a:r>
              <a:rPr lang="en-US" altLang="zh-CN" sz="2400" b="1" baseline="-1000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=const</a:t>
            </a:r>
          </a:p>
        </p:txBody>
      </p:sp>
      <p:pic>
        <p:nvPicPr>
          <p:cNvPr id="530436" name="图片 5304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3" y="1898650"/>
            <a:ext cx="3124200" cy="27019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30437" name="文本占位符 530436"/>
          <p:cNvSpPr>
            <a:spLocks noGrp="1"/>
          </p:cNvSpPr>
          <p:nvPr>
            <p:ph type="body" idx="1"/>
          </p:nvPr>
        </p:nvSpPr>
        <p:spPr>
          <a:xfrm>
            <a:off x="381000" y="4953000"/>
            <a:ext cx="7467600" cy="457200"/>
          </a:xfrm>
          <a:noFill/>
          <a:ln>
            <a:noFill/>
          </a:ln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3333CC"/>
                </a:solidFill>
              </a:rPr>
              <a:t>（</a:t>
            </a:r>
            <a:r>
              <a:rPr lang="en-US" altLang="zh-CN" sz="2000" b="1" dirty="0">
                <a:solidFill>
                  <a:srgbClr val="3333CC"/>
                </a:solidFill>
              </a:rPr>
              <a:t>1</a:t>
            </a:r>
            <a:r>
              <a:rPr lang="zh-CN" altLang="en-US" sz="2000" b="1" dirty="0">
                <a:solidFill>
                  <a:srgbClr val="3333CC"/>
                </a:solidFill>
              </a:rPr>
              <a:t>）</a:t>
            </a:r>
            <a:r>
              <a:rPr lang="en-US" altLang="zh-CN" sz="2000" b="1" i="1" err="1">
                <a:solidFill>
                  <a:srgbClr val="3333CC"/>
                </a:solidFill>
              </a:rPr>
              <a:t>u</a:t>
            </a:r>
            <a:r>
              <a:rPr lang="en-US" altLang="zh-CN" sz="2000" b="1" baseline="-25000" err="1">
                <a:solidFill>
                  <a:srgbClr val="3333CC"/>
                </a:solidFill>
              </a:rPr>
              <a:t>CE</a:t>
            </a:r>
            <a:r>
              <a:rPr lang="en-US" altLang="zh-CN" sz="2000" b="1" dirty="0">
                <a:solidFill>
                  <a:srgbClr val="3333CC"/>
                </a:solidFill>
              </a:rPr>
              <a:t>=0V</a:t>
            </a:r>
            <a:r>
              <a:rPr lang="zh-CN" altLang="en-US" sz="2000" b="1" dirty="0">
                <a:solidFill>
                  <a:srgbClr val="3333CC"/>
                </a:solidFill>
              </a:rPr>
              <a:t>时，相当于两个</a:t>
            </a:r>
            <a:r>
              <a:rPr lang="en-US" altLang="zh-CN" sz="2000" b="1" dirty="0">
                <a:solidFill>
                  <a:srgbClr val="3333CC"/>
                </a:solidFill>
              </a:rPr>
              <a:t>PN</a:t>
            </a:r>
            <a:r>
              <a:rPr lang="zh-CN" altLang="en-US" sz="2000" b="1" dirty="0">
                <a:solidFill>
                  <a:srgbClr val="3333CC"/>
                </a:solidFill>
              </a:rPr>
              <a:t>结并联。等同</a:t>
            </a:r>
            <a:r>
              <a:rPr lang="en-US" altLang="zh-CN" sz="2000" b="1" dirty="0">
                <a:solidFill>
                  <a:srgbClr val="3333CC"/>
                </a:solidFill>
              </a:rPr>
              <a:t>PN</a:t>
            </a:r>
            <a:r>
              <a:rPr lang="zh-CN" altLang="en-US" sz="2000" b="1" dirty="0">
                <a:solidFill>
                  <a:srgbClr val="3333CC"/>
                </a:solidFill>
              </a:rPr>
              <a:t>结的特性曲线</a:t>
            </a:r>
          </a:p>
        </p:txBody>
      </p:sp>
      <p:pic>
        <p:nvPicPr>
          <p:cNvPr id="530438" name="图片 5304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752600"/>
            <a:ext cx="3617913" cy="3146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0439" name="图片 5304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2305050"/>
            <a:ext cx="1339850" cy="2278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0440" name="图片 5304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2286000"/>
            <a:ext cx="1933575" cy="2278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0441" name="图片 5304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5950" y="2286000"/>
            <a:ext cx="604838" cy="2078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0442" name="矩形 530441"/>
          <p:cNvSpPr/>
          <p:nvPr/>
        </p:nvSpPr>
        <p:spPr>
          <a:xfrm>
            <a:off x="370205" y="6120130"/>
            <a:ext cx="8458200" cy="53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000" b="1" i="1" err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 err="1">
                <a:solidFill>
                  <a:schemeClr val="tx2"/>
                </a:solidFill>
                <a:latin typeface="Times New Roman" panose="02020603050405020304" pitchFamily="18" charset="0"/>
              </a:rPr>
              <a:t>CE</a:t>
            </a:r>
            <a:r>
              <a: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≥1V</a:t>
            </a: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再增加时，曲线右移很不明显。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</a:p>
        </p:txBody>
      </p:sp>
      <p:sp>
        <p:nvSpPr>
          <p:cNvPr id="530443" name="矩形 530442"/>
          <p:cNvSpPr/>
          <p:nvPr/>
        </p:nvSpPr>
        <p:spPr>
          <a:xfrm>
            <a:off x="381000" y="5410200"/>
            <a:ext cx="8458200" cy="762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）当</a:t>
            </a:r>
            <a:r>
              <a:rPr lang="en-US" altLang="zh-CN" sz="2000" b="1" i="1" err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 err="1">
                <a:solidFill>
                  <a:srgbClr val="FF0000"/>
                </a:solidFill>
                <a:latin typeface="Times New Roman" panose="02020603050405020304" pitchFamily="18" charset="0"/>
              </a:rPr>
              <a:t>CE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=1V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时， 集电结已进入反偏状态，开始收集电子，所以基区复合减少， 在同一</a:t>
            </a:r>
            <a:r>
              <a:rPr lang="en-US" altLang="zh-CN" sz="2000" b="1" i="1" err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 err="1">
                <a:solidFill>
                  <a:srgbClr val="FF0000"/>
                </a:solidFill>
                <a:latin typeface="Times New Roman" panose="02020603050405020304" pitchFamily="18" charset="0"/>
              </a:rPr>
              <a:t>BE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电压下，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减小。特性曲线将向右稍微移动一些。</a:t>
            </a:r>
          </a:p>
        </p:txBody>
      </p:sp>
      <p:grpSp>
        <p:nvGrpSpPr>
          <p:cNvPr id="530444" name="组合 530443"/>
          <p:cNvGrpSpPr/>
          <p:nvPr/>
        </p:nvGrpSpPr>
        <p:grpSpPr>
          <a:xfrm>
            <a:off x="6048103" y="5181283"/>
            <a:ext cx="2971800" cy="1600200"/>
            <a:chOff x="1968" y="3168"/>
            <a:chExt cx="1872" cy="1008"/>
          </a:xfrm>
        </p:grpSpPr>
        <p:sp>
          <p:nvSpPr>
            <p:cNvPr id="530445" name="矩形 530444"/>
            <p:cNvSpPr/>
            <p:nvPr/>
          </p:nvSpPr>
          <p:spPr>
            <a:xfrm>
              <a:off x="1968" y="3168"/>
              <a:ext cx="1872" cy="1008"/>
            </a:xfrm>
            <a:prstGeom prst="rect">
              <a:avLst/>
            </a:prstGeom>
            <a:solidFill>
              <a:srgbClr val="CCFFCC"/>
            </a:solidFill>
            <a:ln w="27051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0446" name="组合 530445"/>
            <p:cNvGrpSpPr/>
            <p:nvPr/>
          </p:nvGrpSpPr>
          <p:grpSpPr>
            <a:xfrm>
              <a:off x="1968" y="3168"/>
              <a:ext cx="1819" cy="853"/>
              <a:chOff x="3264" y="3024"/>
              <a:chExt cx="1632" cy="528"/>
            </a:xfrm>
          </p:grpSpPr>
          <p:sp>
            <p:nvSpPr>
              <p:cNvPr id="530447" name="文本框 530446"/>
              <p:cNvSpPr txBox="1"/>
              <p:nvPr/>
            </p:nvSpPr>
            <p:spPr>
              <a:xfrm>
                <a:off x="3264" y="3216"/>
                <a:ext cx="768" cy="155"/>
              </a:xfrm>
              <a:prstGeom prst="rect">
                <a:avLst/>
              </a:prstGeom>
              <a:noFill/>
              <a:ln w="27051">
                <a:noFill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 dirty="0"/>
                  <a:t>导通压降</a:t>
                </a:r>
                <a:endParaRPr lang="zh-CN" altLang="en-US" sz="2000" b="1" dirty="0"/>
              </a:p>
            </p:txBody>
          </p:sp>
          <p:sp>
            <p:nvSpPr>
              <p:cNvPr id="530448" name="左大括号 530447"/>
              <p:cNvSpPr/>
              <p:nvPr/>
            </p:nvSpPr>
            <p:spPr>
              <a:xfrm>
                <a:off x="4032" y="3120"/>
                <a:ext cx="144" cy="432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27051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0" hangingPunct="0"/>
                <a:endParaRPr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30449" name="文本框 530448"/>
              <p:cNvSpPr txBox="1"/>
              <p:nvPr/>
            </p:nvSpPr>
            <p:spPr>
              <a:xfrm>
                <a:off x="4177" y="3024"/>
                <a:ext cx="719" cy="155"/>
              </a:xfrm>
              <a:prstGeom prst="rect">
                <a:avLst/>
              </a:prstGeom>
              <a:noFill/>
              <a:ln w="27051">
                <a:noFill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 dirty="0"/>
                  <a:t>硅 </a:t>
                </a:r>
                <a:r>
                  <a:rPr lang="en-US" altLang="zh-CN" sz="2000" b="1" dirty="0"/>
                  <a:t>0.7V</a:t>
                </a:r>
                <a:endParaRPr lang="en-US" altLang="zh-CN" sz="2000" b="1" dirty="0"/>
              </a:p>
            </p:txBody>
          </p:sp>
          <p:sp>
            <p:nvSpPr>
              <p:cNvPr id="530450" name="文本框 530449"/>
              <p:cNvSpPr txBox="1"/>
              <p:nvPr/>
            </p:nvSpPr>
            <p:spPr>
              <a:xfrm>
                <a:off x="4177" y="3360"/>
                <a:ext cx="719" cy="155"/>
              </a:xfrm>
              <a:prstGeom prst="rect">
                <a:avLst/>
              </a:prstGeom>
              <a:noFill/>
              <a:ln w="27051">
                <a:noFill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000" b="1" dirty="0"/>
                  <a:t>锗 </a:t>
                </a:r>
                <a:r>
                  <a:rPr lang="en-US" altLang="zh-CN" sz="2000" b="1" dirty="0"/>
                  <a:t>0.3V</a:t>
                </a:r>
                <a:endParaRPr lang="en-US" altLang="zh-CN" sz="2000" b="1" dirty="0"/>
              </a:p>
            </p:txBody>
          </p:sp>
        </p:grpSp>
      </p:grpSp>
      <p:sp>
        <p:nvSpPr>
          <p:cNvPr id="530458" name="文本框 530457"/>
          <p:cNvSpPr txBox="1"/>
          <p:nvPr/>
        </p:nvSpPr>
        <p:spPr>
          <a:xfrm>
            <a:off x="927100" y="233363"/>
            <a:ext cx="7381875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2.1.3  </a:t>
            </a:r>
            <a:r>
              <a:rPr lang="zh-CN" altLang="en-US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三极管共发射极组态的伏安特性曲线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0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0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0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5" grpId="0"/>
      <p:bldP spid="530437" grpId="0" build="p"/>
      <p:bldP spid="530442" grpId="0" build="p"/>
      <p:bldP spid="53044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矩形 531457"/>
          <p:cNvSpPr/>
          <p:nvPr/>
        </p:nvSpPr>
        <p:spPr>
          <a:xfrm>
            <a:off x="457200" y="2362200"/>
            <a:ext cx="3429000" cy="685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） 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CE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 ↑ → 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i="1">
                <a:solidFill>
                  <a:srgbClr val="66003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↑</a:t>
            </a:r>
            <a:r>
              <a:rPr lang="en-US" altLang="zh-CN" sz="2400" b="1" i="1">
                <a:solidFill>
                  <a:srgbClr val="660033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531459" name="矩形 531458"/>
          <p:cNvSpPr/>
          <p:nvPr/>
        </p:nvSpPr>
        <p:spPr>
          <a:xfrm>
            <a:off x="228600" y="2971800"/>
            <a:ext cx="3657600" cy="2971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</a:pP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） 当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CE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＞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1V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后，收集电子的能力足够强。这时，发射到基区的电子都被集电极收集，形成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30000" err="1">
                <a:solidFill>
                  <a:srgbClr val="660033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。所以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30000" err="1">
                <a:solidFill>
                  <a:srgbClr val="660033"/>
                </a:solidFill>
                <a:latin typeface="Times New Roman" panose="02020603050405020304" pitchFamily="18" charset="0"/>
              </a:rPr>
              <a:t>CE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再增加，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30000" err="1">
                <a:solidFill>
                  <a:srgbClr val="660033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基本保持不变。</a:t>
            </a:r>
          </a:p>
        </p:txBody>
      </p:sp>
      <p:sp>
        <p:nvSpPr>
          <p:cNvPr id="531460" name="矩形 531459"/>
          <p:cNvSpPr/>
          <p:nvPr/>
        </p:nvSpPr>
        <p:spPr>
          <a:xfrm>
            <a:off x="609600" y="5867400"/>
            <a:ext cx="4800600" cy="685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同理，可作出</a:t>
            </a:r>
            <a:r>
              <a:rPr lang="en-US" altLang="zh-CN" sz="2400" b="1" i="1">
                <a:solidFill>
                  <a:srgbClr val="3333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3333CC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其他值的曲线。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                                               </a:t>
            </a:r>
            <a:r>
              <a:rPr lang="zh-CN" altLang="en-US" sz="2000" dirty="0">
                <a:solidFill>
                  <a:srgbClr val="FF5050"/>
                </a:solidFill>
                <a:latin typeface="Times New Roman" panose="02020603050405020304" pitchFamily="18" charset="0"/>
              </a:rPr>
              <a:t>     </a:t>
            </a:r>
          </a:p>
        </p:txBody>
      </p:sp>
      <p:pic>
        <p:nvPicPr>
          <p:cNvPr id="531461" name="图片 5314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667000"/>
            <a:ext cx="4738688" cy="315277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531462" name="图片 5314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3048000"/>
            <a:ext cx="4114800" cy="2576513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31463" name="矩形 531462"/>
          <p:cNvSpPr/>
          <p:nvPr/>
        </p:nvSpPr>
        <p:spPr>
          <a:xfrm>
            <a:off x="522288" y="638175"/>
            <a:ext cx="54451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输出特性曲线 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400" b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CE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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b="1" i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lang="en-US" altLang="zh-CN" sz="2400" b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const</a:t>
            </a:r>
          </a:p>
        </p:txBody>
      </p:sp>
      <p:sp>
        <p:nvSpPr>
          <p:cNvPr id="531464" name="矩形 531463"/>
          <p:cNvSpPr/>
          <p:nvPr/>
        </p:nvSpPr>
        <p:spPr>
          <a:xfrm>
            <a:off x="792163" y="1179513"/>
            <a:ext cx="4014787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现以</a:t>
            </a:r>
            <a:r>
              <a:rPr lang="en-US" altLang="zh-CN" sz="2400" b="1" i="1">
                <a:solidFill>
                  <a:srgbClr val="3333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3333CC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=60uA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一条加以说明。</a:t>
            </a:r>
          </a:p>
        </p:txBody>
      </p:sp>
      <p:sp>
        <p:nvSpPr>
          <p:cNvPr id="531465" name="矩形 531464"/>
          <p:cNvSpPr/>
          <p:nvPr/>
        </p:nvSpPr>
        <p:spPr>
          <a:xfrm>
            <a:off x="476250" y="1628775"/>
            <a:ext cx="7064375" cy="8223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）当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CE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=0</a:t>
            </a:r>
            <a:r>
              <a:rPr lang="en-US" altLang="zh-CN" sz="1400" b="1">
                <a:solidFill>
                  <a:srgbClr val="66003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时，</a:t>
            </a:r>
          </a:p>
          <a:p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因集电极无收集作用，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=0</a:t>
            </a:r>
            <a:r>
              <a: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</a:rPr>
              <a:t>。</a:t>
            </a:r>
          </a:p>
        </p:txBody>
      </p:sp>
      <p:pic>
        <p:nvPicPr>
          <p:cNvPr id="531466" name="图片 5314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563" y="368300"/>
            <a:ext cx="3124200" cy="270192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58" grpId="0"/>
      <p:bldP spid="531459" grpId="0"/>
      <p:bldP spid="531460" grpId="0"/>
      <p:bldP spid="531464" grpId="0"/>
      <p:bldP spid="53146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4" name="文本框 532483"/>
          <p:cNvSpPr txBox="1"/>
          <p:nvPr/>
        </p:nvSpPr>
        <p:spPr>
          <a:xfrm>
            <a:off x="611188" y="1133475"/>
            <a:ext cx="2971800" cy="23447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放大区</a:t>
            </a:r>
            <a:r>
              <a:rPr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——</a:t>
            </a:r>
          </a:p>
          <a:p>
            <a:pPr eaLnBrk="0" hangingPunct="0"/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曲线基本平行等</a:t>
            </a:r>
          </a:p>
          <a:p>
            <a:pPr eaLnBrk="0" hangingPunct="0"/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距。 此时，发</a:t>
            </a:r>
          </a:p>
          <a:p>
            <a:pPr eaLnBrk="0" hangingPunct="0"/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射结正偏，集电</a:t>
            </a:r>
          </a:p>
          <a:p>
            <a:pPr eaLnBrk="0" hangingPunct="0"/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结反偏。</a:t>
            </a:r>
          </a:p>
          <a:p>
            <a:pPr eaLnBrk="0" hangingPunct="0"/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该区中有：</a:t>
            </a:r>
          </a:p>
        </p:txBody>
      </p:sp>
      <p:graphicFrame>
        <p:nvGraphicFramePr>
          <p:cNvPr id="532485" name="对象 532484"/>
          <p:cNvGraphicFramePr/>
          <p:nvPr/>
        </p:nvGraphicFramePr>
        <p:xfrm>
          <a:off x="1466850" y="3743325"/>
          <a:ext cx="15843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r:id="rId3" imgW="735965" imgH="254000" progId="Equation.3">
                  <p:embed/>
                </p:oleObj>
              </mc:Choice>
              <mc:Fallback>
                <p:oleObj r:id="rId3" imgW="735965" imgH="2540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6850" y="3743325"/>
                        <a:ext cx="1584325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2486" name="图片 53248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763" y="3159125"/>
            <a:ext cx="4953000" cy="35401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32488" name="圆角矩形标注 532487"/>
          <p:cNvSpPr/>
          <p:nvPr/>
        </p:nvSpPr>
        <p:spPr>
          <a:xfrm>
            <a:off x="1331913" y="5049838"/>
            <a:ext cx="1206500" cy="527050"/>
          </a:xfrm>
          <a:prstGeom prst="wedgeRoundRectCallout">
            <a:avLst>
              <a:gd name="adj1" fmla="val 321185"/>
              <a:gd name="adj2" fmla="val -97287"/>
              <a:gd name="adj3" fmla="val 16667"/>
            </a:avLst>
          </a:prstGeom>
          <a:solidFill>
            <a:srgbClr val="CCFFFF"/>
          </a:solidFill>
          <a:ln w="38100" cap="flat" cmpd="sng">
            <a:solidFill>
              <a:srgbClr val="99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长城楷体" pitchFamily="49" charset="-122"/>
              </a:rPr>
              <a:t>放大区</a:t>
            </a:r>
            <a:endParaRPr lang="zh-CN" altLang="en-US" sz="3200" b="1" dirty="0"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532490" name="矩形 532489"/>
          <p:cNvSpPr/>
          <p:nvPr/>
        </p:nvSpPr>
        <p:spPr>
          <a:xfrm>
            <a:off x="1371600" y="381000"/>
            <a:ext cx="5303838" cy="4762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输出特性曲线可以分为三个区域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pic>
        <p:nvPicPr>
          <p:cNvPr id="532491" name="图片 5324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363" y="503238"/>
            <a:ext cx="3124200" cy="270192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2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32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3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4" grpId="0"/>
      <p:bldP spid="53248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5" name="文本框 653314"/>
          <p:cNvSpPr txBox="1"/>
          <p:nvPr/>
        </p:nvSpPr>
        <p:spPr>
          <a:xfrm>
            <a:off x="656590" y="1313815"/>
            <a:ext cx="3130550" cy="231203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Autofit/>
          </a:bodyPr>
          <a:lstStyle/>
          <a:p>
            <a:pPr eaLnBrk="0" hangingPunct="0"/>
            <a:r>
              <a:rPr lang="zh-CN" altLang="en-US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截止区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——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接近零的区域，相当</a:t>
            </a:r>
            <a:r>
              <a:rPr lang="en-US" altLang="zh-CN" sz="2400" b="1" i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660033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=0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的曲线的下方。                     此时，发射结反偏，集电结反偏。</a:t>
            </a:r>
          </a:p>
          <a:p>
            <a:endParaRPr lang="zh-CN" altLang="en-US" sz="2400" b="1" dirty="0">
              <a:solidFill>
                <a:srgbClr val="66003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53318" name="图片 6533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933700"/>
            <a:ext cx="4953000" cy="35401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53321" name="圆角矩形标注 653320"/>
          <p:cNvSpPr/>
          <p:nvPr/>
        </p:nvSpPr>
        <p:spPr>
          <a:xfrm>
            <a:off x="7272020" y="4156748"/>
            <a:ext cx="1206500" cy="511735"/>
          </a:xfrm>
          <a:prstGeom prst="wedgeRoundRectCallout">
            <a:avLst>
              <a:gd name="adj1" fmla="val -101368"/>
              <a:gd name="adj2" fmla="val 340335"/>
              <a:gd name="adj3" fmla="val 16667"/>
            </a:avLst>
          </a:prstGeom>
          <a:solidFill>
            <a:srgbClr val="FF99FF"/>
          </a:solidFill>
          <a:ln w="38100" cap="flat" cmpd="sng">
            <a:solidFill>
              <a:srgbClr val="99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长城楷体" pitchFamily="49" charset="-122"/>
              </a:rPr>
              <a:t>截止区</a:t>
            </a:r>
            <a:endParaRPr lang="zh-CN" altLang="en-US" sz="3200" b="1" dirty="0"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653322" name="矩形 653321"/>
          <p:cNvSpPr/>
          <p:nvPr/>
        </p:nvSpPr>
        <p:spPr>
          <a:xfrm>
            <a:off x="1371600" y="381000"/>
            <a:ext cx="5303838" cy="4762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输出特性曲线可以分为三个区域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pic>
        <p:nvPicPr>
          <p:cNvPr id="653323" name="图片 6533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88" y="368300"/>
            <a:ext cx="3124200" cy="27019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431165" y="3608705"/>
            <a:ext cx="3130550" cy="231203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开关工作特性</a:t>
            </a:r>
            <a:r>
              <a:rPr lang="zh-CN" altLang="en-US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三极管电流为零，电路断开不通，相当于三极管开关特性的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关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特性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65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65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15" grpId="0"/>
      <p:bldP spid="653321" grpId="0" bldLvl="0" animBg="1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文本框 655361"/>
          <p:cNvSpPr txBox="1"/>
          <p:nvPr/>
        </p:nvSpPr>
        <p:spPr>
          <a:xfrm>
            <a:off x="476250" y="863600"/>
            <a:ext cx="3508375" cy="199961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饱和区</a:t>
            </a:r>
            <a:r>
              <a:rPr lang="en-US" altLang="zh-CN" sz="2400" b="1">
                <a:solidFill>
                  <a:srgbClr val="3333CC"/>
                </a:solidFill>
                <a:latin typeface="Times New Roman" panose="02020603050405020304" pitchFamily="18" charset="0"/>
              </a:rPr>
              <a:t>——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1">
                <a:solidFill>
                  <a:srgbClr val="3333CC"/>
                </a:solidFill>
                <a:latin typeface="Times New Roman" panose="02020603050405020304" pitchFamily="18" charset="0"/>
              </a:rPr>
              <a:t>受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</a:rPr>
              <a:t>CE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显著控制的区域，该区域内输出电压</a:t>
            </a:r>
            <a:r>
              <a:rPr lang="en-US" altLang="zh-CN" sz="2400" b="1" i="1" err="1">
                <a:solidFill>
                  <a:srgbClr val="3333CC"/>
                </a:solidFill>
                <a:sym typeface="+mn-ea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sym typeface="+mn-ea"/>
              </a:rPr>
              <a:t>CE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非常小</a:t>
            </a:r>
            <a:r>
              <a:rPr lang="en-US" altLang="zh-CN" sz="2400" b="1" i="1" err="1">
                <a:solidFill>
                  <a:srgbClr val="3333CC"/>
                </a:solidFill>
                <a:sym typeface="+mn-ea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sym typeface="+mn-ea"/>
              </a:rPr>
              <a:t>CE</a:t>
            </a:r>
            <a:r>
              <a:rPr lang="zh-CN" altLang="en-US" sz="2400" b="1">
                <a:solidFill>
                  <a:srgbClr val="3333CC"/>
                </a:solidFill>
                <a:latin typeface="Times New Roman" panose="02020603050405020304" pitchFamily="18" charset="0"/>
              </a:rPr>
              <a:t>＜</a:t>
            </a:r>
            <a:r>
              <a:rPr lang="en-US" altLang="zh-CN" sz="2400" b="1">
                <a:solidFill>
                  <a:srgbClr val="3333CC"/>
                </a:solidFill>
                <a:latin typeface="Times New Roman" panose="02020603050405020304" pitchFamily="18" charset="0"/>
              </a:rPr>
              <a:t>0.7</a:t>
            </a:r>
            <a:r>
              <a:rPr lang="en-US" altLang="zh-CN" sz="1000" b="1">
                <a:solidFill>
                  <a:srgbClr val="3333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，此时发射结正偏，集电结也正偏。</a:t>
            </a:r>
          </a:p>
        </p:txBody>
      </p:sp>
      <p:pic>
        <p:nvPicPr>
          <p:cNvPr id="655366" name="图片 6553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743200"/>
            <a:ext cx="4953000" cy="35401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55367" name="圆角矩形标注 655366"/>
          <p:cNvSpPr/>
          <p:nvPr/>
        </p:nvSpPr>
        <p:spPr>
          <a:xfrm>
            <a:off x="2951163" y="3070012"/>
            <a:ext cx="1206500" cy="511603"/>
          </a:xfrm>
          <a:prstGeom prst="wedgeRoundRectCallout">
            <a:avLst>
              <a:gd name="adj1" fmla="val 82552"/>
              <a:gd name="adj2" fmla="val 217339"/>
              <a:gd name="adj3" fmla="val 16667"/>
            </a:avLst>
          </a:prstGeom>
          <a:solidFill>
            <a:srgbClr val="FFFF00"/>
          </a:solidFill>
          <a:ln w="38100" cap="flat" cmpd="sng">
            <a:solidFill>
              <a:srgbClr val="99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长城楷体" pitchFamily="49" charset="-122"/>
              </a:rPr>
              <a:t>饱和区</a:t>
            </a:r>
            <a:endParaRPr lang="zh-CN" altLang="en-US" sz="3200" b="1" dirty="0"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655370" name="矩形 655369"/>
          <p:cNvSpPr/>
          <p:nvPr/>
        </p:nvSpPr>
        <p:spPr>
          <a:xfrm>
            <a:off x="1016635" y="278765"/>
            <a:ext cx="5303838" cy="4762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输出特性曲线可以分为三个区域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pic>
        <p:nvPicPr>
          <p:cNvPr id="655371" name="图片 6553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88" y="368300"/>
            <a:ext cx="3124200" cy="27019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86080" y="3563620"/>
            <a:ext cx="3130550" cy="231203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no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开关工作特性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：饱和区三极管</a:t>
            </a:r>
            <a:r>
              <a:rPr lang="en-US" altLang="zh-CN" sz="2400" b="1" i="1" err="1">
                <a:solidFill>
                  <a:srgbClr val="3333CC"/>
                </a:solidFill>
                <a:sym typeface="+mn-ea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sym typeface="+mn-ea"/>
              </a:rPr>
              <a:t>CE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非常小，接近于零，这意味着三极管几乎完全导通，相当于三极管开关特性的“开”特性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5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5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2" grpId="0"/>
      <p:bldP spid="655367" grpId="0" bldLvl="0" animBg="1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文本框 654337"/>
          <p:cNvSpPr txBox="1"/>
          <p:nvPr/>
        </p:nvSpPr>
        <p:spPr>
          <a:xfrm>
            <a:off x="624205" y="914400"/>
            <a:ext cx="8519795" cy="89154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饱和区</a:t>
            </a:r>
            <a:r>
              <a:rPr lang="en-US" altLang="zh-CN" sz="2400" b="1">
                <a:solidFill>
                  <a:srgbClr val="3333CC"/>
                </a:solidFill>
                <a:latin typeface="Times New Roman" panose="02020603050405020304" pitchFamily="18" charset="0"/>
              </a:rPr>
              <a:t>——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1">
                <a:solidFill>
                  <a:srgbClr val="3333CC"/>
                </a:solidFill>
                <a:latin typeface="Times New Roman" panose="02020603050405020304" pitchFamily="18" charset="0"/>
              </a:rPr>
              <a:t>受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</a:rPr>
              <a:t>CE</a:t>
            </a:r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显著控制，该区域内输出电压</a:t>
            </a:r>
            <a:r>
              <a:rPr lang="en-US" altLang="zh-CN" sz="2400" b="1" i="1" err="1">
                <a:solidFill>
                  <a:srgbClr val="3333CC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err="1">
                <a:solidFill>
                  <a:srgbClr val="3333CC"/>
                </a:solidFill>
                <a:latin typeface="Times New Roman" panose="02020603050405020304" pitchFamily="18" charset="0"/>
              </a:rPr>
              <a:t>CE</a:t>
            </a:r>
            <a:r>
              <a:rPr lang="zh-CN" altLang="en-US" sz="2400" b="1">
                <a:solidFill>
                  <a:srgbClr val="3333CC"/>
                </a:solidFill>
                <a:latin typeface="Times New Roman" panose="02020603050405020304" pitchFamily="18" charset="0"/>
              </a:rPr>
              <a:t>非常小。 </a:t>
            </a:r>
          </a:p>
          <a:p>
            <a:pPr eaLnBrk="0" hangingPunct="0"/>
            <a:r>
              <a:rPr lang="zh-CN" altLang="en-US" sz="2400" b="1" dirty="0">
                <a:solidFill>
                  <a:srgbClr val="3333CC"/>
                </a:solidFill>
                <a:latin typeface="Times New Roman" panose="02020603050405020304" pitchFamily="18" charset="0"/>
              </a:rPr>
              <a:t>                      此时发射结正偏，集电结也正偏。</a:t>
            </a:r>
          </a:p>
        </p:txBody>
      </p:sp>
      <p:sp>
        <p:nvSpPr>
          <p:cNvPr id="654339" name="文本框 654338"/>
          <p:cNvSpPr txBox="1"/>
          <p:nvPr/>
        </p:nvSpPr>
        <p:spPr>
          <a:xfrm>
            <a:off x="624205" y="1828800"/>
            <a:ext cx="7940675" cy="12493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截止区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</a:rPr>
              <a:t>——</a:t>
            </a:r>
            <a:r>
              <a:rPr lang="en-US" altLang="zh-CN" sz="2400" b="1" i="1" err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err="1">
                <a:solidFill>
                  <a:srgbClr val="660033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接近零的区域，相当</a:t>
            </a:r>
            <a:r>
              <a:rPr lang="en-US" altLang="zh-CN" sz="2400" b="1" i="1">
                <a:solidFill>
                  <a:srgbClr val="66003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660033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=0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的曲线的下方。</a:t>
            </a:r>
          </a:p>
          <a:p>
            <a:pPr eaLnBrk="0" hangingPunct="0"/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                     此时，发射结反偏，集电结反偏。</a:t>
            </a:r>
          </a:p>
          <a:p>
            <a:endParaRPr lang="zh-CN" altLang="en-US" sz="2400" b="1" dirty="0">
              <a:solidFill>
                <a:srgbClr val="6600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4340" name="文本框 654339"/>
          <p:cNvSpPr txBox="1"/>
          <p:nvPr/>
        </p:nvSpPr>
        <p:spPr>
          <a:xfrm>
            <a:off x="701040" y="3048000"/>
            <a:ext cx="2971800" cy="23447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放大区</a:t>
            </a:r>
            <a:r>
              <a:rPr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——</a:t>
            </a:r>
          </a:p>
          <a:p>
            <a:pPr eaLnBrk="0" hangingPunct="0"/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曲线基本平行等</a:t>
            </a:r>
          </a:p>
          <a:p>
            <a:pPr eaLnBrk="0" hangingPunct="0"/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距。 此时，发</a:t>
            </a:r>
          </a:p>
          <a:p>
            <a:pPr eaLnBrk="0" hangingPunct="0"/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射结正偏，集电</a:t>
            </a:r>
          </a:p>
          <a:p>
            <a:pPr eaLnBrk="0" hangingPunct="0"/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结反偏。</a:t>
            </a:r>
          </a:p>
          <a:p>
            <a:pPr eaLnBrk="0" hangingPunct="0"/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该区中有：</a:t>
            </a:r>
          </a:p>
        </p:txBody>
      </p:sp>
      <p:graphicFrame>
        <p:nvGraphicFramePr>
          <p:cNvPr id="654341" name="对象 654340"/>
          <p:cNvGraphicFramePr/>
          <p:nvPr/>
        </p:nvGraphicFramePr>
        <p:xfrm>
          <a:off x="1531938" y="5562600"/>
          <a:ext cx="15843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r:id="rId3" imgW="735965" imgH="254000" progId="Equation.3">
                  <p:embed/>
                </p:oleObj>
              </mc:Choice>
              <mc:Fallback>
                <p:oleObj r:id="rId3" imgW="735965" imgH="2540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1938" y="5562600"/>
                        <a:ext cx="1584325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54342" name="图片 6543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2743200"/>
            <a:ext cx="4953000" cy="35401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54343" name="圆角矩形标注 654342"/>
          <p:cNvSpPr/>
          <p:nvPr/>
        </p:nvSpPr>
        <p:spPr>
          <a:xfrm>
            <a:off x="2819400" y="2743200"/>
            <a:ext cx="1206500" cy="527050"/>
          </a:xfrm>
          <a:prstGeom prst="wedgeRoundRectCallout">
            <a:avLst>
              <a:gd name="adj1" fmla="val 100130"/>
              <a:gd name="adj2" fmla="val 240662"/>
              <a:gd name="adj3" fmla="val 16667"/>
            </a:avLst>
          </a:prstGeom>
          <a:solidFill>
            <a:srgbClr val="FFFF00"/>
          </a:solidFill>
          <a:ln w="38100" cap="flat" cmpd="sng">
            <a:solidFill>
              <a:srgbClr val="99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长城楷体" pitchFamily="49" charset="-122"/>
              </a:rPr>
              <a:t>饱和区</a:t>
            </a:r>
            <a:endParaRPr lang="zh-CN" altLang="en-US" sz="3200" b="1" dirty="0"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654344" name="圆角矩形标注 654343"/>
          <p:cNvSpPr/>
          <p:nvPr/>
        </p:nvSpPr>
        <p:spPr>
          <a:xfrm>
            <a:off x="6096000" y="2819400"/>
            <a:ext cx="1206500" cy="527050"/>
          </a:xfrm>
          <a:prstGeom prst="wedgeRoundRectCallout">
            <a:avLst>
              <a:gd name="adj1" fmla="val -90394"/>
              <a:gd name="adj2" fmla="val 233435"/>
              <a:gd name="adj3" fmla="val 16667"/>
            </a:avLst>
          </a:prstGeom>
          <a:solidFill>
            <a:srgbClr val="CCFFFF"/>
          </a:solidFill>
          <a:ln w="38100" cap="flat" cmpd="sng">
            <a:solidFill>
              <a:srgbClr val="99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长城楷体" pitchFamily="49" charset="-122"/>
              </a:rPr>
              <a:t>放大区</a:t>
            </a:r>
            <a:endParaRPr lang="zh-CN" altLang="en-US" sz="3200" b="1" dirty="0"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654345" name="圆角矩形标注 654344"/>
          <p:cNvSpPr/>
          <p:nvPr/>
        </p:nvSpPr>
        <p:spPr>
          <a:xfrm>
            <a:off x="4572000" y="6172200"/>
            <a:ext cx="1206500" cy="527050"/>
          </a:xfrm>
          <a:prstGeom prst="wedgeRoundRectCallout">
            <a:avLst>
              <a:gd name="adj1" fmla="val 100130"/>
              <a:gd name="adj2" fmla="val -85843"/>
              <a:gd name="adj3" fmla="val 16667"/>
            </a:avLst>
          </a:prstGeom>
          <a:solidFill>
            <a:srgbClr val="FF99FF"/>
          </a:solidFill>
          <a:ln w="38100" cap="flat" cmpd="sng">
            <a:solidFill>
              <a:srgbClr val="99CC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长城楷体" pitchFamily="49" charset="-122"/>
              </a:rPr>
              <a:t>截止区</a:t>
            </a:r>
            <a:endParaRPr lang="zh-CN" altLang="en-US" sz="3200" b="1" dirty="0"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654346" name="矩形 654345"/>
          <p:cNvSpPr/>
          <p:nvPr/>
        </p:nvSpPr>
        <p:spPr>
          <a:xfrm>
            <a:off x="1371600" y="381000"/>
            <a:ext cx="5303838" cy="4762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输出特性曲线可以分为三个区域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5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65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5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5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38" grpId="0"/>
      <p:bldP spid="654339" grpId="0"/>
      <p:bldP spid="654340" grpId="0"/>
      <p:bldP spid="654343" grpId="0" animBg="1"/>
      <p:bldP spid="654344" grpId="0" animBg="1"/>
      <p:bldP spid="65434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7" name="文本占位符 533506"/>
          <p:cNvSpPr>
            <a:spLocks noGrp="1"/>
          </p:cNvSpPr>
          <p:nvPr>
            <p:ph type="body" idx="4294967295"/>
          </p:nvPr>
        </p:nvSpPr>
        <p:spPr>
          <a:xfrm>
            <a:off x="566103" y="638175"/>
            <a:ext cx="2457450" cy="430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电流放大系数</a:t>
            </a:r>
          </a:p>
        </p:txBody>
      </p:sp>
      <p:sp>
        <p:nvSpPr>
          <p:cNvPr id="533508" name="矩形 533507"/>
          <p:cNvSpPr/>
          <p:nvPr/>
        </p:nvSpPr>
        <p:spPr>
          <a:xfrm>
            <a:off x="0" y="5049838"/>
            <a:ext cx="4267200" cy="5397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 b="1" dirty="0">
                <a:solidFill>
                  <a:srgbClr val="3333CC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3333CC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3333CC"/>
                </a:solidFill>
                <a:latin typeface="宋体" panose="02010600030101010101" pitchFamily="2" charset="-122"/>
              </a:rPr>
              <a:t>）共基极电流放大系数：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b="1" dirty="0">
                <a:solidFill>
                  <a:srgbClr val="009900"/>
                </a:solidFill>
                <a:latin typeface="宋体" panose="02010600030101010101" pitchFamily="2" charset="-122"/>
              </a:rPr>
              <a:t>   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533509" name="对象 533508"/>
          <p:cNvGraphicFramePr/>
          <p:nvPr/>
        </p:nvGraphicFramePr>
        <p:xfrm>
          <a:off x="838200" y="1981200"/>
          <a:ext cx="9906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r:id="rId3" imgW="495300" imgH="444500" progId="Equation.3">
                  <p:embed/>
                </p:oleObj>
              </mc:Choice>
              <mc:Fallback>
                <p:oleObj r:id="rId3" imgW="495300" imgH="4445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1981200"/>
                        <a:ext cx="990600" cy="817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10" name="对象 533509"/>
          <p:cNvGraphicFramePr/>
          <p:nvPr/>
        </p:nvGraphicFramePr>
        <p:xfrm>
          <a:off x="2057400" y="1981200"/>
          <a:ext cx="10668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r:id="rId5" imgW="546100" imgH="444500" progId="Equation.3">
                  <p:embed/>
                </p:oleObj>
              </mc:Choice>
              <mc:Fallback>
                <p:oleObj r:id="rId5" imgW="546100" imgH="4445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7400" y="1981200"/>
                        <a:ext cx="1066800" cy="817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11" name="对象 533510"/>
          <p:cNvGraphicFramePr/>
          <p:nvPr/>
        </p:nvGraphicFramePr>
        <p:xfrm>
          <a:off x="881063" y="5634038"/>
          <a:ext cx="1295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" r:id="rId7" imgW="584200" imgH="444500" progId="Equation.3">
                  <p:embed/>
                </p:oleObj>
              </mc:Choice>
              <mc:Fallback>
                <p:oleObj r:id="rId7" imgW="584200" imgH="4445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1063" y="5634038"/>
                        <a:ext cx="12954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12" name="对象 533511"/>
          <p:cNvGraphicFramePr/>
          <p:nvPr/>
        </p:nvGraphicFramePr>
        <p:xfrm>
          <a:off x="2457450" y="5634038"/>
          <a:ext cx="143986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6" r:id="rId9" imgW="635000" imgH="444500" progId="Equation.3">
                  <p:embed/>
                </p:oleObj>
              </mc:Choice>
              <mc:Fallback>
                <p:oleObj r:id="rId9" imgW="635000" imgH="4445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57450" y="5634038"/>
                        <a:ext cx="1439863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3513" name="组合 533512"/>
          <p:cNvGrpSpPr/>
          <p:nvPr/>
        </p:nvGrpSpPr>
        <p:grpSpPr>
          <a:xfrm>
            <a:off x="3794125" y="1154113"/>
            <a:ext cx="5283200" cy="3057525"/>
            <a:chOff x="2389" y="727"/>
            <a:chExt cx="3199" cy="1917"/>
          </a:xfrm>
        </p:grpSpPr>
        <p:sp>
          <p:nvSpPr>
            <p:cNvPr id="533514" name="直接连接符 533513"/>
            <p:cNvSpPr/>
            <p:nvPr/>
          </p:nvSpPr>
          <p:spPr>
            <a:xfrm flipH="1">
              <a:off x="4949" y="2525"/>
              <a:ext cx="68" cy="1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15" name="直接连接符 533514"/>
            <p:cNvSpPr/>
            <p:nvPr/>
          </p:nvSpPr>
          <p:spPr>
            <a:xfrm>
              <a:off x="4949" y="2514"/>
              <a:ext cx="68" cy="1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16" name="直接连接符 533515"/>
            <p:cNvSpPr/>
            <p:nvPr/>
          </p:nvSpPr>
          <p:spPr>
            <a:xfrm flipV="1">
              <a:off x="4949" y="2514"/>
              <a:ext cx="1" cy="22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17" name="直接连接符 533516"/>
            <p:cNvSpPr/>
            <p:nvPr/>
          </p:nvSpPr>
          <p:spPr>
            <a:xfrm>
              <a:off x="4949" y="2514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18" name="直接连接符 533517"/>
            <p:cNvSpPr/>
            <p:nvPr/>
          </p:nvSpPr>
          <p:spPr>
            <a:xfrm>
              <a:off x="5017" y="2525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19" name="直接连接符 533518"/>
            <p:cNvSpPr/>
            <p:nvPr/>
          </p:nvSpPr>
          <p:spPr>
            <a:xfrm>
              <a:off x="4949" y="2525"/>
              <a:ext cx="68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0" name="直接连接符 533519"/>
            <p:cNvSpPr/>
            <p:nvPr/>
          </p:nvSpPr>
          <p:spPr>
            <a:xfrm>
              <a:off x="4949" y="2536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1" name="直接连接符 533520"/>
            <p:cNvSpPr/>
            <p:nvPr/>
          </p:nvSpPr>
          <p:spPr>
            <a:xfrm>
              <a:off x="4836" y="2525"/>
              <a:ext cx="113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2" name="直接连接符 533521"/>
            <p:cNvSpPr/>
            <p:nvPr/>
          </p:nvSpPr>
          <p:spPr>
            <a:xfrm flipH="1">
              <a:off x="2779" y="749"/>
              <a:ext cx="11" cy="66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3" name="直接连接符 533522"/>
            <p:cNvSpPr/>
            <p:nvPr/>
          </p:nvSpPr>
          <p:spPr>
            <a:xfrm flipH="1" flipV="1">
              <a:off x="2790" y="749"/>
              <a:ext cx="11" cy="66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4" name="直接连接符 533523"/>
            <p:cNvSpPr/>
            <p:nvPr/>
          </p:nvSpPr>
          <p:spPr>
            <a:xfrm>
              <a:off x="2779" y="815"/>
              <a:ext cx="22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5" name="直接连接符 533524"/>
            <p:cNvSpPr/>
            <p:nvPr/>
          </p:nvSpPr>
          <p:spPr>
            <a:xfrm>
              <a:off x="2801" y="815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6" name="直接连接符 533525"/>
            <p:cNvSpPr/>
            <p:nvPr/>
          </p:nvSpPr>
          <p:spPr>
            <a:xfrm>
              <a:off x="2790" y="749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7" name="直接连接符 533526"/>
            <p:cNvSpPr/>
            <p:nvPr/>
          </p:nvSpPr>
          <p:spPr>
            <a:xfrm flipV="1">
              <a:off x="2790" y="749"/>
              <a:ext cx="1" cy="66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8" name="直接连接符 533527"/>
            <p:cNvSpPr/>
            <p:nvPr/>
          </p:nvSpPr>
          <p:spPr>
            <a:xfrm>
              <a:off x="2779" y="815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29" name="直接连接符 533528"/>
            <p:cNvSpPr/>
            <p:nvPr/>
          </p:nvSpPr>
          <p:spPr>
            <a:xfrm flipV="1">
              <a:off x="2790" y="815"/>
              <a:ext cx="1" cy="109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30" name="任意多边形 533529"/>
            <p:cNvSpPr/>
            <p:nvPr/>
          </p:nvSpPr>
          <p:spPr>
            <a:xfrm>
              <a:off x="2899" y="1324"/>
              <a:ext cx="157" cy="154"/>
            </a:xfrm>
            <a:custGeom>
              <a:avLst/>
              <a:gdLst>
                <a:gd name="txL" fmla="*/ 0 w 20642"/>
                <a:gd name="txT" fmla="*/ 0 h 20895"/>
                <a:gd name="txR" fmla="*/ 20642 w 20642"/>
                <a:gd name="txB" fmla="*/ 20895 h 20895"/>
              </a:gdLst>
              <a:ahLst/>
              <a:cxnLst>
                <a:cxn ang="180">
                  <a:pos x="0" y="14533"/>
                </a:cxn>
                <a:cxn ang="270">
                  <a:pos x="15166" y="0"/>
                </a:cxn>
                <a:cxn ang="90">
                  <a:pos x="20642" y="20895"/>
                </a:cxn>
              </a:cxnLst>
              <a:rect l="txL" t="txT" r="txR" b="txB"/>
              <a:pathLst>
                <a:path w="20642" h="20895" fill="none">
                  <a:moveTo>
                    <a:pt x="0" y="14533"/>
                  </a:moveTo>
                  <a:arcTo wR="21600" hR="21600" stAng="-9772221" swAng="3491099"/>
                </a:path>
                <a:path w="20642" h="20895" stroke="0">
                  <a:moveTo>
                    <a:pt x="0" y="14533"/>
                  </a:moveTo>
                  <a:arcTo wR="21600" hR="21600" stAng="-9772221" swAng="3491099"/>
                  <a:lnTo>
                    <a:pt x="20642" y="20895"/>
                  </a:lnTo>
                  <a:close/>
                </a:path>
              </a:pathLst>
            </a:custGeom>
            <a:noFill/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531" name="任意多边形 533530"/>
            <p:cNvSpPr/>
            <p:nvPr/>
          </p:nvSpPr>
          <p:spPr>
            <a:xfrm>
              <a:off x="2926" y="1072"/>
              <a:ext cx="164" cy="154"/>
            </a:xfrm>
            <a:custGeom>
              <a:avLst/>
              <a:gdLst>
                <a:gd name="txL" fmla="*/ 0 w 21585"/>
                <a:gd name="txT" fmla="*/ 0 h 20895"/>
                <a:gd name="txR" fmla="*/ 21585 w 21585"/>
                <a:gd name="txB" fmla="*/ 20895 h 20895"/>
              </a:gdLst>
              <a:ahLst/>
              <a:cxnLst>
                <a:cxn ang="180">
                  <a:pos x="0" y="20080"/>
                </a:cxn>
                <a:cxn ang="270">
                  <a:pos x="16109" y="0"/>
                </a:cxn>
                <a:cxn ang="0">
                  <a:pos x="21585" y="20895"/>
                </a:cxn>
              </a:cxnLst>
              <a:rect l="txL" t="txT" r="txR" b="txB"/>
              <a:pathLst>
                <a:path w="21585" h="20895" fill="none">
                  <a:moveTo>
                    <a:pt x="0" y="20080"/>
                  </a:moveTo>
                  <a:arcTo wR="21600" hR="21600" stAng="-10670260" swAng="4389138"/>
                </a:path>
                <a:path w="21585" h="20895" stroke="0">
                  <a:moveTo>
                    <a:pt x="0" y="20080"/>
                  </a:moveTo>
                  <a:arcTo wR="21600" hR="21600" stAng="-10670260" swAng="4389138"/>
                  <a:lnTo>
                    <a:pt x="21585" y="20895"/>
                  </a:lnTo>
                  <a:close/>
                </a:path>
              </a:pathLst>
            </a:custGeom>
            <a:noFill/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532" name="任意多边形 533531"/>
            <p:cNvSpPr/>
            <p:nvPr/>
          </p:nvSpPr>
          <p:spPr>
            <a:xfrm>
              <a:off x="2887" y="1609"/>
              <a:ext cx="157" cy="154"/>
            </a:xfrm>
            <a:custGeom>
              <a:avLst/>
              <a:gdLst>
                <a:gd name="txL" fmla="*/ 0 w 20642"/>
                <a:gd name="txT" fmla="*/ 0 h 20928"/>
                <a:gd name="txR" fmla="*/ 20642 w 20642"/>
                <a:gd name="txB" fmla="*/ 20928 h 20928"/>
              </a:gdLst>
              <a:ahLst/>
              <a:cxnLst>
                <a:cxn ang="180">
                  <a:pos x="0" y="14566"/>
                </a:cxn>
                <a:cxn ang="270">
                  <a:pos x="15295" y="0"/>
                </a:cxn>
                <a:cxn ang="90">
                  <a:pos x="20642" y="20928"/>
                </a:cxn>
              </a:cxnLst>
              <a:rect l="txL" t="txT" r="txR" b="txB"/>
              <a:pathLst>
                <a:path w="20642" h="20928" fill="none">
                  <a:moveTo>
                    <a:pt x="0" y="14566"/>
                  </a:moveTo>
                  <a:arcTo wR="21600" hR="21600" stAng="-9772221" swAng="3512291"/>
                </a:path>
                <a:path w="20642" h="20928" stroke="0">
                  <a:moveTo>
                    <a:pt x="0" y="14566"/>
                  </a:moveTo>
                  <a:arcTo wR="21600" hR="21600" stAng="-9772221" swAng="3512291"/>
                  <a:lnTo>
                    <a:pt x="20642" y="20928"/>
                  </a:lnTo>
                  <a:close/>
                </a:path>
              </a:pathLst>
            </a:custGeom>
            <a:noFill/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533" name="任意多边形 533532"/>
            <p:cNvSpPr/>
            <p:nvPr/>
          </p:nvSpPr>
          <p:spPr>
            <a:xfrm>
              <a:off x="2852" y="1934"/>
              <a:ext cx="193" cy="191"/>
            </a:xfrm>
            <a:custGeom>
              <a:avLst/>
              <a:gdLst>
                <a:gd name="txL" fmla="*/ 0 w 21143"/>
                <a:gd name="txT" fmla="*/ 0 h 21511"/>
                <a:gd name="txR" fmla="*/ 21143 w 21143"/>
                <a:gd name="txB" fmla="*/ 21511 h 21511"/>
              </a:gdLst>
              <a:ahLst/>
              <a:cxnLst>
                <a:cxn ang="180">
                  <a:pos x="0" y="17091"/>
                </a:cxn>
                <a:cxn ang="270">
                  <a:pos x="19182" y="0"/>
                </a:cxn>
                <a:cxn ang="90">
                  <a:pos x="21143" y="21511"/>
                </a:cxn>
              </a:cxnLst>
              <a:rect l="txL" t="txT" r="txR" b="txB"/>
              <a:pathLst>
                <a:path w="21143" h="21511" fill="none">
                  <a:moveTo>
                    <a:pt x="0" y="17091"/>
                  </a:moveTo>
                  <a:arcTo wR="21600" hR="21600" stAng="-10091533" swAng="4379003"/>
                </a:path>
                <a:path w="21143" h="21511" stroke="0">
                  <a:moveTo>
                    <a:pt x="0" y="17091"/>
                  </a:moveTo>
                  <a:arcTo wR="21600" hR="21600" stAng="-10091533" swAng="4379003"/>
                  <a:lnTo>
                    <a:pt x="21143" y="21511"/>
                  </a:lnTo>
                  <a:close/>
                </a:path>
              </a:pathLst>
            </a:custGeom>
            <a:noFill/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534" name="任意多边形 533533"/>
            <p:cNvSpPr/>
            <p:nvPr/>
          </p:nvSpPr>
          <p:spPr>
            <a:xfrm>
              <a:off x="2805" y="2263"/>
              <a:ext cx="194" cy="191"/>
            </a:xfrm>
            <a:custGeom>
              <a:avLst/>
              <a:gdLst>
                <a:gd name="txL" fmla="*/ 0 w 21136"/>
                <a:gd name="txT" fmla="*/ 0 h 21521"/>
                <a:gd name="txR" fmla="*/ 21136 w 21136"/>
                <a:gd name="txB" fmla="*/ 21521 h 21521"/>
              </a:gdLst>
              <a:ahLst/>
              <a:cxnLst>
                <a:cxn ang="180">
                  <a:pos x="0" y="17067"/>
                </a:cxn>
                <a:cxn ang="270">
                  <a:pos x="19288" y="0"/>
                </a:cxn>
                <a:cxn ang="90">
                  <a:pos x="21136" y="21521"/>
                </a:cxn>
              </a:cxnLst>
              <a:rect l="txL" t="txT" r="txR" b="txB"/>
              <a:pathLst>
                <a:path w="21136" h="21521" fill="none">
                  <a:moveTo>
                    <a:pt x="0" y="17067"/>
                  </a:moveTo>
                  <a:arcTo wR="21600" hR="21600" stAng="-10086008" swAng="4391533"/>
                </a:path>
                <a:path w="21136" h="21521" stroke="0">
                  <a:moveTo>
                    <a:pt x="0" y="17067"/>
                  </a:moveTo>
                  <a:arcTo wR="21600" hR="21600" stAng="-10086008" swAng="4391533"/>
                  <a:lnTo>
                    <a:pt x="21136" y="21521"/>
                  </a:lnTo>
                  <a:close/>
                </a:path>
              </a:pathLst>
            </a:custGeom>
            <a:noFill/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535" name="直接连接符 533534"/>
            <p:cNvSpPr/>
            <p:nvPr/>
          </p:nvSpPr>
          <p:spPr>
            <a:xfrm>
              <a:off x="2666" y="1725"/>
              <a:ext cx="34" cy="4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36" name="直接连接符 533535"/>
            <p:cNvSpPr/>
            <p:nvPr/>
          </p:nvSpPr>
          <p:spPr>
            <a:xfrm flipV="1">
              <a:off x="3909" y="1604"/>
              <a:ext cx="1" cy="7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37" name="直接连接符 533536"/>
            <p:cNvSpPr/>
            <p:nvPr/>
          </p:nvSpPr>
          <p:spPr>
            <a:xfrm>
              <a:off x="3920" y="1769"/>
              <a:ext cx="1" cy="109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38" name="直接连接符 533537"/>
            <p:cNvSpPr/>
            <p:nvPr/>
          </p:nvSpPr>
          <p:spPr>
            <a:xfrm flipV="1">
              <a:off x="3050" y="1023"/>
              <a:ext cx="1560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39" name="直接连接符 533538"/>
            <p:cNvSpPr/>
            <p:nvPr/>
          </p:nvSpPr>
          <p:spPr>
            <a:xfrm>
              <a:off x="2835" y="1900"/>
              <a:ext cx="125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0" name="直接连接符 533539"/>
            <p:cNvSpPr/>
            <p:nvPr/>
          </p:nvSpPr>
          <p:spPr>
            <a:xfrm>
              <a:off x="2847" y="1582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1" name="直接连接符 533540"/>
            <p:cNvSpPr/>
            <p:nvPr/>
          </p:nvSpPr>
          <p:spPr>
            <a:xfrm>
              <a:off x="3853" y="1626"/>
              <a:ext cx="1" cy="12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2" name="直接连接符 533541"/>
            <p:cNvSpPr/>
            <p:nvPr/>
          </p:nvSpPr>
          <p:spPr>
            <a:xfrm>
              <a:off x="3853" y="2021"/>
              <a:ext cx="1" cy="12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3" name="直接连接符 533542"/>
            <p:cNvSpPr/>
            <p:nvPr/>
          </p:nvSpPr>
          <p:spPr>
            <a:xfrm>
              <a:off x="3265" y="1900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4" name="直接连接符 533543"/>
            <p:cNvSpPr/>
            <p:nvPr/>
          </p:nvSpPr>
          <p:spPr>
            <a:xfrm>
              <a:off x="3683" y="1582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5" name="直接连接符 533544"/>
            <p:cNvSpPr/>
            <p:nvPr/>
          </p:nvSpPr>
          <p:spPr>
            <a:xfrm flipH="1">
              <a:off x="3920" y="1725"/>
              <a:ext cx="34" cy="4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6" name="直接连接符 533545"/>
            <p:cNvSpPr/>
            <p:nvPr/>
          </p:nvSpPr>
          <p:spPr>
            <a:xfrm flipV="1">
              <a:off x="2711" y="1604"/>
              <a:ext cx="1" cy="7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7" name="直接连接符 533546"/>
            <p:cNvSpPr/>
            <p:nvPr/>
          </p:nvSpPr>
          <p:spPr>
            <a:xfrm>
              <a:off x="3853" y="1824"/>
              <a:ext cx="1" cy="120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8" name="直接连接符 533547"/>
            <p:cNvSpPr/>
            <p:nvPr/>
          </p:nvSpPr>
          <p:spPr>
            <a:xfrm flipV="1">
              <a:off x="2982" y="1900"/>
              <a:ext cx="1560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49" name="直接连接符 533548"/>
            <p:cNvSpPr/>
            <p:nvPr/>
          </p:nvSpPr>
          <p:spPr>
            <a:xfrm>
              <a:off x="3468" y="1900"/>
              <a:ext cx="125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0" name="直接连接符 533549"/>
            <p:cNvSpPr/>
            <p:nvPr/>
          </p:nvSpPr>
          <p:spPr>
            <a:xfrm>
              <a:off x="3073" y="1582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1" name="直接连接符 533550"/>
            <p:cNvSpPr/>
            <p:nvPr/>
          </p:nvSpPr>
          <p:spPr>
            <a:xfrm>
              <a:off x="2790" y="2525"/>
              <a:ext cx="1933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2" name="直接连接符 533551"/>
            <p:cNvSpPr/>
            <p:nvPr/>
          </p:nvSpPr>
          <p:spPr>
            <a:xfrm flipH="1">
              <a:off x="2892" y="1198"/>
              <a:ext cx="45" cy="46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3" name="直接连接符 533552"/>
            <p:cNvSpPr/>
            <p:nvPr/>
          </p:nvSpPr>
          <p:spPr>
            <a:xfrm>
              <a:off x="3853" y="1209"/>
              <a:ext cx="1" cy="12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4" name="直接连接符 533553"/>
            <p:cNvSpPr/>
            <p:nvPr/>
          </p:nvSpPr>
          <p:spPr>
            <a:xfrm>
              <a:off x="3853" y="1429"/>
              <a:ext cx="1" cy="120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5" name="直接连接符 533554"/>
            <p:cNvSpPr/>
            <p:nvPr/>
          </p:nvSpPr>
          <p:spPr>
            <a:xfrm>
              <a:off x="2700" y="1769"/>
              <a:ext cx="1" cy="109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6" name="直接连接符 533555"/>
            <p:cNvSpPr/>
            <p:nvPr/>
          </p:nvSpPr>
          <p:spPr>
            <a:xfrm>
              <a:off x="2700" y="1878"/>
              <a:ext cx="56" cy="22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7" name="直接连接符 533556"/>
            <p:cNvSpPr/>
            <p:nvPr/>
          </p:nvSpPr>
          <p:spPr>
            <a:xfrm flipH="1">
              <a:off x="2801" y="1670"/>
              <a:ext cx="79" cy="855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8" name="直接连接符 533557"/>
            <p:cNvSpPr/>
            <p:nvPr/>
          </p:nvSpPr>
          <p:spPr>
            <a:xfrm>
              <a:off x="2790" y="804"/>
              <a:ext cx="1" cy="175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59" name="直接连接符 533558"/>
            <p:cNvSpPr/>
            <p:nvPr/>
          </p:nvSpPr>
          <p:spPr>
            <a:xfrm flipV="1">
              <a:off x="2790" y="2493"/>
              <a:ext cx="1741" cy="32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0" name="直接连接符 533559"/>
            <p:cNvSpPr/>
            <p:nvPr/>
          </p:nvSpPr>
          <p:spPr>
            <a:xfrm flipH="1" flipV="1">
              <a:off x="3853" y="1582"/>
              <a:ext cx="56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1" name="直接连接符 533560"/>
            <p:cNvSpPr/>
            <p:nvPr/>
          </p:nvSpPr>
          <p:spPr>
            <a:xfrm flipH="1">
              <a:off x="2971" y="1330"/>
              <a:ext cx="11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2" name="直接连接符 533561"/>
            <p:cNvSpPr/>
            <p:nvPr/>
          </p:nvSpPr>
          <p:spPr>
            <a:xfrm>
              <a:off x="3672" y="1900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3" name="直接连接符 533562"/>
            <p:cNvSpPr/>
            <p:nvPr/>
          </p:nvSpPr>
          <p:spPr>
            <a:xfrm flipV="1">
              <a:off x="2677" y="1681"/>
              <a:ext cx="34" cy="4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4" name="直接连接符 533563"/>
            <p:cNvSpPr/>
            <p:nvPr/>
          </p:nvSpPr>
          <p:spPr>
            <a:xfrm>
              <a:off x="3864" y="2394"/>
              <a:ext cx="1" cy="120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5" name="直接连接符 533564"/>
            <p:cNvSpPr/>
            <p:nvPr/>
          </p:nvSpPr>
          <p:spPr>
            <a:xfrm>
              <a:off x="3480" y="1582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6" name="直接连接符 533565"/>
            <p:cNvSpPr/>
            <p:nvPr/>
          </p:nvSpPr>
          <p:spPr>
            <a:xfrm flipH="1" flipV="1">
              <a:off x="3909" y="1681"/>
              <a:ext cx="34" cy="4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7" name="直接连接符 533566"/>
            <p:cNvSpPr/>
            <p:nvPr/>
          </p:nvSpPr>
          <p:spPr>
            <a:xfrm flipV="1">
              <a:off x="2982" y="1297"/>
              <a:ext cx="1560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8" name="直接连接符 533567"/>
            <p:cNvSpPr/>
            <p:nvPr/>
          </p:nvSpPr>
          <p:spPr>
            <a:xfrm flipH="1">
              <a:off x="3864" y="1878"/>
              <a:ext cx="56" cy="22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69" name="直接连接符 533568"/>
            <p:cNvSpPr/>
            <p:nvPr/>
          </p:nvSpPr>
          <p:spPr>
            <a:xfrm flipV="1">
              <a:off x="2971" y="1582"/>
              <a:ext cx="1560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0" name="直接连接符 533569"/>
            <p:cNvSpPr/>
            <p:nvPr/>
          </p:nvSpPr>
          <p:spPr>
            <a:xfrm>
              <a:off x="3061" y="1900"/>
              <a:ext cx="125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1" name="直接连接符 533570"/>
            <p:cNvSpPr/>
            <p:nvPr/>
          </p:nvSpPr>
          <p:spPr>
            <a:xfrm>
              <a:off x="3864" y="2196"/>
              <a:ext cx="1" cy="12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2" name="直接连接符 533571"/>
            <p:cNvSpPr/>
            <p:nvPr/>
          </p:nvSpPr>
          <p:spPr>
            <a:xfrm>
              <a:off x="3853" y="1012"/>
              <a:ext cx="1" cy="12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3" name="直接连接符 533572"/>
            <p:cNvSpPr/>
            <p:nvPr/>
          </p:nvSpPr>
          <p:spPr>
            <a:xfrm>
              <a:off x="3276" y="1582"/>
              <a:ext cx="124" cy="1"/>
            </a:xfrm>
            <a:prstGeom prst="line">
              <a:avLst/>
            </a:prstGeom>
            <a:ln w="1746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4" name="直接连接符 533573"/>
            <p:cNvSpPr/>
            <p:nvPr/>
          </p:nvSpPr>
          <p:spPr>
            <a:xfrm flipV="1">
              <a:off x="2711" y="1582"/>
              <a:ext cx="56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5" name="直接连接符 533574"/>
            <p:cNvSpPr/>
            <p:nvPr/>
          </p:nvSpPr>
          <p:spPr>
            <a:xfrm flipV="1">
              <a:off x="2982" y="2229"/>
              <a:ext cx="1560" cy="33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6" name="直接连接符 533575"/>
            <p:cNvSpPr/>
            <p:nvPr/>
          </p:nvSpPr>
          <p:spPr>
            <a:xfrm flipV="1">
              <a:off x="2790" y="924"/>
              <a:ext cx="1" cy="27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7" name="直接连接符 533576"/>
            <p:cNvSpPr/>
            <p:nvPr/>
          </p:nvSpPr>
          <p:spPr>
            <a:xfrm>
              <a:off x="2971" y="1330"/>
              <a:ext cx="34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8" name="直接连接符 533577"/>
            <p:cNvSpPr/>
            <p:nvPr/>
          </p:nvSpPr>
          <p:spPr>
            <a:xfrm>
              <a:off x="4011" y="2229"/>
              <a:ext cx="1" cy="1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79" name="直接连接符 533578"/>
            <p:cNvSpPr/>
            <p:nvPr/>
          </p:nvSpPr>
          <p:spPr>
            <a:xfrm>
              <a:off x="4723" y="2525"/>
              <a:ext cx="113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80" name="直接连接符 533579"/>
            <p:cNvSpPr/>
            <p:nvPr/>
          </p:nvSpPr>
          <p:spPr>
            <a:xfrm>
              <a:off x="2994" y="1330"/>
              <a:ext cx="1" cy="1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81" name="直接连接符 533580"/>
            <p:cNvSpPr/>
            <p:nvPr/>
          </p:nvSpPr>
          <p:spPr>
            <a:xfrm>
              <a:off x="3762" y="1911"/>
              <a:ext cx="23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582" name="矩形 533581"/>
            <p:cNvSpPr/>
            <p:nvPr/>
          </p:nvSpPr>
          <p:spPr>
            <a:xfrm>
              <a:off x="2551" y="1615"/>
              <a:ext cx="48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83" name="矩形 533582"/>
            <p:cNvSpPr/>
            <p:nvPr/>
          </p:nvSpPr>
          <p:spPr>
            <a:xfrm>
              <a:off x="5150" y="2514"/>
              <a:ext cx="118" cy="1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CE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84" name="矩形 533583"/>
            <p:cNvSpPr/>
            <p:nvPr/>
          </p:nvSpPr>
          <p:spPr>
            <a:xfrm>
              <a:off x="2389" y="1670"/>
              <a:ext cx="146" cy="1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9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△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33585" name="矩形 533584"/>
            <p:cNvSpPr/>
            <p:nvPr/>
          </p:nvSpPr>
          <p:spPr>
            <a:xfrm>
              <a:off x="4752" y="2120"/>
              <a:ext cx="394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</a:rPr>
                <a:t>=20uA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86" name="矩形 533585"/>
            <p:cNvSpPr/>
            <p:nvPr/>
          </p:nvSpPr>
          <p:spPr>
            <a:xfrm>
              <a:off x="3000" y="760"/>
              <a:ext cx="316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(mA</a:t>
              </a:r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</a:rPr>
                <a:t>)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87" name="矩形 533586"/>
            <p:cNvSpPr/>
            <p:nvPr/>
          </p:nvSpPr>
          <p:spPr>
            <a:xfrm>
              <a:off x="4658" y="1560"/>
              <a:ext cx="62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88" name="矩形 533587"/>
            <p:cNvSpPr/>
            <p:nvPr/>
          </p:nvSpPr>
          <p:spPr>
            <a:xfrm>
              <a:off x="4762" y="1802"/>
              <a:ext cx="394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</a:rPr>
                <a:t>=40uA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89" name="矩形 533588"/>
            <p:cNvSpPr/>
            <p:nvPr/>
          </p:nvSpPr>
          <p:spPr>
            <a:xfrm>
              <a:off x="4616" y="1506"/>
              <a:ext cx="43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90" name="矩形 533589"/>
            <p:cNvSpPr/>
            <p:nvPr/>
          </p:nvSpPr>
          <p:spPr>
            <a:xfrm>
              <a:off x="2601" y="1725"/>
              <a:ext cx="72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91" name="矩形 533590"/>
            <p:cNvSpPr/>
            <p:nvPr/>
          </p:nvSpPr>
          <p:spPr>
            <a:xfrm>
              <a:off x="5091" y="2427"/>
              <a:ext cx="65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92" name="矩形 533591"/>
            <p:cNvSpPr/>
            <p:nvPr/>
          </p:nvSpPr>
          <p:spPr>
            <a:xfrm>
              <a:off x="4709" y="2372"/>
              <a:ext cx="140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=0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93" name="矩形 533592"/>
            <p:cNvSpPr/>
            <p:nvPr/>
          </p:nvSpPr>
          <p:spPr>
            <a:xfrm>
              <a:off x="5351" y="2482"/>
              <a:ext cx="237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</a:rPr>
                <a:t>(V)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94" name="矩形 533593"/>
            <p:cNvSpPr/>
            <p:nvPr/>
          </p:nvSpPr>
          <p:spPr>
            <a:xfrm>
              <a:off x="4774" y="1253"/>
              <a:ext cx="394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</a:rPr>
                <a:t>=80uA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95" name="矩形 533594"/>
            <p:cNvSpPr/>
            <p:nvPr/>
          </p:nvSpPr>
          <p:spPr>
            <a:xfrm>
              <a:off x="4605" y="1780"/>
              <a:ext cx="44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96" name="矩形 533595"/>
            <p:cNvSpPr/>
            <p:nvPr/>
          </p:nvSpPr>
          <p:spPr>
            <a:xfrm>
              <a:off x="4039" y="1648"/>
              <a:ext cx="146" cy="1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9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△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33597" name="矩形 533596"/>
            <p:cNvSpPr/>
            <p:nvPr/>
          </p:nvSpPr>
          <p:spPr>
            <a:xfrm>
              <a:off x="4692" y="1001"/>
              <a:ext cx="61" cy="1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98" name="矩形 533597"/>
            <p:cNvSpPr/>
            <p:nvPr/>
          </p:nvSpPr>
          <p:spPr>
            <a:xfrm>
              <a:off x="4647" y="1835"/>
              <a:ext cx="61" cy="1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599" name="矩形 533598"/>
            <p:cNvSpPr/>
            <p:nvPr/>
          </p:nvSpPr>
          <p:spPr>
            <a:xfrm>
              <a:off x="4647" y="2405"/>
              <a:ext cx="61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00" name="矩形 533599"/>
            <p:cNvSpPr/>
            <p:nvPr/>
          </p:nvSpPr>
          <p:spPr>
            <a:xfrm>
              <a:off x="4605" y="2350"/>
              <a:ext cx="44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01" name="矩形 533600"/>
            <p:cNvSpPr/>
            <p:nvPr/>
          </p:nvSpPr>
          <p:spPr>
            <a:xfrm>
              <a:off x="4229" y="1703"/>
              <a:ext cx="72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02" name="矩形 533601"/>
            <p:cNvSpPr/>
            <p:nvPr/>
          </p:nvSpPr>
          <p:spPr>
            <a:xfrm>
              <a:off x="4202" y="1593"/>
              <a:ext cx="47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03" name="矩形 533602"/>
            <p:cNvSpPr/>
            <p:nvPr/>
          </p:nvSpPr>
          <p:spPr>
            <a:xfrm>
              <a:off x="4616" y="1231"/>
              <a:ext cx="43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04" name="矩形 533603"/>
            <p:cNvSpPr/>
            <p:nvPr/>
          </p:nvSpPr>
          <p:spPr>
            <a:xfrm>
              <a:off x="4658" y="1286"/>
              <a:ext cx="62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05" name="矩形 533604"/>
            <p:cNvSpPr/>
            <p:nvPr/>
          </p:nvSpPr>
          <p:spPr>
            <a:xfrm>
              <a:off x="4650" y="946"/>
              <a:ext cx="43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06" name="矩形 533605"/>
            <p:cNvSpPr/>
            <p:nvPr/>
          </p:nvSpPr>
          <p:spPr>
            <a:xfrm>
              <a:off x="4769" y="968"/>
              <a:ext cx="473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</a:rPr>
                <a:t>=100uA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07" name="矩形 533606"/>
            <p:cNvSpPr/>
            <p:nvPr/>
          </p:nvSpPr>
          <p:spPr>
            <a:xfrm>
              <a:off x="2918" y="804"/>
              <a:ext cx="61" cy="1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08" name="矩形 533607"/>
            <p:cNvSpPr/>
            <p:nvPr/>
          </p:nvSpPr>
          <p:spPr>
            <a:xfrm>
              <a:off x="4635" y="2153"/>
              <a:ext cx="62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09" name="矩形 533608"/>
            <p:cNvSpPr/>
            <p:nvPr/>
          </p:nvSpPr>
          <p:spPr>
            <a:xfrm>
              <a:off x="4594" y="2098"/>
              <a:ext cx="43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10" name="矩形 533609"/>
            <p:cNvSpPr/>
            <p:nvPr/>
          </p:nvSpPr>
          <p:spPr>
            <a:xfrm>
              <a:off x="4786" y="1527"/>
              <a:ext cx="394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</a:rPr>
                <a:t>=60uA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33611" name="矩形 533610"/>
            <p:cNvSpPr/>
            <p:nvPr/>
          </p:nvSpPr>
          <p:spPr>
            <a:xfrm>
              <a:off x="2862" y="727"/>
              <a:ext cx="36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533612" name="文本框 533611"/>
          <p:cNvSpPr txBox="1"/>
          <p:nvPr/>
        </p:nvSpPr>
        <p:spPr>
          <a:xfrm>
            <a:off x="5029200" y="4495800"/>
            <a:ext cx="3503613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l-GR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zh-CN" altLang="en-US" sz="2400" b="1" dirty="0">
                <a:latin typeface="Times New Roman" panose="02020603050405020304" pitchFamily="18" charset="0"/>
              </a:rPr>
              <a:t>一般在  </a:t>
            </a:r>
            <a:r>
              <a:rPr lang="en-US" altLang="zh-CN" sz="2400" b="1" dirty="0">
                <a:latin typeface="Times New Roman" panose="02020603050405020304" pitchFamily="18" charset="0"/>
              </a:rPr>
              <a:t>20 ~ 200 </a:t>
            </a:r>
            <a:r>
              <a:rPr lang="zh-CN" altLang="en-US" sz="2400" b="1" dirty="0">
                <a:latin typeface="Times New Roman" panose="02020603050405020304" pitchFamily="18" charset="0"/>
              </a:rPr>
              <a:t>之间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533613" name="文本框 533612"/>
          <p:cNvSpPr txBox="1"/>
          <p:nvPr/>
        </p:nvSpPr>
        <p:spPr>
          <a:xfrm>
            <a:off x="3886200" y="2286000"/>
            <a:ext cx="838200" cy="366713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1800" b="1">
                <a:latin typeface="Times New Roman" panose="02020603050405020304" pitchFamily="18" charset="0"/>
              </a:rPr>
              <a:t>2.3</a:t>
            </a:r>
          </a:p>
        </p:txBody>
      </p:sp>
      <p:sp>
        <p:nvSpPr>
          <p:cNvPr id="533614" name="文本框 533613"/>
          <p:cNvSpPr txBox="1"/>
          <p:nvPr/>
        </p:nvSpPr>
        <p:spPr>
          <a:xfrm>
            <a:off x="3962400" y="2895600"/>
            <a:ext cx="685800" cy="366713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1800" b="1">
                <a:latin typeface="Times New Roman" panose="02020603050405020304" pitchFamily="18" charset="0"/>
              </a:rPr>
              <a:t>1.5</a:t>
            </a:r>
          </a:p>
        </p:txBody>
      </p:sp>
      <p:graphicFrame>
        <p:nvGraphicFramePr>
          <p:cNvPr id="533615" name="对象 533614"/>
          <p:cNvGraphicFramePr/>
          <p:nvPr/>
        </p:nvGraphicFramePr>
        <p:xfrm>
          <a:off x="701675" y="3068638"/>
          <a:ext cx="27432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7" r:id="rId11" imgW="1370965" imgH="431800" progId="Equation.3">
                  <p:embed/>
                </p:oleObj>
              </mc:Choice>
              <mc:Fallback>
                <p:oleObj r:id="rId11" imgW="1370965" imgH="4318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1675" y="3068638"/>
                        <a:ext cx="2743200" cy="682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616" name="对象 533615"/>
          <p:cNvGraphicFramePr/>
          <p:nvPr/>
        </p:nvGraphicFramePr>
        <p:xfrm>
          <a:off x="611188" y="4103688"/>
          <a:ext cx="3886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8" r:id="rId13" imgW="1840865" imgH="431800" progId="Equation.3">
                  <p:embed/>
                </p:oleObj>
              </mc:Choice>
              <mc:Fallback>
                <p:oleObj r:id="rId13" imgW="1840865" imgH="4318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1188" y="4103688"/>
                        <a:ext cx="38862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617" name="矩形 533616"/>
          <p:cNvSpPr/>
          <p:nvPr/>
        </p:nvSpPr>
        <p:spPr>
          <a:xfrm>
            <a:off x="0" y="1371600"/>
            <a:ext cx="4321175" cy="549275"/>
          </a:xfrm>
          <a:prstGeom prst="rect">
            <a:avLst/>
          </a:prstGeom>
          <a:noFill/>
          <a:ln w="27051">
            <a:noFill/>
          </a:ln>
        </p:spPr>
        <p:txBody>
          <a:bodyPr wrap="none" anchor="t">
            <a:spAutoFit/>
          </a:bodyPr>
          <a:lstStyle/>
          <a:p>
            <a:pPr algn="ctr">
              <a:lnSpc>
                <a:spcPct val="125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rgbClr val="3333CC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3333CC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3333CC"/>
                </a:solidFill>
                <a:latin typeface="宋体" panose="02010600030101010101" pitchFamily="2" charset="-122"/>
              </a:rPr>
              <a:t>）共发射极电流放大系数：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3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3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3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7" grpId="0" build="p"/>
      <p:bldP spid="533508" grpId="0"/>
      <p:bldP spid="533612" grpId="0"/>
      <p:bldP spid="533613" grpId="0"/>
      <p:bldP spid="533614" grpId="0"/>
      <p:bldP spid="5336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4" name="矩形 542723">
            <a:hlinkClick r:id="" action="ppaction://noaction"/>
          </p:cNvPr>
          <p:cNvSpPr/>
          <p:nvPr/>
        </p:nvSpPr>
        <p:spPr>
          <a:xfrm>
            <a:off x="1241425" y="2979738"/>
            <a:ext cx="6750050" cy="60960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en-US" altLang="zh-CN" sz="32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32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三极管放大电路的主要技术指标</a:t>
            </a:r>
            <a:r>
              <a:rPr lang="zh-CN" altLang="en-US" sz="32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320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3" name="矩形 537602"/>
          <p:cNvSpPr/>
          <p:nvPr/>
        </p:nvSpPr>
        <p:spPr>
          <a:xfrm>
            <a:off x="522288" y="503238"/>
            <a:ext cx="5499100" cy="61436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eaLnBrk="0" hangingPunct="0"/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放大倍数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表示放大器的放大能力</a:t>
            </a:r>
            <a:endParaRPr lang="zh-CN" altLang="en-US" sz="24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7604" name="文本占位符 537603"/>
          <p:cNvSpPr>
            <a:spLocks noGrp="1"/>
          </p:cNvSpPr>
          <p:nvPr>
            <p:ph type="body" idx="4294967295"/>
          </p:nvPr>
        </p:nvSpPr>
        <p:spPr>
          <a:xfrm>
            <a:off x="0" y="1066800"/>
            <a:ext cx="883920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457200" indent="-457200" algn="just">
              <a:lnSpc>
                <a:spcPct val="12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</a:rPr>
              <a:t>放大倍数是放大电路核心指标，如电压放大倍数、电流放大倍数，能表明电路将微弱信号增强到所需幅度的能力。</a:t>
            </a:r>
          </a:p>
        </p:txBody>
      </p:sp>
      <p:sp>
        <p:nvSpPr>
          <p:cNvPr id="537605" name="文本框 537604"/>
          <p:cNvSpPr txBox="1"/>
          <p:nvPr/>
        </p:nvSpPr>
        <p:spPr>
          <a:xfrm>
            <a:off x="701040" y="5048885"/>
            <a:ext cx="64008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电压放大倍数</a:t>
            </a:r>
            <a:r>
              <a:rPr lang="zh-CN" altLang="en-US" sz="3200" b="1" dirty="0">
                <a:latin typeface="Times New Roman" panose="02020603050405020304" pitchFamily="18" charset="0"/>
              </a:rPr>
              <a:t>定义为</a:t>
            </a:r>
            <a:r>
              <a:rPr lang="en-US" altLang="zh-CN" sz="3200" b="1">
                <a:latin typeface="Times New Roman" panose="02020603050405020304" pitchFamily="18" charset="0"/>
              </a:rPr>
              <a:t>:        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3200" b="1" err="1">
                <a:solidFill>
                  <a:srgbClr val="0000FF"/>
                </a:solidFill>
                <a:latin typeface="Times New Roman" panose="02020603050405020304" pitchFamily="18" charset="0"/>
              </a:rPr>
              <a:t>/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endParaRPr lang="en-US" altLang="zh-CN" sz="3200" baseline="-25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37609" name="图片 5376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3" y="2079625"/>
            <a:ext cx="5867400" cy="230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11505" y="5768975"/>
            <a:ext cx="64008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电流放大倍数</a:t>
            </a:r>
            <a:r>
              <a:rPr lang="zh-CN" altLang="en-US" sz="3200" b="1" dirty="0">
                <a:latin typeface="Times New Roman" panose="02020603050405020304" pitchFamily="18" charset="0"/>
              </a:rPr>
              <a:t>定义为</a:t>
            </a:r>
            <a:r>
              <a:rPr lang="en-US" altLang="zh-CN" sz="3200" b="1">
                <a:latin typeface="Times New Roman" panose="02020603050405020304" pitchFamily="18" charset="0"/>
              </a:rPr>
              <a:t>:        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3200" b="1" err="1">
                <a:solidFill>
                  <a:srgbClr val="0000FF"/>
                </a:solidFill>
                <a:latin typeface="Times New Roman" panose="02020603050405020304" pitchFamily="18" charset="0"/>
              </a:rPr>
              <a:t>/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endParaRPr lang="en-US" altLang="zh-CN" sz="3200" baseline="-25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37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04" grpId="0" build="p"/>
      <p:bldP spid="537605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文本框 538625"/>
          <p:cNvSpPr txBox="1"/>
          <p:nvPr/>
        </p:nvSpPr>
        <p:spPr>
          <a:xfrm>
            <a:off x="114300" y="188595"/>
            <a:ext cx="8839200" cy="4572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输入电阻</a:t>
            </a:r>
            <a:r>
              <a:rPr lang="en-US" altLang="zh-CN" sz="2400" b="1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：从放大电路输入端看进去的等效电阻</a:t>
            </a:r>
            <a:endParaRPr lang="zh-CN" altLang="en-US" sz="24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8627" name="文本框 538626"/>
          <p:cNvSpPr txBox="1"/>
          <p:nvPr/>
        </p:nvSpPr>
        <p:spPr>
          <a:xfrm>
            <a:off x="3221355" y="3926840"/>
            <a:ext cx="1652588" cy="528638"/>
          </a:xfrm>
          <a:prstGeom prst="rect">
            <a:avLst/>
          </a:prstGeom>
          <a:noFill/>
          <a:ln w="9525" cap="flat" cmpd="sng">
            <a:solidFill>
              <a:srgbClr val="00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 / </a:t>
            </a:r>
            <a:r>
              <a:rPr lang="en-US" altLang="zh-CN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lang="en-US" altLang="zh-CN" sz="3200" b="1" baseline="-2500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8628" name="文本框 538627"/>
          <p:cNvSpPr txBox="1"/>
          <p:nvPr/>
        </p:nvSpPr>
        <p:spPr>
          <a:xfrm>
            <a:off x="476250" y="4553585"/>
            <a:ext cx="8458200" cy="2245360"/>
          </a:xfrm>
          <a:prstGeom prst="rect">
            <a:avLst/>
          </a:prstGeom>
          <a:noFill/>
          <a:ln w="9525" cap="flat" cmpd="sng">
            <a:solidFill>
              <a:srgbClr val="66FF66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一般来说， </a:t>
            </a:r>
            <a:r>
              <a:rPr lang="en-US" altLang="zh-CN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越大越好。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越大，</a:t>
            </a:r>
            <a:r>
              <a:rPr lang="en-US" altLang="zh-CN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1" i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就越小，从信号源索取的电流越小，减轻信号源负担；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）当信号源有内阻时， </a:t>
            </a:r>
            <a:r>
              <a:rPr lang="en-US" altLang="zh-CN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越大， </a:t>
            </a:r>
            <a:r>
              <a:rPr lang="en-US" altLang="zh-CN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就越接近</a:t>
            </a:r>
            <a:r>
              <a:rPr lang="en-US" altLang="zh-CN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pic>
        <p:nvPicPr>
          <p:cNvPr id="538629" name="图片 5386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01750"/>
            <a:ext cx="6858000" cy="2692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8630" name="图片 5386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25" y="1854200"/>
            <a:ext cx="1812925" cy="2166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7604" name="文本占位符 537603"/>
          <p:cNvSpPr>
            <a:spLocks noGrp="1"/>
          </p:cNvSpPr>
          <p:nvPr/>
        </p:nvSpPr>
        <p:spPr>
          <a:xfrm>
            <a:off x="95250" y="593725"/>
            <a:ext cx="883920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2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</a:rPr>
              <a:t>输入电阻反映了放大电路对信号源的影响，与信号源内阻共同决定信号的传输效率。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37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386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38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538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538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7" grpId="0" bldLvl="0" animBg="1"/>
      <p:bldP spid="538628" grpId="0" build="p" animBg="1"/>
      <p:bldP spid="53760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650" name="图片 5396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838200"/>
            <a:ext cx="6553200" cy="2611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9651" name="图片 5396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343025"/>
            <a:ext cx="1890713" cy="2133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9652" name="文本框 539651"/>
          <p:cNvSpPr txBox="1"/>
          <p:nvPr/>
        </p:nvSpPr>
        <p:spPr>
          <a:xfrm>
            <a:off x="457200" y="5105400"/>
            <a:ext cx="8153400" cy="11684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</a:rPr>
              <a:t>输出电阻是表明放大电路带负载能力的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b="1" i="1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越小，放大电路带负载的能力越强，反之则差。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539653" name="对象 539652"/>
          <p:cNvGraphicFramePr/>
          <p:nvPr/>
        </p:nvGraphicFramePr>
        <p:xfrm>
          <a:off x="4168775" y="3856038"/>
          <a:ext cx="3367088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r:id="rId5" imgW="1167765" imgH="431800" progId="Equation.3">
                  <p:embed/>
                </p:oleObj>
              </mc:Choice>
              <mc:Fallback>
                <p:oleObj r:id="rId5" imgW="1167765" imgH="4318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68775" y="3856038"/>
                        <a:ext cx="3367088" cy="1230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54" name="矩形 539653"/>
          <p:cNvSpPr/>
          <p:nvPr/>
        </p:nvSpPr>
        <p:spPr>
          <a:xfrm>
            <a:off x="685800" y="3962400"/>
            <a:ext cx="3429000" cy="6143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eaLnBrk="0" hangingPunct="0"/>
            <a:r>
              <a:rPr lang="en-US" altLang="zh-CN" sz="2400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b="1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输出电阻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的定义：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539655" name="矩形 539654"/>
          <p:cNvSpPr/>
          <p:nvPr/>
        </p:nvSpPr>
        <p:spPr>
          <a:xfrm>
            <a:off x="206375" y="188913"/>
            <a:ext cx="8763000" cy="630237"/>
          </a:xfrm>
          <a:prstGeom prst="rect">
            <a:avLst/>
          </a:prstGeom>
          <a:noFill/>
          <a:ln w="12700">
            <a:noFill/>
          </a:ln>
        </p:spPr>
        <p:txBody>
          <a:bodyPr anchor="ctr"/>
          <a:lstStyle/>
          <a:p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输出电阻</a:t>
            </a:r>
            <a:r>
              <a:rPr lang="en-US" altLang="zh-CN" sz="2400" b="1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从放大电路输出端看进去的等效电阻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3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9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9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" dur="500"/>
                                        <p:tgtEl>
                                          <p:spTgt spid="53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2" grpId="0"/>
      <p:bldP spid="53965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533400" y="254000"/>
            <a:ext cx="7391400" cy="685800"/>
          </a:xfrm>
          <a:solidFill>
            <a:schemeClr val="bg1"/>
          </a:solidFill>
        </p:spPr>
        <p:txBody>
          <a:bodyPr vert="horz" wrap="square" lIns="91440" tIns="45720" rIns="91440" bIns="45720" anchor="ctr" anchorCtr="0"/>
          <a:lstStyle/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三极管的主要作用</a:t>
            </a: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533400" y="1066800"/>
            <a:ext cx="4724400" cy="1600200"/>
          </a:xfrm>
        </p:spPr>
        <p:txBody>
          <a:bodyPr vert="horz" wrap="square" lIns="91440" tIns="45720" rIns="91440" bIns="45720" anchor="t" anchorCtr="0"/>
          <a:lstStyle/>
          <a:p>
            <a:pPr marL="457200" indent="-457200" eaLnBrk="1" hangingPunct="1">
              <a:lnSpc>
                <a:spcPct val="120000"/>
              </a:lnSpc>
              <a:buNone/>
            </a:pPr>
            <a:endParaRPr lang="en-US" altLang="zh-CN" sz="2800" b="1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5000"/>
              </a:spcBef>
              <a:buNone/>
            </a:pPr>
            <a:r>
              <a:rPr lang="zh-CN" altLang="en-US" sz="2400" b="1" dirty="0">
                <a:solidFill>
                  <a:srgbClr val="A5002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三极管工作在放大区：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5000"/>
              </a:spcBef>
              <a:buNone/>
            </a:pPr>
            <a:r>
              <a:rPr lang="zh-CN" altLang="en-US" sz="2400" b="1" dirty="0">
                <a:solidFill>
                  <a:srgbClr val="A5002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发射结正偏，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5000"/>
              </a:spcBef>
              <a:buNone/>
            </a:pPr>
            <a:r>
              <a:rPr lang="zh-CN" altLang="en-US" sz="2400" b="1" dirty="0">
                <a:solidFill>
                  <a:srgbClr val="A5002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集电结反偏。</a:t>
            </a:r>
          </a:p>
        </p:txBody>
      </p:sp>
      <p:sp>
        <p:nvSpPr>
          <p:cNvPr id="684036" name="Rectangle 4"/>
          <p:cNvSpPr/>
          <p:nvPr/>
        </p:nvSpPr>
        <p:spPr>
          <a:xfrm>
            <a:off x="990600" y="5257800"/>
            <a:ext cx="3276600" cy="381000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t" anchorCtr="0"/>
          <a:lstStyle/>
          <a:p>
            <a:pPr eaLnBrk="0" hangingPunct="0"/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→△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△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b="1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84037" name="Rectangle 5"/>
          <p:cNvSpPr/>
          <p:nvPr/>
        </p:nvSpPr>
        <p:spPr>
          <a:xfrm>
            <a:off x="609600" y="3200400"/>
            <a:ext cx="2286000" cy="609600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t" anchorCtr="0"/>
          <a:lstStyle/>
          <a:p>
            <a:pPr eaLnBrk="0" hangingPunct="0"/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放大原理：</a:t>
            </a:r>
          </a:p>
        </p:txBody>
      </p:sp>
      <p:sp>
        <p:nvSpPr>
          <p:cNvPr id="684038" name="Rectangle 6"/>
          <p:cNvSpPr/>
          <p:nvPr/>
        </p:nvSpPr>
        <p:spPr>
          <a:xfrm>
            <a:off x="914400" y="4038600"/>
            <a:ext cx="1447800" cy="381000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t" anchorCtr="0"/>
          <a:lstStyle/>
          <a:p>
            <a:pPr eaLnBrk="0" hangingPunct="0"/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→△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endParaRPr lang="en-US" altLang="zh-CN" sz="2400" b="1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84039" name="Rectangle 7"/>
          <p:cNvSpPr/>
          <p:nvPr/>
        </p:nvSpPr>
        <p:spPr>
          <a:xfrm>
            <a:off x="1981200" y="4038600"/>
            <a:ext cx="1295400" cy="457200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t" anchorCtr="0"/>
          <a:lstStyle/>
          <a:p>
            <a:pPr eaLnBrk="0" hangingPunct="0"/>
            <a:r>
              <a:rPr lang="en-US" altLang="zh-CN" sz="2400" b="1">
                <a:solidFill>
                  <a:srgbClr val="FF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→△</a:t>
            </a:r>
            <a:r>
              <a:rPr lang="en-US" altLang="zh-CN" sz="2400" b="1" i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400" b="1">
              <a:solidFill>
                <a:srgbClr val="FF006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84040" name="Rectangle 8"/>
          <p:cNvSpPr/>
          <p:nvPr/>
        </p:nvSpPr>
        <p:spPr>
          <a:xfrm>
            <a:off x="990600" y="4572000"/>
            <a:ext cx="2514600" cy="457200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t" anchorCtr="0"/>
          <a:lstStyle/>
          <a:p>
            <a:pPr eaLnBrk="0" hangingPunct="0"/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→△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i="1" err="1">
                <a:solidFill>
                  <a:srgbClr val="FF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b</a:t>
            </a:r>
            <a:r>
              <a:rPr lang="en-US" altLang="zh-CN" sz="2400" b="1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△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4041" name="Rectangle 9"/>
          <p:cNvSpPr/>
          <p:nvPr/>
        </p:nvSpPr>
        <p:spPr>
          <a:xfrm>
            <a:off x="4343400" y="5715000"/>
            <a:ext cx="2590800" cy="762000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t" anchorCtr="0"/>
          <a:lstStyle/>
          <a:p>
            <a:pPr eaLnBrk="0" hangingPunct="0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电压放大倍数：</a:t>
            </a:r>
            <a:endParaRPr lang="zh-CN" altLang="en-US" sz="2400" b="1" dirty="0">
              <a:solidFill>
                <a:srgbClr val="FF006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84042" name="Rectangle 10"/>
          <p:cNvSpPr/>
          <p:nvPr/>
        </p:nvSpPr>
        <p:spPr>
          <a:xfrm>
            <a:off x="1066800" y="5867400"/>
            <a:ext cx="2057400" cy="457200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t" anchorCtr="0"/>
          <a:lstStyle/>
          <a:p>
            <a:pPr eaLnBrk="0" hangingPunct="0"/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 </a:t>
            </a:r>
            <a:r>
              <a:rPr lang="en-US" altLang="zh-CN" b="1" i="1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b="1" baseline="-2500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84043" name="Object 11"/>
          <p:cNvGraphicFramePr/>
          <p:nvPr/>
        </p:nvGraphicFramePr>
        <p:xfrm>
          <a:off x="6629400" y="5410200"/>
          <a:ext cx="114300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r:id="rId3" imgW="546100" imgH="495300" progId="Equation.3">
                  <p:embed/>
                </p:oleObj>
              </mc:Choice>
              <mc:Fallback>
                <p:oleObj r:id="rId3" imgW="546100" imgH="4953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29400" y="5410200"/>
                        <a:ext cx="114300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84044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738" y="1471613"/>
            <a:ext cx="5867400" cy="4168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4045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3288" y="4191000"/>
            <a:ext cx="1027112" cy="114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4046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0200" y="3657600"/>
            <a:ext cx="1128713" cy="5857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4047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2057400"/>
            <a:ext cx="838200" cy="484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4048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0400" y="1600200"/>
            <a:ext cx="800100" cy="492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4049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0400" y="3124200"/>
            <a:ext cx="1066800" cy="544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4050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9325" y="2209800"/>
            <a:ext cx="574675" cy="2819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4051" name="Rectangle 19"/>
          <p:cNvSpPr/>
          <p:nvPr/>
        </p:nvSpPr>
        <p:spPr>
          <a:xfrm>
            <a:off x="533400" y="3962400"/>
            <a:ext cx="533400" cy="381000"/>
          </a:xfrm>
          <a:prstGeom prst="rect">
            <a:avLst/>
          </a:prstGeom>
          <a:noFill/>
          <a:ln w="12700">
            <a:noFill/>
          </a:ln>
        </p:spPr>
        <p:txBody>
          <a:bodyPr lIns="92075" tIns="46038" rIns="92075" bIns="46038" anchor="t" anchorCtr="0"/>
          <a:lstStyle/>
          <a:p>
            <a:pPr eaLnBrk="0" hangingPunct="0"/>
            <a:r>
              <a:rPr lang="en-US" altLang="zh-CN" b="1" i="1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b="1" baseline="-2500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lang="en-US" altLang="zh-CN" b="1" baseline="-2500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1763" name="Rectangle 2"/>
          <p:cNvSpPr>
            <a:spLocks noGrp="1"/>
          </p:cNvSpPr>
          <p:nvPr/>
        </p:nvSpPr>
        <p:spPr>
          <a:xfrm>
            <a:off x="419100" y="844550"/>
            <a:ext cx="7391400" cy="685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lIns="91440" tIns="45720" rIns="91440" bIns="45720" anchor="ctr" anchorCtr="0"/>
          <a:lstStyle/>
          <a:p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 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三极管用于交流信号放大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8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8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8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8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8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8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8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8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8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8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8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36" grpId="0"/>
      <p:bldP spid="684037" grpId="0"/>
      <p:bldP spid="684038" grpId="0"/>
      <p:bldP spid="684039" grpId="0"/>
      <p:bldP spid="684040" grpId="0"/>
      <p:bldP spid="684041" grpId="0"/>
      <p:bldP spid="684042" grpId="0"/>
      <p:bldP spid="6840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文本框 299009"/>
          <p:cNvSpPr txBox="1"/>
          <p:nvPr/>
        </p:nvSpPr>
        <p:spPr>
          <a:xfrm>
            <a:off x="242888" y="288925"/>
            <a:ext cx="5892800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  晶体三极管的开关特性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6866" name="组合 299010"/>
          <p:cNvGrpSpPr/>
          <p:nvPr/>
        </p:nvGrpSpPr>
        <p:grpSpPr>
          <a:xfrm>
            <a:off x="5081270" y="3625215"/>
            <a:ext cx="3683000" cy="2222500"/>
            <a:chOff x="608" y="2736"/>
            <a:chExt cx="2672" cy="1400"/>
          </a:xfrm>
        </p:grpSpPr>
        <p:sp>
          <p:nvSpPr>
            <p:cNvPr id="36867" name="矩形 299011"/>
            <p:cNvSpPr/>
            <p:nvPr/>
          </p:nvSpPr>
          <p:spPr>
            <a:xfrm>
              <a:off x="2558" y="3146"/>
              <a:ext cx="722" cy="61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3333FF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68" name="直接连接符 299012"/>
            <p:cNvSpPr/>
            <p:nvPr/>
          </p:nvSpPr>
          <p:spPr>
            <a:xfrm>
              <a:off x="3029" y="2795"/>
              <a:ext cx="0" cy="509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9" name="直接连接符 299013"/>
            <p:cNvSpPr/>
            <p:nvPr/>
          </p:nvSpPr>
          <p:spPr>
            <a:xfrm>
              <a:off x="3019" y="3604"/>
              <a:ext cx="0" cy="509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0" name="椭圆 299014"/>
            <p:cNvSpPr/>
            <p:nvPr/>
          </p:nvSpPr>
          <p:spPr>
            <a:xfrm>
              <a:off x="2676" y="3420"/>
              <a:ext cx="57" cy="55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1" name="椭圆 299015"/>
            <p:cNvSpPr/>
            <p:nvPr/>
          </p:nvSpPr>
          <p:spPr>
            <a:xfrm>
              <a:off x="3002" y="3301"/>
              <a:ext cx="57" cy="55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2" name="椭圆 299016"/>
            <p:cNvSpPr/>
            <p:nvPr/>
          </p:nvSpPr>
          <p:spPr>
            <a:xfrm>
              <a:off x="2992" y="3554"/>
              <a:ext cx="57" cy="55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36873" name="文本框 299017"/>
            <p:cNvSpPr txBox="1"/>
            <p:nvPr/>
          </p:nvSpPr>
          <p:spPr>
            <a:xfrm>
              <a:off x="2144" y="3376"/>
              <a:ext cx="120" cy="305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16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36874" name="文本框 299018"/>
            <p:cNvSpPr txBox="1"/>
            <p:nvPr/>
          </p:nvSpPr>
          <p:spPr>
            <a:xfrm>
              <a:off x="2849" y="2736"/>
              <a:ext cx="120" cy="204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16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75" name="直接连接符 299019"/>
            <p:cNvSpPr/>
            <p:nvPr/>
          </p:nvSpPr>
          <p:spPr>
            <a:xfrm>
              <a:off x="2951" y="4123"/>
              <a:ext cx="120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 useBgFill="1">
          <p:nvSpPr>
            <p:cNvPr id="36876" name="文本框 299020"/>
            <p:cNvSpPr txBox="1"/>
            <p:nvPr/>
          </p:nvSpPr>
          <p:spPr>
            <a:xfrm>
              <a:off x="2849" y="3926"/>
              <a:ext cx="120" cy="202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16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36877" name="矩形 299021"/>
            <p:cNvSpPr/>
            <p:nvPr/>
          </p:nvSpPr>
          <p:spPr>
            <a:xfrm>
              <a:off x="960" y="3124"/>
              <a:ext cx="723" cy="611"/>
            </a:xfrm>
            <a:prstGeom prst="rect">
              <a:avLst/>
            </a:prstGeom>
            <a:ln w="28575" cap="flat" cmpd="sng">
              <a:solidFill>
                <a:srgbClr val="3333FF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6878" name="组合 299022"/>
            <p:cNvGrpSpPr/>
            <p:nvPr/>
          </p:nvGrpSpPr>
          <p:grpSpPr>
            <a:xfrm rot="-5400000">
              <a:off x="1026" y="3280"/>
              <a:ext cx="222" cy="152"/>
              <a:chOff x="8999" y="11735"/>
              <a:chExt cx="340" cy="227"/>
            </a:xfrm>
          </p:grpSpPr>
          <p:sp>
            <p:nvSpPr>
              <p:cNvPr id="36879" name="等腰三角形 299023"/>
              <p:cNvSpPr/>
              <p:nvPr/>
            </p:nvSpPr>
            <p:spPr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285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880" name="直接连接符 299024"/>
              <p:cNvSpPr/>
              <p:nvPr/>
            </p:nvSpPr>
            <p:spPr>
              <a:xfrm rot="-10800000" flipH="1">
                <a:off x="9233" y="11852"/>
                <a:ext cx="106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881" name="直接连接符 299025"/>
              <p:cNvSpPr/>
              <p:nvPr/>
            </p:nvSpPr>
            <p:spPr>
              <a:xfrm rot="10800000">
                <a:off x="8999" y="11852"/>
                <a:ext cx="64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882" name="直接连接符 299026"/>
              <p:cNvSpPr/>
              <p:nvPr/>
            </p:nvSpPr>
            <p:spPr>
              <a:xfrm rot="10800000">
                <a:off x="9063" y="11735"/>
                <a:ext cx="0" cy="227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883" name="直接连接符 299027"/>
            <p:cNvSpPr/>
            <p:nvPr/>
          </p:nvSpPr>
          <p:spPr>
            <a:xfrm>
              <a:off x="1141" y="3449"/>
              <a:ext cx="0" cy="10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84" name="直接连接符 299028"/>
            <p:cNvSpPr/>
            <p:nvPr/>
          </p:nvSpPr>
          <p:spPr>
            <a:xfrm>
              <a:off x="1141" y="3550"/>
              <a:ext cx="361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85" name="直接连接符 299029"/>
            <p:cNvSpPr/>
            <p:nvPr/>
          </p:nvSpPr>
          <p:spPr>
            <a:xfrm flipV="1">
              <a:off x="1512" y="3449"/>
              <a:ext cx="0" cy="10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86" name="直接连接符 299030"/>
            <p:cNvSpPr/>
            <p:nvPr/>
          </p:nvSpPr>
          <p:spPr>
            <a:xfrm flipV="1">
              <a:off x="1512" y="2837"/>
              <a:ext cx="0" cy="40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87" name="椭圆 299031"/>
            <p:cNvSpPr/>
            <p:nvPr/>
          </p:nvSpPr>
          <p:spPr>
            <a:xfrm>
              <a:off x="1482" y="3235"/>
              <a:ext cx="57" cy="56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8" name="椭圆 299032"/>
            <p:cNvSpPr/>
            <p:nvPr/>
          </p:nvSpPr>
          <p:spPr>
            <a:xfrm>
              <a:off x="1482" y="3410"/>
              <a:ext cx="57" cy="55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9" name="直接连接符 299033"/>
            <p:cNvSpPr/>
            <p:nvPr/>
          </p:nvSpPr>
          <p:spPr>
            <a:xfrm>
              <a:off x="1562" y="3245"/>
              <a:ext cx="0" cy="204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 useBgFill="1">
          <p:nvSpPr>
            <p:cNvPr id="36890" name="文本框 299034"/>
            <p:cNvSpPr txBox="1"/>
            <p:nvPr/>
          </p:nvSpPr>
          <p:spPr>
            <a:xfrm>
              <a:off x="608" y="3168"/>
              <a:ext cx="120" cy="305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16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36891" name="文本框 299035"/>
            <p:cNvSpPr txBox="1"/>
            <p:nvPr/>
          </p:nvSpPr>
          <p:spPr>
            <a:xfrm>
              <a:off x="1332" y="2736"/>
              <a:ext cx="120" cy="204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16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92" name="直接连接符 299036"/>
            <p:cNvSpPr/>
            <p:nvPr/>
          </p:nvSpPr>
          <p:spPr>
            <a:xfrm>
              <a:off x="1321" y="3550"/>
              <a:ext cx="0" cy="509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93" name="直接连接符 299037"/>
            <p:cNvSpPr/>
            <p:nvPr/>
          </p:nvSpPr>
          <p:spPr>
            <a:xfrm>
              <a:off x="1261" y="4059"/>
              <a:ext cx="121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 useBgFill="1">
          <p:nvSpPr>
            <p:cNvPr id="36894" name="文本框 299038"/>
            <p:cNvSpPr txBox="1"/>
            <p:nvPr/>
          </p:nvSpPr>
          <p:spPr>
            <a:xfrm>
              <a:off x="1111" y="3857"/>
              <a:ext cx="120" cy="202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16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95" name="椭圆 299039"/>
            <p:cNvSpPr/>
            <p:nvPr/>
          </p:nvSpPr>
          <p:spPr>
            <a:xfrm>
              <a:off x="1309" y="4050"/>
              <a:ext cx="31" cy="29"/>
            </a:xfrm>
            <a:prstGeom prst="ellipse">
              <a:avLst/>
            </a:prstGeom>
            <a:solidFill>
              <a:srgbClr val="00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6" name="椭圆 299040"/>
            <p:cNvSpPr/>
            <p:nvPr/>
          </p:nvSpPr>
          <p:spPr>
            <a:xfrm>
              <a:off x="2999" y="4107"/>
              <a:ext cx="30" cy="29"/>
            </a:xfrm>
            <a:prstGeom prst="ellipse">
              <a:avLst/>
            </a:prstGeom>
            <a:solidFill>
              <a:srgbClr val="00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7" name="直接连接符 299041"/>
            <p:cNvSpPr/>
            <p:nvPr/>
          </p:nvSpPr>
          <p:spPr>
            <a:xfrm flipH="1">
              <a:off x="752" y="3240"/>
              <a:ext cx="384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98" name="直接连接符 299042"/>
            <p:cNvSpPr/>
            <p:nvPr/>
          </p:nvSpPr>
          <p:spPr>
            <a:xfrm flipH="1">
              <a:off x="2304" y="3448"/>
              <a:ext cx="384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6899" name="组合 299043"/>
          <p:cNvGrpSpPr/>
          <p:nvPr/>
        </p:nvGrpSpPr>
        <p:grpSpPr>
          <a:xfrm>
            <a:off x="5257800" y="381000"/>
            <a:ext cx="3886200" cy="2808288"/>
            <a:chOff x="3312" y="240"/>
            <a:chExt cx="2448" cy="1769"/>
          </a:xfrm>
        </p:grpSpPr>
        <p:sp>
          <p:nvSpPr>
            <p:cNvPr id="36900" name="直接连接符 299044"/>
            <p:cNvSpPr/>
            <p:nvPr/>
          </p:nvSpPr>
          <p:spPr>
            <a:xfrm>
              <a:off x="3506" y="1402"/>
              <a:ext cx="41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6901" name="组合 299045"/>
            <p:cNvGrpSpPr>
              <a:grpSpLocks noChangeAspect="1"/>
            </p:cNvGrpSpPr>
            <p:nvPr/>
          </p:nvGrpSpPr>
          <p:grpSpPr>
            <a:xfrm rot="5400000" flipH="1">
              <a:off x="3950" y="1180"/>
              <a:ext cx="77" cy="431"/>
              <a:chOff x="4860" y="8928"/>
              <a:chExt cx="360" cy="1560"/>
            </a:xfrm>
          </p:grpSpPr>
          <p:sp>
            <p:nvSpPr>
              <p:cNvPr id="36902" name="矩形 299046"/>
              <p:cNvSpPr>
                <a:spLocks noChangeAspect="1"/>
              </p:cNvSpPr>
              <p:nvPr/>
            </p:nvSpPr>
            <p:spPr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903" name="直接连接符 299047"/>
              <p:cNvSpPr>
                <a:spLocks noChangeAspect="1"/>
              </p:cNvSpPr>
              <p:nvPr/>
            </p:nvSpPr>
            <p:spPr>
              <a:xfrm>
                <a:off x="5040" y="10176"/>
                <a:ext cx="0" cy="312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904" name="直接连接符 299048"/>
              <p:cNvSpPr>
                <a:spLocks noChangeAspect="1"/>
              </p:cNvSpPr>
              <p:nvPr/>
            </p:nvSpPr>
            <p:spPr>
              <a:xfrm flipV="1">
                <a:off x="5040" y="8928"/>
                <a:ext cx="0" cy="312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905" name="直接连接符 299049"/>
            <p:cNvSpPr/>
            <p:nvPr/>
          </p:nvSpPr>
          <p:spPr>
            <a:xfrm>
              <a:off x="4189" y="1402"/>
              <a:ext cx="41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6906" name="组合 299050"/>
            <p:cNvGrpSpPr/>
            <p:nvPr/>
          </p:nvGrpSpPr>
          <p:grpSpPr>
            <a:xfrm>
              <a:off x="4531" y="1322"/>
              <a:ext cx="258" cy="155"/>
              <a:chOff x="8640" y="7992"/>
              <a:chExt cx="720" cy="315"/>
            </a:xfrm>
          </p:grpSpPr>
          <p:sp>
            <p:nvSpPr>
              <p:cNvPr id="36907" name="直接连接符 299051"/>
              <p:cNvSpPr/>
              <p:nvPr/>
            </p:nvSpPr>
            <p:spPr>
              <a:xfrm flipV="1">
                <a:off x="9000" y="7992"/>
                <a:ext cx="360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908" name="直接连接符 299052"/>
              <p:cNvSpPr/>
              <p:nvPr/>
            </p:nvSpPr>
            <p:spPr>
              <a:xfrm>
                <a:off x="9000" y="8151"/>
                <a:ext cx="360" cy="15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36909" name="直接连接符 299053"/>
              <p:cNvSpPr/>
              <p:nvPr/>
            </p:nvSpPr>
            <p:spPr>
              <a:xfrm>
                <a:off x="9000" y="7992"/>
                <a:ext cx="0" cy="31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910" name="直接连接符 299054"/>
              <p:cNvSpPr/>
              <p:nvPr/>
            </p:nvSpPr>
            <p:spPr>
              <a:xfrm flipH="1">
                <a:off x="8640" y="8148"/>
                <a:ext cx="36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911" name="直接连接符 299055"/>
            <p:cNvSpPr/>
            <p:nvPr/>
          </p:nvSpPr>
          <p:spPr>
            <a:xfrm flipV="1">
              <a:off x="4793" y="1123"/>
              <a:ext cx="0" cy="213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12" name="直接连接符 299056"/>
            <p:cNvSpPr/>
            <p:nvPr/>
          </p:nvSpPr>
          <p:spPr>
            <a:xfrm>
              <a:off x="4793" y="1477"/>
              <a:ext cx="0" cy="53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13" name="椭圆 299057"/>
            <p:cNvSpPr/>
            <p:nvPr/>
          </p:nvSpPr>
          <p:spPr>
            <a:xfrm>
              <a:off x="4782" y="1923"/>
              <a:ext cx="34" cy="31"/>
            </a:xfrm>
            <a:prstGeom prst="ellipse">
              <a:avLst/>
            </a:prstGeom>
            <a:solidFill>
              <a:srgbClr val="000000"/>
            </a:solidFill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6914" name="组合 299058"/>
            <p:cNvGrpSpPr>
              <a:grpSpLocks noChangeAspect="1"/>
            </p:cNvGrpSpPr>
            <p:nvPr/>
          </p:nvGrpSpPr>
          <p:grpSpPr>
            <a:xfrm flipH="1">
              <a:off x="4748" y="586"/>
              <a:ext cx="85" cy="386"/>
              <a:chOff x="4860" y="8928"/>
              <a:chExt cx="360" cy="1560"/>
            </a:xfrm>
          </p:grpSpPr>
          <p:sp>
            <p:nvSpPr>
              <p:cNvPr id="36915" name="矩形 299059"/>
              <p:cNvSpPr>
                <a:spLocks noChangeAspect="1"/>
              </p:cNvSpPr>
              <p:nvPr/>
            </p:nvSpPr>
            <p:spPr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916" name="直接连接符 299060"/>
              <p:cNvSpPr>
                <a:spLocks noChangeAspect="1"/>
              </p:cNvSpPr>
              <p:nvPr/>
            </p:nvSpPr>
            <p:spPr>
              <a:xfrm>
                <a:off x="5040" y="10176"/>
                <a:ext cx="0" cy="312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917" name="直接连接符 299061"/>
              <p:cNvSpPr>
                <a:spLocks noChangeAspect="1"/>
              </p:cNvSpPr>
              <p:nvPr/>
            </p:nvSpPr>
            <p:spPr>
              <a:xfrm flipV="1">
                <a:off x="5040" y="8928"/>
                <a:ext cx="0" cy="312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 useBgFill="1">
          <p:nvSpPr>
            <p:cNvPr id="36918" name="文本框 299062"/>
            <p:cNvSpPr txBox="1"/>
            <p:nvPr/>
          </p:nvSpPr>
          <p:spPr>
            <a:xfrm>
              <a:off x="4656" y="240"/>
              <a:ext cx="274" cy="213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 sz="16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919" name="椭圆 299063"/>
            <p:cNvSpPr/>
            <p:nvPr/>
          </p:nvSpPr>
          <p:spPr>
            <a:xfrm>
              <a:off x="4782" y="1093"/>
              <a:ext cx="34" cy="30"/>
            </a:xfrm>
            <a:prstGeom prst="ellipse">
              <a:avLst/>
            </a:prstGeom>
            <a:solidFill>
              <a:srgbClr val="000000"/>
            </a:solidFill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20" name="直接连接符 299064"/>
            <p:cNvSpPr/>
            <p:nvPr/>
          </p:nvSpPr>
          <p:spPr>
            <a:xfrm>
              <a:off x="4907" y="657"/>
              <a:ext cx="0" cy="31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6921" name="直接连接符 299065"/>
            <p:cNvSpPr/>
            <p:nvPr/>
          </p:nvSpPr>
          <p:spPr>
            <a:xfrm>
              <a:off x="3642" y="1189"/>
              <a:ext cx="41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pSp>
          <p:nvGrpSpPr>
            <p:cNvPr id="36922" name="组合 299066"/>
            <p:cNvGrpSpPr/>
            <p:nvPr/>
          </p:nvGrpSpPr>
          <p:grpSpPr>
            <a:xfrm>
              <a:off x="3323" y="1381"/>
              <a:ext cx="86" cy="77"/>
              <a:chOff x="8280" y="12471"/>
              <a:chExt cx="720" cy="780"/>
            </a:xfrm>
          </p:grpSpPr>
          <p:sp>
            <p:nvSpPr>
              <p:cNvPr id="36923" name="直接连接符 299067"/>
              <p:cNvSpPr/>
              <p:nvPr/>
            </p:nvSpPr>
            <p:spPr>
              <a:xfrm>
                <a:off x="8280" y="12828"/>
                <a:ext cx="720" cy="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924" name="直接连接符 299068"/>
              <p:cNvSpPr/>
              <p:nvPr/>
            </p:nvSpPr>
            <p:spPr>
              <a:xfrm>
                <a:off x="8640" y="12471"/>
                <a:ext cx="0" cy="78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925" name="直接连接符 299069"/>
            <p:cNvSpPr/>
            <p:nvPr/>
          </p:nvSpPr>
          <p:spPr>
            <a:xfrm>
              <a:off x="3323" y="1933"/>
              <a:ext cx="86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6926" name="组合 299070"/>
            <p:cNvGrpSpPr/>
            <p:nvPr/>
          </p:nvGrpSpPr>
          <p:grpSpPr>
            <a:xfrm>
              <a:off x="5483" y="1056"/>
              <a:ext cx="85" cy="77"/>
              <a:chOff x="8280" y="12471"/>
              <a:chExt cx="720" cy="780"/>
            </a:xfrm>
          </p:grpSpPr>
          <p:sp>
            <p:nvSpPr>
              <p:cNvPr id="36927" name="直接连接符 299071"/>
              <p:cNvSpPr/>
              <p:nvPr/>
            </p:nvSpPr>
            <p:spPr>
              <a:xfrm>
                <a:off x="8280" y="12828"/>
                <a:ext cx="720" cy="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928" name="直接连接符 299072"/>
              <p:cNvSpPr/>
              <p:nvPr/>
            </p:nvSpPr>
            <p:spPr>
              <a:xfrm>
                <a:off x="8640" y="12471"/>
                <a:ext cx="0" cy="78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929" name="直接连接符 299073"/>
            <p:cNvSpPr/>
            <p:nvPr/>
          </p:nvSpPr>
          <p:spPr>
            <a:xfrm>
              <a:off x="5472" y="1929"/>
              <a:ext cx="86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30" name="文本框 299074"/>
            <p:cNvSpPr txBox="1"/>
            <p:nvPr/>
          </p:nvSpPr>
          <p:spPr>
            <a:xfrm>
              <a:off x="3312" y="1584"/>
              <a:ext cx="273" cy="212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华文细黑" pitchFamily="2" charset="-122"/>
                </a:rPr>
                <a:t>I</a:t>
              </a:r>
              <a:endParaRPr lang="en-US" altLang="zh-CN" sz="24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36931" name="文本框 299075"/>
            <p:cNvSpPr txBox="1"/>
            <p:nvPr/>
          </p:nvSpPr>
          <p:spPr>
            <a:xfrm>
              <a:off x="5487" y="1371"/>
              <a:ext cx="273" cy="213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2000" i="1"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华文细黑" pitchFamily="2" charset="-122"/>
                </a:rPr>
                <a:t>O</a:t>
              </a:r>
              <a:endParaRPr lang="en-US" altLang="zh-CN" sz="20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36932" name="文本框 299076"/>
            <p:cNvSpPr txBox="1"/>
            <p:nvPr/>
          </p:nvSpPr>
          <p:spPr>
            <a:xfrm>
              <a:off x="3714" y="952"/>
              <a:ext cx="452" cy="212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华文细黑" pitchFamily="2" charset="-122"/>
                </a:rPr>
                <a:t>B</a:t>
              </a:r>
              <a:endParaRPr lang="en-US" altLang="zh-CN" sz="20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36933" name="文本框 299077"/>
            <p:cNvSpPr txBox="1"/>
            <p:nvPr/>
          </p:nvSpPr>
          <p:spPr>
            <a:xfrm>
              <a:off x="4953" y="678"/>
              <a:ext cx="148" cy="167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华文细黑" pitchFamily="2" charset="-122"/>
                </a:rPr>
                <a:t>C</a:t>
              </a:r>
              <a:endParaRPr lang="en-US" altLang="zh-CN" sz="20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36934" name="文本框 299078"/>
            <p:cNvSpPr txBox="1"/>
            <p:nvPr/>
          </p:nvSpPr>
          <p:spPr>
            <a:xfrm>
              <a:off x="4326" y="1532"/>
              <a:ext cx="410" cy="213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华文细黑" pitchFamily="2" charset="-122"/>
                </a:rPr>
                <a:t>BE</a:t>
              </a:r>
            </a:p>
          </p:txBody>
        </p:sp>
        <p:sp>
          <p:nvSpPr>
            <p:cNvPr id="36935" name="任意多边形 299079"/>
            <p:cNvSpPr/>
            <p:nvPr/>
          </p:nvSpPr>
          <p:spPr>
            <a:xfrm>
              <a:off x="4264" y="1433"/>
              <a:ext cx="57" cy="92"/>
            </a:xfrm>
            <a:custGeom>
              <a:avLst/>
              <a:gdLst/>
              <a:ahLst/>
              <a:cxnLst/>
              <a:rect l="0" t="0" r="0" b="0"/>
              <a:pathLst>
                <a:path w="75" h="135">
                  <a:moveTo>
                    <a:pt x="0" y="0"/>
                  </a:moveTo>
                  <a:cubicBezTo>
                    <a:pt x="8" y="23"/>
                    <a:pt x="29" y="135"/>
                    <a:pt x="75" y="135"/>
                  </a:cubicBezTo>
                </a:path>
              </a:pathLst>
            </a:custGeom>
            <a:noFill/>
            <a:ln w="28575" cap="flat" cmpd="sng">
              <a:solidFill>
                <a:srgbClr val="66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6" name="任意多边形 299080"/>
            <p:cNvSpPr/>
            <p:nvPr/>
          </p:nvSpPr>
          <p:spPr>
            <a:xfrm>
              <a:off x="4577" y="1733"/>
              <a:ext cx="182" cy="18"/>
            </a:xfrm>
            <a:custGeom>
              <a:avLst/>
              <a:gdLst/>
              <a:ahLst/>
              <a:cxnLst/>
              <a:rect l="0" t="0" r="0" b="0"/>
              <a:pathLst>
                <a:path w="240" h="26">
                  <a:moveTo>
                    <a:pt x="0" y="0"/>
                  </a:moveTo>
                  <a:cubicBezTo>
                    <a:pt x="129" y="26"/>
                    <a:pt x="50" y="15"/>
                    <a:pt x="240" y="15"/>
                  </a:cubicBezTo>
                </a:path>
              </a:pathLst>
            </a:custGeom>
            <a:noFill/>
            <a:ln w="28575" cap="flat" cmpd="sng">
              <a:solidFill>
                <a:srgbClr val="66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7" name="椭圆 299081"/>
            <p:cNvSpPr/>
            <p:nvPr/>
          </p:nvSpPr>
          <p:spPr>
            <a:xfrm>
              <a:off x="4280" y="1391"/>
              <a:ext cx="35" cy="31"/>
            </a:xfrm>
            <a:prstGeom prst="ellipse">
              <a:avLst/>
            </a:prstGeom>
            <a:solidFill>
              <a:srgbClr val="000000"/>
            </a:solidFill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38" name="椭圆 299082"/>
            <p:cNvSpPr/>
            <p:nvPr/>
          </p:nvSpPr>
          <p:spPr>
            <a:xfrm>
              <a:off x="4782" y="1690"/>
              <a:ext cx="34" cy="31"/>
            </a:xfrm>
            <a:prstGeom prst="ellipse">
              <a:avLst/>
            </a:prstGeom>
            <a:solidFill>
              <a:srgbClr val="000000"/>
            </a:solidFill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36939" name="文本框 299083"/>
            <p:cNvSpPr txBox="1"/>
            <p:nvPr/>
          </p:nvSpPr>
          <p:spPr>
            <a:xfrm>
              <a:off x="4235" y="1179"/>
              <a:ext cx="137" cy="206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16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36940" name="文本框 299084"/>
            <p:cNvSpPr txBox="1"/>
            <p:nvPr/>
          </p:nvSpPr>
          <p:spPr>
            <a:xfrm>
              <a:off x="4873" y="1639"/>
              <a:ext cx="137" cy="212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16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36941" name="文本框 299085"/>
            <p:cNvSpPr txBox="1"/>
            <p:nvPr/>
          </p:nvSpPr>
          <p:spPr>
            <a:xfrm>
              <a:off x="4577" y="997"/>
              <a:ext cx="136" cy="212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16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942" name="直接连接符 299086"/>
            <p:cNvSpPr/>
            <p:nvPr/>
          </p:nvSpPr>
          <p:spPr>
            <a:xfrm flipV="1">
              <a:off x="4793" y="890"/>
              <a:ext cx="0" cy="426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43" name="直接连接符 299087"/>
            <p:cNvSpPr/>
            <p:nvPr/>
          </p:nvSpPr>
          <p:spPr>
            <a:xfrm>
              <a:off x="5089" y="1530"/>
              <a:ext cx="0" cy="31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 useBgFill="1">
          <p:nvSpPr>
            <p:cNvPr id="36944" name="文本框 299088"/>
            <p:cNvSpPr txBox="1"/>
            <p:nvPr/>
          </p:nvSpPr>
          <p:spPr>
            <a:xfrm>
              <a:off x="5158" y="1553"/>
              <a:ext cx="273" cy="213"/>
            </a:xfrm>
            <a:prstGeom prst="rect">
              <a:avLst/>
            </a:prstGeom>
            <a:ln w="28575">
              <a:noFill/>
            </a:ln>
          </p:spPr>
          <p:txBody>
            <a:bodyPr lIns="0" tIns="0" rIns="0" bIns="0" anchor="t" anchorCtr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="1" baseline="-25000">
                  <a:latin typeface="Times New Roman" panose="02020603050405020304" pitchFamily="18" charset="0"/>
                  <a:ea typeface="华文细黑" pitchFamily="2" charset="-122"/>
                </a:rPr>
                <a:t>E</a:t>
              </a:r>
              <a:endParaRPr lang="en-US" altLang="zh-CN" sz="20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945" name="直接连接符 299089"/>
            <p:cNvSpPr/>
            <p:nvPr/>
          </p:nvSpPr>
          <p:spPr>
            <a:xfrm flipV="1">
              <a:off x="4793" y="426"/>
              <a:ext cx="0" cy="213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46" name="直接连接符 299090"/>
            <p:cNvSpPr/>
            <p:nvPr/>
          </p:nvSpPr>
          <p:spPr>
            <a:xfrm>
              <a:off x="4753" y="2005"/>
              <a:ext cx="86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47" name="直接连接符 299091"/>
            <p:cNvSpPr/>
            <p:nvPr/>
          </p:nvSpPr>
          <p:spPr>
            <a:xfrm>
              <a:off x="4800" y="1104"/>
              <a:ext cx="624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48" name="直接连接符 299092"/>
            <p:cNvSpPr/>
            <p:nvPr/>
          </p:nvSpPr>
          <p:spPr>
            <a:xfrm>
              <a:off x="3504" y="1944"/>
              <a:ext cx="192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6949" name="文本框 299093"/>
          <p:cNvSpPr txBox="1"/>
          <p:nvPr/>
        </p:nvSpPr>
        <p:spPr>
          <a:xfrm>
            <a:off x="73660" y="914400"/>
            <a:ext cx="4827905" cy="5806440"/>
          </a:xfrm>
          <a:prstGeom prst="rect">
            <a:avLst/>
          </a:prstGeom>
          <a:noFill/>
          <a:ln w="2857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sym typeface="+mn-ea"/>
              </a:rPr>
              <a:t>（</a:t>
            </a:r>
            <a:r>
              <a:rPr lang="en-US" altLang="zh-CN" sz="2400" b="1">
                <a:solidFill>
                  <a:schemeClr val="tx2"/>
                </a:solidFill>
                <a:sym typeface="+mn-ea"/>
              </a:rPr>
              <a:t>1</a:t>
            </a:r>
            <a:r>
              <a:rPr lang="zh-CN" altLang="en-US" sz="2400" b="1">
                <a:solidFill>
                  <a:schemeClr val="tx2"/>
                </a:solidFill>
                <a:sym typeface="+mn-ea"/>
              </a:rPr>
              <a:t>）输入电压</a:t>
            </a:r>
            <a:r>
              <a:rPr lang="en-US" altLang="zh-CN" sz="2400" b="1" i="1">
                <a:solidFill>
                  <a:schemeClr val="tx2"/>
                </a:solidFill>
                <a:sym typeface="+mn-ea"/>
              </a:rPr>
              <a:t>v</a:t>
            </a:r>
            <a:r>
              <a:rPr lang="en-US" altLang="zh-CN" sz="2400" b="1" baseline="-25000">
                <a:solidFill>
                  <a:schemeClr val="tx2"/>
                </a:solidFill>
                <a:sym typeface="+mn-ea"/>
              </a:rPr>
              <a:t>I</a:t>
            </a:r>
            <a:r>
              <a:rPr lang="en-US" altLang="zh-CN" sz="2400" b="1">
                <a:solidFill>
                  <a:schemeClr val="tx2"/>
                </a:solidFill>
                <a:sym typeface="+mn-ea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sym typeface="+mn-ea"/>
              </a:rPr>
              <a:t>太高时：</a:t>
            </a:r>
            <a:endParaRPr lang="zh-CN" altLang="en-US" sz="2400" b="1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400" b="1">
                <a:sym typeface="+mn-ea"/>
              </a:rPr>
              <a:t>i</a:t>
            </a:r>
            <a:r>
              <a:rPr lang="en-US" altLang="zh-CN" sz="2400" b="1" baseline="-25000">
                <a:sym typeface="+mn-ea"/>
              </a:rPr>
              <a:t>B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增大使得</a:t>
            </a:r>
            <a:r>
              <a:rPr lang="en-US" altLang="zh-CN" sz="2400" b="1">
                <a:sym typeface="+mn-ea"/>
              </a:rPr>
              <a:t>i</a:t>
            </a:r>
            <a:r>
              <a:rPr lang="en-US" altLang="zh-CN" sz="2400" b="1" baseline="-25000">
                <a:sym typeface="+mn-ea"/>
              </a:rPr>
              <a:t>C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增大，三极管进入饱和导通，使得</a:t>
            </a:r>
            <a:r>
              <a:rPr lang="en-US" altLang="zh-CN" sz="2400" b="1" i="1">
                <a:sym typeface="+mn-ea"/>
              </a:rPr>
              <a:t>v</a:t>
            </a:r>
            <a:r>
              <a:rPr lang="en-US" altLang="zh-CN" sz="2400" b="1" baseline="-25000">
                <a:sym typeface="+mn-ea"/>
              </a:rPr>
              <a:t>CE</a:t>
            </a:r>
            <a:r>
              <a:rPr lang="en-US" altLang="zh-CN" sz="2400" b="1">
                <a:sym typeface="+mn-ea"/>
              </a:rPr>
              <a:t>≈0，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这意味着三极管导通，电路闭合，电流顺畅流过电路，相当于开关特性开状态，这时输出电压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2400" b="1" i="1">
                <a:solidFill>
                  <a:schemeClr val="tx2"/>
                </a:solidFill>
                <a:sym typeface="+mn-ea"/>
              </a:rPr>
              <a:t>v</a:t>
            </a:r>
            <a:r>
              <a:rPr lang="en-US" altLang="zh-CN" sz="2400" b="1" baseline="-25000">
                <a:solidFill>
                  <a:schemeClr val="tx2"/>
                </a:solidFill>
                <a:sym typeface="+mn-ea"/>
              </a:rPr>
              <a:t>o</a:t>
            </a:r>
            <a:r>
              <a:rPr lang="en-US" altLang="zh-CN" sz="2400" b="1">
                <a:solidFill>
                  <a:schemeClr val="tx2"/>
                </a:solidFill>
                <a:sym typeface="+mn-ea"/>
              </a:rPr>
              <a:t>≈0</a:t>
            </a:r>
            <a:endParaRPr lang="en-US" altLang="zh-CN" sz="2400" b="1">
              <a:solidFill>
                <a:schemeClr val="tx2"/>
              </a:solidFill>
            </a:endParaRPr>
          </a:p>
          <a:p>
            <a:pPr algn="just"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）输入</a:t>
            </a:r>
            <a:r>
              <a:rPr lang="zh-CN" altLang="en-US" sz="2400" b="1">
                <a:solidFill>
                  <a:schemeClr val="tx2"/>
                </a:solidFill>
                <a:sym typeface="+mn-ea"/>
              </a:rPr>
              <a:t>电压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太低时：</a:t>
            </a:r>
          </a:p>
          <a:p>
            <a:pPr algn="just">
              <a:spcBef>
                <a:spcPct val="50000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不足以使得三极管发射结</a:t>
            </a:r>
            <a:r>
              <a:rPr lang="zh-CN" altLang="en-US" sz="2400" b="1">
                <a:sym typeface="+mn-ea"/>
              </a:rPr>
              <a:t>正偏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，使得</a:t>
            </a:r>
            <a:r>
              <a:rPr lang="en-US" altLang="zh-CN" sz="2400" b="1">
                <a:sym typeface="+mn-ea"/>
              </a:rPr>
              <a:t>i</a:t>
            </a:r>
            <a:r>
              <a:rPr lang="en-US" altLang="zh-CN" sz="2400" b="1" baseline="-25000">
                <a:sym typeface="+mn-ea"/>
              </a:rPr>
              <a:t>B</a:t>
            </a:r>
            <a:r>
              <a:rPr lang="en-US" altLang="zh-CN" sz="2400" b="1">
                <a:sym typeface="+mn-ea"/>
              </a:rPr>
              <a:t>≈0，i</a:t>
            </a:r>
            <a:r>
              <a:rPr lang="en-US" altLang="zh-CN" sz="2400" b="1" baseline="-25000">
                <a:sym typeface="+mn-ea"/>
              </a:rPr>
              <a:t>C</a:t>
            </a:r>
            <a:r>
              <a:rPr lang="en-US" altLang="zh-CN" sz="2400" b="1">
                <a:sym typeface="+mn-ea"/>
              </a:rPr>
              <a:t>≈0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，这时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三极管处于截止状态，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相当于</a:t>
            </a:r>
            <a:r>
              <a:rPr lang="zh-CN" altLang="en-US" sz="2400" dirty="0">
                <a:cs typeface="Times New Roman" panose="02020603050405020304" pitchFamily="18" charset="0"/>
                <a:sym typeface="+mn-ea"/>
              </a:rPr>
              <a:t>C、E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间开路， 电路断开，电路没有电流，相当于三极管开关特性关的状态。这时输出高电平</a:t>
            </a:r>
            <a:r>
              <a:rPr lang="en-US" sz="2400" b="1" dirty="0">
                <a:latin typeface="Arial" panose="020B0604020202020204" pitchFamily="34" charset="0"/>
                <a:sym typeface="+mn-ea"/>
              </a:rPr>
              <a:t>,</a:t>
            </a:r>
            <a:r>
              <a:rPr lang="en-US" altLang="zh-CN" sz="2400" b="1" i="1">
                <a:solidFill>
                  <a:schemeClr val="tx2"/>
                </a:solidFill>
                <a:sym typeface="+mn-ea"/>
              </a:rPr>
              <a:t>v</a:t>
            </a:r>
            <a:r>
              <a:rPr lang="en-US" altLang="zh-CN" sz="2400" b="1" baseline="-25000">
                <a:solidFill>
                  <a:schemeClr val="tx2"/>
                </a:solidFill>
                <a:sym typeface="+mn-ea"/>
              </a:rPr>
              <a:t>o</a:t>
            </a:r>
            <a:r>
              <a:rPr lang="en-US" altLang="zh-CN" sz="2400" b="1">
                <a:solidFill>
                  <a:schemeClr val="tx2"/>
                </a:solidFill>
                <a:sym typeface="+mn-ea"/>
              </a:rPr>
              <a:t>≈ V</a:t>
            </a:r>
            <a:r>
              <a:rPr lang="en-US" altLang="zh-CN" sz="2400" b="1" baseline="-25000">
                <a:solidFill>
                  <a:schemeClr val="tx2"/>
                </a:solidFill>
                <a:sym typeface="+mn-ea"/>
              </a:rPr>
              <a:t>CC</a:t>
            </a:r>
            <a:endParaRPr lang="en-US" altLang="zh-CN" sz="2400" b="1" baseline="-250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50000"/>
              </a:spcBef>
            </a:pPr>
            <a:endParaRPr lang="en-US" altLang="zh-CN" sz="2400" b="1" baseline="-250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1920" y="5949315"/>
            <a:ext cx="37357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饱和导通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                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截止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1335" y="6309360"/>
            <a:ext cx="37357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sym typeface="+mn-ea"/>
              </a:rPr>
              <a:t>输入输出逻辑关系：非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6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Oval 2"/>
          <p:cNvSpPr/>
          <p:nvPr/>
        </p:nvSpPr>
        <p:spPr>
          <a:xfrm>
            <a:off x="2951163" y="3294063"/>
            <a:ext cx="1276350" cy="1276350"/>
          </a:xfrm>
          <a:prstGeom prst="ellipse">
            <a:avLst/>
          </a:pr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4771" name="AutoShape 3"/>
          <p:cNvSpPr/>
          <p:nvPr/>
        </p:nvSpPr>
        <p:spPr>
          <a:xfrm>
            <a:off x="5697538" y="1268413"/>
            <a:ext cx="2962275" cy="1708150"/>
          </a:xfrm>
          <a:prstGeom prst="wedgeRoundRectCallout">
            <a:avLst>
              <a:gd name="adj1" fmla="val -121866"/>
              <a:gd name="adj2" fmla="val 74347"/>
              <a:gd name="adj3" fmla="val 16667"/>
            </a:avLst>
          </a:prstGeom>
          <a:solidFill>
            <a:srgbClr val="FFFFFF"/>
          </a:solidFill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放大元件</a:t>
            </a:r>
            <a:r>
              <a:rPr lang="en-US" altLang="zh-CN" sz="2400" b="1" i="1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</a:t>
            </a:r>
            <a:r>
              <a:rPr lang="en-US" altLang="zh-CN" sz="2400" b="1" i="1" err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baseline="-25000" err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，工作在放大区，要保证集电结反偏，发射结正偏。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71" name="Rectangle 4"/>
          <p:cNvSpPr/>
          <p:nvPr/>
        </p:nvSpPr>
        <p:spPr>
          <a:xfrm>
            <a:off x="431800" y="1314450"/>
            <a:ext cx="4545013" cy="11017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b" anchorCtr="0"/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单管共</a:t>
            </a:r>
            <a:r>
              <a:rPr lang="zh-CN" altLang="zh-CN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射</a:t>
            </a:r>
            <a:r>
              <a:rPr lang="zh-CN" altLang="en-US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极放大电路的结构及各元件的作用</a:t>
            </a:r>
            <a:endParaRPr lang="zh-CN" altLang="en-US" sz="4400" dirty="0">
              <a:solidFill>
                <a:srgbClr val="80008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54477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8" y="2933700"/>
            <a:ext cx="5940425" cy="3644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3" name="Text Box 6"/>
          <p:cNvSpPr txBox="1"/>
          <p:nvPr/>
        </p:nvSpPr>
        <p:spPr>
          <a:xfrm>
            <a:off x="792163" y="323850"/>
            <a:ext cx="7056437" cy="52197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3</a:t>
            </a:r>
            <a:r>
              <a:rPr lang="zh-CN" altLang="en-US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单管共发射极基本放大电路的组成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0" grpId="0" bldLvl="0" animBg="1"/>
      <p:bldP spid="544771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2"/>
          <p:cNvSpPr txBox="1"/>
          <p:nvPr/>
        </p:nvSpPr>
        <p:spPr>
          <a:xfrm>
            <a:off x="609600" y="228600"/>
            <a:ext cx="2628900" cy="579438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各元件作用：</a:t>
            </a:r>
          </a:p>
        </p:txBody>
      </p:sp>
      <p:sp>
        <p:nvSpPr>
          <p:cNvPr id="545795" name="AutoShape 3"/>
          <p:cNvSpPr/>
          <p:nvPr/>
        </p:nvSpPr>
        <p:spPr>
          <a:xfrm>
            <a:off x="2819400" y="3276600"/>
            <a:ext cx="1504950" cy="1905000"/>
          </a:xfrm>
          <a:prstGeom prst="roundRect">
            <a:avLst>
              <a:gd name="adj" fmla="val 17931"/>
            </a:avLst>
          </a:pr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796" name="AutoShape 4"/>
          <p:cNvSpPr/>
          <p:nvPr/>
        </p:nvSpPr>
        <p:spPr>
          <a:xfrm>
            <a:off x="762000" y="990600"/>
            <a:ext cx="2741613" cy="1314450"/>
          </a:xfrm>
          <a:prstGeom prst="wedgeRoundRectCallout">
            <a:avLst>
              <a:gd name="adj1" fmla="val 41431"/>
              <a:gd name="adj2" fmla="val 142755"/>
              <a:gd name="adj3" fmla="val 16667"/>
            </a:avLst>
          </a:prstGeom>
          <a:solidFill>
            <a:srgbClr val="FFFFFF"/>
          </a:solidFill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使发射结正偏，并提供适当的静态的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545797" name="Text Box 5"/>
          <p:cNvSpPr txBox="1"/>
          <p:nvPr/>
        </p:nvSpPr>
        <p:spPr>
          <a:xfrm>
            <a:off x="650875" y="4438650"/>
            <a:ext cx="2016125" cy="831850"/>
          </a:xfrm>
          <a:prstGeom prst="rect">
            <a:avLst/>
          </a:prstGeom>
          <a:noFill/>
          <a:ln w="9525" cap="flat" cmpd="sng">
            <a:solidFill>
              <a:srgbClr val="00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基极电源与基极电阻</a:t>
            </a:r>
          </a:p>
        </p:txBody>
      </p:sp>
      <p:pic>
        <p:nvPicPr>
          <p:cNvPr id="3379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905000"/>
            <a:ext cx="5943600" cy="3978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5799" name="AutoShape 7"/>
          <p:cNvSpPr/>
          <p:nvPr/>
        </p:nvSpPr>
        <p:spPr>
          <a:xfrm>
            <a:off x="6553200" y="5149850"/>
            <a:ext cx="2590800" cy="1708150"/>
          </a:xfrm>
          <a:prstGeom prst="wedgeRoundRectCallout">
            <a:avLst>
              <a:gd name="adj1" fmla="val -62380"/>
              <a:gd name="adj2" fmla="val -84759"/>
              <a:gd name="adj3" fmla="val 16667"/>
            </a:avLst>
          </a:prstGeom>
          <a:solidFill>
            <a:srgbClr val="FFFFFF"/>
          </a:solidFill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集电极电源，为电路提供能量。并保证集电结反偏。</a:t>
            </a:r>
          </a:p>
        </p:txBody>
      </p:sp>
      <p:sp>
        <p:nvSpPr>
          <p:cNvPr id="545800" name="AutoShape 8"/>
          <p:cNvSpPr/>
          <p:nvPr/>
        </p:nvSpPr>
        <p:spPr>
          <a:xfrm>
            <a:off x="6248400" y="304800"/>
            <a:ext cx="2657475" cy="1314450"/>
          </a:xfrm>
          <a:prstGeom prst="wedgeRoundRectCallout">
            <a:avLst>
              <a:gd name="adj1" fmla="val -46954"/>
              <a:gd name="adj2" fmla="val 168843"/>
              <a:gd name="adj3" fmla="val 16667"/>
            </a:avLst>
          </a:prstGeom>
          <a:solidFill>
            <a:srgbClr val="FFFFFF"/>
          </a:solidFill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集电极电阻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，将变化的电流转变为变化的电压。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4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5" grpId="0" bldLvl="0" animBg="1"/>
      <p:bldP spid="545796" grpId="0" bldLvl="0" animBg="1"/>
      <p:bldP spid="545797" grpId="0" bldLvl="0" animBg="1"/>
      <p:bldP spid="545799" grpId="0" bldLvl="0" animBg="1"/>
      <p:bldP spid="545800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0" y="2743200"/>
            <a:ext cx="4019550" cy="1219200"/>
            <a:chOff x="1440" y="1812"/>
            <a:chExt cx="2532" cy="768"/>
          </a:xfrm>
        </p:grpSpPr>
        <p:sp>
          <p:nvSpPr>
            <p:cNvPr id="34818" name="Oval 3"/>
            <p:cNvSpPr/>
            <p:nvPr/>
          </p:nvSpPr>
          <p:spPr>
            <a:xfrm>
              <a:off x="1440" y="2076"/>
              <a:ext cx="504" cy="504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19" name="Oval 4"/>
            <p:cNvSpPr/>
            <p:nvPr/>
          </p:nvSpPr>
          <p:spPr>
            <a:xfrm>
              <a:off x="3408" y="1812"/>
              <a:ext cx="564" cy="564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46821" name="AutoShape 5"/>
          <p:cNvSpPr/>
          <p:nvPr/>
        </p:nvSpPr>
        <p:spPr>
          <a:xfrm>
            <a:off x="685800" y="1066800"/>
            <a:ext cx="3135313" cy="1749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耦合电容：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电解电容，有极性，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大小为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F~50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F</a:t>
            </a:r>
          </a:p>
        </p:txBody>
      </p:sp>
      <p:sp>
        <p:nvSpPr>
          <p:cNvPr id="546822" name="AutoShape 6"/>
          <p:cNvSpPr/>
          <p:nvPr/>
        </p:nvSpPr>
        <p:spPr>
          <a:xfrm>
            <a:off x="5334000" y="484188"/>
            <a:ext cx="3048000" cy="15906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作用：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隔直通交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隔离输入输出与电路直流的联系，同时能使信号顺利输入输出。</a:t>
            </a:r>
          </a:p>
        </p:txBody>
      </p:sp>
      <p:sp>
        <p:nvSpPr>
          <p:cNvPr id="34822" name="Text Box 7"/>
          <p:cNvSpPr txBox="1"/>
          <p:nvPr/>
        </p:nvSpPr>
        <p:spPr>
          <a:xfrm>
            <a:off x="6248400" y="2590800"/>
            <a:ext cx="4032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+</a:t>
            </a:r>
          </a:p>
        </p:txBody>
      </p:sp>
      <p:sp>
        <p:nvSpPr>
          <p:cNvPr id="34823" name="Text Box 8"/>
          <p:cNvSpPr txBox="1"/>
          <p:nvPr/>
        </p:nvSpPr>
        <p:spPr>
          <a:xfrm>
            <a:off x="3429000" y="3124200"/>
            <a:ext cx="404813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+</a:t>
            </a:r>
          </a:p>
        </p:txBody>
      </p:sp>
      <p:pic>
        <p:nvPicPr>
          <p:cNvPr id="34824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438400"/>
            <a:ext cx="5943600" cy="3979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5" name="Text Box 10"/>
          <p:cNvSpPr txBox="1"/>
          <p:nvPr/>
        </p:nvSpPr>
        <p:spPr>
          <a:xfrm>
            <a:off x="609600" y="228600"/>
            <a:ext cx="2628900" cy="579438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各元件作用：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21" grpId="0" bldLvl="0" animBg="1"/>
      <p:bldP spid="546822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ext Box 2"/>
          <p:cNvSpPr txBox="1"/>
          <p:nvPr/>
        </p:nvSpPr>
        <p:spPr>
          <a:xfrm>
            <a:off x="1511300" y="0"/>
            <a:ext cx="5867400" cy="5794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基本放大电路的习惯画法</a:t>
            </a:r>
          </a:p>
        </p:txBody>
      </p:sp>
      <p:pic>
        <p:nvPicPr>
          <p:cNvPr id="54784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88" y="4341813"/>
            <a:ext cx="3581400" cy="2339975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35843" name="AutoShape 6"/>
          <p:cNvSpPr>
            <a:spLocks noChangeAspect="1" noTextEdit="1"/>
          </p:cNvSpPr>
          <p:nvPr/>
        </p:nvSpPr>
        <p:spPr>
          <a:xfrm>
            <a:off x="341313" y="4329113"/>
            <a:ext cx="3581400" cy="2339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844" name="Group 238"/>
          <p:cNvGrpSpPr/>
          <p:nvPr/>
        </p:nvGrpSpPr>
        <p:grpSpPr>
          <a:xfrm>
            <a:off x="2185988" y="549275"/>
            <a:ext cx="4419600" cy="2835275"/>
            <a:chOff x="1661" y="657"/>
            <a:chExt cx="2784" cy="1701"/>
          </a:xfrm>
        </p:grpSpPr>
        <p:sp>
          <p:nvSpPr>
            <p:cNvPr id="35845" name="AutoShape 105"/>
            <p:cNvSpPr>
              <a:spLocks noChangeAspect="1" noTextEdit="1"/>
            </p:cNvSpPr>
            <p:nvPr/>
          </p:nvSpPr>
          <p:spPr>
            <a:xfrm>
              <a:off x="1661" y="657"/>
              <a:ext cx="2784" cy="170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6" name="Line 107"/>
            <p:cNvSpPr/>
            <p:nvPr/>
          </p:nvSpPr>
          <p:spPr>
            <a:xfrm>
              <a:off x="1870" y="1159"/>
              <a:ext cx="50" cy="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7" name="Oval 108"/>
            <p:cNvSpPr/>
            <p:nvPr/>
          </p:nvSpPr>
          <p:spPr>
            <a:xfrm>
              <a:off x="1797" y="1126"/>
              <a:ext cx="73" cy="65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8" name="Rectangle 109"/>
            <p:cNvSpPr/>
            <p:nvPr/>
          </p:nvSpPr>
          <p:spPr>
            <a:xfrm>
              <a:off x="1723" y="1126"/>
              <a:ext cx="47" cy="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00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9" name="Line 110"/>
            <p:cNvSpPr/>
            <p:nvPr/>
          </p:nvSpPr>
          <p:spPr>
            <a:xfrm>
              <a:off x="1895" y="2205"/>
              <a:ext cx="49" cy="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0" name="Oval 111"/>
            <p:cNvSpPr/>
            <p:nvPr/>
          </p:nvSpPr>
          <p:spPr>
            <a:xfrm>
              <a:off x="1821" y="2173"/>
              <a:ext cx="74" cy="65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1" name="Rectangle 112"/>
            <p:cNvSpPr/>
            <p:nvPr/>
          </p:nvSpPr>
          <p:spPr>
            <a:xfrm>
              <a:off x="1747" y="2173"/>
              <a:ext cx="47" cy="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00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2" name="Line 113"/>
            <p:cNvSpPr/>
            <p:nvPr/>
          </p:nvSpPr>
          <p:spPr>
            <a:xfrm>
              <a:off x="2339" y="1900"/>
              <a:ext cx="123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3" name="Line 114"/>
            <p:cNvSpPr/>
            <p:nvPr/>
          </p:nvSpPr>
          <p:spPr>
            <a:xfrm flipH="1">
              <a:off x="2277" y="1933"/>
              <a:ext cx="246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4" name="Line 115"/>
            <p:cNvSpPr/>
            <p:nvPr/>
          </p:nvSpPr>
          <p:spPr>
            <a:xfrm>
              <a:off x="2339" y="1976"/>
              <a:ext cx="123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5" name="Line 116"/>
            <p:cNvSpPr/>
            <p:nvPr/>
          </p:nvSpPr>
          <p:spPr>
            <a:xfrm>
              <a:off x="2400" y="1813"/>
              <a:ext cx="1" cy="5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6" name="Line 117"/>
            <p:cNvSpPr/>
            <p:nvPr/>
          </p:nvSpPr>
          <p:spPr>
            <a:xfrm flipV="1">
              <a:off x="2400" y="1976"/>
              <a:ext cx="1" cy="6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7" name="Line 118"/>
            <p:cNvSpPr/>
            <p:nvPr/>
          </p:nvSpPr>
          <p:spPr>
            <a:xfrm>
              <a:off x="2277" y="1867"/>
              <a:ext cx="246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8" name="Line 119"/>
            <p:cNvSpPr/>
            <p:nvPr/>
          </p:nvSpPr>
          <p:spPr>
            <a:xfrm flipV="1">
              <a:off x="2400" y="1715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9" name="Line 120"/>
            <p:cNvSpPr/>
            <p:nvPr/>
          </p:nvSpPr>
          <p:spPr>
            <a:xfrm>
              <a:off x="2400" y="1715"/>
              <a:ext cx="1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0" name="Line 121"/>
            <p:cNvSpPr/>
            <p:nvPr/>
          </p:nvSpPr>
          <p:spPr>
            <a:xfrm flipV="1">
              <a:off x="2400" y="2042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1" name="Line 122"/>
            <p:cNvSpPr/>
            <p:nvPr/>
          </p:nvSpPr>
          <p:spPr>
            <a:xfrm>
              <a:off x="3435" y="1202"/>
              <a:ext cx="98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2" name="Line 123"/>
            <p:cNvSpPr/>
            <p:nvPr/>
          </p:nvSpPr>
          <p:spPr>
            <a:xfrm>
              <a:off x="3533" y="1202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3" name="Line 124"/>
            <p:cNvSpPr/>
            <p:nvPr/>
          </p:nvSpPr>
          <p:spPr>
            <a:xfrm flipH="1">
              <a:off x="3435" y="1420"/>
              <a:ext cx="98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4" name="Line 125"/>
            <p:cNvSpPr/>
            <p:nvPr/>
          </p:nvSpPr>
          <p:spPr>
            <a:xfrm flipV="1">
              <a:off x="3435" y="1202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5" name="Line 126"/>
            <p:cNvSpPr/>
            <p:nvPr/>
          </p:nvSpPr>
          <p:spPr>
            <a:xfrm>
              <a:off x="3484" y="1093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6" name="Line 127"/>
            <p:cNvSpPr/>
            <p:nvPr/>
          </p:nvSpPr>
          <p:spPr>
            <a:xfrm flipV="1">
              <a:off x="3484" y="1420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7" name="Line 128"/>
            <p:cNvSpPr/>
            <p:nvPr/>
          </p:nvSpPr>
          <p:spPr>
            <a:xfrm>
              <a:off x="2351" y="1388"/>
              <a:ext cx="98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8" name="Line 129"/>
            <p:cNvSpPr/>
            <p:nvPr/>
          </p:nvSpPr>
          <p:spPr>
            <a:xfrm>
              <a:off x="2449" y="1388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9" name="Line 130"/>
            <p:cNvSpPr/>
            <p:nvPr/>
          </p:nvSpPr>
          <p:spPr>
            <a:xfrm flipH="1">
              <a:off x="2351" y="1606"/>
              <a:ext cx="98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0" name="Line 131"/>
            <p:cNvSpPr/>
            <p:nvPr/>
          </p:nvSpPr>
          <p:spPr>
            <a:xfrm flipV="1">
              <a:off x="2351" y="1388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1" name="Line 132"/>
            <p:cNvSpPr/>
            <p:nvPr/>
          </p:nvSpPr>
          <p:spPr>
            <a:xfrm>
              <a:off x="2400" y="1279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2" name="Line 133"/>
            <p:cNvSpPr/>
            <p:nvPr/>
          </p:nvSpPr>
          <p:spPr>
            <a:xfrm flipV="1">
              <a:off x="2400" y="1606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3" name="Line 134"/>
            <p:cNvSpPr/>
            <p:nvPr/>
          </p:nvSpPr>
          <p:spPr>
            <a:xfrm>
              <a:off x="3731" y="886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4" name="Line 135"/>
            <p:cNvSpPr/>
            <p:nvPr/>
          </p:nvSpPr>
          <p:spPr>
            <a:xfrm>
              <a:off x="3780" y="886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5" name="Line 136"/>
            <p:cNvSpPr/>
            <p:nvPr/>
          </p:nvSpPr>
          <p:spPr>
            <a:xfrm>
              <a:off x="3780" y="941"/>
              <a:ext cx="37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6" name="Line 137"/>
            <p:cNvSpPr/>
            <p:nvPr/>
          </p:nvSpPr>
          <p:spPr>
            <a:xfrm>
              <a:off x="3694" y="941"/>
              <a:ext cx="37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7" name="Line 138"/>
            <p:cNvSpPr/>
            <p:nvPr/>
          </p:nvSpPr>
          <p:spPr>
            <a:xfrm>
              <a:off x="3570" y="941"/>
              <a:ext cx="124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8" name="Line 139"/>
            <p:cNvSpPr/>
            <p:nvPr/>
          </p:nvSpPr>
          <p:spPr>
            <a:xfrm flipH="1">
              <a:off x="3817" y="941"/>
              <a:ext cx="123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9" name="Line 140"/>
            <p:cNvSpPr/>
            <p:nvPr/>
          </p:nvSpPr>
          <p:spPr>
            <a:xfrm flipH="1">
              <a:off x="2856" y="1050"/>
              <a:ext cx="123" cy="7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0" name="Line 141"/>
            <p:cNvSpPr/>
            <p:nvPr/>
          </p:nvSpPr>
          <p:spPr>
            <a:xfrm>
              <a:off x="2856" y="1191"/>
              <a:ext cx="123" cy="7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1" name="Line 142"/>
            <p:cNvSpPr/>
            <p:nvPr/>
          </p:nvSpPr>
          <p:spPr>
            <a:xfrm>
              <a:off x="2856" y="1050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2" name="Line 143"/>
            <p:cNvSpPr/>
            <p:nvPr/>
          </p:nvSpPr>
          <p:spPr>
            <a:xfrm flipH="1">
              <a:off x="2733" y="1159"/>
              <a:ext cx="123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3" name="Freeform 144"/>
            <p:cNvSpPr/>
            <p:nvPr/>
          </p:nvSpPr>
          <p:spPr>
            <a:xfrm>
              <a:off x="2905" y="1213"/>
              <a:ext cx="74" cy="55"/>
            </a:xfrm>
            <a:custGeom>
              <a:avLst/>
              <a:gdLst/>
              <a:ahLst/>
              <a:cxnLst>
                <a:cxn ang="0">
                  <a:pos x="74" y="55"/>
                </a:cxn>
                <a:cxn ang="0">
                  <a:pos x="25" y="0"/>
                </a:cxn>
                <a:cxn ang="0">
                  <a:pos x="0" y="33"/>
                </a:cxn>
                <a:cxn ang="0">
                  <a:pos x="74" y="55"/>
                </a:cxn>
              </a:cxnLst>
              <a:rect l="0" t="0" r="0" b="0"/>
              <a:pathLst>
                <a:path w="74" h="55">
                  <a:moveTo>
                    <a:pt x="74" y="55"/>
                  </a:moveTo>
                  <a:lnTo>
                    <a:pt x="25" y="0"/>
                  </a:lnTo>
                  <a:lnTo>
                    <a:pt x="0" y="33"/>
                  </a:lnTo>
                  <a:lnTo>
                    <a:pt x="74" y="55"/>
                  </a:lnTo>
                  <a:close/>
                </a:path>
              </a:pathLst>
            </a:custGeom>
            <a:solidFill>
              <a:srgbClr val="0000FF"/>
            </a:solidFill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4" name="Line 145"/>
            <p:cNvSpPr/>
            <p:nvPr/>
          </p:nvSpPr>
          <p:spPr>
            <a:xfrm>
              <a:off x="2979" y="941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5" name="Line 146"/>
            <p:cNvSpPr/>
            <p:nvPr/>
          </p:nvSpPr>
          <p:spPr>
            <a:xfrm flipV="1">
              <a:off x="2979" y="1268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6" name="Line 147"/>
            <p:cNvSpPr/>
            <p:nvPr/>
          </p:nvSpPr>
          <p:spPr>
            <a:xfrm>
              <a:off x="2610" y="1159"/>
              <a:ext cx="123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7" name="Line 148"/>
            <p:cNvSpPr/>
            <p:nvPr/>
          </p:nvSpPr>
          <p:spPr>
            <a:xfrm>
              <a:off x="2104" y="1104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8" name="Line 149"/>
            <p:cNvSpPr/>
            <p:nvPr/>
          </p:nvSpPr>
          <p:spPr>
            <a:xfrm>
              <a:off x="2154" y="1104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9" name="Line 150"/>
            <p:cNvSpPr/>
            <p:nvPr/>
          </p:nvSpPr>
          <p:spPr>
            <a:xfrm>
              <a:off x="2154" y="1159"/>
              <a:ext cx="37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0" name="Line 151"/>
            <p:cNvSpPr/>
            <p:nvPr/>
          </p:nvSpPr>
          <p:spPr>
            <a:xfrm>
              <a:off x="2068" y="1159"/>
              <a:ext cx="36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1" name="Line 152"/>
            <p:cNvSpPr/>
            <p:nvPr/>
          </p:nvSpPr>
          <p:spPr>
            <a:xfrm>
              <a:off x="1944" y="1159"/>
              <a:ext cx="124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2" name="Line 153"/>
            <p:cNvSpPr/>
            <p:nvPr/>
          </p:nvSpPr>
          <p:spPr>
            <a:xfrm flipH="1">
              <a:off x="2191" y="1159"/>
              <a:ext cx="123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3" name="Line 154"/>
            <p:cNvSpPr/>
            <p:nvPr/>
          </p:nvSpPr>
          <p:spPr>
            <a:xfrm>
              <a:off x="4038" y="1420"/>
              <a:ext cx="99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4" name="Line 155"/>
            <p:cNvSpPr/>
            <p:nvPr/>
          </p:nvSpPr>
          <p:spPr>
            <a:xfrm>
              <a:off x="4137" y="1420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5" name="Line 156"/>
            <p:cNvSpPr/>
            <p:nvPr/>
          </p:nvSpPr>
          <p:spPr>
            <a:xfrm flipH="1">
              <a:off x="4038" y="1638"/>
              <a:ext cx="99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6" name="Line 157"/>
            <p:cNvSpPr/>
            <p:nvPr/>
          </p:nvSpPr>
          <p:spPr>
            <a:xfrm flipV="1">
              <a:off x="4038" y="1420"/>
              <a:ext cx="1" cy="21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7" name="Line 158"/>
            <p:cNvSpPr/>
            <p:nvPr/>
          </p:nvSpPr>
          <p:spPr>
            <a:xfrm>
              <a:off x="4088" y="1311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8" name="Line 159"/>
            <p:cNvSpPr/>
            <p:nvPr/>
          </p:nvSpPr>
          <p:spPr>
            <a:xfrm flipV="1">
              <a:off x="4088" y="1638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9" name="Line 160"/>
            <p:cNvSpPr/>
            <p:nvPr/>
          </p:nvSpPr>
          <p:spPr>
            <a:xfrm>
              <a:off x="3423" y="1715"/>
              <a:ext cx="123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0" name="Line 161"/>
            <p:cNvSpPr/>
            <p:nvPr/>
          </p:nvSpPr>
          <p:spPr>
            <a:xfrm flipH="1">
              <a:off x="3361" y="1747"/>
              <a:ext cx="246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1" name="Line 162"/>
            <p:cNvSpPr/>
            <p:nvPr/>
          </p:nvSpPr>
          <p:spPr>
            <a:xfrm>
              <a:off x="3423" y="1791"/>
              <a:ext cx="123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2" name="Line 163"/>
            <p:cNvSpPr/>
            <p:nvPr/>
          </p:nvSpPr>
          <p:spPr>
            <a:xfrm>
              <a:off x="3484" y="1627"/>
              <a:ext cx="1" cy="55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3" name="Line 164"/>
            <p:cNvSpPr/>
            <p:nvPr/>
          </p:nvSpPr>
          <p:spPr>
            <a:xfrm flipV="1">
              <a:off x="3484" y="1791"/>
              <a:ext cx="1" cy="65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4" name="Line 165"/>
            <p:cNvSpPr/>
            <p:nvPr/>
          </p:nvSpPr>
          <p:spPr>
            <a:xfrm>
              <a:off x="3361" y="1682"/>
              <a:ext cx="246" cy="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5" name="Line 166"/>
            <p:cNvSpPr/>
            <p:nvPr/>
          </p:nvSpPr>
          <p:spPr>
            <a:xfrm flipV="1">
              <a:off x="3484" y="1529"/>
              <a:ext cx="1" cy="109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6" name="Line 167"/>
            <p:cNvSpPr/>
            <p:nvPr/>
          </p:nvSpPr>
          <p:spPr>
            <a:xfrm>
              <a:off x="3484" y="1529"/>
              <a:ext cx="1" cy="1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7" name="Line 168"/>
            <p:cNvSpPr/>
            <p:nvPr/>
          </p:nvSpPr>
          <p:spPr>
            <a:xfrm flipV="1">
              <a:off x="3484" y="1856"/>
              <a:ext cx="1" cy="109"/>
            </a:xfrm>
            <a:prstGeom prst="line">
              <a:avLst/>
            </a:prstGeom>
            <a:ln w="19050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8" name="Line 169"/>
            <p:cNvSpPr/>
            <p:nvPr/>
          </p:nvSpPr>
          <p:spPr>
            <a:xfrm>
              <a:off x="2856" y="2303"/>
              <a:ext cx="246" cy="1"/>
            </a:xfrm>
            <a:prstGeom prst="line">
              <a:avLst/>
            </a:prstGeom>
            <a:ln w="19050" cap="flat" cmpd="sng">
              <a:solidFill>
                <a:srgbClr val="0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09" name="Rectangle 170"/>
            <p:cNvSpPr/>
            <p:nvPr/>
          </p:nvSpPr>
          <p:spPr>
            <a:xfrm>
              <a:off x="4038" y="1420"/>
              <a:ext cx="111" cy="229"/>
            </a:xfrm>
            <a:prstGeom prst="rect">
              <a:avLst/>
            </a:prstGeom>
            <a:solidFill>
              <a:srgbClr val="0080FF"/>
            </a:solidFill>
            <a:ln w="19050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0" name="Rectangle 171"/>
            <p:cNvSpPr/>
            <p:nvPr/>
          </p:nvSpPr>
          <p:spPr>
            <a:xfrm>
              <a:off x="4038" y="1420"/>
              <a:ext cx="111" cy="229"/>
            </a:xfrm>
            <a:prstGeom prst="rect">
              <a:avLst/>
            </a:prstGeom>
            <a:solidFill>
              <a:srgbClr val="0080C0"/>
            </a:solidFill>
            <a:ln w="19050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1" name="Rectangle 172"/>
            <p:cNvSpPr/>
            <p:nvPr/>
          </p:nvSpPr>
          <p:spPr>
            <a:xfrm>
              <a:off x="2351" y="1388"/>
              <a:ext cx="111" cy="229"/>
            </a:xfrm>
            <a:prstGeom prst="rect">
              <a:avLst/>
            </a:prstGeom>
            <a:solidFill>
              <a:srgbClr val="0080FF"/>
            </a:solidFill>
            <a:ln w="19050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2" name="Rectangle 173"/>
            <p:cNvSpPr/>
            <p:nvPr/>
          </p:nvSpPr>
          <p:spPr>
            <a:xfrm>
              <a:off x="2351" y="1388"/>
              <a:ext cx="111" cy="229"/>
            </a:xfrm>
            <a:prstGeom prst="rect">
              <a:avLst/>
            </a:prstGeom>
            <a:solidFill>
              <a:srgbClr val="0080C0"/>
            </a:solidFill>
            <a:ln w="19050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3" name="Rectangle 174"/>
            <p:cNvSpPr/>
            <p:nvPr/>
          </p:nvSpPr>
          <p:spPr>
            <a:xfrm>
              <a:off x="3435" y="1202"/>
              <a:ext cx="111" cy="229"/>
            </a:xfrm>
            <a:prstGeom prst="rect">
              <a:avLst/>
            </a:prstGeom>
            <a:solidFill>
              <a:srgbClr val="0080C0"/>
            </a:solidFill>
            <a:ln w="19050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4" name="Rectangle 175"/>
            <p:cNvSpPr/>
            <p:nvPr/>
          </p:nvSpPr>
          <p:spPr>
            <a:xfrm>
              <a:off x="3435" y="1202"/>
              <a:ext cx="111" cy="229"/>
            </a:xfrm>
            <a:prstGeom prst="rect">
              <a:avLst/>
            </a:prstGeom>
            <a:solidFill>
              <a:srgbClr val="0080FF"/>
            </a:solidFill>
            <a:ln w="19050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5" name="Rectangle 176"/>
            <p:cNvSpPr/>
            <p:nvPr/>
          </p:nvSpPr>
          <p:spPr>
            <a:xfrm>
              <a:off x="3435" y="1202"/>
              <a:ext cx="111" cy="229"/>
            </a:xfrm>
            <a:prstGeom prst="rect">
              <a:avLst/>
            </a:prstGeom>
            <a:solidFill>
              <a:srgbClr val="0080FF"/>
            </a:solidFill>
            <a:ln w="19050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6" name="Rectangle 177"/>
            <p:cNvSpPr/>
            <p:nvPr/>
          </p:nvSpPr>
          <p:spPr>
            <a:xfrm>
              <a:off x="3435" y="1202"/>
              <a:ext cx="111" cy="229"/>
            </a:xfrm>
            <a:prstGeom prst="rect">
              <a:avLst/>
            </a:prstGeom>
            <a:solidFill>
              <a:srgbClr val="FFFF00"/>
            </a:solidFill>
            <a:ln w="19050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7" name="Rectangle 178"/>
            <p:cNvSpPr/>
            <p:nvPr/>
          </p:nvSpPr>
          <p:spPr>
            <a:xfrm>
              <a:off x="3435" y="1202"/>
              <a:ext cx="111" cy="229"/>
            </a:xfrm>
            <a:prstGeom prst="rect">
              <a:avLst/>
            </a:prstGeom>
            <a:solidFill>
              <a:srgbClr val="0080FF"/>
            </a:solidFill>
            <a:ln w="19050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8" name="Line 179"/>
            <p:cNvSpPr/>
            <p:nvPr/>
          </p:nvSpPr>
          <p:spPr>
            <a:xfrm>
              <a:off x="1920" y="1159"/>
              <a:ext cx="24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19" name="Line 180"/>
            <p:cNvSpPr/>
            <p:nvPr/>
          </p:nvSpPr>
          <p:spPr>
            <a:xfrm flipV="1">
              <a:off x="4088" y="941"/>
              <a:ext cx="1" cy="370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0" name="Line 181"/>
            <p:cNvSpPr/>
            <p:nvPr/>
          </p:nvSpPr>
          <p:spPr>
            <a:xfrm>
              <a:off x="2400" y="1159"/>
              <a:ext cx="210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1" name="Oval 182"/>
            <p:cNvSpPr/>
            <p:nvPr/>
          </p:nvSpPr>
          <p:spPr>
            <a:xfrm>
              <a:off x="2375" y="1137"/>
              <a:ext cx="50" cy="43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22" name="Line 183"/>
            <p:cNvSpPr/>
            <p:nvPr/>
          </p:nvSpPr>
          <p:spPr>
            <a:xfrm>
              <a:off x="2314" y="1159"/>
              <a:ext cx="86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3" name="Line 184"/>
            <p:cNvSpPr/>
            <p:nvPr/>
          </p:nvSpPr>
          <p:spPr>
            <a:xfrm>
              <a:off x="2979" y="1377"/>
              <a:ext cx="1" cy="817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4" name="Line 185"/>
            <p:cNvSpPr/>
            <p:nvPr/>
          </p:nvSpPr>
          <p:spPr>
            <a:xfrm>
              <a:off x="3940" y="941"/>
              <a:ext cx="148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5" name="Line 186"/>
            <p:cNvSpPr/>
            <p:nvPr/>
          </p:nvSpPr>
          <p:spPr>
            <a:xfrm flipV="1">
              <a:off x="2400" y="1169"/>
              <a:ext cx="1" cy="110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6" name="Line 187"/>
            <p:cNvSpPr/>
            <p:nvPr/>
          </p:nvSpPr>
          <p:spPr>
            <a:xfrm flipV="1">
              <a:off x="3484" y="941"/>
              <a:ext cx="1" cy="152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7" name="Line 188"/>
            <p:cNvSpPr/>
            <p:nvPr/>
          </p:nvSpPr>
          <p:spPr>
            <a:xfrm>
              <a:off x="2979" y="941"/>
              <a:ext cx="505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28" name="Oval 189"/>
            <p:cNvSpPr/>
            <p:nvPr/>
          </p:nvSpPr>
          <p:spPr>
            <a:xfrm>
              <a:off x="3460" y="919"/>
              <a:ext cx="49" cy="43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29" name="Line 190"/>
            <p:cNvSpPr/>
            <p:nvPr/>
          </p:nvSpPr>
          <p:spPr>
            <a:xfrm>
              <a:off x="3484" y="941"/>
              <a:ext cx="86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0" name="Line 191"/>
            <p:cNvSpPr/>
            <p:nvPr/>
          </p:nvSpPr>
          <p:spPr>
            <a:xfrm flipH="1">
              <a:off x="3484" y="2205"/>
              <a:ext cx="604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1" name="Oval 192"/>
            <p:cNvSpPr/>
            <p:nvPr/>
          </p:nvSpPr>
          <p:spPr>
            <a:xfrm>
              <a:off x="3460" y="2184"/>
              <a:ext cx="49" cy="43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32" name="Line 193"/>
            <p:cNvSpPr/>
            <p:nvPr/>
          </p:nvSpPr>
          <p:spPr>
            <a:xfrm>
              <a:off x="2400" y="2151"/>
              <a:ext cx="1" cy="54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3" name="Oval 194"/>
            <p:cNvSpPr/>
            <p:nvPr/>
          </p:nvSpPr>
          <p:spPr>
            <a:xfrm>
              <a:off x="2375" y="2184"/>
              <a:ext cx="50" cy="43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34" name="Line 195"/>
            <p:cNvSpPr/>
            <p:nvPr/>
          </p:nvSpPr>
          <p:spPr>
            <a:xfrm>
              <a:off x="3484" y="1965"/>
              <a:ext cx="1" cy="240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5" name="Line 196"/>
            <p:cNvSpPr/>
            <p:nvPr/>
          </p:nvSpPr>
          <p:spPr>
            <a:xfrm flipH="1">
              <a:off x="2979" y="2205"/>
              <a:ext cx="505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6" name="Oval 197"/>
            <p:cNvSpPr/>
            <p:nvPr/>
          </p:nvSpPr>
          <p:spPr>
            <a:xfrm>
              <a:off x="2954" y="2184"/>
              <a:ext cx="50" cy="43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37" name="Line 198"/>
            <p:cNvSpPr/>
            <p:nvPr/>
          </p:nvSpPr>
          <p:spPr>
            <a:xfrm>
              <a:off x="1944" y="2205"/>
              <a:ext cx="456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8" name="Line 199"/>
            <p:cNvSpPr/>
            <p:nvPr/>
          </p:nvSpPr>
          <p:spPr>
            <a:xfrm flipH="1">
              <a:off x="2400" y="2205"/>
              <a:ext cx="579" cy="1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39" name="Line 200"/>
            <p:cNvSpPr/>
            <p:nvPr/>
          </p:nvSpPr>
          <p:spPr>
            <a:xfrm>
              <a:off x="4088" y="1747"/>
              <a:ext cx="1" cy="458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40" name="Line 201"/>
            <p:cNvSpPr/>
            <p:nvPr/>
          </p:nvSpPr>
          <p:spPr>
            <a:xfrm>
              <a:off x="2979" y="2205"/>
              <a:ext cx="1" cy="98"/>
            </a:xfrm>
            <a:prstGeom prst="line">
              <a:avLst/>
            </a:prstGeom>
            <a:ln w="19050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41" name="Rectangle 202"/>
            <p:cNvSpPr/>
            <p:nvPr/>
          </p:nvSpPr>
          <p:spPr>
            <a:xfrm>
              <a:off x="3792" y="788"/>
              <a:ext cx="112" cy="1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b2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2" name="Rectangle 203"/>
            <p:cNvSpPr/>
            <p:nvPr/>
          </p:nvSpPr>
          <p:spPr>
            <a:xfrm>
              <a:off x="2215" y="1486"/>
              <a:ext cx="56" cy="1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3" name="Rectangle 204"/>
            <p:cNvSpPr/>
            <p:nvPr/>
          </p:nvSpPr>
          <p:spPr>
            <a:xfrm>
              <a:off x="1784" y="1900"/>
              <a:ext cx="106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-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4" name="Rectangle 205"/>
            <p:cNvSpPr/>
            <p:nvPr/>
          </p:nvSpPr>
          <p:spPr>
            <a:xfrm>
              <a:off x="1858" y="1693"/>
              <a:ext cx="31" cy="1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5" name="Rectangle 206"/>
            <p:cNvSpPr/>
            <p:nvPr/>
          </p:nvSpPr>
          <p:spPr>
            <a:xfrm>
              <a:off x="1760" y="1573"/>
              <a:ext cx="88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6" name="Rectangle 207"/>
            <p:cNvSpPr/>
            <p:nvPr/>
          </p:nvSpPr>
          <p:spPr>
            <a:xfrm>
              <a:off x="3669" y="712"/>
              <a:ext cx="117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7" name="Rectangle 208"/>
            <p:cNvSpPr/>
            <p:nvPr/>
          </p:nvSpPr>
          <p:spPr>
            <a:xfrm>
              <a:off x="1784" y="1235"/>
              <a:ext cx="9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8" name="Rectangle 209"/>
            <p:cNvSpPr/>
            <p:nvPr/>
          </p:nvSpPr>
          <p:spPr>
            <a:xfrm>
              <a:off x="2104" y="1388"/>
              <a:ext cx="108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49" name="Rectangle 210"/>
            <p:cNvSpPr/>
            <p:nvPr/>
          </p:nvSpPr>
          <p:spPr>
            <a:xfrm>
              <a:off x="4236" y="1846"/>
              <a:ext cx="106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-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0" name="Rectangle 211"/>
            <p:cNvSpPr/>
            <p:nvPr/>
          </p:nvSpPr>
          <p:spPr>
            <a:xfrm>
              <a:off x="2117" y="941"/>
              <a:ext cx="112" cy="1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b1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1" name="Rectangle 212"/>
            <p:cNvSpPr/>
            <p:nvPr/>
          </p:nvSpPr>
          <p:spPr>
            <a:xfrm>
              <a:off x="3792" y="1431"/>
              <a:ext cx="108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2" name="Rectangle 213"/>
            <p:cNvSpPr/>
            <p:nvPr/>
          </p:nvSpPr>
          <p:spPr>
            <a:xfrm>
              <a:off x="4211" y="1388"/>
              <a:ext cx="88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3" name="Rectangle 214"/>
            <p:cNvSpPr/>
            <p:nvPr/>
          </p:nvSpPr>
          <p:spPr>
            <a:xfrm>
              <a:off x="3028" y="1093"/>
              <a:ext cx="106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T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4" name="Rectangle 215"/>
            <p:cNvSpPr/>
            <p:nvPr/>
          </p:nvSpPr>
          <p:spPr>
            <a:xfrm>
              <a:off x="4309" y="1508"/>
              <a:ext cx="56" cy="1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5" name="Rectangle 216"/>
            <p:cNvSpPr/>
            <p:nvPr/>
          </p:nvSpPr>
          <p:spPr>
            <a:xfrm>
              <a:off x="3903" y="1508"/>
              <a:ext cx="68" cy="1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6" name="Rectangle 217"/>
            <p:cNvSpPr/>
            <p:nvPr/>
          </p:nvSpPr>
          <p:spPr>
            <a:xfrm>
              <a:off x="4236" y="1039"/>
              <a:ext cx="9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7" name="Rectangle 218"/>
            <p:cNvSpPr/>
            <p:nvPr/>
          </p:nvSpPr>
          <p:spPr>
            <a:xfrm>
              <a:off x="1994" y="864"/>
              <a:ext cx="117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8" name="Rectangle 219"/>
            <p:cNvSpPr/>
            <p:nvPr/>
          </p:nvSpPr>
          <p:spPr>
            <a:xfrm>
              <a:off x="3731" y="1289"/>
              <a:ext cx="50" cy="1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59" name="Rectangle 220"/>
            <p:cNvSpPr/>
            <p:nvPr/>
          </p:nvSpPr>
          <p:spPr>
            <a:xfrm>
              <a:off x="3620" y="1213"/>
              <a:ext cx="108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0" name="Rectangle 221"/>
            <p:cNvSpPr/>
            <p:nvPr/>
          </p:nvSpPr>
          <p:spPr>
            <a:xfrm>
              <a:off x="3644" y="1704"/>
              <a:ext cx="108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1" name="Rectangle 222"/>
            <p:cNvSpPr/>
            <p:nvPr/>
          </p:nvSpPr>
          <p:spPr>
            <a:xfrm>
              <a:off x="3731" y="1813"/>
              <a:ext cx="150" cy="1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2" name="Rectangle 223"/>
            <p:cNvSpPr/>
            <p:nvPr/>
          </p:nvSpPr>
          <p:spPr>
            <a:xfrm>
              <a:off x="2092" y="1911"/>
              <a:ext cx="150" cy="1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BB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3" name="Rectangle 224"/>
            <p:cNvSpPr/>
            <p:nvPr/>
          </p:nvSpPr>
          <p:spPr>
            <a:xfrm>
              <a:off x="2006" y="1802"/>
              <a:ext cx="108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2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964" name="Group 240"/>
          <p:cNvGrpSpPr/>
          <p:nvPr/>
        </p:nvGrpSpPr>
        <p:grpSpPr>
          <a:xfrm>
            <a:off x="431800" y="4554538"/>
            <a:ext cx="3876675" cy="2081212"/>
            <a:chOff x="296" y="2729"/>
            <a:chExt cx="2442" cy="1311"/>
          </a:xfrm>
        </p:grpSpPr>
        <p:sp>
          <p:nvSpPr>
            <p:cNvPr id="35965" name="Line 11"/>
            <p:cNvSpPr/>
            <p:nvPr/>
          </p:nvSpPr>
          <p:spPr>
            <a:xfrm>
              <a:off x="434" y="3379"/>
              <a:ext cx="45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66" name="Oval 12"/>
            <p:cNvSpPr/>
            <p:nvPr/>
          </p:nvSpPr>
          <p:spPr>
            <a:xfrm>
              <a:off x="365" y="3350"/>
              <a:ext cx="69" cy="58"/>
            </a:xfrm>
            <a:prstGeom prst="ellipse">
              <a:avLst/>
            </a:pr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7" name="Rectangle 13"/>
            <p:cNvSpPr/>
            <p:nvPr/>
          </p:nvSpPr>
          <p:spPr>
            <a:xfrm>
              <a:off x="296" y="3350"/>
              <a:ext cx="42" cy="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90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68" name="Line 14"/>
            <p:cNvSpPr/>
            <p:nvPr/>
          </p:nvSpPr>
          <p:spPr>
            <a:xfrm>
              <a:off x="457" y="3951"/>
              <a:ext cx="45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69" name="Oval 15"/>
            <p:cNvSpPr/>
            <p:nvPr/>
          </p:nvSpPr>
          <p:spPr>
            <a:xfrm>
              <a:off x="388" y="3922"/>
              <a:ext cx="69" cy="58"/>
            </a:xfrm>
            <a:prstGeom prst="ellipse">
              <a:avLst/>
            </a:pr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70" name="Rectangle 16"/>
            <p:cNvSpPr/>
            <p:nvPr/>
          </p:nvSpPr>
          <p:spPr>
            <a:xfrm>
              <a:off x="319" y="3922"/>
              <a:ext cx="42" cy="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90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71" name="Line 17"/>
            <p:cNvSpPr/>
            <p:nvPr/>
          </p:nvSpPr>
          <p:spPr>
            <a:xfrm>
              <a:off x="880" y="2943"/>
              <a:ext cx="92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2" name="Line 18"/>
            <p:cNvSpPr/>
            <p:nvPr/>
          </p:nvSpPr>
          <p:spPr>
            <a:xfrm>
              <a:off x="972" y="2943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3" name="Line 19"/>
            <p:cNvSpPr/>
            <p:nvPr/>
          </p:nvSpPr>
          <p:spPr>
            <a:xfrm flipH="1">
              <a:off x="880" y="3137"/>
              <a:ext cx="92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4" name="Line 20"/>
            <p:cNvSpPr/>
            <p:nvPr/>
          </p:nvSpPr>
          <p:spPr>
            <a:xfrm flipV="1">
              <a:off x="880" y="2943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5" name="Line 21"/>
            <p:cNvSpPr/>
            <p:nvPr/>
          </p:nvSpPr>
          <p:spPr>
            <a:xfrm>
              <a:off x="926" y="2846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6" name="Line 22"/>
            <p:cNvSpPr/>
            <p:nvPr/>
          </p:nvSpPr>
          <p:spPr>
            <a:xfrm flipV="1">
              <a:off x="926" y="3137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7" name="Line 23"/>
            <p:cNvSpPr/>
            <p:nvPr/>
          </p:nvSpPr>
          <p:spPr>
            <a:xfrm>
              <a:off x="651" y="3331"/>
              <a:ext cx="1" cy="9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8" name="Line 24"/>
            <p:cNvSpPr/>
            <p:nvPr/>
          </p:nvSpPr>
          <p:spPr>
            <a:xfrm>
              <a:off x="697" y="3331"/>
              <a:ext cx="1" cy="9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79" name="Line 25"/>
            <p:cNvSpPr/>
            <p:nvPr/>
          </p:nvSpPr>
          <p:spPr>
            <a:xfrm>
              <a:off x="697" y="3379"/>
              <a:ext cx="34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0" name="Line 26"/>
            <p:cNvSpPr/>
            <p:nvPr/>
          </p:nvSpPr>
          <p:spPr>
            <a:xfrm>
              <a:off x="617" y="3379"/>
              <a:ext cx="34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1" name="Line 27"/>
            <p:cNvSpPr/>
            <p:nvPr/>
          </p:nvSpPr>
          <p:spPr>
            <a:xfrm>
              <a:off x="502" y="3379"/>
              <a:ext cx="115" cy="1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2" name="Line 28"/>
            <p:cNvSpPr/>
            <p:nvPr/>
          </p:nvSpPr>
          <p:spPr>
            <a:xfrm flipH="1">
              <a:off x="731" y="3379"/>
              <a:ext cx="115" cy="1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3" name="Line 29"/>
            <p:cNvSpPr/>
            <p:nvPr/>
          </p:nvSpPr>
          <p:spPr>
            <a:xfrm>
              <a:off x="1419" y="2894"/>
              <a:ext cx="91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4" name="Line 30"/>
            <p:cNvSpPr/>
            <p:nvPr/>
          </p:nvSpPr>
          <p:spPr>
            <a:xfrm>
              <a:off x="1510" y="2894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5" name="Line 31"/>
            <p:cNvSpPr/>
            <p:nvPr/>
          </p:nvSpPr>
          <p:spPr>
            <a:xfrm flipH="1">
              <a:off x="1419" y="3088"/>
              <a:ext cx="91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6" name="Line 32"/>
            <p:cNvSpPr/>
            <p:nvPr/>
          </p:nvSpPr>
          <p:spPr>
            <a:xfrm flipV="1">
              <a:off x="1419" y="2894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7" name="Line 33"/>
            <p:cNvSpPr/>
            <p:nvPr/>
          </p:nvSpPr>
          <p:spPr>
            <a:xfrm>
              <a:off x="1464" y="2797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8" name="Line 34"/>
            <p:cNvSpPr/>
            <p:nvPr/>
          </p:nvSpPr>
          <p:spPr>
            <a:xfrm flipV="1">
              <a:off x="1464" y="3088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89" name="Line 35"/>
            <p:cNvSpPr/>
            <p:nvPr/>
          </p:nvSpPr>
          <p:spPr>
            <a:xfrm>
              <a:off x="2152" y="3166"/>
              <a:ext cx="1" cy="9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0" name="Line 36"/>
            <p:cNvSpPr/>
            <p:nvPr/>
          </p:nvSpPr>
          <p:spPr>
            <a:xfrm>
              <a:off x="2198" y="3166"/>
              <a:ext cx="1" cy="97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1" name="Line 37"/>
            <p:cNvSpPr/>
            <p:nvPr/>
          </p:nvSpPr>
          <p:spPr>
            <a:xfrm>
              <a:off x="2198" y="3214"/>
              <a:ext cx="34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2" name="Line 38"/>
            <p:cNvSpPr/>
            <p:nvPr/>
          </p:nvSpPr>
          <p:spPr>
            <a:xfrm>
              <a:off x="2117" y="3214"/>
              <a:ext cx="35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3" name="Line 40"/>
            <p:cNvSpPr/>
            <p:nvPr/>
          </p:nvSpPr>
          <p:spPr>
            <a:xfrm flipH="1">
              <a:off x="2232" y="3214"/>
              <a:ext cx="114" cy="1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4" name="Line 41"/>
            <p:cNvSpPr/>
            <p:nvPr/>
          </p:nvSpPr>
          <p:spPr>
            <a:xfrm>
              <a:off x="2438" y="3447"/>
              <a:ext cx="92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5" name="Line 42"/>
            <p:cNvSpPr/>
            <p:nvPr/>
          </p:nvSpPr>
          <p:spPr>
            <a:xfrm>
              <a:off x="2530" y="3447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6" name="Line 43"/>
            <p:cNvSpPr/>
            <p:nvPr/>
          </p:nvSpPr>
          <p:spPr>
            <a:xfrm flipH="1">
              <a:off x="2438" y="3641"/>
              <a:ext cx="92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7" name="Line 44"/>
            <p:cNvSpPr/>
            <p:nvPr/>
          </p:nvSpPr>
          <p:spPr>
            <a:xfrm flipV="1">
              <a:off x="2438" y="3447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8" name="Line 45"/>
            <p:cNvSpPr/>
            <p:nvPr/>
          </p:nvSpPr>
          <p:spPr>
            <a:xfrm>
              <a:off x="2484" y="3350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999" name="Line 46"/>
            <p:cNvSpPr/>
            <p:nvPr/>
          </p:nvSpPr>
          <p:spPr>
            <a:xfrm flipV="1">
              <a:off x="2484" y="3641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0" name="Line 47"/>
            <p:cNvSpPr/>
            <p:nvPr/>
          </p:nvSpPr>
          <p:spPr>
            <a:xfrm flipH="1">
              <a:off x="1350" y="3282"/>
              <a:ext cx="114" cy="68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1" name="Line 48"/>
            <p:cNvSpPr/>
            <p:nvPr/>
          </p:nvSpPr>
          <p:spPr>
            <a:xfrm>
              <a:off x="1350" y="3408"/>
              <a:ext cx="114" cy="68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2" name="Line 49"/>
            <p:cNvSpPr/>
            <p:nvPr/>
          </p:nvSpPr>
          <p:spPr>
            <a:xfrm>
              <a:off x="1350" y="3282"/>
              <a:ext cx="1" cy="194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3" name="Line 50"/>
            <p:cNvSpPr/>
            <p:nvPr/>
          </p:nvSpPr>
          <p:spPr>
            <a:xfrm flipH="1">
              <a:off x="1235" y="3379"/>
              <a:ext cx="115" cy="1"/>
            </a:xfrm>
            <a:prstGeom prst="line">
              <a:avLst/>
            </a:prstGeom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4" name="Freeform 51"/>
            <p:cNvSpPr/>
            <p:nvPr/>
          </p:nvSpPr>
          <p:spPr>
            <a:xfrm>
              <a:off x="1396" y="3428"/>
              <a:ext cx="68" cy="48"/>
            </a:xfrm>
            <a:custGeom>
              <a:avLst/>
              <a:gdLst/>
              <a:ahLst/>
              <a:cxnLst>
                <a:cxn ang="0">
                  <a:pos x="68" y="48"/>
                </a:cxn>
                <a:cxn ang="0">
                  <a:pos x="23" y="0"/>
                </a:cxn>
                <a:cxn ang="0">
                  <a:pos x="0" y="29"/>
                </a:cxn>
                <a:cxn ang="0">
                  <a:pos x="68" y="48"/>
                </a:cxn>
              </a:cxnLst>
              <a:rect l="0" t="0" r="0" b="0"/>
              <a:pathLst>
                <a:path w="68" h="48">
                  <a:moveTo>
                    <a:pt x="68" y="48"/>
                  </a:moveTo>
                  <a:lnTo>
                    <a:pt x="23" y="0"/>
                  </a:lnTo>
                  <a:lnTo>
                    <a:pt x="0" y="29"/>
                  </a:lnTo>
                  <a:lnTo>
                    <a:pt x="68" y="48"/>
                  </a:lnTo>
                  <a:close/>
                </a:path>
              </a:pathLst>
            </a:custGeom>
            <a:solidFill>
              <a:srgbClr val="0000FF"/>
            </a:solidFill>
            <a:ln w="1746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05" name="Line 52"/>
            <p:cNvSpPr/>
            <p:nvPr/>
          </p:nvSpPr>
          <p:spPr>
            <a:xfrm>
              <a:off x="1464" y="3185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6" name="Line 53"/>
            <p:cNvSpPr/>
            <p:nvPr/>
          </p:nvSpPr>
          <p:spPr>
            <a:xfrm flipV="1">
              <a:off x="1464" y="3476"/>
              <a:ext cx="1" cy="97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7" name="Line 54"/>
            <p:cNvSpPr/>
            <p:nvPr/>
          </p:nvSpPr>
          <p:spPr>
            <a:xfrm>
              <a:off x="1121" y="3379"/>
              <a:ext cx="114" cy="1"/>
            </a:xfrm>
            <a:prstGeom prst="line">
              <a:avLst/>
            </a:prstGeom>
            <a:ln w="17463" cap="flat" cmpd="sng">
              <a:solidFill>
                <a:srgbClr val="4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8" name="Line 55"/>
            <p:cNvSpPr/>
            <p:nvPr/>
          </p:nvSpPr>
          <p:spPr>
            <a:xfrm>
              <a:off x="1350" y="4039"/>
              <a:ext cx="229" cy="1"/>
            </a:xfrm>
            <a:prstGeom prst="line">
              <a:avLst/>
            </a:prstGeom>
            <a:ln w="17463" cap="flat" cmpd="sng">
              <a:solidFill>
                <a:srgbClr val="0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09" name="Rectangle 56"/>
            <p:cNvSpPr/>
            <p:nvPr/>
          </p:nvSpPr>
          <p:spPr>
            <a:xfrm>
              <a:off x="1419" y="2894"/>
              <a:ext cx="103" cy="204"/>
            </a:xfrm>
            <a:prstGeom prst="rect">
              <a:avLst/>
            </a:prstGeom>
            <a:solidFill>
              <a:srgbClr val="FFFF00"/>
            </a:solidFill>
            <a:ln w="17463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0" name="Rectangle 57"/>
            <p:cNvSpPr/>
            <p:nvPr/>
          </p:nvSpPr>
          <p:spPr>
            <a:xfrm>
              <a:off x="1419" y="2894"/>
              <a:ext cx="103" cy="204"/>
            </a:xfrm>
            <a:prstGeom prst="rect">
              <a:avLst/>
            </a:prstGeom>
            <a:solidFill>
              <a:srgbClr val="0080FF"/>
            </a:solidFill>
            <a:ln w="1746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1" name="Rectangle 58"/>
            <p:cNvSpPr/>
            <p:nvPr/>
          </p:nvSpPr>
          <p:spPr>
            <a:xfrm>
              <a:off x="1419" y="2894"/>
              <a:ext cx="103" cy="204"/>
            </a:xfrm>
            <a:prstGeom prst="rect">
              <a:avLst/>
            </a:prstGeom>
            <a:solidFill>
              <a:srgbClr val="0080C0"/>
            </a:solidFill>
            <a:ln w="17463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2" name="Rectangle 59"/>
            <p:cNvSpPr/>
            <p:nvPr/>
          </p:nvSpPr>
          <p:spPr>
            <a:xfrm>
              <a:off x="880" y="2943"/>
              <a:ext cx="103" cy="203"/>
            </a:xfrm>
            <a:prstGeom prst="rect">
              <a:avLst/>
            </a:prstGeom>
            <a:solidFill>
              <a:srgbClr val="0080C0"/>
            </a:solidFill>
            <a:ln w="17463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3" name="Rectangle 60"/>
            <p:cNvSpPr/>
            <p:nvPr/>
          </p:nvSpPr>
          <p:spPr>
            <a:xfrm>
              <a:off x="2438" y="3447"/>
              <a:ext cx="103" cy="204"/>
            </a:xfrm>
            <a:prstGeom prst="rect">
              <a:avLst/>
            </a:prstGeom>
            <a:solidFill>
              <a:srgbClr val="0080C0"/>
            </a:solidFill>
            <a:ln w="17463" cap="flat" cmpd="sng">
              <a:solidFill>
                <a:srgbClr val="0080C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4" name="Rectangle 61"/>
            <p:cNvSpPr/>
            <p:nvPr/>
          </p:nvSpPr>
          <p:spPr>
            <a:xfrm>
              <a:off x="880" y="2943"/>
              <a:ext cx="103" cy="203"/>
            </a:xfrm>
            <a:prstGeom prst="rect">
              <a:avLst/>
            </a:prstGeom>
            <a:solidFill>
              <a:srgbClr val="0080FF"/>
            </a:solidFill>
            <a:ln w="1746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5" name="Rectangle 62"/>
            <p:cNvSpPr/>
            <p:nvPr/>
          </p:nvSpPr>
          <p:spPr>
            <a:xfrm>
              <a:off x="1419" y="2894"/>
              <a:ext cx="103" cy="204"/>
            </a:xfrm>
            <a:prstGeom prst="rect">
              <a:avLst/>
            </a:prstGeom>
            <a:solidFill>
              <a:srgbClr val="0080FF"/>
            </a:solidFill>
            <a:ln w="1746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6" name="Rectangle 63"/>
            <p:cNvSpPr/>
            <p:nvPr/>
          </p:nvSpPr>
          <p:spPr>
            <a:xfrm>
              <a:off x="2438" y="3447"/>
              <a:ext cx="103" cy="204"/>
            </a:xfrm>
            <a:prstGeom prst="rect">
              <a:avLst/>
            </a:prstGeom>
            <a:solidFill>
              <a:srgbClr val="0080FF"/>
            </a:solidFill>
            <a:ln w="1746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7" name="Rectangle 64"/>
            <p:cNvSpPr/>
            <p:nvPr/>
          </p:nvSpPr>
          <p:spPr>
            <a:xfrm>
              <a:off x="1419" y="2894"/>
              <a:ext cx="103" cy="204"/>
            </a:xfrm>
            <a:prstGeom prst="rect">
              <a:avLst/>
            </a:prstGeom>
            <a:solidFill>
              <a:srgbClr val="0080FF"/>
            </a:solidFill>
            <a:ln w="1746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18" name="Line 65"/>
            <p:cNvSpPr/>
            <p:nvPr/>
          </p:nvSpPr>
          <p:spPr>
            <a:xfrm>
              <a:off x="846" y="3379"/>
              <a:ext cx="80" cy="1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19" name="Line 66"/>
            <p:cNvSpPr/>
            <p:nvPr/>
          </p:nvSpPr>
          <p:spPr>
            <a:xfrm>
              <a:off x="479" y="3379"/>
              <a:ext cx="23" cy="1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0" name="Line 67"/>
            <p:cNvSpPr/>
            <p:nvPr/>
          </p:nvSpPr>
          <p:spPr>
            <a:xfrm>
              <a:off x="926" y="3234"/>
              <a:ext cx="1" cy="145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1" name="Oval 68"/>
            <p:cNvSpPr/>
            <p:nvPr/>
          </p:nvSpPr>
          <p:spPr>
            <a:xfrm>
              <a:off x="903" y="3360"/>
              <a:ext cx="46" cy="38"/>
            </a:xfrm>
            <a:prstGeom prst="ellipse">
              <a:avLst/>
            </a:prstGeom>
            <a:solidFill>
              <a:srgbClr val="FF0000"/>
            </a:solidFill>
            <a:ln w="17463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22" name="Line 69"/>
            <p:cNvSpPr/>
            <p:nvPr/>
          </p:nvSpPr>
          <p:spPr>
            <a:xfrm>
              <a:off x="926" y="3379"/>
              <a:ext cx="195" cy="1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3" name="Line 70"/>
            <p:cNvSpPr/>
            <p:nvPr/>
          </p:nvSpPr>
          <p:spPr>
            <a:xfrm flipV="1">
              <a:off x="1464" y="3573"/>
              <a:ext cx="1" cy="369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4" name="Line 71"/>
            <p:cNvSpPr/>
            <p:nvPr/>
          </p:nvSpPr>
          <p:spPr>
            <a:xfrm>
              <a:off x="2346" y="3214"/>
              <a:ext cx="138" cy="1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5" name="Line 73"/>
            <p:cNvSpPr/>
            <p:nvPr/>
          </p:nvSpPr>
          <p:spPr>
            <a:xfrm flipV="1">
              <a:off x="2484" y="3214"/>
              <a:ext cx="1" cy="136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6" name="Line 74"/>
            <p:cNvSpPr/>
            <p:nvPr/>
          </p:nvSpPr>
          <p:spPr>
            <a:xfrm>
              <a:off x="1464" y="3951"/>
              <a:ext cx="1" cy="88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7" name="Line 75"/>
            <p:cNvSpPr/>
            <p:nvPr/>
          </p:nvSpPr>
          <p:spPr>
            <a:xfrm>
              <a:off x="1464" y="2749"/>
              <a:ext cx="1" cy="48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28" name="Oval 76"/>
            <p:cNvSpPr/>
            <p:nvPr/>
          </p:nvSpPr>
          <p:spPr>
            <a:xfrm>
              <a:off x="1441" y="2729"/>
              <a:ext cx="46" cy="39"/>
            </a:xfrm>
            <a:prstGeom prst="ellipse">
              <a:avLst/>
            </a:prstGeom>
            <a:solidFill>
              <a:srgbClr val="FF0000"/>
            </a:solidFill>
            <a:ln w="17463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29" name="Oval 78"/>
            <p:cNvSpPr/>
            <p:nvPr/>
          </p:nvSpPr>
          <p:spPr>
            <a:xfrm>
              <a:off x="1441" y="3932"/>
              <a:ext cx="46" cy="39"/>
            </a:xfrm>
            <a:prstGeom prst="ellipse">
              <a:avLst/>
            </a:prstGeom>
            <a:solidFill>
              <a:srgbClr val="FF0000"/>
            </a:solidFill>
            <a:ln w="17463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0" name="Line 80"/>
            <p:cNvSpPr/>
            <p:nvPr/>
          </p:nvSpPr>
          <p:spPr>
            <a:xfrm>
              <a:off x="2484" y="3738"/>
              <a:ext cx="1" cy="213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31" name="Line 82"/>
            <p:cNvSpPr/>
            <p:nvPr/>
          </p:nvSpPr>
          <p:spPr>
            <a:xfrm flipV="1">
              <a:off x="926" y="2749"/>
              <a:ext cx="1" cy="97"/>
            </a:xfrm>
            <a:prstGeom prst="line">
              <a:avLst/>
            </a:prstGeom>
            <a:ln w="1746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032" name="Rectangle 84"/>
            <p:cNvSpPr/>
            <p:nvPr/>
          </p:nvSpPr>
          <p:spPr>
            <a:xfrm>
              <a:off x="548" y="3117"/>
              <a:ext cx="101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3" name="Rectangle 85"/>
            <p:cNvSpPr/>
            <p:nvPr/>
          </p:nvSpPr>
          <p:spPr>
            <a:xfrm>
              <a:off x="1510" y="3321"/>
              <a:ext cx="91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T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4" name="Rectangle 86"/>
            <p:cNvSpPr/>
            <p:nvPr/>
          </p:nvSpPr>
          <p:spPr>
            <a:xfrm>
              <a:off x="663" y="3185"/>
              <a:ext cx="96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b1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5" name="Rectangle 87"/>
            <p:cNvSpPr/>
            <p:nvPr/>
          </p:nvSpPr>
          <p:spPr>
            <a:xfrm>
              <a:off x="1718" y="3634"/>
              <a:ext cx="12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6" name="Rectangle 88"/>
            <p:cNvSpPr/>
            <p:nvPr/>
          </p:nvSpPr>
          <p:spPr>
            <a:xfrm>
              <a:off x="605" y="2855"/>
              <a:ext cx="9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7" name="Rectangle 89"/>
            <p:cNvSpPr/>
            <p:nvPr/>
          </p:nvSpPr>
          <p:spPr>
            <a:xfrm>
              <a:off x="709" y="2943"/>
              <a:ext cx="4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8" name="Rectangle 90"/>
            <p:cNvSpPr/>
            <p:nvPr/>
          </p:nvSpPr>
          <p:spPr>
            <a:xfrm>
              <a:off x="1633" y="3549"/>
              <a:ext cx="9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39" name="Rectangle 91"/>
            <p:cNvSpPr/>
            <p:nvPr/>
          </p:nvSpPr>
          <p:spPr>
            <a:xfrm>
              <a:off x="2312" y="3525"/>
              <a:ext cx="59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0" name="Rectangle 92"/>
            <p:cNvSpPr/>
            <p:nvPr/>
          </p:nvSpPr>
          <p:spPr>
            <a:xfrm>
              <a:off x="2621" y="3272"/>
              <a:ext cx="82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1" name="Rectangle 93"/>
            <p:cNvSpPr/>
            <p:nvPr/>
          </p:nvSpPr>
          <p:spPr>
            <a:xfrm>
              <a:off x="2598" y="3418"/>
              <a:ext cx="7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2" name="Rectangle 94"/>
            <p:cNvSpPr/>
            <p:nvPr/>
          </p:nvSpPr>
          <p:spPr>
            <a:xfrm>
              <a:off x="2690" y="3525"/>
              <a:ext cx="48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3" name="Rectangle 95"/>
            <p:cNvSpPr/>
            <p:nvPr/>
          </p:nvSpPr>
          <p:spPr>
            <a:xfrm>
              <a:off x="2209" y="3457"/>
              <a:ext cx="9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4" name="Rectangle 96"/>
            <p:cNvSpPr/>
            <p:nvPr/>
          </p:nvSpPr>
          <p:spPr>
            <a:xfrm>
              <a:off x="2621" y="3699"/>
              <a:ext cx="91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-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5" name="Rectangle 97"/>
            <p:cNvSpPr/>
            <p:nvPr/>
          </p:nvSpPr>
          <p:spPr>
            <a:xfrm>
              <a:off x="331" y="3592"/>
              <a:ext cx="7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6" name="Rectangle 98"/>
            <p:cNvSpPr/>
            <p:nvPr/>
          </p:nvSpPr>
          <p:spPr>
            <a:xfrm>
              <a:off x="354" y="3447"/>
              <a:ext cx="82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+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7" name="Rectangle 99"/>
            <p:cNvSpPr/>
            <p:nvPr/>
          </p:nvSpPr>
          <p:spPr>
            <a:xfrm>
              <a:off x="354" y="3757"/>
              <a:ext cx="91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-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8" name="Rectangle 100"/>
            <p:cNvSpPr/>
            <p:nvPr/>
          </p:nvSpPr>
          <p:spPr>
            <a:xfrm>
              <a:off x="422" y="3699"/>
              <a:ext cx="27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49" name="Rectangle 101"/>
            <p:cNvSpPr/>
            <p:nvPr/>
          </p:nvSpPr>
          <p:spPr>
            <a:xfrm>
              <a:off x="2209" y="3049"/>
              <a:ext cx="96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b2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50" name="Rectangle 102"/>
            <p:cNvSpPr/>
            <p:nvPr/>
          </p:nvSpPr>
          <p:spPr>
            <a:xfrm>
              <a:off x="2095" y="2982"/>
              <a:ext cx="101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51" name="Rectangle 103"/>
            <p:cNvSpPr/>
            <p:nvPr/>
          </p:nvSpPr>
          <p:spPr>
            <a:xfrm>
              <a:off x="1315" y="2894"/>
              <a:ext cx="43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52" name="Rectangle 104"/>
            <p:cNvSpPr/>
            <p:nvPr/>
          </p:nvSpPr>
          <p:spPr>
            <a:xfrm>
              <a:off x="1212" y="2826"/>
              <a:ext cx="93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53" name="Line 227"/>
            <p:cNvSpPr/>
            <p:nvPr/>
          </p:nvSpPr>
          <p:spPr>
            <a:xfrm flipH="1">
              <a:off x="1463" y="3209"/>
              <a:ext cx="68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4" name="Line 229"/>
            <p:cNvSpPr/>
            <p:nvPr/>
          </p:nvSpPr>
          <p:spPr>
            <a:xfrm>
              <a:off x="442" y="3946"/>
              <a:ext cx="2041" cy="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5" name="Line 230"/>
            <p:cNvSpPr/>
            <p:nvPr/>
          </p:nvSpPr>
          <p:spPr>
            <a:xfrm>
              <a:off x="1790" y="3464"/>
              <a:ext cx="199" cy="0"/>
            </a:xfrm>
            <a:prstGeom prst="line">
              <a:avLst/>
            </a:prstGeom>
            <a:ln w="12700" cap="sq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6" name="Line 231"/>
            <p:cNvSpPr/>
            <p:nvPr/>
          </p:nvSpPr>
          <p:spPr>
            <a:xfrm>
              <a:off x="1847" y="3492"/>
              <a:ext cx="85" cy="0"/>
            </a:xfrm>
            <a:prstGeom prst="line">
              <a:avLst/>
            </a:prstGeom>
            <a:ln w="12700" cap="sq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7" name="Line 232"/>
            <p:cNvSpPr/>
            <p:nvPr/>
          </p:nvSpPr>
          <p:spPr>
            <a:xfrm>
              <a:off x="1798" y="3521"/>
              <a:ext cx="199" cy="0"/>
            </a:xfrm>
            <a:prstGeom prst="line">
              <a:avLst/>
            </a:prstGeom>
            <a:ln w="12700" cap="sq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8" name="Line 233"/>
            <p:cNvSpPr/>
            <p:nvPr/>
          </p:nvSpPr>
          <p:spPr>
            <a:xfrm>
              <a:off x="1847" y="3549"/>
              <a:ext cx="85" cy="0"/>
            </a:xfrm>
            <a:prstGeom prst="line">
              <a:avLst/>
            </a:prstGeom>
            <a:ln w="12700" cap="sq" cmpd="sng">
              <a:solidFill>
                <a:srgbClr val="00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59" name="Line 234"/>
            <p:cNvSpPr/>
            <p:nvPr/>
          </p:nvSpPr>
          <p:spPr>
            <a:xfrm>
              <a:off x="924" y="2755"/>
              <a:ext cx="96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60" name="Line 235"/>
            <p:cNvSpPr/>
            <p:nvPr/>
          </p:nvSpPr>
          <p:spPr>
            <a:xfrm>
              <a:off x="1888" y="2755"/>
              <a:ext cx="0" cy="709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61" name="Line 236"/>
            <p:cNvSpPr/>
            <p:nvPr/>
          </p:nvSpPr>
          <p:spPr>
            <a:xfrm>
              <a:off x="1888" y="3549"/>
              <a:ext cx="0" cy="397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36062" name="Oval 237"/>
            <p:cNvSpPr/>
            <p:nvPr/>
          </p:nvSpPr>
          <p:spPr>
            <a:xfrm>
              <a:off x="1867" y="3921"/>
              <a:ext cx="46" cy="38"/>
            </a:xfrm>
            <a:prstGeom prst="ellipse">
              <a:avLst/>
            </a:prstGeom>
            <a:solidFill>
              <a:srgbClr val="FF0000"/>
            </a:solidFill>
            <a:ln w="17463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6063" name="Text Box 239"/>
          <p:cNvSpPr txBox="1"/>
          <p:nvPr/>
        </p:nvSpPr>
        <p:spPr>
          <a:xfrm>
            <a:off x="250825" y="3429000"/>
            <a:ext cx="4770438" cy="884238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适当调节</a:t>
            </a:r>
            <a:r>
              <a:rPr lang="en-US" altLang="zh-CN" sz="2400" i="1" err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aseline="-25000" err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i="1" err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aseline="-25000" err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aseline="-2500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 </a:t>
            </a:r>
            <a:r>
              <a:rPr lang="en-US" altLang="zh-CN" sz="2400" i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aseline="-2500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CC</a:t>
            </a:r>
            <a:r>
              <a:rPr lang="zh-CN" altLang="en-US" sz="24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代替</a:t>
            </a:r>
            <a:r>
              <a:rPr lang="en-US" altLang="zh-CN" sz="2400" i="1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aseline="-2500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064" name="Text Box 241"/>
          <p:cNvSpPr txBox="1"/>
          <p:nvPr/>
        </p:nvSpPr>
        <p:spPr>
          <a:xfrm>
            <a:off x="5607050" y="3743325"/>
            <a:ext cx="2655888" cy="4572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工程上的习惯画法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6" name="矩形 463875">
            <a:hlinkClick r:id="" action="ppaction://noaction"/>
          </p:cNvPr>
          <p:cNvSpPr/>
          <p:nvPr/>
        </p:nvSpPr>
        <p:spPr>
          <a:xfrm>
            <a:off x="2051368" y="682943"/>
            <a:ext cx="4953000" cy="60960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en-US" altLang="zh-CN" sz="3200" b="1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3200" b="1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放大电路的分析方法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46093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2078038"/>
            <a:ext cx="3581400" cy="2339975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4077335" y="2258695"/>
            <a:ext cx="457200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/>
            <a:r>
              <a:rPr lang="zh-CN" altLang="en-US" dirty="0">
                <a:sym typeface="+mn-ea"/>
              </a:rPr>
              <a:t>三极管放大电路是由直流电压源</a:t>
            </a:r>
            <a:r>
              <a:rPr lang="en-US" altLang="zh-CN" i="1" dirty="0" smtClean="0">
                <a:sym typeface="+mn-ea"/>
              </a:rPr>
              <a:t>V</a:t>
            </a:r>
            <a:r>
              <a:rPr lang="en-US" altLang="zh-CN" baseline="-25000" dirty="0" smtClean="0">
                <a:sym typeface="+mn-ea"/>
              </a:rPr>
              <a:t>CC</a:t>
            </a:r>
            <a:r>
              <a:rPr lang="zh-CN" altLang="en-US" dirty="0" smtClean="0">
                <a:sym typeface="+mn-ea"/>
              </a:rPr>
              <a:t>和</a:t>
            </a:r>
            <a:r>
              <a:rPr lang="zh-CN" altLang="en-US" dirty="0">
                <a:sym typeface="+mn-ea"/>
              </a:rPr>
              <a:t>交流输入信号源</a:t>
            </a:r>
            <a:r>
              <a:rPr lang="en-US" altLang="zh-CN" i="1" dirty="0">
                <a:sym typeface="+mn-ea"/>
              </a:rPr>
              <a:t>u</a:t>
            </a:r>
            <a:r>
              <a:rPr lang="en-US" altLang="zh-CN" baseline="-25000" dirty="0">
                <a:sym typeface="+mn-ea"/>
              </a:rPr>
              <a:t>i</a:t>
            </a:r>
            <a:r>
              <a:rPr lang="zh-CN" altLang="en-US" dirty="0">
                <a:sym typeface="+mn-ea"/>
              </a:rPr>
              <a:t>共同作用于各个器件，电路分析较为复杂，可以利用叠加原理先单独考虑每个电源作用，再合并成最后结果。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4"/>
          <p:cNvSpPr/>
          <p:nvPr/>
        </p:nvSpPr>
        <p:spPr>
          <a:xfrm>
            <a:off x="612140" y="160655"/>
            <a:ext cx="7992745" cy="2638275"/>
          </a:xfrm>
          <a:prstGeom prst="rect">
            <a:avLst/>
          </a:prstGeom>
          <a:noFill/>
          <a:ln w="76200" cap="flat" cmpd="thickThin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03300"/>
                </a:solidFill>
              </a14:hiddenFill>
            </a:ext>
          </a:extLst>
        </p:spPr>
        <p:txBody>
          <a:bodyPr anchor="t" anchorCtr="0">
            <a:noAutofit/>
          </a:bodyPr>
          <a:lstStyle/>
          <a:p>
            <a:r>
              <a:rPr lang="zh-CN" altLang="en-US" sz="3200" b="1" dirty="0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电路知识</a:t>
            </a:r>
            <a:r>
              <a:rPr lang="en-US" altLang="zh-CN" sz="3200" b="1" dirty="0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3200" b="1" dirty="0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叠加定理：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在线性电路中，任一支路电流</a:t>
            </a:r>
            <a:r>
              <a:rPr lang="en-US" altLang="zh-CN" sz="3200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或电压</a:t>
            </a:r>
            <a:r>
              <a:rPr lang="en-US" altLang="zh-CN" sz="3200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32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都是电路中各个独立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源</a:t>
            </a:r>
            <a:r>
              <a:rPr lang="en-US" altLang="zh-CN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电压源</a:t>
            </a:r>
            <a:r>
              <a:rPr lang="en-US" altLang="zh-CN" sz="3200" i="1" dirty="0" err="1" smtClean="0"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u</a:t>
            </a:r>
            <a:r>
              <a:rPr lang="en-US" altLang="zh-CN" sz="3200" baseline="-25000" dirty="0" err="1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sm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电流源</a:t>
            </a:r>
            <a:r>
              <a:rPr lang="en-US" altLang="zh-CN" sz="3200" i="1" dirty="0" err="1"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3200" baseline="-25000" dirty="0" err="1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sn</a:t>
            </a:r>
            <a:r>
              <a:rPr lang="en-US" altLang="zh-CN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单独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作用时在该支路产生的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电流（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3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电压）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的叠加。</a:t>
            </a:r>
          </a:p>
          <a:p>
            <a:endParaRPr lang="zh-CN" altLang="en-US" sz="3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735" y="3023955"/>
            <a:ext cx="3829050" cy="2362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6"/>
          <p:cNvSpPr txBox="1"/>
          <p:nvPr/>
        </p:nvSpPr>
        <p:spPr>
          <a:xfrm>
            <a:off x="2540" y="5499230"/>
            <a:ext cx="9004935" cy="11130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注意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单个独立源处理时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其他电压源置零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短路，电流源置零开路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      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/>
          </p:cNvSpPr>
          <p:nvPr>
            <p:ph type="title"/>
          </p:nvPr>
        </p:nvSpPr>
        <p:spPr>
          <a:xfrm>
            <a:off x="656590" y="323850"/>
            <a:ext cx="8229600" cy="1143000"/>
          </a:xfrm>
        </p:spPr>
        <p:txBody>
          <a:bodyPr wrap="square" lIns="91440" tIns="45720" rIns="91440" bIns="45720" anchor="ctr" anchorCtr="0"/>
          <a:lstStyle/>
          <a:p>
            <a:pPr eaLnBrk="1" hangingPunct="1"/>
            <a:r>
              <a:rPr lang="zh-CN" altLang="en-US" sz="3600" b="1" dirty="0"/>
              <a:t>三极管基本放大电路交直流分析方法</a:t>
            </a: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>
          <a:xfrm>
            <a:off x="701675" y="1538288"/>
            <a:ext cx="7772400" cy="4495800"/>
          </a:xfrm>
        </p:spPr>
        <p:txBody>
          <a:bodyPr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利用叠加原理将基本放大电路分成两个独立电路分别进行分析：只考虑直流电源</a:t>
            </a:r>
            <a:r>
              <a:rPr lang="en-US" altLang="zh-CN" i="1" dirty="0">
                <a:sym typeface="+mn-ea"/>
              </a:rPr>
              <a:t>V</a:t>
            </a:r>
            <a:r>
              <a:rPr lang="en-US" altLang="zh-CN" baseline="-25000" dirty="0">
                <a:sym typeface="+mn-ea"/>
              </a:rPr>
              <a:t>cc</a:t>
            </a:r>
            <a:r>
              <a:rPr lang="zh-CN" altLang="en-US" dirty="0"/>
              <a:t>作用的直流通路和只考虑交流信号源</a:t>
            </a:r>
            <a:r>
              <a:rPr lang="en-US" altLang="zh-CN" i="1" dirty="0">
                <a:sym typeface="+mn-ea"/>
              </a:rPr>
              <a:t>u</a:t>
            </a:r>
            <a:r>
              <a:rPr lang="en-US" altLang="zh-CN" baseline="-25000" dirty="0">
                <a:sym typeface="+mn-ea"/>
              </a:rPr>
              <a:t>i</a:t>
            </a:r>
            <a:r>
              <a:rPr lang="zh-CN" altLang="en-US" dirty="0"/>
              <a:t>作用的交流通路。</a:t>
            </a:r>
          </a:p>
          <a:p>
            <a:pPr eaLnBrk="1" hangingPunct="1"/>
            <a:r>
              <a:rPr lang="zh-CN" altLang="en-US" dirty="0">
                <a:sym typeface="+mn-ea"/>
              </a:rPr>
              <a:t>最后</a:t>
            </a:r>
            <a:r>
              <a:rPr lang="zh-CN" altLang="en-US" dirty="0"/>
              <a:t>再把两个电路的分析结果叠加起来得到最后结果。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5" name="文本占位符 556034"/>
          <p:cNvSpPr>
            <a:spLocks noGrp="1"/>
          </p:cNvSpPr>
          <p:nvPr>
            <p:ph type="body" idx="4294967295"/>
          </p:nvPr>
        </p:nvSpPr>
        <p:spPr>
          <a:xfrm>
            <a:off x="571500" y="1600200"/>
            <a:ext cx="7772400" cy="4495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静态：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当输入电压</a:t>
            </a: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36" name="文本框 556035"/>
          <p:cNvSpPr txBox="1"/>
          <p:nvPr/>
        </p:nvSpPr>
        <p:spPr>
          <a:xfrm>
            <a:off x="3222625" y="1439863"/>
            <a:ext cx="728663" cy="579437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200" b="1" err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u</a:t>
            </a:r>
            <a:r>
              <a:rPr lang="en-US" altLang="zh-CN" sz="3200" b="1" baseline="-25000" err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endParaRPr lang="en-US" altLang="zh-CN" sz="3200" b="1" baseline="-2500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37" name="文本框 556036"/>
          <p:cNvSpPr txBox="1"/>
          <p:nvPr/>
        </p:nvSpPr>
        <p:spPr>
          <a:xfrm>
            <a:off x="3695700" y="1600200"/>
            <a:ext cx="41910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0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时，电路中各点的电压及</a:t>
            </a: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38" name="文本框 556037"/>
          <p:cNvSpPr txBox="1"/>
          <p:nvPr/>
        </p:nvSpPr>
        <p:spPr>
          <a:xfrm>
            <a:off x="1638300" y="1981200"/>
            <a:ext cx="5791200" cy="11874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电流都是不变的直流，电路此时的工作状态叫直流工作状态，也叫静止状态，简称静态。</a:t>
            </a: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39" name="文本框 556038"/>
          <p:cNvSpPr txBox="1"/>
          <p:nvPr/>
        </p:nvSpPr>
        <p:spPr>
          <a:xfrm>
            <a:off x="647700" y="3429000"/>
            <a:ext cx="76962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点：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在静态时，</a:t>
            </a:r>
            <a:r>
              <a:rPr lang="en-US" altLang="zh-CN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BJT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各极的电压及电流，在其特性曲线              </a:t>
            </a:r>
          </a:p>
        </p:txBody>
      </p:sp>
      <p:sp>
        <p:nvSpPr>
          <p:cNvPr id="556040" name="文本框 556039"/>
          <p:cNvSpPr txBox="1"/>
          <p:nvPr/>
        </p:nvSpPr>
        <p:spPr>
          <a:xfrm>
            <a:off x="1485900" y="3810000"/>
            <a:ext cx="6019800" cy="10048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上会确定一个点，这个点就叫做</a:t>
            </a:r>
            <a:r>
              <a:rPr lang="en-US" altLang="zh-CN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</a:p>
          <a:p>
            <a:pPr>
              <a:spcBef>
                <a:spcPct val="50000"/>
              </a:spcBef>
            </a:pP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41" name="文本框 556040"/>
          <p:cNvSpPr txBox="1"/>
          <p:nvPr/>
        </p:nvSpPr>
        <p:spPr>
          <a:xfrm>
            <a:off x="723900" y="4419600"/>
            <a:ext cx="3497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动态：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当输入电压</a:t>
            </a: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42" name="文本框 556041"/>
          <p:cNvSpPr txBox="1"/>
          <p:nvPr/>
        </p:nvSpPr>
        <p:spPr>
          <a:xfrm>
            <a:off x="3238500" y="4316413"/>
            <a:ext cx="523875" cy="579437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200" b="1" err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en-US" altLang="zh-CN" sz="3200" b="1" baseline="-25000" err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endParaRPr lang="en-US" altLang="zh-CN" sz="3200" b="1" baseline="-2500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43" name="文本框 556042"/>
          <p:cNvSpPr txBox="1"/>
          <p:nvPr/>
        </p:nvSpPr>
        <p:spPr>
          <a:xfrm>
            <a:off x="3695700" y="4495800"/>
            <a:ext cx="48006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时，电路中各点的电压及电流</a:t>
            </a: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44" name="直接连接符 556043"/>
          <p:cNvSpPr/>
          <p:nvPr/>
        </p:nvSpPr>
        <p:spPr>
          <a:xfrm>
            <a:off x="3784600" y="4622800"/>
            <a:ext cx="152400" cy="228600"/>
          </a:xfrm>
          <a:prstGeom prst="line">
            <a:avLst/>
          </a:prstGeom>
          <a:ln w="28575" cap="sq" cmpd="sng">
            <a:solidFill>
              <a:schemeClr val="folHlink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556045" name="文本框 556044"/>
          <p:cNvSpPr txBox="1"/>
          <p:nvPr/>
        </p:nvSpPr>
        <p:spPr>
          <a:xfrm>
            <a:off x="1714500" y="4953000"/>
            <a:ext cx="6629400" cy="10048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都会处于变动状态，电路此时工作在交流状态，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简称动态</a:t>
            </a:r>
            <a:endParaRPr lang="zh-CN" altLang="en-US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6047" name="文本框 556046"/>
          <p:cNvSpPr txBox="1"/>
          <p:nvPr/>
        </p:nvSpPr>
        <p:spPr>
          <a:xfrm>
            <a:off x="2185988" y="503238"/>
            <a:ext cx="43195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直流工作状态、交流工作状态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42" name="圆角矩形标注 551941"/>
          <p:cNvSpPr/>
          <p:nvPr/>
        </p:nvSpPr>
        <p:spPr>
          <a:xfrm>
            <a:off x="2997200" y="954088"/>
            <a:ext cx="5029200" cy="838200"/>
          </a:xfrm>
          <a:prstGeom prst="wedgeRoundRectCallout">
            <a:avLst>
              <a:gd name="adj1" fmla="val -48106"/>
              <a:gd name="adj2" fmla="val 144319"/>
              <a:gd name="adj3" fmla="val 16667"/>
            </a:avLst>
          </a:prstGeom>
          <a:solidFill>
            <a:srgbClr val="CCFFCC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r>
              <a:rPr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将交流电压源短路，将电容开路。</a:t>
            </a:r>
            <a:endParaRPr lang="zh-CN" altLang="en-US" sz="240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1943" name="文本框 551942"/>
          <p:cNvSpPr txBox="1"/>
          <p:nvPr/>
        </p:nvSpPr>
        <p:spPr>
          <a:xfrm>
            <a:off x="0" y="1358900"/>
            <a:ext cx="3581400" cy="7254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 eaLnBrk="0" hangingPunct="0">
              <a:lnSpc>
                <a:spcPct val="130000"/>
              </a:lnSpc>
            </a:pPr>
            <a:r>
              <a:rPr lang="zh-CN" altLang="en-US" sz="32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直流通路的画法：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1948" name="文本框 551947"/>
          <p:cNvSpPr txBox="1"/>
          <p:nvPr/>
        </p:nvSpPr>
        <p:spPr>
          <a:xfrm>
            <a:off x="0" y="323850"/>
            <a:ext cx="517525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直流通路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------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分析静态工作情况</a:t>
            </a:r>
          </a:p>
        </p:txBody>
      </p:sp>
      <p:grpSp>
        <p:nvGrpSpPr>
          <p:cNvPr id="552183" name="组合 552182"/>
          <p:cNvGrpSpPr/>
          <p:nvPr/>
        </p:nvGrpSpPr>
        <p:grpSpPr>
          <a:xfrm>
            <a:off x="5516563" y="2933700"/>
            <a:ext cx="3465512" cy="3465513"/>
            <a:chOff x="3475" y="1848"/>
            <a:chExt cx="2183" cy="2183"/>
          </a:xfrm>
        </p:grpSpPr>
        <p:sp>
          <p:nvSpPr>
            <p:cNvPr id="551951" name="直接连接符 551950"/>
            <p:cNvSpPr/>
            <p:nvPr/>
          </p:nvSpPr>
          <p:spPr>
            <a:xfrm flipH="1">
              <a:off x="4976" y="1972"/>
              <a:ext cx="62" cy="1"/>
            </a:xfrm>
            <a:prstGeom prst="line">
              <a:avLst/>
            </a:prstGeom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52" name="椭圆 551951"/>
            <p:cNvSpPr/>
            <p:nvPr/>
          </p:nvSpPr>
          <p:spPr>
            <a:xfrm>
              <a:off x="5038" y="1926"/>
              <a:ext cx="93" cy="93"/>
            </a:xfrm>
            <a:prstGeom prst="ellipse">
              <a:avLst/>
            </a:prstGeom>
            <a:noFill/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1953" name="矩形 551952"/>
            <p:cNvSpPr/>
            <p:nvPr/>
          </p:nvSpPr>
          <p:spPr>
            <a:xfrm>
              <a:off x="5177" y="1848"/>
              <a:ext cx="145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100" i="1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51954" name="矩形 551953"/>
            <p:cNvSpPr/>
            <p:nvPr/>
          </p:nvSpPr>
          <p:spPr>
            <a:xfrm>
              <a:off x="4481" y="2204"/>
              <a:ext cx="139" cy="325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1955" name="矩形 551954"/>
            <p:cNvSpPr/>
            <p:nvPr/>
          </p:nvSpPr>
          <p:spPr>
            <a:xfrm>
              <a:off x="3862" y="2204"/>
              <a:ext cx="139" cy="325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1956" name="直接连接符 551955"/>
            <p:cNvSpPr/>
            <p:nvPr/>
          </p:nvSpPr>
          <p:spPr>
            <a:xfrm>
              <a:off x="4543" y="3890"/>
              <a:ext cx="1" cy="140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57" name="直接连接符 551956"/>
            <p:cNvSpPr/>
            <p:nvPr/>
          </p:nvSpPr>
          <p:spPr>
            <a:xfrm>
              <a:off x="4373" y="4030"/>
              <a:ext cx="340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58" name="直接连接符 551957"/>
            <p:cNvSpPr/>
            <p:nvPr/>
          </p:nvSpPr>
          <p:spPr>
            <a:xfrm flipH="1">
              <a:off x="4388" y="2869"/>
              <a:ext cx="155" cy="109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59" name="直接连接符 551958"/>
            <p:cNvSpPr/>
            <p:nvPr/>
          </p:nvSpPr>
          <p:spPr>
            <a:xfrm>
              <a:off x="4388" y="3070"/>
              <a:ext cx="155" cy="109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0" name="直接连接符 551959"/>
            <p:cNvSpPr/>
            <p:nvPr/>
          </p:nvSpPr>
          <p:spPr>
            <a:xfrm>
              <a:off x="4388" y="2869"/>
              <a:ext cx="1" cy="310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1" name="直接连接符 551960"/>
            <p:cNvSpPr/>
            <p:nvPr/>
          </p:nvSpPr>
          <p:spPr>
            <a:xfrm flipH="1">
              <a:off x="4234" y="3024"/>
              <a:ext cx="154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2" name="任意多边形 551961"/>
            <p:cNvSpPr/>
            <p:nvPr/>
          </p:nvSpPr>
          <p:spPr>
            <a:xfrm>
              <a:off x="4450" y="3101"/>
              <a:ext cx="93" cy="78"/>
            </a:xfrm>
            <a:custGeom>
              <a:avLst/>
              <a:gdLst/>
              <a:ahLst/>
              <a:cxnLst/>
              <a:rect l="0" t="0" r="0" b="0"/>
              <a:pathLst>
                <a:path w="93" h="78">
                  <a:moveTo>
                    <a:pt x="93" y="78"/>
                  </a:moveTo>
                  <a:lnTo>
                    <a:pt x="31" y="0"/>
                  </a:lnTo>
                  <a:lnTo>
                    <a:pt x="0" y="47"/>
                  </a:lnTo>
                  <a:lnTo>
                    <a:pt x="93" y="78"/>
                  </a:lnTo>
                  <a:close/>
                </a:path>
              </a:pathLst>
            </a:custGeom>
            <a:solidFill>
              <a:srgbClr val="0000FF"/>
            </a:solidFill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1963" name="矩形 551962"/>
            <p:cNvSpPr/>
            <p:nvPr/>
          </p:nvSpPr>
          <p:spPr>
            <a:xfrm>
              <a:off x="4667" y="2947"/>
              <a:ext cx="151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100">
                  <a:solidFill>
                    <a:srgbClr val="000080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51964" name="直接连接符 551963"/>
            <p:cNvSpPr/>
            <p:nvPr/>
          </p:nvSpPr>
          <p:spPr>
            <a:xfrm>
              <a:off x="4543" y="2715"/>
              <a:ext cx="1" cy="154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5" name="直接连接符 551964"/>
            <p:cNvSpPr/>
            <p:nvPr/>
          </p:nvSpPr>
          <p:spPr>
            <a:xfrm flipV="1">
              <a:off x="4543" y="3179"/>
              <a:ext cx="1" cy="154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6" name="直接连接符 551965"/>
            <p:cNvSpPr/>
            <p:nvPr/>
          </p:nvSpPr>
          <p:spPr>
            <a:xfrm>
              <a:off x="4079" y="3024"/>
              <a:ext cx="155" cy="1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7" name="直接连接符 551966"/>
            <p:cNvSpPr/>
            <p:nvPr/>
          </p:nvSpPr>
          <p:spPr>
            <a:xfrm>
              <a:off x="3862" y="2204"/>
              <a:ext cx="124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8" name="直接连接符 551967"/>
            <p:cNvSpPr/>
            <p:nvPr/>
          </p:nvSpPr>
          <p:spPr>
            <a:xfrm>
              <a:off x="3986" y="2204"/>
              <a:ext cx="1" cy="310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69" name="直接连接符 551968"/>
            <p:cNvSpPr/>
            <p:nvPr/>
          </p:nvSpPr>
          <p:spPr>
            <a:xfrm flipH="1">
              <a:off x="3862" y="2514"/>
              <a:ext cx="124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0" name="直接连接符 551969"/>
            <p:cNvSpPr/>
            <p:nvPr/>
          </p:nvSpPr>
          <p:spPr>
            <a:xfrm flipV="1">
              <a:off x="3862" y="2204"/>
              <a:ext cx="1" cy="310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1" name="直接连接符 551970"/>
            <p:cNvSpPr/>
            <p:nvPr/>
          </p:nvSpPr>
          <p:spPr>
            <a:xfrm>
              <a:off x="3924" y="2049"/>
              <a:ext cx="1" cy="155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2" name="直接连接符 551971"/>
            <p:cNvSpPr/>
            <p:nvPr/>
          </p:nvSpPr>
          <p:spPr>
            <a:xfrm flipV="1">
              <a:off x="3924" y="2514"/>
              <a:ext cx="1" cy="154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3" name="直接连接符 551972"/>
            <p:cNvSpPr/>
            <p:nvPr/>
          </p:nvSpPr>
          <p:spPr>
            <a:xfrm>
              <a:off x="4481" y="2204"/>
              <a:ext cx="124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4" name="直接连接符 551973"/>
            <p:cNvSpPr/>
            <p:nvPr/>
          </p:nvSpPr>
          <p:spPr>
            <a:xfrm>
              <a:off x="4605" y="2204"/>
              <a:ext cx="1" cy="310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5" name="直接连接符 551974"/>
            <p:cNvSpPr/>
            <p:nvPr/>
          </p:nvSpPr>
          <p:spPr>
            <a:xfrm flipH="1">
              <a:off x="4481" y="2514"/>
              <a:ext cx="124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6" name="直接连接符 551975"/>
            <p:cNvSpPr/>
            <p:nvPr/>
          </p:nvSpPr>
          <p:spPr>
            <a:xfrm flipV="1">
              <a:off x="4481" y="2204"/>
              <a:ext cx="1" cy="310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7" name="直接连接符 551976"/>
            <p:cNvSpPr/>
            <p:nvPr/>
          </p:nvSpPr>
          <p:spPr>
            <a:xfrm>
              <a:off x="4543" y="2049"/>
              <a:ext cx="1" cy="155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8" name="直接连接符 551977"/>
            <p:cNvSpPr/>
            <p:nvPr/>
          </p:nvSpPr>
          <p:spPr>
            <a:xfrm flipV="1">
              <a:off x="4543" y="2514"/>
              <a:ext cx="1" cy="154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79" name="直接连接符 551978"/>
            <p:cNvSpPr/>
            <p:nvPr/>
          </p:nvSpPr>
          <p:spPr>
            <a:xfrm>
              <a:off x="4543" y="3333"/>
              <a:ext cx="1" cy="573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0" name="直接连接符 551979"/>
            <p:cNvSpPr/>
            <p:nvPr/>
          </p:nvSpPr>
          <p:spPr>
            <a:xfrm flipV="1">
              <a:off x="3924" y="1972"/>
              <a:ext cx="1" cy="77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1" name="直接连接符 551980"/>
            <p:cNvSpPr/>
            <p:nvPr/>
          </p:nvSpPr>
          <p:spPr>
            <a:xfrm>
              <a:off x="3924" y="1972"/>
              <a:ext cx="619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2" name="椭圆 551981"/>
            <p:cNvSpPr/>
            <p:nvPr/>
          </p:nvSpPr>
          <p:spPr>
            <a:xfrm>
              <a:off x="4512" y="1941"/>
              <a:ext cx="62" cy="62"/>
            </a:xfrm>
            <a:prstGeom prst="ellipse">
              <a:avLst/>
            </a:prstGeom>
            <a:solidFill>
              <a:srgbClr val="FF00FF"/>
            </a:solidFill>
            <a:ln w="23813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1983" name="直接连接符 551982"/>
            <p:cNvSpPr/>
            <p:nvPr/>
          </p:nvSpPr>
          <p:spPr>
            <a:xfrm>
              <a:off x="3924" y="2668"/>
              <a:ext cx="1" cy="35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4" name="直接连接符 551983"/>
            <p:cNvSpPr/>
            <p:nvPr/>
          </p:nvSpPr>
          <p:spPr>
            <a:xfrm flipV="1">
              <a:off x="4543" y="1972"/>
              <a:ext cx="1" cy="77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5" name="直接连接符 551984"/>
            <p:cNvSpPr/>
            <p:nvPr/>
          </p:nvSpPr>
          <p:spPr>
            <a:xfrm>
              <a:off x="4543" y="1972"/>
              <a:ext cx="433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6" name="直接连接符 551985"/>
            <p:cNvSpPr/>
            <p:nvPr/>
          </p:nvSpPr>
          <p:spPr>
            <a:xfrm>
              <a:off x="4543" y="2668"/>
              <a:ext cx="1" cy="47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7" name="直接连接符 551986"/>
            <p:cNvSpPr/>
            <p:nvPr/>
          </p:nvSpPr>
          <p:spPr>
            <a:xfrm>
              <a:off x="3924" y="3024"/>
              <a:ext cx="155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1988" name="矩形 551987"/>
            <p:cNvSpPr/>
            <p:nvPr/>
          </p:nvSpPr>
          <p:spPr>
            <a:xfrm>
              <a:off x="3475" y="2251"/>
              <a:ext cx="307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51989" name="矩形 551988"/>
            <p:cNvSpPr/>
            <p:nvPr/>
          </p:nvSpPr>
          <p:spPr>
            <a:xfrm>
              <a:off x="3630" y="2328"/>
              <a:ext cx="7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51990" name="矩形 551989"/>
            <p:cNvSpPr/>
            <p:nvPr/>
          </p:nvSpPr>
          <p:spPr>
            <a:xfrm>
              <a:off x="4203" y="2251"/>
              <a:ext cx="132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51991" name="矩形 551990"/>
            <p:cNvSpPr/>
            <p:nvPr/>
          </p:nvSpPr>
          <p:spPr>
            <a:xfrm>
              <a:off x="5456" y="1957"/>
              <a:ext cx="202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</a:rPr>
                <a:t>CC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51992" name="矩形 551991"/>
            <p:cNvSpPr/>
            <p:nvPr/>
          </p:nvSpPr>
          <p:spPr>
            <a:xfrm>
              <a:off x="5348" y="1848"/>
              <a:ext cx="132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51993" name="矩形 551992"/>
            <p:cNvSpPr/>
            <p:nvPr/>
          </p:nvSpPr>
          <p:spPr>
            <a:xfrm>
              <a:off x="4357" y="2328"/>
              <a:ext cx="67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552090" name="直接连接符 552089"/>
          <p:cNvSpPr/>
          <p:nvPr/>
        </p:nvSpPr>
        <p:spPr>
          <a:xfrm>
            <a:off x="781050" y="6140450"/>
            <a:ext cx="95250" cy="1588"/>
          </a:xfrm>
          <a:prstGeom prst="line">
            <a:avLst/>
          </a:prstGeom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091" name="椭圆 552090"/>
          <p:cNvSpPr/>
          <p:nvPr/>
        </p:nvSpPr>
        <p:spPr>
          <a:xfrm>
            <a:off x="641350" y="6062663"/>
            <a:ext cx="139700" cy="157162"/>
          </a:xfrm>
          <a:prstGeom prst="ellipse">
            <a:avLst/>
          </a:prstGeom>
          <a:noFill/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092" name="矩形 552091"/>
          <p:cNvSpPr/>
          <p:nvPr/>
        </p:nvSpPr>
        <p:spPr>
          <a:xfrm>
            <a:off x="663575" y="5508625"/>
            <a:ext cx="139700" cy="5032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330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093" name="直接连接符 552092"/>
          <p:cNvSpPr/>
          <p:nvPr/>
        </p:nvSpPr>
        <p:spPr>
          <a:xfrm>
            <a:off x="781050" y="4664075"/>
            <a:ext cx="95250" cy="1588"/>
          </a:xfrm>
          <a:prstGeom prst="line">
            <a:avLst/>
          </a:prstGeom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094" name="椭圆 552093"/>
          <p:cNvSpPr/>
          <p:nvPr/>
        </p:nvSpPr>
        <p:spPr>
          <a:xfrm>
            <a:off x="641350" y="4586288"/>
            <a:ext cx="139700" cy="157162"/>
          </a:xfrm>
          <a:prstGeom prst="ellipse">
            <a:avLst/>
          </a:prstGeom>
          <a:noFill/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095" name="矩形 552094"/>
          <p:cNvSpPr/>
          <p:nvPr/>
        </p:nvSpPr>
        <p:spPr>
          <a:xfrm>
            <a:off x="593725" y="5192713"/>
            <a:ext cx="209550" cy="5032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3300" i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096" name="直接连接符 552095"/>
          <p:cNvSpPr/>
          <p:nvPr/>
        </p:nvSpPr>
        <p:spPr>
          <a:xfrm flipH="1">
            <a:off x="3411538" y="2871788"/>
            <a:ext cx="95250" cy="1587"/>
          </a:xfrm>
          <a:prstGeom prst="line">
            <a:avLst/>
          </a:prstGeom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097" name="椭圆 552096"/>
          <p:cNvSpPr/>
          <p:nvPr/>
        </p:nvSpPr>
        <p:spPr>
          <a:xfrm>
            <a:off x="3506788" y="2792413"/>
            <a:ext cx="139700" cy="158750"/>
          </a:xfrm>
          <a:prstGeom prst="ellipse">
            <a:avLst/>
          </a:prstGeom>
          <a:noFill/>
          <a:ln w="23813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098" name="矩形 552097"/>
          <p:cNvSpPr/>
          <p:nvPr/>
        </p:nvSpPr>
        <p:spPr>
          <a:xfrm>
            <a:off x="3717925" y="2660650"/>
            <a:ext cx="244475" cy="5032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3300" i="1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099" name="矩形 552098"/>
          <p:cNvSpPr/>
          <p:nvPr/>
        </p:nvSpPr>
        <p:spPr>
          <a:xfrm>
            <a:off x="2660650" y="3267075"/>
            <a:ext cx="211138" cy="554038"/>
          </a:xfrm>
          <a:prstGeom prst="rect">
            <a:avLst/>
          </a:prstGeom>
          <a:solidFill>
            <a:srgbClr val="0080FF"/>
          </a:solidFill>
          <a:ln w="23813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100" name="矩形 552099"/>
          <p:cNvSpPr/>
          <p:nvPr/>
        </p:nvSpPr>
        <p:spPr>
          <a:xfrm>
            <a:off x="4046538" y="5113338"/>
            <a:ext cx="211137" cy="554037"/>
          </a:xfrm>
          <a:prstGeom prst="rect">
            <a:avLst/>
          </a:prstGeom>
          <a:solidFill>
            <a:srgbClr val="0080FF"/>
          </a:solidFill>
          <a:ln w="23813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101" name="矩形 552100"/>
          <p:cNvSpPr/>
          <p:nvPr/>
        </p:nvSpPr>
        <p:spPr>
          <a:xfrm>
            <a:off x="1720850" y="3267075"/>
            <a:ext cx="211138" cy="554038"/>
          </a:xfrm>
          <a:prstGeom prst="rect">
            <a:avLst/>
          </a:prstGeom>
          <a:solidFill>
            <a:srgbClr val="0080FF"/>
          </a:solidFill>
          <a:ln w="23813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102" name="直接连接符 552101"/>
          <p:cNvSpPr/>
          <p:nvPr/>
        </p:nvSpPr>
        <p:spPr>
          <a:xfrm>
            <a:off x="2754313" y="6140450"/>
            <a:ext cx="1587" cy="238125"/>
          </a:xfrm>
          <a:prstGeom prst="line">
            <a:avLst/>
          </a:prstGeom>
          <a:ln w="2381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3" name="直接连接符 552102"/>
          <p:cNvSpPr/>
          <p:nvPr/>
        </p:nvSpPr>
        <p:spPr>
          <a:xfrm>
            <a:off x="2495550" y="6378575"/>
            <a:ext cx="517525" cy="1588"/>
          </a:xfrm>
          <a:prstGeom prst="line">
            <a:avLst/>
          </a:prstGeom>
          <a:ln w="23813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4" name="直接连接符 552103"/>
          <p:cNvSpPr/>
          <p:nvPr/>
        </p:nvSpPr>
        <p:spPr>
          <a:xfrm>
            <a:off x="3482975" y="4057650"/>
            <a:ext cx="1588" cy="263525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5" name="直接连接符 552104"/>
          <p:cNvSpPr/>
          <p:nvPr/>
        </p:nvSpPr>
        <p:spPr>
          <a:xfrm>
            <a:off x="3576638" y="4057650"/>
            <a:ext cx="1587" cy="263525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6" name="直接连接符 552105"/>
          <p:cNvSpPr/>
          <p:nvPr/>
        </p:nvSpPr>
        <p:spPr>
          <a:xfrm>
            <a:off x="3576638" y="4189413"/>
            <a:ext cx="69850" cy="1587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7" name="直接连接符 552106"/>
          <p:cNvSpPr/>
          <p:nvPr/>
        </p:nvSpPr>
        <p:spPr>
          <a:xfrm>
            <a:off x="3411538" y="4189413"/>
            <a:ext cx="71437" cy="1587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8" name="直接连接符 552107"/>
          <p:cNvSpPr/>
          <p:nvPr/>
        </p:nvSpPr>
        <p:spPr>
          <a:xfrm>
            <a:off x="3176588" y="4189413"/>
            <a:ext cx="234950" cy="1587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09" name="直接连接符 552108"/>
          <p:cNvSpPr/>
          <p:nvPr/>
        </p:nvSpPr>
        <p:spPr>
          <a:xfrm flipH="1">
            <a:off x="3646488" y="4189413"/>
            <a:ext cx="234950" cy="1587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0" name="直接连接符 552109"/>
          <p:cNvSpPr/>
          <p:nvPr/>
        </p:nvSpPr>
        <p:spPr>
          <a:xfrm>
            <a:off x="4046538" y="5113338"/>
            <a:ext cx="187325" cy="1587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1" name="直接连接符 552110"/>
          <p:cNvSpPr/>
          <p:nvPr/>
        </p:nvSpPr>
        <p:spPr>
          <a:xfrm>
            <a:off x="4233863" y="5113338"/>
            <a:ext cx="1587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2" name="直接连接符 552111"/>
          <p:cNvSpPr/>
          <p:nvPr/>
        </p:nvSpPr>
        <p:spPr>
          <a:xfrm flipH="1">
            <a:off x="4046538" y="5640388"/>
            <a:ext cx="187325" cy="1587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3" name="直接连接符 552112"/>
          <p:cNvSpPr/>
          <p:nvPr/>
        </p:nvSpPr>
        <p:spPr>
          <a:xfrm flipV="1">
            <a:off x="4046538" y="5113338"/>
            <a:ext cx="1587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4" name="直接连接符 552113"/>
          <p:cNvSpPr/>
          <p:nvPr/>
        </p:nvSpPr>
        <p:spPr>
          <a:xfrm>
            <a:off x="4140200" y="4849813"/>
            <a:ext cx="1588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5" name="直接连接符 552114"/>
          <p:cNvSpPr/>
          <p:nvPr/>
        </p:nvSpPr>
        <p:spPr>
          <a:xfrm flipV="1">
            <a:off x="4140200" y="5640388"/>
            <a:ext cx="1588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6" name="直接连接符 552115"/>
          <p:cNvSpPr/>
          <p:nvPr/>
        </p:nvSpPr>
        <p:spPr>
          <a:xfrm flipH="1">
            <a:off x="2519363" y="4400550"/>
            <a:ext cx="234950" cy="18573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7" name="直接连接符 552116"/>
          <p:cNvSpPr/>
          <p:nvPr/>
        </p:nvSpPr>
        <p:spPr>
          <a:xfrm>
            <a:off x="2519363" y="4743450"/>
            <a:ext cx="234950" cy="1841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8" name="直接连接符 552117"/>
          <p:cNvSpPr/>
          <p:nvPr/>
        </p:nvSpPr>
        <p:spPr>
          <a:xfrm>
            <a:off x="2519363" y="4400550"/>
            <a:ext cx="1587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19" name="直接连接符 552118"/>
          <p:cNvSpPr/>
          <p:nvPr/>
        </p:nvSpPr>
        <p:spPr>
          <a:xfrm flipH="1">
            <a:off x="2284413" y="4664075"/>
            <a:ext cx="234950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0" name="任意多边形 552119"/>
          <p:cNvSpPr/>
          <p:nvPr/>
        </p:nvSpPr>
        <p:spPr>
          <a:xfrm>
            <a:off x="2613025" y="4795838"/>
            <a:ext cx="141288" cy="131762"/>
          </a:xfrm>
          <a:custGeom>
            <a:avLst/>
            <a:gdLst/>
            <a:ahLst/>
            <a:cxnLst/>
            <a:rect l="0" t="0" r="0" b="0"/>
            <a:pathLst>
              <a:path w="89" h="83">
                <a:moveTo>
                  <a:pt x="89" y="83"/>
                </a:moveTo>
                <a:lnTo>
                  <a:pt x="30" y="0"/>
                </a:lnTo>
                <a:lnTo>
                  <a:pt x="0" y="50"/>
                </a:lnTo>
                <a:lnTo>
                  <a:pt x="89" y="83"/>
                </a:lnTo>
                <a:close/>
              </a:path>
            </a:pathLst>
          </a:custGeom>
          <a:solidFill>
            <a:srgbClr val="0000FF"/>
          </a:solidFill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121" name="矩形 552120"/>
          <p:cNvSpPr/>
          <p:nvPr/>
        </p:nvSpPr>
        <p:spPr>
          <a:xfrm>
            <a:off x="2941638" y="4532313"/>
            <a:ext cx="255587" cy="5032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3300">
                <a:solidFill>
                  <a:srgbClr val="000080"/>
                </a:solidFill>
                <a:latin typeface="Times New Roman" panose="02020603050405020304" pitchFamily="18" charset="0"/>
              </a:rPr>
              <a:t>T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22" name="直接连接符 552121"/>
          <p:cNvSpPr/>
          <p:nvPr/>
        </p:nvSpPr>
        <p:spPr>
          <a:xfrm>
            <a:off x="2754313" y="4137025"/>
            <a:ext cx="1587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3" name="直接连接符 552122"/>
          <p:cNvSpPr/>
          <p:nvPr/>
        </p:nvSpPr>
        <p:spPr>
          <a:xfrm flipV="1">
            <a:off x="2754313" y="4927600"/>
            <a:ext cx="1587" cy="265113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4" name="直接连接符 552123"/>
          <p:cNvSpPr/>
          <p:nvPr/>
        </p:nvSpPr>
        <p:spPr>
          <a:xfrm>
            <a:off x="2049463" y="4664075"/>
            <a:ext cx="234950" cy="1588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5" name="直接连接符 552124"/>
          <p:cNvSpPr/>
          <p:nvPr/>
        </p:nvSpPr>
        <p:spPr>
          <a:xfrm>
            <a:off x="1157288" y="4532313"/>
            <a:ext cx="1587" cy="263525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6" name="直接连接符 552125"/>
          <p:cNvSpPr/>
          <p:nvPr/>
        </p:nvSpPr>
        <p:spPr>
          <a:xfrm>
            <a:off x="1250950" y="4532313"/>
            <a:ext cx="1588" cy="263525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7" name="直接连接符 552126"/>
          <p:cNvSpPr/>
          <p:nvPr/>
        </p:nvSpPr>
        <p:spPr>
          <a:xfrm>
            <a:off x="1250950" y="4664075"/>
            <a:ext cx="71438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8" name="直接连接符 552127"/>
          <p:cNvSpPr/>
          <p:nvPr/>
        </p:nvSpPr>
        <p:spPr>
          <a:xfrm>
            <a:off x="1087438" y="4664075"/>
            <a:ext cx="69850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29" name="直接连接符 552128"/>
          <p:cNvSpPr/>
          <p:nvPr/>
        </p:nvSpPr>
        <p:spPr>
          <a:xfrm>
            <a:off x="852488" y="4664075"/>
            <a:ext cx="234950" cy="1588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0" name="直接连接符 552129"/>
          <p:cNvSpPr/>
          <p:nvPr/>
        </p:nvSpPr>
        <p:spPr>
          <a:xfrm flipH="1">
            <a:off x="1322388" y="4664075"/>
            <a:ext cx="234950" cy="1588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1" name="直接连接符 552130"/>
          <p:cNvSpPr/>
          <p:nvPr/>
        </p:nvSpPr>
        <p:spPr>
          <a:xfrm>
            <a:off x="1720850" y="3267075"/>
            <a:ext cx="188913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2" name="直接连接符 552131"/>
          <p:cNvSpPr/>
          <p:nvPr/>
        </p:nvSpPr>
        <p:spPr>
          <a:xfrm>
            <a:off x="1909763" y="3267075"/>
            <a:ext cx="1587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3" name="直接连接符 552132"/>
          <p:cNvSpPr/>
          <p:nvPr/>
        </p:nvSpPr>
        <p:spPr>
          <a:xfrm flipH="1">
            <a:off x="1720850" y="3794125"/>
            <a:ext cx="188913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4" name="直接连接符 552133"/>
          <p:cNvSpPr/>
          <p:nvPr/>
        </p:nvSpPr>
        <p:spPr>
          <a:xfrm flipV="1">
            <a:off x="1720850" y="3267075"/>
            <a:ext cx="1588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5" name="直接连接符 552134"/>
          <p:cNvSpPr/>
          <p:nvPr/>
        </p:nvSpPr>
        <p:spPr>
          <a:xfrm>
            <a:off x="1814513" y="3003550"/>
            <a:ext cx="1587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6" name="直接连接符 552135"/>
          <p:cNvSpPr/>
          <p:nvPr/>
        </p:nvSpPr>
        <p:spPr>
          <a:xfrm flipV="1">
            <a:off x="1814513" y="3794125"/>
            <a:ext cx="1587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7" name="直接连接符 552136"/>
          <p:cNvSpPr/>
          <p:nvPr/>
        </p:nvSpPr>
        <p:spPr>
          <a:xfrm>
            <a:off x="2660650" y="3267075"/>
            <a:ext cx="187325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8" name="直接连接符 552137"/>
          <p:cNvSpPr/>
          <p:nvPr/>
        </p:nvSpPr>
        <p:spPr>
          <a:xfrm>
            <a:off x="2847975" y="3267075"/>
            <a:ext cx="1588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39" name="直接连接符 552138"/>
          <p:cNvSpPr/>
          <p:nvPr/>
        </p:nvSpPr>
        <p:spPr>
          <a:xfrm flipH="1">
            <a:off x="2660650" y="3794125"/>
            <a:ext cx="187325" cy="1588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0" name="直接连接符 552139"/>
          <p:cNvSpPr/>
          <p:nvPr/>
        </p:nvSpPr>
        <p:spPr>
          <a:xfrm flipV="1">
            <a:off x="2660650" y="3267075"/>
            <a:ext cx="1588" cy="527050"/>
          </a:xfrm>
          <a:prstGeom prst="line">
            <a:avLst/>
          </a:prstGeom>
          <a:ln w="23813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1" name="直接连接符 552140"/>
          <p:cNvSpPr/>
          <p:nvPr/>
        </p:nvSpPr>
        <p:spPr>
          <a:xfrm>
            <a:off x="2754313" y="3003550"/>
            <a:ext cx="1587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2" name="直接连接符 552141"/>
          <p:cNvSpPr/>
          <p:nvPr/>
        </p:nvSpPr>
        <p:spPr>
          <a:xfrm flipV="1">
            <a:off x="2754313" y="3794125"/>
            <a:ext cx="1587" cy="263525"/>
          </a:xfrm>
          <a:prstGeom prst="line">
            <a:avLst/>
          </a:prstGeom>
          <a:ln w="23813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3" name="直接连接符 552142"/>
          <p:cNvSpPr/>
          <p:nvPr/>
        </p:nvSpPr>
        <p:spPr>
          <a:xfrm>
            <a:off x="2754313" y="6140450"/>
            <a:ext cx="1385887" cy="15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4" name="椭圆 552143"/>
          <p:cNvSpPr/>
          <p:nvPr/>
        </p:nvSpPr>
        <p:spPr>
          <a:xfrm>
            <a:off x="2708275" y="6088063"/>
            <a:ext cx="93663" cy="106362"/>
          </a:xfrm>
          <a:prstGeom prst="ellipse">
            <a:avLst/>
          </a:prstGeom>
          <a:solidFill>
            <a:srgbClr val="FF00FF"/>
          </a:solidFill>
          <a:ln w="23813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145" name="直接连接符 552144"/>
          <p:cNvSpPr/>
          <p:nvPr/>
        </p:nvSpPr>
        <p:spPr>
          <a:xfrm>
            <a:off x="3881438" y="4189413"/>
            <a:ext cx="258762" cy="158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6" name="直接连接符 552145"/>
          <p:cNvSpPr/>
          <p:nvPr/>
        </p:nvSpPr>
        <p:spPr>
          <a:xfrm>
            <a:off x="876300" y="6140450"/>
            <a:ext cx="1878013" cy="15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7" name="直接连接符 552146"/>
          <p:cNvSpPr/>
          <p:nvPr/>
        </p:nvSpPr>
        <p:spPr>
          <a:xfrm>
            <a:off x="2754313" y="6140450"/>
            <a:ext cx="1587" cy="269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8" name="直接连接符 552147"/>
          <p:cNvSpPr/>
          <p:nvPr/>
        </p:nvSpPr>
        <p:spPr>
          <a:xfrm flipV="1">
            <a:off x="1814513" y="2871788"/>
            <a:ext cx="1587" cy="131762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49" name="直接连接符 552148"/>
          <p:cNvSpPr/>
          <p:nvPr/>
        </p:nvSpPr>
        <p:spPr>
          <a:xfrm>
            <a:off x="1814513" y="2871788"/>
            <a:ext cx="939800" cy="158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0" name="椭圆 552149"/>
          <p:cNvSpPr/>
          <p:nvPr/>
        </p:nvSpPr>
        <p:spPr>
          <a:xfrm>
            <a:off x="2708275" y="2819400"/>
            <a:ext cx="93663" cy="104775"/>
          </a:xfrm>
          <a:prstGeom prst="ellipse">
            <a:avLst/>
          </a:prstGeom>
          <a:solidFill>
            <a:srgbClr val="FF00FF"/>
          </a:solidFill>
          <a:ln w="23813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151" name="直接连接符 552150"/>
          <p:cNvSpPr/>
          <p:nvPr/>
        </p:nvSpPr>
        <p:spPr>
          <a:xfrm>
            <a:off x="1814513" y="4057650"/>
            <a:ext cx="1587" cy="606425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2" name="椭圆 552151"/>
          <p:cNvSpPr/>
          <p:nvPr/>
        </p:nvSpPr>
        <p:spPr>
          <a:xfrm>
            <a:off x="1768475" y="4611688"/>
            <a:ext cx="93663" cy="106362"/>
          </a:xfrm>
          <a:prstGeom prst="ellipse">
            <a:avLst/>
          </a:prstGeom>
          <a:solidFill>
            <a:srgbClr val="FF00FF"/>
          </a:solidFill>
          <a:ln w="23813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153" name="直接连接符 552152"/>
          <p:cNvSpPr/>
          <p:nvPr/>
        </p:nvSpPr>
        <p:spPr>
          <a:xfrm flipV="1">
            <a:off x="2754313" y="2871788"/>
            <a:ext cx="1587" cy="131762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4" name="直接连接符 552153"/>
          <p:cNvSpPr/>
          <p:nvPr/>
        </p:nvSpPr>
        <p:spPr>
          <a:xfrm>
            <a:off x="4140200" y="4189413"/>
            <a:ext cx="1588" cy="660400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5" name="直接连接符 552154"/>
          <p:cNvSpPr/>
          <p:nvPr/>
        </p:nvSpPr>
        <p:spPr>
          <a:xfrm>
            <a:off x="1557338" y="4664075"/>
            <a:ext cx="257175" cy="15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6" name="直接连接符 552155"/>
          <p:cNvSpPr/>
          <p:nvPr/>
        </p:nvSpPr>
        <p:spPr>
          <a:xfrm flipH="1">
            <a:off x="852488" y="4664075"/>
            <a:ext cx="23812" cy="15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7" name="直接连接符 552156"/>
          <p:cNvSpPr/>
          <p:nvPr/>
        </p:nvSpPr>
        <p:spPr>
          <a:xfrm>
            <a:off x="2754313" y="5192713"/>
            <a:ext cx="1587" cy="94773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8" name="直接连接符 552157"/>
          <p:cNvSpPr/>
          <p:nvPr/>
        </p:nvSpPr>
        <p:spPr>
          <a:xfrm>
            <a:off x="2754313" y="4189413"/>
            <a:ext cx="422275" cy="158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59" name="直接连接符 552158"/>
          <p:cNvSpPr/>
          <p:nvPr/>
        </p:nvSpPr>
        <p:spPr>
          <a:xfrm>
            <a:off x="4140200" y="5903913"/>
            <a:ext cx="1588" cy="23653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60" name="直接连接符 552159"/>
          <p:cNvSpPr/>
          <p:nvPr/>
        </p:nvSpPr>
        <p:spPr>
          <a:xfrm>
            <a:off x="2754313" y="2871788"/>
            <a:ext cx="657225" cy="1587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61" name="直接连接符 552160"/>
          <p:cNvSpPr/>
          <p:nvPr/>
        </p:nvSpPr>
        <p:spPr>
          <a:xfrm>
            <a:off x="2754313" y="4057650"/>
            <a:ext cx="1587" cy="79375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62" name="直接连接符 552161"/>
          <p:cNvSpPr/>
          <p:nvPr/>
        </p:nvSpPr>
        <p:spPr>
          <a:xfrm>
            <a:off x="1814513" y="4664075"/>
            <a:ext cx="234950" cy="1588"/>
          </a:xfrm>
          <a:prstGeom prst="line">
            <a:avLst/>
          </a:prstGeom>
          <a:ln w="23813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163" name="矩形 552162"/>
          <p:cNvSpPr/>
          <p:nvPr/>
        </p:nvSpPr>
        <p:spPr>
          <a:xfrm>
            <a:off x="1133475" y="3346450"/>
            <a:ext cx="22542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64" name="矩形 552163"/>
          <p:cNvSpPr/>
          <p:nvPr/>
        </p:nvSpPr>
        <p:spPr>
          <a:xfrm>
            <a:off x="3670300" y="3689350"/>
            <a:ext cx="266700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</a:rPr>
              <a:t>b2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65" name="矩形 552164"/>
          <p:cNvSpPr/>
          <p:nvPr/>
        </p:nvSpPr>
        <p:spPr>
          <a:xfrm>
            <a:off x="4610100" y="5376863"/>
            <a:ext cx="163513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66" name="矩形 552165"/>
          <p:cNvSpPr/>
          <p:nvPr/>
        </p:nvSpPr>
        <p:spPr>
          <a:xfrm>
            <a:off x="1368425" y="3478213"/>
            <a:ext cx="200025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</a:rPr>
              <a:t>b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67" name="矩形 552166"/>
          <p:cNvSpPr/>
          <p:nvPr/>
        </p:nvSpPr>
        <p:spPr>
          <a:xfrm>
            <a:off x="5032375" y="4981575"/>
            <a:ext cx="158750" cy="3810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68" name="矩形 552167"/>
          <p:cNvSpPr/>
          <p:nvPr/>
        </p:nvSpPr>
        <p:spPr>
          <a:xfrm>
            <a:off x="898525" y="4057650"/>
            <a:ext cx="246063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69" name="矩形 552168"/>
          <p:cNvSpPr/>
          <p:nvPr/>
        </p:nvSpPr>
        <p:spPr>
          <a:xfrm>
            <a:off x="4375150" y="5245100"/>
            <a:ext cx="22542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70" name="矩形 552169"/>
          <p:cNvSpPr/>
          <p:nvPr/>
        </p:nvSpPr>
        <p:spPr>
          <a:xfrm>
            <a:off x="3435350" y="3557588"/>
            <a:ext cx="246063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71" name="矩形 552170"/>
          <p:cNvSpPr/>
          <p:nvPr/>
        </p:nvSpPr>
        <p:spPr>
          <a:xfrm>
            <a:off x="4868863" y="4795838"/>
            <a:ext cx="209550" cy="5032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3300" i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72" name="矩形 552171"/>
          <p:cNvSpPr/>
          <p:nvPr/>
        </p:nvSpPr>
        <p:spPr>
          <a:xfrm>
            <a:off x="1133475" y="4189413"/>
            <a:ext cx="266700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</a:rPr>
              <a:t>b1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73" name="矩形 552172"/>
          <p:cNvSpPr/>
          <p:nvPr/>
        </p:nvSpPr>
        <p:spPr>
          <a:xfrm>
            <a:off x="4868863" y="4506913"/>
            <a:ext cx="179387" cy="3810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5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74" name="矩形 552173"/>
          <p:cNvSpPr/>
          <p:nvPr/>
        </p:nvSpPr>
        <p:spPr>
          <a:xfrm>
            <a:off x="2238375" y="3346450"/>
            <a:ext cx="22542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75" name="矩形 552174"/>
          <p:cNvSpPr/>
          <p:nvPr/>
        </p:nvSpPr>
        <p:spPr>
          <a:xfrm>
            <a:off x="663575" y="4954588"/>
            <a:ext cx="150813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1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76" name="矩形 552175"/>
          <p:cNvSpPr/>
          <p:nvPr/>
        </p:nvSpPr>
        <p:spPr>
          <a:xfrm>
            <a:off x="4140200" y="2844800"/>
            <a:ext cx="355600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</a:rPr>
              <a:t>CC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77" name="矩形 552176"/>
          <p:cNvSpPr/>
          <p:nvPr/>
        </p:nvSpPr>
        <p:spPr>
          <a:xfrm>
            <a:off x="4914900" y="5297488"/>
            <a:ext cx="139700" cy="5032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330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78" name="矩形 552177"/>
          <p:cNvSpPr/>
          <p:nvPr/>
        </p:nvSpPr>
        <p:spPr>
          <a:xfrm rot="16200000">
            <a:off x="4878388" y="4594225"/>
            <a:ext cx="104775" cy="5032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330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79" name="矩形 552178"/>
          <p:cNvSpPr/>
          <p:nvPr/>
        </p:nvSpPr>
        <p:spPr>
          <a:xfrm>
            <a:off x="804863" y="5349875"/>
            <a:ext cx="74612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10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80" name="矩形 552179"/>
          <p:cNvSpPr/>
          <p:nvPr/>
        </p:nvSpPr>
        <p:spPr>
          <a:xfrm>
            <a:off x="3975100" y="2660650"/>
            <a:ext cx="225425" cy="441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9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181" name="矩形 552180"/>
          <p:cNvSpPr/>
          <p:nvPr/>
        </p:nvSpPr>
        <p:spPr>
          <a:xfrm>
            <a:off x="2473325" y="3478213"/>
            <a:ext cx="119063" cy="320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552197" name="组合 552196"/>
          <p:cNvGrpSpPr/>
          <p:nvPr/>
        </p:nvGrpSpPr>
        <p:grpSpPr>
          <a:xfrm>
            <a:off x="836613" y="3698875"/>
            <a:ext cx="3995737" cy="1878013"/>
            <a:chOff x="527" y="2362"/>
            <a:chExt cx="2517" cy="1183"/>
          </a:xfrm>
        </p:grpSpPr>
        <p:sp>
          <p:nvSpPr>
            <p:cNvPr id="552192" name="直接连接符 552191"/>
            <p:cNvSpPr/>
            <p:nvPr/>
          </p:nvSpPr>
          <p:spPr>
            <a:xfrm>
              <a:off x="527" y="2727"/>
              <a:ext cx="562" cy="525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52193" name="组合 552192"/>
            <p:cNvGrpSpPr/>
            <p:nvPr/>
          </p:nvGrpSpPr>
          <p:grpSpPr>
            <a:xfrm>
              <a:off x="1921" y="2362"/>
              <a:ext cx="1123" cy="814"/>
              <a:chOff x="1176" y="1860"/>
              <a:chExt cx="1440" cy="930"/>
            </a:xfrm>
          </p:grpSpPr>
          <p:sp>
            <p:nvSpPr>
              <p:cNvPr id="552194" name="直接连接符 552193"/>
              <p:cNvSpPr/>
              <p:nvPr/>
            </p:nvSpPr>
            <p:spPr>
              <a:xfrm>
                <a:off x="1176" y="1860"/>
                <a:ext cx="720" cy="600"/>
              </a:xfrm>
              <a:prstGeom prst="line">
                <a:avLst/>
              </a:prstGeom>
              <a:ln w="762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2195" name="文本框 552194"/>
              <p:cNvSpPr txBox="1"/>
              <p:nvPr/>
            </p:nvSpPr>
            <p:spPr>
              <a:xfrm>
                <a:off x="1752" y="2373"/>
                <a:ext cx="864" cy="41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3200" b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开路</a:t>
                </a:r>
                <a:endParaRPr lang="zh-CN" altLang="en-US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552196" name="文本框 552195"/>
            <p:cNvSpPr txBox="1"/>
            <p:nvPr/>
          </p:nvSpPr>
          <p:spPr>
            <a:xfrm>
              <a:off x="981" y="3181"/>
              <a:ext cx="674" cy="36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开路</a:t>
              </a:r>
              <a:endPara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4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文本框 553985"/>
          <p:cNvSpPr txBox="1"/>
          <p:nvPr/>
        </p:nvSpPr>
        <p:spPr>
          <a:xfrm>
            <a:off x="341313" y="773113"/>
            <a:ext cx="4005262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交流信号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输入信号</a:t>
            </a:r>
            <a:r>
              <a:rPr lang="en-US" altLang="zh-CN" b="1" i="1" err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1" baseline="-2500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553988" name="文本框 553987"/>
          <p:cNvSpPr txBox="1"/>
          <p:nvPr/>
        </p:nvSpPr>
        <p:spPr>
          <a:xfrm>
            <a:off x="250825" y="188913"/>
            <a:ext cx="5041900" cy="5667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 eaLnBrk="0" hangingPunct="0">
              <a:lnSpc>
                <a:spcPct val="13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交流通路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------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分析动态工作情况</a:t>
            </a: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53989" name="图片 5539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3" y="2255838"/>
            <a:ext cx="6248400" cy="4602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990" name="圆角矩形标注 553989"/>
          <p:cNvSpPr/>
          <p:nvPr/>
        </p:nvSpPr>
        <p:spPr>
          <a:xfrm>
            <a:off x="3505200" y="1223963"/>
            <a:ext cx="5638800" cy="685800"/>
          </a:xfrm>
          <a:prstGeom prst="wedgeRoundRectCallout">
            <a:avLst>
              <a:gd name="adj1" fmla="val -32995"/>
              <a:gd name="adj2" fmla="val 151157"/>
              <a:gd name="adj3" fmla="val 16667"/>
            </a:avLst>
          </a:prstGeom>
          <a:solidFill>
            <a:srgbClr val="FFFFCC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r>
              <a:rPr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将直流电压源短路，将电容短路。</a:t>
            </a:r>
            <a:endParaRPr lang="zh-CN" altLang="en-US" sz="2400" dirty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53991" name="组合 553990"/>
          <p:cNvGrpSpPr/>
          <p:nvPr/>
        </p:nvGrpSpPr>
        <p:grpSpPr>
          <a:xfrm>
            <a:off x="1752600" y="4114800"/>
            <a:ext cx="1104900" cy="1414463"/>
            <a:chOff x="1296" y="1944"/>
            <a:chExt cx="696" cy="891"/>
          </a:xfrm>
        </p:grpSpPr>
        <p:sp>
          <p:nvSpPr>
            <p:cNvPr id="553992" name="椭圆 553991"/>
            <p:cNvSpPr/>
            <p:nvPr/>
          </p:nvSpPr>
          <p:spPr>
            <a:xfrm>
              <a:off x="1296" y="1944"/>
              <a:ext cx="600" cy="48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993" name="文本框 553992"/>
            <p:cNvSpPr txBox="1"/>
            <p:nvPr/>
          </p:nvSpPr>
          <p:spPr>
            <a:xfrm>
              <a:off x="1332" y="2470"/>
              <a:ext cx="66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短路</a:t>
              </a:r>
              <a:endParaRPr lang="zh-CN" altLang="en-US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53994" name="组合 553993"/>
          <p:cNvGrpSpPr/>
          <p:nvPr/>
        </p:nvGrpSpPr>
        <p:grpSpPr>
          <a:xfrm>
            <a:off x="4724400" y="3581400"/>
            <a:ext cx="1104900" cy="1414463"/>
            <a:chOff x="1296" y="1944"/>
            <a:chExt cx="696" cy="891"/>
          </a:xfrm>
        </p:grpSpPr>
        <p:sp>
          <p:nvSpPr>
            <p:cNvPr id="553995" name="椭圆 553994"/>
            <p:cNvSpPr/>
            <p:nvPr/>
          </p:nvSpPr>
          <p:spPr>
            <a:xfrm>
              <a:off x="1296" y="1944"/>
              <a:ext cx="600" cy="48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996" name="文本框 553995"/>
            <p:cNvSpPr txBox="1"/>
            <p:nvPr/>
          </p:nvSpPr>
          <p:spPr>
            <a:xfrm>
              <a:off x="1332" y="2470"/>
              <a:ext cx="66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短路</a:t>
              </a:r>
              <a:endParaRPr lang="zh-CN" altLang="en-US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53997" name="组合 553996"/>
          <p:cNvGrpSpPr/>
          <p:nvPr/>
        </p:nvGrpSpPr>
        <p:grpSpPr>
          <a:xfrm>
            <a:off x="4953000" y="2133600"/>
            <a:ext cx="1866900" cy="1243013"/>
            <a:chOff x="3420" y="540"/>
            <a:chExt cx="1176" cy="783"/>
          </a:xfrm>
        </p:grpSpPr>
        <p:sp>
          <p:nvSpPr>
            <p:cNvPr id="553998" name="椭圆 553997"/>
            <p:cNvSpPr/>
            <p:nvPr/>
          </p:nvSpPr>
          <p:spPr>
            <a:xfrm>
              <a:off x="3420" y="540"/>
              <a:ext cx="600" cy="48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999" name="文本框 553998"/>
            <p:cNvSpPr txBox="1"/>
            <p:nvPr/>
          </p:nvSpPr>
          <p:spPr>
            <a:xfrm>
              <a:off x="3936" y="958"/>
              <a:ext cx="66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置零</a:t>
              </a:r>
              <a:endParaRPr lang="zh-CN" altLang="en-US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54000" name="组合 553999"/>
          <p:cNvGrpSpPr/>
          <p:nvPr/>
        </p:nvGrpSpPr>
        <p:grpSpPr>
          <a:xfrm>
            <a:off x="5334000" y="2667000"/>
            <a:ext cx="2514600" cy="3733800"/>
            <a:chOff x="4116" y="912"/>
            <a:chExt cx="972" cy="2580"/>
          </a:xfrm>
        </p:grpSpPr>
        <p:sp>
          <p:nvSpPr>
            <p:cNvPr id="554001" name="直接连接符 554000"/>
            <p:cNvSpPr/>
            <p:nvPr/>
          </p:nvSpPr>
          <p:spPr>
            <a:xfrm>
              <a:off x="4116" y="912"/>
              <a:ext cx="97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002" name="直接连接符 554001"/>
            <p:cNvSpPr/>
            <p:nvPr/>
          </p:nvSpPr>
          <p:spPr>
            <a:xfrm>
              <a:off x="5076" y="924"/>
              <a:ext cx="0" cy="256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003" name="直接连接符 554002"/>
            <p:cNvSpPr/>
            <p:nvPr/>
          </p:nvSpPr>
          <p:spPr>
            <a:xfrm>
              <a:off x="4320" y="3492"/>
              <a:ext cx="76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54006" name="文本框 554005"/>
          <p:cNvSpPr txBox="1"/>
          <p:nvPr/>
        </p:nvSpPr>
        <p:spPr>
          <a:xfrm>
            <a:off x="250825" y="1449388"/>
            <a:ext cx="3509963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C0099"/>
                </a:solidFill>
                <a:latin typeface="Times New Roman" panose="02020603050405020304" pitchFamily="18" charset="0"/>
              </a:rPr>
              <a:t>交流通路的画法：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-224155" y="318008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3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5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5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53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3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5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6" grpId="0" build="p"/>
      <p:bldP spid="553988" grpId="0"/>
      <p:bldP spid="55399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1" name="Group 68"/>
          <p:cNvGrpSpPr/>
          <p:nvPr/>
        </p:nvGrpSpPr>
        <p:grpSpPr>
          <a:xfrm>
            <a:off x="1557338" y="549275"/>
            <a:ext cx="5722937" cy="3373438"/>
            <a:chOff x="976" y="892"/>
            <a:chExt cx="3407" cy="2551"/>
          </a:xfrm>
        </p:grpSpPr>
        <p:grpSp>
          <p:nvGrpSpPr>
            <p:cNvPr id="56322" name="Group 13"/>
            <p:cNvGrpSpPr/>
            <p:nvPr/>
          </p:nvGrpSpPr>
          <p:grpSpPr>
            <a:xfrm>
              <a:off x="2455" y="2047"/>
              <a:ext cx="309" cy="310"/>
              <a:chOff x="345" y="1706"/>
              <a:chExt cx="309" cy="310"/>
            </a:xfrm>
          </p:grpSpPr>
          <p:sp>
            <p:nvSpPr>
              <p:cNvPr id="56323" name="Line 14"/>
              <p:cNvSpPr/>
              <p:nvPr/>
            </p:nvSpPr>
            <p:spPr>
              <a:xfrm flipH="1">
                <a:off x="499" y="1706"/>
                <a:ext cx="155" cy="109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4" name="Line 15"/>
              <p:cNvSpPr/>
              <p:nvPr/>
            </p:nvSpPr>
            <p:spPr>
              <a:xfrm>
                <a:off x="499" y="1907"/>
                <a:ext cx="155" cy="109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5" name="Line 16"/>
              <p:cNvSpPr/>
              <p:nvPr/>
            </p:nvSpPr>
            <p:spPr>
              <a:xfrm>
                <a:off x="499" y="1706"/>
                <a:ext cx="1" cy="310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6" name="Line 17"/>
              <p:cNvSpPr/>
              <p:nvPr/>
            </p:nvSpPr>
            <p:spPr>
              <a:xfrm flipH="1">
                <a:off x="345" y="1861"/>
                <a:ext cx="154" cy="1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7" name="Freeform 18"/>
              <p:cNvSpPr/>
              <p:nvPr/>
            </p:nvSpPr>
            <p:spPr>
              <a:xfrm>
                <a:off x="561" y="1938"/>
                <a:ext cx="93" cy="78"/>
              </a:xfrm>
              <a:custGeom>
                <a:avLst/>
                <a:gdLst/>
                <a:ahLst/>
                <a:cxnLst>
                  <a:cxn ang="0">
                    <a:pos x="93" y="78"/>
                  </a:cxn>
                  <a:cxn ang="0">
                    <a:pos x="31" y="0"/>
                  </a:cxn>
                  <a:cxn ang="0">
                    <a:pos x="0" y="47"/>
                  </a:cxn>
                  <a:cxn ang="0">
                    <a:pos x="93" y="78"/>
                  </a:cxn>
                </a:cxnLst>
                <a:rect l="0" t="0" r="0" b="0"/>
                <a:pathLst>
                  <a:path w="93" h="78">
                    <a:moveTo>
                      <a:pt x="93" y="78"/>
                    </a:moveTo>
                    <a:lnTo>
                      <a:pt x="31" y="0"/>
                    </a:lnTo>
                    <a:lnTo>
                      <a:pt x="0" y="47"/>
                    </a:lnTo>
                    <a:lnTo>
                      <a:pt x="93" y="78"/>
                    </a:lnTo>
                    <a:close/>
                  </a:path>
                </a:pathLst>
              </a:custGeom>
              <a:solidFill>
                <a:srgbClr val="0000FF"/>
              </a:solidFill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328" name="Rectangle 19"/>
            <p:cNvSpPr/>
            <p:nvPr/>
          </p:nvSpPr>
          <p:spPr>
            <a:xfrm>
              <a:off x="2710" y="1451"/>
              <a:ext cx="142" cy="397"/>
            </a:xfrm>
            <a:prstGeom prst="rect">
              <a:avLst/>
            </a:prstGeom>
            <a:solidFill>
              <a:srgbClr val="0000FF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29" name="Rectangle 20"/>
            <p:cNvSpPr/>
            <p:nvPr/>
          </p:nvSpPr>
          <p:spPr>
            <a:xfrm>
              <a:off x="1875" y="1451"/>
              <a:ext cx="142" cy="397"/>
            </a:xfrm>
            <a:prstGeom prst="rect">
              <a:avLst/>
            </a:prstGeom>
            <a:solidFill>
              <a:srgbClr val="0000FF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0" name="Rectangle 21"/>
            <p:cNvSpPr/>
            <p:nvPr/>
          </p:nvSpPr>
          <p:spPr>
            <a:xfrm>
              <a:off x="3419" y="2415"/>
              <a:ext cx="142" cy="397"/>
            </a:xfrm>
            <a:prstGeom prst="rect">
              <a:avLst/>
            </a:prstGeom>
            <a:solidFill>
              <a:srgbClr val="0000FF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1" name="Line 22"/>
            <p:cNvSpPr/>
            <p:nvPr/>
          </p:nvSpPr>
          <p:spPr>
            <a:xfrm flipV="1">
              <a:off x="2767" y="1848"/>
              <a:ext cx="0" cy="199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2" name="Line 23"/>
            <p:cNvSpPr/>
            <p:nvPr/>
          </p:nvSpPr>
          <p:spPr>
            <a:xfrm flipV="1">
              <a:off x="2767" y="941"/>
              <a:ext cx="0" cy="51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3" name="Line 24"/>
            <p:cNvSpPr/>
            <p:nvPr/>
          </p:nvSpPr>
          <p:spPr>
            <a:xfrm>
              <a:off x="1944" y="941"/>
              <a:ext cx="2439" cy="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4" name="Line 25"/>
            <p:cNvSpPr/>
            <p:nvPr/>
          </p:nvSpPr>
          <p:spPr>
            <a:xfrm>
              <a:off x="1944" y="941"/>
              <a:ext cx="0" cy="51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5" name="Line 26"/>
            <p:cNvSpPr/>
            <p:nvPr/>
          </p:nvSpPr>
          <p:spPr>
            <a:xfrm flipH="1">
              <a:off x="1321" y="2201"/>
              <a:ext cx="1134" cy="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6" name="Line 27"/>
            <p:cNvSpPr/>
            <p:nvPr/>
          </p:nvSpPr>
          <p:spPr>
            <a:xfrm flipV="1">
              <a:off x="1944" y="1856"/>
              <a:ext cx="0" cy="34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7" name="Line 35"/>
            <p:cNvSpPr/>
            <p:nvPr/>
          </p:nvSpPr>
          <p:spPr>
            <a:xfrm>
              <a:off x="2767" y="1962"/>
              <a:ext cx="708" cy="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8" name="Line 37"/>
            <p:cNvSpPr/>
            <p:nvPr/>
          </p:nvSpPr>
          <p:spPr>
            <a:xfrm>
              <a:off x="3475" y="1962"/>
              <a:ext cx="0" cy="453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39" name="Line 38"/>
            <p:cNvSpPr/>
            <p:nvPr/>
          </p:nvSpPr>
          <p:spPr>
            <a:xfrm>
              <a:off x="1349" y="3237"/>
              <a:ext cx="3034" cy="0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40" name="Line 39"/>
            <p:cNvSpPr/>
            <p:nvPr/>
          </p:nvSpPr>
          <p:spPr>
            <a:xfrm>
              <a:off x="4383" y="941"/>
              <a:ext cx="0" cy="2296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41" name="Line 41"/>
            <p:cNvSpPr/>
            <p:nvPr/>
          </p:nvSpPr>
          <p:spPr>
            <a:xfrm>
              <a:off x="3491" y="2812"/>
              <a:ext cx="0" cy="425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42" name="Line 42"/>
            <p:cNvSpPr/>
            <p:nvPr/>
          </p:nvSpPr>
          <p:spPr>
            <a:xfrm>
              <a:off x="2767" y="2358"/>
              <a:ext cx="0" cy="993"/>
            </a:xfrm>
            <a:prstGeom prst="line">
              <a:avLst/>
            </a:prstGeom>
            <a:ln w="28575" cap="sq" cmpd="sng">
              <a:solidFill>
                <a:srgbClr val="990000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43" name="Line 43"/>
            <p:cNvSpPr/>
            <p:nvPr/>
          </p:nvSpPr>
          <p:spPr>
            <a:xfrm>
              <a:off x="2682" y="3351"/>
              <a:ext cx="14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6344" name="Oval 50"/>
            <p:cNvSpPr/>
            <p:nvPr/>
          </p:nvSpPr>
          <p:spPr>
            <a:xfrm>
              <a:off x="1264" y="3181"/>
              <a:ext cx="85" cy="85"/>
            </a:xfrm>
            <a:prstGeom prst="ellipse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45" name="Oval 51"/>
            <p:cNvSpPr/>
            <p:nvPr/>
          </p:nvSpPr>
          <p:spPr>
            <a:xfrm>
              <a:off x="1236" y="2160"/>
              <a:ext cx="85" cy="85"/>
            </a:xfrm>
            <a:prstGeom prst="ellipse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46" name="Text Box 52"/>
            <p:cNvSpPr txBox="1"/>
            <p:nvPr/>
          </p:nvSpPr>
          <p:spPr>
            <a:xfrm>
              <a:off x="3559" y="2016"/>
              <a:ext cx="284" cy="39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56347" name="Text Box 53"/>
            <p:cNvSpPr txBox="1"/>
            <p:nvPr/>
          </p:nvSpPr>
          <p:spPr>
            <a:xfrm>
              <a:off x="3559" y="2754"/>
              <a:ext cx="199" cy="39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56348" name="Text Box 54"/>
            <p:cNvSpPr txBox="1"/>
            <p:nvPr/>
          </p:nvSpPr>
          <p:spPr>
            <a:xfrm>
              <a:off x="976" y="2032"/>
              <a:ext cx="282" cy="393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56349" name="Text Box 55"/>
            <p:cNvSpPr txBox="1"/>
            <p:nvPr/>
          </p:nvSpPr>
          <p:spPr>
            <a:xfrm>
              <a:off x="1005" y="3051"/>
              <a:ext cx="199" cy="39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56350" name="Oval 56"/>
            <p:cNvSpPr/>
            <p:nvPr/>
          </p:nvSpPr>
          <p:spPr>
            <a:xfrm>
              <a:off x="2722" y="1913"/>
              <a:ext cx="85" cy="85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1" name="Oval 57"/>
            <p:cNvSpPr/>
            <p:nvPr/>
          </p:nvSpPr>
          <p:spPr>
            <a:xfrm>
              <a:off x="3447" y="3184"/>
              <a:ext cx="85" cy="85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2" name="Oval 58"/>
            <p:cNvSpPr/>
            <p:nvPr/>
          </p:nvSpPr>
          <p:spPr>
            <a:xfrm>
              <a:off x="2722" y="3181"/>
              <a:ext cx="85" cy="85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3" name="Oval 59"/>
            <p:cNvSpPr/>
            <p:nvPr/>
          </p:nvSpPr>
          <p:spPr>
            <a:xfrm>
              <a:off x="1900" y="2132"/>
              <a:ext cx="85" cy="85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4" name="Oval 60"/>
            <p:cNvSpPr/>
            <p:nvPr/>
          </p:nvSpPr>
          <p:spPr>
            <a:xfrm>
              <a:off x="2718" y="892"/>
              <a:ext cx="85" cy="85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5" name="Text Box 62"/>
            <p:cNvSpPr txBox="1"/>
            <p:nvPr/>
          </p:nvSpPr>
          <p:spPr>
            <a:xfrm>
              <a:off x="1491" y="1480"/>
              <a:ext cx="339" cy="393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aseline="-25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6" name="Text Box 64"/>
            <p:cNvSpPr txBox="1"/>
            <p:nvPr/>
          </p:nvSpPr>
          <p:spPr>
            <a:xfrm>
              <a:off x="2313" y="1480"/>
              <a:ext cx="339" cy="393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aseline="-25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7" name="Text Box 65"/>
            <p:cNvSpPr txBox="1"/>
            <p:nvPr/>
          </p:nvSpPr>
          <p:spPr>
            <a:xfrm>
              <a:off x="3078" y="2443"/>
              <a:ext cx="424" cy="393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56358" name="Text Box 66"/>
            <p:cNvSpPr txBox="1"/>
            <p:nvPr/>
          </p:nvSpPr>
          <p:spPr>
            <a:xfrm>
              <a:off x="1010" y="2530"/>
              <a:ext cx="339" cy="39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aseline="-25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9" name="Text Box 67"/>
            <p:cNvSpPr txBox="1"/>
            <p:nvPr/>
          </p:nvSpPr>
          <p:spPr>
            <a:xfrm>
              <a:off x="3589" y="2416"/>
              <a:ext cx="341" cy="39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aseline="-25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550981" name="Pictur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75" y="3833813"/>
            <a:ext cx="6035675" cy="2846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61" name="Text Box 70"/>
          <p:cNvSpPr txBox="1"/>
          <p:nvPr/>
        </p:nvSpPr>
        <p:spPr>
          <a:xfrm>
            <a:off x="206375" y="233363"/>
            <a:ext cx="2895600" cy="57943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交流通路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6" name="文本框 509955"/>
          <p:cNvSpPr txBox="1"/>
          <p:nvPr/>
        </p:nvSpPr>
        <p:spPr>
          <a:xfrm>
            <a:off x="2457450" y="368300"/>
            <a:ext cx="36004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2.4.1  </a:t>
            </a:r>
            <a:r>
              <a:rPr lang="zh-CN" altLang="en-US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估算分析法</a:t>
            </a:r>
          </a:p>
        </p:txBody>
      </p:sp>
      <p:sp>
        <p:nvSpPr>
          <p:cNvPr id="509958" name="文本框 509957"/>
          <p:cNvSpPr txBox="1"/>
          <p:nvPr/>
        </p:nvSpPr>
        <p:spPr>
          <a:xfrm>
            <a:off x="385763" y="1042988"/>
            <a:ext cx="84169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对放大电路分析时，通常是把直流、交流分开进行的。</a:t>
            </a:r>
          </a:p>
        </p:txBody>
      </p:sp>
      <p:sp>
        <p:nvSpPr>
          <p:cNvPr id="509962" name="文本框 509961"/>
          <p:cNvSpPr txBox="1"/>
          <p:nvPr/>
        </p:nvSpPr>
        <p:spPr>
          <a:xfrm>
            <a:off x="412750" y="1493838"/>
            <a:ext cx="848677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估算法，是电路直流分析时采用的一种方法。 </a:t>
            </a:r>
          </a:p>
        </p:txBody>
      </p:sp>
      <p:sp>
        <p:nvSpPr>
          <p:cNvPr id="509964" name="文本框 509963"/>
          <p:cNvSpPr txBox="1"/>
          <p:nvPr/>
        </p:nvSpPr>
        <p:spPr>
          <a:xfrm>
            <a:off x="1601788" y="1943100"/>
            <a:ext cx="71548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可以求出电路在直流状态下各点的电压、电流。</a:t>
            </a:r>
          </a:p>
        </p:txBody>
      </p:sp>
      <p:pic>
        <p:nvPicPr>
          <p:cNvPr id="509965" name="图片 5099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3563938"/>
            <a:ext cx="3581400" cy="2678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9966" name="文本框 509965"/>
          <p:cNvSpPr txBox="1"/>
          <p:nvPr/>
        </p:nvSpPr>
        <p:spPr>
          <a:xfrm>
            <a:off x="792163" y="2708275"/>
            <a:ext cx="774065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求电路中的</a:t>
            </a:r>
            <a:r>
              <a:rPr lang="en-US" altLang="zh-CN" i="1">
                <a:solidFill>
                  <a:srgbClr val="A5002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-25000">
                <a:solidFill>
                  <a:srgbClr val="A50021"/>
                </a:solidFill>
                <a:latin typeface="Times New Roman" panose="02020603050405020304" pitchFamily="18" charset="0"/>
              </a:rPr>
              <a:t>BQ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i="1">
                <a:solidFill>
                  <a:srgbClr val="A5002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-25000">
                <a:solidFill>
                  <a:srgbClr val="A50021"/>
                </a:solidFill>
                <a:latin typeface="Times New Roman" panose="02020603050405020304" pitchFamily="18" charset="0"/>
              </a:rPr>
              <a:t>CQ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i="1">
                <a:solidFill>
                  <a:srgbClr val="A5002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aseline="-25000">
                <a:solidFill>
                  <a:srgbClr val="A50021"/>
                </a:solidFill>
                <a:latin typeface="Times New Roman" panose="02020603050405020304" pitchFamily="18" charset="0"/>
              </a:rPr>
              <a:t>CEQ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（静态工作点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510032" name="文本框 510031"/>
          <p:cNvSpPr txBox="1"/>
          <p:nvPr/>
        </p:nvSpPr>
        <p:spPr>
          <a:xfrm>
            <a:off x="4481513" y="5815013"/>
            <a:ext cx="946150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</a:endParaRPr>
          </a:p>
        </p:txBody>
      </p:sp>
      <p:grpSp>
        <p:nvGrpSpPr>
          <p:cNvPr id="510049" name="组合 510048"/>
          <p:cNvGrpSpPr/>
          <p:nvPr/>
        </p:nvGrpSpPr>
        <p:grpSpPr>
          <a:xfrm>
            <a:off x="6011863" y="3698875"/>
            <a:ext cx="3132137" cy="2879725"/>
            <a:chOff x="3787" y="2330"/>
            <a:chExt cx="1973" cy="1814"/>
          </a:xfrm>
        </p:grpSpPr>
        <p:sp>
          <p:nvSpPr>
            <p:cNvPr id="509976" name="直接连接符 509975"/>
            <p:cNvSpPr/>
            <p:nvPr/>
          </p:nvSpPr>
          <p:spPr>
            <a:xfrm flipH="1">
              <a:off x="5128" y="2433"/>
              <a:ext cx="56" cy="1"/>
            </a:xfrm>
            <a:prstGeom prst="line">
              <a:avLst/>
            </a:prstGeom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77" name="椭圆 509976"/>
            <p:cNvSpPr/>
            <p:nvPr/>
          </p:nvSpPr>
          <p:spPr>
            <a:xfrm>
              <a:off x="5184" y="2395"/>
              <a:ext cx="83" cy="77"/>
            </a:xfrm>
            <a:prstGeom prst="ellipse">
              <a:avLst/>
            </a:prstGeom>
            <a:noFill/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9978" name="矩形 509977"/>
            <p:cNvSpPr/>
            <p:nvPr/>
          </p:nvSpPr>
          <p:spPr>
            <a:xfrm>
              <a:off x="5308" y="2330"/>
              <a:ext cx="145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100" i="1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09979" name="矩形 509978"/>
            <p:cNvSpPr/>
            <p:nvPr/>
          </p:nvSpPr>
          <p:spPr>
            <a:xfrm>
              <a:off x="4685" y="2626"/>
              <a:ext cx="124" cy="270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9980" name="矩形 509979"/>
            <p:cNvSpPr/>
            <p:nvPr/>
          </p:nvSpPr>
          <p:spPr>
            <a:xfrm>
              <a:off x="4130" y="2626"/>
              <a:ext cx="124" cy="270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9981" name="直接连接符 509980"/>
            <p:cNvSpPr/>
            <p:nvPr/>
          </p:nvSpPr>
          <p:spPr>
            <a:xfrm>
              <a:off x="4740" y="4027"/>
              <a:ext cx="1" cy="116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82" name="直接连接符 509981"/>
            <p:cNvSpPr/>
            <p:nvPr/>
          </p:nvSpPr>
          <p:spPr>
            <a:xfrm>
              <a:off x="4588" y="4143"/>
              <a:ext cx="304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1" name="直接连接符 509990"/>
            <p:cNvSpPr/>
            <p:nvPr/>
          </p:nvSpPr>
          <p:spPr>
            <a:xfrm>
              <a:off x="4324" y="3307"/>
              <a:ext cx="139" cy="1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2" name="直接连接符 509991"/>
            <p:cNvSpPr/>
            <p:nvPr/>
          </p:nvSpPr>
          <p:spPr>
            <a:xfrm>
              <a:off x="4130" y="2626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3" name="直接连接符 509992"/>
            <p:cNvSpPr/>
            <p:nvPr/>
          </p:nvSpPr>
          <p:spPr>
            <a:xfrm>
              <a:off x="4241" y="262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4" name="直接连接符 509993"/>
            <p:cNvSpPr/>
            <p:nvPr/>
          </p:nvSpPr>
          <p:spPr>
            <a:xfrm flipH="1">
              <a:off x="4130" y="2883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5" name="直接连接符 509994"/>
            <p:cNvSpPr/>
            <p:nvPr/>
          </p:nvSpPr>
          <p:spPr>
            <a:xfrm flipV="1">
              <a:off x="4130" y="262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6" name="直接连接符 509995"/>
            <p:cNvSpPr/>
            <p:nvPr/>
          </p:nvSpPr>
          <p:spPr>
            <a:xfrm>
              <a:off x="4185" y="2497"/>
              <a:ext cx="1" cy="129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7" name="直接连接符 509996"/>
            <p:cNvSpPr/>
            <p:nvPr/>
          </p:nvSpPr>
          <p:spPr>
            <a:xfrm flipV="1">
              <a:off x="4185" y="2883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8" name="直接连接符 509997"/>
            <p:cNvSpPr/>
            <p:nvPr/>
          </p:nvSpPr>
          <p:spPr>
            <a:xfrm>
              <a:off x="4685" y="2626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9" name="直接连接符 509998"/>
            <p:cNvSpPr/>
            <p:nvPr/>
          </p:nvSpPr>
          <p:spPr>
            <a:xfrm>
              <a:off x="4796" y="262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0" name="直接连接符 509999"/>
            <p:cNvSpPr/>
            <p:nvPr/>
          </p:nvSpPr>
          <p:spPr>
            <a:xfrm flipH="1">
              <a:off x="4685" y="2883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1" name="直接连接符 510000"/>
            <p:cNvSpPr/>
            <p:nvPr/>
          </p:nvSpPr>
          <p:spPr>
            <a:xfrm flipV="1">
              <a:off x="4685" y="2626"/>
              <a:ext cx="0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2" name="直接连接符 510001"/>
            <p:cNvSpPr/>
            <p:nvPr/>
          </p:nvSpPr>
          <p:spPr>
            <a:xfrm>
              <a:off x="4740" y="2497"/>
              <a:ext cx="1" cy="129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3" name="直接连接符 510002"/>
            <p:cNvSpPr/>
            <p:nvPr/>
          </p:nvSpPr>
          <p:spPr>
            <a:xfrm flipV="1">
              <a:off x="4740" y="2883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4" name="直接连接符 510003"/>
            <p:cNvSpPr/>
            <p:nvPr/>
          </p:nvSpPr>
          <p:spPr>
            <a:xfrm>
              <a:off x="4740" y="3564"/>
              <a:ext cx="1" cy="47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5" name="直接连接符 510004"/>
            <p:cNvSpPr/>
            <p:nvPr/>
          </p:nvSpPr>
          <p:spPr>
            <a:xfrm flipV="1">
              <a:off x="4185" y="2433"/>
              <a:ext cx="1" cy="64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6" name="直接连接符 510005"/>
            <p:cNvSpPr/>
            <p:nvPr/>
          </p:nvSpPr>
          <p:spPr>
            <a:xfrm>
              <a:off x="4185" y="2433"/>
              <a:ext cx="555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7" name="椭圆 510006"/>
            <p:cNvSpPr/>
            <p:nvPr/>
          </p:nvSpPr>
          <p:spPr>
            <a:xfrm>
              <a:off x="4712" y="2407"/>
              <a:ext cx="56" cy="52"/>
            </a:xfrm>
            <a:prstGeom prst="ellipse">
              <a:avLst/>
            </a:prstGeom>
            <a:solidFill>
              <a:srgbClr val="FF00FF"/>
            </a:solidFill>
            <a:ln w="23813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0008" name="直接连接符 510007"/>
            <p:cNvSpPr/>
            <p:nvPr/>
          </p:nvSpPr>
          <p:spPr>
            <a:xfrm>
              <a:off x="4184" y="3010"/>
              <a:ext cx="1" cy="29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09" name="直接连接符 510008"/>
            <p:cNvSpPr/>
            <p:nvPr/>
          </p:nvSpPr>
          <p:spPr>
            <a:xfrm flipV="1">
              <a:off x="4740" y="2433"/>
              <a:ext cx="1" cy="64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10" name="直接连接符 510009"/>
            <p:cNvSpPr/>
            <p:nvPr/>
          </p:nvSpPr>
          <p:spPr>
            <a:xfrm>
              <a:off x="4740" y="2433"/>
              <a:ext cx="388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10048" name="组合 510047"/>
            <p:cNvGrpSpPr/>
            <p:nvPr/>
          </p:nvGrpSpPr>
          <p:grpSpPr>
            <a:xfrm>
              <a:off x="4463" y="3178"/>
              <a:ext cx="348" cy="258"/>
              <a:chOff x="4463" y="3178"/>
              <a:chExt cx="348" cy="258"/>
            </a:xfrm>
          </p:grpSpPr>
          <p:sp>
            <p:nvSpPr>
              <p:cNvPr id="509983" name="直接连接符 509982"/>
              <p:cNvSpPr/>
              <p:nvPr/>
            </p:nvSpPr>
            <p:spPr>
              <a:xfrm flipH="1">
                <a:off x="4601" y="3178"/>
                <a:ext cx="139" cy="91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9984" name="直接连接符 509983"/>
              <p:cNvSpPr/>
              <p:nvPr/>
            </p:nvSpPr>
            <p:spPr>
              <a:xfrm>
                <a:off x="4601" y="3345"/>
                <a:ext cx="139" cy="91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9985" name="直接连接符 509984"/>
              <p:cNvSpPr/>
              <p:nvPr/>
            </p:nvSpPr>
            <p:spPr>
              <a:xfrm>
                <a:off x="4601" y="3178"/>
                <a:ext cx="1" cy="258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9986" name="直接连接符 509985"/>
              <p:cNvSpPr/>
              <p:nvPr/>
            </p:nvSpPr>
            <p:spPr>
              <a:xfrm flipH="1">
                <a:off x="4463" y="3307"/>
                <a:ext cx="138" cy="1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9987" name="任意多边形 509986"/>
              <p:cNvSpPr/>
              <p:nvPr/>
            </p:nvSpPr>
            <p:spPr>
              <a:xfrm>
                <a:off x="4657" y="3371"/>
                <a:ext cx="83" cy="65"/>
              </a:xfrm>
              <a:custGeom>
                <a:avLst/>
                <a:gdLst/>
                <a:ahLst/>
                <a:cxnLst/>
                <a:rect l="0" t="0" r="0" b="0"/>
                <a:pathLst>
                  <a:path w="93" h="78">
                    <a:moveTo>
                      <a:pt x="93" y="78"/>
                    </a:moveTo>
                    <a:lnTo>
                      <a:pt x="31" y="0"/>
                    </a:lnTo>
                    <a:lnTo>
                      <a:pt x="0" y="47"/>
                    </a:lnTo>
                    <a:lnTo>
                      <a:pt x="93" y="78"/>
                    </a:lnTo>
                    <a:close/>
                  </a:path>
                </a:pathLst>
              </a:custGeom>
              <a:solidFill>
                <a:srgbClr val="0000FF"/>
              </a:solidFill>
              <a:ln w="23813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9988" name="矩形 509987"/>
              <p:cNvSpPr/>
              <p:nvPr/>
            </p:nvSpPr>
            <p:spPr>
              <a:xfrm>
                <a:off x="4723" y="3209"/>
                <a:ext cx="88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09989" name="直接连接符 509988"/>
            <p:cNvSpPr/>
            <p:nvPr/>
          </p:nvSpPr>
          <p:spPr>
            <a:xfrm>
              <a:off x="4740" y="3050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9990" name="直接连接符 509989"/>
            <p:cNvSpPr/>
            <p:nvPr/>
          </p:nvSpPr>
          <p:spPr>
            <a:xfrm flipV="1">
              <a:off x="4740" y="3436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11" name="直接连接符 510010"/>
            <p:cNvSpPr/>
            <p:nvPr/>
          </p:nvSpPr>
          <p:spPr>
            <a:xfrm>
              <a:off x="4740" y="3011"/>
              <a:ext cx="1" cy="39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12" name="直接连接符 510011"/>
            <p:cNvSpPr/>
            <p:nvPr/>
          </p:nvSpPr>
          <p:spPr>
            <a:xfrm>
              <a:off x="4185" y="3307"/>
              <a:ext cx="139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0013" name="矩形 510012"/>
            <p:cNvSpPr/>
            <p:nvPr/>
          </p:nvSpPr>
          <p:spPr>
            <a:xfrm>
              <a:off x="3787" y="2618"/>
              <a:ext cx="275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0014" name="矩形 510013"/>
            <p:cNvSpPr/>
            <p:nvPr/>
          </p:nvSpPr>
          <p:spPr>
            <a:xfrm>
              <a:off x="3922" y="2729"/>
              <a:ext cx="7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0015" name="矩形 510014"/>
            <p:cNvSpPr/>
            <p:nvPr/>
          </p:nvSpPr>
          <p:spPr>
            <a:xfrm>
              <a:off x="4439" y="2634"/>
              <a:ext cx="132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0016" name="矩形 510015"/>
            <p:cNvSpPr/>
            <p:nvPr/>
          </p:nvSpPr>
          <p:spPr>
            <a:xfrm>
              <a:off x="5558" y="2421"/>
              <a:ext cx="202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</a:rPr>
                <a:t>CC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0017" name="矩形 510016"/>
            <p:cNvSpPr/>
            <p:nvPr/>
          </p:nvSpPr>
          <p:spPr>
            <a:xfrm>
              <a:off x="5462" y="2330"/>
              <a:ext cx="131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0018" name="矩形 510017"/>
            <p:cNvSpPr/>
            <p:nvPr/>
          </p:nvSpPr>
          <p:spPr>
            <a:xfrm>
              <a:off x="4573" y="2729"/>
              <a:ext cx="67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10027" name="直接连接符 510026"/>
            <p:cNvSpPr/>
            <p:nvPr/>
          </p:nvSpPr>
          <p:spPr>
            <a:xfrm>
              <a:off x="4184" y="3379"/>
              <a:ext cx="284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miter/>
              <a:headEnd type="none" w="sm" len="sm"/>
              <a:tailEnd type="triangle" w="med" len="med"/>
            </a:ln>
          </p:spPr>
        </p:sp>
        <p:sp>
          <p:nvSpPr>
            <p:cNvPr id="510029" name="直接连接符 510028"/>
            <p:cNvSpPr/>
            <p:nvPr/>
          </p:nvSpPr>
          <p:spPr>
            <a:xfrm>
              <a:off x="4921" y="2557"/>
              <a:ext cx="0" cy="368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miter/>
              <a:headEnd type="none" w="sm" len="sm"/>
              <a:tailEnd type="triangle" w="med" len="med"/>
            </a:ln>
          </p:spPr>
        </p:sp>
        <p:sp>
          <p:nvSpPr>
            <p:cNvPr id="510030" name="文本框 510029"/>
            <p:cNvSpPr txBox="1"/>
            <p:nvPr/>
          </p:nvSpPr>
          <p:spPr>
            <a:xfrm>
              <a:off x="4779" y="2954"/>
              <a:ext cx="2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10031" name="文本框 510030"/>
            <p:cNvSpPr txBox="1"/>
            <p:nvPr/>
          </p:nvSpPr>
          <p:spPr>
            <a:xfrm>
              <a:off x="4779" y="3407"/>
              <a:ext cx="3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510033" name="文本框 510032"/>
            <p:cNvSpPr txBox="1"/>
            <p:nvPr/>
          </p:nvSpPr>
          <p:spPr>
            <a:xfrm>
              <a:off x="4836" y="3181"/>
              <a:ext cx="59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A50021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>
                  <a:solidFill>
                    <a:srgbClr val="A50021"/>
                  </a:solidFill>
                  <a:latin typeface="Times New Roman" panose="02020603050405020304" pitchFamily="18" charset="0"/>
                </a:rPr>
                <a:t>CEQ</a:t>
              </a:r>
            </a:p>
          </p:txBody>
        </p:sp>
        <p:sp>
          <p:nvSpPr>
            <p:cNvPr id="510034" name="文本框 510033"/>
            <p:cNvSpPr txBox="1"/>
            <p:nvPr/>
          </p:nvSpPr>
          <p:spPr>
            <a:xfrm>
              <a:off x="4127" y="3351"/>
              <a:ext cx="4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A5002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aseline="-25000">
                  <a:solidFill>
                    <a:srgbClr val="A50021"/>
                  </a:solidFill>
                  <a:latin typeface="Times New Roman" panose="02020603050405020304" pitchFamily="18" charset="0"/>
                </a:rPr>
                <a:t>BQ</a:t>
              </a:r>
            </a:p>
          </p:txBody>
        </p:sp>
        <p:sp>
          <p:nvSpPr>
            <p:cNvPr id="510035" name="文本框 510034"/>
            <p:cNvSpPr txBox="1"/>
            <p:nvPr/>
          </p:nvSpPr>
          <p:spPr>
            <a:xfrm>
              <a:off x="4949" y="2557"/>
              <a:ext cx="45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A5002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aseline="-25000">
                  <a:solidFill>
                    <a:srgbClr val="A50021"/>
                  </a:solidFill>
                  <a:latin typeface="Times New Roman" panose="02020603050405020304" pitchFamily="18" charset="0"/>
                </a:rPr>
                <a:t>CQ</a:t>
              </a:r>
            </a:p>
          </p:txBody>
        </p:sp>
      </p:grpSp>
      <p:grpSp>
        <p:nvGrpSpPr>
          <p:cNvPr id="510050" name="组合 510049"/>
          <p:cNvGrpSpPr/>
          <p:nvPr/>
        </p:nvGrpSpPr>
        <p:grpSpPr>
          <a:xfrm>
            <a:off x="3986213" y="3789363"/>
            <a:ext cx="1800225" cy="1574800"/>
            <a:chOff x="2511" y="2387"/>
            <a:chExt cx="1134" cy="992"/>
          </a:xfrm>
        </p:grpSpPr>
        <p:sp>
          <p:nvSpPr>
            <p:cNvPr id="509968" name="直接连接符 509967"/>
            <p:cNvSpPr/>
            <p:nvPr/>
          </p:nvSpPr>
          <p:spPr>
            <a:xfrm>
              <a:off x="2625" y="3010"/>
              <a:ext cx="567" cy="0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09969" name="直接连接符 509968"/>
            <p:cNvSpPr/>
            <p:nvPr/>
          </p:nvSpPr>
          <p:spPr>
            <a:xfrm>
              <a:off x="2625" y="3266"/>
              <a:ext cx="567" cy="0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09970" name="直接连接符 509969"/>
            <p:cNvSpPr/>
            <p:nvPr/>
          </p:nvSpPr>
          <p:spPr>
            <a:xfrm flipV="1">
              <a:off x="3192" y="2897"/>
              <a:ext cx="0" cy="113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09972" name="直接连接符 509971"/>
            <p:cNvSpPr/>
            <p:nvPr/>
          </p:nvSpPr>
          <p:spPr>
            <a:xfrm flipV="1">
              <a:off x="3192" y="3266"/>
              <a:ext cx="0" cy="113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09973" name="直接连接符 509972"/>
            <p:cNvSpPr/>
            <p:nvPr/>
          </p:nvSpPr>
          <p:spPr>
            <a:xfrm>
              <a:off x="3192" y="2897"/>
              <a:ext cx="340" cy="227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09974" name="直接连接符 509973"/>
            <p:cNvSpPr/>
            <p:nvPr/>
          </p:nvSpPr>
          <p:spPr>
            <a:xfrm flipV="1">
              <a:off x="3192" y="3124"/>
              <a:ext cx="340" cy="255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510037" name="文本框 510036"/>
            <p:cNvSpPr txBox="1"/>
            <p:nvPr/>
          </p:nvSpPr>
          <p:spPr>
            <a:xfrm>
              <a:off x="2511" y="2387"/>
              <a:ext cx="1134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画直流通路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99" name="文本框 561198"/>
          <p:cNvSpPr txBox="1"/>
          <p:nvPr/>
        </p:nvSpPr>
        <p:spPr>
          <a:xfrm>
            <a:off x="792163" y="4914900"/>
            <a:ext cx="6570662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1" baseline="-250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偏置电阻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楷体_GB2312" pitchFamily="49" charset="-122"/>
              </a:rPr>
              <a:t>BQ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偏置电流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1201" name="文本框 561200"/>
          <p:cNvSpPr txBox="1"/>
          <p:nvPr/>
        </p:nvSpPr>
        <p:spPr>
          <a:xfrm>
            <a:off x="5021263" y="3068638"/>
            <a:ext cx="23447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楷体_GB2312" pitchFamily="49" charset="-122"/>
              </a:rPr>
              <a:t>CQ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 </a:t>
            </a: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楷体_GB2312" pitchFamily="49" charset="-122"/>
              </a:rPr>
              <a:t>BQ</a:t>
            </a:r>
          </a:p>
        </p:txBody>
      </p:sp>
      <p:graphicFrame>
        <p:nvGraphicFramePr>
          <p:cNvPr id="561202" name="对象 561201"/>
          <p:cNvGraphicFramePr/>
          <p:nvPr/>
        </p:nvGraphicFramePr>
        <p:xfrm>
          <a:off x="5021263" y="593725"/>
          <a:ext cx="2560637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r:id="rId3" imgW="1066800" imgH="457200" progId="Equation.DSMT4">
                  <p:embed/>
                </p:oleObj>
              </mc:Choice>
              <mc:Fallback>
                <p:oleObj r:id="rId3" imgW="1066800" imgH="457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21263" y="593725"/>
                        <a:ext cx="2560637" cy="1096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203" name="对象 561202"/>
          <p:cNvGraphicFramePr/>
          <p:nvPr/>
        </p:nvGraphicFramePr>
        <p:xfrm>
          <a:off x="5634038" y="1752600"/>
          <a:ext cx="217805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r:id="rId5" imgW="914400" imgH="457200" progId="Equation.3">
                  <p:embed/>
                </p:oleObj>
              </mc:Choice>
              <mc:Fallback>
                <p:oleObj r:id="rId5" imgW="914400" imgH="4572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4038" y="1752600"/>
                        <a:ext cx="2178050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204" name="对象 561203"/>
          <p:cNvGraphicFramePr/>
          <p:nvPr/>
        </p:nvGraphicFramePr>
        <p:xfrm>
          <a:off x="5065713" y="4014788"/>
          <a:ext cx="30162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r:id="rId7" imgW="1193165" imgH="241300" progId="Equation.DSMT4">
                  <p:embed/>
                </p:oleObj>
              </mc:Choice>
              <mc:Fallback>
                <p:oleObj r:id="rId7" imgW="1193165" imgH="2413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65713" y="4014788"/>
                        <a:ext cx="301625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1256" name="组合 561255"/>
          <p:cNvGrpSpPr/>
          <p:nvPr/>
        </p:nvGrpSpPr>
        <p:grpSpPr>
          <a:xfrm>
            <a:off x="566738" y="1358900"/>
            <a:ext cx="3138487" cy="2879725"/>
            <a:chOff x="300" y="1310"/>
            <a:chExt cx="1977" cy="1814"/>
          </a:xfrm>
        </p:grpSpPr>
        <p:sp>
          <p:nvSpPr>
            <p:cNvPr id="561206" name="直接连接符 561205"/>
            <p:cNvSpPr/>
            <p:nvPr/>
          </p:nvSpPr>
          <p:spPr>
            <a:xfrm flipH="1">
              <a:off x="1645" y="1413"/>
              <a:ext cx="56" cy="1"/>
            </a:xfrm>
            <a:prstGeom prst="line">
              <a:avLst/>
            </a:prstGeom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07" name="椭圆 561206"/>
            <p:cNvSpPr/>
            <p:nvPr/>
          </p:nvSpPr>
          <p:spPr>
            <a:xfrm>
              <a:off x="1701" y="1375"/>
              <a:ext cx="83" cy="77"/>
            </a:xfrm>
            <a:prstGeom prst="ellipse">
              <a:avLst/>
            </a:prstGeom>
            <a:noFill/>
            <a:ln w="23813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208" name="矩形 561207"/>
            <p:cNvSpPr/>
            <p:nvPr/>
          </p:nvSpPr>
          <p:spPr>
            <a:xfrm>
              <a:off x="1825" y="1310"/>
              <a:ext cx="145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100" i="1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61209" name="矩形 561208"/>
            <p:cNvSpPr/>
            <p:nvPr/>
          </p:nvSpPr>
          <p:spPr>
            <a:xfrm>
              <a:off x="1202" y="1606"/>
              <a:ext cx="124" cy="270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210" name="矩形 561209"/>
            <p:cNvSpPr/>
            <p:nvPr/>
          </p:nvSpPr>
          <p:spPr>
            <a:xfrm>
              <a:off x="647" y="1606"/>
              <a:ext cx="124" cy="270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211" name="直接连接符 561210"/>
            <p:cNvSpPr/>
            <p:nvPr/>
          </p:nvSpPr>
          <p:spPr>
            <a:xfrm>
              <a:off x="1257" y="3007"/>
              <a:ext cx="1" cy="116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2" name="直接连接符 561211"/>
            <p:cNvSpPr/>
            <p:nvPr/>
          </p:nvSpPr>
          <p:spPr>
            <a:xfrm>
              <a:off x="1105" y="3123"/>
              <a:ext cx="304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3" name="直接连接符 561212"/>
            <p:cNvSpPr/>
            <p:nvPr/>
          </p:nvSpPr>
          <p:spPr>
            <a:xfrm flipH="1">
              <a:off x="1118" y="2158"/>
              <a:ext cx="139" cy="9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4" name="直接连接符 561213"/>
            <p:cNvSpPr/>
            <p:nvPr/>
          </p:nvSpPr>
          <p:spPr>
            <a:xfrm>
              <a:off x="1118" y="2325"/>
              <a:ext cx="139" cy="9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5" name="直接连接符 561214"/>
            <p:cNvSpPr/>
            <p:nvPr/>
          </p:nvSpPr>
          <p:spPr>
            <a:xfrm>
              <a:off x="1118" y="2158"/>
              <a:ext cx="1" cy="258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6" name="直接连接符 561215"/>
            <p:cNvSpPr/>
            <p:nvPr/>
          </p:nvSpPr>
          <p:spPr>
            <a:xfrm flipH="1">
              <a:off x="980" y="2287"/>
              <a:ext cx="138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17" name="任意多边形 561216"/>
            <p:cNvSpPr/>
            <p:nvPr/>
          </p:nvSpPr>
          <p:spPr>
            <a:xfrm>
              <a:off x="1174" y="2351"/>
              <a:ext cx="83" cy="65"/>
            </a:xfrm>
            <a:custGeom>
              <a:avLst/>
              <a:gdLst/>
              <a:ahLst/>
              <a:cxnLst/>
              <a:rect l="0" t="0" r="0" b="0"/>
              <a:pathLst>
                <a:path w="93" h="78">
                  <a:moveTo>
                    <a:pt x="93" y="78"/>
                  </a:moveTo>
                  <a:lnTo>
                    <a:pt x="31" y="0"/>
                  </a:lnTo>
                  <a:lnTo>
                    <a:pt x="0" y="47"/>
                  </a:lnTo>
                  <a:lnTo>
                    <a:pt x="93" y="78"/>
                  </a:lnTo>
                  <a:close/>
                </a:path>
              </a:pathLst>
            </a:custGeom>
            <a:solidFill>
              <a:srgbClr val="0000FF"/>
            </a:solidFill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218" name="矩形 561217"/>
            <p:cNvSpPr/>
            <p:nvPr/>
          </p:nvSpPr>
          <p:spPr>
            <a:xfrm>
              <a:off x="1240" y="2189"/>
              <a:ext cx="88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>
                  <a:solidFill>
                    <a:srgbClr val="000080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61219" name="直接连接符 561218"/>
            <p:cNvSpPr/>
            <p:nvPr/>
          </p:nvSpPr>
          <p:spPr>
            <a:xfrm>
              <a:off x="1257" y="2030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0" name="直接连接符 561219"/>
            <p:cNvSpPr/>
            <p:nvPr/>
          </p:nvSpPr>
          <p:spPr>
            <a:xfrm flipV="1">
              <a:off x="1257" y="2416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1" name="直接连接符 561220"/>
            <p:cNvSpPr/>
            <p:nvPr/>
          </p:nvSpPr>
          <p:spPr>
            <a:xfrm>
              <a:off x="841" y="2287"/>
              <a:ext cx="139" cy="1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2" name="直接连接符 561221"/>
            <p:cNvSpPr/>
            <p:nvPr/>
          </p:nvSpPr>
          <p:spPr>
            <a:xfrm>
              <a:off x="647" y="1606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3" name="直接连接符 561222"/>
            <p:cNvSpPr/>
            <p:nvPr/>
          </p:nvSpPr>
          <p:spPr>
            <a:xfrm>
              <a:off x="758" y="160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4" name="直接连接符 561223"/>
            <p:cNvSpPr/>
            <p:nvPr/>
          </p:nvSpPr>
          <p:spPr>
            <a:xfrm flipH="1">
              <a:off x="647" y="1863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5" name="直接连接符 561224"/>
            <p:cNvSpPr/>
            <p:nvPr/>
          </p:nvSpPr>
          <p:spPr>
            <a:xfrm flipV="1">
              <a:off x="647" y="160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6" name="直接连接符 561225"/>
            <p:cNvSpPr/>
            <p:nvPr/>
          </p:nvSpPr>
          <p:spPr>
            <a:xfrm>
              <a:off x="702" y="1477"/>
              <a:ext cx="1" cy="129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7" name="直接连接符 561226"/>
            <p:cNvSpPr/>
            <p:nvPr/>
          </p:nvSpPr>
          <p:spPr>
            <a:xfrm flipV="1">
              <a:off x="702" y="1863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8" name="直接连接符 561227"/>
            <p:cNvSpPr/>
            <p:nvPr/>
          </p:nvSpPr>
          <p:spPr>
            <a:xfrm>
              <a:off x="1202" y="1606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29" name="直接连接符 561228"/>
            <p:cNvSpPr/>
            <p:nvPr/>
          </p:nvSpPr>
          <p:spPr>
            <a:xfrm>
              <a:off x="1313" y="160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0" name="直接连接符 561229"/>
            <p:cNvSpPr/>
            <p:nvPr/>
          </p:nvSpPr>
          <p:spPr>
            <a:xfrm flipH="1">
              <a:off x="1202" y="1863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1" name="直接连接符 561230"/>
            <p:cNvSpPr/>
            <p:nvPr/>
          </p:nvSpPr>
          <p:spPr>
            <a:xfrm flipV="1">
              <a:off x="1202" y="1606"/>
              <a:ext cx="0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2" name="直接连接符 561231"/>
            <p:cNvSpPr/>
            <p:nvPr/>
          </p:nvSpPr>
          <p:spPr>
            <a:xfrm>
              <a:off x="1257" y="1477"/>
              <a:ext cx="1" cy="129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3" name="直接连接符 561232"/>
            <p:cNvSpPr/>
            <p:nvPr/>
          </p:nvSpPr>
          <p:spPr>
            <a:xfrm flipV="1">
              <a:off x="1257" y="1863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4" name="直接连接符 561233"/>
            <p:cNvSpPr/>
            <p:nvPr/>
          </p:nvSpPr>
          <p:spPr>
            <a:xfrm>
              <a:off x="1257" y="2544"/>
              <a:ext cx="1" cy="47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5" name="直接连接符 561234"/>
            <p:cNvSpPr/>
            <p:nvPr/>
          </p:nvSpPr>
          <p:spPr>
            <a:xfrm flipV="1">
              <a:off x="702" y="1413"/>
              <a:ext cx="1" cy="64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6" name="直接连接符 561235"/>
            <p:cNvSpPr/>
            <p:nvPr/>
          </p:nvSpPr>
          <p:spPr>
            <a:xfrm>
              <a:off x="702" y="1413"/>
              <a:ext cx="555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7" name="椭圆 561236"/>
            <p:cNvSpPr/>
            <p:nvPr/>
          </p:nvSpPr>
          <p:spPr>
            <a:xfrm>
              <a:off x="1229" y="1387"/>
              <a:ext cx="56" cy="52"/>
            </a:xfrm>
            <a:prstGeom prst="ellipse">
              <a:avLst/>
            </a:prstGeom>
            <a:solidFill>
              <a:srgbClr val="FF00FF"/>
            </a:solidFill>
            <a:ln w="23813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238" name="直接连接符 561237"/>
            <p:cNvSpPr/>
            <p:nvPr/>
          </p:nvSpPr>
          <p:spPr>
            <a:xfrm>
              <a:off x="702" y="1991"/>
              <a:ext cx="1" cy="29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39" name="直接连接符 561238"/>
            <p:cNvSpPr/>
            <p:nvPr/>
          </p:nvSpPr>
          <p:spPr>
            <a:xfrm flipV="1">
              <a:off x="1257" y="1413"/>
              <a:ext cx="1" cy="64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40" name="直接连接符 561239"/>
            <p:cNvSpPr/>
            <p:nvPr/>
          </p:nvSpPr>
          <p:spPr>
            <a:xfrm>
              <a:off x="1257" y="1413"/>
              <a:ext cx="388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41" name="直接连接符 561240"/>
            <p:cNvSpPr/>
            <p:nvPr/>
          </p:nvSpPr>
          <p:spPr>
            <a:xfrm>
              <a:off x="1257" y="1991"/>
              <a:ext cx="1" cy="39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42" name="直接连接符 561241"/>
            <p:cNvSpPr/>
            <p:nvPr/>
          </p:nvSpPr>
          <p:spPr>
            <a:xfrm>
              <a:off x="702" y="2287"/>
              <a:ext cx="139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1243" name="矩形 561242"/>
            <p:cNvSpPr/>
            <p:nvPr/>
          </p:nvSpPr>
          <p:spPr>
            <a:xfrm>
              <a:off x="300" y="1597"/>
              <a:ext cx="275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61244" name="矩形 561243"/>
            <p:cNvSpPr/>
            <p:nvPr/>
          </p:nvSpPr>
          <p:spPr>
            <a:xfrm>
              <a:off x="439" y="1709"/>
              <a:ext cx="7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61245" name="矩形 561244"/>
            <p:cNvSpPr/>
            <p:nvPr/>
          </p:nvSpPr>
          <p:spPr>
            <a:xfrm>
              <a:off x="952" y="1605"/>
              <a:ext cx="132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61246" name="矩形 561245"/>
            <p:cNvSpPr/>
            <p:nvPr/>
          </p:nvSpPr>
          <p:spPr>
            <a:xfrm>
              <a:off x="2075" y="1401"/>
              <a:ext cx="202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</a:rPr>
                <a:t>CC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61247" name="矩形 561246"/>
            <p:cNvSpPr/>
            <p:nvPr/>
          </p:nvSpPr>
          <p:spPr>
            <a:xfrm>
              <a:off x="1979" y="1310"/>
              <a:ext cx="131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7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61248" name="矩形 561247"/>
            <p:cNvSpPr/>
            <p:nvPr/>
          </p:nvSpPr>
          <p:spPr>
            <a:xfrm>
              <a:off x="1090" y="1709"/>
              <a:ext cx="67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61249" name="直接连接符 561248"/>
            <p:cNvSpPr/>
            <p:nvPr/>
          </p:nvSpPr>
          <p:spPr>
            <a:xfrm>
              <a:off x="701" y="2359"/>
              <a:ext cx="284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miter/>
              <a:headEnd type="none" w="sm" len="sm"/>
              <a:tailEnd type="triangle" w="med" len="med"/>
            </a:ln>
          </p:spPr>
        </p:sp>
        <p:sp>
          <p:nvSpPr>
            <p:cNvPr id="561250" name="直接连接符 561249"/>
            <p:cNvSpPr/>
            <p:nvPr/>
          </p:nvSpPr>
          <p:spPr>
            <a:xfrm>
              <a:off x="1438" y="1537"/>
              <a:ext cx="0" cy="368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miter/>
              <a:headEnd type="none" w="sm" len="sm"/>
              <a:tailEnd type="triangle" w="med" len="med"/>
            </a:ln>
          </p:spPr>
        </p:sp>
        <p:sp>
          <p:nvSpPr>
            <p:cNvPr id="561251" name="文本框 561250"/>
            <p:cNvSpPr txBox="1"/>
            <p:nvPr/>
          </p:nvSpPr>
          <p:spPr>
            <a:xfrm>
              <a:off x="1296" y="1934"/>
              <a:ext cx="2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1252" name="文本框 561251"/>
            <p:cNvSpPr txBox="1"/>
            <p:nvPr/>
          </p:nvSpPr>
          <p:spPr>
            <a:xfrm>
              <a:off x="1296" y="2387"/>
              <a:ext cx="3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561253" name="文本框 561252"/>
            <p:cNvSpPr txBox="1"/>
            <p:nvPr/>
          </p:nvSpPr>
          <p:spPr>
            <a:xfrm>
              <a:off x="1353" y="2161"/>
              <a:ext cx="59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A50021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>
                  <a:solidFill>
                    <a:srgbClr val="A50021"/>
                  </a:solidFill>
                  <a:latin typeface="Times New Roman" panose="02020603050405020304" pitchFamily="18" charset="0"/>
                </a:rPr>
                <a:t>CEQ</a:t>
              </a:r>
            </a:p>
          </p:txBody>
        </p:sp>
        <p:sp>
          <p:nvSpPr>
            <p:cNvPr id="561254" name="文本框 561253"/>
            <p:cNvSpPr txBox="1"/>
            <p:nvPr/>
          </p:nvSpPr>
          <p:spPr>
            <a:xfrm>
              <a:off x="644" y="2331"/>
              <a:ext cx="4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A5002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aseline="-25000">
                  <a:solidFill>
                    <a:srgbClr val="A50021"/>
                  </a:solidFill>
                  <a:latin typeface="Times New Roman" panose="02020603050405020304" pitchFamily="18" charset="0"/>
                </a:rPr>
                <a:t>BQ</a:t>
              </a:r>
            </a:p>
          </p:txBody>
        </p:sp>
        <p:sp>
          <p:nvSpPr>
            <p:cNvPr id="561255" name="文本框 561254"/>
            <p:cNvSpPr txBox="1"/>
            <p:nvPr/>
          </p:nvSpPr>
          <p:spPr>
            <a:xfrm>
              <a:off x="1466" y="1537"/>
              <a:ext cx="45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A5002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aseline="-25000">
                  <a:solidFill>
                    <a:srgbClr val="A50021"/>
                  </a:solidFill>
                  <a:latin typeface="Times New Roman" panose="02020603050405020304" pitchFamily="18" charset="0"/>
                </a:rPr>
                <a:t>CQ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6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6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6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99" grpId="0"/>
      <p:bldP spid="56120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文本框 562177"/>
          <p:cNvSpPr txBox="1"/>
          <p:nvPr/>
        </p:nvSpPr>
        <p:spPr>
          <a:xfrm>
            <a:off x="533400" y="457200"/>
            <a:ext cx="7086600" cy="5794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长城楷体" pitchFamily="49" charset="-122"/>
              </a:rPr>
              <a:t>例：用估算法计算静态工作点。</a:t>
            </a:r>
            <a:endParaRPr lang="zh-CN" altLang="en-US" sz="3200" b="1"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562179" name="文本框 562178"/>
          <p:cNvSpPr txBox="1"/>
          <p:nvPr/>
        </p:nvSpPr>
        <p:spPr>
          <a:xfrm>
            <a:off x="836613" y="1628775"/>
            <a:ext cx="3810000" cy="16144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marL="1238250" indent="-1238250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已知： 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CC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=12V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   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=4K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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=300K 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=37.5</a:t>
            </a: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62180" name="文本框 562179"/>
          <p:cNvSpPr txBox="1"/>
          <p:nvPr/>
        </p:nvSpPr>
        <p:spPr>
          <a:xfrm>
            <a:off x="304800" y="3276600"/>
            <a:ext cx="666750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rPr>
              <a:t>解：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  <a:ea typeface="长城楷体" pitchFamily="49" charset="-122"/>
            </a:endParaRPr>
          </a:p>
        </p:txBody>
      </p:sp>
      <p:graphicFrame>
        <p:nvGraphicFramePr>
          <p:cNvPr id="562181" name="对象 562180"/>
          <p:cNvGraphicFramePr/>
          <p:nvPr/>
        </p:nvGraphicFramePr>
        <p:xfrm>
          <a:off x="296863" y="3878263"/>
          <a:ext cx="448151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r:id="rId3" imgW="2221230" imgH="431800" progId="Equation.DSMT4">
                  <p:embed/>
                </p:oleObj>
              </mc:Choice>
              <mc:Fallback>
                <p:oleObj r:id="rId3" imgW="2221230" imgH="4318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6863" y="3878263"/>
                        <a:ext cx="4481512" cy="806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182" name="对象 562181"/>
          <p:cNvGraphicFramePr/>
          <p:nvPr/>
        </p:nvGraphicFramePr>
        <p:xfrm>
          <a:off x="206375" y="4778375"/>
          <a:ext cx="48910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r:id="rId5" imgW="2092960" imgH="266065" progId="Equation.DSMT4">
                  <p:embed/>
                </p:oleObj>
              </mc:Choice>
              <mc:Fallback>
                <p:oleObj r:id="rId5" imgW="2092960" imgH="266065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6375" y="4778375"/>
                        <a:ext cx="489108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183" name="对象 562182"/>
          <p:cNvGraphicFramePr/>
          <p:nvPr/>
        </p:nvGraphicFramePr>
        <p:xfrm>
          <a:off x="206375" y="5364163"/>
          <a:ext cx="586105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r:id="rId7" imgW="2373630" imgH="241300" progId="Equation.DSMT4">
                  <p:embed/>
                </p:oleObj>
              </mc:Choice>
              <mc:Fallback>
                <p:oleObj r:id="rId7" imgW="2373630" imgH="2413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6375" y="5364163"/>
                        <a:ext cx="5861050" cy="579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2184" name="文本框 562183"/>
          <p:cNvSpPr txBox="1"/>
          <p:nvPr/>
        </p:nvSpPr>
        <p:spPr>
          <a:xfrm>
            <a:off x="6192838" y="4014788"/>
            <a:ext cx="2736850" cy="116046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请注意电路中</a:t>
            </a:r>
          </a:p>
          <a:p>
            <a:pPr>
              <a:spcBef>
                <a:spcPct val="50000"/>
              </a:spcBef>
            </a:pPr>
            <a:r>
              <a:rPr lang="en-US" altLang="zh-CN" b="1" i="1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I</a:t>
            </a:r>
            <a:r>
              <a:rPr lang="en-US" altLang="zh-CN" b="1" baseline="-25000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B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和</a:t>
            </a:r>
            <a:r>
              <a:rPr lang="en-US" altLang="zh-CN" b="1" i="1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I</a:t>
            </a:r>
            <a:r>
              <a:rPr lang="en-US" altLang="zh-CN" b="1" baseline="-25000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C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的数量级</a:t>
            </a:r>
            <a:endParaRPr lang="zh-CN" altLang="en-US" b="1">
              <a:solidFill>
                <a:srgbClr val="FF3300"/>
              </a:solidFill>
              <a:latin typeface="Times New Roman" panose="02020603050405020304" pitchFamily="18" charset="0"/>
              <a:ea typeface="长城楷体" pitchFamily="49" charset="-122"/>
              <a:sym typeface="Webdings" panose="05030102010509060703" pitchFamily="18" charset="2"/>
            </a:endParaRPr>
          </a:p>
        </p:txBody>
      </p:sp>
      <p:pic>
        <p:nvPicPr>
          <p:cNvPr id="562185" name="图片 56218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7175" y="1223963"/>
            <a:ext cx="3581400" cy="2678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2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2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2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2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2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79" grpId="0" build="p"/>
      <p:bldP spid="562180" grpId="0" build="p"/>
      <p:bldP spid="56218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2" name="文本框 565251"/>
          <p:cNvSpPr txBox="1"/>
          <p:nvPr/>
        </p:nvSpPr>
        <p:spPr>
          <a:xfrm>
            <a:off x="3086100" y="549275"/>
            <a:ext cx="33845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2.4.2  </a:t>
            </a:r>
            <a:r>
              <a:rPr lang="zh-CN" altLang="en-US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图解分析法</a:t>
            </a:r>
          </a:p>
        </p:txBody>
      </p:sp>
      <p:sp>
        <p:nvSpPr>
          <p:cNvPr id="565253" name="文本框 565252"/>
          <p:cNvSpPr txBox="1"/>
          <p:nvPr/>
        </p:nvSpPr>
        <p:spPr>
          <a:xfrm>
            <a:off x="890905" y="1673225"/>
            <a:ext cx="4265295" cy="199961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zh-CN" altLang="en-US" sz="24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图解分析法：是利用三极管的输入、输出伏安特性曲线及管外电路的特性，通过作图的方法对放大电路的工作状态进行分析。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65254" name="文本框 565253"/>
          <p:cNvSpPr txBox="1"/>
          <p:nvPr/>
        </p:nvSpPr>
        <p:spPr>
          <a:xfrm>
            <a:off x="971233" y="4508818"/>
            <a:ext cx="6210300" cy="8842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图解分析法：既可以对电路的直流状态进行分析，也可以对电路的交流状态进行分析。</a:t>
            </a:r>
          </a:p>
        </p:txBody>
      </p:sp>
      <p:pic>
        <p:nvPicPr>
          <p:cNvPr id="565255" name="图片 565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725" y="1403350"/>
            <a:ext cx="3581400" cy="26781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矩形 563201"/>
          <p:cNvSpPr/>
          <p:nvPr/>
        </p:nvSpPr>
        <p:spPr>
          <a:xfrm>
            <a:off x="3806825" y="5568950"/>
            <a:ext cx="2357438" cy="45720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CE </a:t>
            </a: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CC </a:t>
            </a: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– </a:t>
            </a:r>
            <a:r>
              <a:rPr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</a:p>
        </p:txBody>
      </p:sp>
      <p:grpSp>
        <p:nvGrpSpPr>
          <p:cNvPr id="563203" name="组合 563202"/>
          <p:cNvGrpSpPr/>
          <p:nvPr/>
        </p:nvGrpSpPr>
        <p:grpSpPr>
          <a:xfrm>
            <a:off x="611188" y="2573338"/>
            <a:ext cx="3208337" cy="3451225"/>
            <a:chOff x="3264" y="1361"/>
            <a:chExt cx="2020" cy="2174"/>
          </a:xfrm>
        </p:grpSpPr>
        <p:sp>
          <p:nvSpPr>
            <p:cNvPr id="563204" name="文本框 563203"/>
            <p:cNvSpPr txBox="1"/>
            <p:nvPr/>
          </p:nvSpPr>
          <p:spPr>
            <a:xfrm>
              <a:off x="3315" y="1361"/>
              <a:ext cx="115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3205" name="文本框 563204"/>
            <p:cNvSpPr txBox="1"/>
            <p:nvPr/>
          </p:nvSpPr>
          <p:spPr>
            <a:xfrm>
              <a:off x="4865" y="3247"/>
              <a:ext cx="41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63206" name="组合 563205"/>
            <p:cNvGrpSpPr/>
            <p:nvPr/>
          </p:nvGrpSpPr>
          <p:grpSpPr>
            <a:xfrm>
              <a:off x="3264" y="1585"/>
              <a:ext cx="1584" cy="1896"/>
              <a:chOff x="3180" y="1585"/>
              <a:chExt cx="1584" cy="1896"/>
            </a:xfrm>
          </p:grpSpPr>
          <p:sp>
            <p:nvSpPr>
              <p:cNvPr id="563207" name="直接连接符 563206"/>
              <p:cNvSpPr/>
              <p:nvPr/>
            </p:nvSpPr>
            <p:spPr>
              <a:xfrm flipV="1">
                <a:off x="3180" y="3481"/>
                <a:ext cx="15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triangle" w="med" len="lg"/>
              </a:ln>
            </p:spPr>
          </p:sp>
          <p:grpSp>
            <p:nvGrpSpPr>
              <p:cNvPr id="563208" name="组合 563207"/>
              <p:cNvGrpSpPr/>
              <p:nvPr/>
            </p:nvGrpSpPr>
            <p:grpSpPr>
              <a:xfrm>
                <a:off x="3181" y="1585"/>
                <a:ext cx="1288" cy="1896"/>
                <a:chOff x="3181" y="1753"/>
                <a:chExt cx="1288" cy="1896"/>
              </a:xfrm>
            </p:grpSpPr>
            <p:sp>
              <p:nvSpPr>
                <p:cNvPr id="563209" name="直接连接符 563208"/>
                <p:cNvSpPr/>
                <p:nvPr/>
              </p:nvSpPr>
              <p:spPr>
                <a:xfrm flipH="1" flipV="1">
                  <a:off x="3192" y="1753"/>
                  <a:ext cx="0" cy="189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triangle" w="med" len="lg"/>
                </a:ln>
              </p:spPr>
            </p:sp>
            <p:grpSp>
              <p:nvGrpSpPr>
                <p:cNvPr id="563210" name="组合 563209"/>
                <p:cNvGrpSpPr/>
                <p:nvPr/>
              </p:nvGrpSpPr>
              <p:grpSpPr>
                <a:xfrm>
                  <a:off x="3181" y="2028"/>
                  <a:ext cx="1288" cy="1609"/>
                  <a:chOff x="3181" y="1260"/>
                  <a:chExt cx="2387" cy="2377"/>
                </a:xfrm>
              </p:grpSpPr>
              <p:sp>
                <p:nvSpPr>
                  <p:cNvPr id="563211" name="任意多边形 563210"/>
                  <p:cNvSpPr/>
                  <p:nvPr/>
                </p:nvSpPr>
                <p:spPr>
                  <a:xfrm>
                    <a:off x="3181" y="3505"/>
                    <a:ext cx="2387" cy="1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87" h="131">
                        <a:moveTo>
                          <a:pt x="19" y="131"/>
                        </a:moveTo>
                        <a:cubicBezTo>
                          <a:pt x="27" y="125"/>
                          <a:pt x="0" y="113"/>
                          <a:pt x="69" y="95"/>
                        </a:cubicBezTo>
                        <a:cubicBezTo>
                          <a:pt x="138" y="77"/>
                          <a:pt x="45" y="40"/>
                          <a:pt x="431" y="24"/>
                        </a:cubicBezTo>
                        <a:cubicBezTo>
                          <a:pt x="817" y="8"/>
                          <a:pt x="1980" y="5"/>
                          <a:pt x="2387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212" name="任意多边形 563211"/>
                  <p:cNvSpPr/>
                  <p:nvPr/>
                </p:nvSpPr>
                <p:spPr>
                  <a:xfrm>
                    <a:off x="3200" y="3133"/>
                    <a:ext cx="2308" cy="5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8" h="504">
                        <a:moveTo>
                          <a:pt x="0" y="504"/>
                        </a:moveTo>
                        <a:cubicBezTo>
                          <a:pt x="3" y="472"/>
                          <a:pt x="6" y="352"/>
                          <a:pt x="15" y="314"/>
                        </a:cubicBezTo>
                        <a:cubicBezTo>
                          <a:pt x="24" y="276"/>
                          <a:pt x="26" y="302"/>
                          <a:pt x="52" y="276"/>
                        </a:cubicBezTo>
                        <a:cubicBezTo>
                          <a:pt x="78" y="250"/>
                          <a:pt x="124" y="190"/>
                          <a:pt x="172" y="156"/>
                        </a:cubicBezTo>
                        <a:cubicBezTo>
                          <a:pt x="220" y="122"/>
                          <a:pt x="244" y="90"/>
                          <a:pt x="340" y="72"/>
                        </a:cubicBezTo>
                        <a:cubicBezTo>
                          <a:pt x="436" y="54"/>
                          <a:pt x="420" y="60"/>
                          <a:pt x="748" y="48"/>
                        </a:cubicBezTo>
                        <a:cubicBezTo>
                          <a:pt x="1076" y="36"/>
                          <a:pt x="1983" y="10"/>
                          <a:pt x="2308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213" name="任意多边形 563212"/>
                  <p:cNvSpPr/>
                  <p:nvPr/>
                </p:nvSpPr>
                <p:spPr>
                  <a:xfrm>
                    <a:off x="3197" y="2689"/>
                    <a:ext cx="2299" cy="9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99" h="948">
                        <a:moveTo>
                          <a:pt x="0" y="948"/>
                        </a:moveTo>
                        <a:cubicBezTo>
                          <a:pt x="9" y="858"/>
                          <a:pt x="20" y="540"/>
                          <a:pt x="55" y="408"/>
                        </a:cubicBezTo>
                        <a:cubicBezTo>
                          <a:pt x="90" y="276"/>
                          <a:pt x="151" y="212"/>
                          <a:pt x="211" y="156"/>
                        </a:cubicBezTo>
                        <a:cubicBezTo>
                          <a:pt x="271" y="100"/>
                          <a:pt x="247" y="93"/>
                          <a:pt x="413" y="69"/>
                        </a:cubicBezTo>
                        <a:cubicBezTo>
                          <a:pt x="579" y="45"/>
                          <a:pt x="893" y="23"/>
                          <a:pt x="1207" y="12"/>
                        </a:cubicBezTo>
                        <a:cubicBezTo>
                          <a:pt x="1521" y="1"/>
                          <a:pt x="2072" y="2"/>
                          <a:pt x="2299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214" name="任意多边形 563213"/>
                  <p:cNvSpPr/>
                  <p:nvPr/>
                </p:nvSpPr>
                <p:spPr>
                  <a:xfrm>
                    <a:off x="3200" y="2221"/>
                    <a:ext cx="2260" cy="13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60" h="1380">
                        <a:moveTo>
                          <a:pt x="0" y="1380"/>
                        </a:moveTo>
                        <a:cubicBezTo>
                          <a:pt x="12" y="1237"/>
                          <a:pt x="48" y="729"/>
                          <a:pt x="73" y="525"/>
                        </a:cubicBezTo>
                        <a:cubicBezTo>
                          <a:pt x="99" y="321"/>
                          <a:pt x="86" y="236"/>
                          <a:pt x="155" y="157"/>
                        </a:cubicBezTo>
                        <a:cubicBezTo>
                          <a:pt x="223" y="77"/>
                          <a:pt x="132" y="76"/>
                          <a:pt x="483" y="50"/>
                        </a:cubicBezTo>
                        <a:cubicBezTo>
                          <a:pt x="834" y="24"/>
                          <a:pt x="1890" y="10"/>
                          <a:pt x="2260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215" name="任意多边形 563214"/>
                  <p:cNvSpPr/>
                  <p:nvPr/>
                </p:nvSpPr>
                <p:spPr>
                  <a:xfrm>
                    <a:off x="3200" y="1813"/>
                    <a:ext cx="2224" cy="178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4" h="1788">
                        <a:moveTo>
                          <a:pt x="0" y="1788"/>
                        </a:moveTo>
                        <a:cubicBezTo>
                          <a:pt x="15" y="1616"/>
                          <a:pt x="70" y="1000"/>
                          <a:pt x="89" y="754"/>
                        </a:cubicBezTo>
                        <a:cubicBezTo>
                          <a:pt x="108" y="508"/>
                          <a:pt x="92" y="417"/>
                          <a:pt x="112" y="312"/>
                        </a:cubicBezTo>
                        <a:cubicBezTo>
                          <a:pt x="132" y="207"/>
                          <a:pt x="121" y="171"/>
                          <a:pt x="209" y="125"/>
                        </a:cubicBezTo>
                        <a:cubicBezTo>
                          <a:pt x="297" y="79"/>
                          <a:pt x="304" y="57"/>
                          <a:pt x="640" y="36"/>
                        </a:cubicBezTo>
                        <a:cubicBezTo>
                          <a:pt x="976" y="15"/>
                          <a:pt x="1894" y="8"/>
                          <a:pt x="2224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216" name="任意多边形 563215"/>
                  <p:cNvSpPr/>
                  <p:nvPr/>
                </p:nvSpPr>
                <p:spPr>
                  <a:xfrm>
                    <a:off x="3200" y="1260"/>
                    <a:ext cx="2212" cy="23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2" h="2377">
                        <a:moveTo>
                          <a:pt x="0" y="2377"/>
                        </a:moveTo>
                        <a:cubicBezTo>
                          <a:pt x="15" y="2189"/>
                          <a:pt x="62" y="1583"/>
                          <a:pt x="93" y="1248"/>
                        </a:cubicBezTo>
                        <a:cubicBezTo>
                          <a:pt x="124" y="914"/>
                          <a:pt x="113" y="567"/>
                          <a:pt x="186" y="369"/>
                        </a:cubicBezTo>
                        <a:cubicBezTo>
                          <a:pt x="259" y="171"/>
                          <a:pt x="194" y="122"/>
                          <a:pt x="532" y="61"/>
                        </a:cubicBezTo>
                        <a:cubicBezTo>
                          <a:pt x="870" y="0"/>
                          <a:pt x="1862" y="13"/>
                          <a:pt x="2212" y="1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563217" name="圆角矩形 563216"/>
          <p:cNvSpPr/>
          <p:nvPr/>
        </p:nvSpPr>
        <p:spPr>
          <a:xfrm>
            <a:off x="3851275" y="3833813"/>
            <a:ext cx="1901825" cy="646112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直流负载线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3218" name="圆角矩形标注 563217"/>
          <p:cNvSpPr/>
          <p:nvPr/>
        </p:nvSpPr>
        <p:spPr>
          <a:xfrm>
            <a:off x="6507163" y="4238625"/>
            <a:ext cx="2471737" cy="2101850"/>
          </a:xfrm>
          <a:prstGeom prst="wedgeRoundRectCallout">
            <a:avLst>
              <a:gd name="adj1" fmla="val -45569"/>
              <a:gd name="adj2" fmla="val -37764"/>
              <a:gd name="adj3" fmla="val 16667"/>
            </a:avLst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由估算法求出</a:t>
            </a:r>
            <a:r>
              <a:rPr lang="en-US" altLang="zh-CN" sz="2400" b="1" i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baseline="-2500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BQ</a:t>
            </a:r>
            <a:r>
              <a:rPr lang="zh-CN" altLang="en-US" sz="2400" b="1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i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baseline="-2500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BQ</a:t>
            </a:r>
            <a:r>
              <a:rPr lang="zh-CN" altLang="en-US" sz="2400" b="1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对应的输出特性与直流负载线的交点就是工作点</a:t>
            </a:r>
            <a:r>
              <a:rPr lang="en-US" altLang="zh-CN" sz="24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Q</a:t>
            </a:r>
          </a:p>
        </p:txBody>
      </p:sp>
      <p:grpSp>
        <p:nvGrpSpPr>
          <p:cNvPr id="563226" name="组合 563225"/>
          <p:cNvGrpSpPr/>
          <p:nvPr/>
        </p:nvGrpSpPr>
        <p:grpSpPr>
          <a:xfrm>
            <a:off x="1187450" y="3844925"/>
            <a:ext cx="838200" cy="612775"/>
            <a:chOff x="2328" y="1678"/>
            <a:chExt cx="528" cy="386"/>
          </a:xfrm>
        </p:grpSpPr>
        <p:sp>
          <p:nvSpPr>
            <p:cNvPr id="563227" name="椭圆 563226"/>
            <p:cNvSpPr/>
            <p:nvPr/>
          </p:nvSpPr>
          <p:spPr>
            <a:xfrm>
              <a:off x="2376" y="1992"/>
              <a:ext cx="84" cy="72"/>
            </a:xfrm>
            <a:prstGeom prst="ellipse">
              <a:avLst/>
            </a:prstGeom>
            <a:solidFill>
              <a:srgbClr val="FF3300"/>
            </a:solidFill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28" name="文本框 563227"/>
            <p:cNvSpPr txBox="1"/>
            <p:nvPr/>
          </p:nvSpPr>
          <p:spPr>
            <a:xfrm>
              <a:off x="2328" y="1678"/>
              <a:ext cx="528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563229" name="文本框 563228"/>
          <p:cNvSpPr txBox="1"/>
          <p:nvPr/>
        </p:nvSpPr>
        <p:spPr>
          <a:xfrm>
            <a:off x="2189163" y="4113213"/>
            <a:ext cx="1163637" cy="45720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BQ</a:t>
            </a:r>
            <a:endParaRPr lang="en-US" altLang="zh-CN" sz="2400" b="1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3230" name="直接连接符 563229"/>
          <p:cNvSpPr/>
          <p:nvPr/>
        </p:nvSpPr>
        <p:spPr>
          <a:xfrm>
            <a:off x="1330325" y="4095750"/>
            <a:ext cx="0" cy="20574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563231" name="直接连接符 563230"/>
          <p:cNvSpPr/>
          <p:nvPr/>
        </p:nvSpPr>
        <p:spPr>
          <a:xfrm flipH="1">
            <a:off x="0" y="4419600"/>
            <a:ext cx="153035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563232" name="文本框 563231"/>
          <p:cNvSpPr txBox="1"/>
          <p:nvPr/>
        </p:nvSpPr>
        <p:spPr>
          <a:xfrm>
            <a:off x="206375" y="5867400"/>
            <a:ext cx="19351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CEQ</a:t>
            </a:r>
            <a:endParaRPr lang="en-US" altLang="zh-CN" sz="2400" b="1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3233" name="文本框 563232"/>
          <p:cNvSpPr txBox="1"/>
          <p:nvPr/>
        </p:nvSpPr>
        <p:spPr>
          <a:xfrm>
            <a:off x="0" y="3878263"/>
            <a:ext cx="7461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CQ</a:t>
            </a:r>
            <a:endParaRPr lang="en-US" altLang="zh-CN" sz="2400" b="1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3273" name="矩形 563272"/>
          <p:cNvSpPr/>
          <p:nvPr/>
        </p:nvSpPr>
        <p:spPr>
          <a:xfrm>
            <a:off x="4751388" y="279400"/>
            <a:ext cx="1444625" cy="457200"/>
          </a:xfrm>
          <a:prstGeom prst="rect">
            <a:avLst/>
          </a:prstGeom>
          <a:noFill/>
          <a:ln w="27051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=40μA</a:t>
            </a:r>
            <a:endParaRPr lang="en-US" altLang="zh-CN" sz="2400" b="1" baseline="-250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3296" name="组合 563295"/>
          <p:cNvGrpSpPr/>
          <p:nvPr/>
        </p:nvGrpSpPr>
        <p:grpSpPr>
          <a:xfrm>
            <a:off x="4267200" y="0"/>
            <a:ext cx="4876800" cy="3803650"/>
            <a:chOff x="2688" y="0"/>
            <a:chExt cx="3072" cy="2396"/>
          </a:xfrm>
        </p:grpSpPr>
        <p:sp>
          <p:nvSpPr>
            <p:cNvPr id="563236" name="直接连接符 563235"/>
            <p:cNvSpPr/>
            <p:nvPr/>
          </p:nvSpPr>
          <p:spPr>
            <a:xfrm flipV="1">
              <a:off x="3135" y="916"/>
              <a:ext cx="1" cy="4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37" name="直接连接符 563236"/>
            <p:cNvSpPr/>
            <p:nvPr/>
          </p:nvSpPr>
          <p:spPr>
            <a:xfrm rot="5400000">
              <a:off x="3143" y="1152"/>
              <a:ext cx="1" cy="4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38" name="直接连接符 563237"/>
            <p:cNvSpPr/>
            <p:nvPr/>
          </p:nvSpPr>
          <p:spPr>
            <a:xfrm rot="5400000">
              <a:off x="3146" y="1384"/>
              <a:ext cx="1" cy="234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grpSp>
          <p:nvGrpSpPr>
            <p:cNvPr id="563239" name="组合 563238"/>
            <p:cNvGrpSpPr/>
            <p:nvPr/>
          </p:nvGrpSpPr>
          <p:grpSpPr>
            <a:xfrm>
              <a:off x="3390" y="381"/>
              <a:ext cx="694" cy="1179"/>
              <a:chOff x="2369" y="1132"/>
              <a:chExt cx="750" cy="1578"/>
            </a:xfrm>
          </p:grpSpPr>
          <p:sp>
            <p:nvSpPr>
              <p:cNvPr id="563240" name="直接连接符 563239"/>
              <p:cNvSpPr/>
              <p:nvPr/>
            </p:nvSpPr>
            <p:spPr>
              <a:xfrm>
                <a:off x="2369" y="1873"/>
                <a:ext cx="564" cy="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lg"/>
              </a:ln>
            </p:spPr>
          </p:sp>
          <p:sp>
            <p:nvSpPr>
              <p:cNvPr id="563241" name="直接连接符 563240"/>
              <p:cNvSpPr/>
              <p:nvPr/>
            </p:nvSpPr>
            <p:spPr>
              <a:xfrm>
                <a:off x="2921" y="1696"/>
                <a:ext cx="0" cy="36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lg"/>
              </a:ln>
            </p:spPr>
          </p:sp>
          <p:sp>
            <p:nvSpPr>
              <p:cNvPr id="563242" name="直接连接符 563241"/>
              <p:cNvSpPr/>
              <p:nvPr/>
            </p:nvSpPr>
            <p:spPr>
              <a:xfrm>
                <a:off x="2921" y="1876"/>
                <a:ext cx="198" cy="18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triangle" w="sm" len="lg"/>
              </a:ln>
            </p:spPr>
          </p:sp>
          <p:sp>
            <p:nvSpPr>
              <p:cNvPr id="563243" name="直接连接符 563242"/>
              <p:cNvSpPr/>
              <p:nvPr/>
            </p:nvSpPr>
            <p:spPr>
              <a:xfrm flipV="1">
                <a:off x="2921" y="1702"/>
                <a:ext cx="198" cy="16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lg"/>
              </a:ln>
            </p:spPr>
          </p:sp>
          <p:sp>
            <p:nvSpPr>
              <p:cNvPr id="563244" name="直接连接符 563243"/>
              <p:cNvSpPr/>
              <p:nvPr/>
            </p:nvSpPr>
            <p:spPr>
              <a:xfrm>
                <a:off x="3107" y="1132"/>
                <a:ext cx="0" cy="58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lg"/>
              </a:ln>
            </p:spPr>
          </p:sp>
          <p:sp>
            <p:nvSpPr>
              <p:cNvPr id="563245" name="直接连接符 563244"/>
              <p:cNvSpPr/>
              <p:nvPr/>
            </p:nvSpPr>
            <p:spPr>
              <a:xfrm>
                <a:off x="3107" y="2050"/>
                <a:ext cx="0" cy="66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lg"/>
              </a:ln>
            </p:spPr>
          </p:sp>
        </p:grpSp>
        <p:sp>
          <p:nvSpPr>
            <p:cNvPr id="563246" name="直接连接符 563245"/>
            <p:cNvSpPr/>
            <p:nvPr/>
          </p:nvSpPr>
          <p:spPr>
            <a:xfrm>
              <a:off x="3138" y="932"/>
              <a:ext cx="356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47" name="直接连接符 563246"/>
            <p:cNvSpPr/>
            <p:nvPr/>
          </p:nvSpPr>
          <p:spPr>
            <a:xfrm>
              <a:off x="3146" y="1922"/>
              <a:ext cx="2411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48" name="直接连接符 563247"/>
            <p:cNvSpPr/>
            <p:nvPr/>
          </p:nvSpPr>
          <p:spPr>
            <a:xfrm>
              <a:off x="4073" y="1466"/>
              <a:ext cx="1" cy="4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49" name="文本框 563248"/>
            <p:cNvSpPr txBox="1"/>
            <p:nvPr/>
          </p:nvSpPr>
          <p:spPr>
            <a:xfrm>
              <a:off x="5183" y="870"/>
              <a:ext cx="42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CC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3250" name="矩形 563249"/>
            <p:cNvSpPr/>
            <p:nvPr/>
          </p:nvSpPr>
          <p:spPr>
            <a:xfrm rot="5400000">
              <a:off x="3372" y="812"/>
              <a:ext cx="139" cy="267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51" name="文本框 563250"/>
            <p:cNvSpPr txBox="1"/>
            <p:nvPr/>
          </p:nvSpPr>
          <p:spPr>
            <a:xfrm>
              <a:off x="2688" y="1065"/>
              <a:ext cx="42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BB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63252" name="组合 563251"/>
            <p:cNvGrpSpPr/>
            <p:nvPr/>
          </p:nvGrpSpPr>
          <p:grpSpPr>
            <a:xfrm>
              <a:off x="3979" y="1929"/>
              <a:ext cx="188" cy="154"/>
              <a:chOff x="2898" y="3684"/>
              <a:chExt cx="204" cy="204"/>
            </a:xfrm>
          </p:grpSpPr>
          <p:sp>
            <p:nvSpPr>
              <p:cNvPr id="563253" name="直接连接符 563252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254" name="直接连接符 563253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63255" name="椭圆 563254"/>
            <p:cNvSpPr/>
            <p:nvPr/>
          </p:nvSpPr>
          <p:spPr>
            <a:xfrm>
              <a:off x="4052" y="1904"/>
              <a:ext cx="43" cy="3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56" name="直接连接符 563255"/>
            <p:cNvSpPr/>
            <p:nvPr/>
          </p:nvSpPr>
          <p:spPr>
            <a:xfrm>
              <a:off x="5365" y="1153"/>
              <a:ext cx="365" cy="1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57" name="直接连接符 563256"/>
            <p:cNvSpPr/>
            <p:nvPr/>
          </p:nvSpPr>
          <p:spPr>
            <a:xfrm>
              <a:off x="5469" y="1239"/>
              <a:ext cx="157" cy="1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58" name="直接连接符 563257"/>
            <p:cNvSpPr/>
            <p:nvPr/>
          </p:nvSpPr>
          <p:spPr>
            <a:xfrm>
              <a:off x="5365" y="1323"/>
              <a:ext cx="365" cy="1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59" name="直接连接符 563258"/>
            <p:cNvSpPr/>
            <p:nvPr/>
          </p:nvSpPr>
          <p:spPr>
            <a:xfrm>
              <a:off x="5469" y="1407"/>
              <a:ext cx="157" cy="1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60" name="直接连接符 563259"/>
            <p:cNvSpPr/>
            <p:nvPr/>
          </p:nvSpPr>
          <p:spPr>
            <a:xfrm flipV="1">
              <a:off x="4066" y="389"/>
              <a:ext cx="1475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61" name="直接连接符 563260"/>
            <p:cNvSpPr/>
            <p:nvPr/>
          </p:nvSpPr>
          <p:spPr>
            <a:xfrm>
              <a:off x="5544" y="375"/>
              <a:ext cx="5" cy="75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62" name="直接连接符 563261"/>
            <p:cNvSpPr/>
            <p:nvPr/>
          </p:nvSpPr>
          <p:spPr>
            <a:xfrm>
              <a:off x="5555" y="1422"/>
              <a:ext cx="1" cy="5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563263" name="直接连接符 563262"/>
            <p:cNvSpPr/>
            <p:nvPr/>
          </p:nvSpPr>
          <p:spPr>
            <a:xfrm flipH="1" flipV="1">
              <a:off x="3135" y="1511"/>
              <a:ext cx="6" cy="4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264" name="矩形 563263"/>
            <p:cNvSpPr/>
            <p:nvPr/>
          </p:nvSpPr>
          <p:spPr>
            <a:xfrm>
              <a:off x="5483" y="579"/>
              <a:ext cx="123" cy="305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65" name="文本框 563264"/>
            <p:cNvSpPr txBox="1"/>
            <p:nvPr/>
          </p:nvSpPr>
          <p:spPr>
            <a:xfrm>
              <a:off x="3263" y="397"/>
              <a:ext cx="31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3266" name="文本框 563265"/>
            <p:cNvSpPr txBox="1"/>
            <p:nvPr/>
          </p:nvSpPr>
          <p:spPr>
            <a:xfrm>
              <a:off x="5198" y="432"/>
              <a:ext cx="36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3267" name="文本框 563266"/>
            <p:cNvSpPr txBox="1"/>
            <p:nvPr/>
          </p:nvSpPr>
          <p:spPr>
            <a:xfrm>
              <a:off x="4962" y="1388"/>
              <a:ext cx="686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12V</a:t>
              </a:r>
            </a:p>
          </p:txBody>
        </p:sp>
        <p:sp>
          <p:nvSpPr>
            <p:cNvPr id="563268" name="文本框 563267"/>
            <p:cNvSpPr txBox="1"/>
            <p:nvPr/>
          </p:nvSpPr>
          <p:spPr>
            <a:xfrm>
              <a:off x="2776" y="1500"/>
              <a:ext cx="475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563269" name="文本框 563268"/>
            <p:cNvSpPr txBox="1"/>
            <p:nvPr/>
          </p:nvSpPr>
          <p:spPr>
            <a:xfrm>
              <a:off x="4933" y="659"/>
              <a:ext cx="686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4KΩ</a:t>
              </a:r>
            </a:p>
          </p:txBody>
        </p:sp>
        <p:sp>
          <p:nvSpPr>
            <p:cNvPr id="563270" name="文本框 563269"/>
            <p:cNvSpPr txBox="1"/>
            <p:nvPr/>
          </p:nvSpPr>
          <p:spPr>
            <a:xfrm>
              <a:off x="3041" y="625"/>
              <a:ext cx="844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150KΩ</a:t>
              </a:r>
            </a:p>
          </p:txBody>
        </p:sp>
        <p:sp>
          <p:nvSpPr>
            <p:cNvPr id="563271" name="文本框 563270"/>
            <p:cNvSpPr txBox="1"/>
            <p:nvPr/>
          </p:nvSpPr>
          <p:spPr>
            <a:xfrm>
              <a:off x="4366" y="458"/>
              <a:ext cx="486" cy="1209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 i="1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baseline="-2500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CE</a:t>
              </a:r>
              <a:endPara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ctr" eaLnBrk="0" hangingPunct="0">
                <a:spcBef>
                  <a:spcPct val="50000"/>
                </a:spcBef>
              </a:pPr>
              <a:endPara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—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272" name="直接连接符 563271"/>
            <p:cNvSpPr/>
            <p:nvPr/>
          </p:nvSpPr>
          <p:spPr>
            <a:xfrm>
              <a:off x="3305" y="1083"/>
              <a:ext cx="265" cy="1"/>
            </a:xfrm>
            <a:prstGeom prst="line">
              <a:avLst/>
            </a:prstGeom>
            <a:ln w="27051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274" name="矩形 563273"/>
            <p:cNvSpPr/>
            <p:nvPr/>
          </p:nvSpPr>
          <p:spPr>
            <a:xfrm>
              <a:off x="4542" y="0"/>
              <a:ext cx="261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sz="2400" b="1" i="1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baseline="-2500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275" name="直接连接符 563274"/>
            <p:cNvSpPr/>
            <p:nvPr/>
          </p:nvSpPr>
          <p:spPr>
            <a:xfrm flipH="1">
              <a:off x="4499" y="292"/>
              <a:ext cx="441" cy="1"/>
            </a:xfrm>
            <a:prstGeom prst="line">
              <a:avLst/>
            </a:prstGeom>
            <a:ln w="27051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276" name="椭圆 563275"/>
            <p:cNvSpPr/>
            <p:nvPr/>
          </p:nvSpPr>
          <p:spPr>
            <a:xfrm>
              <a:off x="4720" y="333"/>
              <a:ext cx="88" cy="84"/>
            </a:xfrm>
            <a:prstGeom prst="ellipse">
              <a:avLst/>
            </a:prstGeom>
            <a:solidFill>
              <a:schemeClr val="bg1"/>
            </a:solidFill>
            <a:ln w="27051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77" name="椭圆 563276"/>
            <p:cNvSpPr/>
            <p:nvPr/>
          </p:nvSpPr>
          <p:spPr>
            <a:xfrm>
              <a:off x="4720" y="1875"/>
              <a:ext cx="88" cy="83"/>
            </a:xfrm>
            <a:prstGeom prst="ellipse">
              <a:avLst/>
            </a:prstGeom>
            <a:solidFill>
              <a:schemeClr val="bg1"/>
            </a:solidFill>
            <a:ln w="27051" cap="flat" cmpd="sng">
              <a:solidFill>
                <a:srgbClr val="66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78" name="直接连接符 563277"/>
            <p:cNvSpPr/>
            <p:nvPr/>
          </p:nvSpPr>
          <p:spPr>
            <a:xfrm flipH="1">
              <a:off x="4410" y="2041"/>
              <a:ext cx="222" cy="1"/>
            </a:xfrm>
            <a:prstGeom prst="line">
              <a:avLst/>
            </a:prstGeom>
            <a:ln w="27051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279" name="直接连接符 563278"/>
            <p:cNvSpPr/>
            <p:nvPr/>
          </p:nvSpPr>
          <p:spPr>
            <a:xfrm>
              <a:off x="4897" y="2041"/>
              <a:ext cx="220" cy="1"/>
            </a:xfrm>
            <a:prstGeom prst="line">
              <a:avLst/>
            </a:prstGeom>
            <a:ln w="27051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280" name="直接连接符 563279"/>
            <p:cNvSpPr/>
            <p:nvPr/>
          </p:nvSpPr>
          <p:spPr>
            <a:xfrm>
              <a:off x="4764" y="292"/>
              <a:ext cx="1" cy="179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3281" name="文本框 563280"/>
            <p:cNvSpPr txBox="1"/>
            <p:nvPr/>
          </p:nvSpPr>
          <p:spPr>
            <a:xfrm>
              <a:off x="3835" y="2146"/>
              <a:ext cx="967" cy="250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非线性部分</a:t>
              </a:r>
            </a:p>
          </p:txBody>
        </p:sp>
        <p:sp>
          <p:nvSpPr>
            <p:cNvPr id="563282" name="文本框 563281"/>
            <p:cNvSpPr txBox="1"/>
            <p:nvPr/>
          </p:nvSpPr>
          <p:spPr>
            <a:xfrm>
              <a:off x="4882" y="2146"/>
              <a:ext cx="878" cy="250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线性部分</a:t>
              </a:r>
            </a:p>
          </p:txBody>
        </p:sp>
      </p:grpSp>
      <p:sp>
        <p:nvSpPr>
          <p:cNvPr id="563283" name="矩形 563282"/>
          <p:cNvSpPr/>
          <p:nvPr/>
        </p:nvSpPr>
        <p:spPr>
          <a:xfrm>
            <a:off x="3581400" y="4824413"/>
            <a:ext cx="2744788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400" b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CE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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b="1" i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400" b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=40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μA</a:t>
            </a:r>
          </a:p>
        </p:txBody>
      </p:sp>
      <p:grpSp>
        <p:nvGrpSpPr>
          <p:cNvPr id="563284" name="组合 563283"/>
          <p:cNvGrpSpPr/>
          <p:nvPr/>
        </p:nvGrpSpPr>
        <p:grpSpPr>
          <a:xfrm>
            <a:off x="296863" y="1223963"/>
            <a:ext cx="3208337" cy="1292225"/>
            <a:chOff x="288" y="960"/>
            <a:chExt cx="2021" cy="814"/>
          </a:xfrm>
        </p:grpSpPr>
        <p:sp>
          <p:nvSpPr>
            <p:cNvPr id="563285" name="文本框 563284"/>
            <p:cNvSpPr txBox="1"/>
            <p:nvPr/>
          </p:nvSpPr>
          <p:spPr>
            <a:xfrm>
              <a:off x="288" y="960"/>
              <a:ext cx="720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斜率：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63286" name="对象 563285"/>
            <p:cNvGraphicFramePr/>
            <p:nvPr/>
          </p:nvGraphicFramePr>
          <p:xfrm>
            <a:off x="288" y="1104"/>
            <a:ext cx="2021" cy="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9" r:id="rId3" imgW="1790700" imgH="596900" progId="Equation.3">
                    <p:embed/>
                  </p:oleObj>
                </mc:Choice>
                <mc:Fallback>
                  <p:oleObj r:id="rId3" imgW="1790700" imgH="5969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8" y="1104"/>
                          <a:ext cx="2021" cy="6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289" name="文本框 563288"/>
          <p:cNvSpPr txBox="1"/>
          <p:nvPr/>
        </p:nvSpPr>
        <p:spPr>
          <a:xfrm>
            <a:off x="476250" y="233363"/>
            <a:ext cx="3375025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</a:rPr>
              <a:t>直流分析：求</a:t>
            </a:r>
            <a:r>
              <a:rPr lang="en-US" altLang="zh-CN" dirty="0">
                <a:solidFill>
                  <a:srgbClr val="FF00FF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</a:rPr>
              <a:t>点</a:t>
            </a:r>
          </a:p>
        </p:txBody>
      </p:sp>
      <p:grpSp>
        <p:nvGrpSpPr>
          <p:cNvPr id="563295" name="组合 563294"/>
          <p:cNvGrpSpPr/>
          <p:nvPr/>
        </p:nvGrpSpPr>
        <p:grpSpPr>
          <a:xfrm>
            <a:off x="0" y="3024188"/>
            <a:ext cx="2973388" cy="3292475"/>
            <a:chOff x="0" y="1933"/>
            <a:chExt cx="1873" cy="2074"/>
          </a:xfrm>
        </p:grpSpPr>
        <p:sp>
          <p:nvSpPr>
            <p:cNvPr id="563292" name="文本框 563291"/>
            <p:cNvSpPr txBox="1"/>
            <p:nvPr/>
          </p:nvSpPr>
          <p:spPr>
            <a:xfrm>
              <a:off x="1321" y="3719"/>
              <a:ext cx="55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楷体_GB2312" pitchFamily="49" charset="-122"/>
                </a:rPr>
                <a:t>CC</a:t>
              </a:r>
              <a:endParaRPr lang="en-US" altLang="zh-CN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563293" name="对象 563292"/>
            <p:cNvGraphicFramePr/>
            <p:nvPr/>
          </p:nvGraphicFramePr>
          <p:xfrm>
            <a:off x="0" y="1933"/>
            <a:ext cx="364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0" r:id="rId5" imgW="279400" imgH="444500" progId="Equation.DSMT4">
                    <p:embed/>
                  </p:oleObj>
                </mc:Choice>
                <mc:Fallback>
                  <p:oleObj r:id="rId5" imgW="279400" imgH="444500" progId="Equation.DSMT4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0" y="1933"/>
                          <a:ext cx="364" cy="4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294" name="直接连接符 563293"/>
            <p:cNvSpPr/>
            <p:nvPr/>
          </p:nvSpPr>
          <p:spPr>
            <a:xfrm flipH="1" flipV="1">
              <a:off x="385" y="2160"/>
              <a:ext cx="1163" cy="1588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6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6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3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56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56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6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6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02" grpId="0" build="p"/>
      <p:bldP spid="563217" grpId="0" animBg="1"/>
      <p:bldP spid="563218" grpId="0" animBg="1"/>
      <p:bldP spid="563229" grpId="0" build="p"/>
      <p:bldP spid="563232" grpId="0"/>
      <p:bldP spid="563233" grpId="0"/>
      <p:bldP spid="563273" grpId="0"/>
      <p:bldP spid="56328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矩形 564225"/>
          <p:cNvSpPr/>
          <p:nvPr/>
        </p:nvSpPr>
        <p:spPr>
          <a:xfrm>
            <a:off x="5638800" y="3733800"/>
            <a:ext cx="2566988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400" b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CE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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b="1" i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 baseline="-3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400" b="1" baseline="-1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=40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μA</a:t>
            </a:r>
          </a:p>
        </p:txBody>
      </p:sp>
      <p:graphicFrame>
        <p:nvGraphicFramePr>
          <p:cNvPr id="564227" name="对象 564226"/>
          <p:cNvGraphicFramePr/>
          <p:nvPr/>
        </p:nvGraphicFramePr>
        <p:xfrm>
          <a:off x="5791200" y="4343400"/>
          <a:ext cx="2159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r:id="rId3" imgW="1002665" imgH="228600" progId="Equation.3">
                  <p:embed/>
                </p:oleObj>
              </mc:Choice>
              <mc:Fallback>
                <p:oleObj r:id="rId3" imgW="1002665" imgH="2286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1200" y="4343400"/>
                        <a:ext cx="215900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228" name="直接连接符 564227"/>
          <p:cNvSpPr/>
          <p:nvPr/>
        </p:nvSpPr>
        <p:spPr>
          <a:xfrm>
            <a:off x="914400" y="3810000"/>
            <a:ext cx="3124200" cy="2057400"/>
          </a:xfrm>
          <a:prstGeom prst="line">
            <a:avLst/>
          </a:prstGeom>
          <a:ln w="27051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229" name="文本框 564228"/>
          <p:cNvSpPr txBox="1"/>
          <p:nvPr/>
        </p:nvSpPr>
        <p:spPr>
          <a:xfrm>
            <a:off x="3505200" y="5867400"/>
            <a:ext cx="1219200" cy="366713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</a:rPr>
              <a:t>M(</a:t>
            </a:r>
            <a:r>
              <a:rPr lang="en-US" altLang="zh-CN" sz="1800" i="1">
                <a:solidFill>
                  <a:srgbClr val="000066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800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CC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</a:rPr>
              <a:t>,0)</a:t>
            </a:r>
            <a:endParaRPr lang="en-US" altLang="zh-CN" sz="1800" i="1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4230" name="矩形 564229"/>
          <p:cNvSpPr/>
          <p:nvPr/>
        </p:nvSpPr>
        <p:spPr>
          <a:xfrm>
            <a:off x="3810000" y="6172200"/>
            <a:ext cx="908050" cy="366713"/>
          </a:xfrm>
          <a:prstGeom prst="rect">
            <a:avLst/>
          </a:prstGeom>
          <a:noFill/>
          <a:ln w="27051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</a:rPr>
              <a:t>(12 ,  0)</a:t>
            </a:r>
          </a:p>
        </p:txBody>
      </p:sp>
      <p:sp>
        <p:nvSpPr>
          <p:cNvPr id="564231" name="矩形 564230"/>
          <p:cNvSpPr/>
          <p:nvPr/>
        </p:nvSpPr>
        <p:spPr>
          <a:xfrm>
            <a:off x="228600" y="4038600"/>
            <a:ext cx="793750" cy="366713"/>
          </a:xfrm>
          <a:prstGeom prst="rect">
            <a:avLst/>
          </a:prstGeom>
          <a:noFill/>
          <a:ln w="27051">
            <a:noFill/>
          </a:ln>
        </p:spPr>
        <p:txBody>
          <a:bodyPr wrap="none" anchor="t">
            <a:spAutoFit/>
          </a:bodyPr>
          <a:lstStyle/>
          <a:p>
            <a:pPr algn="ctr" eaLnBrk="0" hangingPunct="0"/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</a:rPr>
              <a:t>(0 ,  3)</a:t>
            </a:r>
          </a:p>
        </p:txBody>
      </p:sp>
      <p:graphicFrame>
        <p:nvGraphicFramePr>
          <p:cNvPr id="564232" name="对象 564231"/>
          <p:cNvGraphicFramePr/>
          <p:nvPr/>
        </p:nvGraphicFramePr>
        <p:xfrm>
          <a:off x="0" y="3429000"/>
          <a:ext cx="977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" r:id="rId5" imgW="647700" imgH="431800" progId="Equation.3">
                  <p:embed/>
                </p:oleObj>
              </mc:Choice>
              <mc:Fallback>
                <p:oleObj r:id="rId5" imgW="647700" imgH="4318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3429000"/>
                        <a:ext cx="977900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4233" name="组合 564232"/>
          <p:cNvGrpSpPr/>
          <p:nvPr/>
        </p:nvGrpSpPr>
        <p:grpSpPr>
          <a:xfrm>
            <a:off x="971550" y="2979738"/>
            <a:ext cx="4613275" cy="3001962"/>
            <a:chOff x="672" y="1878"/>
            <a:chExt cx="2906" cy="1891"/>
          </a:xfrm>
        </p:grpSpPr>
        <p:sp>
          <p:nvSpPr>
            <p:cNvPr id="564234" name="直接连接符 564233"/>
            <p:cNvSpPr/>
            <p:nvPr/>
          </p:nvSpPr>
          <p:spPr>
            <a:xfrm flipH="1">
              <a:off x="2964" y="3658"/>
              <a:ext cx="65" cy="1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5" name="直接连接符 564234"/>
            <p:cNvSpPr/>
            <p:nvPr/>
          </p:nvSpPr>
          <p:spPr>
            <a:xfrm>
              <a:off x="2964" y="3647"/>
              <a:ext cx="65" cy="1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6" name="直接连接符 564235"/>
            <p:cNvSpPr/>
            <p:nvPr/>
          </p:nvSpPr>
          <p:spPr>
            <a:xfrm flipV="1">
              <a:off x="2964" y="3647"/>
              <a:ext cx="1" cy="22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7" name="直接连接符 564236"/>
            <p:cNvSpPr/>
            <p:nvPr/>
          </p:nvSpPr>
          <p:spPr>
            <a:xfrm>
              <a:off x="2964" y="3647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8" name="直接连接符 564237"/>
            <p:cNvSpPr/>
            <p:nvPr/>
          </p:nvSpPr>
          <p:spPr>
            <a:xfrm>
              <a:off x="3029" y="3658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39" name="直接连接符 564238"/>
            <p:cNvSpPr/>
            <p:nvPr/>
          </p:nvSpPr>
          <p:spPr>
            <a:xfrm>
              <a:off x="2964" y="3658"/>
              <a:ext cx="65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0" name="直接连接符 564239"/>
            <p:cNvSpPr/>
            <p:nvPr/>
          </p:nvSpPr>
          <p:spPr>
            <a:xfrm>
              <a:off x="2964" y="3669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1" name="直接连接符 564240"/>
            <p:cNvSpPr/>
            <p:nvPr/>
          </p:nvSpPr>
          <p:spPr>
            <a:xfrm>
              <a:off x="2855" y="3658"/>
              <a:ext cx="109" cy="1"/>
            </a:xfrm>
            <a:prstGeom prst="line">
              <a:avLst/>
            </a:prstGeom>
            <a:ln w="1746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2" name="直接连接符 564241"/>
            <p:cNvSpPr/>
            <p:nvPr/>
          </p:nvSpPr>
          <p:spPr>
            <a:xfrm flipH="1">
              <a:off x="673" y="1900"/>
              <a:ext cx="11" cy="65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3" name="直接连接符 564242"/>
            <p:cNvSpPr/>
            <p:nvPr/>
          </p:nvSpPr>
          <p:spPr>
            <a:xfrm flipH="1" flipV="1">
              <a:off x="684" y="1900"/>
              <a:ext cx="11" cy="65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4" name="直接连接符 564243"/>
            <p:cNvSpPr/>
            <p:nvPr/>
          </p:nvSpPr>
          <p:spPr>
            <a:xfrm>
              <a:off x="673" y="1965"/>
              <a:ext cx="22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5" name="直接连接符 564244"/>
            <p:cNvSpPr/>
            <p:nvPr/>
          </p:nvSpPr>
          <p:spPr>
            <a:xfrm>
              <a:off x="695" y="1965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6" name="直接连接符 564245"/>
            <p:cNvSpPr/>
            <p:nvPr/>
          </p:nvSpPr>
          <p:spPr>
            <a:xfrm>
              <a:off x="684" y="1900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7" name="直接连接符 564246"/>
            <p:cNvSpPr/>
            <p:nvPr/>
          </p:nvSpPr>
          <p:spPr>
            <a:xfrm flipV="1">
              <a:off x="684" y="1900"/>
              <a:ext cx="1" cy="65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8" name="直接连接符 564247"/>
            <p:cNvSpPr/>
            <p:nvPr/>
          </p:nvSpPr>
          <p:spPr>
            <a:xfrm>
              <a:off x="673" y="1965"/>
              <a:ext cx="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49" name="直接连接符 564248"/>
            <p:cNvSpPr/>
            <p:nvPr/>
          </p:nvSpPr>
          <p:spPr>
            <a:xfrm flipV="1">
              <a:off x="684" y="1965"/>
              <a:ext cx="1" cy="109"/>
            </a:xfrm>
            <a:prstGeom prst="line">
              <a:avLst/>
            </a:prstGeom>
            <a:ln w="17463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0" name="直接连接符 564249"/>
            <p:cNvSpPr/>
            <p:nvPr/>
          </p:nvSpPr>
          <p:spPr>
            <a:xfrm>
              <a:off x="684" y="1911"/>
              <a:ext cx="1" cy="1736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1" name="直接连接符 564250"/>
            <p:cNvSpPr/>
            <p:nvPr/>
          </p:nvSpPr>
          <p:spPr>
            <a:xfrm>
              <a:off x="684" y="3658"/>
              <a:ext cx="2062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2" name="直接连接符 564251"/>
            <p:cNvSpPr/>
            <p:nvPr/>
          </p:nvSpPr>
          <p:spPr>
            <a:xfrm flipH="1">
              <a:off x="695" y="3168"/>
              <a:ext cx="44" cy="49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3" name="直接连接符 564252"/>
            <p:cNvSpPr/>
            <p:nvPr/>
          </p:nvSpPr>
          <p:spPr>
            <a:xfrm flipV="1">
              <a:off x="858" y="2725"/>
              <a:ext cx="1704" cy="32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4" name="任意多边形 564253"/>
            <p:cNvSpPr/>
            <p:nvPr/>
          </p:nvSpPr>
          <p:spPr>
            <a:xfrm>
              <a:off x="757" y="2752"/>
              <a:ext cx="150" cy="152"/>
            </a:xfrm>
            <a:custGeom>
              <a:avLst/>
              <a:gdLst>
                <a:gd name="txL" fmla="*/ 0 w 20631"/>
                <a:gd name="txT" fmla="*/ 0 h 20913"/>
                <a:gd name="txR" fmla="*/ 20631 w 20631"/>
                <a:gd name="txB" fmla="*/ 20913 h 20913"/>
              </a:gdLst>
              <a:ahLst/>
              <a:cxnLst>
                <a:cxn ang="180">
                  <a:pos x="0" y="14514"/>
                </a:cxn>
                <a:cxn ang="270">
                  <a:pos x="15225" y="0"/>
                </a:cxn>
                <a:cxn ang="90">
                  <a:pos x="20631" y="20913"/>
                </a:cxn>
              </a:cxnLst>
              <a:rect l="txL" t="txT" r="txR" b="txB"/>
              <a:pathLst>
                <a:path w="20631" h="20913" fill="none">
                  <a:moveTo>
                    <a:pt x="0" y="14514"/>
                  </a:moveTo>
                  <a:arcTo wR="21600" hR="21600" stAng="-9766079" swAng="3496459"/>
                </a:path>
                <a:path w="20631" h="20913" stroke="0">
                  <a:moveTo>
                    <a:pt x="0" y="14514"/>
                  </a:moveTo>
                  <a:arcTo wR="21600" hR="21600" stAng="-9766079" swAng="3496459"/>
                  <a:lnTo>
                    <a:pt x="20631" y="20913"/>
                  </a:lnTo>
                  <a:close/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55" name="直接连接符 564254"/>
            <p:cNvSpPr/>
            <p:nvPr/>
          </p:nvSpPr>
          <p:spPr>
            <a:xfrm>
              <a:off x="2746" y="3658"/>
              <a:ext cx="109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6" name="直接连接符 564255"/>
            <p:cNvSpPr/>
            <p:nvPr/>
          </p:nvSpPr>
          <p:spPr>
            <a:xfrm flipV="1">
              <a:off x="684" y="2074"/>
              <a:ext cx="1" cy="27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57" name="矩形 564256"/>
            <p:cNvSpPr/>
            <p:nvPr/>
          </p:nvSpPr>
          <p:spPr>
            <a:xfrm>
              <a:off x="759" y="1878"/>
              <a:ext cx="3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58" name="矩形 564257"/>
            <p:cNvSpPr/>
            <p:nvPr/>
          </p:nvSpPr>
          <p:spPr>
            <a:xfrm>
              <a:off x="809" y="1954"/>
              <a:ext cx="6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59" name="矩形 564258"/>
            <p:cNvSpPr/>
            <p:nvPr/>
          </p:nvSpPr>
          <p:spPr>
            <a:xfrm>
              <a:off x="3157" y="3647"/>
              <a:ext cx="123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CE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60" name="矩形 564259"/>
            <p:cNvSpPr/>
            <p:nvPr/>
          </p:nvSpPr>
          <p:spPr>
            <a:xfrm>
              <a:off x="3347" y="3615"/>
              <a:ext cx="231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</a:rPr>
                <a:t>(V)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61" name="矩形 564260"/>
            <p:cNvSpPr/>
            <p:nvPr/>
          </p:nvSpPr>
          <p:spPr>
            <a:xfrm>
              <a:off x="883" y="1911"/>
              <a:ext cx="308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(mA</a:t>
              </a:r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</a:rPr>
                <a:t>)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62" name="矩形 564261"/>
            <p:cNvSpPr/>
            <p:nvPr/>
          </p:nvSpPr>
          <p:spPr>
            <a:xfrm>
              <a:off x="2792" y="2670"/>
              <a:ext cx="38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</a:rPr>
                <a:t>=60uA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263" name="矩形 564262"/>
            <p:cNvSpPr/>
            <p:nvPr/>
          </p:nvSpPr>
          <p:spPr>
            <a:xfrm>
              <a:off x="2643" y="2649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264" name="矩形 564263"/>
            <p:cNvSpPr/>
            <p:nvPr/>
          </p:nvSpPr>
          <p:spPr>
            <a:xfrm>
              <a:off x="2687" y="2703"/>
              <a:ext cx="6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265" name="矩形 564264"/>
            <p:cNvSpPr/>
            <p:nvPr/>
          </p:nvSpPr>
          <p:spPr>
            <a:xfrm>
              <a:off x="3094" y="3560"/>
              <a:ext cx="64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66" name="直接连接符 564265"/>
            <p:cNvSpPr/>
            <p:nvPr/>
          </p:nvSpPr>
          <p:spPr>
            <a:xfrm flipV="1">
              <a:off x="851" y="3034"/>
              <a:ext cx="1654" cy="3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67" name="直接连接符 564266"/>
            <p:cNvSpPr/>
            <p:nvPr/>
          </p:nvSpPr>
          <p:spPr>
            <a:xfrm flipV="1">
              <a:off x="672" y="3603"/>
              <a:ext cx="1823" cy="3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68" name="直接连接符 564267"/>
            <p:cNvSpPr/>
            <p:nvPr/>
          </p:nvSpPr>
          <p:spPr>
            <a:xfrm flipV="1">
              <a:off x="925" y="2454"/>
              <a:ext cx="1580" cy="32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69" name="直接连接符 564268"/>
            <p:cNvSpPr/>
            <p:nvPr/>
          </p:nvSpPr>
          <p:spPr>
            <a:xfrm flipV="1">
              <a:off x="861" y="3350"/>
              <a:ext cx="1655" cy="3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70" name="直接连接符 564269"/>
            <p:cNvSpPr/>
            <p:nvPr/>
          </p:nvSpPr>
          <p:spPr>
            <a:xfrm flipV="1">
              <a:off x="935" y="2190"/>
              <a:ext cx="1633" cy="43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71" name="直接连接符 564270"/>
            <p:cNvSpPr/>
            <p:nvPr/>
          </p:nvSpPr>
          <p:spPr>
            <a:xfrm flipH="1">
              <a:off x="739" y="2359"/>
              <a:ext cx="70" cy="857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72" name="任意多边形 564271"/>
            <p:cNvSpPr/>
            <p:nvPr/>
          </p:nvSpPr>
          <p:spPr>
            <a:xfrm>
              <a:off x="729" y="3066"/>
              <a:ext cx="180" cy="184"/>
            </a:xfrm>
            <a:custGeom>
              <a:avLst/>
              <a:gdLst>
                <a:gd name="txL" fmla="*/ 0 w 21128"/>
                <a:gd name="txT" fmla="*/ 0 h 21520"/>
                <a:gd name="txR" fmla="*/ 21128 w 21128"/>
                <a:gd name="txB" fmla="*/ 21520 h 21520"/>
              </a:gdLst>
              <a:ahLst/>
              <a:cxnLst>
                <a:cxn ang="180">
                  <a:pos x="0" y="17027"/>
                </a:cxn>
                <a:cxn ang="270">
                  <a:pos x="19266" y="0"/>
                </a:cxn>
                <a:cxn ang="90">
                  <a:pos x="21128" y="21520"/>
                </a:cxn>
              </a:cxnLst>
              <a:rect l="txL" t="txT" r="txR" b="txB"/>
              <a:pathLst>
                <a:path w="21128" h="21520" fill="none">
                  <a:moveTo>
                    <a:pt x="0" y="17027"/>
                  </a:moveTo>
                  <a:arcTo wR="21600" hR="21600" stAng="-10079672" swAng="4382963"/>
                </a:path>
                <a:path w="21128" h="21520" stroke="0">
                  <a:moveTo>
                    <a:pt x="0" y="17027"/>
                  </a:moveTo>
                  <a:arcTo wR="21600" hR="21600" stAng="-10079672" swAng="4382963"/>
                  <a:lnTo>
                    <a:pt x="21128" y="21520"/>
                  </a:lnTo>
                  <a:close/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73" name="任意多边形 564272"/>
            <p:cNvSpPr/>
            <p:nvPr/>
          </p:nvSpPr>
          <p:spPr>
            <a:xfrm>
              <a:off x="781" y="2490"/>
              <a:ext cx="170" cy="170"/>
            </a:xfrm>
            <a:custGeom>
              <a:avLst/>
              <a:gdLst>
                <a:gd name="txL" fmla="*/ 0 w 21061"/>
                <a:gd name="txT" fmla="*/ 0 h 21130"/>
                <a:gd name="txR" fmla="*/ 21061 w 21061"/>
                <a:gd name="txB" fmla="*/ 21130 h 21130"/>
              </a:gdLst>
              <a:ahLst/>
              <a:cxnLst>
                <a:cxn ang="180">
                  <a:pos x="0" y="16335"/>
                </a:cxn>
                <a:cxn ang="270">
                  <a:pos x="16580" y="0"/>
                </a:cxn>
                <a:cxn ang="90">
                  <a:pos x="21061" y="21130"/>
                </a:cxn>
              </a:cxnLst>
              <a:rect l="txL" t="txT" r="txR" b="txB"/>
              <a:pathLst>
                <a:path w="21061" h="21130" fill="none">
                  <a:moveTo>
                    <a:pt x="0" y="16335"/>
                  </a:moveTo>
                  <a:arcTo wR="21600" hR="21600" stAng="-10030439" swAng="3912046"/>
                </a:path>
                <a:path w="21061" h="21130" stroke="0">
                  <a:moveTo>
                    <a:pt x="0" y="16335"/>
                  </a:moveTo>
                  <a:arcTo wR="21600" hR="21600" stAng="-10030439" swAng="3912046"/>
                  <a:lnTo>
                    <a:pt x="21061" y="21130"/>
                  </a:lnTo>
                  <a:close/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74" name="任意多边形 564273"/>
            <p:cNvSpPr/>
            <p:nvPr/>
          </p:nvSpPr>
          <p:spPr>
            <a:xfrm>
              <a:off x="798" y="2237"/>
              <a:ext cx="174" cy="170"/>
            </a:xfrm>
            <a:custGeom>
              <a:avLst/>
              <a:gdLst>
                <a:gd name="txL" fmla="*/ 0 w 21587"/>
                <a:gd name="txT" fmla="*/ 0 h 21130"/>
                <a:gd name="txR" fmla="*/ 21587 w 21587"/>
                <a:gd name="txB" fmla="*/ 21130 h 21130"/>
              </a:gdLst>
              <a:ahLst/>
              <a:cxnLst>
                <a:cxn ang="180">
                  <a:pos x="0" y="20383"/>
                </a:cxn>
                <a:cxn ang="270">
                  <a:pos x="17106" y="0"/>
                </a:cxn>
                <a:cxn ang="0">
                  <a:pos x="21587" y="21130"/>
                </a:cxn>
              </a:cxnLst>
              <a:rect l="txL" t="txT" r="txR" b="txB"/>
              <a:pathLst>
                <a:path w="21587" h="21130" fill="none">
                  <a:moveTo>
                    <a:pt x="0" y="20383"/>
                  </a:moveTo>
                  <a:arcTo wR="21600" hR="21600" stAng="-10681087" swAng="4562694"/>
                </a:path>
                <a:path w="21587" h="21130" stroke="0">
                  <a:moveTo>
                    <a:pt x="0" y="20383"/>
                  </a:moveTo>
                  <a:arcTo wR="21600" hR="21600" stAng="-10681087" swAng="4562694"/>
                  <a:lnTo>
                    <a:pt x="21587" y="21130"/>
                  </a:lnTo>
                  <a:close/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75" name="任意多边形 564274"/>
            <p:cNvSpPr/>
            <p:nvPr/>
          </p:nvSpPr>
          <p:spPr>
            <a:xfrm>
              <a:off x="687" y="3382"/>
              <a:ext cx="180" cy="184"/>
            </a:xfrm>
            <a:custGeom>
              <a:avLst/>
              <a:gdLst>
                <a:gd name="txL" fmla="*/ 0 w 21128"/>
                <a:gd name="txT" fmla="*/ 0 h 21520"/>
                <a:gd name="txR" fmla="*/ 21128 w 21128"/>
                <a:gd name="txB" fmla="*/ 21520 h 21520"/>
              </a:gdLst>
              <a:ahLst/>
              <a:cxnLst>
                <a:cxn ang="180">
                  <a:pos x="0" y="17027"/>
                </a:cxn>
                <a:cxn ang="270">
                  <a:pos x="19266" y="0"/>
                </a:cxn>
                <a:cxn ang="90">
                  <a:pos x="21128" y="21520"/>
                </a:cxn>
              </a:cxnLst>
              <a:rect l="txL" t="txT" r="txR" b="txB"/>
              <a:pathLst>
                <a:path w="21128" h="21520" fill="none">
                  <a:moveTo>
                    <a:pt x="0" y="17027"/>
                  </a:moveTo>
                  <a:arcTo wR="21600" hR="21600" stAng="-10079672" swAng="4382963"/>
                </a:path>
                <a:path w="21128" h="21520" stroke="0">
                  <a:moveTo>
                    <a:pt x="0" y="17027"/>
                  </a:moveTo>
                  <a:arcTo wR="21600" hR="21600" stAng="-10079672" swAng="4382963"/>
                  <a:lnTo>
                    <a:pt x="21128" y="21520"/>
                  </a:lnTo>
                  <a:close/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76" name="直接连接符 564275"/>
            <p:cNvSpPr/>
            <p:nvPr/>
          </p:nvSpPr>
          <p:spPr>
            <a:xfrm>
              <a:off x="1578" y="3044"/>
              <a:ext cx="21" cy="1"/>
            </a:xfrm>
            <a:prstGeom prst="line">
              <a:avLst/>
            </a:prstGeom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4277" name="矩形 564276"/>
            <p:cNvSpPr/>
            <p:nvPr/>
          </p:nvSpPr>
          <p:spPr>
            <a:xfrm>
              <a:off x="2658" y="3487"/>
              <a:ext cx="136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=0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78" name="矩形 564277"/>
            <p:cNvSpPr/>
            <p:nvPr/>
          </p:nvSpPr>
          <p:spPr>
            <a:xfrm>
              <a:off x="2599" y="3518"/>
              <a:ext cx="6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79" name="矩形 564278"/>
            <p:cNvSpPr/>
            <p:nvPr/>
          </p:nvSpPr>
          <p:spPr>
            <a:xfrm>
              <a:off x="2588" y="3276"/>
              <a:ext cx="6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80" name="矩形 564279"/>
            <p:cNvSpPr/>
            <p:nvPr/>
          </p:nvSpPr>
          <p:spPr>
            <a:xfrm>
              <a:off x="2552" y="3223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81" name="矩形 564280"/>
            <p:cNvSpPr/>
            <p:nvPr/>
          </p:nvSpPr>
          <p:spPr>
            <a:xfrm>
              <a:off x="2563" y="3466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82" name="矩形 564281"/>
            <p:cNvSpPr/>
            <p:nvPr/>
          </p:nvSpPr>
          <p:spPr>
            <a:xfrm>
              <a:off x="2692" y="3244"/>
              <a:ext cx="38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</a:rPr>
                <a:t>=20uA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83" name="矩形 564282"/>
            <p:cNvSpPr/>
            <p:nvPr/>
          </p:nvSpPr>
          <p:spPr>
            <a:xfrm>
              <a:off x="2599" y="2970"/>
              <a:ext cx="6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284" name="矩形 564283"/>
            <p:cNvSpPr/>
            <p:nvPr/>
          </p:nvSpPr>
          <p:spPr>
            <a:xfrm>
              <a:off x="2563" y="2918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285" name="矩形 564284"/>
            <p:cNvSpPr/>
            <p:nvPr/>
          </p:nvSpPr>
          <p:spPr>
            <a:xfrm>
              <a:off x="2703" y="2939"/>
              <a:ext cx="38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>
                  <a:solidFill>
                    <a:srgbClr val="FF0000"/>
                  </a:solidFill>
                  <a:latin typeface="Courier New" panose="02070309020205020404" pitchFamily="49" charset="0"/>
                </a:rPr>
                <a:t>=40uA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4286" name="矩形 564285"/>
            <p:cNvSpPr/>
            <p:nvPr/>
          </p:nvSpPr>
          <p:spPr>
            <a:xfrm>
              <a:off x="2609" y="2443"/>
              <a:ext cx="6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87" name="矩形 564286"/>
            <p:cNvSpPr/>
            <p:nvPr/>
          </p:nvSpPr>
          <p:spPr>
            <a:xfrm>
              <a:off x="2713" y="2412"/>
              <a:ext cx="385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</a:rPr>
                <a:t>=80uA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88" name="矩形 564287"/>
            <p:cNvSpPr/>
            <p:nvPr/>
          </p:nvSpPr>
          <p:spPr>
            <a:xfrm>
              <a:off x="2573" y="2391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89" name="矩形 564288"/>
            <p:cNvSpPr/>
            <p:nvPr/>
          </p:nvSpPr>
          <p:spPr>
            <a:xfrm>
              <a:off x="2743" y="2138"/>
              <a:ext cx="462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>
                  <a:solidFill>
                    <a:srgbClr val="000000"/>
                  </a:solidFill>
                  <a:latin typeface="Courier New" panose="02070309020205020404" pitchFamily="49" charset="0"/>
                </a:rPr>
                <a:t>=100uA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90" name="矩形 564289"/>
            <p:cNvSpPr/>
            <p:nvPr/>
          </p:nvSpPr>
          <p:spPr>
            <a:xfrm>
              <a:off x="2605" y="2117"/>
              <a:ext cx="43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64291" name="矩形 564290"/>
            <p:cNvSpPr/>
            <p:nvPr/>
          </p:nvSpPr>
          <p:spPr>
            <a:xfrm>
              <a:off x="2641" y="2169"/>
              <a:ext cx="64" cy="1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eaLnBrk="0" hangingPunct="0"/>
              <a:r>
                <a:rPr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564292" name="椭圆 564291"/>
          <p:cNvSpPr/>
          <p:nvPr/>
        </p:nvSpPr>
        <p:spPr>
          <a:xfrm>
            <a:off x="2438400" y="4800600"/>
            <a:ext cx="76200" cy="76200"/>
          </a:xfrm>
          <a:prstGeom prst="ellipse">
            <a:avLst/>
          </a:prstGeom>
          <a:solidFill>
            <a:srgbClr val="FF0000"/>
          </a:solidFill>
          <a:ln w="27051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293" name="文本框 564292"/>
          <p:cNvSpPr txBox="1"/>
          <p:nvPr/>
        </p:nvSpPr>
        <p:spPr>
          <a:xfrm>
            <a:off x="0" y="457200"/>
            <a:ext cx="2362200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例题</a:t>
            </a:r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pSp>
        <p:nvGrpSpPr>
          <p:cNvPr id="564294" name="组合 564293"/>
          <p:cNvGrpSpPr/>
          <p:nvPr/>
        </p:nvGrpSpPr>
        <p:grpSpPr>
          <a:xfrm>
            <a:off x="457200" y="1524000"/>
            <a:ext cx="3208338" cy="1292225"/>
            <a:chOff x="288" y="960"/>
            <a:chExt cx="2021" cy="814"/>
          </a:xfrm>
        </p:grpSpPr>
        <p:sp>
          <p:nvSpPr>
            <p:cNvPr id="564295" name="文本框 564294"/>
            <p:cNvSpPr txBox="1"/>
            <p:nvPr/>
          </p:nvSpPr>
          <p:spPr>
            <a:xfrm>
              <a:off x="288" y="960"/>
              <a:ext cx="720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斜率：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64296" name="对象 564295"/>
            <p:cNvGraphicFramePr/>
            <p:nvPr/>
          </p:nvGraphicFramePr>
          <p:xfrm>
            <a:off x="288" y="1104"/>
            <a:ext cx="2021" cy="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6" r:id="rId7" imgW="1790700" imgH="596900" progId="Equation.3">
                    <p:embed/>
                  </p:oleObj>
                </mc:Choice>
                <mc:Fallback>
                  <p:oleObj r:id="rId7" imgW="1790700" imgH="5969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8" y="1104"/>
                          <a:ext cx="2021" cy="6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4297" name="直接连接符 564296"/>
          <p:cNvSpPr/>
          <p:nvPr/>
        </p:nvSpPr>
        <p:spPr>
          <a:xfrm>
            <a:off x="2489200" y="4851400"/>
            <a:ext cx="0" cy="1066800"/>
          </a:xfrm>
          <a:prstGeom prst="line">
            <a:avLst/>
          </a:prstGeom>
          <a:ln w="27051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64298" name="直接连接符 564297"/>
          <p:cNvSpPr/>
          <p:nvPr/>
        </p:nvSpPr>
        <p:spPr>
          <a:xfrm flipH="1">
            <a:off x="939800" y="4826000"/>
            <a:ext cx="1587500" cy="12700"/>
          </a:xfrm>
          <a:prstGeom prst="line">
            <a:avLst/>
          </a:prstGeom>
          <a:ln w="27051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64299" name="矩形 564298"/>
          <p:cNvSpPr/>
          <p:nvPr/>
        </p:nvSpPr>
        <p:spPr>
          <a:xfrm>
            <a:off x="1752600" y="5867400"/>
            <a:ext cx="1443038" cy="822325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CEQ</a:t>
            </a:r>
          </a:p>
          <a:p>
            <a:pPr algn="ctr" eaLnBrk="0" hangingPunct="0"/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6V</a:t>
            </a:r>
            <a:endParaRPr lang="en-US" altLang="zh-CN" sz="2400" b="1" baseline="-2500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64300" name="矩形 564299"/>
          <p:cNvSpPr/>
          <p:nvPr/>
        </p:nvSpPr>
        <p:spPr>
          <a:xfrm>
            <a:off x="-228600" y="4495800"/>
            <a:ext cx="1685925" cy="822325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CQ</a:t>
            </a:r>
          </a:p>
          <a:p>
            <a:pPr algn="ctr" eaLnBrk="0" hangingPunct="0"/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1.5mA</a:t>
            </a:r>
          </a:p>
        </p:txBody>
      </p:sp>
      <p:grpSp>
        <p:nvGrpSpPr>
          <p:cNvPr id="564301" name="组合 564300"/>
          <p:cNvGrpSpPr/>
          <p:nvPr/>
        </p:nvGrpSpPr>
        <p:grpSpPr>
          <a:xfrm>
            <a:off x="6324600" y="5105400"/>
            <a:ext cx="2819400" cy="1371600"/>
            <a:chOff x="3984" y="3360"/>
            <a:chExt cx="1776" cy="864"/>
          </a:xfrm>
        </p:grpSpPr>
        <p:sp>
          <p:nvSpPr>
            <p:cNvPr id="564302" name="左大括号 564301"/>
            <p:cNvSpPr/>
            <p:nvPr/>
          </p:nvSpPr>
          <p:spPr>
            <a:xfrm>
              <a:off x="4560" y="3456"/>
              <a:ext cx="144" cy="672"/>
            </a:xfrm>
            <a:prstGeom prst="leftBrace">
              <a:avLst>
                <a:gd name="adj1" fmla="val 38888"/>
                <a:gd name="adj2" fmla="val 50000"/>
              </a:avLst>
            </a:prstGeom>
            <a:noFill/>
            <a:ln w="27051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03" name="矩形 564302"/>
            <p:cNvSpPr/>
            <p:nvPr/>
          </p:nvSpPr>
          <p:spPr>
            <a:xfrm>
              <a:off x="4633" y="3360"/>
              <a:ext cx="1009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 wrap="none" anchor="t">
              <a:spAutoFit/>
            </a:bodyPr>
            <a:lstStyle/>
            <a:p>
              <a:pPr algn="ctr" eaLnBrk="0" hangingPunct="0"/>
              <a:r>
                <a:rPr lang="en-US" altLang="zh-CN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baseline="-25000">
                  <a:solidFill>
                    <a:schemeClr val="hlink"/>
                  </a:solidFill>
                  <a:latin typeface="Times New Roman" panose="02020603050405020304" pitchFamily="18" charset="0"/>
                </a:rPr>
                <a:t>BQ</a:t>
              </a:r>
              <a:r>
                <a:rPr lang="en-US" altLang="zh-CN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=40μA</a:t>
              </a:r>
            </a:p>
          </p:txBody>
        </p:sp>
        <p:sp>
          <p:nvSpPr>
            <p:cNvPr id="564304" name="矩形 564303"/>
            <p:cNvSpPr/>
            <p:nvPr/>
          </p:nvSpPr>
          <p:spPr>
            <a:xfrm>
              <a:off x="4512" y="3648"/>
              <a:ext cx="1248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CQ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=1.5mA</a:t>
              </a:r>
            </a:p>
          </p:txBody>
        </p:sp>
        <p:sp>
          <p:nvSpPr>
            <p:cNvPr id="564305" name="矩形 564304"/>
            <p:cNvSpPr/>
            <p:nvPr/>
          </p:nvSpPr>
          <p:spPr>
            <a:xfrm>
              <a:off x="4656" y="3936"/>
              <a:ext cx="909" cy="28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CEQ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=6V</a:t>
              </a:r>
              <a:endPara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64306" name="文本框 564305"/>
            <p:cNvSpPr txBox="1"/>
            <p:nvPr/>
          </p:nvSpPr>
          <p:spPr>
            <a:xfrm>
              <a:off x="3984" y="3504"/>
              <a:ext cx="1488" cy="538"/>
            </a:xfrm>
            <a:prstGeom prst="rect">
              <a:avLst/>
            </a:prstGeom>
            <a:noFill/>
            <a:ln w="27051">
              <a:noFill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</a:t>
              </a:r>
              <a:r>
                <a:rPr lang="zh-CN" altLang="en-US" sz="20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直流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工作点</a:t>
              </a:r>
            </a:p>
          </p:txBody>
        </p:sp>
      </p:grpSp>
      <p:sp>
        <p:nvSpPr>
          <p:cNvPr id="564307" name="椭圆 564306"/>
          <p:cNvSpPr/>
          <p:nvPr/>
        </p:nvSpPr>
        <p:spPr>
          <a:xfrm>
            <a:off x="3898900" y="5753100"/>
            <a:ext cx="74613" cy="76200"/>
          </a:xfrm>
          <a:prstGeom prst="ellipse">
            <a:avLst/>
          </a:prstGeom>
          <a:solidFill>
            <a:srgbClr val="0000FF"/>
          </a:solidFill>
          <a:ln w="27051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08" name="椭圆 564307"/>
          <p:cNvSpPr/>
          <p:nvPr/>
        </p:nvSpPr>
        <p:spPr>
          <a:xfrm>
            <a:off x="977900" y="3848100"/>
            <a:ext cx="74613" cy="76200"/>
          </a:xfrm>
          <a:prstGeom prst="ellipse">
            <a:avLst/>
          </a:prstGeom>
          <a:solidFill>
            <a:srgbClr val="0000FF"/>
          </a:solidFill>
          <a:ln w="27051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09" name="文本框 564308"/>
          <p:cNvSpPr txBox="1"/>
          <p:nvPr/>
        </p:nvSpPr>
        <p:spPr>
          <a:xfrm>
            <a:off x="2438400" y="4419600"/>
            <a:ext cx="381000" cy="457200"/>
          </a:xfrm>
          <a:prstGeom prst="rect">
            <a:avLst/>
          </a:prstGeom>
          <a:noFill/>
          <a:ln w="27051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564310" name="直接连接符 564309"/>
          <p:cNvSpPr/>
          <p:nvPr/>
        </p:nvSpPr>
        <p:spPr>
          <a:xfrm>
            <a:off x="5465763" y="3146425"/>
            <a:ext cx="76200" cy="158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11" name="椭圆 564310"/>
          <p:cNvSpPr/>
          <p:nvPr/>
        </p:nvSpPr>
        <p:spPr>
          <a:xfrm>
            <a:off x="5351463" y="3090863"/>
            <a:ext cx="114300" cy="111125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12" name="矩形 564311"/>
          <p:cNvSpPr/>
          <p:nvPr/>
        </p:nvSpPr>
        <p:spPr>
          <a:xfrm>
            <a:off x="5238750" y="3090863"/>
            <a:ext cx="133350" cy="2206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Arial" panose="020B0604020202020204" pitchFamily="34" charset="0"/>
              </a:rPr>
              <a:t>+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13" name="直接连接符 564312"/>
          <p:cNvSpPr/>
          <p:nvPr/>
        </p:nvSpPr>
        <p:spPr>
          <a:xfrm>
            <a:off x="5427663" y="2062163"/>
            <a:ext cx="76200" cy="1587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14" name="椭圆 564313"/>
          <p:cNvSpPr/>
          <p:nvPr/>
        </p:nvSpPr>
        <p:spPr>
          <a:xfrm>
            <a:off x="5313363" y="2006600"/>
            <a:ext cx="114300" cy="109538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15" name="矩形 564314"/>
          <p:cNvSpPr/>
          <p:nvPr/>
        </p:nvSpPr>
        <p:spPr>
          <a:xfrm>
            <a:off x="5200650" y="2006600"/>
            <a:ext cx="133350" cy="2206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Arial" panose="020B0604020202020204" pitchFamily="34" charset="0"/>
              </a:rPr>
              <a:t>+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16" name="直接连接符 564315"/>
          <p:cNvSpPr/>
          <p:nvPr/>
        </p:nvSpPr>
        <p:spPr>
          <a:xfrm flipH="1">
            <a:off x="7550150" y="866775"/>
            <a:ext cx="76200" cy="158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17" name="椭圆 564316"/>
          <p:cNvSpPr/>
          <p:nvPr/>
        </p:nvSpPr>
        <p:spPr>
          <a:xfrm>
            <a:off x="7626350" y="811213"/>
            <a:ext cx="112713" cy="111125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18" name="直接连接符 564317"/>
          <p:cNvSpPr/>
          <p:nvPr/>
        </p:nvSpPr>
        <p:spPr>
          <a:xfrm flipH="1">
            <a:off x="8288338" y="3146425"/>
            <a:ext cx="76200" cy="158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19" name="椭圆 564318"/>
          <p:cNvSpPr/>
          <p:nvPr/>
        </p:nvSpPr>
        <p:spPr>
          <a:xfrm>
            <a:off x="8364538" y="3090863"/>
            <a:ext cx="114300" cy="111125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20" name="矩形 564319"/>
          <p:cNvSpPr/>
          <p:nvPr/>
        </p:nvSpPr>
        <p:spPr>
          <a:xfrm>
            <a:off x="8516938" y="3073400"/>
            <a:ext cx="133350" cy="2206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Arial" panose="020B0604020202020204" pitchFamily="34" charset="0"/>
              </a:rPr>
              <a:t>+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21" name="直接连接符 564320"/>
          <p:cNvSpPr/>
          <p:nvPr/>
        </p:nvSpPr>
        <p:spPr>
          <a:xfrm flipH="1">
            <a:off x="8250238" y="1749425"/>
            <a:ext cx="76200" cy="158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2" name="椭圆 564321"/>
          <p:cNvSpPr/>
          <p:nvPr/>
        </p:nvSpPr>
        <p:spPr>
          <a:xfrm>
            <a:off x="8326438" y="1693863"/>
            <a:ext cx="114300" cy="111125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23" name="矩形 564322"/>
          <p:cNvSpPr/>
          <p:nvPr/>
        </p:nvSpPr>
        <p:spPr>
          <a:xfrm>
            <a:off x="8478838" y="1676400"/>
            <a:ext cx="133350" cy="2206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000">
                <a:solidFill>
                  <a:srgbClr val="FFFFFF"/>
                </a:solidFill>
                <a:latin typeface="Arial" panose="020B0604020202020204" pitchFamily="34" charset="0"/>
              </a:rPr>
              <a:t>+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24" name="直接连接符 564323"/>
          <p:cNvSpPr/>
          <p:nvPr/>
        </p:nvSpPr>
        <p:spPr>
          <a:xfrm>
            <a:off x="5788025" y="1970088"/>
            <a:ext cx="1588" cy="18415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5" name="直接连接符 564324"/>
          <p:cNvSpPr/>
          <p:nvPr/>
        </p:nvSpPr>
        <p:spPr>
          <a:xfrm>
            <a:off x="5862638" y="1970088"/>
            <a:ext cx="1587" cy="18415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6" name="直接连接符 564325"/>
          <p:cNvSpPr/>
          <p:nvPr/>
        </p:nvSpPr>
        <p:spPr>
          <a:xfrm>
            <a:off x="5862638" y="2062163"/>
            <a:ext cx="57150" cy="1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7" name="直接连接符 564326"/>
          <p:cNvSpPr/>
          <p:nvPr/>
        </p:nvSpPr>
        <p:spPr>
          <a:xfrm>
            <a:off x="5730875" y="2062163"/>
            <a:ext cx="57150" cy="1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8" name="直接连接符 564327"/>
          <p:cNvSpPr/>
          <p:nvPr/>
        </p:nvSpPr>
        <p:spPr>
          <a:xfrm>
            <a:off x="5541963" y="2062163"/>
            <a:ext cx="188912" cy="1587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29" name="直接连接符 564328"/>
          <p:cNvSpPr/>
          <p:nvPr/>
        </p:nvSpPr>
        <p:spPr>
          <a:xfrm flipH="1">
            <a:off x="5919788" y="2062163"/>
            <a:ext cx="190500" cy="1587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0" name="直接连接符 564329"/>
          <p:cNvSpPr/>
          <p:nvPr/>
        </p:nvSpPr>
        <p:spPr>
          <a:xfrm flipH="1">
            <a:off x="6943725" y="1878013"/>
            <a:ext cx="188913" cy="128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1" name="直接连接符 564330"/>
          <p:cNvSpPr/>
          <p:nvPr/>
        </p:nvSpPr>
        <p:spPr>
          <a:xfrm>
            <a:off x="6943725" y="2116138"/>
            <a:ext cx="188913" cy="130175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2" name="直接连接符 564331"/>
          <p:cNvSpPr/>
          <p:nvPr/>
        </p:nvSpPr>
        <p:spPr>
          <a:xfrm>
            <a:off x="6943725" y="1878013"/>
            <a:ext cx="1588" cy="36830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3" name="直接连接符 564332"/>
          <p:cNvSpPr/>
          <p:nvPr/>
        </p:nvSpPr>
        <p:spPr>
          <a:xfrm flipH="1">
            <a:off x="6753225" y="2062163"/>
            <a:ext cx="190500" cy="1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4" name="任意多边形 564333"/>
          <p:cNvSpPr/>
          <p:nvPr/>
        </p:nvSpPr>
        <p:spPr>
          <a:xfrm>
            <a:off x="7019925" y="2154238"/>
            <a:ext cx="112713" cy="92075"/>
          </a:xfrm>
          <a:custGeom>
            <a:avLst/>
            <a:gdLst/>
            <a:ahLst/>
            <a:cxnLst/>
            <a:rect l="0" t="0" r="0" b="0"/>
            <a:pathLst>
              <a:path w="71" h="58">
                <a:moveTo>
                  <a:pt x="71" y="58"/>
                </a:moveTo>
                <a:lnTo>
                  <a:pt x="23" y="0"/>
                </a:lnTo>
                <a:lnTo>
                  <a:pt x="0" y="34"/>
                </a:lnTo>
                <a:lnTo>
                  <a:pt x="71" y="58"/>
                </a:lnTo>
                <a:close/>
              </a:path>
            </a:pathLst>
          </a:custGeom>
          <a:solidFill>
            <a:srgbClr val="0000FF"/>
          </a:solidFill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35" name="直接连接符 564334"/>
          <p:cNvSpPr/>
          <p:nvPr/>
        </p:nvSpPr>
        <p:spPr>
          <a:xfrm>
            <a:off x="7132638" y="1693863"/>
            <a:ext cx="1587" cy="184150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6" name="直接连接符 564335"/>
          <p:cNvSpPr/>
          <p:nvPr/>
        </p:nvSpPr>
        <p:spPr>
          <a:xfrm flipV="1">
            <a:off x="7132638" y="2246313"/>
            <a:ext cx="1587" cy="182562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7" name="直接连接符 564336"/>
          <p:cNvSpPr/>
          <p:nvPr/>
        </p:nvSpPr>
        <p:spPr>
          <a:xfrm>
            <a:off x="6564313" y="2062163"/>
            <a:ext cx="188912" cy="1587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8" name="直接连接符 564337"/>
          <p:cNvSpPr/>
          <p:nvPr/>
        </p:nvSpPr>
        <p:spPr>
          <a:xfrm>
            <a:off x="7056438" y="1143000"/>
            <a:ext cx="152400" cy="1588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39" name="直接连接符 564338"/>
          <p:cNvSpPr/>
          <p:nvPr/>
        </p:nvSpPr>
        <p:spPr>
          <a:xfrm>
            <a:off x="7208838" y="1143000"/>
            <a:ext cx="1587" cy="366713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0" name="直接连接符 564339"/>
          <p:cNvSpPr/>
          <p:nvPr/>
        </p:nvSpPr>
        <p:spPr>
          <a:xfrm flipH="1">
            <a:off x="7056438" y="1509713"/>
            <a:ext cx="152400" cy="1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1" name="直接连接符 564340"/>
          <p:cNvSpPr/>
          <p:nvPr/>
        </p:nvSpPr>
        <p:spPr>
          <a:xfrm flipV="1">
            <a:off x="7056438" y="1143000"/>
            <a:ext cx="1587" cy="366713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2" name="直接连接符 564341"/>
          <p:cNvSpPr/>
          <p:nvPr/>
        </p:nvSpPr>
        <p:spPr>
          <a:xfrm>
            <a:off x="7132638" y="958850"/>
            <a:ext cx="1587" cy="184150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3" name="直接连接符 564342"/>
          <p:cNvSpPr/>
          <p:nvPr/>
        </p:nvSpPr>
        <p:spPr>
          <a:xfrm flipV="1">
            <a:off x="7132638" y="1509713"/>
            <a:ext cx="1587" cy="184150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4" name="直接连接符 564343"/>
          <p:cNvSpPr/>
          <p:nvPr/>
        </p:nvSpPr>
        <p:spPr>
          <a:xfrm>
            <a:off x="6165850" y="1235075"/>
            <a:ext cx="152400" cy="1588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5" name="直接连接符 564344"/>
          <p:cNvSpPr/>
          <p:nvPr/>
        </p:nvSpPr>
        <p:spPr>
          <a:xfrm>
            <a:off x="6318250" y="1235075"/>
            <a:ext cx="1588" cy="366713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6" name="直接连接符 564345"/>
          <p:cNvSpPr/>
          <p:nvPr/>
        </p:nvSpPr>
        <p:spPr>
          <a:xfrm flipH="1">
            <a:off x="6165850" y="1601788"/>
            <a:ext cx="152400" cy="158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7" name="直接连接符 564346"/>
          <p:cNvSpPr/>
          <p:nvPr/>
        </p:nvSpPr>
        <p:spPr>
          <a:xfrm flipV="1">
            <a:off x="6165850" y="1235075"/>
            <a:ext cx="1588" cy="366713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8" name="直接连接符 564347"/>
          <p:cNvSpPr/>
          <p:nvPr/>
        </p:nvSpPr>
        <p:spPr>
          <a:xfrm>
            <a:off x="6242050" y="1050925"/>
            <a:ext cx="1588" cy="184150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49" name="直接连接符 564348"/>
          <p:cNvSpPr/>
          <p:nvPr/>
        </p:nvSpPr>
        <p:spPr>
          <a:xfrm flipV="1">
            <a:off x="6242050" y="1601788"/>
            <a:ext cx="1588" cy="184150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0" name="直接连接符 564349"/>
          <p:cNvSpPr/>
          <p:nvPr/>
        </p:nvSpPr>
        <p:spPr>
          <a:xfrm>
            <a:off x="7739063" y="1657350"/>
            <a:ext cx="1587" cy="18415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1" name="直接连接符 564350"/>
          <p:cNvSpPr/>
          <p:nvPr/>
        </p:nvSpPr>
        <p:spPr>
          <a:xfrm>
            <a:off x="7815263" y="1657350"/>
            <a:ext cx="1587" cy="18415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2" name="直接连接符 564351"/>
          <p:cNvSpPr/>
          <p:nvPr/>
        </p:nvSpPr>
        <p:spPr>
          <a:xfrm>
            <a:off x="7815263" y="1749425"/>
            <a:ext cx="57150" cy="1588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3" name="直接连接符 564352"/>
          <p:cNvSpPr/>
          <p:nvPr/>
        </p:nvSpPr>
        <p:spPr>
          <a:xfrm>
            <a:off x="7681913" y="1749425"/>
            <a:ext cx="57150" cy="1588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4" name="直接连接符 564353"/>
          <p:cNvSpPr/>
          <p:nvPr/>
        </p:nvSpPr>
        <p:spPr>
          <a:xfrm>
            <a:off x="7493000" y="1749425"/>
            <a:ext cx="188913" cy="1588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5" name="直接连接符 564354"/>
          <p:cNvSpPr/>
          <p:nvPr/>
        </p:nvSpPr>
        <p:spPr>
          <a:xfrm flipH="1">
            <a:off x="7872413" y="1749425"/>
            <a:ext cx="188912" cy="1588"/>
          </a:xfrm>
          <a:prstGeom prst="line">
            <a:avLst/>
          </a:prstGeom>
          <a:ln w="19050" cap="flat" cmpd="sng">
            <a:solidFill>
              <a:srgbClr val="4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6" name="直接连接符 564355"/>
          <p:cNvSpPr/>
          <p:nvPr/>
        </p:nvSpPr>
        <p:spPr>
          <a:xfrm>
            <a:off x="6943725" y="3311525"/>
            <a:ext cx="379413" cy="1588"/>
          </a:xfrm>
          <a:prstGeom prst="line">
            <a:avLst/>
          </a:prstGeom>
          <a:ln w="19050" cap="flat" cmpd="sng">
            <a:solidFill>
              <a:srgbClr val="0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57" name="矩形 564356"/>
          <p:cNvSpPr/>
          <p:nvPr/>
        </p:nvSpPr>
        <p:spPr>
          <a:xfrm>
            <a:off x="6165850" y="1235075"/>
            <a:ext cx="171450" cy="385763"/>
          </a:xfrm>
          <a:prstGeom prst="rect">
            <a:avLst/>
          </a:prstGeom>
          <a:solidFill>
            <a:srgbClr val="0080FF"/>
          </a:solidFill>
          <a:ln w="19050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58" name="矩形 564357"/>
          <p:cNvSpPr/>
          <p:nvPr/>
        </p:nvSpPr>
        <p:spPr>
          <a:xfrm>
            <a:off x="7056438" y="1143000"/>
            <a:ext cx="171450" cy="385763"/>
          </a:xfrm>
          <a:prstGeom prst="rect">
            <a:avLst/>
          </a:prstGeom>
          <a:solidFill>
            <a:srgbClr val="0080FF"/>
          </a:solidFill>
          <a:ln w="19050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59" name="矩形 564358"/>
          <p:cNvSpPr/>
          <p:nvPr/>
        </p:nvSpPr>
        <p:spPr>
          <a:xfrm>
            <a:off x="6165850" y="1235075"/>
            <a:ext cx="171450" cy="385763"/>
          </a:xfrm>
          <a:prstGeom prst="rect">
            <a:avLst/>
          </a:prstGeom>
          <a:solidFill>
            <a:srgbClr val="0080C0"/>
          </a:solidFill>
          <a:ln w="19050" cap="flat" cmpd="sng">
            <a:solidFill>
              <a:srgbClr val="0080C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60" name="矩形 564359"/>
          <p:cNvSpPr/>
          <p:nvPr/>
        </p:nvSpPr>
        <p:spPr>
          <a:xfrm>
            <a:off x="7056438" y="1143000"/>
            <a:ext cx="171450" cy="385763"/>
          </a:xfrm>
          <a:prstGeom prst="rect">
            <a:avLst/>
          </a:prstGeom>
          <a:solidFill>
            <a:srgbClr val="0080C0"/>
          </a:solidFill>
          <a:ln w="19050" cap="flat" cmpd="sng">
            <a:solidFill>
              <a:srgbClr val="0080C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61" name="矩形 564360"/>
          <p:cNvSpPr/>
          <p:nvPr/>
        </p:nvSpPr>
        <p:spPr>
          <a:xfrm>
            <a:off x="7056438" y="1143000"/>
            <a:ext cx="171450" cy="385763"/>
          </a:xfrm>
          <a:prstGeom prst="rect">
            <a:avLst/>
          </a:prstGeom>
          <a:solidFill>
            <a:srgbClr val="FFFF00"/>
          </a:solidFill>
          <a:ln w="1905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62" name="矩形 564361"/>
          <p:cNvSpPr/>
          <p:nvPr/>
        </p:nvSpPr>
        <p:spPr>
          <a:xfrm>
            <a:off x="7056438" y="1143000"/>
            <a:ext cx="171450" cy="385763"/>
          </a:xfrm>
          <a:prstGeom prst="rect">
            <a:avLst/>
          </a:prstGeom>
          <a:solidFill>
            <a:srgbClr val="0080FF"/>
          </a:solidFill>
          <a:ln w="19050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63" name="矩形 564362"/>
          <p:cNvSpPr/>
          <p:nvPr/>
        </p:nvSpPr>
        <p:spPr>
          <a:xfrm>
            <a:off x="7056438" y="1143000"/>
            <a:ext cx="171450" cy="385763"/>
          </a:xfrm>
          <a:prstGeom prst="rect">
            <a:avLst/>
          </a:prstGeom>
          <a:solidFill>
            <a:srgbClr val="0080FF"/>
          </a:solidFill>
          <a:ln w="19050" cap="flat" cmpd="sng">
            <a:solidFill>
              <a:srgbClr val="008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64" name="直接连接符 564363"/>
          <p:cNvSpPr/>
          <p:nvPr/>
        </p:nvSpPr>
        <p:spPr>
          <a:xfrm>
            <a:off x="6242050" y="1785938"/>
            <a:ext cx="1588" cy="276225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65" name="椭圆 564364"/>
          <p:cNvSpPr/>
          <p:nvPr/>
        </p:nvSpPr>
        <p:spPr>
          <a:xfrm>
            <a:off x="6203950" y="2025650"/>
            <a:ext cx="76200" cy="73025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66" name="直接连接符 564365"/>
          <p:cNvSpPr/>
          <p:nvPr/>
        </p:nvSpPr>
        <p:spPr>
          <a:xfrm>
            <a:off x="5503863" y="2062163"/>
            <a:ext cx="38100" cy="1587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67" name="直接连接符 564366"/>
          <p:cNvSpPr/>
          <p:nvPr/>
        </p:nvSpPr>
        <p:spPr>
          <a:xfrm flipV="1">
            <a:off x="7132638" y="2428875"/>
            <a:ext cx="1587" cy="698500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68" name="直接连接符 564367"/>
          <p:cNvSpPr/>
          <p:nvPr/>
        </p:nvSpPr>
        <p:spPr>
          <a:xfrm>
            <a:off x="6242050" y="2062163"/>
            <a:ext cx="322263" cy="1587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69" name="直接连接符 564368"/>
          <p:cNvSpPr/>
          <p:nvPr/>
        </p:nvSpPr>
        <p:spPr>
          <a:xfrm>
            <a:off x="6110288" y="2062163"/>
            <a:ext cx="131762" cy="1587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0" name="直接连接符 564369"/>
          <p:cNvSpPr/>
          <p:nvPr/>
        </p:nvSpPr>
        <p:spPr>
          <a:xfrm>
            <a:off x="7132638" y="1749425"/>
            <a:ext cx="19050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1" name="椭圆 564370"/>
          <p:cNvSpPr/>
          <p:nvPr/>
        </p:nvSpPr>
        <p:spPr>
          <a:xfrm>
            <a:off x="7113588" y="1712913"/>
            <a:ext cx="76200" cy="73025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72" name="直接连接符 564371"/>
          <p:cNvSpPr/>
          <p:nvPr/>
        </p:nvSpPr>
        <p:spPr>
          <a:xfrm>
            <a:off x="7132638" y="866775"/>
            <a:ext cx="417512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3" name="直接连接符 564372"/>
          <p:cNvSpPr/>
          <p:nvPr/>
        </p:nvSpPr>
        <p:spPr>
          <a:xfrm>
            <a:off x="7132638" y="3146425"/>
            <a:ext cx="1587" cy="165100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4" name="直接连接符 564373"/>
          <p:cNvSpPr/>
          <p:nvPr/>
        </p:nvSpPr>
        <p:spPr>
          <a:xfrm flipH="1">
            <a:off x="5541963" y="3146425"/>
            <a:ext cx="1590675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5" name="直接连接符 564374"/>
          <p:cNvSpPr/>
          <p:nvPr/>
        </p:nvSpPr>
        <p:spPr>
          <a:xfrm flipH="1">
            <a:off x="7132638" y="3146425"/>
            <a:ext cx="1155700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6" name="椭圆 564375"/>
          <p:cNvSpPr/>
          <p:nvPr/>
        </p:nvSpPr>
        <p:spPr>
          <a:xfrm>
            <a:off x="7094538" y="3109913"/>
            <a:ext cx="76200" cy="73025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77" name="直接连接符 564376"/>
          <p:cNvSpPr/>
          <p:nvPr/>
        </p:nvSpPr>
        <p:spPr>
          <a:xfrm>
            <a:off x="7132638" y="866775"/>
            <a:ext cx="1587" cy="92075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78" name="椭圆 564377"/>
          <p:cNvSpPr/>
          <p:nvPr/>
        </p:nvSpPr>
        <p:spPr>
          <a:xfrm>
            <a:off x="7094538" y="830263"/>
            <a:ext cx="76200" cy="73025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379" name="直接连接符 564378"/>
          <p:cNvSpPr/>
          <p:nvPr/>
        </p:nvSpPr>
        <p:spPr>
          <a:xfrm flipV="1">
            <a:off x="6242050" y="866775"/>
            <a:ext cx="1588" cy="184150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80" name="直接连接符 564379"/>
          <p:cNvSpPr/>
          <p:nvPr/>
        </p:nvSpPr>
        <p:spPr>
          <a:xfrm>
            <a:off x="6242050" y="866775"/>
            <a:ext cx="890588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81" name="直接连接符 564380"/>
          <p:cNvSpPr/>
          <p:nvPr/>
        </p:nvSpPr>
        <p:spPr>
          <a:xfrm>
            <a:off x="8061325" y="1749425"/>
            <a:ext cx="188913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82" name="直接连接符 564381"/>
          <p:cNvSpPr/>
          <p:nvPr/>
        </p:nvSpPr>
        <p:spPr>
          <a:xfrm>
            <a:off x="7151688" y="1749425"/>
            <a:ext cx="341312" cy="1588"/>
          </a:xfrm>
          <a:prstGeom prst="line">
            <a:avLst/>
          </a:prstGeom>
          <a:ln w="19050" cap="flat" cmpd="sng">
            <a:solidFill>
              <a:srgbClr val="800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4383" name="矩形 564382"/>
          <p:cNvSpPr/>
          <p:nvPr/>
        </p:nvSpPr>
        <p:spPr>
          <a:xfrm>
            <a:off x="5616575" y="1565275"/>
            <a:ext cx="303213" cy="422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3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84" name="矩形 564383"/>
          <p:cNvSpPr/>
          <p:nvPr/>
        </p:nvSpPr>
        <p:spPr>
          <a:xfrm>
            <a:off x="6716713" y="1014413"/>
            <a:ext cx="284162" cy="422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300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85" name="矩形 564384"/>
          <p:cNvSpPr/>
          <p:nvPr/>
        </p:nvSpPr>
        <p:spPr>
          <a:xfrm>
            <a:off x="6886575" y="1143000"/>
            <a:ext cx="1508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86" name="矩形 564385"/>
          <p:cNvSpPr/>
          <p:nvPr/>
        </p:nvSpPr>
        <p:spPr>
          <a:xfrm>
            <a:off x="5408613" y="2668588"/>
            <a:ext cx="133350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87" name="矩形 564386"/>
          <p:cNvSpPr/>
          <p:nvPr/>
        </p:nvSpPr>
        <p:spPr>
          <a:xfrm>
            <a:off x="8232775" y="2190750"/>
            <a:ext cx="246063" cy="422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300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88" name="矩形 564387"/>
          <p:cNvSpPr/>
          <p:nvPr/>
        </p:nvSpPr>
        <p:spPr>
          <a:xfrm>
            <a:off x="5807075" y="1693863"/>
            <a:ext cx="2651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b1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89" name="矩形 564388"/>
          <p:cNvSpPr/>
          <p:nvPr/>
        </p:nvSpPr>
        <p:spPr>
          <a:xfrm>
            <a:off x="7208838" y="1951038"/>
            <a:ext cx="379412" cy="4587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Courier New" panose="02070309020205020404" pitchFamily="49" charset="0"/>
              </a:rPr>
              <a:t>T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90" name="矩形 564389"/>
          <p:cNvSpPr/>
          <p:nvPr/>
        </p:nvSpPr>
        <p:spPr>
          <a:xfrm>
            <a:off x="5256213" y="2465388"/>
            <a:ext cx="246062" cy="422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300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91" name="矩形 564390"/>
          <p:cNvSpPr/>
          <p:nvPr/>
        </p:nvSpPr>
        <p:spPr>
          <a:xfrm>
            <a:off x="8269288" y="1914525"/>
            <a:ext cx="303212" cy="3857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</a:rPr>
              <a:t>+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92" name="矩形 564391"/>
          <p:cNvSpPr/>
          <p:nvPr/>
        </p:nvSpPr>
        <p:spPr>
          <a:xfrm>
            <a:off x="7772400" y="1905000"/>
            <a:ext cx="319088" cy="228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b2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93" name="矩形 564392"/>
          <p:cNvSpPr/>
          <p:nvPr/>
        </p:nvSpPr>
        <p:spPr>
          <a:xfrm>
            <a:off x="8269288" y="2724150"/>
            <a:ext cx="379412" cy="4587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Courier New" panose="02070309020205020404" pitchFamily="49" charset="0"/>
              </a:rPr>
              <a:t>-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94" name="矩形 564393"/>
          <p:cNvSpPr/>
          <p:nvPr/>
        </p:nvSpPr>
        <p:spPr>
          <a:xfrm>
            <a:off x="8383588" y="2392363"/>
            <a:ext cx="169862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95" name="矩形 564394"/>
          <p:cNvSpPr/>
          <p:nvPr/>
        </p:nvSpPr>
        <p:spPr>
          <a:xfrm>
            <a:off x="7543800" y="1752600"/>
            <a:ext cx="195263" cy="3508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3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96" name="矩形 564395"/>
          <p:cNvSpPr/>
          <p:nvPr/>
        </p:nvSpPr>
        <p:spPr>
          <a:xfrm>
            <a:off x="5294313" y="2190750"/>
            <a:ext cx="303212" cy="3857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Courier New" panose="02070309020205020404" pitchFamily="49" charset="0"/>
              </a:rPr>
              <a:t>+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97" name="矩形 564396"/>
          <p:cNvSpPr/>
          <p:nvPr/>
        </p:nvSpPr>
        <p:spPr>
          <a:xfrm>
            <a:off x="5294313" y="2778125"/>
            <a:ext cx="379412" cy="4587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Courier New" panose="02070309020205020404" pitchFamily="49" charset="0"/>
              </a:rPr>
              <a:t>-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4398" name="文本框 564397"/>
          <p:cNvSpPr txBox="1"/>
          <p:nvPr/>
        </p:nvSpPr>
        <p:spPr>
          <a:xfrm>
            <a:off x="7086600" y="381000"/>
            <a:ext cx="16002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+12V</a:t>
            </a:r>
          </a:p>
        </p:txBody>
      </p:sp>
      <p:sp>
        <p:nvSpPr>
          <p:cNvPr id="564399" name="文本框 564398"/>
          <p:cNvSpPr txBox="1"/>
          <p:nvPr/>
        </p:nvSpPr>
        <p:spPr>
          <a:xfrm>
            <a:off x="4800600" y="990600"/>
            <a:ext cx="17526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solidFill>
                  <a:srgbClr val="000066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800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</a:rPr>
              <a:t>300K</a:t>
            </a:r>
            <a:r>
              <a:rPr lang="en-US" altLang="zh-CN" sz="2400" b="1">
                <a:latin typeface="Times New Roman" panose="02020603050405020304" pitchFamily="18" charset="0"/>
              </a:rPr>
              <a:t>Ω</a:t>
            </a:r>
          </a:p>
        </p:txBody>
      </p:sp>
      <p:sp>
        <p:nvSpPr>
          <p:cNvPr id="564400" name="文本框 564399"/>
          <p:cNvSpPr txBox="1"/>
          <p:nvPr/>
        </p:nvSpPr>
        <p:spPr>
          <a:xfrm>
            <a:off x="7315200" y="990600"/>
            <a:ext cx="144780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solidFill>
                  <a:srgbClr val="000066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800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</a:rPr>
              <a:t>4K</a:t>
            </a:r>
            <a:r>
              <a:rPr lang="en-US" altLang="zh-CN" sz="2400" b="1">
                <a:latin typeface="Times New Roman" panose="02020603050405020304" pitchFamily="18" charset="0"/>
              </a:rPr>
              <a:t>Ω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4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4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64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6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4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64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6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6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4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64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6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6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6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6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56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6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6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6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64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64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26" grpId="0"/>
      <p:bldP spid="564229" grpId="0"/>
      <p:bldP spid="564230" grpId="0"/>
      <p:bldP spid="564231" grpId="0"/>
      <p:bldP spid="564299" grpId="0"/>
      <p:bldP spid="564300" grpId="0"/>
      <p:bldP spid="56430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5" name="直接连接符 566274"/>
          <p:cNvSpPr/>
          <p:nvPr/>
        </p:nvSpPr>
        <p:spPr>
          <a:xfrm flipV="1">
            <a:off x="1916113" y="1898650"/>
            <a:ext cx="0" cy="275907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66276" name="直接连接符 566275"/>
          <p:cNvSpPr/>
          <p:nvPr/>
        </p:nvSpPr>
        <p:spPr>
          <a:xfrm flipV="1">
            <a:off x="1935163" y="4637088"/>
            <a:ext cx="1638300" cy="190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566277" name="文本框 566276"/>
          <p:cNvSpPr txBox="1"/>
          <p:nvPr/>
        </p:nvSpPr>
        <p:spPr>
          <a:xfrm>
            <a:off x="1371600" y="1357313"/>
            <a:ext cx="1374775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lang="en-US" altLang="zh-CN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6278" name="文本框 566277"/>
          <p:cNvSpPr txBox="1"/>
          <p:nvPr/>
        </p:nvSpPr>
        <p:spPr>
          <a:xfrm>
            <a:off x="3633788" y="4340225"/>
            <a:ext cx="700087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i="1" err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1" baseline="-25000" err="1"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endParaRPr lang="en-US" altLang="zh-CN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6279" name="任意多边形 566278"/>
          <p:cNvSpPr/>
          <p:nvPr/>
        </p:nvSpPr>
        <p:spPr>
          <a:xfrm>
            <a:off x="1916113" y="2259013"/>
            <a:ext cx="1066800" cy="2378075"/>
          </a:xfrm>
          <a:custGeom>
            <a:avLst/>
            <a:gdLst/>
            <a:ahLst/>
            <a:cxnLst/>
            <a:rect l="0" t="0" r="0" b="0"/>
            <a:pathLst>
              <a:path w="1344" h="2280">
                <a:moveTo>
                  <a:pt x="0" y="2280"/>
                </a:moveTo>
                <a:cubicBezTo>
                  <a:pt x="174" y="2273"/>
                  <a:pt x="348" y="2266"/>
                  <a:pt x="456" y="2256"/>
                </a:cubicBezTo>
                <a:cubicBezTo>
                  <a:pt x="564" y="2246"/>
                  <a:pt x="574" y="2268"/>
                  <a:pt x="648" y="2220"/>
                </a:cubicBezTo>
                <a:cubicBezTo>
                  <a:pt x="722" y="2172"/>
                  <a:pt x="828" y="2120"/>
                  <a:pt x="900" y="1968"/>
                </a:cubicBezTo>
                <a:cubicBezTo>
                  <a:pt x="972" y="1816"/>
                  <a:pt x="1006" y="1636"/>
                  <a:pt x="1080" y="1308"/>
                </a:cubicBezTo>
                <a:cubicBezTo>
                  <a:pt x="1154" y="980"/>
                  <a:pt x="1289" y="272"/>
                  <a:pt x="1344" y="0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headEnd type="none" w="sm" len="sm"/>
            <a:tailEnd type="non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6280" name="椭圆 566279"/>
          <p:cNvSpPr/>
          <p:nvPr/>
        </p:nvSpPr>
        <p:spPr>
          <a:xfrm>
            <a:off x="2817813" y="2979738"/>
            <a:ext cx="114300" cy="133350"/>
          </a:xfrm>
          <a:prstGeom prst="ellipse">
            <a:avLst/>
          </a:prstGeom>
          <a:solidFill>
            <a:srgbClr val="FF3300"/>
          </a:solidFill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6281" name="文本框 566280"/>
          <p:cNvSpPr txBox="1"/>
          <p:nvPr/>
        </p:nvSpPr>
        <p:spPr>
          <a:xfrm>
            <a:off x="3314700" y="2776538"/>
            <a:ext cx="496888" cy="57943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</a:p>
        </p:txBody>
      </p:sp>
      <p:sp>
        <p:nvSpPr>
          <p:cNvPr id="566282" name="直接连接符 566281"/>
          <p:cNvSpPr/>
          <p:nvPr/>
        </p:nvSpPr>
        <p:spPr>
          <a:xfrm>
            <a:off x="1827213" y="3068638"/>
            <a:ext cx="120015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66283" name="直接连接符 566282"/>
          <p:cNvSpPr/>
          <p:nvPr/>
        </p:nvSpPr>
        <p:spPr>
          <a:xfrm>
            <a:off x="2887663" y="3111500"/>
            <a:ext cx="0" cy="1714500"/>
          </a:xfrm>
          <a:prstGeom prst="line">
            <a:avLst/>
          </a:prstGeom>
          <a:ln w="38100" cap="flat" cmpd="sng">
            <a:solidFill>
              <a:srgbClr val="FF33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566284" name="组合 566283"/>
          <p:cNvGrpSpPr/>
          <p:nvPr/>
        </p:nvGrpSpPr>
        <p:grpSpPr>
          <a:xfrm>
            <a:off x="2752725" y="4476750"/>
            <a:ext cx="995363" cy="1041400"/>
            <a:chOff x="1734" y="2820"/>
            <a:chExt cx="627" cy="656"/>
          </a:xfrm>
        </p:grpSpPr>
        <p:grpSp>
          <p:nvGrpSpPr>
            <p:cNvPr id="566285" name="组合 566284"/>
            <p:cNvGrpSpPr/>
            <p:nvPr/>
          </p:nvGrpSpPr>
          <p:grpSpPr>
            <a:xfrm rot="5400000">
              <a:off x="1645" y="3100"/>
              <a:ext cx="336" cy="158"/>
              <a:chOff x="1392" y="2218"/>
              <a:chExt cx="1824" cy="794"/>
            </a:xfrm>
          </p:grpSpPr>
          <p:sp>
            <p:nvSpPr>
              <p:cNvPr id="566286" name="任意多边形 566285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6287" name="任意多边形 566286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6288" name="直接连接符 566287"/>
            <p:cNvSpPr/>
            <p:nvPr/>
          </p:nvSpPr>
          <p:spPr>
            <a:xfrm>
              <a:off x="1813" y="3008"/>
              <a:ext cx="0" cy="468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6289" name="直接连接符 566288"/>
            <p:cNvSpPr/>
            <p:nvPr/>
          </p:nvSpPr>
          <p:spPr>
            <a:xfrm>
              <a:off x="1765" y="2996"/>
              <a:ext cx="301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6290" name="文本框 566289"/>
            <p:cNvSpPr txBox="1"/>
            <p:nvPr/>
          </p:nvSpPr>
          <p:spPr>
            <a:xfrm>
              <a:off x="2058" y="2820"/>
              <a:ext cx="303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6291" name="组合 566290"/>
          <p:cNvGrpSpPr/>
          <p:nvPr/>
        </p:nvGrpSpPr>
        <p:grpSpPr>
          <a:xfrm>
            <a:off x="0" y="2484438"/>
            <a:ext cx="3162300" cy="1295400"/>
            <a:chOff x="0" y="1536"/>
            <a:chExt cx="1992" cy="816"/>
          </a:xfrm>
        </p:grpSpPr>
        <p:sp>
          <p:nvSpPr>
            <p:cNvPr id="566292" name="直接连接符 566291"/>
            <p:cNvSpPr/>
            <p:nvPr/>
          </p:nvSpPr>
          <p:spPr>
            <a:xfrm>
              <a:off x="192" y="1536"/>
              <a:ext cx="180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293" name="直接连接符 566292"/>
            <p:cNvSpPr/>
            <p:nvPr/>
          </p:nvSpPr>
          <p:spPr>
            <a:xfrm>
              <a:off x="168" y="2352"/>
              <a:ext cx="180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294" name="直接连接符 566293"/>
            <p:cNvSpPr/>
            <p:nvPr/>
          </p:nvSpPr>
          <p:spPr>
            <a:xfrm flipH="1" flipV="1">
              <a:off x="0" y="1896"/>
              <a:ext cx="1164" cy="1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566295" name="组合 566294"/>
          <p:cNvGrpSpPr/>
          <p:nvPr/>
        </p:nvGrpSpPr>
        <p:grpSpPr>
          <a:xfrm>
            <a:off x="247650" y="1627188"/>
            <a:ext cx="819150" cy="2347912"/>
            <a:chOff x="156" y="1025"/>
            <a:chExt cx="516" cy="1479"/>
          </a:xfrm>
        </p:grpSpPr>
        <p:grpSp>
          <p:nvGrpSpPr>
            <p:cNvPr id="566296" name="组合 566295"/>
            <p:cNvGrpSpPr/>
            <p:nvPr/>
          </p:nvGrpSpPr>
          <p:grpSpPr>
            <a:xfrm>
              <a:off x="168" y="1528"/>
              <a:ext cx="504" cy="830"/>
              <a:chOff x="1392" y="2218"/>
              <a:chExt cx="1824" cy="794"/>
            </a:xfrm>
          </p:grpSpPr>
          <p:sp>
            <p:nvSpPr>
              <p:cNvPr id="566297" name="任意多边形 566296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6298" name="任意多边形 566297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6299" name="直接连接符 566298"/>
            <p:cNvSpPr/>
            <p:nvPr/>
          </p:nvSpPr>
          <p:spPr>
            <a:xfrm flipV="1">
              <a:off x="156" y="1256"/>
              <a:ext cx="0" cy="1248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6300" name="文本框 566299"/>
            <p:cNvSpPr txBox="1"/>
            <p:nvPr/>
          </p:nvSpPr>
          <p:spPr>
            <a:xfrm>
              <a:off x="221" y="1025"/>
              <a:ext cx="278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6301" name="组合 566300"/>
          <p:cNvGrpSpPr/>
          <p:nvPr/>
        </p:nvGrpSpPr>
        <p:grpSpPr>
          <a:xfrm>
            <a:off x="4305300" y="2584450"/>
            <a:ext cx="2514600" cy="971550"/>
            <a:chOff x="2712" y="1632"/>
            <a:chExt cx="1584" cy="612"/>
          </a:xfrm>
        </p:grpSpPr>
        <p:sp>
          <p:nvSpPr>
            <p:cNvPr id="566302" name="直接连接符 566301"/>
            <p:cNvSpPr/>
            <p:nvPr/>
          </p:nvSpPr>
          <p:spPr>
            <a:xfrm>
              <a:off x="2760" y="1632"/>
              <a:ext cx="1536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03" name="直接连接符 566302"/>
            <p:cNvSpPr/>
            <p:nvPr/>
          </p:nvSpPr>
          <p:spPr>
            <a:xfrm>
              <a:off x="2712" y="2244"/>
              <a:ext cx="1536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04" name="直接连接符 566303"/>
            <p:cNvSpPr/>
            <p:nvPr/>
          </p:nvSpPr>
          <p:spPr>
            <a:xfrm flipH="1">
              <a:off x="2784" y="1920"/>
              <a:ext cx="612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566305" name="组合 566304"/>
          <p:cNvGrpSpPr/>
          <p:nvPr/>
        </p:nvGrpSpPr>
        <p:grpSpPr>
          <a:xfrm>
            <a:off x="4381500" y="1847850"/>
            <a:ext cx="762000" cy="1917700"/>
            <a:chOff x="2760" y="1164"/>
            <a:chExt cx="480" cy="1208"/>
          </a:xfrm>
        </p:grpSpPr>
        <p:grpSp>
          <p:nvGrpSpPr>
            <p:cNvPr id="566306" name="组合 566305"/>
            <p:cNvGrpSpPr/>
            <p:nvPr/>
          </p:nvGrpSpPr>
          <p:grpSpPr>
            <a:xfrm>
              <a:off x="2771" y="1600"/>
              <a:ext cx="469" cy="656"/>
              <a:chOff x="1392" y="2218"/>
              <a:chExt cx="1824" cy="794"/>
            </a:xfrm>
          </p:grpSpPr>
          <p:sp>
            <p:nvSpPr>
              <p:cNvPr id="566307" name="任意多边形 566306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6308" name="任意多边形 566307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6309" name="直接连接符 566308"/>
            <p:cNvSpPr/>
            <p:nvPr/>
          </p:nvSpPr>
          <p:spPr>
            <a:xfrm flipV="1">
              <a:off x="2760" y="1385"/>
              <a:ext cx="0" cy="987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6310" name="文本框 566309"/>
            <p:cNvSpPr txBox="1"/>
            <p:nvPr/>
          </p:nvSpPr>
          <p:spPr>
            <a:xfrm>
              <a:off x="2820" y="1164"/>
              <a:ext cx="26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566311" name="文本框 566310"/>
          <p:cNvSpPr txBox="1"/>
          <p:nvPr/>
        </p:nvSpPr>
        <p:spPr>
          <a:xfrm>
            <a:off x="0" y="638175"/>
            <a:ext cx="9220200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1. 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放大电路在接入正弦信号时的工作情况（设输出空载）</a:t>
            </a:r>
            <a:endParaRPr lang="zh-CN" altLang="en-US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6312" name="文本框 566311"/>
          <p:cNvSpPr txBox="1"/>
          <p:nvPr/>
        </p:nvSpPr>
        <p:spPr>
          <a:xfrm>
            <a:off x="304800" y="5638800"/>
            <a:ext cx="4572000" cy="83185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假设在静态工作点的基础上，输入一微小的正弦信号 </a:t>
            </a:r>
            <a:r>
              <a:rPr lang="en-US" altLang="zh-CN" sz="2400" b="1" i="1" err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400" b="1" baseline="-25000" err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lang="en-US" altLang="zh-CN" sz="2400" b="1" baseline="-2500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66313" name="组合 566312"/>
          <p:cNvGrpSpPr/>
          <p:nvPr/>
        </p:nvGrpSpPr>
        <p:grpSpPr>
          <a:xfrm>
            <a:off x="7385050" y="1854200"/>
            <a:ext cx="1739900" cy="1835150"/>
            <a:chOff x="4652" y="1168"/>
            <a:chExt cx="1096" cy="1156"/>
          </a:xfrm>
        </p:grpSpPr>
        <p:sp>
          <p:nvSpPr>
            <p:cNvPr id="566314" name="直接连接符 566313"/>
            <p:cNvSpPr/>
            <p:nvPr/>
          </p:nvSpPr>
          <p:spPr>
            <a:xfrm>
              <a:off x="4884" y="1900"/>
              <a:ext cx="864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66315" name="组合 566314"/>
            <p:cNvGrpSpPr/>
            <p:nvPr/>
          </p:nvGrpSpPr>
          <p:grpSpPr>
            <a:xfrm>
              <a:off x="4652" y="1168"/>
              <a:ext cx="808" cy="1156"/>
              <a:chOff x="4652" y="1168"/>
              <a:chExt cx="808" cy="1156"/>
            </a:xfrm>
          </p:grpSpPr>
          <p:grpSp>
            <p:nvGrpSpPr>
              <p:cNvPr id="566316" name="组合 566315"/>
              <p:cNvGrpSpPr/>
              <p:nvPr/>
            </p:nvGrpSpPr>
            <p:grpSpPr>
              <a:xfrm>
                <a:off x="4956" y="1591"/>
                <a:ext cx="504" cy="623"/>
                <a:chOff x="1392" y="2218"/>
                <a:chExt cx="1824" cy="794"/>
              </a:xfrm>
            </p:grpSpPr>
            <p:sp>
              <p:nvSpPr>
                <p:cNvPr id="566317" name="任意多边形 566316"/>
                <p:cNvSpPr/>
                <p:nvPr/>
              </p:nvSpPr>
              <p:spPr>
                <a:xfrm>
                  <a:off x="1392" y="2218"/>
                  <a:ext cx="912" cy="39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912" h="398">
                      <a:moveTo>
                        <a:pt x="0" y="398"/>
                      </a:moveTo>
                      <a:cubicBezTo>
                        <a:pt x="18" y="372"/>
                        <a:pt x="60" y="296"/>
                        <a:pt x="108" y="242"/>
                      </a:cubicBezTo>
                      <a:cubicBezTo>
                        <a:pt x="156" y="188"/>
                        <a:pt x="230" y="114"/>
                        <a:pt x="288" y="74"/>
                      </a:cubicBezTo>
                      <a:cubicBezTo>
                        <a:pt x="346" y="34"/>
                        <a:pt x="398" y="0"/>
                        <a:pt x="456" y="2"/>
                      </a:cubicBezTo>
                      <a:cubicBezTo>
                        <a:pt x="514" y="4"/>
                        <a:pt x="582" y="52"/>
                        <a:pt x="636" y="86"/>
                      </a:cubicBezTo>
                      <a:cubicBezTo>
                        <a:pt x="690" y="120"/>
                        <a:pt x="734" y="154"/>
                        <a:pt x="780" y="206"/>
                      </a:cubicBezTo>
                      <a:cubicBezTo>
                        <a:pt x="826" y="258"/>
                        <a:pt x="884" y="358"/>
                        <a:pt x="912" y="39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3333FF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6318" name="任意多边形 566317"/>
                <p:cNvSpPr/>
                <p:nvPr/>
              </p:nvSpPr>
              <p:spPr>
                <a:xfrm flipV="1">
                  <a:off x="2304" y="2614"/>
                  <a:ext cx="912" cy="39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912" h="398">
                      <a:moveTo>
                        <a:pt x="0" y="398"/>
                      </a:moveTo>
                      <a:cubicBezTo>
                        <a:pt x="18" y="372"/>
                        <a:pt x="60" y="296"/>
                        <a:pt x="108" y="242"/>
                      </a:cubicBezTo>
                      <a:cubicBezTo>
                        <a:pt x="156" y="188"/>
                        <a:pt x="230" y="114"/>
                        <a:pt x="288" y="74"/>
                      </a:cubicBezTo>
                      <a:cubicBezTo>
                        <a:pt x="346" y="34"/>
                        <a:pt x="398" y="0"/>
                        <a:pt x="456" y="2"/>
                      </a:cubicBezTo>
                      <a:cubicBezTo>
                        <a:pt x="514" y="4"/>
                        <a:pt x="582" y="52"/>
                        <a:pt x="636" y="86"/>
                      </a:cubicBezTo>
                      <a:cubicBezTo>
                        <a:pt x="690" y="120"/>
                        <a:pt x="734" y="154"/>
                        <a:pt x="780" y="206"/>
                      </a:cubicBezTo>
                      <a:cubicBezTo>
                        <a:pt x="826" y="258"/>
                        <a:pt x="884" y="358"/>
                        <a:pt x="912" y="39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3333FF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66319" name="直接连接符 566318"/>
              <p:cNvSpPr/>
              <p:nvPr/>
            </p:nvSpPr>
            <p:spPr>
              <a:xfrm flipV="1">
                <a:off x="4944" y="1387"/>
                <a:ext cx="0" cy="937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6320" name="文本框 566319"/>
              <p:cNvSpPr txBox="1"/>
              <p:nvPr/>
            </p:nvSpPr>
            <p:spPr>
              <a:xfrm>
                <a:off x="5009" y="1168"/>
                <a:ext cx="278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b="1" i="1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r>
                  <a:rPr lang="en-US" altLang="zh-CN" sz="3200" b="1" baseline="-2500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pSp>
            <p:nvGrpSpPr>
              <p:cNvPr id="566321" name="组合 566320"/>
              <p:cNvGrpSpPr/>
              <p:nvPr/>
            </p:nvGrpSpPr>
            <p:grpSpPr>
              <a:xfrm>
                <a:off x="4652" y="1604"/>
                <a:ext cx="665" cy="612"/>
                <a:chOff x="5040" y="1392"/>
                <a:chExt cx="720" cy="612"/>
              </a:xfrm>
            </p:grpSpPr>
            <p:sp>
              <p:nvSpPr>
                <p:cNvPr id="566322" name="直接连接符 566321"/>
                <p:cNvSpPr/>
                <p:nvPr/>
              </p:nvSpPr>
              <p:spPr>
                <a:xfrm flipH="1">
                  <a:off x="5040" y="1392"/>
                  <a:ext cx="444" cy="0"/>
                </a:xfrm>
                <a:prstGeom prst="line">
                  <a:avLst/>
                </a:prstGeom>
                <a:ln w="38100" cap="flat" cmpd="sng">
                  <a:solidFill>
                    <a:srgbClr val="FF7C8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566323" name="直接连接符 566322"/>
                <p:cNvSpPr/>
                <p:nvPr/>
              </p:nvSpPr>
              <p:spPr>
                <a:xfrm flipH="1">
                  <a:off x="5076" y="2004"/>
                  <a:ext cx="684" cy="0"/>
                </a:xfrm>
                <a:prstGeom prst="line">
                  <a:avLst/>
                </a:prstGeom>
                <a:ln w="38100" cap="flat" cmpd="sng">
                  <a:solidFill>
                    <a:srgbClr val="FF7C8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</p:grpSp>
      <p:sp>
        <p:nvSpPr>
          <p:cNvPr id="566324" name="文本框 566323"/>
          <p:cNvSpPr txBox="1"/>
          <p:nvPr/>
        </p:nvSpPr>
        <p:spPr>
          <a:xfrm>
            <a:off x="2971800" y="1447800"/>
            <a:ext cx="22685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  <a:ea typeface="楷体_GB2312" pitchFamily="49" charset="-122"/>
              </a:rPr>
              <a:t>静态工作点</a:t>
            </a:r>
            <a:endParaRPr lang="zh-CN" altLang="en-US" sz="2400" b="1">
              <a:solidFill>
                <a:srgbClr val="CC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66325" name="组合 566324"/>
          <p:cNvGrpSpPr/>
          <p:nvPr/>
        </p:nvGrpSpPr>
        <p:grpSpPr>
          <a:xfrm>
            <a:off x="5029200" y="1447800"/>
            <a:ext cx="3817938" cy="3371850"/>
            <a:chOff x="3168" y="912"/>
            <a:chExt cx="2405" cy="2124"/>
          </a:xfrm>
        </p:grpSpPr>
        <p:sp>
          <p:nvSpPr>
            <p:cNvPr id="566326" name="文本框 566325"/>
            <p:cNvSpPr txBox="1"/>
            <p:nvPr/>
          </p:nvSpPr>
          <p:spPr>
            <a:xfrm>
              <a:off x="3360" y="912"/>
              <a:ext cx="38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6327" name="文本框 566326"/>
            <p:cNvSpPr txBox="1"/>
            <p:nvPr/>
          </p:nvSpPr>
          <p:spPr>
            <a:xfrm>
              <a:off x="5186" y="2688"/>
              <a:ext cx="38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i="1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66328" name="组合 566327"/>
            <p:cNvGrpSpPr/>
            <p:nvPr/>
          </p:nvGrpSpPr>
          <p:grpSpPr>
            <a:xfrm>
              <a:off x="3297" y="992"/>
              <a:ext cx="1901" cy="1896"/>
              <a:chOff x="3180" y="1585"/>
              <a:chExt cx="1584" cy="1896"/>
            </a:xfrm>
          </p:grpSpPr>
          <p:sp>
            <p:nvSpPr>
              <p:cNvPr id="566329" name="直接连接符 566328"/>
              <p:cNvSpPr/>
              <p:nvPr/>
            </p:nvSpPr>
            <p:spPr>
              <a:xfrm flipV="1">
                <a:off x="3180" y="3481"/>
                <a:ext cx="15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triangle" w="med" len="lg"/>
              </a:ln>
            </p:spPr>
          </p:sp>
          <p:grpSp>
            <p:nvGrpSpPr>
              <p:cNvPr id="566330" name="组合 566329"/>
              <p:cNvGrpSpPr/>
              <p:nvPr/>
            </p:nvGrpSpPr>
            <p:grpSpPr>
              <a:xfrm>
                <a:off x="3181" y="1585"/>
                <a:ext cx="1288" cy="1896"/>
                <a:chOff x="3181" y="1753"/>
                <a:chExt cx="1288" cy="1896"/>
              </a:xfrm>
            </p:grpSpPr>
            <p:sp>
              <p:nvSpPr>
                <p:cNvPr id="566331" name="直接连接符 566330"/>
                <p:cNvSpPr/>
                <p:nvPr/>
              </p:nvSpPr>
              <p:spPr>
                <a:xfrm flipH="1" flipV="1">
                  <a:off x="3192" y="1753"/>
                  <a:ext cx="0" cy="189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triangle" w="med" len="lg"/>
                </a:ln>
              </p:spPr>
            </p:sp>
            <p:grpSp>
              <p:nvGrpSpPr>
                <p:cNvPr id="566332" name="组合 566331"/>
                <p:cNvGrpSpPr/>
                <p:nvPr/>
              </p:nvGrpSpPr>
              <p:grpSpPr>
                <a:xfrm>
                  <a:off x="3181" y="2028"/>
                  <a:ext cx="1288" cy="1609"/>
                  <a:chOff x="3181" y="1260"/>
                  <a:chExt cx="2387" cy="2377"/>
                </a:xfrm>
              </p:grpSpPr>
              <p:sp>
                <p:nvSpPr>
                  <p:cNvPr id="566333" name="任意多边形 566332"/>
                  <p:cNvSpPr/>
                  <p:nvPr/>
                </p:nvSpPr>
                <p:spPr>
                  <a:xfrm>
                    <a:off x="3181" y="3505"/>
                    <a:ext cx="2387" cy="1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87" h="131">
                        <a:moveTo>
                          <a:pt x="19" y="131"/>
                        </a:moveTo>
                        <a:cubicBezTo>
                          <a:pt x="27" y="125"/>
                          <a:pt x="0" y="113"/>
                          <a:pt x="69" y="95"/>
                        </a:cubicBezTo>
                        <a:cubicBezTo>
                          <a:pt x="138" y="77"/>
                          <a:pt x="45" y="40"/>
                          <a:pt x="431" y="24"/>
                        </a:cubicBezTo>
                        <a:cubicBezTo>
                          <a:pt x="817" y="8"/>
                          <a:pt x="1980" y="5"/>
                          <a:pt x="2387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6334" name="任意多边形 566333"/>
                  <p:cNvSpPr/>
                  <p:nvPr/>
                </p:nvSpPr>
                <p:spPr>
                  <a:xfrm>
                    <a:off x="3200" y="3133"/>
                    <a:ext cx="2308" cy="5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8" h="504">
                        <a:moveTo>
                          <a:pt x="0" y="504"/>
                        </a:moveTo>
                        <a:cubicBezTo>
                          <a:pt x="3" y="472"/>
                          <a:pt x="6" y="352"/>
                          <a:pt x="15" y="314"/>
                        </a:cubicBezTo>
                        <a:cubicBezTo>
                          <a:pt x="24" y="276"/>
                          <a:pt x="26" y="302"/>
                          <a:pt x="52" y="276"/>
                        </a:cubicBezTo>
                        <a:cubicBezTo>
                          <a:pt x="78" y="250"/>
                          <a:pt x="124" y="190"/>
                          <a:pt x="172" y="156"/>
                        </a:cubicBezTo>
                        <a:cubicBezTo>
                          <a:pt x="220" y="122"/>
                          <a:pt x="244" y="90"/>
                          <a:pt x="340" y="72"/>
                        </a:cubicBezTo>
                        <a:cubicBezTo>
                          <a:pt x="436" y="54"/>
                          <a:pt x="420" y="60"/>
                          <a:pt x="748" y="48"/>
                        </a:cubicBezTo>
                        <a:cubicBezTo>
                          <a:pt x="1076" y="36"/>
                          <a:pt x="1983" y="10"/>
                          <a:pt x="2308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6335" name="任意多边形 566334"/>
                  <p:cNvSpPr/>
                  <p:nvPr/>
                </p:nvSpPr>
                <p:spPr>
                  <a:xfrm>
                    <a:off x="3197" y="2689"/>
                    <a:ext cx="2299" cy="9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99" h="948">
                        <a:moveTo>
                          <a:pt x="0" y="948"/>
                        </a:moveTo>
                        <a:cubicBezTo>
                          <a:pt x="9" y="858"/>
                          <a:pt x="20" y="540"/>
                          <a:pt x="55" y="408"/>
                        </a:cubicBezTo>
                        <a:cubicBezTo>
                          <a:pt x="90" y="276"/>
                          <a:pt x="151" y="212"/>
                          <a:pt x="211" y="156"/>
                        </a:cubicBezTo>
                        <a:cubicBezTo>
                          <a:pt x="271" y="100"/>
                          <a:pt x="247" y="93"/>
                          <a:pt x="413" y="69"/>
                        </a:cubicBezTo>
                        <a:cubicBezTo>
                          <a:pt x="579" y="45"/>
                          <a:pt x="893" y="23"/>
                          <a:pt x="1207" y="12"/>
                        </a:cubicBezTo>
                        <a:cubicBezTo>
                          <a:pt x="1521" y="1"/>
                          <a:pt x="2072" y="2"/>
                          <a:pt x="2299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6336" name="任意多边形 566335"/>
                  <p:cNvSpPr/>
                  <p:nvPr/>
                </p:nvSpPr>
                <p:spPr>
                  <a:xfrm>
                    <a:off x="3200" y="2221"/>
                    <a:ext cx="2260" cy="13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60" h="1380">
                        <a:moveTo>
                          <a:pt x="0" y="1380"/>
                        </a:moveTo>
                        <a:cubicBezTo>
                          <a:pt x="12" y="1237"/>
                          <a:pt x="48" y="729"/>
                          <a:pt x="73" y="525"/>
                        </a:cubicBezTo>
                        <a:cubicBezTo>
                          <a:pt x="99" y="321"/>
                          <a:pt x="86" y="236"/>
                          <a:pt x="155" y="157"/>
                        </a:cubicBezTo>
                        <a:cubicBezTo>
                          <a:pt x="223" y="77"/>
                          <a:pt x="132" y="76"/>
                          <a:pt x="483" y="50"/>
                        </a:cubicBezTo>
                        <a:cubicBezTo>
                          <a:pt x="834" y="24"/>
                          <a:pt x="1890" y="10"/>
                          <a:pt x="2260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6337" name="任意多边形 566336"/>
                  <p:cNvSpPr/>
                  <p:nvPr/>
                </p:nvSpPr>
                <p:spPr>
                  <a:xfrm>
                    <a:off x="3200" y="1813"/>
                    <a:ext cx="2224" cy="178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4" h="1788">
                        <a:moveTo>
                          <a:pt x="0" y="1788"/>
                        </a:moveTo>
                        <a:cubicBezTo>
                          <a:pt x="15" y="1616"/>
                          <a:pt x="70" y="1000"/>
                          <a:pt x="89" y="754"/>
                        </a:cubicBezTo>
                        <a:cubicBezTo>
                          <a:pt x="108" y="508"/>
                          <a:pt x="92" y="417"/>
                          <a:pt x="112" y="312"/>
                        </a:cubicBezTo>
                        <a:cubicBezTo>
                          <a:pt x="132" y="207"/>
                          <a:pt x="121" y="171"/>
                          <a:pt x="209" y="125"/>
                        </a:cubicBezTo>
                        <a:cubicBezTo>
                          <a:pt x="297" y="79"/>
                          <a:pt x="304" y="57"/>
                          <a:pt x="640" y="36"/>
                        </a:cubicBezTo>
                        <a:cubicBezTo>
                          <a:pt x="976" y="15"/>
                          <a:pt x="1894" y="8"/>
                          <a:pt x="2224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6338" name="任意多边形 566337"/>
                  <p:cNvSpPr/>
                  <p:nvPr/>
                </p:nvSpPr>
                <p:spPr>
                  <a:xfrm>
                    <a:off x="3200" y="1260"/>
                    <a:ext cx="2212" cy="23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2" h="2377">
                        <a:moveTo>
                          <a:pt x="0" y="2377"/>
                        </a:moveTo>
                        <a:cubicBezTo>
                          <a:pt x="15" y="2189"/>
                          <a:pt x="62" y="1583"/>
                          <a:pt x="93" y="1248"/>
                        </a:cubicBezTo>
                        <a:cubicBezTo>
                          <a:pt x="124" y="914"/>
                          <a:pt x="113" y="567"/>
                          <a:pt x="186" y="369"/>
                        </a:cubicBezTo>
                        <a:cubicBezTo>
                          <a:pt x="259" y="171"/>
                          <a:pt x="194" y="122"/>
                          <a:pt x="532" y="61"/>
                        </a:cubicBezTo>
                        <a:cubicBezTo>
                          <a:pt x="870" y="0"/>
                          <a:pt x="1862" y="13"/>
                          <a:pt x="2212" y="1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566339" name="椭圆 566338"/>
            <p:cNvSpPr/>
            <p:nvPr/>
          </p:nvSpPr>
          <p:spPr>
            <a:xfrm>
              <a:off x="3936" y="1920"/>
              <a:ext cx="87" cy="84"/>
            </a:xfrm>
            <a:prstGeom prst="ellipse">
              <a:avLst/>
            </a:prstGeom>
            <a:solidFill>
              <a:srgbClr val="FF3300"/>
            </a:solidFill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340" name="直接连接符 566339"/>
            <p:cNvSpPr/>
            <p:nvPr/>
          </p:nvSpPr>
          <p:spPr>
            <a:xfrm>
              <a:off x="3984" y="1872"/>
              <a:ext cx="0" cy="116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41" name="直接连接符 566340"/>
            <p:cNvSpPr/>
            <p:nvPr/>
          </p:nvSpPr>
          <p:spPr>
            <a:xfrm>
              <a:off x="3168" y="1920"/>
              <a:ext cx="100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42" name="直接连接符 566341"/>
            <p:cNvSpPr/>
            <p:nvPr/>
          </p:nvSpPr>
          <p:spPr>
            <a:xfrm>
              <a:off x="3312" y="1200"/>
              <a:ext cx="1536" cy="172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66343" name="组合 566342"/>
          <p:cNvGrpSpPr/>
          <p:nvPr/>
        </p:nvGrpSpPr>
        <p:grpSpPr>
          <a:xfrm>
            <a:off x="5562600" y="4810125"/>
            <a:ext cx="1974850" cy="955675"/>
            <a:chOff x="3504" y="3030"/>
            <a:chExt cx="1244" cy="602"/>
          </a:xfrm>
        </p:grpSpPr>
        <p:grpSp>
          <p:nvGrpSpPr>
            <p:cNvPr id="566344" name="组合 566343"/>
            <p:cNvGrpSpPr/>
            <p:nvPr/>
          </p:nvGrpSpPr>
          <p:grpSpPr>
            <a:xfrm rot="-5400000" flipH="1">
              <a:off x="3716" y="3124"/>
              <a:ext cx="516" cy="499"/>
              <a:chOff x="1392" y="2218"/>
              <a:chExt cx="1824" cy="794"/>
            </a:xfrm>
          </p:grpSpPr>
          <p:sp>
            <p:nvSpPr>
              <p:cNvPr id="566345" name="任意多边形 566344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6346" name="任意多边形 566345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/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6347" name="直接连接符 566346"/>
            <p:cNvSpPr/>
            <p:nvPr/>
          </p:nvSpPr>
          <p:spPr>
            <a:xfrm rot="-5400000">
              <a:off x="3984" y="2620"/>
              <a:ext cx="12" cy="973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6348" name="文本框 566347"/>
            <p:cNvSpPr txBox="1"/>
            <p:nvPr/>
          </p:nvSpPr>
          <p:spPr>
            <a:xfrm rot="5400000">
              <a:off x="4362" y="3050"/>
              <a:ext cx="40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6349" name="组合 566348"/>
          <p:cNvGrpSpPr/>
          <p:nvPr/>
        </p:nvGrpSpPr>
        <p:grpSpPr>
          <a:xfrm>
            <a:off x="5876925" y="2393950"/>
            <a:ext cx="838200" cy="3448050"/>
            <a:chOff x="3696" y="1536"/>
            <a:chExt cx="528" cy="2172"/>
          </a:xfrm>
        </p:grpSpPr>
        <p:sp>
          <p:nvSpPr>
            <p:cNvPr id="566350" name="直接连接符 566349"/>
            <p:cNvSpPr/>
            <p:nvPr/>
          </p:nvSpPr>
          <p:spPr>
            <a:xfrm>
              <a:off x="3696" y="1536"/>
              <a:ext cx="0" cy="217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51" name="直接连接符 566350"/>
            <p:cNvSpPr/>
            <p:nvPr/>
          </p:nvSpPr>
          <p:spPr>
            <a:xfrm>
              <a:off x="4224" y="2160"/>
              <a:ext cx="0" cy="151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66352" name="直接连接符 566351"/>
            <p:cNvSpPr/>
            <p:nvPr/>
          </p:nvSpPr>
          <p:spPr>
            <a:xfrm>
              <a:off x="3984" y="2784"/>
              <a:ext cx="0" cy="85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566353" name="矩形 566352"/>
          <p:cNvSpPr/>
          <p:nvPr/>
        </p:nvSpPr>
        <p:spPr>
          <a:xfrm>
            <a:off x="5410200" y="5943600"/>
            <a:ext cx="3352800" cy="685800"/>
          </a:xfrm>
          <a:prstGeom prst="rect">
            <a:avLst/>
          </a:prstGeom>
          <a:noFill/>
          <a:ln w="158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 anchor="ctr"/>
          <a:lstStyle/>
          <a:p>
            <a:r>
              <a:rPr lang="zh-CN" altLang="en-US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注意：</a:t>
            </a:r>
            <a:r>
              <a:rPr lang="en-US" altLang="zh-CN" b="1" i="1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b="1" baseline="-25000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ce</a:t>
            </a:r>
            <a:r>
              <a:rPr lang="zh-CN" altLang="en-US" b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b="1" i="1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b="1" baseline="-25000" err="1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zh-CN" altLang="en-US" b="1" dirty="0">
                <a:solidFill>
                  <a:srgbClr val="6600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反相！</a:t>
            </a:r>
            <a:endParaRPr lang="zh-CN" altLang="en-US" b="1">
              <a:solidFill>
                <a:srgbClr val="660033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66355" name="文本框 566354"/>
          <p:cNvSpPr txBox="1"/>
          <p:nvPr/>
        </p:nvSpPr>
        <p:spPr>
          <a:xfrm>
            <a:off x="0" y="0"/>
            <a:ext cx="1935163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</a:rPr>
              <a:t>交流分析：</a:t>
            </a:r>
            <a:endParaRPr lang="zh-CN" altLang="en-US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6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6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66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66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66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66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312" grpId="0" animBg="1"/>
      <p:bldP spid="56635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684213"/>
            <a:ext cx="5715000" cy="5129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3"/>
          <p:cNvGrpSpPr/>
          <p:nvPr/>
        </p:nvGrpSpPr>
        <p:grpSpPr>
          <a:xfrm>
            <a:off x="1924050" y="3676650"/>
            <a:ext cx="1036638" cy="1141413"/>
            <a:chOff x="1212" y="2316"/>
            <a:chExt cx="653" cy="719"/>
          </a:xfrm>
        </p:grpSpPr>
        <p:grpSp>
          <p:nvGrpSpPr>
            <p:cNvPr id="64515" name="Group 4"/>
            <p:cNvGrpSpPr/>
            <p:nvPr/>
          </p:nvGrpSpPr>
          <p:grpSpPr>
            <a:xfrm>
              <a:off x="1400" y="2877"/>
              <a:ext cx="336" cy="158"/>
              <a:chOff x="1392" y="2218"/>
              <a:chExt cx="1824" cy="794"/>
            </a:xfrm>
          </p:grpSpPr>
          <p:sp>
            <p:nvSpPr>
              <p:cNvPr id="64516" name="Freeform 5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17" name="Freeform 6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18" name="Line 7"/>
            <p:cNvSpPr/>
            <p:nvPr/>
          </p:nvSpPr>
          <p:spPr>
            <a:xfrm rot="-5400000">
              <a:off x="1631" y="2722"/>
              <a:ext cx="0" cy="468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4519" name="Line 8"/>
            <p:cNvSpPr/>
            <p:nvPr/>
          </p:nvSpPr>
          <p:spPr>
            <a:xfrm rot="-5400000">
              <a:off x="1235" y="2854"/>
              <a:ext cx="300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20" name="Text Box 9"/>
            <p:cNvSpPr txBox="1"/>
            <p:nvPr/>
          </p:nvSpPr>
          <p:spPr>
            <a:xfrm>
              <a:off x="1212" y="2316"/>
              <a:ext cx="303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" name="Group 10"/>
          <p:cNvGrpSpPr/>
          <p:nvPr/>
        </p:nvGrpSpPr>
        <p:grpSpPr>
          <a:xfrm>
            <a:off x="3492500" y="2619375"/>
            <a:ext cx="968375" cy="1309688"/>
            <a:chOff x="2363" y="2124"/>
            <a:chExt cx="610" cy="825"/>
          </a:xfrm>
        </p:grpSpPr>
        <p:grpSp>
          <p:nvGrpSpPr>
            <p:cNvPr id="64522" name="Group 11"/>
            <p:cNvGrpSpPr/>
            <p:nvPr/>
          </p:nvGrpSpPr>
          <p:grpSpPr>
            <a:xfrm>
              <a:off x="2431" y="2497"/>
              <a:ext cx="350" cy="237"/>
              <a:chOff x="1392" y="2218"/>
              <a:chExt cx="1824" cy="794"/>
            </a:xfrm>
          </p:grpSpPr>
          <p:sp>
            <p:nvSpPr>
              <p:cNvPr id="64523" name="Freeform 12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24" name="Freeform 13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25" name="Line 14"/>
            <p:cNvSpPr/>
            <p:nvPr/>
          </p:nvSpPr>
          <p:spPr>
            <a:xfrm flipV="1">
              <a:off x="2422" y="2448"/>
              <a:ext cx="0" cy="501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26" name="Line 15"/>
            <p:cNvSpPr/>
            <p:nvPr/>
          </p:nvSpPr>
          <p:spPr>
            <a:xfrm flipV="1">
              <a:off x="2422" y="2889"/>
              <a:ext cx="551" cy="1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27" name="Text Box 16"/>
            <p:cNvSpPr txBox="1"/>
            <p:nvPr/>
          </p:nvSpPr>
          <p:spPr>
            <a:xfrm>
              <a:off x="2363" y="2124"/>
              <a:ext cx="297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" name="Group 17"/>
          <p:cNvGrpSpPr/>
          <p:nvPr/>
        </p:nvGrpSpPr>
        <p:grpSpPr>
          <a:xfrm>
            <a:off x="5486400" y="400050"/>
            <a:ext cx="3143250" cy="1479550"/>
            <a:chOff x="3456" y="252"/>
            <a:chExt cx="1980" cy="932"/>
          </a:xfrm>
        </p:grpSpPr>
        <p:grpSp>
          <p:nvGrpSpPr>
            <p:cNvPr id="64529" name="Group 18"/>
            <p:cNvGrpSpPr/>
            <p:nvPr/>
          </p:nvGrpSpPr>
          <p:grpSpPr>
            <a:xfrm>
              <a:off x="4839" y="599"/>
              <a:ext cx="412" cy="258"/>
              <a:chOff x="1392" y="2218"/>
              <a:chExt cx="1824" cy="794"/>
            </a:xfrm>
          </p:grpSpPr>
          <p:sp>
            <p:nvSpPr>
              <p:cNvPr id="64530" name="Freeform 19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1" name="Freeform 20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32" name="Line 21"/>
            <p:cNvSpPr/>
            <p:nvPr/>
          </p:nvSpPr>
          <p:spPr>
            <a:xfrm flipV="1">
              <a:off x="4829" y="557"/>
              <a:ext cx="0" cy="434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33" name="Line 22"/>
            <p:cNvSpPr/>
            <p:nvPr/>
          </p:nvSpPr>
          <p:spPr>
            <a:xfrm flipV="1">
              <a:off x="4829" y="939"/>
              <a:ext cx="607" cy="1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34" name="Text Box 23"/>
            <p:cNvSpPr txBox="1"/>
            <p:nvPr/>
          </p:nvSpPr>
          <p:spPr>
            <a:xfrm>
              <a:off x="4776" y="252"/>
              <a:ext cx="30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4535" name="Line 24"/>
            <p:cNvSpPr/>
            <p:nvPr/>
          </p:nvSpPr>
          <p:spPr>
            <a:xfrm flipH="1">
              <a:off x="3456" y="864"/>
              <a:ext cx="1152" cy="320"/>
            </a:xfrm>
            <a:prstGeom prst="line">
              <a:avLst/>
            </a:prstGeom>
            <a:ln w="762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8" name="Group 25"/>
          <p:cNvGrpSpPr/>
          <p:nvPr/>
        </p:nvGrpSpPr>
        <p:grpSpPr>
          <a:xfrm>
            <a:off x="5124450" y="3143250"/>
            <a:ext cx="1120775" cy="1614488"/>
            <a:chOff x="3228" y="1980"/>
            <a:chExt cx="706" cy="1017"/>
          </a:xfrm>
        </p:grpSpPr>
        <p:grpSp>
          <p:nvGrpSpPr>
            <p:cNvPr id="64537" name="Group 26"/>
            <p:cNvGrpSpPr/>
            <p:nvPr/>
          </p:nvGrpSpPr>
          <p:grpSpPr>
            <a:xfrm flipV="1">
              <a:off x="3392" y="2365"/>
              <a:ext cx="374" cy="393"/>
              <a:chOff x="1392" y="2218"/>
              <a:chExt cx="1824" cy="794"/>
            </a:xfrm>
          </p:grpSpPr>
          <p:sp>
            <p:nvSpPr>
              <p:cNvPr id="64538" name="Freeform 27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9" name="Freeform 28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40" name="Line 29"/>
            <p:cNvSpPr/>
            <p:nvPr/>
          </p:nvSpPr>
          <p:spPr>
            <a:xfrm flipV="1">
              <a:off x="3383" y="2304"/>
              <a:ext cx="0" cy="693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41" name="Line 30"/>
            <p:cNvSpPr/>
            <p:nvPr/>
          </p:nvSpPr>
          <p:spPr>
            <a:xfrm flipV="1">
              <a:off x="3383" y="2901"/>
              <a:ext cx="551" cy="12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42" name="Text Box 31"/>
            <p:cNvSpPr txBox="1"/>
            <p:nvPr/>
          </p:nvSpPr>
          <p:spPr>
            <a:xfrm>
              <a:off x="3228" y="1980"/>
              <a:ext cx="489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0" name="Group 32"/>
          <p:cNvGrpSpPr/>
          <p:nvPr/>
        </p:nvGrpSpPr>
        <p:grpSpPr>
          <a:xfrm>
            <a:off x="6800850" y="2990850"/>
            <a:ext cx="1047750" cy="1873250"/>
            <a:chOff x="4284" y="1884"/>
            <a:chExt cx="660" cy="1180"/>
          </a:xfrm>
        </p:grpSpPr>
        <p:grpSp>
          <p:nvGrpSpPr>
            <p:cNvPr id="64544" name="Group 33"/>
            <p:cNvGrpSpPr/>
            <p:nvPr/>
          </p:nvGrpSpPr>
          <p:grpSpPr>
            <a:xfrm flipV="1">
              <a:off x="4479" y="2445"/>
              <a:ext cx="348" cy="590"/>
              <a:chOff x="1392" y="2218"/>
              <a:chExt cx="1824" cy="794"/>
            </a:xfrm>
          </p:grpSpPr>
          <p:sp>
            <p:nvSpPr>
              <p:cNvPr id="64545" name="Freeform 34"/>
              <p:cNvSpPr/>
              <p:nvPr/>
            </p:nvSpPr>
            <p:spPr>
              <a:xfrm>
                <a:off x="1392" y="2218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6" name="Freeform 35"/>
              <p:cNvSpPr/>
              <p:nvPr/>
            </p:nvSpPr>
            <p:spPr>
              <a:xfrm flipV="1">
                <a:off x="2304" y="2614"/>
                <a:ext cx="912" cy="398"/>
              </a:xfrm>
              <a:custGeom>
                <a:avLst/>
                <a:gdLst/>
                <a:ahLst/>
                <a:cxnLst>
                  <a:cxn ang="0">
                    <a:pos x="0" y="398"/>
                  </a:cxn>
                  <a:cxn ang="0">
                    <a:pos x="108" y="242"/>
                  </a:cxn>
                  <a:cxn ang="0">
                    <a:pos x="288" y="74"/>
                  </a:cxn>
                  <a:cxn ang="0">
                    <a:pos x="456" y="2"/>
                  </a:cxn>
                  <a:cxn ang="0">
                    <a:pos x="636" y="86"/>
                  </a:cxn>
                  <a:cxn ang="0">
                    <a:pos x="780" y="206"/>
                  </a:cxn>
                  <a:cxn ang="0">
                    <a:pos x="912" y="398"/>
                  </a:cxn>
                </a:cxnLst>
                <a:rect l="0" t="0" r="0" b="0"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47" name="Line 36"/>
            <p:cNvSpPr/>
            <p:nvPr/>
          </p:nvSpPr>
          <p:spPr>
            <a:xfrm rot="-5400000">
              <a:off x="4710" y="2494"/>
              <a:ext cx="0" cy="468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48" name="Line 37"/>
            <p:cNvSpPr/>
            <p:nvPr/>
          </p:nvSpPr>
          <p:spPr>
            <a:xfrm rot="5400000" flipH="1">
              <a:off x="4092" y="2680"/>
              <a:ext cx="768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49" name="Text Box 38"/>
            <p:cNvSpPr txBox="1"/>
            <p:nvPr/>
          </p:nvSpPr>
          <p:spPr>
            <a:xfrm>
              <a:off x="4284" y="1884"/>
              <a:ext cx="34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endPara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64550" name="Text Box 39"/>
          <p:cNvSpPr txBox="1"/>
          <p:nvPr/>
        </p:nvSpPr>
        <p:spPr>
          <a:xfrm>
            <a:off x="685800" y="533400"/>
            <a:ext cx="1857375" cy="617538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各点波形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75880" name="Text Box 40"/>
          <p:cNvSpPr txBox="1"/>
          <p:nvPr/>
        </p:nvSpPr>
        <p:spPr>
          <a:xfrm>
            <a:off x="3132138" y="6021388"/>
            <a:ext cx="4865687" cy="528637"/>
          </a:xfrm>
          <a:prstGeom prst="rect">
            <a:avLst/>
          </a:prstGeom>
          <a:noFill/>
          <a:ln w="9525" cap="flat" cmpd="sng">
            <a:solidFill>
              <a:srgbClr val="00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比</a:t>
            </a:r>
            <a:r>
              <a:rPr lang="en-US" altLang="zh-CN" b="1" i="1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1" baseline="-2500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幅度放大且相位相反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0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文本框 567297"/>
          <p:cNvSpPr txBox="1"/>
          <p:nvPr/>
        </p:nvSpPr>
        <p:spPr>
          <a:xfrm>
            <a:off x="381000" y="228600"/>
            <a:ext cx="4343400" cy="9445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结论：</a:t>
            </a: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）放大电路中的信号是交直流共存，可表示成：</a:t>
            </a:r>
            <a:endParaRPr lang="zh-CN" altLang="en-US" sz="2400" b="1">
              <a:latin typeface="Times New Roman" panose="02020603050405020304" pitchFamily="18" charset="0"/>
              <a:ea typeface="方正舒体" panose="02010601030101010101" pitchFamily="2" charset="-122"/>
            </a:endParaRPr>
          </a:p>
        </p:txBody>
      </p:sp>
      <p:graphicFrame>
        <p:nvGraphicFramePr>
          <p:cNvPr id="567299" name="对象 567298"/>
          <p:cNvGraphicFramePr/>
          <p:nvPr/>
        </p:nvGraphicFramePr>
        <p:xfrm>
          <a:off x="1165225" y="1371600"/>
          <a:ext cx="2392363" cy="239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r:id="rId3" imgW="914400" imgH="914400" progId="Equation.DSMT4">
                  <p:embed/>
                </p:oleObj>
              </mc:Choice>
              <mc:Fallback>
                <p:oleObj r:id="rId3" imgW="914400" imgH="9144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65225" y="1371600"/>
                        <a:ext cx="2392363" cy="239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7300" name="文本框 567299"/>
          <p:cNvSpPr txBox="1"/>
          <p:nvPr/>
        </p:nvSpPr>
        <p:spPr>
          <a:xfrm>
            <a:off x="457200" y="3886200"/>
            <a:ext cx="3962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虽然交流量可正负变化，但瞬时量方向始终不变</a:t>
            </a:r>
            <a:endParaRPr lang="zh-CN" altLang="en-US" sz="2400" b="1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7301" name="文本框 567300"/>
          <p:cNvSpPr txBox="1"/>
          <p:nvPr/>
        </p:nvSpPr>
        <p:spPr>
          <a:xfrm>
            <a:off x="152400" y="5029200"/>
            <a:ext cx="4648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）输出</a:t>
            </a:r>
            <a:r>
              <a:rPr lang="en-US" altLang="zh-CN" sz="2400" b="1" i="1" err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err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与输入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solidFill>
                  <a:srgbClr val="FF0000"/>
                </a:solidFill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相比，幅度被放大了，频率不变，但相位相反。</a:t>
            </a:r>
            <a:endParaRPr lang="zh-CN" altLang="en-US" sz="24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567302" name="组合 567301"/>
          <p:cNvGrpSpPr/>
          <p:nvPr/>
        </p:nvGrpSpPr>
        <p:grpSpPr>
          <a:xfrm>
            <a:off x="5105400" y="533400"/>
            <a:ext cx="3795713" cy="839788"/>
            <a:chOff x="3216" y="336"/>
            <a:chExt cx="2391" cy="529"/>
          </a:xfrm>
        </p:grpSpPr>
        <p:grpSp>
          <p:nvGrpSpPr>
            <p:cNvPr id="567303" name="组合 567302"/>
            <p:cNvGrpSpPr/>
            <p:nvPr/>
          </p:nvGrpSpPr>
          <p:grpSpPr>
            <a:xfrm>
              <a:off x="3216" y="336"/>
              <a:ext cx="2391" cy="529"/>
              <a:chOff x="3216" y="336"/>
              <a:chExt cx="2391" cy="529"/>
            </a:xfrm>
          </p:grpSpPr>
          <p:sp>
            <p:nvSpPr>
              <p:cNvPr id="567304" name="直接连接符 567303"/>
              <p:cNvSpPr/>
              <p:nvPr/>
            </p:nvSpPr>
            <p:spPr>
              <a:xfrm>
                <a:off x="3504" y="768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05" name="直接连接符 567304"/>
              <p:cNvSpPr/>
              <p:nvPr/>
            </p:nvSpPr>
            <p:spPr>
              <a:xfrm flipV="1">
                <a:off x="3504" y="432"/>
                <a:ext cx="0" cy="36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06" name="文本框 567305"/>
              <p:cNvSpPr txBox="1"/>
              <p:nvPr/>
            </p:nvSpPr>
            <p:spPr>
              <a:xfrm>
                <a:off x="3216" y="336"/>
                <a:ext cx="260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v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ea typeface="楷体" panose="02010609060101010101" pitchFamily="49" charset="-122"/>
                  </a:rPr>
                  <a:t>i</a:t>
                </a:r>
                <a:endParaRPr lang="en-US" altLang="zh-CN" sz="2000" b="1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567307" name="文本框 567306"/>
              <p:cNvSpPr txBox="1"/>
              <p:nvPr/>
            </p:nvSpPr>
            <p:spPr>
              <a:xfrm>
                <a:off x="5412" y="615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</p:grpSp>
        <p:sp>
          <p:nvSpPr>
            <p:cNvPr id="567308" name="任意多边形 567307"/>
            <p:cNvSpPr/>
            <p:nvPr/>
          </p:nvSpPr>
          <p:spPr>
            <a:xfrm>
              <a:off x="3504" y="672"/>
              <a:ext cx="1650" cy="192"/>
            </a:xfrm>
            <a:custGeom>
              <a:avLst/>
              <a:gdLst/>
              <a:ahLst/>
              <a:cxnLst/>
              <a:rect l="0" t="0" r="0" b="0"/>
              <a:pathLst>
                <a:path w="1650" h="289">
                  <a:moveTo>
                    <a:pt x="0" y="141"/>
                  </a:moveTo>
                  <a:cubicBezTo>
                    <a:pt x="44" y="93"/>
                    <a:pt x="100" y="47"/>
                    <a:pt x="133" y="27"/>
                  </a:cubicBezTo>
                  <a:cubicBezTo>
                    <a:pt x="166" y="7"/>
                    <a:pt x="179" y="21"/>
                    <a:pt x="201" y="21"/>
                  </a:cubicBezTo>
                  <a:cubicBezTo>
                    <a:pt x="223" y="21"/>
                    <a:pt x="233" y="7"/>
                    <a:pt x="266" y="27"/>
                  </a:cubicBezTo>
                  <a:cubicBezTo>
                    <a:pt x="299" y="47"/>
                    <a:pt x="354" y="103"/>
                    <a:pt x="399" y="141"/>
                  </a:cubicBezTo>
                  <a:cubicBezTo>
                    <a:pt x="443" y="179"/>
                    <a:pt x="487" y="236"/>
                    <a:pt x="532" y="255"/>
                  </a:cubicBezTo>
                  <a:cubicBezTo>
                    <a:pt x="576" y="274"/>
                    <a:pt x="620" y="274"/>
                    <a:pt x="665" y="255"/>
                  </a:cubicBezTo>
                  <a:cubicBezTo>
                    <a:pt x="709" y="236"/>
                    <a:pt x="767" y="172"/>
                    <a:pt x="798" y="141"/>
                  </a:cubicBezTo>
                  <a:cubicBezTo>
                    <a:pt x="829" y="109"/>
                    <a:pt x="824" y="87"/>
                    <a:pt x="849" y="65"/>
                  </a:cubicBezTo>
                  <a:cubicBezTo>
                    <a:pt x="874" y="43"/>
                    <a:pt x="916" y="16"/>
                    <a:pt x="948" y="8"/>
                  </a:cubicBezTo>
                  <a:cubicBezTo>
                    <a:pt x="980" y="0"/>
                    <a:pt x="1011" y="5"/>
                    <a:pt x="1038" y="15"/>
                  </a:cubicBezTo>
                  <a:cubicBezTo>
                    <a:pt x="1065" y="25"/>
                    <a:pt x="1080" y="48"/>
                    <a:pt x="1110" y="72"/>
                  </a:cubicBezTo>
                  <a:cubicBezTo>
                    <a:pt x="1140" y="96"/>
                    <a:pt x="1179" y="127"/>
                    <a:pt x="1218" y="157"/>
                  </a:cubicBezTo>
                  <a:cubicBezTo>
                    <a:pt x="1257" y="188"/>
                    <a:pt x="1305" y="236"/>
                    <a:pt x="1344" y="257"/>
                  </a:cubicBezTo>
                  <a:cubicBezTo>
                    <a:pt x="1383" y="279"/>
                    <a:pt x="1413" y="289"/>
                    <a:pt x="1452" y="286"/>
                  </a:cubicBezTo>
                  <a:cubicBezTo>
                    <a:pt x="1491" y="283"/>
                    <a:pt x="1546" y="259"/>
                    <a:pt x="1578" y="237"/>
                  </a:cubicBezTo>
                  <a:cubicBezTo>
                    <a:pt x="1610" y="215"/>
                    <a:pt x="1632" y="173"/>
                    <a:pt x="1641" y="157"/>
                  </a:cubicBezTo>
                  <a:cubicBezTo>
                    <a:pt x="1650" y="141"/>
                    <a:pt x="1633" y="146"/>
                    <a:pt x="1632" y="143"/>
                  </a:cubicBezTo>
                  <a:cubicBezTo>
                    <a:pt x="1631" y="140"/>
                    <a:pt x="1632" y="138"/>
                    <a:pt x="1632" y="136"/>
                  </a:cubicBezTo>
                </a:path>
              </a:pathLst>
            </a:custGeom>
            <a:noFill/>
            <a:ln w="25400" cap="flat" cmpd="sng">
              <a:solidFill>
                <a:srgbClr val="FF0000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7309" name="任意多边形 567308"/>
          <p:cNvSpPr/>
          <p:nvPr/>
        </p:nvSpPr>
        <p:spPr>
          <a:xfrm>
            <a:off x="5605463" y="3443288"/>
            <a:ext cx="2619375" cy="685800"/>
          </a:xfrm>
          <a:custGeom>
            <a:avLst/>
            <a:gdLst/>
            <a:ahLst/>
            <a:cxnLst/>
            <a:rect l="0" t="0" r="0" b="0"/>
            <a:pathLst>
              <a:path w="1650" h="289">
                <a:moveTo>
                  <a:pt x="0" y="141"/>
                </a:moveTo>
                <a:cubicBezTo>
                  <a:pt x="44" y="93"/>
                  <a:pt x="100" y="47"/>
                  <a:pt x="133" y="27"/>
                </a:cubicBezTo>
                <a:cubicBezTo>
                  <a:pt x="166" y="7"/>
                  <a:pt x="179" y="21"/>
                  <a:pt x="201" y="21"/>
                </a:cubicBezTo>
                <a:cubicBezTo>
                  <a:pt x="223" y="21"/>
                  <a:pt x="233" y="7"/>
                  <a:pt x="266" y="27"/>
                </a:cubicBezTo>
                <a:cubicBezTo>
                  <a:pt x="299" y="47"/>
                  <a:pt x="354" y="103"/>
                  <a:pt x="399" y="141"/>
                </a:cubicBezTo>
                <a:cubicBezTo>
                  <a:pt x="443" y="179"/>
                  <a:pt x="487" y="236"/>
                  <a:pt x="532" y="255"/>
                </a:cubicBezTo>
                <a:cubicBezTo>
                  <a:pt x="576" y="274"/>
                  <a:pt x="620" y="274"/>
                  <a:pt x="665" y="255"/>
                </a:cubicBezTo>
                <a:cubicBezTo>
                  <a:pt x="709" y="236"/>
                  <a:pt x="767" y="172"/>
                  <a:pt x="798" y="141"/>
                </a:cubicBezTo>
                <a:cubicBezTo>
                  <a:pt x="829" y="109"/>
                  <a:pt x="824" y="87"/>
                  <a:pt x="849" y="65"/>
                </a:cubicBezTo>
                <a:cubicBezTo>
                  <a:pt x="874" y="43"/>
                  <a:pt x="916" y="16"/>
                  <a:pt x="948" y="8"/>
                </a:cubicBezTo>
                <a:cubicBezTo>
                  <a:pt x="980" y="0"/>
                  <a:pt x="1011" y="5"/>
                  <a:pt x="1038" y="15"/>
                </a:cubicBezTo>
                <a:cubicBezTo>
                  <a:pt x="1065" y="25"/>
                  <a:pt x="1080" y="48"/>
                  <a:pt x="1110" y="72"/>
                </a:cubicBezTo>
                <a:cubicBezTo>
                  <a:pt x="1140" y="96"/>
                  <a:pt x="1179" y="127"/>
                  <a:pt x="1218" y="157"/>
                </a:cubicBezTo>
                <a:cubicBezTo>
                  <a:pt x="1257" y="188"/>
                  <a:pt x="1305" y="236"/>
                  <a:pt x="1344" y="257"/>
                </a:cubicBezTo>
                <a:cubicBezTo>
                  <a:pt x="1383" y="279"/>
                  <a:pt x="1413" y="289"/>
                  <a:pt x="1452" y="286"/>
                </a:cubicBezTo>
                <a:cubicBezTo>
                  <a:pt x="1491" y="283"/>
                  <a:pt x="1546" y="259"/>
                  <a:pt x="1578" y="237"/>
                </a:cubicBezTo>
                <a:cubicBezTo>
                  <a:pt x="1610" y="215"/>
                  <a:pt x="1632" y="173"/>
                  <a:pt x="1641" y="157"/>
                </a:cubicBezTo>
                <a:cubicBezTo>
                  <a:pt x="1650" y="141"/>
                  <a:pt x="1633" y="146"/>
                  <a:pt x="1632" y="143"/>
                </a:cubicBezTo>
                <a:cubicBezTo>
                  <a:pt x="1631" y="140"/>
                  <a:pt x="1632" y="138"/>
                  <a:pt x="1632" y="136"/>
                </a:cubicBezTo>
              </a:path>
            </a:pathLst>
          </a:custGeom>
          <a:noFill/>
          <a:ln w="25400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67310" name="组合 567309"/>
          <p:cNvGrpSpPr/>
          <p:nvPr/>
        </p:nvGrpSpPr>
        <p:grpSpPr>
          <a:xfrm>
            <a:off x="5029200" y="1295400"/>
            <a:ext cx="3814763" cy="4130675"/>
            <a:chOff x="3168" y="816"/>
            <a:chExt cx="2403" cy="2602"/>
          </a:xfrm>
        </p:grpSpPr>
        <p:grpSp>
          <p:nvGrpSpPr>
            <p:cNvPr id="567311" name="组合 567310"/>
            <p:cNvGrpSpPr/>
            <p:nvPr/>
          </p:nvGrpSpPr>
          <p:grpSpPr>
            <a:xfrm>
              <a:off x="3168" y="816"/>
              <a:ext cx="2403" cy="730"/>
              <a:chOff x="3168" y="816"/>
              <a:chExt cx="2403" cy="730"/>
            </a:xfrm>
          </p:grpSpPr>
          <p:sp>
            <p:nvSpPr>
              <p:cNvPr id="567312" name="直接连接符 567311"/>
              <p:cNvSpPr/>
              <p:nvPr/>
            </p:nvSpPr>
            <p:spPr>
              <a:xfrm>
                <a:off x="3504" y="1440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13" name="直接连接符 567312"/>
              <p:cNvSpPr/>
              <p:nvPr/>
            </p:nvSpPr>
            <p:spPr>
              <a:xfrm flipH="1" flipV="1">
                <a:off x="3507" y="864"/>
                <a:ext cx="6" cy="60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14" name="文本框 567313"/>
              <p:cNvSpPr txBox="1"/>
              <p:nvPr/>
            </p:nvSpPr>
            <p:spPr>
              <a:xfrm>
                <a:off x="3168" y="816"/>
                <a:ext cx="384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 err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v</a:t>
                </a:r>
                <a:r>
                  <a:rPr lang="en-US" altLang="zh-CN" sz="2000" b="1" baseline="-25000" err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BE</a:t>
                </a:r>
                <a:endParaRPr lang="en-US" altLang="zh-CN" sz="2000" b="1" baseline="-2500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567315" name="文本框 567314"/>
              <p:cNvSpPr txBox="1"/>
              <p:nvPr/>
            </p:nvSpPr>
            <p:spPr>
              <a:xfrm>
                <a:off x="5376" y="1296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  <p:sp>
            <p:nvSpPr>
              <p:cNvPr id="567316" name="直接连接符 567315"/>
              <p:cNvSpPr/>
              <p:nvPr/>
            </p:nvSpPr>
            <p:spPr>
              <a:xfrm>
                <a:off x="3504" y="1200"/>
                <a:ext cx="1872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567317" name="组合 567316"/>
            <p:cNvGrpSpPr/>
            <p:nvPr/>
          </p:nvGrpSpPr>
          <p:grpSpPr>
            <a:xfrm>
              <a:off x="3168" y="1392"/>
              <a:ext cx="2403" cy="730"/>
              <a:chOff x="3168" y="816"/>
              <a:chExt cx="2403" cy="730"/>
            </a:xfrm>
          </p:grpSpPr>
          <p:sp>
            <p:nvSpPr>
              <p:cNvPr id="567318" name="直接连接符 567317"/>
              <p:cNvSpPr/>
              <p:nvPr/>
            </p:nvSpPr>
            <p:spPr>
              <a:xfrm>
                <a:off x="3504" y="1440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19" name="直接连接符 567318"/>
              <p:cNvSpPr/>
              <p:nvPr/>
            </p:nvSpPr>
            <p:spPr>
              <a:xfrm flipH="1" flipV="1">
                <a:off x="3507" y="864"/>
                <a:ext cx="6" cy="60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20" name="文本框 567319"/>
              <p:cNvSpPr txBox="1"/>
              <p:nvPr/>
            </p:nvSpPr>
            <p:spPr>
              <a:xfrm>
                <a:off x="3168" y="816"/>
                <a:ext cx="384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i</a:t>
                </a:r>
                <a:r>
                  <a:rPr lang="en-US" altLang="zh-CN" sz="2000" b="1" baseline="-25000">
                    <a:latin typeface="Times New Roman" panose="02020603050405020304" pitchFamily="18" charset="0"/>
                    <a:ea typeface="楷体" panose="02010609060101010101" pitchFamily="49" charset="-122"/>
                  </a:rPr>
                  <a:t>B</a:t>
                </a:r>
              </a:p>
            </p:txBody>
          </p:sp>
          <p:sp>
            <p:nvSpPr>
              <p:cNvPr id="567321" name="文本框 567320"/>
              <p:cNvSpPr txBox="1"/>
              <p:nvPr/>
            </p:nvSpPr>
            <p:spPr>
              <a:xfrm>
                <a:off x="5376" y="1296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  <p:sp>
            <p:nvSpPr>
              <p:cNvPr id="567322" name="直接连接符 567321"/>
              <p:cNvSpPr/>
              <p:nvPr/>
            </p:nvSpPr>
            <p:spPr>
              <a:xfrm>
                <a:off x="3504" y="1200"/>
                <a:ext cx="1872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567323" name="组合 567322"/>
            <p:cNvGrpSpPr/>
            <p:nvPr/>
          </p:nvGrpSpPr>
          <p:grpSpPr>
            <a:xfrm>
              <a:off x="3168" y="2016"/>
              <a:ext cx="2403" cy="730"/>
              <a:chOff x="3168" y="816"/>
              <a:chExt cx="2403" cy="730"/>
            </a:xfrm>
          </p:grpSpPr>
          <p:sp>
            <p:nvSpPr>
              <p:cNvPr id="567324" name="直接连接符 567323"/>
              <p:cNvSpPr/>
              <p:nvPr/>
            </p:nvSpPr>
            <p:spPr>
              <a:xfrm>
                <a:off x="3504" y="1440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25" name="直接连接符 567324"/>
              <p:cNvSpPr/>
              <p:nvPr/>
            </p:nvSpPr>
            <p:spPr>
              <a:xfrm flipH="1" flipV="1">
                <a:off x="3507" y="864"/>
                <a:ext cx="6" cy="60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26" name="文本框 567325"/>
              <p:cNvSpPr txBox="1"/>
              <p:nvPr/>
            </p:nvSpPr>
            <p:spPr>
              <a:xfrm>
                <a:off x="3168" y="816"/>
                <a:ext cx="384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 err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i</a:t>
                </a:r>
                <a:r>
                  <a:rPr lang="en-US" altLang="zh-CN" sz="2000" b="1" baseline="-25000" err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C</a:t>
                </a:r>
                <a:endParaRPr lang="en-US" altLang="zh-CN" sz="2000" b="1" baseline="-2500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567327" name="文本框 567326"/>
              <p:cNvSpPr txBox="1"/>
              <p:nvPr/>
            </p:nvSpPr>
            <p:spPr>
              <a:xfrm>
                <a:off x="5376" y="1296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  <p:sp>
            <p:nvSpPr>
              <p:cNvPr id="567328" name="直接连接符 567327"/>
              <p:cNvSpPr/>
              <p:nvPr/>
            </p:nvSpPr>
            <p:spPr>
              <a:xfrm>
                <a:off x="3504" y="1200"/>
                <a:ext cx="1872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pSp>
          <p:nvGrpSpPr>
            <p:cNvPr id="567329" name="组合 567328"/>
            <p:cNvGrpSpPr/>
            <p:nvPr/>
          </p:nvGrpSpPr>
          <p:grpSpPr>
            <a:xfrm>
              <a:off x="3168" y="2688"/>
              <a:ext cx="2403" cy="730"/>
              <a:chOff x="3168" y="816"/>
              <a:chExt cx="2403" cy="730"/>
            </a:xfrm>
          </p:grpSpPr>
          <p:sp>
            <p:nvSpPr>
              <p:cNvPr id="567330" name="直接连接符 567329"/>
              <p:cNvSpPr/>
              <p:nvPr/>
            </p:nvSpPr>
            <p:spPr>
              <a:xfrm>
                <a:off x="3504" y="1440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31" name="直接连接符 567330"/>
              <p:cNvSpPr/>
              <p:nvPr/>
            </p:nvSpPr>
            <p:spPr>
              <a:xfrm flipH="1" flipV="1">
                <a:off x="3507" y="864"/>
                <a:ext cx="6" cy="60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32" name="文本框 567331"/>
              <p:cNvSpPr txBox="1"/>
              <p:nvPr/>
            </p:nvSpPr>
            <p:spPr>
              <a:xfrm>
                <a:off x="3168" y="816"/>
                <a:ext cx="384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 err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v</a:t>
                </a:r>
                <a:r>
                  <a:rPr lang="en-US" altLang="zh-CN" sz="2000" b="1" baseline="-25000" err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CE</a:t>
                </a:r>
                <a:endParaRPr lang="en-US" altLang="zh-CN" sz="2000" b="1" baseline="-2500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567333" name="文本框 567332"/>
              <p:cNvSpPr txBox="1"/>
              <p:nvPr/>
            </p:nvSpPr>
            <p:spPr>
              <a:xfrm>
                <a:off x="5376" y="1296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  <p:sp>
            <p:nvSpPr>
              <p:cNvPr id="567334" name="直接连接符 567333"/>
              <p:cNvSpPr/>
              <p:nvPr/>
            </p:nvSpPr>
            <p:spPr>
              <a:xfrm>
                <a:off x="3504" y="1200"/>
                <a:ext cx="1872" cy="0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sp>
        <p:nvSpPr>
          <p:cNvPr id="567335" name="任意多边形 567334"/>
          <p:cNvSpPr/>
          <p:nvPr/>
        </p:nvSpPr>
        <p:spPr>
          <a:xfrm>
            <a:off x="5595938" y="1738313"/>
            <a:ext cx="2619375" cy="304800"/>
          </a:xfrm>
          <a:custGeom>
            <a:avLst/>
            <a:gdLst/>
            <a:ahLst/>
            <a:cxnLst/>
            <a:rect l="0" t="0" r="0" b="0"/>
            <a:pathLst>
              <a:path w="1650" h="289">
                <a:moveTo>
                  <a:pt x="0" y="141"/>
                </a:moveTo>
                <a:cubicBezTo>
                  <a:pt x="44" y="93"/>
                  <a:pt x="100" y="47"/>
                  <a:pt x="133" y="27"/>
                </a:cubicBezTo>
                <a:cubicBezTo>
                  <a:pt x="166" y="7"/>
                  <a:pt x="179" y="21"/>
                  <a:pt x="201" y="21"/>
                </a:cubicBezTo>
                <a:cubicBezTo>
                  <a:pt x="223" y="21"/>
                  <a:pt x="233" y="7"/>
                  <a:pt x="266" y="27"/>
                </a:cubicBezTo>
                <a:cubicBezTo>
                  <a:pt x="299" y="47"/>
                  <a:pt x="354" y="103"/>
                  <a:pt x="399" y="141"/>
                </a:cubicBezTo>
                <a:cubicBezTo>
                  <a:pt x="443" y="179"/>
                  <a:pt x="487" y="236"/>
                  <a:pt x="532" y="255"/>
                </a:cubicBezTo>
                <a:cubicBezTo>
                  <a:pt x="576" y="274"/>
                  <a:pt x="620" y="274"/>
                  <a:pt x="665" y="255"/>
                </a:cubicBezTo>
                <a:cubicBezTo>
                  <a:pt x="709" y="236"/>
                  <a:pt x="767" y="172"/>
                  <a:pt x="798" y="141"/>
                </a:cubicBezTo>
                <a:cubicBezTo>
                  <a:pt x="829" y="109"/>
                  <a:pt x="824" y="87"/>
                  <a:pt x="849" y="65"/>
                </a:cubicBezTo>
                <a:cubicBezTo>
                  <a:pt x="874" y="43"/>
                  <a:pt x="916" y="16"/>
                  <a:pt x="948" y="8"/>
                </a:cubicBezTo>
                <a:cubicBezTo>
                  <a:pt x="980" y="0"/>
                  <a:pt x="1011" y="5"/>
                  <a:pt x="1038" y="15"/>
                </a:cubicBezTo>
                <a:cubicBezTo>
                  <a:pt x="1065" y="25"/>
                  <a:pt x="1080" y="48"/>
                  <a:pt x="1110" y="72"/>
                </a:cubicBezTo>
                <a:cubicBezTo>
                  <a:pt x="1140" y="96"/>
                  <a:pt x="1179" y="127"/>
                  <a:pt x="1218" y="157"/>
                </a:cubicBezTo>
                <a:cubicBezTo>
                  <a:pt x="1257" y="188"/>
                  <a:pt x="1305" y="236"/>
                  <a:pt x="1344" y="257"/>
                </a:cubicBezTo>
                <a:cubicBezTo>
                  <a:pt x="1383" y="279"/>
                  <a:pt x="1413" y="289"/>
                  <a:pt x="1452" y="286"/>
                </a:cubicBezTo>
                <a:cubicBezTo>
                  <a:pt x="1491" y="283"/>
                  <a:pt x="1546" y="259"/>
                  <a:pt x="1578" y="237"/>
                </a:cubicBezTo>
                <a:cubicBezTo>
                  <a:pt x="1610" y="215"/>
                  <a:pt x="1632" y="173"/>
                  <a:pt x="1641" y="157"/>
                </a:cubicBezTo>
                <a:cubicBezTo>
                  <a:pt x="1650" y="141"/>
                  <a:pt x="1633" y="146"/>
                  <a:pt x="1632" y="143"/>
                </a:cubicBezTo>
                <a:cubicBezTo>
                  <a:pt x="1631" y="140"/>
                  <a:pt x="1632" y="138"/>
                  <a:pt x="1632" y="136"/>
                </a:cubicBezTo>
              </a:path>
            </a:pathLst>
          </a:custGeom>
          <a:noFill/>
          <a:ln w="25400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7336" name="任意多边形 567335"/>
          <p:cNvSpPr/>
          <p:nvPr/>
        </p:nvSpPr>
        <p:spPr>
          <a:xfrm>
            <a:off x="5619750" y="2633663"/>
            <a:ext cx="2619375" cy="304800"/>
          </a:xfrm>
          <a:custGeom>
            <a:avLst/>
            <a:gdLst/>
            <a:ahLst/>
            <a:cxnLst/>
            <a:rect l="0" t="0" r="0" b="0"/>
            <a:pathLst>
              <a:path w="1650" h="289">
                <a:moveTo>
                  <a:pt x="0" y="141"/>
                </a:moveTo>
                <a:cubicBezTo>
                  <a:pt x="44" y="93"/>
                  <a:pt x="100" y="47"/>
                  <a:pt x="133" y="27"/>
                </a:cubicBezTo>
                <a:cubicBezTo>
                  <a:pt x="166" y="7"/>
                  <a:pt x="179" y="21"/>
                  <a:pt x="201" y="21"/>
                </a:cubicBezTo>
                <a:cubicBezTo>
                  <a:pt x="223" y="21"/>
                  <a:pt x="233" y="7"/>
                  <a:pt x="266" y="27"/>
                </a:cubicBezTo>
                <a:cubicBezTo>
                  <a:pt x="299" y="47"/>
                  <a:pt x="354" y="103"/>
                  <a:pt x="399" y="141"/>
                </a:cubicBezTo>
                <a:cubicBezTo>
                  <a:pt x="443" y="179"/>
                  <a:pt x="487" y="236"/>
                  <a:pt x="532" y="255"/>
                </a:cubicBezTo>
                <a:cubicBezTo>
                  <a:pt x="576" y="274"/>
                  <a:pt x="620" y="274"/>
                  <a:pt x="665" y="255"/>
                </a:cubicBezTo>
                <a:cubicBezTo>
                  <a:pt x="709" y="236"/>
                  <a:pt x="767" y="172"/>
                  <a:pt x="798" y="141"/>
                </a:cubicBezTo>
                <a:cubicBezTo>
                  <a:pt x="829" y="109"/>
                  <a:pt x="824" y="87"/>
                  <a:pt x="849" y="65"/>
                </a:cubicBezTo>
                <a:cubicBezTo>
                  <a:pt x="874" y="43"/>
                  <a:pt x="916" y="16"/>
                  <a:pt x="948" y="8"/>
                </a:cubicBezTo>
                <a:cubicBezTo>
                  <a:pt x="980" y="0"/>
                  <a:pt x="1011" y="5"/>
                  <a:pt x="1038" y="15"/>
                </a:cubicBezTo>
                <a:cubicBezTo>
                  <a:pt x="1065" y="25"/>
                  <a:pt x="1080" y="48"/>
                  <a:pt x="1110" y="72"/>
                </a:cubicBezTo>
                <a:cubicBezTo>
                  <a:pt x="1140" y="96"/>
                  <a:pt x="1179" y="127"/>
                  <a:pt x="1218" y="157"/>
                </a:cubicBezTo>
                <a:cubicBezTo>
                  <a:pt x="1257" y="188"/>
                  <a:pt x="1305" y="236"/>
                  <a:pt x="1344" y="257"/>
                </a:cubicBezTo>
                <a:cubicBezTo>
                  <a:pt x="1383" y="279"/>
                  <a:pt x="1413" y="289"/>
                  <a:pt x="1452" y="286"/>
                </a:cubicBezTo>
                <a:cubicBezTo>
                  <a:pt x="1491" y="283"/>
                  <a:pt x="1546" y="259"/>
                  <a:pt x="1578" y="237"/>
                </a:cubicBezTo>
                <a:cubicBezTo>
                  <a:pt x="1610" y="215"/>
                  <a:pt x="1632" y="173"/>
                  <a:pt x="1641" y="157"/>
                </a:cubicBezTo>
                <a:cubicBezTo>
                  <a:pt x="1650" y="141"/>
                  <a:pt x="1633" y="146"/>
                  <a:pt x="1632" y="143"/>
                </a:cubicBezTo>
                <a:cubicBezTo>
                  <a:pt x="1631" y="140"/>
                  <a:pt x="1632" y="138"/>
                  <a:pt x="1632" y="136"/>
                </a:cubicBezTo>
              </a:path>
            </a:pathLst>
          </a:custGeom>
          <a:noFill/>
          <a:ln w="25400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7337" name="任意多边形 567336"/>
          <p:cNvSpPr/>
          <p:nvPr/>
        </p:nvSpPr>
        <p:spPr>
          <a:xfrm>
            <a:off x="5562600" y="4492625"/>
            <a:ext cx="2625725" cy="687388"/>
          </a:xfrm>
          <a:custGeom>
            <a:avLst/>
            <a:gdLst/>
            <a:ahLst/>
            <a:cxnLst/>
            <a:rect l="0" t="0" r="0" b="0"/>
            <a:pathLst>
              <a:path w="1654" h="433">
                <a:moveTo>
                  <a:pt x="0" y="223"/>
                </a:moveTo>
                <a:cubicBezTo>
                  <a:pt x="44" y="295"/>
                  <a:pt x="99" y="361"/>
                  <a:pt x="133" y="394"/>
                </a:cubicBezTo>
                <a:cubicBezTo>
                  <a:pt x="167" y="427"/>
                  <a:pt x="182" y="419"/>
                  <a:pt x="204" y="419"/>
                </a:cubicBezTo>
                <a:cubicBezTo>
                  <a:pt x="226" y="419"/>
                  <a:pt x="234" y="427"/>
                  <a:pt x="266" y="394"/>
                </a:cubicBezTo>
                <a:cubicBezTo>
                  <a:pt x="298" y="361"/>
                  <a:pt x="354" y="280"/>
                  <a:pt x="399" y="223"/>
                </a:cubicBezTo>
                <a:cubicBezTo>
                  <a:pt x="444" y="166"/>
                  <a:pt x="493" y="78"/>
                  <a:pt x="537" y="50"/>
                </a:cubicBezTo>
                <a:cubicBezTo>
                  <a:pt x="581" y="22"/>
                  <a:pt x="622" y="24"/>
                  <a:pt x="665" y="53"/>
                </a:cubicBezTo>
                <a:cubicBezTo>
                  <a:pt x="708" y="82"/>
                  <a:pt x="761" y="174"/>
                  <a:pt x="798" y="223"/>
                </a:cubicBezTo>
                <a:cubicBezTo>
                  <a:pt x="835" y="272"/>
                  <a:pt x="863" y="314"/>
                  <a:pt x="888" y="347"/>
                </a:cubicBezTo>
                <a:cubicBezTo>
                  <a:pt x="913" y="380"/>
                  <a:pt x="923" y="411"/>
                  <a:pt x="948" y="422"/>
                </a:cubicBezTo>
                <a:cubicBezTo>
                  <a:pt x="973" y="433"/>
                  <a:pt x="1011" y="427"/>
                  <a:pt x="1038" y="412"/>
                </a:cubicBezTo>
                <a:cubicBezTo>
                  <a:pt x="1065" y="397"/>
                  <a:pt x="1080" y="362"/>
                  <a:pt x="1110" y="326"/>
                </a:cubicBezTo>
                <a:cubicBezTo>
                  <a:pt x="1140" y="290"/>
                  <a:pt x="1179" y="244"/>
                  <a:pt x="1218" y="199"/>
                </a:cubicBezTo>
                <a:cubicBezTo>
                  <a:pt x="1257" y="153"/>
                  <a:pt x="1305" y="81"/>
                  <a:pt x="1344" y="50"/>
                </a:cubicBezTo>
                <a:cubicBezTo>
                  <a:pt x="1383" y="17"/>
                  <a:pt x="1417" y="0"/>
                  <a:pt x="1452" y="6"/>
                </a:cubicBezTo>
                <a:cubicBezTo>
                  <a:pt x="1487" y="12"/>
                  <a:pt x="1522" y="54"/>
                  <a:pt x="1554" y="86"/>
                </a:cubicBezTo>
                <a:cubicBezTo>
                  <a:pt x="1586" y="118"/>
                  <a:pt x="1628" y="177"/>
                  <a:pt x="1641" y="199"/>
                </a:cubicBezTo>
                <a:cubicBezTo>
                  <a:pt x="1654" y="221"/>
                  <a:pt x="1633" y="216"/>
                  <a:pt x="1632" y="220"/>
                </a:cubicBezTo>
                <a:cubicBezTo>
                  <a:pt x="1631" y="225"/>
                  <a:pt x="1632" y="228"/>
                  <a:pt x="1632" y="231"/>
                </a:cubicBezTo>
              </a:path>
            </a:pathLst>
          </a:custGeom>
          <a:noFill/>
          <a:ln w="25400" cap="flat" cmpd="sng">
            <a:solidFill>
              <a:srgbClr val="FF0000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67338" name="组合 567337"/>
          <p:cNvGrpSpPr/>
          <p:nvPr/>
        </p:nvGrpSpPr>
        <p:grpSpPr>
          <a:xfrm>
            <a:off x="5105400" y="5410200"/>
            <a:ext cx="3814763" cy="1033463"/>
            <a:chOff x="3216" y="3408"/>
            <a:chExt cx="2403" cy="651"/>
          </a:xfrm>
        </p:grpSpPr>
        <p:grpSp>
          <p:nvGrpSpPr>
            <p:cNvPr id="567339" name="组合 567338"/>
            <p:cNvGrpSpPr/>
            <p:nvPr/>
          </p:nvGrpSpPr>
          <p:grpSpPr>
            <a:xfrm>
              <a:off x="3216" y="3408"/>
              <a:ext cx="2403" cy="651"/>
              <a:chOff x="3216" y="3408"/>
              <a:chExt cx="2403" cy="651"/>
            </a:xfrm>
          </p:grpSpPr>
          <p:sp>
            <p:nvSpPr>
              <p:cNvPr id="567340" name="直接连接符 567339"/>
              <p:cNvSpPr/>
              <p:nvPr/>
            </p:nvSpPr>
            <p:spPr>
              <a:xfrm>
                <a:off x="3504" y="3792"/>
                <a:ext cx="193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41" name="直接连接符 567340"/>
              <p:cNvSpPr/>
              <p:nvPr/>
            </p:nvSpPr>
            <p:spPr>
              <a:xfrm flipH="1" flipV="1">
                <a:off x="3507" y="3456"/>
                <a:ext cx="6" cy="60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7342" name="文本框 567341"/>
              <p:cNvSpPr txBox="1"/>
              <p:nvPr/>
            </p:nvSpPr>
            <p:spPr>
              <a:xfrm>
                <a:off x="3216" y="3408"/>
                <a:ext cx="384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 err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v</a:t>
                </a:r>
                <a:r>
                  <a:rPr lang="en-US" altLang="zh-CN" sz="2000" b="1" baseline="-25000" err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o</a:t>
                </a:r>
                <a:endParaRPr lang="en-US" altLang="zh-CN" sz="2000" b="1" baseline="-2500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567343" name="文本框 567342"/>
              <p:cNvSpPr txBox="1"/>
              <p:nvPr/>
            </p:nvSpPr>
            <p:spPr>
              <a:xfrm>
                <a:off x="5424" y="3696"/>
                <a:ext cx="19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anose="02020603050405020304" pitchFamily="18" charset="0"/>
                    <a:ea typeface="楷体" panose="02010609060101010101" pitchFamily="49" charset="-122"/>
                  </a:rPr>
                  <a:t>t</a:t>
                </a:r>
              </a:p>
            </p:txBody>
          </p:sp>
        </p:grpSp>
        <p:sp>
          <p:nvSpPr>
            <p:cNvPr id="567344" name="任意多边形 567343"/>
            <p:cNvSpPr/>
            <p:nvPr/>
          </p:nvSpPr>
          <p:spPr>
            <a:xfrm>
              <a:off x="3537" y="3574"/>
              <a:ext cx="1654" cy="433"/>
            </a:xfrm>
            <a:custGeom>
              <a:avLst/>
              <a:gdLst/>
              <a:ahLst/>
              <a:cxnLst/>
              <a:rect l="0" t="0" r="0" b="0"/>
              <a:pathLst>
                <a:path w="1654" h="433">
                  <a:moveTo>
                    <a:pt x="0" y="223"/>
                  </a:moveTo>
                  <a:cubicBezTo>
                    <a:pt x="44" y="295"/>
                    <a:pt x="99" y="361"/>
                    <a:pt x="133" y="394"/>
                  </a:cubicBezTo>
                  <a:cubicBezTo>
                    <a:pt x="167" y="427"/>
                    <a:pt x="182" y="419"/>
                    <a:pt x="204" y="419"/>
                  </a:cubicBezTo>
                  <a:cubicBezTo>
                    <a:pt x="226" y="419"/>
                    <a:pt x="234" y="427"/>
                    <a:pt x="266" y="394"/>
                  </a:cubicBezTo>
                  <a:cubicBezTo>
                    <a:pt x="298" y="361"/>
                    <a:pt x="354" y="280"/>
                    <a:pt x="399" y="223"/>
                  </a:cubicBezTo>
                  <a:cubicBezTo>
                    <a:pt x="444" y="166"/>
                    <a:pt x="493" y="78"/>
                    <a:pt x="537" y="50"/>
                  </a:cubicBezTo>
                  <a:cubicBezTo>
                    <a:pt x="581" y="22"/>
                    <a:pt x="622" y="24"/>
                    <a:pt x="665" y="53"/>
                  </a:cubicBezTo>
                  <a:cubicBezTo>
                    <a:pt x="708" y="82"/>
                    <a:pt x="761" y="174"/>
                    <a:pt x="798" y="223"/>
                  </a:cubicBezTo>
                  <a:cubicBezTo>
                    <a:pt x="835" y="272"/>
                    <a:pt x="863" y="314"/>
                    <a:pt x="888" y="347"/>
                  </a:cubicBezTo>
                  <a:cubicBezTo>
                    <a:pt x="913" y="380"/>
                    <a:pt x="923" y="411"/>
                    <a:pt x="948" y="422"/>
                  </a:cubicBezTo>
                  <a:cubicBezTo>
                    <a:pt x="973" y="433"/>
                    <a:pt x="1011" y="427"/>
                    <a:pt x="1038" y="412"/>
                  </a:cubicBezTo>
                  <a:cubicBezTo>
                    <a:pt x="1065" y="397"/>
                    <a:pt x="1080" y="362"/>
                    <a:pt x="1110" y="326"/>
                  </a:cubicBezTo>
                  <a:cubicBezTo>
                    <a:pt x="1140" y="290"/>
                    <a:pt x="1179" y="244"/>
                    <a:pt x="1218" y="199"/>
                  </a:cubicBezTo>
                  <a:cubicBezTo>
                    <a:pt x="1257" y="153"/>
                    <a:pt x="1305" y="81"/>
                    <a:pt x="1344" y="50"/>
                  </a:cubicBezTo>
                  <a:cubicBezTo>
                    <a:pt x="1383" y="17"/>
                    <a:pt x="1417" y="0"/>
                    <a:pt x="1452" y="6"/>
                  </a:cubicBezTo>
                  <a:cubicBezTo>
                    <a:pt x="1487" y="12"/>
                    <a:pt x="1522" y="54"/>
                    <a:pt x="1554" y="86"/>
                  </a:cubicBezTo>
                  <a:cubicBezTo>
                    <a:pt x="1586" y="118"/>
                    <a:pt x="1628" y="177"/>
                    <a:pt x="1641" y="199"/>
                  </a:cubicBezTo>
                  <a:cubicBezTo>
                    <a:pt x="1654" y="221"/>
                    <a:pt x="1633" y="216"/>
                    <a:pt x="1632" y="220"/>
                  </a:cubicBezTo>
                  <a:cubicBezTo>
                    <a:pt x="1631" y="225"/>
                    <a:pt x="1632" y="228"/>
                    <a:pt x="1632" y="231"/>
                  </a:cubicBezTo>
                </a:path>
              </a:pathLst>
            </a:custGeom>
            <a:noFill/>
            <a:ln w="25400" cap="flat" cmpd="sng">
              <a:solidFill>
                <a:srgbClr val="FF0000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7345" name="文本框 567344"/>
          <p:cNvSpPr txBox="1"/>
          <p:nvPr/>
        </p:nvSpPr>
        <p:spPr>
          <a:xfrm>
            <a:off x="5067300" y="1628775"/>
            <a:ext cx="5842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i="1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BE</a:t>
            </a:r>
          </a:p>
        </p:txBody>
      </p:sp>
      <p:sp>
        <p:nvSpPr>
          <p:cNvPr id="567346" name="文本框 567345"/>
          <p:cNvSpPr txBox="1"/>
          <p:nvPr/>
        </p:nvSpPr>
        <p:spPr>
          <a:xfrm>
            <a:off x="5246688" y="2573338"/>
            <a:ext cx="450850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67347" name="文本框 567346"/>
          <p:cNvSpPr txBox="1"/>
          <p:nvPr/>
        </p:nvSpPr>
        <p:spPr>
          <a:xfrm>
            <a:off x="5248275" y="3563938"/>
            <a:ext cx="4937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67348" name="文本框 567347"/>
          <p:cNvSpPr txBox="1"/>
          <p:nvPr/>
        </p:nvSpPr>
        <p:spPr>
          <a:xfrm>
            <a:off x="5113338" y="4643438"/>
            <a:ext cx="584200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i="1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8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CE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7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7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8" grpId="0" animBg="1"/>
      <p:bldP spid="567300" grpId="0"/>
      <p:bldP spid="56730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58013" y="1403350"/>
            <a:ext cx="800100" cy="622300"/>
            <a:chOff x="2880" y="652"/>
            <a:chExt cx="504" cy="392"/>
          </a:xfrm>
        </p:grpSpPr>
        <p:sp>
          <p:nvSpPr>
            <p:cNvPr id="66562" name="Text Box 3"/>
            <p:cNvSpPr txBox="1"/>
            <p:nvPr/>
          </p:nvSpPr>
          <p:spPr>
            <a:xfrm>
              <a:off x="2892" y="652"/>
              <a:ext cx="49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6563" name="Line 4"/>
            <p:cNvSpPr/>
            <p:nvPr/>
          </p:nvSpPr>
          <p:spPr>
            <a:xfrm flipH="1">
              <a:off x="2880" y="1044"/>
              <a:ext cx="46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570373" name="Text Box 5"/>
          <p:cNvSpPr txBox="1"/>
          <p:nvPr/>
        </p:nvSpPr>
        <p:spPr>
          <a:xfrm>
            <a:off x="5786438" y="4959350"/>
            <a:ext cx="1485900" cy="5794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其中：</a:t>
            </a:r>
          </a:p>
        </p:txBody>
      </p:sp>
      <p:graphicFrame>
        <p:nvGraphicFramePr>
          <p:cNvPr id="570374" name="Object 6"/>
          <p:cNvGraphicFramePr/>
          <p:nvPr/>
        </p:nvGraphicFramePr>
        <p:xfrm>
          <a:off x="5845175" y="5661025"/>
          <a:ext cx="18732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r:id="rId3" imgW="799465" imgH="228600" progId="Equation.DSMT4">
                  <p:embed/>
                </p:oleObj>
              </mc:Choice>
              <mc:Fallback>
                <p:oleObj r:id="rId3" imgW="799465" imgH="2286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45175" y="5661025"/>
                        <a:ext cx="1873250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/>
          <p:cNvGrpSpPr/>
          <p:nvPr/>
        </p:nvGrpSpPr>
        <p:grpSpPr>
          <a:xfrm>
            <a:off x="1066800" y="4953000"/>
            <a:ext cx="3798888" cy="1311275"/>
            <a:chOff x="372" y="3168"/>
            <a:chExt cx="2100" cy="826"/>
          </a:xfrm>
        </p:grpSpPr>
        <p:sp>
          <p:nvSpPr>
            <p:cNvPr id="66567" name="Text Box 8"/>
            <p:cNvSpPr txBox="1"/>
            <p:nvPr/>
          </p:nvSpPr>
          <p:spPr>
            <a:xfrm>
              <a:off x="372" y="3168"/>
              <a:ext cx="2100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= - </a:t>
              </a: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32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//</a:t>
              </a:r>
              <a:r>
                <a:rPr lang="en-US" altLang="zh-CN" sz="32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    </a:t>
              </a: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= - </a:t>
              </a: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32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</a:p>
          </p:txBody>
        </p:sp>
        <p:sp>
          <p:nvSpPr>
            <p:cNvPr id="66568" name="Line 9"/>
            <p:cNvSpPr/>
            <p:nvPr/>
          </p:nvSpPr>
          <p:spPr>
            <a:xfrm flipH="1">
              <a:off x="1500" y="3660"/>
              <a:ext cx="52" cy="6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pic>
        <p:nvPicPr>
          <p:cNvPr id="66569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013" y="2079625"/>
            <a:ext cx="4217987" cy="1989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70" name="Text Box 11"/>
          <p:cNvSpPr txBox="1"/>
          <p:nvPr/>
        </p:nvSpPr>
        <p:spPr>
          <a:xfrm>
            <a:off x="228600" y="228600"/>
            <a:ext cx="455453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交流负载线</a:t>
            </a:r>
          </a:p>
        </p:txBody>
      </p:sp>
      <p:pic>
        <p:nvPicPr>
          <p:cNvPr id="66571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63" y="1449388"/>
            <a:ext cx="3581400" cy="2678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0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2"/>
          <p:cNvSpPr txBox="1"/>
          <p:nvPr/>
        </p:nvSpPr>
        <p:spPr>
          <a:xfrm>
            <a:off x="457200" y="304800"/>
            <a:ext cx="5734050" cy="5794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交流量</a:t>
            </a:r>
            <a:r>
              <a:rPr lang="en-US" altLang="zh-CN" sz="3200" b="1" i="1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3200" b="1" baseline="-25000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3200" b="1" i="1" err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3200" b="1" baseline="-25000" err="1">
                <a:latin typeface="Times New Roman" panose="02020603050405020304" pitchFamily="18" charset="0"/>
                <a:ea typeface="楷体_GB2312" pitchFamily="49" charset="-122"/>
              </a:rPr>
              <a:t>ce</a:t>
            </a:r>
            <a:r>
              <a:rPr lang="zh-CN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有如下关系：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514350" y="2663825"/>
            <a:ext cx="6394451" cy="595313"/>
            <a:chOff x="324" y="1678"/>
            <a:chExt cx="4028" cy="375"/>
          </a:xfrm>
        </p:grpSpPr>
        <p:sp>
          <p:nvSpPr>
            <p:cNvPr id="67587" name="Text Box 4"/>
            <p:cNvSpPr txBox="1"/>
            <p:nvPr/>
          </p:nvSpPr>
          <p:spPr>
            <a:xfrm>
              <a:off x="324" y="1678"/>
              <a:ext cx="4028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lIns="90000" tIns="46800" rIns="90000" bIns="46800"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即：交流负载线的斜率为：</a:t>
              </a:r>
              <a:r>
                <a:rPr lang="en-US" altLang="zh-CN" sz="3200" b="1">
                  <a:ea typeface="楷体_GB2312" pitchFamily="49" charset="-122"/>
                  <a:sym typeface="+mn-ea"/>
                </a:rPr>
                <a:t>-1/ </a:t>
              </a:r>
              <a:r>
                <a:rPr lang="en-US" altLang="zh-CN" sz="3200" b="1" i="1">
                  <a:ea typeface="楷体_GB2312" pitchFamily="49" charset="-122"/>
                  <a:sym typeface="+mn-ea"/>
                </a:rPr>
                <a:t>R</a:t>
              </a:r>
              <a:r>
                <a:rPr lang="en-US" altLang="zh-CN" sz="3200" b="1" baseline="-25000">
                  <a:ea typeface="楷体_GB2312" pitchFamily="49" charset="-122"/>
                  <a:sym typeface="+mn-ea"/>
                </a:rPr>
                <a:t>L</a:t>
              </a:r>
              <a:r>
                <a:rPr lang="en-US" altLang="zh-CN" sz="32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’</a:t>
              </a:r>
              <a:endParaRPr lang="en-US" altLang="zh-CN" sz="3200" b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graphicFrame>
          <p:nvGraphicFramePr>
            <p:cNvPr id="67588" name="Object 5"/>
            <p:cNvGraphicFramePr/>
            <p:nvPr/>
          </p:nvGraphicFramePr>
          <p:xfrm>
            <a:off x="3656" y="1745"/>
            <a:ext cx="16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4" r:id="rId3" imgW="114300" imgH="215900" progId="Equation.3">
                    <p:embed/>
                  </p:oleObj>
                </mc:Choice>
                <mc:Fallback>
                  <p:oleObj r:id="rId3" imgW="114300" imgH="21590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56" y="1745"/>
                          <a:ext cx="160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/>
          <p:nvPr/>
        </p:nvGrpSpPr>
        <p:grpSpPr>
          <a:xfrm>
            <a:off x="1371600" y="990600"/>
            <a:ext cx="5181600" cy="579438"/>
            <a:chOff x="864" y="624"/>
            <a:chExt cx="3264" cy="365"/>
          </a:xfrm>
        </p:grpSpPr>
        <p:sp>
          <p:nvSpPr>
            <p:cNvPr id="67590" name="Text Box 7"/>
            <p:cNvSpPr txBox="1"/>
            <p:nvPr/>
          </p:nvSpPr>
          <p:spPr>
            <a:xfrm>
              <a:off x="864" y="624"/>
              <a:ext cx="326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=-</a:t>
              </a: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32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//</a:t>
              </a:r>
              <a:r>
                <a:rPr lang="en-US" altLang="zh-CN" sz="32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= -</a:t>
              </a: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32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</a:p>
          </p:txBody>
        </p:sp>
        <p:sp>
          <p:nvSpPr>
            <p:cNvPr id="67591" name="Line 8"/>
            <p:cNvSpPr/>
            <p:nvPr/>
          </p:nvSpPr>
          <p:spPr>
            <a:xfrm flipH="1">
              <a:off x="3552" y="672"/>
              <a:ext cx="69" cy="6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" name="Group 9"/>
          <p:cNvGrpSpPr/>
          <p:nvPr/>
        </p:nvGrpSpPr>
        <p:grpSpPr>
          <a:xfrm>
            <a:off x="1371600" y="1905000"/>
            <a:ext cx="4524375" cy="579438"/>
            <a:chOff x="864" y="1200"/>
            <a:chExt cx="2850" cy="365"/>
          </a:xfrm>
        </p:grpSpPr>
        <p:sp>
          <p:nvSpPr>
            <p:cNvPr id="67593" name="Text Box 10"/>
            <p:cNvSpPr txBox="1"/>
            <p:nvPr/>
          </p:nvSpPr>
          <p:spPr>
            <a:xfrm>
              <a:off x="864" y="1200"/>
              <a:ext cx="285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或</a:t>
              </a: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-1/ </a:t>
              </a:r>
              <a:r>
                <a:rPr lang="en-US" altLang="zh-CN" sz="32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r>
                <a:rPr lang="zh-CN" altLang="en-US" sz="3200" b="1" dirty="0">
                  <a:latin typeface="Times New Roman" panose="02020603050405020304" pitchFamily="18" charset="0"/>
                  <a:ea typeface="楷体_GB2312" pitchFamily="49" charset="-122"/>
                </a:rPr>
                <a:t>） </a:t>
              </a: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3200" b="1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7594" name="Line 11"/>
            <p:cNvSpPr/>
            <p:nvPr/>
          </p:nvSpPr>
          <p:spPr>
            <a:xfrm flipH="1">
              <a:off x="2337" y="1200"/>
              <a:ext cx="64" cy="8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71404" name="Rectangle 12"/>
          <p:cNvSpPr/>
          <p:nvPr/>
        </p:nvSpPr>
        <p:spPr>
          <a:xfrm>
            <a:off x="609600" y="3733800"/>
            <a:ext cx="72390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marL="342900" indent="-342900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交流负载线的作法：</a:t>
            </a:r>
          </a:p>
          <a:p>
            <a:pPr marL="342900" indent="-342900" algn="just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①斜 率为</a:t>
            </a:r>
            <a:r>
              <a:rPr lang="en-US" altLang="zh-CN" sz="32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1/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R'</a:t>
            </a:r>
            <a:r>
              <a:rPr lang="en-US" altLang="zh-CN" sz="32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。（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r>
              <a:rPr lang="en-US" altLang="zh-CN" sz="32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3200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∥</a:t>
            </a: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571405" name="Text Box 13"/>
          <p:cNvSpPr txBox="1"/>
          <p:nvPr/>
        </p:nvSpPr>
        <p:spPr>
          <a:xfrm>
            <a:off x="609600" y="5181600"/>
            <a:ext cx="6205538" cy="628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经过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71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71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300"/>
                                        <p:tgtEl>
                                          <p:spTgt spid="57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404" grpId="0" build="p"/>
      <p:bldP spid="57140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ext Box 2"/>
          <p:cNvSpPr txBox="1"/>
          <p:nvPr/>
        </p:nvSpPr>
        <p:spPr>
          <a:xfrm>
            <a:off x="304800" y="258763"/>
            <a:ext cx="3733800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交流负载线的作法：</a:t>
            </a:r>
          </a:p>
        </p:txBody>
      </p:sp>
      <p:sp>
        <p:nvSpPr>
          <p:cNvPr id="68610" name="Text Box 4"/>
          <p:cNvSpPr txBox="1"/>
          <p:nvPr/>
        </p:nvSpPr>
        <p:spPr>
          <a:xfrm>
            <a:off x="3097213" y="914400"/>
            <a:ext cx="2803525" cy="5794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i="1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3200" b="1" baseline="-25000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lang="en-US" altLang="zh-CN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8611" name="Text Box 5"/>
          <p:cNvSpPr txBox="1"/>
          <p:nvPr/>
        </p:nvSpPr>
        <p:spPr>
          <a:xfrm>
            <a:off x="7043738" y="3878263"/>
            <a:ext cx="665162" cy="579437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3200" b="1" baseline="-25000" err="1">
                <a:latin typeface="Times New Roman" panose="02020603050405020304" pitchFamily="18" charset="0"/>
                <a:ea typeface="楷体_GB2312" pitchFamily="49" charset="-122"/>
              </a:rPr>
              <a:t>CE</a:t>
            </a:r>
            <a:endParaRPr lang="en-US" altLang="zh-CN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68612" name="Group 6"/>
          <p:cNvGrpSpPr/>
          <p:nvPr/>
        </p:nvGrpSpPr>
        <p:grpSpPr>
          <a:xfrm>
            <a:off x="2973388" y="1300163"/>
            <a:ext cx="3844925" cy="3009900"/>
            <a:chOff x="3180" y="1585"/>
            <a:chExt cx="1584" cy="1896"/>
          </a:xfrm>
        </p:grpSpPr>
        <p:sp>
          <p:nvSpPr>
            <p:cNvPr id="68613" name="Line 7"/>
            <p:cNvSpPr/>
            <p:nvPr/>
          </p:nvSpPr>
          <p:spPr>
            <a:xfrm flipV="1">
              <a:off x="3180" y="3481"/>
              <a:ext cx="15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</p:sp>
        <p:grpSp>
          <p:nvGrpSpPr>
            <p:cNvPr id="68614" name="Group 8"/>
            <p:cNvGrpSpPr/>
            <p:nvPr/>
          </p:nvGrpSpPr>
          <p:grpSpPr>
            <a:xfrm>
              <a:off x="3181" y="1585"/>
              <a:ext cx="1288" cy="1896"/>
              <a:chOff x="3181" y="1753"/>
              <a:chExt cx="1288" cy="1896"/>
            </a:xfrm>
          </p:grpSpPr>
          <p:sp>
            <p:nvSpPr>
              <p:cNvPr id="68615" name="Line 9"/>
              <p:cNvSpPr/>
              <p:nvPr/>
            </p:nvSpPr>
            <p:spPr>
              <a:xfrm flipH="1" flipV="1">
                <a:off x="3192" y="1753"/>
                <a:ext cx="0" cy="189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lg"/>
              </a:ln>
            </p:spPr>
          </p:sp>
          <p:grpSp>
            <p:nvGrpSpPr>
              <p:cNvPr id="68616" name="Group 10"/>
              <p:cNvGrpSpPr/>
              <p:nvPr/>
            </p:nvGrpSpPr>
            <p:grpSpPr>
              <a:xfrm>
                <a:off x="3181" y="2028"/>
                <a:ext cx="1288" cy="1609"/>
                <a:chOff x="3181" y="1260"/>
                <a:chExt cx="2387" cy="2377"/>
              </a:xfrm>
            </p:grpSpPr>
            <p:sp>
              <p:nvSpPr>
                <p:cNvPr id="68617" name="Freeform 11"/>
                <p:cNvSpPr/>
                <p:nvPr/>
              </p:nvSpPr>
              <p:spPr>
                <a:xfrm>
                  <a:off x="3181" y="3505"/>
                  <a:ext cx="2387" cy="131"/>
                </a:xfrm>
                <a:custGeom>
                  <a:avLst/>
                  <a:gdLst/>
                  <a:ahLst/>
                  <a:cxnLst>
                    <a:cxn ang="0">
                      <a:pos x="19" y="131"/>
                    </a:cxn>
                    <a:cxn ang="0">
                      <a:pos x="69" y="95"/>
                    </a:cxn>
                    <a:cxn ang="0">
                      <a:pos x="431" y="24"/>
                    </a:cxn>
                    <a:cxn ang="0">
                      <a:pos x="2387" y="0"/>
                    </a:cxn>
                  </a:cxnLst>
                  <a:rect l="0" t="0" r="0" b="0"/>
                  <a:pathLst>
                    <a:path w="2387" h="131">
                      <a:moveTo>
                        <a:pt x="19" y="131"/>
                      </a:moveTo>
                      <a:cubicBezTo>
                        <a:pt x="27" y="125"/>
                        <a:pt x="0" y="113"/>
                        <a:pt x="69" y="95"/>
                      </a:cubicBezTo>
                      <a:cubicBezTo>
                        <a:pt x="138" y="77"/>
                        <a:pt x="45" y="40"/>
                        <a:pt x="431" y="24"/>
                      </a:cubicBezTo>
                      <a:cubicBezTo>
                        <a:pt x="817" y="8"/>
                        <a:pt x="1980" y="5"/>
                        <a:pt x="2387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18" name="Freeform 12"/>
                <p:cNvSpPr/>
                <p:nvPr/>
              </p:nvSpPr>
              <p:spPr>
                <a:xfrm>
                  <a:off x="3200" y="3133"/>
                  <a:ext cx="2308" cy="504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15" y="314"/>
                    </a:cxn>
                    <a:cxn ang="0">
                      <a:pos x="52" y="276"/>
                    </a:cxn>
                    <a:cxn ang="0">
                      <a:pos x="172" y="156"/>
                    </a:cxn>
                    <a:cxn ang="0">
                      <a:pos x="340" y="72"/>
                    </a:cxn>
                    <a:cxn ang="0">
                      <a:pos x="748" y="48"/>
                    </a:cxn>
                    <a:cxn ang="0">
                      <a:pos x="2308" y="0"/>
                    </a:cxn>
                  </a:cxnLst>
                  <a:rect l="0" t="0" r="0" b="0"/>
                  <a:pathLst>
                    <a:path w="2308" h="504">
                      <a:moveTo>
                        <a:pt x="0" y="504"/>
                      </a:moveTo>
                      <a:cubicBezTo>
                        <a:pt x="3" y="472"/>
                        <a:pt x="6" y="352"/>
                        <a:pt x="15" y="314"/>
                      </a:cubicBezTo>
                      <a:cubicBezTo>
                        <a:pt x="24" y="276"/>
                        <a:pt x="26" y="302"/>
                        <a:pt x="52" y="276"/>
                      </a:cubicBezTo>
                      <a:cubicBezTo>
                        <a:pt x="78" y="250"/>
                        <a:pt x="124" y="190"/>
                        <a:pt x="172" y="156"/>
                      </a:cubicBezTo>
                      <a:cubicBezTo>
                        <a:pt x="220" y="122"/>
                        <a:pt x="244" y="90"/>
                        <a:pt x="340" y="72"/>
                      </a:cubicBezTo>
                      <a:cubicBezTo>
                        <a:pt x="436" y="54"/>
                        <a:pt x="420" y="60"/>
                        <a:pt x="748" y="48"/>
                      </a:cubicBezTo>
                      <a:cubicBezTo>
                        <a:pt x="1076" y="36"/>
                        <a:pt x="1983" y="10"/>
                        <a:pt x="2308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19" name="Freeform 13"/>
                <p:cNvSpPr/>
                <p:nvPr/>
              </p:nvSpPr>
              <p:spPr>
                <a:xfrm>
                  <a:off x="3197" y="2689"/>
                  <a:ext cx="2299" cy="948"/>
                </a:xfrm>
                <a:custGeom>
                  <a:avLst/>
                  <a:gdLst/>
                  <a:ahLst/>
                  <a:cxnLst>
                    <a:cxn ang="0">
                      <a:pos x="0" y="948"/>
                    </a:cxn>
                    <a:cxn ang="0">
                      <a:pos x="55" y="408"/>
                    </a:cxn>
                    <a:cxn ang="0">
                      <a:pos x="211" y="156"/>
                    </a:cxn>
                    <a:cxn ang="0">
                      <a:pos x="413" y="69"/>
                    </a:cxn>
                    <a:cxn ang="0">
                      <a:pos x="1207" y="12"/>
                    </a:cxn>
                    <a:cxn ang="0">
                      <a:pos x="2299" y="0"/>
                    </a:cxn>
                  </a:cxnLst>
                  <a:rect l="0" t="0" r="0" b="0"/>
                  <a:pathLst>
                    <a:path w="2299" h="948">
                      <a:moveTo>
                        <a:pt x="0" y="948"/>
                      </a:moveTo>
                      <a:cubicBezTo>
                        <a:pt x="9" y="858"/>
                        <a:pt x="20" y="540"/>
                        <a:pt x="55" y="408"/>
                      </a:cubicBezTo>
                      <a:cubicBezTo>
                        <a:pt x="90" y="276"/>
                        <a:pt x="151" y="212"/>
                        <a:pt x="211" y="156"/>
                      </a:cubicBezTo>
                      <a:cubicBezTo>
                        <a:pt x="271" y="100"/>
                        <a:pt x="247" y="93"/>
                        <a:pt x="413" y="69"/>
                      </a:cubicBezTo>
                      <a:cubicBezTo>
                        <a:pt x="579" y="45"/>
                        <a:pt x="893" y="23"/>
                        <a:pt x="1207" y="12"/>
                      </a:cubicBezTo>
                      <a:cubicBezTo>
                        <a:pt x="1521" y="1"/>
                        <a:pt x="2072" y="2"/>
                        <a:pt x="2299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20" name="Freeform 14"/>
                <p:cNvSpPr/>
                <p:nvPr/>
              </p:nvSpPr>
              <p:spPr>
                <a:xfrm>
                  <a:off x="3200" y="2221"/>
                  <a:ext cx="2260" cy="1380"/>
                </a:xfrm>
                <a:custGeom>
                  <a:avLst/>
                  <a:gdLst/>
                  <a:ahLst/>
                  <a:cxnLst>
                    <a:cxn ang="0">
                      <a:pos x="0" y="1380"/>
                    </a:cxn>
                    <a:cxn ang="0">
                      <a:pos x="73" y="525"/>
                    </a:cxn>
                    <a:cxn ang="0">
                      <a:pos x="155" y="157"/>
                    </a:cxn>
                    <a:cxn ang="0">
                      <a:pos x="483" y="50"/>
                    </a:cxn>
                    <a:cxn ang="0">
                      <a:pos x="2260" y="0"/>
                    </a:cxn>
                  </a:cxnLst>
                  <a:rect l="0" t="0" r="0" b="0"/>
                  <a:pathLst>
                    <a:path w="2260" h="1380">
                      <a:moveTo>
                        <a:pt x="0" y="1380"/>
                      </a:moveTo>
                      <a:cubicBezTo>
                        <a:pt x="12" y="1237"/>
                        <a:pt x="48" y="729"/>
                        <a:pt x="73" y="525"/>
                      </a:cubicBezTo>
                      <a:cubicBezTo>
                        <a:pt x="99" y="321"/>
                        <a:pt x="86" y="236"/>
                        <a:pt x="155" y="157"/>
                      </a:cubicBezTo>
                      <a:cubicBezTo>
                        <a:pt x="223" y="77"/>
                        <a:pt x="132" y="76"/>
                        <a:pt x="483" y="50"/>
                      </a:cubicBezTo>
                      <a:cubicBezTo>
                        <a:pt x="834" y="24"/>
                        <a:pt x="1890" y="10"/>
                        <a:pt x="2260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21" name="Freeform 15"/>
                <p:cNvSpPr/>
                <p:nvPr/>
              </p:nvSpPr>
              <p:spPr>
                <a:xfrm>
                  <a:off x="3200" y="1813"/>
                  <a:ext cx="2224" cy="1788"/>
                </a:xfrm>
                <a:custGeom>
                  <a:avLst/>
                  <a:gdLst/>
                  <a:ahLst/>
                  <a:cxnLst>
                    <a:cxn ang="0">
                      <a:pos x="0" y="1788"/>
                    </a:cxn>
                    <a:cxn ang="0">
                      <a:pos x="89" y="754"/>
                    </a:cxn>
                    <a:cxn ang="0">
                      <a:pos x="112" y="312"/>
                    </a:cxn>
                    <a:cxn ang="0">
                      <a:pos x="209" y="125"/>
                    </a:cxn>
                    <a:cxn ang="0">
                      <a:pos x="640" y="36"/>
                    </a:cxn>
                    <a:cxn ang="0">
                      <a:pos x="2224" y="0"/>
                    </a:cxn>
                  </a:cxnLst>
                  <a:rect l="0" t="0" r="0" b="0"/>
                  <a:pathLst>
                    <a:path w="2224" h="1788">
                      <a:moveTo>
                        <a:pt x="0" y="1788"/>
                      </a:moveTo>
                      <a:cubicBezTo>
                        <a:pt x="15" y="1616"/>
                        <a:pt x="70" y="1000"/>
                        <a:pt x="89" y="754"/>
                      </a:cubicBezTo>
                      <a:cubicBezTo>
                        <a:pt x="108" y="508"/>
                        <a:pt x="92" y="417"/>
                        <a:pt x="112" y="312"/>
                      </a:cubicBezTo>
                      <a:cubicBezTo>
                        <a:pt x="132" y="207"/>
                        <a:pt x="121" y="171"/>
                        <a:pt x="209" y="125"/>
                      </a:cubicBezTo>
                      <a:cubicBezTo>
                        <a:pt x="297" y="79"/>
                        <a:pt x="304" y="57"/>
                        <a:pt x="640" y="36"/>
                      </a:cubicBezTo>
                      <a:cubicBezTo>
                        <a:pt x="976" y="15"/>
                        <a:pt x="1894" y="8"/>
                        <a:pt x="2224" y="0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22" name="Freeform 16"/>
                <p:cNvSpPr/>
                <p:nvPr/>
              </p:nvSpPr>
              <p:spPr>
                <a:xfrm>
                  <a:off x="3200" y="1260"/>
                  <a:ext cx="2212" cy="2377"/>
                </a:xfrm>
                <a:custGeom>
                  <a:avLst/>
                  <a:gdLst/>
                  <a:ahLst/>
                  <a:cxnLst>
                    <a:cxn ang="0">
                      <a:pos x="0" y="2377"/>
                    </a:cxn>
                    <a:cxn ang="0">
                      <a:pos x="93" y="1248"/>
                    </a:cxn>
                    <a:cxn ang="0">
                      <a:pos x="186" y="369"/>
                    </a:cxn>
                    <a:cxn ang="0">
                      <a:pos x="532" y="61"/>
                    </a:cxn>
                    <a:cxn ang="0">
                      <a:pos x="2212" y="1"/>
                    </a:cxn>
                  </a:cxnLst>
                  <a:rect l="0" t="0" r="0" b="0"/>
                  <a:pathLst>
                    <a:path w="2212" h="2377">
                      <a:moveTo>
                        <a:pt x="0" y="2377"/>
                      </a:moveTo>
                      <a:cubicBezTo>
                        <a:pt x="15" y="2189"/>
                        <a:pt x="62" y="1583"/>
                        <a:pt x="93" y="1248"/>
                      </a:cubicBezTo>
                      <a:cubicBezTo>
                        <a:pt x="124" y="914"/>
                        <a:pt x="113" y="567"/>
                        <a:pt x="186" y="369"/>
                      </a:cubicBezTo>
                      <a:cubicBezTo>
                        <a:pt x="259" y="171"/>
                        <a:pt x="194" y="122"/>
                        <a:pt x="532" y="61"/>
                      </a:cubicBezTo>
                      <a:cubicBezTo>
                        <a:pt x="870" y="0"/>
                        <a:pt x="1862" y="13"/>
                        <a:pt x="2212" y="1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aphicFrame>
        <p:nvGraphicFramePr>
          <p:cNvPr id="68623" name="Object 21"/>
          <p:cNvGraphicFramePr/>
          <p:nvPr/>
        </p:nvGraphicFramePr>
        <p:xfrm>
          <a:off x="2178050" y="1365250"/>
          <a:ext cx="5969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r:id="rId3" imgW="254000" imgH="443865" progId="Equation.DSMT4">
                  <p:embed/>
                </p:oleObj>
              </mc:Choice>
              <mc:Fallback>
                <p:oleObj r:id="rId3" imgW="254000" imgH="443865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8050" y="1365250"/>
                        <a:ext cx="596900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4" name="Line 22"/>
          <p:cNvSpPr/>
          <p:nvPr/>
        </p:nvSpPr>
        <p:spPr>
          <a:xfrm>
            <a:off x="2840038" y="1698625"/>
            <a:ext cx="2114550" cy="28194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68625" name="Group 23"/>
          <p:cNvGrpSpPr/>
          <p:nvPr/>
        </p:nvGrpSpPr>
        <p:grpSpPr>
          <a:xfrm>
            <a:off x="3906838" y="2689225"/>
            <a:ext cx="838200" cy="612775"/>
            <a:chOff x="2328" y="1678"/>
            <a:chExt cx="528" cy="386"/>
          </a:xfrm>
        </p:grpSpPr>
        <p:sp>
          <p:nvSpPr>
            <p:cNvPr id="68626" name="Oval 24"/>
            <p:cNvSpPr/>
            <p:nvPr/>
          </p:nvSpPr>
          <p:spPr>
            <a:xfrm>
              <a:off x="2376" y="1992"/>
              <a:ext cx="84" cy="72"/>
            </a:xfrm>
            <a:prstGeom prst="ellipse">
              <a:avLst/>
            </a:prstGeom>
            <a:solidFill>
              <a:srgbClr val="FF3300"/>
            </a:solidFill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27" name="Text Box 25"/>
            <p:cNvSpPr txBox="1"/>
            <p:nvPr/>
          </p:nvSpPr>
          <p:spPr>
            <a:xfrm>
              <a:off x="2328" y="1678"/>
              <a:ext cx="528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68628" name="Text Box 26"/>
          <p:cNvSpPr txBox="1"/>
          <p:nvPr/>
        </p:nvSpPr>
        <p:spPr>
          <a:xfrm>
            <a:off x="4859338" y="2913063"/>
            <a:ext cx="800100" cy="57943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3200" b="1" baseline="-2500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lang="en-US" altLang="zh-CN" sz="3200" b="1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2443" name="Line 27"/>
          <p:cNvSpPr/>
          <p:nvPr/>
        </p:nvSpPr>
        <p:spPr>
          <a:xfrm>
            <a:off x="3259138" y="1470025"/>
            <a:ext cx="1409700" cy="31623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72444" name="AutoShape 28"/>
          <p:cNvSpPr/>
          <p:nvPr/>
        </p:nvSpPr>
        <p:spPr>
          <a:xfrm>
            <a:off x="5067300" y="1223963"/>
            <a:ext cx="2420938" cy="658812"/>
          </a:xfrm>
          <a:prstGeom prst="wedgeRoundRectCallout">
            <a:avLst>
              <a:gd name="adj1" fmla="val -107704"/>
              <a:gd name="adj2" fmla="val 88315"/>
              <a:gd name="adj3" fmla="val 16667"/>
            </a:avLst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交流负载线</a:t>
            </a:r>
          </a:p>
        </p:txBody>
      </p:sp>
      <p:sp>
        <p:nvSpPr>
          <p:cNvPr id="68631" name="AutoShape 29"/>
          <p:cNvSpPr/>
          <p:nvPr/>
        </p:nvSpPr>
        <p:spPr>
          <a:xfrm>
            <a:off x="5441950" y="1927225"/>
            <a:ext cx="2093913" cy="1123950"/>
          </a:xfrm>
          <a:prstGeom prst="wedgeRoundRectCallout">
            <a:avLst>
              <a:gd name="adj1" fmla="val -101120"/>
              <a:gd name="adj2" fmla="val 97176"/>
              <a:gd name="adj3" fmla="val 16667"/>
            </a:avLst>
          </a:prstGeom>
          <a:solidFill>
            <a:srgbClr val="FFFFFF"/>
          </a:solidFill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直流负载线</a:t>
            </a:r>
          </a:p>
        </p:txBody>
      </p:sp>
      <p:sp>
        <p:nvSpPr>
          <p:cNvPr id="68632" name="Rectangle 30"/>
          <p:cNvSpPr/>
          <p:nvPr/>
        </p:nvSpPr>
        <p:spPr>
          <a:xfrm>
            <a:off x="152400" y="2362200"/>
            <a:ext cx="26670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marL="342900" indent="-342900" algn="just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斜 率为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1/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R'</a:t>
            </a:r>
            <a:r>
              <a:rPr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marL="342900" indent="-342900" algn="just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（ 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r>
              <a:rPr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∥</a:t>
            </a:r>
            <a:r>
              <a:rPr lang="en-US" altLang="zh-CN" sz="24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33" name="Text Box 31"/>
          <p:cNvSpPr txBox="1"/>
          <p:nvPr/>
        </p:nvSpPr>
        <p:spPr>
          <a:xfrm>
            <a:off x="228600" y="3581400"/>
            <a:ext cx="2286000" cy="493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经过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572448" name="Text Box 32"/>
          <p:cNvSpPr txBox="1"/>
          <p:nvPr/>
        </p:nvSpPr>
        <p:spPr>
          <a:xfrm>
            <a:off x="457200" y="4419600"/>
            <a:ext cx="8229600" cy="10877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35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注意：</a:t>
            </a:r>
          </a:p>
          <a:p>
            <a:pPr eaLnBrk="0" hangingPunct="0">
              <a:lnSpc>
                <a:spcPct val="135000"/>
              </a:lnSpc>
            </a:pP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）交流负载线是有交流输入信号时工作点的运动轨迹。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2449" name="Text Box 33"/>
          <p:cNvSpPr txBox="1"/>
          <p:nvPr/>
        </p:nvSpPr>
        <p:spPr>
          <a:xfrm>
            <a:off x="381000" y="5486400"/>
            <a:ext cx="7772400" cy="585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35000"/>
              </a:lnSpc>
            </a:pP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）空载时，交流负载线与直流负载线重合。</a:t>
            </a:r>
            <a:endParaRPr lang="zh-CN" altLang="en-US" sz="2400" dirty="0">
              <a:solidFill>
                <a:srgbClr val="6600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2450" name="Rectangle 34"/>
          <p:cNvSpPr/>
          <p:nvPr/>
        </p:nvSpPr>
        <p:spPr>
          <a:xfrm>
            <a:off x="228600" y="6096000"/>
            <a:ext cx="8915400" cy="519113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）输出端接入负载</a:t>
            </a:r>
            <a:r>
              <a:rPr lang="en-US" altLang="zh-CN" b="1" i="1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baseline="-2500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：不影响</a:t>
            </a:r>
            <a:r>
              <a:rPr lang="en-US" altLang="zh-CN" b="1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b="1" dirty="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点， 影响动态！</a:t>
            </a:r>
          </a:p>
        </p:txBody>
      </p:sp>
      <p:sp>
        <p:nvSpPr>
          <p:cNvPr id="68637" name="Text Box 35"/>
          <p:cNvSpPr txBox="1"/>
          <p:nvPr/>
        </p:nvSpPr>
        <p:spPr>
          <a:xfrm>
            <a:off x="4976813" y="4238625"/>
            <a:ext cx="811212" cy="4572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</a:p>
        </p:txBody>
      </p:sp>
      <p:sp>
        <p:nvSpPr>
          <p:cNvPr id="68638" name="Oval 39"/>
          <p:cNvSpPr/>
          <p:nvPr/>
        </p:nvSpPr>
        <p:spPr>
          <a:xfrm>
            <a:off x="2951163" y="1866900"/>
            <a:ext cx="90487" cy="90488"/>
          </a:xfrm>
          <a:prstGeom prst="ellipse">
            <a:avLst/>
          </a:prstGeom>
          <a:solidFill>
            <a:srgbClr val="0000FF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39" name="Oval 41"/>
          <p:cNvSpPr/>
          <p:nvPr/>
        </p:nvSpPr>
        <p:spPr>
          <a:xfrm>
            <a:off x="4757738" y="4264025"/>
            <a:ext cx="90487" cy="90488"/>
          </a:xfrm>
          <a:prstGeom prst="ellipse">
            <a:avLst/>
          </a:prstGeom>
          <a:solidFill>
            <a:srgbClr val="0000FF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7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7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7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44" grpId="0" bldLvl="0" animBg="1"/>
      <p:bldP spid="572448" grpId="0"/>
      <p:bldP spid="572449" grpId="0"/>
      <p:bldP spid="57245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2"/>
          <p:cNvSpPr txBox="1"/>
          <p:nvPr/>
        </p:nvSpPr>
        <p:spPr>
          <a:xfrm>
            <a:off x="457200" y="381000"/>
            <a:ext cx="5638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图解法分析放大电路的步骤：</a:t>
            </a:r>
          </a:p>
        </p:txBody>
      </p:sp>
      <p:sp>
        <p:nvSpPr>
          <p:cNvPr id="677891" name="Text Box 3"/>
          <p:cNvSpPr txBox="1"/>
          <p:nvPr/>
        </p:nvSpPr>
        <p:spPr>
          <a:xfrm>
            <a:off x="457200" y="1143000"/>
            <a:ext cx="8515350" cy="54775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由直流通路作出输出回路的直流负载线。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②由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BQ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(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-0.7)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/R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≈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/R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估算出基极电流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BQ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，在直流负载线上找出对应的静态工作点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，得到 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CQ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CEQ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③由交流通路计算等效的负载电阻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b="1" baseline="30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′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。在输出特性曲线上通过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点，作斜率为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-1/ 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′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的交流负载线。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④在输入特性曲线的静态工作点附近，根据已知△</a:t>
            </a:r>
            <a:r>
              <a:rPr lang="en-US" altLang="zh-CN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1" i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值，查出对应的△</a:t>
            </a:r>
            <a:r>
              <a:rPr lang="en-US" altLang="zh-CN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1" i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，再到输出特性曲线上查出对应的最大峰值变化△</a:t>
            </a:r>
            <a:r>
              <a:rPr lang="en-US" altLang="zh-CN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1" i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值，判断是否超出晶体管线性工作范围而产生失真， △</a:t>
            </a:r>
            <a:r>
              <a:rPr lang="en-US" altLang="zh-CN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1" i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 △</a:t>
            </a:r>
            <a:r>
              <a:rPr lang="en-US" altLang="zh-CN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1" i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的大小为放大电路的放大倍数。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7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7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7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891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/>
          <p:nvPr/>
        </p:nvSpPr>
        <p:spPr>
          <a:xfrm>
            <a:off x="1933575" y="220980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065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9144000" cy="5638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3" name="组合 573462"/>
          <p:cNvGrpSpPr/>
          <p:nvPr/>
        </p:nvGrpSpPr>
        <p:grpSpPr>
          <a:xfrm>
            <a:off x="3267075" y="4643438"/>
            <a:ext cx="1852613" cy="1485900"/>
            <a:chOff x="2040" y="2928"/>
            <a:chExt cx="1166" cy="936"/>
          </a:xfrm>
        </p:grpSpPr>
        <p:sp>
          <p:nvSpPr>
            <p:cNvPr id="573464" name="任意多边形 573463"/>
            <p:cNvSpPr/>
            <p:nvPr/>
          </p:nvSpPr>
          <p:spPr>
            <a:xfrm>
              <a:off x="2592" y="2928"/>
              <a:ext cx="614" cy="468"/>
            </a:xfrm>
            <a:custGeom>
              <a:avLst/>
              <a:gdLst/>
              <a:ahLst/>
              <a:cxnLst/>
              <a:rect l="0" t="0" r="0" b="0"/>
              <a:pathLst>
                <a:path w="614" h="468">
                  <a:moveTo>
                    <a:pt x="0" y="0"/>
                  </a:moveTo>
                  <a:cubicBezTo>
                    <a:pt x="30" y="4"/>
                    <a:pt x="108" y="6"/>
                    <a:pt x="180" y="24"/>
                  </a:cubicBezTo>
                  <a:cubicBezTo>
                    <a:pt x="252" y="42"/>
                    <a:pt x="360" y="68"/>
                    <a:pt x="432" y="108"/>
                  </a:cubicBezTo>
                  <a:cubicBezTo>
                    <a:pt x="504" y="148"/>
                    <a:pt x="614" y="216"/>
                    <a:pt x="612" y="264"/>
                  </a:cubicBezTo>
                  <a:cubicBezTo>
                    <a:pt x="610" y="312"/>
                    <a:pt x="486" y="366"/>
                    <a:pt x="420" y="396"/>
                  </a:cubicBezTo>
                  <a:cubicBezTo>
                    <a:pt x="354" y="426"/>
                    <a:pt x="286" y="432"/>
                    <a:pt x="216" y="444"/>
                  </a:cubicBezTo>
                  <a:cubicBezTo>
                    <a:pt x="146" y="456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465" name="任意多边形 573464"/>
            <p:cNvSpPr/>
            <p:nvPr/>
          </p:nvSpPr>
          <p:spPr>
            <a:xfrm flipH="1">
              <a:off x="2040" y="3396"/>
              <a:ext cx="614" cy="468"/>
            </a:xfrm>
            <a:custGeom>
              <a:avLst/>
              <a:gdLst/>
              <a:ahLst/>
              <a:cxnLst/>
              <a:rect l="0" t="0" r="0" b="0"/>
              <a:pathLst>
                <a:path w="614" h="468">
                  <a:moveTo>
                    <a:pt x="0" y="0"/>
                  </a:moveTo>
                  <a:cubicBezTo>
                    <a:pt x="30" y="4"/>
                    <a:pt x="108" y="6"/>
                    <a:pt x="180" y="24"/>
                  </a:cubicBezTo>
                  <a:cubicBezTo>
                    <a:pt x="252" y="42"/>
                    <a:pt x="360" y="68"/>
                    <a:pt x="432" y="108"/>
                  </a:cubicBezTo>
                  <a:cubicBezTo>
                    <a:pt x="504" y="148"/>
                    <a:pt x="614" y="216"/>
                    <a:pt x="612" y="264"/>
                  </a:cubicBezTo>
                  <a:cubicBezTo>
                    <a:pt x="610" y="312"/>
                    <a:pt x="486" y="366"/>
                    <a:pt x="420" y="396"/>
                  </a:cubicBezTo>
                  <a:cubicBezTo>
                    <a:pt x="354" y="426"/>
                    <a:pt x="286" y="432"/>
                    <a:pt x="216" y="444"/>
                  </a:cubicBezTo>
                  <a:cubicBezTo>
                    <a:pt x="146" y="456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3466" name="文本框 573465"/>
          <p:cNvSpPr txBox="1"/>
          <p:nvPr/>
        </p:nvSpPr>
        <p:spPr>
          <a:xfrm>
            <a:off x="5516563" y="5319713"/>
            <a:ext cx="857250" cy="57943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endParaRPr lang="en-US" altLang="zh-CN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3467" name="圆角矩形标注 573466"/>
          <p:cNvSpPr/>
          <p:nvPr/>
        </p:nvSpPr>
        <p:spPr>
          <a:xfrm>
            <a:off x="744538" y="3228975"/>
            <a:ext cx="1822450" cy="2235200"/>
          </a:xfrm>
          <a:prstGeom prst="wedgeRoundRectCallout">
            <a:avLst>
              <a:gd name="adj1" fmla="val 87718"/>
              <a:gd name="adj2" fmla="val 61009"/>
              <a:gd name="adj3" fmla="val 16667"/>
            </a:avLst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可输出的最大不失真信号</a:t>
            </a:r>
            <a:endParaRPr lang="zh-CN" altLang="en-US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3468" name="文本框 573467"/>
          <p:cNvSpPr txBox="1"/>
          <p:nvPr/>
        </p:nvSpPr>
        <p:spPr>
          <a:xfrm>
            <a:off x="0" y="838200"/>
            <a:ext cx="6324600" cy="5794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）合适的静态工作点</a:t>
            </a:r>
            <a:endParaRPr lang="zh-CN" altLang="en-US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73480" name="组合 573479"/>
          <p:cNvGrpSpPr/>
          <p:nvPr/>
        </p:nvGrpSpPr>
        <p:grpSpPr>
          <a:xfrm>
            <a:off x="3086100" y="1223963"/>
            <a:ext cx="4086225" cy="5005387"/>
            <a:chOff x="1944" y="771"/>
            <a:chExt cx="2574" cy="3153"/>
          </a:xfrm>
        </p:grpSpPr>
        <p:sp>
          <p:nvSpPr>
            <p:cNvPr id="573460" name="直接连接符 573459"/>
            <p:cNvSpPr/>
            <p:nvPr/>
          </p:nvSpPr>
          <p:spPr>
            <a:xfrm>
              <a:off x="2604" y="1872"/>
              <a:ext cx="0" cy="198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3461" name="直接连接符 573460"/>
            <p:cNvSpPr/>
            <p:nvPr/>
          </p:nvSpPr>
          <p:spPr>
            <a:xfrm flipH="1">
              <a:off x="2052" y="1404"/>
              <a:ext cx="12" cy="252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3462" name="直接连接符 573461"/>
            <p:cNvSpPr/>
            <p:nvPr/>
          </p:nvSpPr>
          <p:spPr>
            <a:xfrm flipH="1">
              <a:off x="3204" y="2592"/>
              <a:ext cx="0" cy="123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573479" name="组合 573478"/>
            <p:cNvGrpSpPr/>
            <p:nvPr/>
          </p:nvGrpSpPr>
          <p:grpSpPr>
            <a:xfrm>
              <a:off x="1944" y="771"/>
              <a:ext cx="2574" cy="2354"/>
              <a:chOff x="1956" y="768"/>
              <a:chExt cx="2574" cy="2354"/>
            </a:xfrm>
          </p:grpSpPr>
          <p:sp>
            <p:nvSpPr>
              <p:cNvPr id="573443" name="直接连接符 573442"/>
              <p:cNvSpPr/>
              <p:nvPr/>
            </p:nvSpPr>
            <p:spPr>
              <a:xfrm>
                <a:off x="1966" y="1370"/>
                <a:ext cx="1679" cy="175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573444" name="组合 573443"/>
              <p:cNvGrpSpPr/>
              <p:nvPr/>
            </p:nvGrpSpPr>
            <p:grpSpPr>
              <a:xfrm>
                <a:off x="1956" y="768"/>
                <a:ext cx="2041" cy="2232"/>
                <a:chOff x="3264" y="1342"/>
                <a:chExt cx="2042" cy="2232"/>
              </a:xfrm>
            </p:grpSpPr>
            <p:sp>
              <p:nvSpPr>
                <p:cNvPr id="573445" name="文本框 573444"/>
                <p:cNvSpPr txBox="1"/>
                <p:nvPr/>
              </p:nvSpPr>
              <p:spPr>
                <a:xfrm>
                  <a:off x="3315" y="1342"/>
                  <a:ext cx="1154" cy="36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90000" tIns="46800" rIns="90000" bIns="46800" anchor="ctr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i="1" err="1">
                      <a:latin typeface="Times New Roman" panose="02020603050405020304" pitchFamily="18" charset="0"/>
                      <a:ea typeface="楷体_GB2312" pitchFamily="49" charset="-122"/>
                    </a:rPr>
                    <a:t>i</a:t>
                  </a:r>
                  <a:r>
                    <a:rPr lang="en-US" altLang="zh-CN" sz="3200" b="1" baseline="-25000" err="1">
                      <a:latin typeface="Times New Roman" panose="02020603050405020304" pitchFamily="18" charset="0"/>
                      <a:ea typeface="楷体_GB2312" pitchFamily="49" charset="-122"/>
                    </a:rPr>
                    <a:t>C</a:t>
                  </a:r>
                  <a:endParaRPr lang="en-US" altLang="zh-CN" sz="3200" b="1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573446" name="文本框 573445"/>
                <p:cNvSpPr txBox="1"/>
                <p:nvPr/>
              </p:nvSpPr>
              <p:spPr>
                <a:xfrm>
                  <a:off x="4845" y="3209"/>
                  <a:ext cx="461" cy="36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3200" b="1" i="1" err="1">
                      <a:latin typeface="Times New Roman" panose="02020603050405020304" pitchFamily="18" charset="0"/>
                      <a:ea typeface="楷体_GB2312" pitchFamily="49" charset="-122"/>
                    </a:rPr>
                    <a:t>v</a:t>
                  </a:r>
                  <a:r>
                    <a:rPr lang="en-US" altLang="zh-CN" sz="3200" b="1" baseline="-25000" err="1">
                      <a:latin typeface="Times New Roman" panose="02020603050405020304" pitchFamily="18" charset="0"/>
                      <a:ea typeface="楷体_GB2312" pitchFamily="49" charset="-122"/>
                    </a:rPr>
                    <a:t>CE</a:t>
                  </a:r>
                  <a:endParaRPr lang="en-US" altLang="zh-CN" sz="3200" b="1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grpSp>
              <p:nvGrpSpPr>
                <p:cNvPr id="573447" name="组合 573446"/>
                <p:cNvGrpSpPr/>
                <p:nvPr/>
              </p:nvGrpSpPr>
              <p:grpSpPr>
                <a:xfrm>
                  <a:off x="3264" y="1585"/>
                  <a:ext cx="1584" cy="1896"/>
                  <a:chOff x="3180" y="1585"/>
                  <a:chExt cx="1584" cy="1896"/>
                </a:xfrm>
              </p:grpSpPr>
              <p:sp>
                <p:nvSpPr>
                  <p:cNvPr id="573448" name="直接连接符 573447"/>
                  <p:cNvSpPr/>
                  <p:nvPr/>
                </p:nvSpPr>
                <p:spPr>
                  <a:xfrm flipV="1">
                    <a:off x="3180" y="3481"/>
                    <a:ext cx="1584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triangle" w="med" len="lg"/>
                  </a:ln>
                </p:spPr>
              </p:sp>
              <p:grpSp>
                <p:nvGrpSpPr>
                  <p:cNvPr id="573449" name="组合 573448"/>
                  <p:cNvGrpSpPr/>
                  <p:nvPr/>
                </p:nvGrpSpPr>
                <p:grpSpPr>
                  <a:xfrm>
                    <a:off x="3181" y="1585"/>
                    <a:ext cx="1288" cy="1896"/>
                    <a:chOff x="3181" y="1753"/>
                    <a:chExt cx="1288" cy="1896"/>
                  </a:xfrm>
                </p:grpSpPr>
                <p:sp>
                  <p:nvSpPr>
                    <p:cNvPr id="573450" name="直接连接符 573449"/>
                    <p:cNvSpPr/>
                    <p:nvPr/>
                  </p:nvSpPr>
                  <p:spPr>
                    <a:xfrm flipH="1" flipV="1">
                      <a:off x="3192" y="1753"/>
                      <a:ext cx="0" cy="1896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triangle" w="med" len="lg"/>
                    </a:ln>
                  </p:spPr>
                </p:sp>
                <p:grpSp>
                  <p:nvGrpSpPr>
                    <p:cNvPr id="573451" name="组合 573450"/>
                    <p:cNvGrpSpPr/>
                    <p:nvPr/>
                  </p:nvGrpSpPr>
                  <p:grpSpPr>
                    <a:xfrm>
                      <a:off x="3181" y="2028"/>
                      <a:ext cx="1288" cy="1609"/>
                      <a:chOff x="3181" y="1260"/>
                      <a:chExt cx="2387" cy="2377"/>
                    </a:xfrm>
                  </p:grpSpPr>
                  <p:sp>
                    <p:nvSpPr>
                      <p:cNvPr id="573452" name="任意多边形 573451"/>
                      <p:cNvSpPr/>
                      <p:nvPr/>
                    </p:nvSpPr>
                    <p:spPr>
                      <a:xfrm>
                        <a:off x="3181" y="3505"/>
                        <a:ext cx="2387" cy="131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387" h="131">
                            <a:moveTo>
                              <a:pt x="19" y="131"/>
                            </a:moveTo>
                            <a:cubicBezTo>
                              <a:pt x="27" y="125"/>
                              <a:pt x="0" y="113"/>
                              <a:pt x="69" y="95"/>
                            </a:cubicBezTo>
                            <a:cubicBezTo>
                              <a:pt x="138" y="77"/>
                              <a:pt x="45" y="40"/>
                              <a:pt x="431" y="24"/>
                            </a:cubicBezTo>
                            <a:cubicBezTo>
                              <a:pt x="817" y="8"/>
                              <a:pt x="1980" y="5"/>
                              <a:pt x="2387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73453" name="任意多边形 573452"/>
                      <p:cNvSpPr/>
                      <p:nvPr/>
                    </p:nvSpPr>
                    <p:spPr>
                      <a:xfrm>
                        <a:off x="3200" y="3133"/>
                        <a:ext cx="2308" cy="504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308" h="504">
                            <a:moveTo>
                              <a:pt x="0" y="504"/>
                            </a:moveTo>
                            <a:cubicBezTo>
                              <a:pt x="3" y="472"/>
                              <a:pt x="6" y="352"/>
                              <a:pt x="15" y="314"/>
                            </a:cubicBezTo>
                            <a:cubicBezTo>
                              <a:pt x="24" y="276"/>
                              <a:pt x="26" y="302"/>
                              <a:pt x="52" y="276"/>
                            </a:cubicBezTo>
                            <a:cubicBezTo>
                              <a:pt x="78" y="250"/>
                              <a:pt x="124" y="190"/>
                              <a:pt x="172" y="156"/>
                            </a:cubicBezTo>
                            <a:cubicBezTo>
                              <a:pt x="220" y="122"/>
                              <a:pt x="244" y="90"/>
                              <a:pt x="340" y="72"/>
                            </a:cubicBezTo>
                            <a:cubicBezTo>
                              <a:pt x="436" y="54"/>
                              <a:pt x="420" y="60"/>
                              <a:pt x="748" y="48"/>
                            </a:cubicBezTo>
                            <a:cubicBezTo>
                              <a:pt x="1076" y="36"/>
                              <a:pt x="1983" y="10"/>
                              <a:pt x="2308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73454" name="任意多边形 573453"/>
                      <p:cNvSpPr/>
                      <p:nvPr/>
                    </p:nvSpPr>
                    <p:spPr>
                      <a:xfrm>
                        <a:off x="3197" y="2689"/>
                        <a:ext cx="2299" cy="94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299" h="948">
                            <a:moveTo>
                              <a:pt x="0" y="948"/>
                            </a:moveTo>
                            <a:cubicBezTo>
                              <a:pt x="9" y="858"/>
                              <a:pt x="20" y="540"/>
                              <a:pt x="55" y="408"/>
                            </a:cubicBezTo>
                            <a:cubicBezTo>
                              <a:pt x="90" y="276"/>
                              <a:pt x="151" y="212"/>
                              <a:pt x="211" y="156"/>
                            </a:cubicBezTo>
                            <a:cubicBezTo>
                              <a:pt x="271" y="100"/>
                              <a:pt x="247" y="93"/>
                              <a:pt x="413" y="69"/>
                            </a:cubicBezTo>
                            <a:cubicBezTo>
                              <a:pt x="579" y="45"/>
                              <a:pt x="893" y="23"/>
                              <a:pt x="1207" y="12"/>
                            </a:cubicBezTo>
                            <a:cubicBezTo>
                              <a:pt x="1521" y="1"/>
                              <a:pt x="2072" y="2"/>
                              <a:pt x="2299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73455" name="任意多边形 573454"/>
                      <p:cNvSpPr/>
                      <p:nvPr/>
                    </p:nvSpPr>
                    <p:spPr>
                      <a:xfrm>
                        <a:off x="3200" y="2221"/>
                        <a:ext cx="2260" cy="13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260" h="1380">
                            <a:moveTo>
                              <a:pt x="0" y="1380"/>
                            </a:moveTo>
                            <a:cubicBezTo>
                              <a:pt x="12" y="1237"/>
                              <a:pt x="48" y="729"/>
                              <a:pt x="73" y="525"/>
                            </a:cubicBezTo>
                            <a:cubicBezTo>
                              <a:pt x="99" y="321"/>
                              <a:pt x="86" y="236"/>
                              <a:pt x="155" y="157"/>
                            </a:cubicBezTo>
                            <a:cubicBezTo>
                              <a:pt x="223" y="77"/>
                              <a:pt x="132" y="76"/>
                              <a:pt x="483" y="50"/>
                            </a:cubicBezTo>
                            <a:cubicBezTo>
                              <a:pt x="834" y="24"/>
                              <a:pt x="1890" y="10"/>
                              <a:pt x="2260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73456" name="任意多边形 573455"/>
                      <p:cNvSpPr/>
                      <p:nvPr/>
                    </p:nvSpPr>
                    <p:spPr>
                      <a:xfrm>
                        <a:off x="3200" y="1813"/>
                        <a:ext cx="2224" cy="178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224" h="1788">
                            <a:moveTo>
                              <a:pt x="0" y="1788"/>
                            </a:moveTo>
                            <a:cubicBezTo>
                              <a:pt x="15" y="1616"/>
                              <a:pt x="70" y="1000"/>
                              <a:pt x="89" y="754"/>
                            </a:cubicBezTo>
                            <a:cubicBezTo>
                              <a:pt x="108" y="508"/>
                              <a:pt x="92" y="417"/>
                              <a:pt x="112" y="312"/>
                            </a:cubicBezTo>
                            <a:cubicBezTo>
                              <a:pt x="132" y="207"/>
                              <a:pt x="121" y="171"/>
                              <a:pt x="209" y="125"/>
                            </a:cubicBezTo>
                            <a:cubicBezTo>
                              <a:pt x="297" y="79"/>
                              <a:pt x="304" y="57"/>
                              <a:pt x="640" y="36"/>
                            </a:cubicBezTo>
                            <a:cubicBezTo>
                              <a:pt x="976" y="15"/>
                              <a:pt x="1894" y="8"/>
                              <a:pt x="2224" y="0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73457" name="任意多边形 573456"/>
                      <p:cNvSpPr/>
                      <p:nvPr/>
                    </p:nvSpPr>
                    <p:spPr>
                      <a:xfrm>
                        <a:off x="3200" y="1260"/>
                        <a:ext cx="2212" cy="2377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212" h="2377">
                            <a:moveTo>
                              <a:pt x="0" y="2377"/>
                            </a:moveTo>
                            <a:cubicBezTo>
                              <a:pt x="15" y="2189"/>
                              <a:pt x="62" y="1583"/>
                              <a:pt x="93" y="1248"/>
                            </a:cubicBezTo>
                            <a:cubicBezTo>
                              <a:pt x="124" y="914"/>
                              <a:pt x="113" y="567"/>
                              <a:pt x="186" y="369"/>
                            </a:cubicBezTo>
                            <a:cubicBezTo>
                              <a:pt x="259" y="171"/>
                              <a:pt x="194" y="122"/>
                              <a:pt x="532" y="61"/>
                            </a:cubicBezTo>
                            <a:cubicBezTo>
                              <a:pt x="870" y="0"/>
                              <a:pt x="1862" y="13"/>
                              <a:pt x="2212" y="1"/>
                            </a:cubicBez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headEnd type="none" w="sm" len="sm"/>
                        <a:tailEnd type="none" w="med" len="lg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</p:grpSp>
          <p:sp>
            <p:nvSpPr>
              <p:cNvPr id="573458" name="椭圆 573457"/>
              <p:cNvSpPr/>
              <p:nvPr/>
            </p:nvSpPr>
            <p:spPr>
              <a:xfrm>
                <a:off x="2556" y="1990"/>
                <a:ext cx="72" cy="72"/>
              </a:xfrm>
              <a:prstGeom prst="ellipse">
                <a:avLst/>
              </a:prstGeom>
              <a:solidFill>
                <a:srgbClr val="FF3300"/>
              </a:solidFill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471" name="直接连接符 573470"/>
              <p:cNvSpPr/>
              <p:nvPr/>
            </p:nvSpPr>
            <p:spPr>
              <a:xfrm>
                <a:off x="2016" y="1464"/>
                <a:ext cx="2209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73472" name="直接连接符 573471"/>
              <p:cNvSpPr/>
              <p:nvPr/>
            </p:nvSpPr>
            <p:spPr>
              <a:xfrm>
                <a:off x="2016" y="2676"/>
                <a:ext cx="2209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73473" name="直接连接符 573472"/>
              <p:cNvSpPr/>
              <p:nvPr/>
            </p:nvSpPr>
            <p:spPr>
              <a:xfrm>
                <a:off x="2016" y="2040"/>
                <a:ext cx="2209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grpSp>
            <p:nvGrpSpPr>
              <p:cNvPr id="573474" name="组合 573473"/>
              <p:cNvGrpSpPr/>
              <p:nvPr/>
            </p:nvGrpSpPr>
            <p:grpSpPr>
              <a:xfrm rot="-5400000" flipV="1">
                <a:off x="3237" y="1694"/>
                <a:ext cx="1204" cy="727"/>
                <a:chOff x="2040" y="2928"/>
                <a:chExt cx="1166" cy="936"/>
              </a:xfrm>
            </p:grpSpPr>
            <p:sp>
              <p:nvSpPr>
                <p:cNvPr id="573475" name="任意多边形 573474"/>
                <p:cNvSpPr/>
                <p:nvPr/>
              </p:nvSpPr>
              <p:spPr>
                <a:xfrm>
                  <a:off x="2592" y="2928"/>
                  <a:ext cx="614" cy="46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14" h="468">
                      <a:moveTo>
                        <a:pt x="0" y="0"/>
                      </a:moveTo>
                      <a:cubicBezTo>
                        <a:pt x="30" y="4"/>
                        <a:pt x="108" y="6"/>
                        <a:pt x="180" y="24"/>
                      </a:cubicBezTo>
                      <a:cubicBezTo>
                        <a:pt x="252" y="42"/>
                        <a:pt x="360" y="68"/>
                        <a:pt x="432" y="108"/>
                      </a:cubicBezTo>
                      <a:cubicBezTo>
                        <a:pt x="504" y="148"/>
                        <a:pt x="614" y="216"/>
                        <a:pt x="612" y="264"/>
                      </a:cubicBezTo>
                      <a:cubicBezTo>
                        <a:pt x="610" y="312"/>
                        <a:pt x="486" y="366"/>
                        <a:pt x="420" y="396"/>
                      </a:cubicBezTo>
                      <a:cubicBezTo>
                        <a:pt x="354" y="426"/>
                        <a:pt x="286" y="432"/>
                        <a:pt x="216" y="444"/>
                      </a:cubicBezTo>
                      <a:cubicBezTo>
                        <a:pt x="146" y="456"/>
                        <a:pt x="36" y="464"/>
                        <a:pt x="0" y="46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476" name="任意多边形 573475"/>
                <p:cNvSpPr/>
                <p:nvPr/>
              </p:nvSpPr>
              <p:spPr>
                <a:xfrm flipH="1">
                  <a:off x="2040" y="3396"/>
                  <a:ext cx="614" cy="46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14" h="468">
                      <a:moveTo>
                        <a:pt x="0" y="0"/>
                      </a:moveTo>
                      <a:cubicBezTo>
                        <a:pt x="30" y="4"/>
                        <a:pt x="108" y="6"/>
                        <a:pt x="180" y="24"/>
                      </a:cubicBezTo>
                      <a:cubicBezTo>
                        <a:pt x="252" y="42"/>
                        <a:pt x="360" y="68"/>
                        <a:pt x="432" y="108"/>
                      </a:cubicBezTo>
                      <a:cubicBezTo>
                        <a:pt x="504" y="148"/>
                        <a:pt x="614" y="216"/>
                        <a:pt x="612" y="264"/>
                      </a:cubicBezTo>
                      <a:cubicBezTo>
                        <a:pt x="610" y="312"/>
                        <a:pt x="486" y="366"/>
                        <a:pt x="420" y="396"/>
                      </a:cubicBezTo>
                      <a:cubicBezTo>
                        <a:pt x="354" y="426"/>
                        <a:pt x="286" y="432"/>
                        <a:pt x="216" y="444"/>
                      </a:cubicBezTo>
                      <a:cubicBezTo>
                        <a:pt x="146" y="456"/>
                        <a:pt x="36" y="464"/>
                        <a:pt x="0" y="46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477" name="文本框 573476"/>
              <p:cNvSpPr txBox="1"/>
              <p:nvPr/>
            </p:nvSpPr>
            <p:spPr>
              <a:xfrm>
                <a:off x="4225" y="1380"/>
                <a:ext cx="305" cy="371"/>
              </a:xfrm>
              <a:prstGeom prst="rect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3200" b="1" i="1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r>
                  <a:rPr lang="en-US" altLang="zh-CN" sz="3200" b="1" baseline="-2500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573478" name="矩形 573477"/>
          <p:cNvSpPr/>
          <p:nvPr/>
        </p:nvSpPr>
        <p:spPr>
          <a:xfrm>
            <a:off x="609600" y="0"/>
            <a:ext cx="6167438" cy="5937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marL="342900" indent="-342900" algn="just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 pitchFamily="2" charset="2"/>
            </a:pP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．非线性失真与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点的关系</a:t>
            </a:r>
            <a:endParaRPr lang="zh-CN" altLang="en-US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7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6" grpId="0" build="p"/>
      <p:bldP spid="573467" grpId="0" animBg="1"/>
      <p:bldP spid="57346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直接连接符 574465"/>
          <p:cNvSpPr/>
          <p:nvPr/>
        </p:nvSpPr>
        <p:spPr>
          <a:xfrm>
            <a:off x="1866900" y="1981200"/>
            <a:ext cx="2667000" cy="27813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74467" name="组合 574466"/>
          <p:cNvGrpSpPr/>
          <p:nvPr/>
        </p:nvGrpSpPr>
        <p:grpSpPr>
          <a:xfrm>
            <a:off x="2076450" y="1025525"/>
            <a:ext cx="4243388" cy="3543300"/>
            <a:chOff x="3264" y="1342"/>
            <a:chExt cx="1981" cy="2232"/>
          </a:xfrm>
        </p:grpSpPr>
        <p:sp>
          <p:nvSpPr>
            <p:cNvPr id="574468" name="文本框 574467"/>
            <p:cNvSpPr txBox="1"/>
            <p:nvPr/>
          </p:nvSpPr>
          <p:spPr>
            <a:xfrm>
              <a:off x="3315" y="1342"/>
              <a:ext cx="115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74469" name="文本框 574468"/>
            <p:cNvSpPr txBox="1"/>
            <p:nvPr/>
          </p:nvSpPr>
          <p:spPr>
            <a:xfrm>
              <a:off x="4903" y="3209"/>
              <a:ext cx="34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74470" name="组合 574469"/>
            <p:cNvGrpSpPr/>
            <p:nvPr/>
          </p:nvGrpSpPr>
          <p:grpSpPr>
            <a:xfrm>
              <a:off x="3264" y="1585"/>
              <a:ext cx="1584" cy="1896"/>
              <a:chOff x="3180" y="1585"/>
              <a:chExt cx="1584" cy="1896"/>
            </a:xfrm>
          </p:grpSpPr>
          <p:sp>
            <p:nvSpPr>
              <p:cNvPr id="574471" name="直接连接符 574470"/>
              <p:cNvSpPr/>
              <p:nvPr/>
            </p:nvSpPr>
            <p:spPr>
              <a:xfrm flipV="1">
                <a:off x="3180" y="3481"/>
                <a:ext cx="15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triangle" w="med" len="lg"/>
              </a:ln>
            </p:spPr>
          </p:sp>
          <p:grpSp>
            <p:nvGrpSpPr>
              <p:cNvPr id="574472" name="组合 574471"/>
              <p:cNvGrpSpPr/>
              <p:nvPr/>
            </p:nvGrpSpPr>
            <p:grpSpPr>
              <a:xfrm>
                <a:off x="3181" y="1585"/>
                <a:ext cx="1288" cy="1896"/>
                <a:chOff x="3181" y="1753"/>
                <a:chExt cx="1288" cy="1896"/>
              </a:xfrm>
            </p:grpSpPr>
            <p:sp>
              <p:nvSpPr>
                <p:cNvPr id="574473" name="直接连接符 574472"/>
                <p:cNvSpPr/>
                <p:nvPr/>
              </p:nvSpPr>
              <p:spPr>
                <a:xfrm flipH="1" flipV="1">
                  <a:off x="3192" y="1753"/>
                  <a:ext cx="0" cy="189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triangle" w="med" len="lg"/>
                </a:ln>
              </p:spPr>
            </p:sp>
            <p:grpSp>
              <p:nvGrpSpPr>
                <p:cNvPr id="574474" name="组合 574473"/>
                <p:cNvGrpSpPr/>
                <p:nvPr/>
              </p:nvGrpSpPr>
              <p:grpSpPr>
                <a:xfrm>
                  <a:off x="3181" y="2028"/>
                  <a:ext cx="1288" cy="1609"/>
                  <a:chOff x="3181" y="1260"/>
                  <a:chExt cx="2387" cy="2377"/>
                </a:xfrm>
              </p:grpSpPr>
              <p:sp>
                <p:nvSpPr>
                  <p:cNvPr id="574475" name="任意多边形 574474"/>
                  <p:cNvSpPr/>
                  <p:nvPr/>
                </p:nvSpPr>
                <p:spPr>
                  <a:xfrm>
                    <a:off x="3181" y="3505"/>
                    <a:ext cx="2387" cy="1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87" h="131">
                        <a:moveTo>
                          <a:pt x="19" y="131"/>
                        </a:moveTo>
                        <a:cubicBezTo>
                          <a:pt x="27" y="125"/>
                          <a:pt x="0" y="113"/>
                          <a:pt x="69" y="95"/>
                        </a:cubicBezTo>
                        <a:cubicBezTo>
                          <a:pt x="138" y="77"/>
                          <a:pt x="45" y="40"/>
                          <a:pt x="431" y="24"/>
                        </a:cubicBezTo>
                        <a:cubicBezTo>
                          <a:pt x="817" y="8"/>
                          <a:pt x="1980" y="5"/>
                          <a:pt x="2387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476" name="任意多边形 574475"/>
                  <p:cNvSpPr/>
                  <p:nvPr/>
                </p:nvSpPr>
                <p:spPr>
                  <a:xfrm>
                    <a:off x="3200" y="3133"/>
                    <a:ext cx="2308" cy="5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8" h="504">
                        <a:moveTo>
                          <a:pt x="0" y="504"/>
                        </a:moveTo>
                        <a:cubicBezTo>
                          <a:pt x="3" y="472"/>
                          <a:pt x="6" y="352"/>
                          <a:pt x="15" y="314"/>
                        </a:cubicBezTo>
                        <a:cubicBezTo>
                          <a:pt x="24" y="276"/>
                          <a:pt x="26" y="302"/>
                          <a:pt x="52" y="276"/>
                        </a:cubicBezTo>
                        <a:cubicBezTo>
                          <a:pt x="78" y="250"/>
                          <a:pt x="124" y="190"/>
                          <a:pt x="172" y="156"/>
                        </a:cubicBezTo>
                        <a:cubicBezTo>
                          <a:pt x="220" y="122"/>
                          <a:pt x="244" y="90"/>
                          <a:pt x="340" y="72"/>
                        </a:cubicBezTo>
                        <a:cubicBezTo>
                          <a:pt x="436" y="54"/>
                          <a:pt x="420" y="60"/>
                          <a:pt x="748" y="48"/>
                        </a:cubicBezTo>
                        <a:cubicBezTo>
                          <a:pt x="1076" y="36"/>
                          <a:pt x="1983" y="10"/>
                          <a:pt x="2308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477" name="任意多边形 574476"/>
                  <p:cNvSpPr/>
                  <p:nvPr/>
                </p:nvSpPr>
                <p:spPr>
                  <a:xfrm>
                    <a:off x="3197" y="2689"/>
                    <a:ext cx="2299" cy="9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99" h="948">
                        <a:moveTo>
                          <a:pt x="0" y="948"/>
                        </a:moveTo>
                        <a:cubicBezTo>
                          <a:pt x="9" y="858"/>
                          <a:pt x="20" y="540"/>
                          <a:pt x="55" y="408"/>
                        </a:cubicBezTo>
                        <a:cubicBezTo>
                          <a:pt x="90" y="276"/>
                          <a:pt x="151" y="212"/>
                          <a:pt x="211" y="156"/>
                        </a:cubicBezTo>
                        <a:cubicBezTo>
                          <a:pt x="271" y="100"/>
                          <a:pt x="247" y="93"/>
                          <a:pt x="413" y="69"/>
                        </a:cubicBezTo>
                        <a:cubicBezTo>
                          <a:pt x="579" y="45"/>
                          <a:pt x="893" y="23"/>
                          <a:pt x="1207" y="12"/>
                        </a:cubicBezTo>
                        <a:cubicBezTo>
                          <a:pt x="1521" y="1"/>
                          <a:pt x="2072" y="2"/>
                          <a:pt x="2299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478" name="任意多边形 574477"/>
                  <p:cNvSpPr/>
                  <p:nvPr/>
                </p:nvSpPr>
                <p:spPr>
                  <a:xfrm>
                    <a:off x="3200" y="2221"/>
                    <a:ext cx="2260" cy="13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60" h="1380">
                        <a:moveTo>
                          <a:pt x="0" y="1380"/>
                        </a:moveTo>
                        <a:cubicBezTo>
                          <a:pt x="12" y="1237"/>
                          <a:pt x="48" y="729"/>
                          <a:pt x="73" y="525"/>
                        </a:cubicBezTo>
                        <a:cubicBezTo>
                          <a:pt x="99" y="321"/>
                          <a:pt x="86" y="236"/>
                          <a:pt x="155" y="157"/>
                        </a:cubicBezTo>
                        <a:cubicBezTo>
                          <a:pt x="223" y="77"/>
                          <a:pt x="132" y="76"/>
                          <a:pt x="483" y="50"/>
                        </a:cubicBezTo>
                        <a:cubicBezTo>
                          <a:pt x="834" y="24"/>
                          <a:pt x="1890" y="10"/>
                          <a:pt x="2260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479" name="任意多边形 574478"/>
                  <p:cNvSpPr/>
                  <p:nvPr/>
                </p:nvSpPr>
                <p:spPr>
                  <a:xfrm>
                    <a:off x="3200" y="1813"/>
                    <a:ext cx="2224" cy="178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4" h="1788">
                        <a:moveTo>
                          <a:pt x="0" y="1788"/>
                        </a:moveTo>
                        <a:cubicBezTo>
                          <a:pt x="15" y="1616"/>
                          <a:pt x="70" y="1000"/>
                          <a:pt x="89" y="754"/>
                        </a:cubicBezTo>
                        <a:cubicBezTo>
                          <a:pt x="108" y="508"/>
                          <a:pt x="92" y="417"/>
                          <a:pt x="112" y="312"/>
                        </a:cubicBezTo>
                        <a:cubicBezTo>
                          <a:pt x="132" y="207"/>
                          <a:pt x="121" y="171"/>
                          <a:pt x="209" y="125"/>
                        </a:cubicBezTo>
                        <a:cubicBezTo>
                          <a:pt x="297" y="79"/>
                          <a:pt x="304" y="57"/>
                          <a:pt x="640" y="36"/>
                        </a:cubicBezTo>
                        <a:cubicBezTo>
                          <a:pt x="976" y="15"/>
                          <a:pt x="1894" y="8"/>
                          <a:pt x="2224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480" name="任意多边形 574479"/>
                  <p:cNvSpPr/>
                  <p:nvPr/>
                </p:nvSpPr>
                <p:spPr>
                  <a:xfrm>
                    <a:off x="3200" y="1260"/>
                    <a:ext cx="2212" cy="23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2" h="2377">
                        <a:moveTo>
                          <a:pt x="0" y="2377"/>
                        </a:moveTo>
                        <a:cubicBezTo>
                          <a:pt x="15" y="2189"/>
                          <a:pt x="62" y="1583"/>
                          <a:pt x="93" y="1248"/>
                        </a:cubicBezTo>
                        <a:cubicBezTo>
                          <a:pt x="124" y="914"/>
                          <a:pt x="113" y="567"/>
                          <a:pt x="186" y="369"/>
                        </a:cubicBezTo>
                        <a:cubicBezTo>
                          <a:pt x="259" y="171"/>
                          <a:pt x="194" y="122"/>
                          <a:pt x="532" y="61"/>
                        </a:cubicBezTo>
                        <a:cubicBezTo>
                          <a:pt x="870" y="0"/>
                          <a:pt x="1862" y="13"/>
                          <a:pt x="2212" y="1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574481" name="椭圆 574480"/>
          <p:cNvSpPr/>
          <p:nvPr/>
        </p:nvSpPr>
        <p:spPr>
          <a:xfrm>
            <a:off x="3638550" y="3810000"/>
            <a:ext cx="114300" cy="114300"/>
          </a:xfrm>
          <a:prstGeom prst="ellipse">
            <a:avLst/>
          </a:prstGeom>
          <a:solidFill>
            <a:srgbClr val="FF3300"/>
          </a:solidFill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74486" name="组合 574485"/>
          <p:cNvGrpSpPr/>
          <p:nvPr/>
        </p:nvGrpSpPr>
        <p:grpSpPr>
          <a:xfrm>
            <a:off x="2276475" y="4464050"/>
            <a:ext cx="1778000" cy="1485900"/>
            <a:chOff x="2412" y="2820"/>
            <a:chExt cx="808" cy="936"/>
          </a:xfrm>
        </p:grpSpPr>
        <p:sp>
          <p:nvSpPr>
            <p:cNvPr id="574487" name="任意多边形 574486"/>
            <p:cNvSpPr/>
            <p:nvPr/>
          </p:nvSpPr>
          <p:spPr>
            <a:xfrm>
              <a:off x="2964" y="2820"/>
              <a:ext cx="256" cy="468"/>
            </a:xfrm>
            <a:custGeom>
              <a:avLst/>
              <a:gdLst/>
              <a:ahLst/>
              <a:cxnLst/>
              <a:rect l="0" t="0" r="0" b="0"/>
              <a:pathLst>
                <a:path w="256" h="468">
                  <a:moveTo>
                    <a:pt x="0" y="0"/>
                  </a:moveTo>
                  <a:cubicBezTo>
                    <a:pt x="30" y="4"/>
                    <a:pt x="140" y="18"/>
                    <a:pt x="180" y="24"/>
                  </a:cubicBezTo>
                  <a:cubicBezTo>
                    <a:pt x="220" y="30"/>
                    <a:pt x="230" y="12"/>
                    <a:pt x="240" y="36"/>
                  </a:cubicBezTo>
                  <a:cubicBezTo>
                    <a:pt x="250" y="60"/>
                    <a:pt x="240" y="116"/>
                    <a:pt x="240" y="168"/>
                  </a:cubicBezTo>
                  <a:cubicBezTo>
                    <a:pt x="240" y="220"/>
                    <a:pt x="244" y="302"/>
                    <a:pt x="240" y="348"/>
                  </a:cubicBezTo>
                  <a:cubicBezTo>
                    <a:pt x="236" y="394"/>
                    <a:pt x="256" y="424"/>
                    <a:pt x="216" y="444"/>
                  </a:cubicBezTo>
                  <a:cubicBezTo>
                    <a:pt x="176" y="464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488" name="任意多边形 574487"/>
            <p:cNvSpPr/>
            <p:nvPr/>
          </p:nvSpPr>
          <p:spPr>
            <a:xfrm flipH="1">
              <a:off x="2412" y="3288"/>
              <a:ext cx="614" cy="468"/>
            </a:xfrm>
            <a:custGeom>
              <a:avLst/>
              <a:gdLst/>
              <a:ahLst/>
              <a:cxnLst/>
              <a:rect l="0" t="0" r="0" b="0"/>
              <a:pathLst>
                <a:path w="614" h="468">
                  <a:moveTo>
                    <a:pt x="0" y="0"/>
                  </a:moveTo>
                  <a:cubicBezTo>
                    <a:pt x="30" y="4"/>
                    <a:pt x="108" y="6"/>
                    <a:pt x="180" y="24"/>
                  </a:cubicBezTo>
                  <a:cubicBezTo>
                    <a:pt x="252" y="42"/>
                    <a:pt x="360" y="68"/>
                    <a:pt x="432" y="108"/>
                  </a:cubicBezTo>
                  <a:cubicBezTo>
                    <a:pt x="504" y="148"/>
                    <a:pt x="614" y="216"/>
                    <a:pt x="612" y="264"/>
                  </a:cubicBezTo>
                  <a:cubicBezTo>
                    <a:pt x="610" y="312"/>
                    <a:pt x="486" y="366"/>
                    <a:pt x="420" y="396"/>
                  </a:cubicBezTo>
                  <a:cubicBezTo>
                    <a:pt x="354" y="426"/>
                    <a:pt x="286" y="432"/>
                    <a:pt x="216" y="444"/>
                  </a:cubicBezTo>
                  <a:cubicBezTo>
                    <a:pt x="146" y="456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4489" name="文本框 574488"/>
          <p:cNvSpPr txBox="1"/>
          <p:nvPr/>
        </p:nvSpPr>
        <p:spPr>
          <a:xfrm>
            <a:off x="4171950" y="4919663"/>
            <a:ext cx="857250" cy="57943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endParaRPr lang="en-US" altLang="zh-CN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4490" name="文本框 574489"/>
          <p:cNvSpPr txBox="1"/>
          <p:nvPr/>
        </p:nvSpPr>
        <p:spPr>
          <a:xfrm>
            <a:off x="495300" y="301625"/>
            <a:ext cx="6362700" cy="5794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点过低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→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信号进入截止区</a:t>
            </a:r>
            <a:endParaRPr lang="zh-CN" altLang="en-US" sz="32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74491" name="组合 574490"/>
          <p:cNvGrpSpPr/>
          <p:nvPr/>
        </p:nvGrpSpPr>
        <p:grpSpPr>
          <a:xfrm>
            <a:off x="5829300" y="3111500"/>
            <a:ext cx="2705100" cy="1282700"/>
            <a:chOff x="3672" y="1960"/>
            <a:chExt cx="1704" cy="808"/>
          </a:xfrm>
        </p:grpSpPr>
        <p:grpSp>
          <p:nvGrpSpPr>
            <p:cNvPr id="574492" name="组合 574491"/>
            <p:cNvGrpSpPr/>
            <p:nvPr/>
          </p:nvGrpSpPr>
          <p:grpSpPr>
            <a:xfrm rot="-5400000">
              <a:off x="3960" y="1896"/>
              <a:ext cx="808" cy="936"/>
              <a:chOff x="2412" y="2820"/>
              <a:chExt cx="808" cy="936"/>
            </a:xfrm>
          </p:grpSpPr>
          <p:sp>
            <p:nvSpPr>
              <p:cNvPr id="574493" name="任意多边形 574492"/>
              <p:cNvSpPr/>
              <p:nvPr/>
            </p:nvSpPr>
            <p:spPr>
              <a:xfrm>
                <a:off x="2964" y="2820"/>
                <a:ext cx="256" cy="468"/>
              </a:xfrm>
              <a:custGeom>
                <a:avLst/>
                <a:gdLst/>
                <a:ahLst/>
                <a:cxnLst/>
                <a:rect l="0" t="0" r="0" b="0"/>
                <a:pathLst>
                  <a:path w="256" h="468">
                    <a:moveTo>
                      <a:pt x="0" y="0"/>
                    </a:moveTo>
                    <a:cubicBezTo>
                      <a:pt x="30" y="4"/>
                      <a:pt x="140" y="18"/>
                      <a:pt x="180" y="24"/>
                    </a:cubicBezTo>
                    <a:cubicBezTo>
                      <a:pt x="220" y="30"/>
                      <a:pt x="230" y="12"/>
                      <a:pt x="240" y="36"/>
                    </a:cubicBezTo>
                    <a:cubicBezTo>
                      <a:pt x="250" y="60"/>
                      <a:pt x="240" y="116"/>
                      <a:pt x="240" y="168"/>
                    </a:cubicBezTo>
                    <a:cubicBezTo>
                      <a:pt x="240" y="220"/>
                      <a:pt x="244" y="302"/>
                      <a:pt x="240" y="348"/>
                    </a:cubicBezTo>
                    <a:cubicBezTo>
                      <a:pt x="236" y="394"/>
                      <a:pt x="256" y="424"/>
                      <a:pt x="216" y="444"/>
                    </a:cubicBezTo>
                    <a:cubicBezTo>
                      <a:pt x="176" y="464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494" name="任意多边形 574493"/>
              <p:cNvSpPr/>
              <p:nvPr/>
            </p:nvSpPr>
            <p:spPr>
              <a:xfrm flipH="1">
                <a:off x="2412" y="3288"/>
                <a:ext cx="614" cy="468"/>
              </a:xfrm>
              <a:custGeom>
                <a:avLst/>
                <a:gdLst/>
                <a:ahLst/>
                <a:cxnLst/>
                <a:rect l="0" t="0" r="0" b="0"/>
                <a:pathLst>
                  <a:path w="614" h="468">
                    <a:moveTo>
                      <a:pt x="0" y="0"/>
                    </a:moveTo>
                    <a:cubicBezTo>
                      <a:pt x="30" y="4"/>
                      <a:pt x="108" y="6"/>
                      <a:pt x="180" y="24"/>
                    </a:cubicBezTo>
                    <a:cubicBezTo>
                      <a:pt x="252" y="42"/>
                      <a:pt x="360" y="68"/>
                      <a:pt x="432" y="108"/>
                    </a:cubicBezTo>
                    <a:cubicBezTo>
                      <a:pt x="504" y="148"/>
                      <a:pt x="614" y="216"/>
                      <a:pt x="612" y="264"/>
                    </a:cubicBezTo>
                    <a:cubicBezTo>
                      <a:pt x="610" y="312"/>
                      <a:pt x="486" y="366"/>
                      <a:pt x="420" y="396"/>
                    </a:cubicBezTo>
                    <a:cubicBezTo>
                      <a:pt x="354" y="426"/>
                      <a:pt x="286" y="432"/>
                      <a:pt x="216" y="444"/>
                    </a:cubicBezTo>
                    <a:cubicBezTo>
                      <a:pt x="146" y="456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4495" name="直接连接符 574494"/>
            <p:cNvSpPr/>
            <p:nvPr/>
          </p:nvSpPr>
          <p:spPr>
            <a:xfrm>
              <a:off x="3672" y="2208"/>
              <a:ext cx="17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74496" name="文本框 574495"/>
          <p:cNvSpPr txBox="1"/>
          <p:nvPr/>
        </p:nvSpPr>
        <p:spPr>
          <a:xfrm>
            <a:off x="5943600" y="5091113"/>
            <a:ext cx="2705100" cy="617537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称为截止失真</a:t>
            </a:r>
            <a:endParaRPr lang="zh-CN" altLang="en-US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4497" name="文本框 574496"/>
          <p:cNvSpPr txBox="1"/>
          <p:nvPr/>
        </p:nvSpPr>
        <p:spPr>
          <a:xfrm>
            <a:off x="5697538" y="1449388"/>
            <a:ext cx="2951162" cy="617537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输出信号波形</a:t>
            </a:r>
            <a:endParaRPr lang="zh-CN" altLang="en-US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74503" name="组合 574502"/>
          <p:cNvGrpSpPr/>
          <p:nvPr/>
        </p:nvGrpSpPr>
        <p:grpSpPr>
          <a:xfrm>
            <a:off x="2232025" y="2214563"/>
            <a:ext cx="1785938" cy="4000500"/>
            <a:chOff x="1415" y="1355"/>
            <a:chExt cx="1125" cy="2520"/>
          </a:xfrm>
        </p:grpSpPr>
        <p:sp>
          <p:nvSpPr>
            <p:cNvPr id="574500" name="直接连接符 574499"/>
            <p:cNvSpPr/>
            <p:nvPr/>
          </p:nvSpPr>
          <p:spPr>
            <a:xfrm flipH="1">
              <a:off x="2540" y="2614"/>
              <a:ext cx="0" cy="123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4501" name="直接连接符 574500"/>
            <p:cNvSpPr/>
            <p:nvPr/>
          </p:nvSpPr>
          <p:spPr>
            <a:xfrm>
              <a:off x="2337" y="2453"/>
              <a:ext cx="0" cy="140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4502" name="直接连接符 574501"/>
            <p:cNvSpPr/>
            <p:nvPr/>
          </p:nvSpPr>
          <p:spPr>
            <a:xfrm flipH="1">
              <a:off x="1415" y="1355"/>
              <a:ext cx="0" cy="252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4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4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7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4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7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89" grpId="0" build="p"/>
      <p:bldP spid="574496" grpId="0" animBg="1"/>
      <p:bldP spid="57449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直接连接符 575489"/>
          <p:cNvSpPr/>
          <p:nvPr/>
        </p:nvSpPr>
        <p:spPr>
          <a:xfrm>
            <a:off x="1828800" y="1981200"/>
            <a:ext cx="2667000" cy="27813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75491" name="组合 575490"/>
          <p:cNvGrpSpPr/>
          <p:nvPr/>
        </p:nvGrpSpPr>
        <p:grpSpPr>
          <a:xfrm>
            <a:off x="2076450" y="1158875"/>
            <a:ext cx="3929063" cy="3543300"/>
            <a:chOff x="3264" y="1342"/>
            <a:chExt cx="2010" cy="2232"/>
          </a:xfrm>
        </p:grpSpPr>
        <p:sp>
          <p:nvSpPr>
            <p:cNvPr id="575492" name="文本框 575491"/>
            <p:cNvSpPr txBox="1"/>
            <p:nvPr/>
          </p:nvSpPr>
          <p:spPr>
            <a:xfrm>
              <a:off x="3315" y="1342"/>
              <a:ext cx="115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75493" name="文本框 575492"/>
            <p:cNvSpPr txBox="1"/>
            <p:nvPr/>
          </p:nvSpPr>
          <p:spPr>
            <a:xfrm>
              <a:off x="4877" y="3209"/>
              <a:ext cx="397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3200" b="1" baseline="-25000" err="1"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75494" name="组合 575493"/>
            <p:cNvGrpSpPr/>
            <p:nvPr/>
          </p:nvGrpSpPr>
          <p:grpSpPr>
            <a:xfrm>
              <a:off x="3264" y="1585"/>
              <a:ext cx="1584" cy="1896"/>
              <a:chOff x="3180" y="1585"/>
              <a:chExt cx="1584" cy="1896"/>
            </a:xfrm>
          </p:grpSpPr>
          <p:sp>
            <p:nvSpPr>
              <p:cNvPr id="575495" name="直接连接符 575494"/>
              <p:cNvSpPr/>
              <p:nvPr/>
            </p:nvSpPr>
            <p:spPr>
              <a:xfrm flipV="1">
                <a:off x="3180" y="3481"/>
                <a:ext cx="15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triangle" w="med" len="lg"/>
              </a:ln>
            </p:spPr>
          </p:sp>
          <p:grpSp>
            <p:nvGrpSpPr>
              <p:cNvPr id="575496" name="组合 575495"/>
              <p:cNvGrpSpPr/>
              <p:nvPr/>
            </p:nvGrpSpPr>
            <p:grpSpPr>
              <a:xfrm>
                <a:off x="3181" y="1585"/>
                <a:ext cx="1288" cy="1896"/>
                <a:chOff x="3181" y="1753"/>
                <a:chExt cx="1288" cy="1896"/>
              </a:xfrm>
            </p:grpSpPr>
            <p:sp>
              <p:nvSpPr>
                <p:cNvPr id="575497" name="直接连接符 575496"/>
                <p:cNvSpPr/>
                <p:nvPr/>
              </p:nvSpPr>
              <p:spPr>
                <a:xfrm flipH="1" flipV="1">
                  <a:off x="3192" y="1753"/>
                  <a:ext cx="0" cy="189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triangle" w="med" len="lg"/>
                </a:ln>
              </p:spPr>
            </p:sp>
            <p:grpSp>
              <p:nvGrpSpPr>
                <p:cNvPr id="575498" name="组合 575497"/>
                <p:cNvGrpSpPr/>
                <p:nvPr/>
              </p:nvGrpSpPr>
              <p:grpSpPr>
                <a:xfrm>
                  <a:off x="3181" y="2028"/>
                  <a:ext cx="1288" cy="1609"/>
                  <a:chOff x="3181" y="1260"/>
                  <a:chExt cx="2387" cy="2377"/>
                </a:xfrm>
              </p:grpSpPr>
              <p:sp>
                <p:nvSpPr>
                  <p:cNvPr id="575499" name="任意多边形 575498"/>
                  <p:cNvSpPr/>
                  <p:nvPr/>
                </p:nvSpPr>
                <p:spPr>
                  <a:xfrm>
                    <a:off x="3181" y="3505"/>
                    <a:ext cx="2387" cy="1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87" h="131">
                        <a:moveTo>
                          <a:pt x="19" y="131"/>
                        </a:moveTo>
                        <a:cubicBezTo>
                          <a:pt x="27" y="125"/>
                          <a:pt x="0" y="113"/>
                          <a:pt x="69" y="95"/>
                        </a:cubicBezTo>
                        <a:cubicBezTo>
                          <a:pt x="138" y="77"/>
                          <a:pt x="45" y="40"/>
                          <a:pt x="431" y="24"/>
                        </a:cubicBezTo>
                        <a:cubicBezTo>
                          <a:pt x="817" y="8"/>
                          <a:pt x="1980" y="5"/>
                          <a:pt x="2387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5500" name="任意多边形 575499"/>
                  <p:cNvSpPr/>
                  <p:nvPr/>
                </p:nvSpPr>
                <p:spPr>
                  <a:xfrm>
                    <a:off x="3200" y="3133"/>
                    <a:ext cx="2308" cy="5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08" h="504">
                        <a:moveTo>
                          <a:pt x="0" y="504"/>
                        </a:moveTo>
                        <a:cubicBezTo>
                          <a:pt x="3" y="472"/>
                          <a:pt x="6" y="352"/>
                          <a:pt x="15" y="314"/>
                        </a:cubicBezTo>
                        <a:cubicBezTo>
                          <a:pt x="24" y="276"/>
                          <a:pt x="26" y="302"/>
                          <a:pt x="52" y="276"/>
                        </a:cubicBezTo>
                        <a:cubicBezTo>
                          <a:pt x="78" y="250"/>
                          <a:pt x="124" y="190"/>
                          <a:pt x="172" y="156"/>
                        </a:cubicBezTo>
                        <a:cubicBezTo>
                          <a:pt x="220" y="122"/>
                          <a:pt x="244" y="90"/>
                          <a:pt x="340" y="72"/>
                        </a:cubicBezTo>
                        <a:cubicBezTo>
                          <a:pt x="436" y="54"/>
                          <a:pt x="420" y="60"/>
                          <a:pt x="748" y="48"/>
                        </a:cubicBezTo>
                        <a:cubicBezTo>
                          <a:pt x="1076" y="36"/>
                          <a:pt x="1983" y="10"/>
                          <a:pt x="2308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5501" name="任意多边形 575500"/>
                  <p:cNvSpPr/>
                  <p:nvPr/>
                </p:nvSpPr>
                <p:spPr>
                  <a:xfrm>
                    <a:off x="3197" y="2689"/>
                    <a:ext cx="2299" cy="9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99" h="948">
                        <a:moveTo>
                          <a:pt x="0" y="948"/>
                        </a:moveTo>
                        <a:cubicBezTo>
                          <a:pt x="9" y="858"/>
                          <a:pt x="20" y="540"/>
                          <a:pt x="55" y="408"/>
                        </a:cubicBezTo>
                        <a:cubicBezTo>
                          <a:pt x="90" y="276"/>
                          <a:pt x="151" y="212"/>
                          <a:pt x="211" y="156"/>
                        </a:cubicBezTo>
                        <a:cubicBezTo>
                          <a:pt x="271" y="100"/>
                          <a:pt x="247" y="93"/>
                          <a:pt x="413" y="69"/>
                        </a:cubicBezTo>
                        <a:cubicBezTo>
                          <a:pt x="579" y="45"/>
                          <a:pt x="893" y="23"/>
                          <a:pt x="1207" y="12"/>
                        </a:cubicBezTo>
                        <a:cubicBezTo>
                          <a:pt x="1521" y="1"/>
                          <a:pt x="2072" y="2"/>
                          <a:pt x="2299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5502" name="任意多边形 575501"/>
                  <p:cNvSpPr/>
                  <p:nvPr/>
                </p:nvSpPr>
                <p:spPr>
                  <a:xfrm>
                    <a:off x="3200" y="2221"/>
                    <a:ext cx="2260" cy="13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60" h="1380">
                        <a:moveTo>
                          <a:pt x="0" y="1380"/>
                        </a:moveTo>
                        <a:cubicBezTo>
                          <a:pt x="12" y="1237"/>
                          <a:pt x="48" y="729"/>
                          <a:pt x="73" y="525"/>
                        </a:cubicBezTo>
                        <a:cubicBezTo>
                          <a:pt x="99" y="321"/>
                          <a:pt x="86" y="236"/>
                          <a:pt x="155" y="157"/>
                        </a:cubicBezTo>
                        <a:cubicBezTo>
                          <a:pt x="223" y="77"/>
                          <a:pt x="132" y="76"/>
                          <a:pt x="483" y="50"/>
                        </a:cubicBezTo>
                        <a:cubicBezTo>
                          <a:pt x="834" y="24"/>
                          <a:pt x="1890" y="10"/>
                          <a:pt x="2260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5503" name="任意多边形 575502"/>
                  <p:cNvSpPr/>
                  <p:nvPr/>
                </p:nvSpPr>
                <p:spPr>
                  <a:xfrm>
                    <a:off x="3200" y="1813"/>
                    <a:ext cx="2224" cy="178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24" h="1788">
                        <a:moveTo>
                          <a:pt x="0" y="1788"/>
                        </a:moveTo>
                        <a:cubicBezTo>
                          <a:pt x="15" y="1616"/>
                          <a:pt x="70" y="1000"/>
                          <a:pt x="89" y="754"/>
                        </a:cubicBezTo>
                        <a:cubicBezTo>
                          <a:pt x="108" y="508"/>
                          <a:pt x="92" y="417"/>
                          <a:pt x="112" y="312"/>
                        </a:cubicBezTo>
                        <a:cubicBezTo>
                          <a:pt x="132" y="207"/>
                          <a:pt x="121" y="171"/>
                          <a:pt x="209" y="125"/>
                        </a:cubicBezTo>
                        <a:cubicBezTo>
                          <a:pt x="297" y="79"/>
                          <a:pt x="304" y="57"/>
                          <a:pt x="640" y="36"/>
                        </a:cubicBezTo>
                        <a:cubicBezTo>
                          <a:pt x="976" y="15"/>
                          <a:pt x="1894" y="8"/>
                          <a:pt x="2224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5504" name="任意多边形 575503"/>
                  <p:cNvSpPr/>
                  <p:nvPr/>
                </p:nvSpPr>
                <p:spPr>
                  <a:xfrm>
                    <a:off x="3200" y="1260"/>
                    <a:ext cx="2212" cy="23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2" h="2377">
                        <a:moveTo>
                          <a:pt x="0" y="2377"/>
                        </a:moveTo>
                        <a:cubicBezTo>
                          <a:pt x="15" y="2189"/>
                          <a:pt x="62" y="1583"/>
                          <a:pt x="93" y="1248"/>
                        </a:cubicBezTo>
                        <a:cubicBezTo>
                          <a:pt x="124" y="914"/>
                          <a:pt x="113" y="567"/>
                          <a:pt x="186" y="369"/>
                        </a:cubicBezTo>
                        <a:cubicBezTo>
                          <a:pt x="259" y="171"/>
                          <a:pt x="194" y="122"/>
                          <a:pt x="532" y="61"/>
                        </a:cubicBezTo>
                        <a:cubicBezTo>
                          <a:pt x="870" y="0"/>
                          <a:pt x="1862" y="13"/>
                          <a:pt x="2212" y="1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headEnd type="none" w="sm" len="sm"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575505" name="椭圆 575504"/>
          <p:cNvSpPr/>
          <p:nvPr/>
        </p:nvSpPr>
        <p:spPr>
          <a:xfrm>
            <a:off x="2501900" y="2619375"/>
            <a:ext cx="90488" cy="134938"/>
          </a:xfrm>
          <a:prstGeom prst="ellipse">
            <a:avLst/>
          </a:prstGeom>
          <a:solidFill>
            <a:srgbClr val="FF3300"/>
          </a:solidFill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75510" name="组合 575509"/>
          <p:cNvGrpSpPr/>
          <p:nvPr/>
        </p:nvGrpSpPr>
        <p:grpSpPr>
          <a:xfrm flipH="1">
            <a:off x="2209800" y="4533900"/>
            <a:ext cx="1752600" cy="1485900"/>
            <a:chOff x="2412" y="2820"/>
            <a:chExt cx="808" cy="936"/>
          </a:xfrm>
        </p:grpSpPr>
        <p:sp>
          <p:nvSpPr>
            <p:cNvPr id="575511" name="任意多边形 575510"/>
            <p:cNvSpPr/>
            <p:nvPr/>
          </p:nvSpPr>
          <p:spPr>
            <a:xfrm>
              <a:off x="2964" y="2820"/>
              <a:ext cx="256" cy="468"/>
            </a:xfrm>
            <a:custGeom>
              <a:avLst/>
              <a:gdLst/>
              <a:ahLst/>
              <a:cxnLst/>
              <a:rect l="0" t="0" r="0" b="0"/>
              <a:pathLst>
                <a:path w="256" h="468">
                  <a:moveTo>
                    <a:pt x="0" y="0"/>
                  </a:moveTo>
                  <a:cubicBezTo>
                    <a:pt x="30" y="4"/>
                    <a:pt x="140" y="18"/>
                    <a:pt x="180" y="24"/>
                  </a:cubicBezTo>
                  <a:cubicBezTo>
                    <a:pt x="220" y="30"/>
                    <a:pt x="230" y="12"/>
                    <a:pt x="240" y="36"/>
                  </a:cubicBezTo>
                  <a:cubicBezTo>
                    <a:pt x="250" y="60"/>
                    <a:pt x="240" y="116"/>
                    <a:pt x="240" y="168"/>
                  </a:cubicBezTo>
                  <a:cubicBezTo>
                    <a:pt x="240" y="220"/>
                    <a:pt x="244" y="302"/>
                    <a:pt x="240" y="348"/>
                  </a:cubicBezTo>
                  <a:cubicBezTo>
                    <a:pt x="236" y="394"/>
                    <a:pt x="256" y="424"/>
                    <a:pt x="216" y="444"/>
                  </a:cubicBezTo>
                  <a:cubicBezTo>
                    <a:pt x="176" y="464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5512" name="任意多边形 575511"/>
            <p:cNvSpPr/>
            <p:nvPr/>
          </p:nvSpPr>
          <p:spPr>
            <a:xfrm flipH="1">
              <a:off x="2412" y="3288"/>
              <a:ext cx="614" cy="468"/>
            </a:xfrm>
            <a:custGeom>
              <a:avLst/>
              <a:gdLst/>
              <a:ahLst/>
              <a:cxnLst/>
              <a:rect l="0" t="0" r="0" b="0"/>
              <a:pathLst>
                <a:path w="614" h="468">
                  <a:moveTo>
                    <a:pt x="0" y="0"/>
                  </a:moveTo>
                  <a:cubicBezTo>
                    <a:pt x="30" y="4"/>
                    <a:pt x="108" y="6"/>
                    <a:pt x="180" y="24"/>
                  </a:cubicBezTo>
                  <a:cubicBezTo>
                    <a:pt x="252" y="42"/>
                    <a:pt x="360" y="68"/>
                    <a:pt x="432" y="108"/>
                  </a:cubicBezTo>
                  <a:cubicBezTo>
                    <a:pt x="504" y="148"/>
                    <a:pt x="614" y="216"/>
                    <a:pt x="612" y="264"/>
                  </a:cubicBezTo>
                  <a:cubicBezTo>
                    <a:pt x="610" y="312"/>
                    <a:pt x="486" y="366"/>
                    <a:pt x="420" y="396"/>
                  </a:cubicBezTo>
                  <a:cubicBezTo>
                    <a:pt x="354" y="426"/>
                    <a:pt x="286" y="432"/>
                    <a:pt x="216" y="444"/>
                  </a:cubicBezTo>
                  <a:cubicBezTo>
                    <a:pt x="146" y="456"/>
                    <a:pt x="36" y="464"/>
                    <a:pt x="0" y="468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5513" name="文本框 575512"/>
          <p:cNvSpPr txBox="1"/>
          <p:nvPr/>
        </p:nvSpPr>
        <p:spPr>
          <a:xfrm>
            <a:off x="4171950" y="4919663"/>
            <a:ext cx="857250" cy="57943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i="1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3200" b="1" baseline="-25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endParaRPr lang="en-US" altLang="zh-CN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5514" name="文本框 575513"/>
          <p:cNvSpPr txBox="1"/>
          <p:nvPr/>
        </p:nvSpPr>
        <p:spPr>
          <a:xfrm>
            <a:off x="495300" y="301625"/>
            <a:ext cx="6146800" cy="5794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点过高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→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信号进入饱和区</a:t>
            </a:r>
          </a:p>
        </p:txBody>
      </p:sp>
      <p:grpSp>
        <p:nvGrpSpPr>
          <p:cNvPr id="575515" name="组合 575514"/>
          <p:cNvGrpSpPr/>
          <p:nvPr/>
        </p:nvGrpSpPr>
        <p:grpSpPr>
          <a:xfrm>
            <a:off x="5867400" y="1676400"/>
            <a:ext cx="2705100" cy="1282700"/>
            <a:chOff x="3696" y="1056"/>
            <a:chExt cx="1704" cy="808"/>
          </a:xfrm>
        </p:grpSpPr>
        <p:grpSp>
          <p:nvGrpSpPr>
            <p:cNvPr id="575516" name="组合 575515"/>
            <p:cNvGrpSpPr/>
            <p:nvPr/>
          </p:nvGrpSpPr>
          <p:grpSpPr>
            <a:xfrm rot="5400000" flipV="1">
              <a:off x="3984" y="992"/>
              <a:ext cx="808" cy="936"/>
              <a:chOff x="2412" y="2820"/>
              <a:chExt cx="808" cy="936"/>
            </a:xfrm>
          </p:grpSpPr>
          <p:sp>
            <p:nvSpPr>
              <p:cNvPr id="575517" name="任意多边形 575516"/>
              <p:cNvSpPr/>
              <p:nvPr/>
            </p:nvSpPr>
            <p:spPr>
              <a:xfrm>
                <a:off x="2964" y="2820"/>
                <a:ext cx="256" cy="468"/>
              </a:xfrm>
              <a:custGeom>
                <a:avLst/>
                <a:gdLst/>
                <a:ahLst/>
                <a:cxnLst/>
                <a:rect l="0" t="0" r="0" b="0"/>
                <a:pathLst>
                  <a:path w="256" h="468">
                    <a:moveTo>
                      <a:pt x="0" y="0"/>
                    </a:moveTo>
                    <a:cubicBezTo>
                      <a:pt x="30" y="4"/>
                      <a:pt x="140" y="18"/>
                      <a:pt x="180" y="24"/>
                    </a:cubicBezTo>
                    <a:cubicBezTo>
                      <a:pt x="220" y="30"/>
                      <a:pt x="230" y="12"/>
                      <a:pt x="240" y="36"/>
                    </a:cubicBezTo>
                    <a:cubicBezTo>
                      <a:pt x="250" y="60"/>
                      <a:pt x="240" y="116"/>
                      <a:pt x="240" y="168"/>
                    </a:cubicBezTo>
                    <a:cubicBezTo>
                      <a:pt x="240" y="220"/>
                      <a:pt x="244" y="302"/>
                      <a:pt x="240" y="348"/>
                    </a:cubicBezTo>
                    <a:cubicBezTo>
                      <a:pt x="236" y="394"/>
                      <a:pt x="256" y="424"/>
                      <a:pt x="216" y="444"/>
                    </a:cubicBezTo>
                    <a:cubicBezTo>
                      <a:pt x="176" y="464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5518" name="任意多边形 575517"/>
              <p:cNvSpPr/>
              <p:nvPr/>
            </p:nvSpPr>
            <p:spPr>
              <a:xfrm flipH="1">
                <a:off x="2412" y="3288"/>
                <a:ext cx="614" cy="468"/>
              </a:xfrm>
              <a:custGeom>
                <a:avLst/>
                <a:gdLst/>
                <a:ahLst/>
                <a:cxnLst/>
                <a:rect l="0" t="0" r="0" b="0"/>
                <a:pathLst>
                  <a:path w="614" h="468">
                    <a:moveTo>
                      <a:pt x="0" y="0"/>
                    </a:moveTo>
                    <a:cubicBezTo>
                      <a:pt x="30" y="4"/>
                      <a:pt x="108" y="6"/>
                      <a:pt x="180" y="24"/>
                    </a:cubicBezTo>
                    <a:cubicBezTo>
                      <a:pt x="252" y="42"/>
                      <a:pt x="360" y="68"/>
                      <a:pt x="432" y="108"/>
                    </a:cubicBezTo>
                    <a:cubicBezTo>
                      <a:pt x="504" y="148"/>
                      <a:pt x="614" y="216"/>
                      <a:pt x="612" y="264"/>
                    </a:cubicBezTo>
                    <a:cubicBezTo>
                      <a:pt x="610" y="312"/>
                      <a:pt x="486" y="366"/>
                      <a:pt x="420" y="396"/>
                    </a:cubicBezTo>
                    <a:cubicBezTo>
                      <a:pt x="354" y="426"/>
                      <a:pt x="286" y="432"/>
                      <a:pt x="216" y="444"/>
                    </a:cubicBezTo>
                    <a:cubicBezTo>
                      <a:pt x="146" y="456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5519" name="直接连接符 575518"/>
            <p:cNvSpPr/>
            <p:nvPr/>
          </p:nvSpPr>
          <p:spPr>
            <a:xfrm flipV="1">
              <a:off x="3696" y="1616"/>
              <a:ext cx="17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75520" name="文本框 575519"/>
          <p:cNvSpPr txBox="1"/>
          <p:nvPr/>
        </p:nvSpPr>
        <p:spPr>
          <a:xfrm>
            <a:off x="5943600" y="3276600"/>
            <a:ext cx="2705100" cy="617538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称为饱和失真</a:t>
            </a:r>
            <a:endParaRPr lang="zh-CN" altLang="en-US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5521" name="文本框 575520"/>
          <p:cNvSpPr txBox="1"/>
          <p:nvPr/>
        </p:nvSpPr>
        <p:spPr>
          <a:xfrm>
            <a:off x="6096000" y="914400"/>
            <a:ext cx="2797175" cy="617538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输出信号波形</a:t>
            </a:r>
            <a:endParaRPr lang="zh-CN" altLang="en-US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5523" name="文本框 575522"/>
          <p:cNvSpPr txBox="1"/>
          <p:nvPr/>
        </p:nvSpPr>
        <p:spPr>
          <a:xfrm>
            <a:off x="5715000" y="4800600"/>
            <a:ext cx="3429000" cy="94615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截止失真和饱和失真统称</a:t>
            </a:r>
            <a:r>
              <a:rPr lang="zh-CN" altLang="en-US" b="1" dirty="0">
                <a:solidFill>
                  <a:srgbClr val="CC0099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非线性失真</a:t>
            </a:r>
            <a:r>
              <a:rPr lang="zh-CN" altLang="en-US" b="1" dirty="0">
                <a:solidFill>
                  <a:srgbClr val="CC0099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</a:p>
        </p:txBody>
      </p:sp>
      <p:grpSp>
        <p:nvGrpSpPr>
          <p:cNvPr id="575536" name="组合 575535"/>
          <p:cNvGrpSpPr/>
          <p:nvPr/>
        </p:nvGrpSpPr>
        <p:grpSpPr>
          <a:xfrm>
            <a:off x="2185988" y="2259013"/>
            <a:ext cx="1806575" cy="4078287"/>
            <a:chOff x="1402" y="1376"/>
            <a:chExt cx="1138" cy="2569"/>
          </a:xfrm>
        </p:grpSpPr>
        <p:sp>
          <p:nvSpPr>
            <p:cNvPr id="575533" name="直接连接符 575532"/>
            <p:cNvSpPr/>
            <p:nvPr/>
          </p:nvSpPr>
          <p:spPr>
            <a:xfrm flipH="1">
              <a:off x="2540" y="2614"/>
              <a:ext cx="0" cy="123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5534" name="直接连接符 575533"/>
            <p:cNvSpPr/>
            <p:nvPr/>
          </p:nvSpPr>
          <p:spPr>
            <a:xfrm flipH="1">
              <a:off x="1629" y="1461"/>
              <a:ext cx="0" cy="248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75535" name="直接连接符 575534"/>
            <p:cNvSpPr/>
            <p:nvPr/>
          </p:nvSpPr>
          <p:spPr>
            <a:xfrm flipH="1">
              <a:off x="1402" y="1376"/>
              <a:ext cx="0" cy="252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5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5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5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75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5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75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7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513" grpId="0" build="p"/>
      <p:bldP spid="575520" grpId="0" animBg="1"/>
      <p:bldP spid="575521" grpId="0" animBg="1"/>
      <p:bldP spid="57552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文本框 576513"/>
          <p:cNvSpPr txBox="1"/>
          <p:nvPr/>
        </p:nvSpPr>
        <p:spPr>
          <a:xfrm>
            <a:off x="701675" y="1449388"/>
            <a:ext cx="441007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思路：将非线性的</a:t>
            </a:r>
            <a:r>
              <a:rPr lang="en-US" altLang="zh-CN" b="1" dirty="0">
                <a:latin typeface="Times New Roman" panose="02020603050405020304" pitchFamily="18" charset="0"/>
              </a:rPr>
              <a:t>BJT</a:t>
            </a:r>
            <a:r>
              <a:rPr lang="zh-CN" altLang="en-US" b="1" dirty="0">
                <a:latin typeface="Times New Roman" panose="02020603050405020304" pitchFamily="18" charset="0"/>
              </a:rPr>
              <a:t>等效成一个线性电路</a:t>
            </a:r>
          </a:p>
        </p:txBody>
      </p:sp>
      <p:sp>
        <p:nvSpPr>
          <p:cNvPr id="576515" name="文本框 576514"/>
          <p:cNvSpPr txBox="1"/>
          <p:nvPr/>
        </p:nvSpPr>
        <p:spPr>
          <a:xfrm>
            <a:off x="611188" y="2619375"/>
            <a:ext cx="373538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条件：交流小信号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76516" name="图片 5765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" y="3450273"/>
            <a:ext cx="3048000" cy="2638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6518" name="右箭头 576517"/>
          <p:cNvSpPr/>
          <p:nvPr/>
        </p:nvSpPr>
        <p:spPr>
          <a:xfrm>
            <a:off x="3762375" y="4688523"/>
            <a:ext cx="762000" cy="374650"/>
          </a:xfrm>
          <a:prstGeom prst="rightArrow">
            <a:avLst>
              <a:gd name="adj1" fmla="val 50000"/>
              <a:gd name="adj2" fmla="val 50847"/>
            </a:avLst>
          </a:prstGeom>
          <a:solidFill>
            <a:srgbClr val="FF99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6520" name="文本框 576519"/>
          <p:cNvSpPr txBox="1"/>
          <p:nvPr/>
        </p:nvSpPr>
        <p:spPr>
          <a:xfrm>
            <a:off x="1871663" y="368300"/>
            <a:ext cx="4608512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2.4.3  </a:t>
            </a:r>
            <a:r>
              <a:rPr lang="zh-CN" altLang="en-US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小信号模型分析法</a:t>
            </a:r>
          </a:p>
        </p:txBody>
      </p:sp>
      <p:pic>
        <p:nvPicPr>
          <p:cNvPr id="576521" name="图片 5765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748" y="773113"/>
            <a:ext cx="3581400" cy="26781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Group 24"/>
          <p:cNvGrpSpPr/>
          <p:nvPr/>
        </p:nvGrpSpPr>
        <p:grpSpPr>
          <a:xfrm>
            <a:off x="4964748" y="3653790"/>
            <a:ext cx="3276600" cy="2078038"/>
            <a:chOff x="3504" y="2064"/>
            <a:chExt cx="2064" cy="1309"/>
          </a:xfrm>
        </p:grpSpPr>
        <p:pic>
          <p:nvPicPr>
            <p:cNvPr id="78860" name="Picture 2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04" y="2064"/>
              <a:ext cx="2064" cy="1309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78861" name="Group 26"/>
            <p:cNvGrpSpPr/>
            <p:nvPr/>
          </p:nvGrpSpPr>
          <p:grpSpPr>
            <a:xfrm>
              <a:off x="4656" y="2688"/>
              <a:ext cx="288" cy="294"/>
              <a:chOff x="1536" y="2682"/>
              <a:chExt cx="288" cy="294"/>
            </a:xfrm>
          </p:grpSpPr>
          <p:sp>
            <p:nvSpPr>
              <p:cNvPr id="78862" name="Rectangle 27"/>
              <p:cNvSpPr/>
              <p:nvPr/>
            </p:nvSpPr>
            <p:spPr>
              <a:xfrm>
                <a:off x="15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8863" name="Group 28"/>
              <p:cNvGrpSpPr/>
              <p:nvPr/>
            </p:nvGrpSpPr>
            <p:grpSpPr>
              <a:xfrm>
                <a:off x="1583" y="2682"/>
                <a:ext cx="192" cy="288"/>
                <a:chOff x="3120" y="3648"/>
                <a:chExt cx="192" cy="288"/>
              </a:xfrm>
            </p:grpSpPr>
            <p:grpSp>
              <p:nvGrpSpPr>
                <p:cNvPr id="78864" name="Group 29"/>
                <p:cNvGrpSpPr/>
                <p:nvPr/>
              </p:nvGrpSpPr>
              <p:grpSpPr>
                <a:xfrm>
                  <a:off x="3120" y="3648"/>
                  <a:ext cx="192" cy="288"/>
                  <a:chOff x="2496" y="3648"/>
                  <a:chExt cx="192" cy="288"/>
                </a:xfrm>
              </p:grpSpPr>
              <p:sp>
                <p:nvSpPr>
                  <p:cNvPr id="78865" name="Line 30"/>
                  <p:cNvSpPr/>
                  <p:nvPr/>
                </p:nvSpPr>
                <p:spPr>
                  <a:xfrm flipH="1">
                    <a:off x="2496" y="3648"/>
                    <a:ext cx="96" cy="144"/>
                  </a:xfrm>
                  <a:prstGeom prst="line">
                    <a:avLst/>
                  </a:prstGeom>
                  <a:ln w="28575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78866" name="Line 31"/>
                  <p:cNvSpPr/>
                  <p:nvPr/>
                </p:nvSpPr>
                <p:spPr>
                  <a:xfrm flipH="1">
                    <a:off x="2592" y="3792"/>
                    <a:ext cx="96" cy="144"/>
                  </a:xfrm>
                  <a:prstGeom prst="line">
                    <a:avLst/>
                  </a:prstGeom>
                  <a:ln w="28575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78867" name="Line 32"/>
                  <p:cNvSpPr/>
                  <p:nvPr/>
                </p:nvSpPr>
                <p:spPr>
                  <a:xfrm>
                    <a:off x="2592" y="3648"/>
                    <a:ext cx="96" cy="144"/>
                  </a:xfrm>
                  <a:prstGeom prst="line">
                    <a:avLst/>
                  </a:prstGeom>
                  <a:ln w="19050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78868" name="Line 33"/>
                  <p:cNvSpPr/>
                  <p:nvPr/>
                </p:nvSpPr>
                <p:spPr>
                  <a:xfrm>
                    <a:off x="2496" y="3792"/>
                    <a:ext cx="96" cy="144"/>
                  </a:xfrm>
                  <a:prstGeom prst="line">
                    <a:avLst/>
                  </a:prstGeom>
                  <a:ln w="19050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78869" name="Line 34"/>
                <p:cNvSpPr/>
                <p:nvPr/>
              </p:nvSpPr>
              <p:spPr>
                <a:xfrm>
                  <a:off x="3120" y="3792"/>
                  <a:ext cx="192" cy="0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</p:grpSp>
        </p:grpSp>
      </p:grpSp>
      <p:graphicFrame>
        <p:nvGraphicFramePr>
          <p:cNvPr id="710676" name="Object 20"/>
          <p:cNvGraphicFramePr/>
          <p:nvPr/>
        </p:nvGraphicFramePr>
        <p:xfrm>
          <a:off x="4931728" y="5934393"/>
          <a:ext cx="12557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3" r:id="rId6" imgW="570865" imgH="254000" progId="Equation.DSMT4">
                  <p:embed/>
                </p:oleObj>
              </mc:Choice>
              <mc:Fallback>
                <p:oleObj r:id="rId6" imgW="570865" imgH="2540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31728" y="5934393"/>
                        <a:ext cx="1255712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0677" name="Object 21"/>
          <p:cNvGraphicFramePr/>
          <p:nvPr/>
        </p:nvGraphicFramePr>
        <p:xfrm>
          <a:off x="6912610" y="5934393"/>
          <a:ext cx="976313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4" r:id="rId8" imgW="443865" imgH="254000" progId="Equation.DSMT4">
                  <p:embed/>
                </p:oleObj>
              </mc:Choice>
              <mc:Fallback>
                <p:oleObj r:id="rId8" imgW="443865" imgH="2540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12610" y="5934393"/>
                        <a:ext cx="976313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356610" y="5063490"/>
            <a:ext cx="17741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400" b="1" i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h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参数</a:t>
            </a: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小信号模型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6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6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6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7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7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57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1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4" grpId="0"/>
      <p:bldP spid="576515" grpId="0"/>
      <p:bldP spid="2" grpId="0"/>
      <p:bldP spid="2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文本框 582657"/>
          <p:cNvSpPr txBox="1"/>
          <p:nvPr/>
        </p:nvSpPr>
        <p:spPr>
          <a:xfrm>
            <a:off x="609600" y="381000"/>
            <a:ext cx="26130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的计算：</a:t>
            </a:r>
          </a:p>
        </p:txBody>
      </p:sp>
      <p:sp>
        <p:nvSpPr>
          <p:cNvPr id="582659" name="文本框 582658"/>
          <p:cNvSpPr txBox="1"/>
          <p:nvPr/>
        </p:nvSpPr>
        <p:spPr>
          <a:xfrm>
            <a:off x="533400" y="1066800"/>
            <a:ext cx="3886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由</a:t>
            </a:r>
            <a:r>
              <a:rPr lang="en-US" altLang="zh-CN" b="1" dirty="0">
                <a:latin typeface="Times New Roman" panose="02020603050405020304" pitchFamily="18" charset="0"/>
              </a:rPr>
              <a:t>PN</a:t>
            </a:r>
            <a:r>
              <a:rPr lang="zh-CN" altLang="en-US" b="1" dirty="0">
                <a:latin typeface="Times New Roman" panose="02020603050405020304" pitchFamily="18" charset="0"/>
              </a:rPr>
              <a:t>结的电流公式：</a:t>
            </a:r>
          </a:p>
        </p:txBody>
      </p:sp>
      <p:graphicFrame>
        <p:nvGraphicFramePr>
          <p:cNvPr id="582660" name="对象 582659"/>
          <p:cNvGraphicFramePr/>
          <p:nvPr/>
        </p:nvGraphicFramePr>
        <p:xfrm>
          <a:off x="990600" y="1600200"/>
          <a:ext cx="25908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3" r:id="rId3" imgW="1154430" imgH="266065" progId="Equation.DSMT4">
                  <p:embed/>
                </p:oleObj>
              </mc:Choice>
              <mc:Fallback>
                <p:oleObj r:id="rId3" imgW="1154430" imgH="266065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1600200"/>
                        <a:ext cx="2590800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61" name="对象 582660"/>
          <p:cNvGraphicFramePr/>
          <p:nvPr/>
        </p:nvGraphicFramePr>
        <p:xfrm>
          <a:off x="838200" y="2349500"/>
          <a:ext cx="1414463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4" r:id="rId5" imgW="685800" imgH="444500" progId="Equation.DSMT4">
                  <p:embed/>
                </p:oleObj>
              </mc:Choice>
              <mc:Fallback>
                <p:oleObj r:id="rId5" imgW="685800" imgH="4445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200" y="2349500"/>
                        <a:ext cx="1414463" cy="912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62" name="对象 582661"/>
          <p:cNvGraphicFramePr/>
          <p:nvPr/>
        </p:nvGraphicFramePr>
        <p:xfrm>
          <a:off x="2328863" y="2271713"/>
          <a:ext cx="2738437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5" r:id="rId7" imgW="1193165" imgH="444500" progId="Equation.DSMT4">
                  <p:embed/>
                </p:oleObj>
              </mc:Choice>
              <mc:Fallback>
                <p:oleObj r:id="rId7" imgW="1193165" imgH="4445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28863" y="2271713"/>
                        <a:ext cx="2738437" cy="102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2663" name="组合 582662"/>
          <p:cNvGrpSpPr/>
          <p:nvPr/>
        </p:nvGrpSpPr>
        <p:grpSpPr>
          <a:xfrm>
            <a:off x="865188" y="3492500"/>
            <a:ext cx="4697412" cy="969963"/>
            <a:chOff x="545" y="2200"/>
            <a:chExt cx="2959" cy="611"/>
          </a:xfrm>
        </p:grpSpPr>
        <p:graphicFrame>
          <p:nvGraphicFramePr>
            <p:cNvPr id="582664" name="对象 582663"/>
            <p:cNvGraphicFramePr/>
            <p:nvPr/>
          </p:nvGraphicFramePr>
          <p:xfrm>
            <a:off x="545" y="2200"/>
            <a:ext cx="1453" cy="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36" r:id="rId9" imgW="1053465" imgH="444500" progId="Equation.DSMT4">
                    <p:embed/>
                  </p:oleObj>
                </mc:Choice>
                <mc:Fallback>
                  <p:oleObj r:id="rId9" imgW="1053465" imgH="4445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45" y="2200"/>
                          <a:ext cx="1453" cy="6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2665" name="文本框 582664"/>
            <p:cNvSpPr txBox="1"/>
            <p:nvPr/>
          </p:nvSpPr>
          <p:spPr>
            <a:xfrm>
              <a:off x="2064" y="2304"/>
              <a:ext cx="14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（常温下）</a:t>
              </a:r>
            </a:p>
          </p:txBody>
        </p:sp>
      </p:grpSp>
      <p:graphicFrame>
        <p:nvGraphicFramePr>
          <p:cNvPr id="582666" name="对象 582665"/>
          <p:cNvGraphicFramePr/>
          <p:nvPr/>
        </p:nvGraphicFramePr>
        <p:xfrm>
          <a:off x="698500" y="4403725"/>
          <a:ext cx="6627813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7" r:id="rId11" imgW="2667000" imgH="469900" progId="Equation.DSMT4">
                  <p:embed/>
                </p:oleObj>
              </mc:Choice>
              <mc:Fallback>
                <p:oleObj r:id="rId11" imgW="2667000" imgH="4699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8500" y="4403725"/>
                        <a:ext cx="6627813" cy="1174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67" name="文本框 582666"/>
          <p:cNvSpPr txBox="1"/>
          <p:nvPr/>
        </p:nvSpPr>
        <p:spPr>
          <a:xfrm>
            <a:off x="5943600" y="4191000"/>
            <a:ext cx="2895600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其中：</a:t>
            </a:r>
            <a:r>
              <a:rPr lang="en-US" altLang="zh-CN" b="1" i="1" err="1">
                <a:latin typeface="Times New Roman" panose="02020603050405020304" pitchFamily="18" charset="0"/>
              </a:rPr>
              <a:t>r</a:t>
            </a:r>
            <a:r>
              <a:rPr lang="en-US" altLang="zh-CN" b="1" baseline="-25000" err="1">
                <a:latin typeface="Times New Roman" panose="02020603050405020304" pitchFamily="18" charset="0"/>
              </a:rPr>
              <a:t>bb</a:t>
            </a:r>
            <a:r>
              <a:rPr lang="en-US" altLang="zh-CN" b="1" baseline="-25000">
                <a:latin typeface="Times New Roman" panose="02020603050405020304" pitchFamily="18" charset="0"/>
              </a:rPr>
              <a:t>’</a:t>
            </a:r>
            <a:r>
              <a:rPr lang="en-US" altLang="zh-CN" b="1">
                <a:latin typeface="Times New Roman" panose="02020603050405020304" pitchFamily="18" charset="0"/>
              </a:rPr>
              <a:t>=200Ω</a:t>
            </a:r>
          </a:p>
        </p:txBody>
      </p:sp>
      <p:pic>
        <p:nvPicPr>
          <p:cNvPr id="582668" name="图片 58266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0" y="228600"/>
            <a:ext cx="2581275" cy="40386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82669" name="组合 582668"/>
          <p:cNvGrpSpPr/>
          <p:nvPr/>
        </p:nvGrpSpPr>
        <p:grpSpPr>
          <a:xfrm>
            <a:off x="838200" y="5562600"/>
            <a:ext cx="7239000" cy="1079500"/>
            <a:chOff x="528" y="3504"/>
            <a:chExt cx="4560" cy="680"/>
          </a:xfrm>
        </p:grpSpPr>
        <p:sp>
          <p:nvSpPr>
            <p:cNvPr id="582670" name="文本框 582669"/>
            <p:cNvSpPr txBox="1"/>
            <p:nvPr/>
          </p:nvSpPr>
          <p:spPr>
            <a:xfrm>
              <a:off x="528" y="3504"/>
              <a:ext cx="4560" cy="633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82671" name="组合 582670"/>
            <p:cNvGrpSpPr/>
            <p:nvPr/>
          </p:nvGrpSpPr>
          <p:grpSpPr>
            <a:xfrm>
              <a:off x="912" y="3504"/>
              <a:ext cx="3575" cy="680"/>
              <a:chOff x="720" y="3456"/>
              <a:chExt cx="3575" cy="680"/>
            </a:xfrm>
          </p:grpSpPr>
          <p:graphicFrame>
            <p:nvGraphicFramePr>
              <p:cNvPr id="582672" name="对象 582671"/>
              <p:cNvGraphicFramePr/>
              <p:nvPr/>
            </p:nvGraphicFramePr>
            <p:xfrm>
              <a:off x="1632" y="3456"/>
              <a:ext cx="2663" cy="6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38" r:id="rId14" imgW="1701165" imgH="431800" progId="Equation.3">
                      <p:embed/>
                    </p:oleObj>
                  </mc:Choice>
                  <mc:Fallback>
                    <p:oleObj r:id="rId14" imgW="1701165" imgH="431800" progId="Equation.3">
                      <p:embed/>
                      <p:pic>
                        <p:nvPicPr>
                          <p:cNvPr id="0" name="图片 3126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1632" y="3456"/>
                            <a:ext cx="2663" cy="68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82673" name="文本框 582672"/>
              <p:cNvSpPr txBox="1"/>
              <p:nvPr/>
            </p:nvSpPr>
            <p:spPr>
              <a:xfrm>
                <a:off x="720" y="3600"/>
                <a:ext cx="86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所以：</a:t>
                </a:r>
              </a:p>
            </p:txBody>
          </p: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2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2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8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8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82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8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8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59" grpId="0"/>
      <p:bldP spid="58266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ext Box 2"/>
          <p:cNvSpPr txBox="1"/>
          <p:nvPr/>
        </p:nvSpPr>
        <p:spPr>
          <a:xfrm>
            <a:off x="0" y="228600"/>
            <a:ext cx="77216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用</a:t>
            </a:r>
            <a:r>
              <a:rPr lang="en-US" altLang="zh-CN" b="1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h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参数小信号模型分析共射级基本放大电路</a:t>
            </a:r>
          </a:p>
        </p:txBody>
      </p:sp>
      <p:sp>
        <p:nvSpPr>
          <p:cNvPr id="583683" name="Text Box 3"/>
          <p:cNvSpPr txBox="1"/>
          <p:nvPr/>
        </p:nvSpPr>
        <p:spPr>
          <a:xfrm>
            <a:off x="-198437" y="908050"/>
            <a:ext cx="48609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画出放大器的微变等效电路</a:t>
            </a:r>
          </a:p>
        </p:txBody>
      </p:sp>
      <p:sp>
        <p:nvSpPr>
          <p:cNvPr id="583685" name="Text Box 5"/>
          <p:cNvSpPr txBox="1"/>
          <p:nvPr/>
        </p:nvSpPr>
        <p:spPr>
          <a:xfrm>
            <a:off x="457200" y="1600200"/>
            <a:ext cx="5029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）画出放大电路的交流通路</a:t>
            </a:r>
          </a:p>
        </p:txBody>
      </p:sp>
      <p:sp>
        <p:nvSpPr>
          <p:cNvPr id="583686" name="Text Box 6"/>
          <p:cNvSpPr txBox="1"/>
          <p:nvPr/>
        </p:nvSpPr>
        <p:spPr>
          <a:xfrm>
            <a:off x="457200" y="2133600"/>
            <a:ext cx="50292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）将交流通路中的三极管用</a:t>
            </a:r>
            <a:r>
              <a:rPr lang="en-US" altLang="zh-CN" sz="2400" b="1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参数等效电路代替</a:t>
            </a:r>
          </a:p>
        </p:txBody>
      </p:sp>
      <p:pic>
        <p:nvPicPr>
          <p:cNvPr id="58368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990600"/>
            <a:ext cx="3352800" cy="2508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37"/>
          <p:cNvGrpSpPr/>
          <p:nvPr/>
        </p:nvGrpSpPr>
        <p:grpSpPr>
          <a:xfrm>
            <a:off x="1524000" y="3113088"/>
            <a:ext cx="5562600" cy="2524125"/>
            <a:chOff x="960" y="1961"/>
            <a:chExt cx="3504" cy="1590"/>
          </a:xfrm>
        </p:grpSpPr>
        <p:pic>
          <p:nvPicPr>
            <p:cNvPr id="80903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" y="1961"/>
              <a:ext cx="3504" cy="1590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80904" name="Group 28"/>
            <p:cNvGrpSpPr/>
            <p:nvPr/>
          </p:nvGrpSpPr>
          <p:grpSpPr>
            <a:xfrm>
              <a:off x="2691" y="2688"/>
              <a:ext cx="288" cy="294"/>
              <a:chOff x="1536" y="2682"/>
              <a:chExt cx="288" cy="294"/>
            </a:xfrm>
          </p:grpSpPr>
          <p:sp>
            <p:nvSpPr>
              <p:cNvPr id="80905" name="Rectangle 29"/>
              <p:cNvSpPr/>
              <p:nvPr/>
            </p:nvSpPr>
            <p:spPr>
              <a:xfrm>
                <a:off x="15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0906" name="Group 30"/>
              <p:cNvGrpSpPr/>
              <p:nvPr/>
            </p:nvGrpSpPr>
            <p:grpSpPr>
              <a:xfrm>
                <a:off x="1583" y="2682"/>
                <a:ext cx="192" cy="288"/>
                <a:chOff x="3120" y="3648"/>
                <a:chExt cx="192" cy="288"/>
              </a:xfrm>
            </p:grpSpPr>
            <p:grpSp>
              <p:nvGrpSpPr>
                <p:cNvPr id="80907" name="Group 31"/>
                <p:cNvGrpSpPr/>
                <p:nvPr/>
              </p:nvGrpSpPr>
              <p:grpSpPr>
                <a:xfrm>
                  <a:off x="3120" y="3648"/>
                  <a:ext cx="192" cy="288"/>
                  <a:chOff x="2496" y="3648"/>
                  <a:chExt cx="192" cy="288"/>
                </a:xfrm>
              </p:grpSpPr>
              <p:sp>
                <p:nvSpPr>
                  <p:cNvPr id="80908" name="Line 32"/>
                  <p:cNvSpPr/>
                  <p:nvPr/>
                </p:nvSpPr>
                <p:spPr>
                  <a:xfrm flipH="1">
                    <a:off x="2496" y="3648"/>
                    <a:ext cx="96" cy="144"/>
                  </a:xfrm>
                  <a:prstGeom prst="line">
                    <a:avLst/>
                  </a:prstGeom>
                  <a:ln w="28575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80909" name="Line 33"/>
                  <p:cNvSpPr/>
                  <p:nvPr/>
                </p:nvSpPr>
                <p:spPr>
                  <a:xfrm flipH="1">
                    <a:off x="2592" y="3792"/>
                    <a:ext cx="96" cy="144"/>
                  </a:xfrm>
                  <a:prstGeom prst="line">
                    <a:avLst/>
                  </a:prstGeom>
                  <a:ln w="28575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80910" name="Line 34"/>
                  <p:cNvSpPr/>
                  <p:nvPr/>
                </p:nvSpPr>
                <p:spPr>
                  <a:xfrm>
                    <a:off x="2592" y="3648"/>
                    <a:ext cx="96" cy="144"/>
                  </a:xfrm>
                  <a:prstGeom prst="line">
                    <a:avLst/>
                  </a:prstGeom>
                  <a:ln w="19050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80911" name="Line 35"/>
                  <p:cNvSpPr/>
                  <p:nvPr/>
                </p:nvSpPr>
                <p:spPr>
                  <a:xfrm>
                    <a:off x="2496" y="3792"/>
                    <a:ext cx="96" cy="144"/>
                  </a:xfrm>
                  <a:prstGeom prst="line">
                    <a:avLst/>
                  </a:prstGeom>
                  <a:ln w="19050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80912" name="Line 36"/>
                <p:cNvSpPr/>
                <p:nvPr/>
              </p:nvSpPr>
              <p:spPr>
                <a:xfrm>
                  <a:off x="3120" y="3792"/>
                  <a:ext cx="192" cy="0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</p:grp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83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3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8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3" grpId="0"/>
      <p:bldP spid="583685" grpId="0"/>
      <p:bldP spid="58368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文本框 584705"/>
          <p:cNvSpPr txBox="1"/>
          <p:nvPr/>
        </p:nvSpPr>
        <p:spPr>
          <a:xfrm>
            <a:off x="161925" y="458788"/>
            <a:ext cx="4225925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电压放大倍数的计算：</a:t>
            </a:r>
            <a:endParaRPr lang="zh-CN" altLang="en-US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584707" name="对象 584706"/>
          <p:cNvGraphicFramePr/>
          <p:nvPr/>
        </p:nvGraphicFramePr>
        <p:xfrm>
          <a:off x="1141413" y="4038600"/>
          <a:ext cx="13319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1" r:id="rId3" imgW="533400" imgH="228600" progId="Equation.3">
                  <p:embed/>
                </p:oleObj>
              </mc:Choice>
              <mc:Fallback>
                <p:oleObj r:id="rId3" imgW="533400" imgH="2286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1413" y="4038600"/>
                        <a:ext cx="1331912" cy="56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708" name="对象 584707"/>
          <p:cNvGraphicFramePr/>
          <p:nvPr/>
        </p:nvGraphicFramePr>
        <p:xfrm>
          <a:off x="1128713" y="4800600"/>
          <a:ext cx="178593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2" r:id="rId5" imgW="774065" imgH="228600" progId="Equation.DSMT4">
                  <p:embed/>
                </p:oleObj>
              </mc:Choice>
              <mc:Fallback>
                <p:oleObj r:id="rId5" imgW="774065" imgH="2286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8713" y="4800600"/>
                        <a:ext cx="1785937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709" name="对象 584708"/>
          <p:cNvGraphicFramePr/>
          <p:nvPr/>
        </p:nvGraphicFramePr>
        <p:xfrm>
          <a:off x="3149600" y="4191000"/>
          <a:ext cx="26955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3" r:id="rId7" imgW="1078865" imgH="431800" progId="Equation.3">
                  <p:embed/>
                </p:oleObj>
              </mc:Choice>
              <mc:Fallback>
                <p:oleObj r:id="rId7" imgW="1078865" imgH="4318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49600" y="4191000"/>
                        <a:ext cx="2695575" cy="1077913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710" name="对象 584709"/>
          <p:cNvGraphicFramePr/>
          <p:nvPr/>
        </p:nvGraphicFramePr>
        <p:xfrm>
          <a:off x="6096000" y="441960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4" r:id="rId9" imgW="825500" imgH="228600" progId="Equation.3">
                  <p:embed/>
                </p:oleObj>
              </mc:Choice>
              <mc:Fallback>
                <p:oleObj r:id="rId9" imgW="825500" imgH="2286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96000" y="4419600"/>
                        <a:ext cx="2070100" cy="573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711" name="文本框 584710"/>
          <p:cNvSpPr txBox="1"/>
          <p:nvPr/>
        </p:nvSpPr>
        <p:spPr>
          <a:xfrm>
            <a:off x="1828800" y="5715000"/>
            <a:ext cx="5943600" cy="5794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负载电阻越小，放大倍数越小。</a:t>
            </a:r>
            <a:endParaRPr lang="zh-CN" altLang="en-US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2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0" y="1219200"/>
            <a:ext cx="5810250" cy="263683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1928" name="Group 9"/>
          <p:cNvGrpSpPr/>
          <p:nvPr/>
        </p:nvGrpSpPr>
        <p:grpSpPr>
          <a:xfrm>
            <a:off x="4730750" y="2452688"/>
            <a:ext cx="457200" cy="466725"/>
            <a:chOff x="1536" y="2682"/>
            <a:chExt cx="288" cy="294"/>
          </a:xfrm>
        </p:grpSpPr>
        <p:sp>
          <p:nvSpPr>
            <p:cNvPr id="81929" name="Rectangle 10"/>
            <p:cNvSpPr/>
            <p:nvPr/>
          </p:nvSpPr>
          <p:spPr>
            <a:xfrm>
              <a:off x="1536" y="2688"/>
              <a:ext cx="288" cy="28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1930" name="Group 11"/>
            <p:cNvGrpSpPr/>
            <p:nvPr/>
          </p:nvGrpSpPr>
          <p:grpSpPr>
            <a:xfrm>
              <a:off x="1583" y="2682"/>
              <a:ext cx="192" cy="288"/>
              <a:chOff x="3120" y="3648"/>
              <a:chExt cx="192" cy="288"/>
            </a:xfrm>
          </p:grpSpPr>
          <p:grpSp>
            <p:nvGrpSpPr>
              <p:cNvPr id="81931" name="Group 12"/>
              <p:cNvGrpSpPr/>
              <p:nvPr/>
            </p:nvGrpSpPr>
            <p:grpSpPr>
              <a:xfrm>
                <a:off x="3120" y="3648"/>
                <a:ext cx="192" cy="288"/>
                <a:chOff x="2496" y="3648"/>
                <a:chExt cx="192" cy="288"/>
              </a:xfrm>
            </p:grpSpPr>
            <p:sp>
              <p:nvSpPr>
                <p:cNvPr id="81932" name="Line 13"/>
                <p:cNvSpPr/>
                <p:nvPr/>
              </p:nvSpPr>
              <p:spPr>
                <a:xfrm flipH="1">
                  <a:off x="2496" y="3648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1933" name="Line 14"/>
                <p:cNvSpPr/>
                <p:nvPr/>
              </p:nvSpPr>
              <p:spPr>
                <a:xfrm flipH="1">
                  <a:off x="2592" y="3792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1934" name="Line 15"/>
                <p:cNvSpPr/>
                <p:nvPr/>
              </p:nvSpPr>
              <p:spPr>
                <a:xfrm>
                  <a:off x="2592" y="3648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1935" name="Line 16"/>
                <p:cNvSpPr/>
                <p:nvPr/>
              </p:nvSpPr>
              <p:spPr>
                <a:xfrm>
                  <a:off x="2496" y="3792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</p:grpSp>
          <p:sp>
            <p:nvSpPr>
              <p:cNvPr id="81936" name="Line 17"/>
              <p:cNvSpPr/>
              <p:nvPr/>
            </p:nvSpPr>
            <p:spPr>
              <a:xfrm>
                <a:off x="3120" y="3792"/>
                <a:ext cx="192" cy="0"/>
              </a:xfrm>
              <a:prstGeom prst="line">
                <a:avLst/>
              </a:prstGeom>
              <a:ln w="19050" cap="sq" cmpd="sng">
                <a:solidFill>
                  <a:srgbClr val="0000FF"/>
                </a:solidFill>
                <a:prstDash val="solid"/>
                <a:miter/>
                <a:headEnd type="none" w="sm" len="sm"/>
                <a:tailEnd type="none" w="sm" len="sm"/>
              </a:ln>
            </p:spPr>
          </p: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4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11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6754" name="Object 2"/>
          <p:cNvGraphicFramePr/>
          <p:nvPr/>
        </p:nvGraphicFramePr>
        <p:xfrm>
          <a:off x="808038" y="1400175"/>
          <a:ext cx="1363662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4" r:id="rId3" imgW="495300" imgH="482600" progId="Equation.3">
                  <p:embed/>
                </p:oleObj>
              </mc:Choice>
              <mc:Fallback>
                <p:oleObj r:id="rId3" imgW="495300" imgH="4826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8038" y="1400175"/>
                        <a:ext cx="1363662" cy="1323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755" name="Object 3"/>
          <p:cNvGraphicFramePr/>
          <p:nvPr/>
        </p:nvGraphicFramePr>
        <p:xfrm>
          <a:off x="685800" y="3006725"/>
          <a:ext cx="16002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5" r:id="rId5" imgW="533400" imgH="228600" progId="Equation.3">
                  <p:embed/>
                </p:oleObj>
              </mc:Choice>
              <mc:Fallback>
                <p:oleObj r:id="rId5" imgW="533400" imgH="2286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0" y="3006725"/>
                        <a:ext cx="1600200" cy="684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756" name="Object 4"/>
          <p:cNvGraphicFramePr/>
          <p:nvPr/>
        </p:nvGraphicFramePr>
        <p:xfrm>
          <a:off x="2312988" y="2846388"/>
          <a:ext cx="11779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6" r:id="rId7" imgW="304800" imgH="228600" progId="Equation.3">
                  <p:embed/>
                </p:oleObj>
              </mc:Choice>
              <mc:Fallback>
                <p:oleObj r:id="rId7" imgW="304800" imgH="2286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12988" y="2846388"/>
                        <a:ext cx="1177925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6757" name="Text Box 5"/>
          <p:cNvSpPr txBox="1"/>
          <p:nvPr/>
        </p:nvSpPr>
        <p:spPr>
          <a:xfrm>
            <a:off x="1085850" y="4329113"/>
            <a:ext cx="7334250" cy="155416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indent="666750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电路的输入电阻越大，从信号源取得的电流越小，因此一般总是希望得到较大的的输入电阻。</a:t>
            </a:r>
          </a:p>
        </p:txBody>
      </p:sp>
      <p:sp>
        <p:nvSpPr>
          <p:cNvPr id="83973" name="Text Box 6"/>
          <p:cNvSpPr txBox="1"/>
          <p:nvPr/>
        </p:nvSpPr>
        <p:spPr>
          <a:xfrm>
            <a:off x="296863" y="233363"/>
            <a:ext cx="3595687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输入电阻的计算：</a:t>
            </a:r>
          </a:p>
        </p:txBody>
      </p:sp>
      <p:sp>
        <p:nvSpPr>
          <p:cNvPr id="586759" name="Text Box 7"/>
          <p:cNvSpPr txBox="1"/>
          <p:nvPr/>
        </p:nvSpPr>
        <p:spPr>
          <a:xfrm>
            <a:off x="381000" y="990600"/>
            <a:ext cx="3962400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根据输入电阻的定义：</a:t>
            </a:r>
          </a:p>
        </p:txBody>
      </p:sp>
      <p:pic>
        <p:nvPicPr>
          <p:cNvPr id="83975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1371600"/>
            <a:ext cx="5410200" cy="26844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3976" name="Group 9"/>
          <p:cNvGrpSpPr/>
          <p:nvPr/>
        </p:nvGrpSpPr>
        <p:grpSpPr>
          <a:xfrm>
            <a:off x="6184900" y="2528888"/>
            <a:ext cx="412750" cy="466725"/>
            <a:chOff x="1536" y="2682"/>
            <a:chExt cx="288" cy="294"/>
          </a:xfrm>
        </p:grpSpPr>
        <p:sp>
          <p:nvSpPr>
            <p:cNvPr id="83977" name="Rectangle 10"/>
            <p:cNvSpPr/>
            <p:nvPr/>
          </p:nvSpPr>
          <p:spPr>
            <a:xfrm>
              <a:off x="1536" y="2688"/>
              <a:ext cx="288" cy="28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3978" name="Group 11"/>
            <p:cNvGrpSpPr/>
            <p:nvPr/>
          </p:nvGrpSpPr>
          <p:grpSpPr>
            <a:xfrm>
              <a:off x="1583" y="2682"/>
              <a:ext cx="192" cy="288"/>
              <a:chOff x="3120" y="3648"/>
              <a:chExt cx="192" cy="288"/>
            </a:xfrm>
          </p:grpSpPr>
          <p:grpSp>
            <p:nvGrpSpPr>
              <p:cNvPr id="83979" name="Group 12"/>
              <p:cNvGrpSpPr/>
              <p:nvPr/>
            </p:nvGrpSpPr>
            <p:grpSpPr>
              <a:xfrm>
                <a:off x="3120" y="3648"/>
                <a:ext cx="192" cy="288"/>
                <a:chOff x="2496" y="3648"/>
                <a:chExt cx="192" cy="288"/>
              </a:xfrm>
            </p:grpSpPr>
            <p:sp>
              <p:nvSpPr>
                <p:cNvPr id="83980" name="Line 13"/>
                <p:cNvSpPr/>
                <p:nvPr/>
              </p:nvSpPr>
              <p:spPr>
                <a:xfrm flipH="1">
                  <a:off x="2496" y="3648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3981" name="Line 14"/>
                <p:cNvSpPr/>
                <p:nvPr/>
              </p:nvSpPr>
              <p:spPr>
                <a:xfrm flipH="1">
                  <a:off x="2592" y="3792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3982" name="Line 15"/>
                <p:cNvSpPr/>
                <p:nvPr/>
              </p:nvSpPr>
              <p:spPr>
                <a:xfrm>
                  <a:off x="2592" y="3648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3983" name="Line 16"/>
                <p:cNvSpPr/>
                <p:nvPr/>
              </p:nvSpPr>
              <p:spPr>
                <a:xfrm>
                  <a:off x="2496" y="3792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</p:grpSp>
          <p:sp>
            <p:nvSpPr>
              <p:cNvPr id="83984" name="Line 17"/>
              <p:cNvSpPr/>
              <p:nvPr/>
            </p:nvSpPr>
            <p:spPr>
              <a:xfrm>
                <a:off x="3120" y="3792"/>
                <a:ext cx="192" cy="0"/>
              </a:xfrm>
              <a:prstGeom prst="line">
                <a:avLst/>
              </a:prstGeom>
              <a:ln w="19050" cap="sq" cmpd="sng">
                <a:solidFill>
                  <a:srgbClr val="0000FF"/>
                </a:solidFill>
                <a:prstDash val="solid"/>
                <a:miter/>
                <a:headEnd type="none" w="sm" len="sm"/>
                <a:tailEnd type="none" w="sm" len="sm"/>
              </a:ln>
            </p:spPr>
          </p:sp>
        </p:grp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6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6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6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6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6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8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7" grpId="0"/>
      <p:bldP spid="586759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895600"/>
            <a:ext cx="5715000" cy="34671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87779" name="Object 3"/>
          <p:cNvGraphicFramePr/>
          <p:nvPr/>
        </p:nvGraphicFramePr>
        <p:xfrm>
          <a:off x="771525" y="4114800"/>
          <a:ext cx="199072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9" r:id="rId4" imgW="799465" imgH="431800" progId="Equation.DSMT4">
                  <p:embed/>
                </p:oleObj>
              </mc:Choice>
              <mc:Fallback>
                <p:oleObj r:id="rId4" imgW="799465" imgH="4318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1525" y="4114800"/>
                        <a:ext cx="1990725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7780" name="Text Box 4"/>
          <p:cNvSpPr txBox="1"/>
          <p:nvPr/>
        </p:nvSpPr>
        <p:spPr>
          <a:xfrm>
            <a:off x="762000" y="3505200"/>
            <a:ext cx="2000250" cy="5794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所以：</a:t>
            </a:r>
            <a:endParaRPr lang="zh-CN" altLang="en-US" sz="3200" dirty="0">
              <a:latin typeface="Times New Roman" panose="02020603050405020304" pitchFamily="18" charset="0"/>
              <a:ea typeface="长城楷体" pitchFamily="49" charset="-122"/>
            </a:endParaRPr>
          </a:p>
        </p:txBody>
      </p:sp>
      <p:sp>
        <p:nvSpPr>
          <p:cNvPr id="84996" name="Text Box 5"/>
          <p:cNvSpPr txBox="1"/>
          <p:nvPr/>
        </p:nvSpPr>
        <p:spPr>
          <a:xfrm>
            <a:off x="0" y="368300"/>
            <a:ext cx="3246438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输出电阻的计算：</a:t>
            </a:r>
          </a:p>
        </p:txBody>
      </p:sp>
      <p:sp>
        <p:nvSpPr>
          <p:cNvPr id="587782" name="Text Box 6"/>
          <p:cNvSpPr txBox="1"/>
          <p:nvPr/>
        </p:nvSpPr>
        <p:spPr>
          <a:xfrm>
            <a:off x="914400" y="1524000"/>
            <a:ext cx="2209800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根据定义：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7783" name="Line 7"/>
          <p:cNvSpPr/>
          <p:nvPr/>
        </p:nvSpPr>
        <p:spPr>
          <a:xfrm flipH="1">
            <a:off x="3200400" y="3886200"/>
            <a:ext cx="1588" cy="182880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2" name="Group 8"/>
          <p:cNvGrpSpPr/>
          <p:nvPr/>
        </p:nvGrpSpPr>
        <p:grpSpPr>
          <a:xfrm>
            <a:off x="7924800" y="2895600"/>
            <a:ext cx="695325" cy="577850"/>
            <a:chOff x="4992" y="1824"/>
            <a:chExt cx="438" cy="364"/>
          </a:xfrm>
        </p:grpSpPr>
        <p:sp>
          <p:nvSpPr>
            <p:cNvPr id="85000" name="Line 9"/>
            <p:cNvSpPr/>
            <p:nvPr/>
          </p:nvSpPr>
          <p:spPr>
            <a:xfrm>
              <a:off x="4992" y="2188"/>
              <a:ext cx="407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graphicFrame>
          <p:nvGraphicFramePr>
            <p:cNvPr id="85001" name="Object 10"/>
            <p:cNvGraphicFramePr/>
            <p:nvPr/>
          </p:nvGraphicFramePr>
          <p:xfrm>
            <a:off x="5232" y="1824"/>
            <a:ext cx="198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70" r:id="rId6" imgW="127000" imgH="227965" progId="Equation.3">
                    <p:embed/>
                  </p:oleObj>
                </mc:Choice>
                <mc:Fallback>
                  <p:oleObj r:id="rId6" imgW="127000" imgH="227965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232" y="1824"/>
                          <a:ext cx="198" cy="3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/>
          <p:cNvGrpSpPr/>
          <p:nvPr/>
        </p:nvGrpSpPr>
        <p:grpSpPr>
          <a:xfrm>
            <a:off x="4343400" y="2536825"/>
            <a:ext cx="1265238" cy="1027113"/>
            <a:chOff x="3397" y="46"/>
            <a:chExt cx="1479" cy="1166"/>
          </a:xfrm>
        </p:grpSpPr>
        <p:sp>
          <p:nvSpPr>
            <p:cNvPr id="85003" name="Oval 13"/>
            <p:cNvSpPr/>
            <p:nvPr/>
          </p:nvSpPr>
          <p:spPr>
            <a:xfrm>
              <a:off x="3397" y="720"/>
              <a:ext cx="898" cy="492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004" name="Oval 14"/>
            <p:cNvSpPr/>
            <p:nvPr/>
          </p:nvSpPr>
          <p:spPr>
            <a:xfrm>
              <a:off x="4368" y="46"/>
              <a:ext cx="508" cy="734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长城楷体" pitchFamily="49" charset="-122"/>
                </a:rPr>
                <a:t>0</a:t>
              </a:r>
            </a:p>
          </p:txBody>
        </p:sp>
        <p:cxnSp>
          <p:nvCxnSpPr>
            <p:cNvPr id="85005" name="AutoShape 15"/>
            <p:cNvCxnSpPr>
              <a:stCxn id="85003" idx="0"/>
              <a:endCxn id="85004" idx="2"/>
            </p:cNvCxnSpPr>
            <p:nvPr/>
          </p:nvCxnSpPr>
          <p:spPr>
            <a:xfrm rot="-5400000">
              <a:off x="3995" y="253"/>
              <a:ext cx="293" cy="604"/>
            </a:xfrm>
            <a:prstGeom prst="curvedConnector2">
              <a:avLst/>
            </a:prstGeom>
            <a:ln w="38100" cap="flat" cmpd="sng">
              <a:solidFill>
                <a:srgbClr val="FF7C8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587792" name="Object 16"/>
          <p:cNvGraphicFramePr/>
          <p:nvPr/>
        </p:nvGraphicFramePr>
        <p:xfrm>
          <a:off x="3414713" y="1295400"/>
          <a:ext cx="2751137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1" r:id="rId8" imgW="1167765" imgH="431800" progId="Equation.3">
                  <p:embed/>
                </p:oleObj>
              </mc:Choice>
              <mc:Fallback>
                <p:oleObj r:id="rId8" imgW="1167765" imgH="4318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14713" y="1295400"/>
                        <a:ext cx="2751137" cy="1004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7"/>
          <p:cNvGrpSpPr/>
          <p:nvPr/>
        </p:nvGrpSpPr>
        <p:grpSpPr>
          <a:xfrm>
            <a:off x="8229600" y="3962400"/>
            <a:ext cx="601663" cy="1265238"/>
            <a:chOff x="4325" y="547"/>
            <a:chExt cx="379" cy="797"/>
          </a:xfrm>
        </p:grpSpPr>
        <p:graphicFrame>
          <p:nvGraphicFramePr>
            <p:cNvPr id="85008" name="Object 18"/>
            <p:cNvGraphicFramePr/>
            <p:nvPr/>
          </p:nvGraphicFramePr>
          <p:xfrm>
            <a:off x="4325" y="768"/>
            <a:ext cx="375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72" r:id="rId10" imgW="165100" imgH="228600" progId="Equation.3">
                    <p:embed/>
                  </p:oleObj>
                </mc:Choice>
                <mc:Fallback>
                  <p:oleObj r:id="rId10" imgW="165100" imgH="2286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325" y="768"/>
                          <a:ext cx="375" cy="3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09" name="Text Box 19"/>
            <p:cNvSpPr txBox="1"/>
            <p:nvPr/>
          </p:nvSpPr>
          <p:spPr>
            <a:xfrm>
              <a:off x="4368" y="547"/>
              <a:ext cx="2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010" name="Text Box 20"/>
            <p:cNvSpPr txBox="1"/>
            <p:nvPr/>
          </p:nvSpPr>
          <p:spPr>
            <a:xfrm>
              <a:off x="4416" y="1056"/>
              <a:ext cx="2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  <a:ea typeface="楷体_GB2312" pitchFamily="49" charset="-122"/>
                </a:rPr>
                <a:t>-</a:t>
              </a:r>
              <a:endPara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85011" name="Group 21"/>
          <p:cNvGrpSpPr/>
          <p:nvPr/>
        </p:nvGrpSpPr>
        <p:grpSpPr>
          <a:xfrm>
            <a:off x="6192838" y="4373563"/>
            <a:ext cx="539750" cy="585787"/>
            <a:chOff x="1536" y="2682"/>
            <a:chExt cx="288" cy="294"/>
          </a:xfrm>
        </p:grpSpPr>
        <p:sp>
          <p:nvSpPr>
            <p:cNvPr id="85012" name="Rectangle 22"/>
            <p:cNvSpPr/>
            <p:nvPr/>
          </p:nvSpPr>
          <p:spPr>
            <a:xfrm>
              <a:off x="1536" y="2688"/>
              <a:ext cx="288" cy="28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5013" name="Group 23"/>
            <p:cNvGrpSpPr/>
            <p:nvPr/>
          </p:nvGrpSpPr>
          <p:grpSpPr>
            <a:xfrm>
              <a:off x="1583" y="2682"/>
              <a:ext cx="192" cy="288"/>
              <a:chOff x="3120" y="3648"/>
              <a:chExt cx="192" cy="288"/>
            </a:xfrm>
          </p:grpSpPr>
          <p:grpSp>
            <p:nvGrpSpPr>
              <p:cNvPr id="85014" name="Group 24"/>
              <p:cNvGrpSpPr/>
              <p:nvPr/>
            </p:nvGrpSpPr>
            <p:grpSpPr>
              <a:xfrm>
                <a:off x="3120" y="3648"/>
                <a:ext cx="192" cy="288"/>
                <a:chOff x="2496" y="3648"/>
                <a:chExt cx="192" cy="288"/>
              </a:xfrm>
            </p:grpSpPr>
            <p:sp>
              <p:nvSpPr>
                <p:cNvPr id="85015" name="Line 25"/>
                <p:cNvSpPr/>
                <p:nvPr/>
              </p:nvSpPr>
              <p:spPr>
                <a:xfrm flipH="1">
                  <a:off x="2496" y="3648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5016" name="Line 26"/>
                <p:cNvSpPr/>
                <p:nvPr/>
              </p:nvSpPr>
              <p:spPr>
                <a:xfrm flipH="1">
                  <a:off x="2592" y="3792"/>
                  <a:ext cx="96" cy="144"/>
                </a:xfrm>
                <a:prstGeom prst="line">
                  <a:avLst/>
                </a:prstGeom>
                <a:ln w="28575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5017" name="Line 27"/>
                <p:cNvSpPr/>
                <p:nvPr/>
              </p:nvSpPr>
              <p:spPr>
                <a:xfrm>
                  <a:off x="2592" y="3648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  <p:sp>
              <p:nvSpPr>
                <p:cNvPr id="85018" name="Line 28"/>
                <p:cNvSpPr/>
                <p:nvPr/>
              </p:nvSpPr>
              <p:spPr>
                <a:xfrm>
                  <a:off x="2496" y="3792"/>
                  <a:ext cx="96" cy="144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</p:grpSp>
          <p:sp>
            <p:nvSpPr>
              <p:cNvPr id="85019" name="Line 29"/>
              <p:cNvSpPr/>
              <p:nvPr/>
            </p:nvSpPr>
            <p:spPr>
              <a:xfrm>
                <a:off x="3120" y="3792"/>
                <a:ext cx="192" cy="0"/>
              </a:xfrm>
              <a:prstGeom prst="line">
                <a:avLst/>
              </a:prstGeom>
              <a:ln w="19050" cap="sq" cmpd="sng">
                <a:solidFill>
                  <a:srgbClr val="0000FF"/>
                </a:solidFill>
                <a:prstDash val="solid"/>
                <a:miter/>
                <a:headEnd type="none" w="sm" len="sm"/>
                <a:tailEnd type="none" w="sm" len="sm"/>
              </a:ln>
            </p:spPr>
          </p:sp>
        </p:grpSp>
      </p:grpSp>
      <p:sp>
        <p:nvSpPr>
          <p:cNvPr id="587787" name="Rectangle 11"/>
          <p:cNvSpPr/>
          <p:nvPr/>
        </p:nvSpPr>
        <p:spPr>
          <a:xfrm>
            <a:off x="6172200" y="3810000"/>
            <a:ext cx="1160463" cy="17526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7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7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7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7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8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8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87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8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780" grpId="0" build="p"/>
      <p:bldP spid="587782" grpId="0"/>
      <p:bldP spid="587787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ext Box 2"/>
          <p:cNvSpPr txBox="1"/>
          <p:nvPr/>
        </p:nvSpPr>
        <p:spPr>
          <a:xfrm>
            <a:off x="533400" y="718820"/>
            <a:ext cx="8229600" cy="109283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共射放大电路如图所示。设：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12V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i="1" err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3000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=300k</a:t>
            </a:r>
            <a:r>
              <a:rPr lang="en-US" altLang="zh-CN" sz="2400" b="1">
                <a:latin typeface="宋体" panose="02010600030101010101" pitchFamily="2" charset="-122"/>
                <a:ea typeface="黑体" panose="02010609060101010101" pitchFamily="49" charset="-122"/>
              </a:rPr>
              <a:t>Ω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=3k</a:t>
            </a:r>
            <a:r>
              <a:rPr lang="en-US" altLang="zh-CN" sz="2400" b="1">
                <a:latin typeface="宋体" panose="02010600030101010101" pitchFamily="2" charset="-122"/>
                <a:ea typeface="黑体" panose="02010609060101010101" pitchFamily="49" charset="-122"/>
              </a:rPr>
              <a:t>Ω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=3k</a:t>
            </a:r>
            <a:r>
              <a:rPr lang="en-US" altLang="zh-CN" sz="2400" b="1">
                <a:latin typeface="宋体" panose="02010600030101010101" pitchFamily="2" charset="-122"/>
                <a:ea typeface="黑体" panose="02010609060101010101" pitchFamily="49" charset="-122"/>
              </a:rPr>
              <a:t>Ω,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BJT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b="1" i="1">
                <a:latin typeface="Symbol" panose="05050102010706020507" pitchFamily="18" charset="2"/>
                <a:ea typeface="宋体" panose="02010600030101010101" pitchFamily="2" charset="-122"/>
              </a:rPr>
              <a:t>b</a:t>
            </a:r>
            <a:r>
              <a:rPr lang="en-US" altLang="zh-CN" sz="2400" b="1" i="1" baseline="-3000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=50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86018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962150"/>
            <a:ext cx="3962400" cy="2962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8804" name="Text Box 4"/>
          <p:cNvSpPr txBox="1"/>
          <p:nvPr/>
        </p:nvSpPr>
        <p:spPr>
          <a:xfrm>
            <a:off x="533400" y="2057400"/>
            <a:ext cx="3124200" cy="10064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试求电路的静态工作点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graphicFrame>
        <p:nvGraphicFramePr>
          <p:cNvPr id="588805" name="Object 5"/>
          <p:cNvGraphicFramePr/>
          <p:nvPr/>
        </p:nvGraphicFramePr>
        <p:xfrm>
          <a:off x="304800" y="3651250"/>
          <a:ext cx="47815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2" r:id="rId4" imgW="2348230" imgH="431800" progId="Equation.DSMT4">
                  <p:embed/>
                </p:oleObj>
              </mc:Choice>
              <mc:Fallback>
                <p:oleObj r:id="rId4" imgW="2348230" imgH="4318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00" y="3651250"/>
                        <a:ext cx="4781550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8806" name="Object 6"/>
          <p:cNvGraphicFramePr/>
          <p:nvPr/>
        </p:nvGraphicFramePr>
        <p:xfrm>
          <a:off x="479425" y="4849813"/>
          <a:ext cx="4222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3" r:id="rId6" imgW="1993265" imgH="241300" progId="Equation.3">
                  <p:embed/>
                </p:oleObj>
              </mc:Choice>
              <mc:Fallback>
                <p:oleObj r:id="rId6" imgW="1993265" imgH="2413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9425" y="4849813"/>
                        <a:ext cx="422275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8807" name="Object 7"/>
          <p:cNvGraphicFramePr/>
          <p:nvPr/>
        </p:nvGraphicFramePr>
        <p:xfrm>
          <a:off x="350838" y="5459413"/>
          <a:ext cx="585311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4" r:id="rId8" imgW="2792730" imgH="241300" progId="Equation.3">
                  <p:embed/>
                </p:oleObj>
              </mc:Choice>
              <mc:Fallback>
                <p:oleObj r:id="rId8" imgW="2792730" imgH="2413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0838" y="5459413"/>
                        <a:ext cx="5853112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8808" name="Text Box 8"/>
          <p:cNvSpPr txBox="1"/>
          <p:nvPr/>
        </p:nvSpPr>
        <p:spPr>
          <a:xfrm>
            <a:off x="609600" y="3200400"/>
            <a:ext cx="2895600" cy="5492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解：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804" grpId="0"/>
      <p:bldP spid="58880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71600"/>
            <a:ext cx="3352800" cy="2506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042" name="Text Box 3"/>
          <p:cNvSpPr txBox="1"/>
          <p:nvPr/>
        </p:nvSpPr>
        <p:spPr>
          <a:xfrm>
            <a:off x="381000" y="304800"/>
            <a:ext cx="8305800" cy="5492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计算电路的电压放大倍数、输入电阻</a:t>
            </a:r>
            <a:r>
              <a:rPr lang="en-US" altLang="zh-CN" sz="2400" b="1" i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3000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和输出电阻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30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sp>
        <p:nvSpPr>
          <p:cNvPr id="589828" name="Text Box 4"/>
          <p:cNvSpPr txBox="1"/>
          <p:nvPr/>
        </p:nvSpPr>
        <p:spPr>
          <a:xfrm>
            <a:off x="304800" y="838200"/>
            <a:ext cx="3733800" cy="5492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解：画微变等效电路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graphicFrame>
        <p:nvGraphicFramePr>
          <p:cNvPr id="589830" name="Object 6"/>
          <p:cNvGraphicFramePr/>
          <p:nvPr/>
        </p:nvGraphicFramePr>
        <p:xfrm>
          <a:off x="652463" y="1447800"/>
          <a:ext cx="30384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6" r:id="rId4" imgW="1739265" imgH="431800" progId="Equation.3">
                  <p:embed/>
                </p:oleObj>
              </mc:Choice>
              <mc:Fallback>
                <p:oleObj r:id="rId4" imgW="1739265" imgH="4318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2463" y="1447800"/>
                        <a:ext cx="3038475" cy="75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9831" name="Object 7"/>
          <p:cNvGraphicFramePr/>
          <p:nvPr/>
        </p:nvGraphicFramePr>
        <p:xfrm>
          <a:off x="727075" y="2198688"/>
          <a:ext cx="341471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7" r:id="rId6" imgW="1955165" imgH="431800" progId="Equation.DSMT4">
                  <p:embed/>
                </p:oleObj>
              </mc:Choice>
              <mc:Fallback>
                <p:oleObj r:id="rId6" imgW="1955165" imgH="4318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7075" y="2198688"/>
                        <a:ext cx="3414713" cy="75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9832" name="Object 8"/>
          <p:cNvGraphicFramePr/>
          <p:nvPr/>
        </p:nvGraphicFramePr>
        <p:xfrm>
          <a:off x="665163" y="3048000"/>
          <a:ext cx="44608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8" r:id="rId8" imgW="2336800" imgH="457200" progId="Equation.DSMT4">
                  <p:embed/>
                </p:oleObj>
              </mc:Choice>
              <mc:Fallback>
                <p:oleObj r:id="rId8" imgW="2336800" imgH="4572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5163" y="3048000"/>
                        <a:ext cx="4460875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9833" name="Text Box 9"/>
          <p:cNvSpPr txBox="1"/>
          <p:nvPr/>
        </p:nvSpPr>
        <p:spPr>
          <a:xfrm>
            <a:off x="381000" y="3962400"/>
            <a:ext cx="3733800" cy="5492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be</a:t>
            </a:r>
            <a:r>
              <a:rPr lang="en-US" altLang="zh-CN" sz="2400" b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//</a:t>
            </a: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400" b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≈</a:t>
            </a: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be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=993Ω</a:t>
            </a:r>
            <a:endParaRPr lang="en-US" altLang="zh-CN" sz="2400" b="1" baseline="-250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89834" name="Text Box 10"/>
          <p:cNvSpPr txBox="1"/>
          <p:nvPr/>
        </p:nvSpPr>
        <p:spPr>
          <a:xfrm>
            <a:off x="685800" y="4800600"/>
            <a:ext cx="2438400" cy="5492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=3kΩ</a:t>
            </a:r>
            <a:endParaRPr lang="en-US" altLang="zh-CN" sz="2400" b="1" baseline="-250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3886200" y="4114800"/>
            <a:ext cx="5257800" cy="2384425"/>
            <a:chOff x="2448" y="2592"/>
            <a:chExt cx="3312" cy="1502"/>
          </a:xfrm>
        </p:grpSpPr>
        <p:pic>
          <p:nvPicPr>
            <p:cNvPr id="87050" name="Picture 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48" y="2592"/>
              <a:ext cx="3312" cy="1502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87051" name="Group 11"/>
            <p:cNvGrpSpPr/>
            <p:nvPr/>
          </p:nvGrpSpPr>
          <p:grpSpPr>
            <a:xfrm>
              <a:off x="4071" y="3294"/>
              <a:ext cx="288" cy="294"/>
              <a:chOff x="1536" y="2682"/>
              <a:chExt cx="288" cy="294"/>
            </a:xfrm>
          </p:grpSpPr>
          <p:sp>
            <p:nvSpPr>
              <p:cNvPr id="87052" name="Rectangle 12"/>
              <p:cNvSpPr/>
              <p:nvPr/>
            </p:nvSpPr>
            <p:spPr>
              <a:xfrm>
                <a:off x="15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87053" name="Group 13"/>
              <p:cNvGrpSpPr/>
              <p:nvPr/>
            </p:nvGrpSpPr>
            <p:grpSpPr>
              <a:xfrm>
                <a:off x="1583" y="2682"/>
                <a:ext cx="192" cy="288"/>
                <a:chOff x="3120" y="3648"/>
                <a:chExt cx="192" cy="288"/>
              </a:xfrm>
            </p:grpSpPr>
            <p:grpSp>
              <p:nvGrpSpPr>
                <p:cNvPr id="87054" name="Group 14"/>
                <p:cNvGrpSpPr/>
                <p:nvPr/>
              </p:nvGrpSpPr>
              <p:grpSpPr>
                <a:xfrm>
                  <a:off x="3120" y="3648"/>
                  <a:ext cx="192" cy="288"/>
                  <a:chOff x="2496" y="3648"/>
                  <a:chExt cx="192" cy="288"/>
                </a:xfrm>
              </p:grpSpPr>
              <p:sp>
                <p:nvSpPr>
                  <p:cNvPr id="87055" name="Line 15"/>
                  <p:cNvSpPr/>
                  <p:nvPr/>
                </p:nvSpPr>
                <p:spPr>
                  <a:xfrm flipH="1">
                    <a:off x="2496" y="3648"/>
                    <a:ext cx="96" cy="144"/>
                  </a:xfrm>
                  <a:prstGeom prst="line">
                    <a:avLst/>
                  </a:prstGeom>
                  <a:ln w="28575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87056" name="Line 16"/>
                  <p:cNvSpPr/>
                  <p:nvPr/>
                </p:nvSpPr>
                <p:spPr>
                  <a:xfrm flipH="1">
                    <a:off x="2592" y="3792"/>
                    <a:ext cx="96" cy="144"/>
                  </a:xfrm>
                  <a:prstGeom prst="line">
                    <a:avLst/>
                  </a:prstGeom>
                  <a:ln w="28575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87057" name="Line 17"/>
                  <p:cNvSpPr/>
                  <p:nvPr/>
                </p:nvSpPr>
                <p:spPr>
                  <a:xfrm>
                    <a:off x="2592" y="3648"/>
                    <a:ext cx="96" cy="144"/>
                  </a:xfrm>
                  <a:prstGeom prst="line">
                    <a:avLst/>
                  </a:prstGeom>
                  <a:ln w="19050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  <p:sp>
                <p:nvSpPr>
                  <p:cNvPr id="87058" name="Line 18"/>
                  <p:cNvSpPr/>
                  <p:nvPr/>
                </p:nvSpPr>
                <p:spPr>
                  <a:xfrm>
                    <a:off x="2496" y="3792"/>
                    <a:ext cx="96" cy="144"/>
                  </a:xfrm>
                  <a:prstGeom prst="line">
                    <a:avLst/>
                  </a:prstGeom>
                  <a:ln w="19050" cap="sq" cmpd="sng">
                    <a:solidFill>
                      <a:srgbClr val="0000FF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87059" name="Line 19"/>
                <p:cNvSpPr/>
                <p:nvPr/>
              </p:nvSpPr>
              <p:spPr>
                <a:xfrm>
                  <a:off x="3120" y="3792"/>
                  <a:ext cx="192" cy="0"/>
                </a:xfrm>
                <a:prstGeom prst="line">
                  <a:avLst/>
                </a:prstGeom>
                <a:ln w="19050" cap="sq" cmpd="sng">
                  <a:solidFill>
                    <a:srgbClr val="00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</p:sp>
          </p:grp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9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9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8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8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8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8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8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8" grpId="0"/>
      <p:bldP spid="589833" grpId="0"/>
      <p:bldP spid="58983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524000"/>
            <a:ext cx="3352800" cy="2506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066" name="Text Box 3"/>
          <p:cNvSpPr txBox="1"/>
          <p:nvPr/>
        </p:nvSpPr>
        <p:spPr>
          <a:xfrm>
            <a:off x="381000" y="533400"/>
            <a:ext cx="8305800" cy="10064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若输出电压的波形出现如 下失真 ，是截止还是饱和 失真？应调节哪个元件？如何调节？</a:t>
            </a:r>
          </a:p>
        </p:txBody>
      </p:sp>
      <p:sp>
        <p:nvSpPr>
          <p:cNvPr id="590852" name="Text Box 4"/>
          <p:cNvSpPr txBox="1"/>
          <p:nvPr/>
        </p:nvSpPr>
        <p:spPr>
          <a:xfrm>
            <a:off x="609600" y="1752600"/>
            <a:ext cx="3733800" cy="118903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解：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为截止失真。</a:t>
            </a: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 应减小</a:t>
            </a:r>
            <a:r>
              <a:rPr lang="en-US" altLang="zh-CN" sz="2400" b="1" i="1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400" b="1" baseline="-2500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2400" b="1" baseline="-25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88068" name="Group 5"/>
          <p:cNvGrpSpPr/>
          <p:nvPr/>
        </p:nvGrpSpPr>
        <p:grpSpPr>
          <a:xfrm>
            <a:off x="5791200" y="4572000"/>
            <a:ext cx="2362200" cy="1054100"/>
            <a:chOff x="3672" y="1960"/>
            <a:chExt cx="1704" cy="808"/>
          </a:xfrm>
        </p:grpSpPr>
        <p:grpSp>
          <p:nvGrpSpPr>
            <p:cNvPr id="88069" name="Group 6"/>
            <p:cNvGrpSpPr/>
            <p:nvPr/>
          </p:nvGrpSpPr>
          <p:grpSpPr>
            <a:xfrm rot="-5400000">
              <a:off x="3960" y="1896"/>
              <a:ext cx="808" cy="936"/>
              <a:chOff x="2412" y="2820"/>
              <a:chExt cx="808" cy="936"/>
            </a:xfrm>
          </p:grpSpPr>
          <p:sp>
            <p:nvSpPr>
              <p:cNvPr id="88070" name="Freeform 7"/>
              <p:cNvSpPr/>
              <p:nvPr/>
            </p:nvSpPr>
            <p:spPr>
              <a:xfrm>
                <a:off x="2964" y="2820"/>
                <a:ext cx="256" cy="4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0" y="24"/>
                  </a:cxn>
                  <a:cxn ang="0">
                    <a:pos x="240" y="36"/>
                  </a:cxn>
                  <a:cxn ang="0">
                    <a:pos x="240" y="168"/>
                  </a:cxn>
                  <a:cxn ang="0">
                    <a:pos x="240" y="348"/>
                  </a:cxn>
                  <a:cxn ang="0">
                    <a:pos x="216" y="444"/>
                  </a:cxn>
                  <a:cxn ang="0">
                    <a:pos x="0" y="468"/>
                  </a:cxn>
                </a:cxnLst>
                <a:rect l="0" t="0" r="0" b="0"/>
                <a:pathLst>
                  <a:path w="256" h="468">
                    <a:moveTo>
                      <a:pt x="0" y="0"/>
                    </a:moveTo>
                    <a:cubicBezTo>
                      <a:pt x="30" y="4"/>
                      <a:pt x="140" y="18"/>
                      <a:pt x="180" y="24"/>
                    </a:cubicBezTo>
                    <a:cubicBezTo>
                      <a:pt x="220" y="30"/>
                      <a:pt x="230" y="12"/>
                      <a:pt x="240" y="36"/>
                    </a:cubicBezTo>
                    <a:cubicBezTo>
                      <a:pt x="250" y="60"/>
                      <a:pt x="240" y="116"/>
                      <a:pt x="240" y="168"/>
                    </a:cubicBezTo>
                    <a:cubicBezTo>
                      <a:pt x="240" y="220"/>
                      <a:pt x="244" y="302"/>
                      <a:pt x="240" y="348"/>
                    </a:cubicBezTo>
                    <a:cubicBezTo>
                      <a:pt x="236" y="394"/>
                      <a:pt x="256" y="424"/>
                      <a:pt x="216" y="444"/>
                    </a:cubicBezTo>
                    <a:cubicBezTo>
                      <a:pt x="176" y="464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071" name="Freeform 8"/>
              <p:cNvSpPr/>
              <p:nvPr/>
            </p:nvSpPr>
            <p:spPr>
              <a:xfrm flipH="1">
                <a:off x="2412" y="3288"/>
                <a:ext cx="614" cy="4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0" y="24"/>
                  </a:cxn>
                  <a:cxn ang="0">
                    <a:pos x="432" y="108"/>
                  </a:cxn>
                  <a:cxn ang="0">
                    <a:pos x="612" y="264"/>
                  </a:cxn>
                  <a:cxn ang="0">
                    <a:pos x="420" y="396"/>
                  </a:cxn>
                  <a:cxn ang="0">
                    <a:pos x="216" y="444"/>
                  </a:cxn>
                  <a:cxn ang="0">
                    <a:pos x="0" y="468"/>
                  </a:cxn>
                </a:cxnLst>
                <a:rect l="0" t="0" r="0" b="0"/>
                <a:pathLst>
                  <a:path w="614" h="468">
                    <a:moveTo>
                      <a:pt x="0" y="0"/>
                    </a:moveTo>
                    <a:cubicBezTo>
                      <a:pt x="30" y="4"/>
                      <a:pt x="108" y="6"/>
                      <a:pt x="180" y="24"/>
                    </a:cubicBezTo>
                    <a:cubicBezTo>
                      <a:pt x="252" y="42"/>
                      <a:pt x="360" y="68"/>
                      <a:pt x="432" y="108"/>
                    </a:cubicBezTo>
                    <a:cubicBezTo>
                      <a:pt x="504" y="148"/>
                      <a:pt x="614" y="216"/>
                      <a:pt x="612" y="264"/>
                    </a:cubicBezTo>
                    <a:cubicBezTo>
                      <a:pt x="610" y="312"/>
                      <a:pt x="486" y="366"/>
                      <a:pt x="420" y="396"/>
                    </a:cubicBezTo>
                    <a:cubicBezTo>
                      <a:pt x="354" y="426"/>
                      <a:pt x="286" y="432"/>
                      <a:pt x="216" y="444"/>
                    </a:cubicBezTo>
                    <a:cubicBezTo>
                      <a:pt x="146" y="456"/>
                      <a:pt x="36" y="464"/>
                      <a:pt x="0" y="468"/>
                    </a:cubicBezTo>
                  </a:path>
                </a:pathLst>
              </a:custGeom>
              <a:noFill/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8072" name="Line 9"/>
            <p:cNvSpPr/>
            <p:nvPr/>
          </p:nvSpPr>
          <p:spPr>
            <a:xfrm>
              <a:off x="3672" y="2208"/>
              <a:ext cx="17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矩形 1"/>
          <p:cNvSpPr/>
          <p:nvPr/>
        </p:nvSpPr>
        <p:spPr>
          <a:xfrm>
            <a:off x="215900" y="3429000"/>
            <a:ext cx="5600700" cy="2676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其电路特点如下：</a:t>
            </a:r>
            <a:endParaRPr lang="en-US" altLang="zh-CN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、发输入信号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和输出信号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反相；</a:t>
            </a:r>
          </a:p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、有较大的电流和电压增益；</a:t>
            </a:r>
          </a:p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、输入电阻不够大，输出电阻不够小，一般用作多级放大电路的中间级。</a:t>
            </a:r>
          </a:p>
        </p:txBody>
      </p:sp>
      <p:sp>
        <p:nvSpPr>
          <p:cNvPr id="82946" name="Text Box 2"/>
          <p:cNvSpPr txBox="1"/>
          <p:nvPr/>
        </p:nvSpPr>
        <p:spPr>
          <a:xfrm>
            <a:off x="1638300" y="279400"/>
            <a:ext cx="4976813" cy="708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共发射极放大电路特点</a:t>
            </a:r>
          </a:p>
        </p:txBody>
      </p:sp>
      <p:pic>
        <p:nvPicPr>
          <p:cNvPr id="8294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473450"/>
            <a:ext cx="3352800" cy="2506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8" name="矩形 5"/>
          <p:cNvSpPr/>
          <p:nvPr/>
        </p:nvSpPr>
        <p:spPr>
          <a:xfrm>
            <a:off x="571500" y="1206500"/>
            <a:ext cx="7535863" cy="18148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射电路是放大电路中应用最广泛的三极管接</a:t>
            </a:r>
            <a:r>
              <a:rPr lang="zh-CN" altLang="en-US" b="1" dirty="0">
                <a:solidFill>
                  <a:srgbClr val="39393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法，交流电压信号由三极管基极和发射极输入，从集电极和发射极输出。因为发射极为共同交流接地端，故命名为共射极放大电路。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文本框 615425"/>
          <p:cNvSpPr txBox="1"/>
          <p:nvPr/>
        </p:nvSpPr>
        <p:spPr>
          <a:xfrm>
            <a:off x="2457450" y="279400"/>
            <a:ext cx="41576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共集电极放大电路</a:t>
            </a:r>
          </a:p>
        </p:txBody>
      </p:sp>
      <p:sp>
        <p:nvSpPr>
          <p:cNvPr id="615427" name="文本框 615426"/>
          <p:cNvSpPr txBox="1"/>
          <p:nvPr/>
        </p:nvSpPr>
        <p:spPr>
          <a:xfrm>
            <a:off x="521335" y="1223645"/>
            <a:ext cx="2362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结构：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pic>
        <p:nvPicPr>
          <p:cNvPr id="615428" name="图片 6154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" y="1802130"/>
            <a:ext cx="5084763" cy="3597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375275" y="1583690"/>
            <a:ext cx="354330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393939"/>
                </a:solidFill>
                <a:sym typeface="+mn-ea"/>
              </a:rPr>
              <a:t>电路特点：共集电极</a:t>
            </a:r>
            <a:r>
              <a:rPr lang="zh-CN" altLang="en-US" sz="2400" b="1" dirty="0">
                <a:sym typeface="+mn-ea"/>
              </a:rPr>
              <a:t>电路集电极端交流接地</a:t>
            </a:r>
            <a:r>
              <a:rPr lang="zh-CN" altLang="en-US" sz="2400" b="1" dirty="0">
                <a:solidFill>
                  <a:srgbClr val="393939"/>
                </a:solidFill>
                <a:sym typeface="+mn-ea"/>
              </a:rPr>
              <a:t>，交流电压信号由三极管基极输入，从发射极输出。因为集电极为共同交流接地端，故命名共集电极放大电路。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文本框 621569"/>
          <p:cNvSpPr txBox="1"/>
          <p:nvPr/>
        </p:nvSpPr>
        <p:spPr>
          <a:xfrm>
            <a:off x="838200" y="457200"/>
            <a:ext cx="7772400" cy="138366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共集电极放大电路特点：有电流放大作用，没有电压放大作用，电压放大倍数</a:t>
            </a:r>
            <a:r>
              <a:rPr lang="en-US" altLang="zh-CN" b="1">
                <a:sym typeface="+mn-ea"/>
              </a:rPr>
              <a:t>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，输入阻抗高，输出阻抗小。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1572" name="文本框 621571"/>
          <p:cNvSpPr txBox="1"/>
          <p:nvPr/>
        </p:nvSpPr>
        <p:spPr>
          <a:xfrm>
            <a:off x="2362200" y="1915478"/>
            <a:ext cx="4135755" cy="523240"/>
          </a:xfrm>
          <a:prstGeom prst="rect">
            <a:avLst/>
          </a:prstGeom>
          <a:solidFill>
            <a:srgbClr val="FF00FF"/>
          </a:solidFill>
          <a:ln w="38100">
            <a:noFill/>
          </a:ln>
        </p:spPr>
        <p:txBody>
          <a:bodyPr wrap="square" lIns="90000" tIns="46800" rIns="90000" bIns="46800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共集电极放大电路应用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1573" name="文本框 621572"/>
          <p:cNvSpPr txBox="1"/>
          <p:nvPr/>
        </p:nvSpPr>
        <p:spPr>
          <a:xfrm>
            <a:off x="990600" y="2514600"/>
            <a:ext cx="7086600" cy="946150"/>
          </a:xfrm>
          <a:prstGeom prst="rect">
            <a:avLst/>
          </a:prstGeom>
          <a:solidFill>
            <a:srgbClr val="FFFF00"/>
          </a:solidFill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、放在多级放大器的输入端，提高整个放大器的输入电阻。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1574" name="文本框 621573"/>
          <p:cNvSpPr txBox="1"/>
          <p:nvPr/>
        </p:nvSpPr>
        <p:spPr>
          <a:xfrm>
            <a:off x="990600" y="3729673"/>
            <a:ext cx="7086600" cy="954405"/>
          </a:xfrm>
          <a:prstGeom prst="rect">
            <a:avLst/>
          </a:prstGeom>
          <a:solidFill>
            <a:srgbClr val="FF6600"/>
          </a:solidFill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、放在多级放大器的输出端，减小整个放大器的输出电阻，提高电路的输出功率。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1575" name="文本框 621574"/>
          <p:cNvSpPr txBox="1"/>
          <p:nvPr/>
        </p:nvSpPr>
        <p:spPr>
          <a:xfrm>
            <a:off x="1066800" y="5013325"/>
            <a:ext cx="7086600" cy="519113"/>
          </a:xfrm>
          <a:prstGeom prst="rect">
            <a:avLst/>
          </a:prstGeom>
          <a:solidFill>
            <a:srgbClr val="00FF00"/>
          </a:solidFill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、放在两级之间，起缓冲作用。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21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1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572" grpId="0" bldLvl="0" animBg="1"/>
      <p:bldP spid="621573" grpId="0" animBg="1"/>
      <p:bldP spid="621574" grpId="0" bldLvl="0" animBg="1"/>
      <p:bldP spid="62157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文本框 622593"/>
          <p:cNvSpPr txBox="1"/>
          <p:nvPr/>
        </p:nvSpPr>
        <p:spPr>
          <a:xfrm>
            <a:off x="1691640" y="323215"/>
            <a:ext cx="5029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共基极电路</a:t>
            </a:r>
          </a:p>
        </p:txBody>
      </p:sp>
      <p:pic>
        <p:nvPicPr>
          <p:cNvPr id="622595" name="图片 6225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" y="1493203"/>
            <a:ext cx="5791200" cy="3616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427" name="文本框 615426"/>
          <p:cNvSpPr txBox="1"/>
          <p:nvPr/>
        </p:nvSpPr>
        <p:spPr>
          <a:xfrm>
            <a:off x="521335" y="1223645"/>
            <a:ext cx="2362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结构：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87390" y="1493520"/>
            <a:ext cx="322262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393939"/>
                </a:solidFill>
                <a:sym typeface="+mn-ea"/>
              </a:rPr>
              <a:t>电路特点：共基极</a:t>
            </a:r>
            <a:r>
              <a:rPr lang="zh-CN" altLang="en-US" sz="2400" b="1" dirty="0">
                <a:sym typeface="+mn-ea"/>
              </a:rPr>
              <a:t>电路</a:t>
            </a:r>
            <a:r>
              <a:rPr lang="zh-CN" altLang="en-US" sz="2400" b="1" dirty="0">
                <a:solidFill>
                  <a:srgbClr val="393939"/>
                </a:solidFill>
                <a:sym typeface="+mn-ea"/>
              </a:rPr>
              <a:t>基极</a:t>
            </a:r>
            <a:r>
              <a:rPr lang="zh-CN" altLang="en-US" sz="2400" b="1" dirty="0">
                <a:sym typeface="+mn-ea"/>
              </a:rPr>
              <a:t>端交流接地</a:t>
            </a:r>
            <a:r>
              <a:rPr lang="zh-CN" altLang="en-US" sz="2400" b="1" dirty="0">
                <a:solidFill>
                  <a:srgbClr val="393939"/>
                </a:solidFill>
                <a:sym typeface="+mn-ea"/>
              </a:rPr>
              <a:t>，交流电压信号由三极管发射极输入，从集电极输出。因为基极为共同交流接地端，故命名共基极放大电路。</a:t>
            </a:r>
          </a:p>
        </p:txBody>
      </p:sp>
      <p:sp>
        <p:nvSpPr>
          <p:cNvPr id="91139" name="矩形 3"/>
          <p:cNvSpPr/>
          <p:nvPr/>
        </p:nvSpPr>
        <p:spPr>
          <a:xfrm>
            <a:off x="341630" y="5229225"/>
            <a:ext cx="604075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共基极电路特点 ：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、电压增益高；电流增益低（≤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）；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、功率增益高；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、适用于高频电路。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91139" grpId="0"/>
      <p:bldP spid="91139" grpId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900" name="矩形 464899">
            <a:hlinkClick r:id="" action="ppaction://noaction"/>
          </p:cNvPr>
          <p:cNvSpPr/>
          <p:nvPr/>
        </p:nvSpPr>
        <p:spPr>
          <a:xfrm>
            <a:off x="1285875" y="2708275"/>
            <a:ext cx="6858000" cy="68580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en-US" altLang="zh-CN" sz="3200" b="1" dirty="0">
                <a:solidFill>
                  <a:srgbClr val="66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2.5 </a:t>
            </a:r>
            <a:r>
              <a:rPr lang="zh-CN" altLang="en-US" sz="3200" b="1" dirty="0">
                <a:solidFill>
                  <a:srgbClr val="66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放大电路静态工作点</a:t>
            </a:r>
            <a:r>
              <a:rPr lang="en-US" altLang="zh-CN" sz="3200" b="1" dirty="0">
                <a:solidFill>
                  <a:srgbClr val="66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3200" b="1" dirty="0">
                <a:solidFill>
                  <a:srgbClr val="66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的设置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5" name="文本框 591874"/>
          <p:cNvSpPr txBox="1"/>
          <p:nvPr/>
        </p:nvSpPr>
        <p:spPr>
          <a:xfrm>
            <a:off x="566738" y="323850"/>
            <a:ext cx="8382000" cy="60769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静态工作点的设置，在放大电路中是非常重要的。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它不仅影响电路的增益，同时还会在设置不当时，使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信号的放大产生失真。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固定偏置电路的优点是：电路简单，调整</a:t>
            </a: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点方便；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缺点是：更换电路的管子、或者在环境温度发生变化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使管子的参数有所改变时，会使</a:t>
            </a: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点移动。这会给放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大电路带来不稳定的的因素，严重时会使放大电路无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法正常工作。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所以，有必要讨论</a:t>
            </a: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点的稳定问题。</a:t>
            </a:r>
          </a:p>
        </p:txBody>
      </p:sp>
    </p:spTree>
  </p:cSld>
  <p:clrMapOvr>
    <a:masterClrMapping/>
  </p:clrMapOvr>
  <p:transition>
    <p:wipe dir="d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文本框 593921"/>
          <p:cNvSpPr txBox="1"/>
          <p:nvPr/>
        </p:nvSpPr>
        <p:spPr>
          <a:xfrm>
            <a:off x="609600" y="1493838"/>
            <a:ext cx="4411663" cy="2528887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lstStyle/>
          <a:p>
            <a:pPr indent="381000" eaLnBrk="0" hangingPunct="0"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对于前面的电路（固定偏置电路）而言，静态工作点由</a:t>
            </a:r>
            <a:r>
              <a:rPr lang="en-US" altLang="zh-CN" sz="3200" b="1" i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3200" b="1" baseline="-25000"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r>
              <a:rPr lang="zh-CN" altLang="en-US" sz="3200" b="1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32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</a:t>
            </a:r>
            <a:r>
              <a:rPr lang="zh-CN" altLang="en-US" sz="32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和</a:t>
            </a:r>
            <a:r>
              <a:rPr lang="en-US" altLang="zh-CN" sz="32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3200" b="1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CEO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决定，这三个参数随温度而变化。</a:t>
            </a:r>
            <a:endParaRPr lang="zh-CN" altLang="en-US" sz="32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93923" name="组合 593922"/>
          <p:cNvGrpSpPr/>
          <p:nvPr/>
        </p:nvGrpSpPr>
        <p:grpSpPr>
          <a:xfrm>
            <a:off x="6572250" y="5068888"/>
            <a:ext cx="1962150" cy="701675"/>
            <a:chOff x="3660" y="3193"/>
            <a:chExt cx="1236" cy="442"/>
          </a:xfrm>
        </p:grpSpPr>
        <p:sp>
          <p:nvSpPr>
            <p:cNvPr id="593924" name="文本框 593923"/>
            <p:cNvSpPr txBox="1"/>
            <p:nvPr/>
          </p:nvSpPr>
          <p:spPr>
            <a:xfrm>
              <a:off x="4224" y="3193"/>
              <a:ext cx="672" cy="44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4000" b="1" i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zh-CN" altLang="en-US" sz="36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变</a:t>
              </a:r>
            </a:p>
          </p:txBody>
        </p:sp>
        <p:sp>
          <p:nvSpPr>
            <p:cNvPr id="593925" name="直接连接符 593924"/>
            <p:cNvSpPr/>
            <p:nvPr/>
          </p:nvSpPr>
          <p:spPr>
            <a:xfrm>
              <a:off x="3660" y="3444"/>
              <a:ext cx="612" cy="0"/>
            </a:xfrm>
            <a:prstGeom prst="line">
              <a:avLst/>
            </a:prstGeom>
            <a:ln w="762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93926" name="组合 593925"/>
          <p:cNvGrpSpPr/>
          <p:nvPr/>
        </p:nvGrpSpPr>
        <p:grpSpPr>
          <a:xfrm>
            <a:off x="2209800" y="4419600"/>
            <a:ext cx="2628900" cy="2203450"/>
            <a:chOff x="1392" y="2784"/>
            <a:chExt cx="1656" cy="1388"/>
          </a:xfrm>
        </p:grpSpPr>
        <p:sp>
          <p:nvSpPr>
            <p:cNvPr id="593927" name="椭圆 593926"/>
            <p:cNvSpPr/>
            <p:nvPr/>
          </p:nvSpPr>
          <p:spPr>
            <a:xfrm>
              <a:off x="2136" y="2828"/>
              <a:ext cx="912" cy="1344"/>
            </a:xfrm>
            <a:prstGeom prst="ellipse">
              <a:avLst/>
            </a:prstGeom>
            <a:solidFill>
              <a:srgbClr val="00FF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928" name="直接连接符 593927"/>
            <p:cNvSpPr/>
            <p:nvPr/>
          </p:nvSpPr>
          <p:spPr>
            <a:xfrm>
              <a:off x="1392" y="3500"/>
              <a:ext cx="696" cy="0"/>
            </a:xfrm>
            <a:prstGeom prst="line">
              <a:avLst/>
            </a:prstGeom>
            <a:ln w="762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3929" name="文本框 593928"/>
            <p:cNvSpPr txBox="1"/>
            <p:nvPr/>
          </p:nvSpPr>
          <p:spPr>
            <a:xfrm>
              <a:off x="2232" y="2784"/>
              <a:ext cx="708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600" b="1" i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3600" b="1" baseline="-2500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93930" name="文本框 593929"/>
            <p:cNvSpPr txBox="1"/>
            <p:nvPr/>
          </p:nvSpPr>
          <p:spPr>
            <a:xfrm>
              <a:off x="2316" y="3264"/>
              <a:ext cx="348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600" b="1" i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</a:t>
              </a:r>
              <a:endParaRPr lang="en-US" altLang="zh-CN" sz="3600" b="1" i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93931" name="文本框 593930"/>
            <p:cNvSpPr txBox="1"/>
            <p:nvPr/>
          </p:nvSpPr>
          <p:spPr>
            <a:xfrm>
              <a:off x="2316" y="3708"/>
              <a:ext cx="708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600" b="1" i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sz="3600" b="1" baseline="-2500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CEO</a:t>
              </a:r>
              <a:endParaRPr lang="en-US" altLang="zh-CN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93932" name="文本框 593931"/>
            <p:cNvSpPr txBox="1"/>
            <p:nvPr/>
          </p:nvSpPr>
          <p:spPr>
            <a:xfrm>
              <a:off x="2640" y="3260"/>
              <a:ext cx="348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36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变</a:t>
              </a:r>
              <a:endParaRPr lang="zh-CN" altLang="en-US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93933" name="组合 593932"/>
          <p:cNvGrpSpPr/>
          <p:nvPr/>
        </p:nvGrpSpPr>
        <p:grpSpPr>
          <a:xfrm>
            <a:off x="1028700" y="5135563"/>
            <a:ext cx="1123950" cy="701675"/>
            <a:chOff x="648" y="3235"/>
            <a:chExt cx="708" cy="442"/>
          </a:xfrm>
        </p:grpSpPr>
        <p:sp>
          <p:nvSpPr>
            <p:cNvPr id="593934" name="文本框 593933"/>
            <p:cNvSpPr txBox="1"/>
            <p:nvPr/>
          </p:nvSpPr>
          <p:spPr>
            <a:xfrm>
              <a:off x="648" y="3235"/>
              <a:ext cx="540" cy="442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40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</a:p>
          </p:txBody>
        </p:sp>
        <p:sp>
          <p:nvSpPr>
            <p:cNvPr id="593935" name="文本框 593934"/>
            <p:cNvSpPr txBox="1"/>
            <p:nvPr/>
          </p:nvSpPr>
          <p:spPr>
            <a:xfrm>
              <a:off x="1008" y="3244"/>
              <a:ext cx="348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36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变</a:t>
              </a:r>
              <a:endParaRPr lang="zh-CN" altLang="en-US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93936" name="组合 593935"/>
          <p:cNvGrpSpPr/>
          <p:nvPr/>
        </p:nvGrpSpPr>
        <p:grpSpPr>
          <a:xfrm>
            <a:off x="4953000" y="5105400"/>
            <a:ext cx="1752600" cy="641350"/>
            <a:chOff x="3120" y="3216"/>
            <a:chExt cx="1104" cy="404"/>
          </a:xfrm>
        </p:grpSpPr>
        <p:sp>
          <p:nvSpPr>
            <p:cNvPr id="593937" name="文本框 593936"/>
            <p:cNvSpPr txBox="1"/>
            <p:nvPr/>
          </p:nvSpPr>
          <p:spPr>
            <a:xfrm>
              <a:off x="3552" y="3216"/>
              <a:ext cx="672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600" b="1" i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sz="3600" b="1" baseline="-2500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</a:t>
              </a:r>
              <a:r>
                <a:rPr lang="zh-CN" altLang="en-US" sz="36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变</a:t>
              </a:r>
            </a:p>
          </p:txBody>
        </p:sp>
        <p:sp>
          <p:nvSpPr>
            <p:cNvPr id="593938" name="直接连接符 593937"/>
            <p:cNvSpPr/>
            <p:nvPr/>
          </p:nvSpPr>
          <p:spPr>
            <a:xfrm>
              <a:off x="3120" y="3456"/>
              <a:ext cx="480" cy="0"/>
            </a:xfrm>
            <a:prstGeom prst="line">
              <a:avLst/>
            </a:prstGeom>
            <a:ln w="762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93940" name="文本框 593939"/>
          <p:cNvSpPr txBox="1"/>
          <p:nvPr/>
        </p:nvSpPr>
        <p:spPr>
          <a:xfrm>
            <a:off x="1692275" y="773113"/>
            <a:ext cx="55435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dirty="0">
                <a:solidFill>
                  <a:srgbClr val="66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2.5.1  </a:t>
            </a:r>
            <a:r>
              <a:rPr lang="zh-CN" altLang="en-US" dirty="0">
                <a:solidFill>
                  <a:srgbClr val="66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温度对静态工作点的影响</a:t>
            </a:r>
          </a:p>
        </p:txBody>
      </p:sp>
      <p:grpSp>
        <p:nvGrpSpPr>
          <p:cNvPr id="593941" name="组合 593940"/>
          <p:cNvGrpSpPr/>
          <p:nvPr/>
        </p:nvGrpSpPr>
        <p:grpSpPr>
          <a:xfrm>
            <a:off x="5157788" y="593725"/>
            <a:ext cx="3600450" cy="3556000"/>
            <a:chOff x="0" y="672"/>
            <a:chExt cx="1824" cy="1749"/>
          </a:xfrm>
        </p:grpSpPr>
        <p:sp>
          <p:nvSpPr>
            <p:cNvPr id="593942" name="文本框 593941"/>
            <p:cNvSpPr txBox="1"/>
            <p:nvPr/>
          </p:nvSpPr>
          <p:spPr>
            <a:xfrm>
              <a:off x="672" y="672"/>
              <a:ext cx="576" cy="22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593943" name="图片 5939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56"/>
              <a:ext cx="1824" cy="1365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3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22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600"/>
            <a:ext cx="3581400" cy="2678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3426" name="Group 69"/>
          <p:cNvGrpSpPr/>
          <p:nvPr/>
        </p:nvGrpSpPr>
        <p:grpSpPr>
          <a:xfrm>
            <a:off x="3986213" y="2168525"/>
            <a:ext cx="1439862" cy="765175"/>
            <a:chOff x="2625" y="2897"/>
            <a:chExt cx="907" cy="482"/>
          </a:xfrm>
        </p:grpSpPr>
        <p:sp>
          <p:nvSpPr>
            <p:cNvPr id="103427" name="Line 8"/>
            <p:cNvSpPr/>
            <p:nvPr/>
          </p:nvSpPr>
          <p:spPr>
            <a:xfrm>
              <a:off x="2625" y="3010"/>
              <a:ext cx="567" cy="0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103428" name="Line 9"/>
            <p:cNvSpPr/>
            <p:nvPr/>
          </p:nvSpPr>
          <p:spPr>
            <a:xfrm>
              <a:off x="2625" y="3266"/>
              <a:ext cx="567" cy="0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103429" name="Line 10"/>
            <p:cNvSpPr/>
            <p:nvPr/>
          </p:nvSpPr>
          <p:spPr>
            <a:xfrm flipV="1">
              <a:off x="3192" y="2897"/>
              <a:ext cx="0" cy="113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103430" name="Line 11"/>
            <p:cNvSpPr/>
            <p:nvPr/>
          </p:nvSpPr>
          <p:spPr>
            <a:xfrm flipV="1">
              <a:off x="3192" y="3266"/>
              <a:ext cx="0" cy="113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103431" name="Line 12"/>
            <p:cNvSpPr/>
            <p:nvPr/>
          </p:nvSpPr>
          <p:spPr>
            <a:xfrm>
              <a:off x="3192" y="2897"/>
              <a:ext cx="340" cy="227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  <p:sp>
          <p:nvSpPr>
            <p:cNvPr id="103432" name="Line 13"/>
            <p:cNvSpPr/>
            <p:nvPr/>
          </p:nvSpPr>
          <p:spPr>
            <a:xfrm flipV="1">
              <a:off x="3192" y="3124"/>
              <a:ext cx="340" cy="255"/>
            </a:xfrm>
            <a:prstGeom prst="line">
              <a:avLst/>
            </a:prstGeom>
            <a:ln w="12700" cap="sq" cmpd="sng">
              <a:solidFill>
                <a:srgbClr val="FF00FF"/>
              </a:solidFill>
              <a:prstDash val="solid"/>
              <a:miter/>
              <a:headEnd type="none" w="sm" len="sm"/>
              <a:tailEnd type="none" w="sm" len="sm"/>
            </a:ln>
          </p:spPr>
        </p:sp>
      </p:grpSp>
      <p:sp>
        <p:nvSpPr>
          <p:cNvPr id="103433" name="Text Box 14"/>
          <p:cNvSpPr txBox="1"/>
          <p:nvPr/>
        </p:nvSpPr>
        <p:spPr>
          <a:xfrm>
            <a:off x="4481513" y="5815013"/>
            <a:ext cx="946150" cy="5191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3434" name="Group 68"/>
          <p:cNvGrpSpPr/>
          <p:nvPr/>
        </p:nvGrpSpPr>
        <p:grpSpPr>
          <a:xfrm>
            <a:off x="5786438" y="998538"/>
            <a:ext cx="3132137" cy="2879725"/>
            <a:chOff x="3787" y="2330"/>
            <a:chExt cx="1973" cy="1814"/>
          </a:xfrm>
        </p:grpSpPr>
        <p:sp>
          <p:nvSpPr>
            <p:cNvPr id="103435" name="Line 15"/>
            <p:cNvSpPr/>
            <p:nvPr/>
          </p:nvSpPr>
          <p:spPr>
            <a:xfrm flipH="1">
              <a:off x="5128" y="2433"/>
              <a:ext cx="56" cy="1"/>
            </a:xfrm>
            <a:prstGeom prst="line">
              <a:avLst/>
            </a:prstGeom>
            <a:ln w="23813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36" name="Oval 16"/>
            <p:cNvSpPr/>
            <p:nvPr/>
          </p:nvSpPr>
          <p:spPr>
            <a:xfrm>
              <a:off x="5184" y="2395"/>
              <a:ext cx="83" cy="77"/>
            </a:xfrm>
            <a:prstGeom prst="ellipse">
              <a:avLst/>
            </a:prstGeom>
            <a:noFill/>
            <a:ln w="23813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37" name="Rectangle 17"/>
            <p:cNvSpPr/>
            <p:nvPr/>
          </p:nvSpPr>
          <p:spPr>
            <a:xfrm>
              <a:off x="5308" y="2330"/>
              <a:ext cx="145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3100" i="1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38" name="Rectangle 18"/>
            <p:cNvSpPr/>
            <p:nvPr/>
          </p:nvSpPr>
          <p:spPr>
            <a:xfrm>
              <a:off x="4685" y="2626"/>
              <a:ext cx="124" cy="270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39" name="Rectangle 19"/>
            <p:cNvSpPr/>
            <p:nvPr/>
          </p:nvSpPr>
          <p:spPr>
            <a:xfrm>
              <a:off x="4130" y="2626"/>
              <a:ext cx="124" cy="270"/>
            </a:xfrm>
            <a:prstGeom prst="rect">
              <a:avLst/>
            </a:prstGeom>
            <a:solidFill>
              <a:srgbClr val="0080FF"/>
            </a:solidFill>
            <a:ln w="23813" cap="flat" cmpd="sng">
              <a:solidFill>
                <a:srgbClr val="008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40" name="Line 20"/>
            <p:cNvSpPr/>
            <p:nvPr/>
          </p:nvSpPr>
          <p:spPr>
            <a:xfrm>
              <a:off x="4740" y="4027"/>
              <a:ext cx="1" cy="116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41" name="Line 21"/>
            <p:cNvSpPr/>
            <p:nvPr/>
          </p:nvSpPr>
          <p:spPr>
            <a:xfrm>
              <a:off x="4588" y="4143"/>
              <a:ext cx="304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42" name="Line 22"/>
            <p:cNvSpPr/>
            <p:nvPr/>
          </p:nvSpPr>
          <p:spPr>
            <a:xfrm>
              <a:off x="4324" y="3307"/>
              <a:ext cx="139" cy="1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43" name="Line 23"/>
            <p:cNvSpPr/>
            <p:nvPr/>
          </p:nvSpPr>
          <p:spPr>
            <a:xfrm>
              <a:off x="4130" y="2626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44" name="Line 24"/>
            <p:cNvSpPr/>
            <p:nvPr/>
          </p:nvSpPr>
          <p:spPr>
            <a:xfrm>
              <a:off x="4241" y="262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45" name="Line 25"/>
            <p:cNvSpPr/>
            <p:nvPr/>
          </p:nvSpPr>
          <p:spPr>
            <a:xfrm flipH="1">
              <a:off x="4130" y="2883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46" name="Line 26"/>
            <p:cNvSpPr/>
            <p:nvPr/>
          </p:nvSpPr>
          <p:spPr>
            <a:xfrm flipV="1">
              <a:off x="4130" y="262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47" name="Line 27"/>
            <p:cNvSpPr/>
            <p:nvPr/>
          </p:nvSpPr>
          <p:spPr>
            <a:xfrm>
              <a:off x="4185" y="2497"/>
              <a:ext cx="1" cy="129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48" name="Line 28"/>
            <p:cNvSpPr/>
            <p:nvPr/>
          </p:nvSpPr>
          <p:spPr>
            <a:xfrm flipV="1">
              <a:off x="4185" y="2883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49" name="Line 29"/>
            <p:cNvSpPr/>
            <p:nvPr/>
          </p:nvSpPr>
          <p:spPr>
            <a:xfrm>
              <a:off x="4685" y="2626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50" name="Line 30"/>
            <p:cNvSpPr/>
            <p:nvPr/>
          </p:nvSpPr>
          <p:spPr>
            <a:xfrm>
              <a:off x="4796" y="2626"/>
              <a:ext cx="1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51" name="Line 31"/>
            <p:cNvSpPr/>
            <p:nvPr/>
          </p:nvSpPr>
          <p:spPr>
            <a:xfrm flipH="1">
              <a:off x="4685" y="2883"/>
              <a:ext cx="111" cy="1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52" name="Line 32"/>
            <p:cNvSpPr/>
            <p:nvPr/>
          </p:nvSpPr>
          <p:spPr>
            <a:xfrm flipV="1">
              <a:off x="4685" y="2626"/>
              <a:ext cx="0" cy="257"/>
            </a:xfrm>
            <a:prstGeom prst="line">
              <a:avLst/>
            </a:prstGeom>
            <a:ln w="23813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53" name="Line 33"/>
            <p:cNvSpPr/>
            <p:nvPr/>
          </p:nvSpPr>
          <p:spPr>
            <a:xfrm>
              <a:off x="4740" y="2497"/>
              <a:ext cx="1" cy="129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54" name="Line 34"/>
            <p:cNvSpPr/>
            <p:nvPr/>
          </p:nvSpPr>
          <p:spPr>
            <a:xfrm flipV="1">
              <a:off x="4740" y="2883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55" name="Line 35"/>
            <p:cNvSpPr/>
            <p:nvPr/>
          </p:nvSpPr>
          <p:spPr>
            <a:xfrm>
              <a:off x="4740" y="3564"/>
              <a:ext cx="1" cy="47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56" name="Line 36"/>
            <p:cNvSpPr/>
            <p:nvPr/>
          </p:nvSpPr>
          <p:spPr>
            <a:xfrm flipV="1">
              <a:off x="4185" y="2433"/>
              <a:ext cx="1" cy="64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57" name="Line 37"/>
            <p:cNvSpPr/>
            <p:nvPr/>
          </p:nvSpPr>
          <p:spPr>
            <a:xfrm>
              <a:off x="4185" y="2433"/>
              <a:ext cx="555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58" name="Oval 38"/>
            <p:cNvSpPr/>
            <p:nvPr/>
          </p:nvSpPr>
          <p:spPr>
            <a:xfrm>
              <a:off x="4712" y="2407"/>
              <a:ext cx="56" cy="52"/>
            </a:xfrm>
            <a:prstGeom prst="ellipse">
              <a:avLst/>
            </a:prstGeom>
            <a:solidFill>
              <a:srgbClr val="FF00FF"/>
            </a:solidFill>
            <a:ln w="23813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59" name="Line 39"/>
            <p:cNvSpPr/>
            <p:nvPr/>
          </p:nvSpPr>
          <p:spPr>
            <a:xfrm>
              <a:off x="4185" y="3011"/>
              <a:ext cx="1" cy="296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60" name="Line 40"/>
            <p:cNvSpPr/>
            <p:nvPr/>
          </p:nvSpPr>
          <p:spPr>
            <a:xfrm flipV="1">
              <a:off x="4740" y="2433"/>
              <a:ext cx="1" cy="64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61" name="Line 41"/>
            <p:cNvSpPr/>
            <p:nvPr/>
          </p:nvSpPr>
          <p:spPr>
            <a:xfrm>
              <a:off x="4740" y="2433"/>
              <a:ext cx="388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03462" name="Group 42"/>
            <p:cNvGrpSpPr/>
            <p:nvPr/>
          </p:nvGrpSpPr>
          <p:grpSpPr>
            <a:xfrm>
              <a:off x="4463" y="3178"/>
              <a:ext cx="348" cy="258"/>
              <a:chOff x="4463" y="3178"/>
              <a:chExt cx="348" cy="258"/>
            </a:xfrm>
          </p:grpSpPr>
          <p:sp>
            <p:nvSpPr>
              <p:cNvPr id="103463" name="Line 43"/>
              <p:cNvSpPr/>
              <p:nvPr/>
            </p:nvSpPr>
            <p:spPr>
              <a:xfrm flipH="1">
                <a:off x="4601" y="3178"/>
                <a:ext cx="139" cy="91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464" name="Line 44"/>
              <p:cNvSpPr/>
              <p:nvPr/>
            </p:nvSpPr>
            <p:spPr>
              <a:xfrm>
                <a:off x="4601" y="3345"/>
                <a:ext cx="139" cy="91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465" name="Line 45"/>
              <p:cNvSpPr/>
              <p:nvPr/>
            </p:nvSpPr>
            <p:spPr>
              <a:xfrm>
                <a:off x="4601" y="3178"/>
                <a:ext cx="1" cy="258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466" name="Line 46"/>
              <p:cNvSpPr/>
              <p:nvPr/>
            </p:nvSpPr>
            <p:spPr>
              <a:xfrm flipH="1">
                <a:off x="4463" y="3307"/>
                <a:ext cx="138" cy="1"/>
              </a:xfrm>
              <a:prstGeom prst="line">
                <a:avLst/>
              </a:prstGeom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467" name="Freeform 47"/>
              <p:cNvSpPr/>
              <p:nvPr/>
            </p:nvSpPr>
            <p:spPr>
              <a:xfrm>
                <a:off x="4657" y="3371"/>
                <a:ext cx="83" cy="65"/>
              </a:xfrm>
              <a:custGeom>
                <a:avLst/>
                <a:gdLst/>
                <a:ahLst/>
                <a:cxnLst>
                  <a:cxn ang="0">
                    <a:pos x="59" y="37"/>
                  </a:cxn>
                  <a:cxn ang="0">
                    <a:pos x="20" y="0"/>
                  </a:cxn>
                  <a:cxn ang="0">
                    <a:pos x="0" y="23"/>
                  </a:cxn>
                  <a:cxn ang="0">
                    <a:pos x="59" y="37"/>
                  </a:cxn>
                </a:cxnLst>
                <a:rect l="0" t="0" r="0" b="0"/>
                <a:pathLst>
                  <a:path w="93" h="78">
                    <a:moveTo>
                      <a:pt x="93" y="78"/>
                    </a:moveTo>
                    <a:lnTo>
                      <a:pt x="31" y="0"/>
                    </a:lnTo>
                    <a:lnTo>
                      <a:pt x="0" y="47"/>
                    </a:lnTo>
                    <a:lnTo>
                      <a:pt x="93" y="78"/>
                    </a:lnTo>
                    <a:close/>
                  </a:path>
                </a:pathLst>
              </a:custGeom>
              <a:solidFill>
                <a:srgbClr val="0000FF"/>
              </a:solidFill>
              <a:ln w="23813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68" name="Rectangle 48"/>
              <p:cNvSpPr/>
              <p:nvPr/>
            </p:nvSpPr>
            <p:spPr>
              <a:xfrm>
                <a:off x="4723" y="3209"/>
                <a:ext cx="88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800" dirty="0">
                    <a:solidFill>
                      <a:srgbClr val="00008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3469" name="Line 49"/>
            <p:cNvSpPr/>
            <p:nvPr/>
          </p:nvSpPr>
          <p:spPr>
            <a:xfrm>
              <a:off x="4740" y="3050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70" name="Line 50"/>
            <p:cNvSpPr/>
            <p:nvPr/>
          </p:nvSpPr>
          <p:spPr>
            <a:xfrm flipV="1">
              <a:off x="4740" y="3436"/>
              <a:ext cx="1" cy="128"/>
            </a:xfrm>
            <a:prstGeom prst="line">
              <a:avLst/>
            </a:prstGeom>
            <a:ln w="23813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71" name="Line 51"/>
            <p:cNvSpPr/>
            <p:nvPr/>
          </p:nvSpPr>
          <p:spPr>
            <a:xfrm>
              <a:off x="4740" y="3011"/>
              <a:ext cx="1" cy="39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72" name="Line 52"/>
            <p:cNvSpPr/>
            <p:nvPr/>
          </p:nvSpPr>
          <p:spPr>
            <a:xfrm>
              <a:off x="4185" y="3307"/>
              <a:ext cx="139" cy="1"/>
            </a:xfrm>
            <a:prstGeom prst="line">
              <a:avLst/>
            </a:prstGeom>
            <a:ln w="23813" cap="flat" cmpd="sng">
              <a:solidFill>
                <a:srgbClr val="80004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73" name="Rectangle 53"/>
            <p:cNvSpPr/>
            <p:nvPr/>
          </p:nvSpPr>
          <p:spPr>
            <a:xfrm>
              <a:off x="3787" y="2618"/>
              <a:ext cx="275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r>
                <a:rPr lang="en-US" altLang="zh-CN" sz="27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74" name="Rectangle 54"/>
            <p:cNvSpPr/>
            <p:nvPr/>
          </p:nvSpPr>
          <p:spPr>
            <a:xfrm>
              <a:off x="3922" y="2729"/>
              <a:ext cx="76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75" name="Rectangle 55"/>
            <p:cNvSpPr/>
            <p:nvPr/>
          </p:nvSpPr>
          <p:spPr>
            <a:xfrm>
              <a:off x="4439" y="2634"/>
              <a:ext cx="132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76" name="Rectangle 56"/>
            <p:cNvSpPr/>
            <p:nvPr/>
          </p:nvSpPr>
          <p:spPr>
            <a:xfrm>
              <a:off x="5558" y="2421"/>
              <a:ext cx="202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77" name="Rectangle 57"/>
            <p:cNvSpPr/>
            <p:nvPr/>
          </p:nvSpPr>
          <p:spPr>
            <a:xfrm>
              <a:off x="5462" y="2330"/>
              <a:ext cx="131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78" name="Rectangle 58"/>
            <p:cNvSpPr/>
            <p:nvPr/>
          </p:nvSpPr>
          <p:spPr>
            <a:xfrm>
              <a:off x="4573" y="2729"/>
              <a:ext cx="67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79" name="Line 59"/>
            <p:cNvSpPr/>
            <p:nvPr/>
          </p:nvSpPr>
          <p:spPr>
            <a:xfrm>
              <a:off x="4184" y="3379"/>
              <a:ext cx="284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miter/>
              <a:headEnd type="none" w="sm" len="sm"/>
              <a:tailEnd type="triangle" w="med" len="med"/>
            </a:ln>
          </p:spPr>
        </p:sp>
        <p:sp>
          <p:nvSpPr>
            <p:cNvPr id="103480" name="Line 60"/>
            <p:cNvSpPr/>
            <p:nvPr/>
          </p:nvSpPr>
          <p:spPr>
            <a:xfrm>
              <a:off x="4921" y="2557"/>
              <a:ext cx="0" cy="368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miter/>
              <a:headEnd type="none" w="sm" len="sm"/>
              <a:tailEnd type="triangle" w="med" len="med"/>
            </a:ln>
          </p:spPr>
        </p:sp>
        <p:sp>
          <p:nvSpPr>
            <p:cNvPr id="103481" name="Text Box 61"/>
            <p:cNvSpPr txBox="1"/>
            <p:nvPr/>
          </p:nvSpPr>
          <p:spPr>
            <a:xfrm>
              <a:off x="4779" y="2954"/>
              <a:ext cx="2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3482" name="Text Box 62"/>
            <p:cNvSpPr txBox="1"/>
            <p:nvPr/>
          </p:nvSpPr>
          <p:spPr>
            <a:xfrm>
              <a:off x="4779" y="3407"/>
              <a:ext cx="3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103483" name="Text Box 63"/>
            <p:cNvSpPr txBox="1"/>
            <p:nvPr/>
          </p:nvSpPr>
          <p:spPr>
            <a:xfrm>
              <a:off x="4836" y="3181"/>
              <a:ext cx="59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CEQ</a:t>
              </a:r>
            </a:p>
          </p:txBody>
        </p:sp>
        <p:sp>
          <p:nvSpPr>
            <p:cNvPr id="103484" name="Text Box 64"/>
            <p:cNvSpPr txBox="1"/>
            <p:nvPr/>
          </p:nvSpPr>
          <p:spPr>
            <a:xfrm>
              <a:off x="4127" y="3351"/>
              <a:ext cx="4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aseline="-250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BQ</a:t>
              </a:r>
            </a:p>
          </p:txBody>
        </p:sp>
        <p:sp>
          <p:nvSpPr>
            <p:cNvPr id="103485" name="Text Box 65"/>
            <p:cNvSpPr txBox="1"/>
            <p:nvPr/>
          </p:nvSpPr>
          <p:spPr>
            <a:xfrm>
              <a:off x="4949" y="2557"/>
              <a:ext cx="45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aseline="-250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CQ</a:t>
              </a:r>
            </a:p>
          </p:txBody>
        </p:sp>
      </p:grpSp>
      <p:sp>
        <p:nvSpPr>
          <p:cNvPr id="103486" name="Text Box 66"/>
          <p:cNvSpPr txBox="1"/>
          <p:nvPr/>
        </p:nvSpPr>
        <p:spPr>
          <a:xfrm>
            <a:off x="3806825" y="1584325"/>
            <a:ext cx="1800225" cy="4572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画直流通路</a:t>
            </a:r>
          </a:p>
        </p:txBody>
      </p:sp>
      <p:sp>
        <p:nvSpPr>
          <p:cNvPr id="103487" name="Text Box 67"/>
          <p:cNvSpPr txBox="1"/>
          <p:nvPr/>
        </p:nvSpPr>
        <p:spPr>
          <a:xfrm>
            <a:off x="2592388" y="188913"/>
            <a:ext cx="3816350" cy="52197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dirty="0">
                <a:solidFill>
                  <a:srgbClr val="66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2.5.2  </a:t>
            </a:r>
            <a:r>
              <a:rPr lang="zh-CN" altLang="en-US" dirty="0">
                <a:solidFill>
                  <a:srgbClr val="66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固定偏置电路</a:t>
            </a:r>
          </a:p>
        </p:txBody>
      </p:sp>
      <p:sp>
        <p:nvSpPr>
          <p:cNvPr id="103488" name="Text Box 70"/>
          <p:cNvSpPr txBox="1"/>
          <p:nvPr/>
        </p:nvSpPr>
        <p:spPr>
          <a:xfrm>
            <a:off x="1781175" y="4059238"/>
            <a:ext cx="5851525" cy="4572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该电路的的直流通路被称为固定偏置电路。</a:t>
            </a:r>
          </a:p>
        </p:txBody>
      </p:sp>
      <p:sp>
        <p:nvSpPr>
          <p:cNvPr id="103489" name="Text Box 71"/>
          <p:cNvSpPr txBox="1"/>
          <p:nvPr/>
        </p:nvSpPr>
        <p:spPr>
          <a:xfrm>
            <a:off x="250825" y="4689475"/>
            <a:ext cx="8731250" cy="4572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优点：电路形式简单；只要调整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的值，就可以改变工作点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03490" name="Text Box 73"/>
          <p:cNvSpPr txBox="1"/>
          <p:nvPr/>
        </p:nvSpPr>
        <p:spPr>
          <a:xfrm>
            <a:off x="250825" y="5408613"/>
            <a:ext cx="8461375" cy="4572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缺点：当环境温度发生变化时，</a:t>
            </a:r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点会发生改变。</a:t>
            </a:r>
          </a:p>
        </p:txBody>
      </p:sp>
    </p:spTree>
  </p:cSld>
  <p:clrMapOvr>
    <a:masterClrMapping/>
  </p:clrMapOvr>
  <p:transition>
    <p:wipe dir="d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066" name="组合 600065"/>
          <p:cNvGrpSpPr/>
          <p:nvPr/>
        </p:nvGrpSpPr>
        <p:grpSpPr>
          <a:xfrm>
            <a:off x="2514600" y="1905000"/>
            <a:ext cx="628650" cy="781050"/>
            <a:chOff x="1416" y="696"/>
            <a:chExt cx="396" cy="492"/>
          </a:xfrm>
        </p:grpSpPr>
        <p:sp>
          <p:nvSpPr>
            <p:cNvPr id="600067" name="直接连接符 600066"/>
            <p:cNvSpPr/>
            <p:nvPr/>
          </p:nvSpPr>
          <p:spPr>
            <a:xfrm>
              <a:off x="1416" y="696"/>
              <a:ext cx="0" cy="4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0068" name="文本框 600067"/>
            <p:cNvSpPr txBox="1"/>
            <p:nvPr/>
          </p:nvSpPr>
          <p:spPr>
            <a:xfrm>
              <a:off x="1416" y="711"/>
              <a:ext cx="39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00069" name="组合 600068"/>
          <p:cNvGrpSpPr/>
          <p:nvPr/>
        </p:nvGrpSpPr>
        <p:grpSpPr>
          <a:xfrm>
            <a:off x="2514600" y="3810000"/>
            <a:ext cx="628650" cy="781050"/>
            <a:chOff x="1416" y="696"/>
            <a:chExt cx="396" cy="492"/>
          </a:xfrm>
        </p:grpSpPr>
        <p:sp>
          <p:nvSpPr>
            <p:cNvPr id="600070" name="直接连接符 600069"/>
            <p:cNvSpPr/>
            <p:nvPr/>
          </p:nvSpPr>
          <p:spPr>
            <a:xfrm>
              <a:off x="1416" y="696"/>
              <a:ext cx="0" cy="4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0071" name="文本框 600070"/>
            <p:cNvSpPr txBox="1"/>
            <p:nvPr/>
          </p:nvSpPr>
          <p:spPr>
            <a:xfrm>
              <a:off x="1416" y="711"/>
              <a:ext cx="39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00072" name="组合 600071"/>
          <p:cNvGrpSpPr/>
          <p:nvPr/>
        </p:nvGrpSpPr>
        <p:grpSpPr>
          <a:xfrm>
            <a:off x="2438400" y="2362200"/>
            <a:ext cx="800100" cy="633413"/>
            <a:chOff x="1416" y="1053"/>
            <a:chExt cx="504" cy="399"/>
          </a:xfrm>
        </p:grpSpPr>
        <p:sp>
          <p:nvSpPr>
            <p:cNvPr id="600073" name="直接连接符 600072"/>
            <p:cNvSpPr/>
            <p:nvPr/>
          </p:nvSpPr>
          <p:spPr>
            <a:xfrm>
              <a:off x="1416" y="1452"/>
              <a:ext cx="43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0074" name="文本框 600073"/>
            <p:cNvSpPr txBox="1"/>
            <p:nvPr/>
          </p:nvSpPr>
          <p:spPr>
            <a:xfrm>
              <a:off x="1476" y="1053"/>
              <a:ext cx="44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600075" name="对象 600074"/>
          <p:cNvGraphicFramePr/>
          <p:nvPr/>
        </p:nvGraphicFramePr>
        <p:xfrm>
          <a:off x="5608638" y="5365750"/>
          <a:ext cx="295751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8" r:id="rId4" imgW="1231265" imgH="431800" progId="Equation.3">
                  <p:embed/>
                </p:oleObj>
              </mc:Choice>
              <mc:Fallback>
                <p:oleObj r:id="rId4" imgW="1231265" imgH="4318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08638" y="5365750"/>
                        <a:ext cx="2957512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0076" name="文本框 600075"/>
          <p:cNvSpPr txBox="1"/>
          <p:nvPr/>
        </p:nvSpPr>
        <p:spPr>
          <a:xfrm>
            <a:off x="533400" y="5943600"/>
            <a:ext cx="487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选</a:t>
            </a:r>
            <a:r>
              <a:rPr lang="en-US" altLang="zh-CN" b="1" i="1">
                <a:latin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=</a:t>
            </a:r>
            <a:r>
              <a:rPr lang="zh-CN" altLang="en-US" b="1">
                <a:latin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</a:rPr>
              <a:t>5~10</a:t>
            </a:r>
            <a:r>
              <a:rPr lang="zh-CN" altLang="en-US" b="1">
                <a:latin typeface="Times New Roman" panose="02020603050405020304" pitchFamily="18" charset="0"/>
              </a:rPr>
              <a:t>）</a:t>
            </a:r>
            <a:r>
              <a:rPr lang="en-US" altLang="zh-CN" b="1" i="1">
                <a:latin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</a:rPr>
              <a:t>B         </a:t>
            </a:r>
            <a:r>
              <a:rPr lang="en-US" altLang="zh-CN" b="1">
                <a:latin typeface="Times New Roman" panose="02020603050405020304" pitchFamily="18" charset="0"/>
              </a:rPr>
              <a:t>∴</a:t>
            </a:r>
            <a:r>
              <a:rPr lang="en-US" altLang="zh-CN" b="1" i="1">
                <a:latin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 </a:t>
            </a:r>
            <a:r>
              <a:rPr lang="en-US" altLang="zh-CN" b="1" i="1">
                <a:latin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grpSp>
        <p:nvGrpSpPr>
          <p:cNvPr id="600077" name="组合 600076"/>
          <p:cNvGrpSpPr/>
          <p:nvPr/>
        </p:nvGrpSpPr>
        <p:grpSpPr>
          <a:xfrm>
            <a:off x="3810000" y="1752600"/>
            <a:ext cx="628650" cy="781050"/>
            <a:chOff x="1416" y="696"/>
            <a:chExt cx="396" cy="492"/>
          </a:xfrm>
        </p:grpSpPr>
        <p:sp>
          <p:nvSpPr>
            <p:cNvPr id="600078" name="直接连接符 600077"/>
            <p:cNvSpPr/>
            <p:nvPr/>
          </p:nvSpPr>
          <p:spPr>
            <a:xfrm>
              <a:off x="1416" y="696"/>
              <a:ext cx="0" cy="4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0079" name="文本框 600078"/>
            <p:cNvSpPr txBox="1"/>
            <p:nvPr/>
          </p:nvSpPr>
          <p:spPr>
            <a:xfrm>
              <a:off x="1416" y="711"/>
              <a:ext cx="39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00080" name="组合 600079"/>
          <p:cNvGrpSpPr/>
          <p:nvPr/>
        </p:nvGrpSpPr>
        <p:grpSpPr>
          <a:xfrm>
            <a:off x="3810000" y="3886200"/>
            <a:ext cx="628650" cy="781050"/>
            <a:chOff x="1416" y="696"/>
            <a:chExt cx="396" cy="492"/>
          </a:xfrm>
        </p:grpSpPr>
        <p:sp>
          <p:nvSpPr>
            <p:cNvPr id="600081" name="直接连接符 600080"/>
            <p:cNvSpPr/>
            <p:nvPr/>
          </p:nvSpPr>
          <p:spPr>
            <a:xfrm>
              <a:off x="1416" y="696"/>
              <a:ext cx="0" cy="4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0082" name="文本框 600081"/>
            <p:cNvSpPr txBox="1"/>
            <p:nvPr/>
          </p:nvSpPr>
          <p:spPr>
            <a:xfrm>
              <a:off x="1416" y="711"/>
              <a:ext cx="39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pic>
        <p:nvPicPr>
          <p:cNvPr id="600083" name="图片 6000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63" y="1042988"/>
            <a:ext cx="6096000" cy="4924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0084" name="文本框 600083"/>
          <p:cNvSpPr txBox="1"/>
          <p:nvPr/>
        </p:nvSpPr>
        <p:spPr>
          <a:xfrm>
            <a:off x="206375" y="728663"/>
            <a:ext cx="522128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） 结构及工作原理</a:t>
            </a:r>
            <a:endParaRPr lang="zh-CN" altLang="en-US" sz="3200" b="1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0086" name="文本框 600085"/>
          <p:cNvSpPr txBox="1"/>
          <p:nvPr/>
        </p:nvSpPr>
        <p:spPr>
          <a:xfrm>
            <a:off x="2501900" y="279400"/>
            <a:ext cx="38163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dirty="0">
                <a:solidFill>
                  <a:srgbClr val="66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2.5.3  </a:t>
            </a:r>
            <a:r>
              <a:rPr lang="zh-CN" altLang="en-US" dirty="0">
                <a:solidFill>
                  <a:srgbClr val="66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射极偏置电路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0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0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0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76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文本框 602113"/>
          <p:cNvSpPr txBox="1"/>
          <p:nvPr/>
        </p:nvSpPr>
        <p:spPr>
          <a:xfrm>
            <a:off x="5591175" y="400050"/>
            <a:ext cx="3043238" cy="412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sz="3200" b="1" baseline="-25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2115" name="文本框 602114"/>
          <p:cNvSpPr txBox="1"/>
          <p:nvPr/>
        </p:nvSpPr>
        <p:spPr>
          <a:xfrm>
            <a:off x="6629400" y="228600"/>
            <a:ext cx="17526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静态工作点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长城楷体" pitchFamily="49" charset="-122"/>
              </a:rPr>
              <a:t>稳定过程：</a:t>
            </a:r>
            <a:endParaRPr lang="zh-CN" altLang="en-US" sz="2400" b="1">
              <a:solidFill>
                <a:srgbClr val="FF3300"/>
              </a:solidFill>
              <a:latin typeface="Times New Roman" panose="02020603050405020304" pitchFamily="18" charset="0"/>
              <a:ea typeface="长城楷体" pitchFamily="49" charset="-122"/>
            </a:endParaRPr>
          </a:p>
        </p:txBody>
      </p:sp>
      <p:grpSp>
        <p:nvGrpSpPr>
          <p:cNvPr id="602116" name="组合 602115"/>
          <p:cNvGrpSpPr/>
          <p:nvPr/>
        </p:nvGrpSpPr>
        <p:grpSpPr>
          <a:xfrm>
            <a:off x="542925" y="5129213"/>
            <a:ext cx="628650" cy="579437"/>
            <a:chOff x="552" y="3195"/>
            <a:chExt cx="396" cy="365"/>
          </a:xfrm>
        </p:grpSpPr>
        <p:sp>
          <p:nvSpPr>
            <p:cNvPr id="602117" name="文本框 602116"/>
            <p:cNvSpPr txBox="1"/>
            <p:nvPr/>
          </p:nvSpPr>
          <p:spPr>
            <a:xfrm>
              <a:off x="552" y="3195"/>
              <a:ext cx="39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</a:p>
          </p:txBody>
        </p:sp>
        <p:sp>
          <p:nvSpPr>
            <p:cNvPr id="602118" name="直接连接符 602117"/>
            <p:cNvSpPr/>
            <p:nvPr/>
          </p:nvSpPr>
          <p:spPr>
            <a:xfrm flipV="1">
              <a:off x="948" y="3204"/>
              <a:ext cx="0" cy="30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02119" name="组合 602118"/>
          <p:cNvGrpSpPr/>
          <p:nvPr/>
        </p:nvGrpSpPr>
        <p:grpSpPr>
          <a:xfrm>
            <a:off x="5267325" y="5062538"/>
            <a:ext cx="2157413" cy="579437"/>
            <a:chOff x="3595" y="3189"/>
            <a:chExt cx="1472" cy="365"/>
          </a:xfrm>
        </p:grpSpPr>
        <p:sp>
          <p:nvSpPr>
            <p:cNvPr id="602120" name="直接连接符 602119"/>
            <p:cNvSpPr/>
            <p:nvPr/>
          </p:nvSpPr>
          <p:spPr>
            <a:xfrm>
              <a:off x="3595" y="3408"/>
              <a:ext cx="65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602121" name="组合 602120"/>
            <p:cNvGrpSpPr/>
            <p:nvPr/>
          </p:nvGrpSpPr>
          <p:grpSpPr>
            <a:xfrm>
              <a:off x="4274" y="3189"/>
              <a:ext cx="793" cy="365"/>
              <a:chOff x="3768" y="3153"/>
              <a:chExt cx="732" cy="365"/>
            </a:xfrm>
          </p:grpSpPr>
          <p:sp>
            <p:nvSpPr>
              <p:cNvPr id="602122" name="文本框 602121"/>
              <p:cNvSpPr txBox="1"/>
              <p:nvPr/>
            </p:nvSpPr>
            <p:spPr>
              <a:xfrm>
                <a:off x="3768" y="3153"/>
                <a:ext cx="732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U</a:t>
                </a:r>
                <a:r>
                  <a:rPr lang="en-US" altLang="zh-CN" sz="3200" b="1" baseline="-25000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BE</a:t>
                </a:r>
                <a:endPara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602123" name="直接连接符 602122"/>
              <p:cNvSpPr/>
              <p:nvPr/>
            </p:nvSpPr>
            <p:spPr>
              <a:xfrm>
                <a:off x="4344" y="3204"/>
                <a:ext cx="0" cy="30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602124" name="组合 602123"/>
          <p:cNvGrpSpPr/>
          <p:nvPr/>
        </p:nvGrpSpPr>
        <p:grpSpPr>
          <a:xfrm>
            <a:off x="1343025" y="5091113"/>
            <a:ext cx="1428750" cy="579437"/>
            <a:chOff x="916" y="3207"/>
            <a:chExt cx="975" cy="365"/>
          </a:xfrm>
        </p:grpSpPr>
        <p:sp>
          <p:nvSpPr>
            <p:cNvPr id="602125" name="直接连接符 602124"/>
            <p:cNvSpPr/>
            <p:nvPr/>
          </p:nvSpPr>
          <p:spPr>
            <a:xfrm>
              <a:off x="916" y="3420"/>
              <a:ext cx="377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602126" name="组合 602125"/>
            <p:cNvGrpSpPr/>
            <p:nvPr/>
          </p:nvGrpSpPr>
          <p:grpSpPr>
            <a:xfrm>
              <a:off x="1319" y="3207"/>
              <a:ext cx="572" cy="365"/>
              <a:chOff x="1428" y="3171"/>
              <a:chExt cx="528" cy="365"/>
            </a:xfrm>
          </p:grpSpPr>
          <p:sp>
            <p:nvSpPr>
              <p:cNvPr id="602127" name="直接连接符 602126"/>
              <p:cNvSpPr/>
              <p:nvPr/>
            </p:nvSpPr>
            <p:spPr>
              <a:xfrm flipV="1">
                <a:off x="1788" y="3192"/>
                <a:ext cx="0" cy="30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02128" name="文本框 602127"/>
              <p:cNvSpPr txBox="1"/>
              <p:nvPr/>
            </p:nvSpPr>
            <p:spPr>
              <a:xfrm>
                <a:off x="1428" y="3171"/>
                <a:ext cx="528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r>
                  <a:rPr lang="en-US" altLang="zh-CN" sz="3200" b="1" baseline="-25000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  <a:endPara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grpSp>
        <p:nvGrpSpPr>
          <p:cNvPr id="602129" name="组合 602128"/>
          <p:cNvGrpSpPr/>
          <p:nvPr/>
        </p:nvGrpSpPr>
        <p:grpSpPr>
          <a:xfrm>
            <a:off x="1914525" y="5815013"/>
            <a:ext cx="2057400" cy="579437"/>
            <a:chOff x="1307" y="3663"/>
            <a:chExt cx="1404" cy="365"/>
          </a:xfrm>
        </p:grpSpPr>
        <p:sp>
          <p:nvSpPr>
            <p:cNvPr id="602130" name="直接连接符 602129"/>
            <p:cNvSpPr/>
            <p:nvPr/>
          </p:nvSpPr>
          <p:spPr>
            <a:xfrm flipH="1" flipV="1">
              <a:off x="1823" y="3816"/>
              <a:ext cx="888" cy="1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602131" name="组合 602130"/>
            <p:cNvGrpSpPr/>
            <p:nvPr/>
          </p:nvGrpSpPr>
          <p:grpSpPr>
            <a:xfrm>
              <a:off x="1307" y="3663"/>
              <a:ext cx="572" cy="365"/>
              <a:chOff x="1428" y="3615"/>
              <a:chExt cx="528" cy="365"/>
            </a:xfrm>
          </p:grpSpPr>
          <p:sp>
            <p:nvSpPr>
              <p:cNvPr id="602132" name="直接连接符 602131"/>
              <p:cNvSpPr/>
              <p:nvPr/>
            </p:nvSpPr>
            <p:spPr>
              <a:xfrm>
                <a:off x="1788" y="3636"/>
                <a:ext cx="0" cy="30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02133" name="文本框 602132"/>
              <p:cNvSpPr txBox="1"/>
              <p:nvPr/>
            </p:nvSpPr>
            <p:spPr>
              <a:xfrm>
                <a:off x="1428" y="3615"/>
                <a:ext cx="528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r>
                  <a:rPr lang="en-US" altLang="zh-CN" sz="3200" b="1" baseline="-25000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  <a:endPara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grpSp>
        <p:nvGrpSpPr>
          <p:cNvPr id="602134" name="组合 602133"/>
          <p:cNvGrpSpPr/>
          <p:nvPr/>
        </p:nvGrpSpPr>
        <p:grpSpPr>
          <a:xfrm>
            <a:off x="2657475" y="5148263"/>
            <a:ext cx="1573213" cy="579437"/>
            <a:chOff x="1813" y="3243"/>
            <a:chExt cx="1074" cy="365"/>
          </a:xfrm>
        </p:grpSpPr>
        <p:sp>
          <p:nvSpPr>
            <p:cNvPr id="602135" name="直接连接符 602134"/>
            <p:cNvSpPr/>
            <p:nvPr/>
          </p:nvSpPr>
          <p:spPr>
            <a:xfrm>
              <a:off x="1813" y="3408"/>
              <a:ext cx="507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602136" name="组合 602135"/>
            <p:cNvGrpSpPr/>
            <p:nvPr/>
          </p:nvGrpSpPr>
          <p:grpSpPr>
            <a:xfrm>
              <a:off x="2315" y="3243"/>
              <a:ext cx="572" cy="365"/>
              <a:chOff x="1428" y="3171"/>
              <a:chExt cx="528" cy="365"/>
            </a:xfrm>
          </p:grpSpPr>
          <p:sp>
            <p:nvSpPr>
              <p:cNvPr id="602137" name="直接连接符 602136"/>
              <p:cNvSpPr/>
              <p:nvPr/>
            </p:nvSpPr>
            <p:spPr>
              <a:xfrm flipV="1">
                <a:off x="1788" y="3192"/>
                <a:ext cx="0" cy="30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02138" name="文本框 602137"/>
              <p:cNvSpPr txBox="1"/>
              <p:nvPr/>
            </p:nvSpPr>
            <p:spPr>
              <a:xfrm>
                <a:off x="1428" y="3171"/>
                <a:ext cx="528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r>
                  <a:rPr lang="en-US" altLang="zh-CN" sz="3200" b="1" baseline="-25000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endPara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grpSp>
        <p:nvGrpSpPr>
          <p:cNvPr id="602139" name="组合 602138"/>
          <p:cNvGrpSpPr/>
          <p:nvPr/>
        </p:nvGrpSpPr>
        <p:grpSpPr>
          <a:xfrm>
            <a:off x="4032250" y="5091113"/>
            <a:ext cx="1277938" cy="579437"/>
            <a:chOff x="2752" y="3207"/>
            <a:chExt cx="872" cy="365"/>
          </a:xfrm>
        </p:grpSpPr>
        <p:grpSp>
          <p:nvGrpSpPr>
            <p:cNvPr id="602140" name="组合 602139"/>
            <p:cNvGrpSpPr/>
            <p:nvPr/>
          </p:nvGrpSpPr>
          <p:grpSpPr>
            <a:xfrm>
              <a:off x="2935" y="3207"/>
              <a:ext cx="689" cy="365"/>
              <a:chOff x="2388" y="3171"/>
              <a:chExt cx="636" cy="365"/>
            </a:xfrm>
          </p:grpSpPr>
          <p:sp>
            <p:nvSpPr>
              <p:cNvPr id="602141" name="文本框 602140"/>
              <p:cNvSpPr txBox="1"/>
              <p:nvPr/>
            </p:nvSpPr>
            <p:spPr>
              <a:xfrm>
                <a:off x="2388" y="3171"/>
                <a:ext cx="636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U</a:t>
                </a:r>
                <a:r>
                  <a:rPr lang="en-US" altLang="zh-CN" sz="3200" b="1" baseline="-25000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endPara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602142" name="直接连接符 602141"/>
              <p:cNvSpPr/>
              <p:nvPr/>
            </p:nvSpPr>
            <p:spPr>
              <a:xfrm flipV="1">
                <a:off x="2952" y="3216"/>
                <a:ext cx="0" cy="30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602143" name="直接连接符 602142"/>
            <p:cNvSpPr/>
            <p:nvPr/>
          </p:nvSpPr>
          <p:spPr>
            <a:xfrm>
              <a:off x="2752" y="3420"/>
              <a:ext cx="377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602144" name="对象 602143"/>
          <p:cNvGraphicFramePr/>
          <p:nvPr/>
        </p:nvGraphicFramePr>
        <p:xfrm>
          <a:off x="6324600" y="1254125"/>
          <a:ext cx="244951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2" r:id="rId4" imgW="1205865" imgH="431800" progId="Equation.3">
                  <p:embed/>
                </p:oleObj>
              </mc:Choice>
              <mc:Fallback>
                <p:oleObj r:id="rId4" imgW="1205865" imgH="4318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24600" y="1254125"/>
                        <a:ext cx="2449513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2145" name="文本框 602144"/>
          <p:cNvSpPr txBox="1"/>
          <p:nvPr/>
        </p:nvSpPr>
        <p:spPr>
          <a:xfrm>
            <a:off x="6477000" y="3581400"/>
            <a:ext cx="2200275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BE</a:t>
            </a:r>
            <a:r>
              <a:rPr lang="en-US" altLang="zh-CN" sz="2400" b="1">
                <a:latin typeface="Times New Roman" panose="02020603050405020304" pitchFamily="18" charset="0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-</a:t>
            </a:r>
            <a:r>
              <a:rPr lang="en-US" altLang="zh-CN" sz="2400" b="1" i="1"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E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   =</a:t>
            </a:r>
            <a:r>
              <a:rPr lang="en-US" altLang="zh-CN" sz="2400" b="1" i="1"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</a:rPr>
              <a:t>- </a:t>
            </a:r>
            <a:r>
              <a:rPr lang="en-US" altLang="zh-CN" sz="2400" b="1" i="1"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02146" name="文本框 602145"/>
          <p:cNvSpPr txBox="1"/>
          <p:nvPr/>
        </p:nvSpPr>
        <p:spPr>
          <a:xfrm>
            <a:off x="7010400" y="2667000"/>
            <a:ext cx="129540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</a:rPr>
              <a:t>稳定</a:t>
            </a:r>
          </a:p>
        </p:txBody>
      </p:sp>
      <p:grpSp>
        <p:nvGrpSpPr>
          <p:cNvPr id="602147" name="组合 602146"/>
          <p:cNvGrpSpPr/>
          <p:nvPr/>
        </p:nvGrpSpPr>
        <p:grpSpPr>
          <a:xfrm>
            <a:off x="4183063" y="5408613"/>
            <a:ext cx="3698875" cy="1114425"/>
            <a:chOff x="3592" y="3418"/>
            <a:chExt cx="2330" cy="702"/>
          </a:xfrm>
        </p:grpSpPr>
        <p:grpSp>
          <p:nvGrpSpPr>
            <p:cNvPr id="602148" name="组合 602147"/>
            <p:cNvGrpSpPr/>
            <p:nvPr/>
          </p:nvGrpSpPr>
          <p:grpSpPr>
            <a:xfrm>
              <a:off x="3592" y="3674"/>
              <a:ext cx="528" cy="365"/>
              <a:chOff x="2436" y="3627"/>
              <a:chExt cx="528" cy="365"/>
            </a:xfrm>
          </p:grpSpPr>
          <p:sp>
            <p:nvSpPr>
              <p:cNvPr id="602149" name="直接连接符 602148"/>
              <p:cNvSpPr/>
              <p:nvPr/>
            </p:nvSpPr>
            <p:spPr>
              <a:xfrm>
                <a:off x="2796" y="3648"/>
                <a:ext cx="0" cy="30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02150" name="文本框 602149"/>
              <p:cNvSpPr txBox="1"/>
              <p:nvPr/>
            </p:nvSpPr>
            <p:spPr>
              <a:xfrm>
                <a:off x="2436" y="3627"/>
                <a:ext cx="528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3200" b="1" i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r>
                  <a:rPr lang="en-US" altLang="zh-CN" sz="3200" b="1" baseline="-25000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602151" name="组合 602150"/>
            <p:cNvGrpSpPr/>
            <p:nvPr/>
          </p:nvGrpSpPr>
          <p:grpSpPr>
            <a:xfrm>
              <a:off x="4014" y="3418"/>
              <a:ext cx="1908" cy="702"/>
              <a:chOff x="3456" y="3440"/>
              <a:chExt cx="1908" cy="702"/>
            </a:xfrm>
          </p:grpSpPr>
          <p:grpSp>
            <p:nvGrpSpPr>
              <p:cNvPr id="602152" name="组合 602151"/>
              <p:cNvGrpSpPr/>
              <p:nvPr/>
            </p:nvGrpSpPr>
            <p:grpSpPr>
              <a:xfrm>
                <a:off x="3456" y="3440"/>
                <a:ext cx="1908" cy="444"/>
                <a:chOff x="3137" y="3440"/>
                <a:chExt cx="1908" cy="444"/>
              </a:xfrm>
            </p:grpSpPr>
            <p:sp>
              <p:nvSpPr>
                <p:cNvPr id="602153" name="直接连接符 602152"/>
                <p:cNvSpPr/>
                <p:nvPr/>
              </p:nvSpPr>
              <p:spPr>
                <a:xfrm>
                  <a:off x="4685" y="3440"/>
                  <a:ext cx="360" cy="0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2154" name="直接连接符 602153"/>
                <p:cNvSpPr/>
                <p:nvPr/>
              </p:nvSpPr>
              <p:spPr>
                <a:xfrm>
                  <a:off x="5033" y="3440"/>
                  <a:ext cx="0" cy="444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2155" name="直接连接符 602154"/>
                <p:cNvSpPr/>
                <p:nvPr/>
              </p:nvSpPr>
              <p:spPr>
                <a:xfrm flipH="1">
                  <a:off x="3137" y="3872"/>
                  <a:ext cx="1884" cy="0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602156" name="文本框 602155"/>
              <p:cNvSpPr txBox="1"/>
              <p:nvPr/>
            </p:nvSpPr>
            <p:spPr>
              <a:xfrm>
                <a:off x="3703" y="3854"/>
                <a:ext cx="150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由输入特性曲线</a:t>
                </a:r>
                <a:endParaRPr lang="zh-CN" altLang="en-US" sz="2400" b="1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02158" name="组合 602157"/>
          <p:cNvGrpSpPr/>
          <p:nvPr/>
        </p:nvGrpSpPr>
        <p:grpSpPr>
          <a:xfrm>
            <a:off x="2514600" y="1219200"/>
            <a:ext cx="628650" cy="781050"/>
            <a:chOff x="1416" y="696"/>
            <a:chExt cx="396" cy="492"/>
          </a:xfrm>
        </p:grpSpPr>
        <p:sp>
          <p:nvSpPr>
            <p:cNvPr id="602159" name="直接连接符 602158"/>
            <p:cNvSpPr/>
            <p:nvPr/>
          </p:nvSpPr>
          <p:spPr>
            <a:xfrm>
              <a:off x="1416" y="696"/>
              <a:ext cx="0" cy="4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2160" name="文本框 602159"/>
            <p:cNvSpPr txBox="1"/>
            <p:nvPr/>
          </p:nvSpPr>
          <p:spPr>
            <a:xfrm>
              <a:off x="1416" y="711"/>
              <a:ext cx="39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02161" name="组合 602160"/>
          <p:cNvGrpSpPr/>
          <p:nvPr/>
        </p:nvGrpSpPr>
        <p:grpSpPr>
          <a:xfrm>
            <a:off x="2514600" y="3124200"/>
            <a:ext cx="628650" cy="781050"/>
            <a:chOff x="1416" y="696"/>
            <a:chExt cx="396" cy="492"/>
          </a:xfrm>
        </p:grpSpPr>
        <p:sp>
          <p:nvSpPr>
            <p:cNvPr id="602162" name="直接连接符 602161"/>
            <p:cNvSpPr/>
            <p:nvPr/>
          </p:nvSpPr>
          <p:spPr>
            <a:xfrm>
              <a:off x="1416" y="696"/>
              <a:ext cx="0" cy="4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2163" name="文本框 602162"/>
            <p:cNvSpPr txBox="1"/>
            <p:nvPr/>
          </p:nvSpPr>
          <p:spPr>
            <a:xfrm>
              <a:off x="1416" y="711"/>
              <a:ext cx="39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02164" name="组合 602163"/>
          <p:cNvGrpSpPr/>
          <p:nvPr/>
        </p:nvGrpSpPr>
        <p:grpSpPr>
          <a:xfrm>
            <a:off x="2438400" y="1676400"/>
            <a:ext cx="800100" cy="633413"/>
            <a:chOff x="1416" y="1053"/>
            <a:chExt cx="504" cy="399"/>
          </a:xfrm>
        </p:grpSpPr>
        <p:sp>
          <p:nvSpPr>
            <p:cNvPr id="602165" name="直接连接符 602164"/>
            <p:cNvSpPr/>
            <p:nvPr/>
          </p:nvSpPr>
          <p:spPr>
            <a:xfrm>
              <a:off x="1416" y="1452"/>
              <a:ext cx="43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2166" name="文本框 602165"/>
            <p:cNvSpPr txBox="1"/>
            <p:nvPr/>
          </p:nvSpPr>
          <p:spPr>
            <a:xfrm>
              <a:off x="1476" y="1053"/>
              <a:ext cx="44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02167" name="组合 602166"/>
          <p:cNvGrpSpPr/>
          <p:nvPr/>
        </p:nvGrpSpPr>
        <p:grpSpPr>
          <a:xfrm>
            <a:off x="3810000" y="1066800"/>
            <a:ext cx="628650" cy="781050"/>
            <a:chOff x="1416" y="696"/>
            <a:chExt cx="396" cy="492"/>
          </a:xfrm>
        </p:grpSpPr>
        <p:sp>
          <p:nvSpPr>
            <p:cNvPr id="602168" name="直接连接符 602167"/>
            <p:cNvSpPr/>
            <p:nvPr/>
          </p:nvSpPr>
          <p:spPr>
            <a:xfrm>
              <a:off x="1416" y="696"/>
              <a:ext cx="0" cy="4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2169" name="文本框 602168"/>
            <p:cNvSpPr txBox="1"/>
            <p:nvPr/>
          </p:nvSpPr>
          <p:spPr>
            <a:xfrm>
              <a:off x="1416" y="711"/>
              <a:ext cx="39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02170" name="组合 602169"/>
          <p:cNvGrpSpPr/>
          <p:nvPr/>
        </p:nvGrpSpPr>
        <p:grpSpPr>
          <a:xfrm>
            <a:off x="3810000" y="3200400"/>
            <a:ext cx="628650" cy="781050"/>
            <a:chOff x="1416" y="696"/>
            <a:chExt cx="396" cy="492"/>
          </a:xfrm>
        </p:grpSpPr>
        <p:sp>
          <p:nvSpPr>
            <p:cNvPr id="602171" name="直接连接符 602170"/>
            <p:cNvSpPr/>
            <p:nvPr/>
          </p:nvSpPr>
          <p:spPr>
            <a:xfrm>
              <a:off x="1416" y="696"/>
              <a:ext cx="0" cy="4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2172" name="文本框 602171"/>
            <p:cNvSpPr txBox="1"/>
            <p:nvPr/>
          </p:nvSpPr>
          <p:spPr>
            <a:xfrm>
              <a:off x="1416" y="711"/>
              <a:ext cx="396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3200" b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3200" b="1" baseline="-25000"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sz="32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pic>
        <p:nvPicPr>
          <p:cNvPr id="602173" name="图片 6021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188" y="458788"/>
            <a:ext cx="5410200" cy="4373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2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0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02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2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60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0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45" grpId="0"/>
      <p:bldP spid="60214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4" name="矩形 465923">
            <a:hlinkClick r:id="" action="ppaction://noaction"/>
          </p:cNvPr>
          <p:cNvSpPr/>
          <p:nvPr/>
        </p:nvSpPr>
        <p:spPr>
          <a:xfrm>
            <a:off x="2185988" y="2619375"/>
            <a:ext cx="4824412" cy="68580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</a:pPr>
            <a:r>
              <a:rPr lang="en-US" altLang="zh-CN" sz="3200" b="1" dirty="0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2.6 </a:t>
            </a:r>
            <a:r>
              <a:rPr lang="zh-CN" altLang="en-US" sz="3200" b="1" dirty="0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三极管多级放大电路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文本框 630785"/>
          <p:cNvSpPr txBox="1"/>
          <p:nvPr/>
        </p:nvSpPr>
        <p:spPr>
          <a:xfrm>
            <a:off x="2862263" y="233363"/>
            <a:ext cx="32861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多级放大电路</a:t>
            </a:r>
            <a:endParaRPr lang="zh-CN" altLang="en-US" sz="36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630787" name="文本框 630786"/>
          <p:cNvSpPr txBox="1"/>
          <p:nvPr/>
        </p:nvSpPr>
        <p:spPr>
          <a:xfrm>
            <a:off x="533400" y="2133600"/>
            <a:ext cx="396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一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多级放大器的耦合方式</a:t>
            </a:r>
            <a:endParaRPr lang="zh-CN" altLang="en-US" sz="2400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0788" name="文本框 630787"/>
          <p:cNvSpPr txBox="1"/>
          <p:nvPr/>
        </p:nvSpPr>
        <p:spPr>
          <a:xfrm>
            <a:off x="533400" y="25908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阻容耦合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0789" name="文本框 630788"/>
          <p:cNvSpPr txBox="1"/>
          <p:nvPr/>
        </p:nvSpPr>
        <p:spPr>
          <a:xfrm>
            <a:off x="609600" y="3124200"/>
            <a:ext cx="99060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优点：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630790" name="文本框 630789"/>
          <p:cNvSpPr txBox="1"/>
          <p:nvPr/>
        </p:nvSpPr>
        <p:spPr>
          <a:xfrm>
            <a:off x="381000" y="3810000"/>
            <a:ext cx="3505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各级放大器静态工作点独立。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630791" name="文本框 630790"/>
          <p:cNvSpPr txBox="1"/>
          <p:nvPr/>
        </p:nvSpPr>
        <p:spPr>
          <a:xfrm>
            <a:off x="381000" y="4267200"/>
            <a:ext cx="297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输出温度漂移比较小。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630792" name="文本框 630791"/>
          <p:cNvSpPr txBox="1"/>
          <p:nvPr/>
        </p:nvSpPr>
        <p:spPr>
          <a:xfrm>
            <a:off x="533400" y="4724400"/>
            <a:ext cx="114300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缺点：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630793" name="文本框 630792"/>
          <p:cNvSpPr txBox="1"/>
          <p:nvPr/>
        </p:nvSpPr>
        <p:spPr>
          <a:xfrm>
            <a:off x="457200" y="5486400"/>
            <a:ext cx="5105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不适合放大缓慢变化的信号。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630794" name="文本框 630793"/>
          <p:cNvSpPr txBox="1"/>
          <p:nvPr/>
        </p:nvSpPr>
        <p:spPr>
          <a:xfrm>
            <a:off x="457200" y="5943600"/>
            <a:ext cx="4800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不便于作成集成电路。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  <p:pic>
        <p:nvPicPr>
          <p:cNvPr id="630795" name="图片 6307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798763"/>
            <a:ext cx="5334000" cy="30083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0796" name="图片 6307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90600"/>
            <a:ext cx="6858000" cy="1012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3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30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30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3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30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787" grpId="0"/>
      <p:bldP spid="630788" grpId="0"/>
      <p:bldP spid="630789" grpId="0" animBg="1"/>
      <p:bldP spid="630790" grpId="0"/>
      <p:bldP spid="630791" grpId="0"/>
      <p:bldP spid="630792" grpId="0" animBg="1"/>
      <p:bldP spid="630793" grpId="0"/>
      <p:bldP spid="63079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文本框 631809"/>
          <p:cNvSpPr txBox="1"/>
          <p:nvPr/>
        </p:nvSpPr>
        <p:spPr>
          <a:xfrm>
            <a:off x="685800" y="533400"/>
            <a:ext cx="2133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直接耦合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1811" name="文本框 631810"/>
          <p:cNvSpPr txBox="1"/>
          <p:nvPr/>
        </p:nvSpPr>
        <p:spPr>
          <a:xfrm>
            <a:off x="609600" y="1295400"/>
            <a:ext cx="99060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优点：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631812" name="文本框 631811"/>
          <p:cNvSpPr txBox="1"/>
          <p:nvPr/>
        </p:nvSpPr>
        <p:spPr>
          <a:xfrm>
            <a:off x="206375" y="3743325"/>
            <a:ext cx="426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各级放大器静态工作点相互影响。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631813" name="文本框 631812"/>
          <p:cNvSpPr txBox="1"/>
          <p:nvPr/>
        </p:nvSpPr>
        <p:spPr>
          <a:xfrm>
            <a:off x="206375" y="4284663"/>
            <a:ext cx="297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输出温度漂移严重。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631814" name="文本框 631813"/>
          <p:cNvSpPr txBox="1"/>
          <p:nvPr/>
        </p:nvSpPr>
        <p:spPr>
          <a:xfrm>
            <a:off x="566738" y="3068638"/>
            <a:ext cx="1143000" cy="466725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缺点：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631815" name="文本框 631814"/>
          <p:cNvSpPr txBox="1"/>
          <p:nvPr/>
        </p:nvSpPr>
        <p:spPr>
          <a:xfrm>
            <a:off x="381000" y="2286000"/>
            <a:ext cx="5105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可放大缓慢变化的信号。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631816" name="文本框 631815"/>
          <p:cNvSpPr txBox="1"/>
          <p:nvPr/>
        </p:nvSpPr>
        <p:spPr>
          <a:xfrm>
            <a:off x="381000" y="1905000"/>
            <a:ext cx="3505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电路中无电容，便于集成化。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  <p:pic>
        <p:nvPicPr>
          <p:cNvPr id="631817" name="图片 6318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738" y="1943100"/>
            <a:ext cx="4518025" cy="2881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1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1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1" grpId="0" animBg="1"/>
      <p:bldP spid="631812" grpId="0"/>
      <p:bldP spid="631813" grpId="0"/>
      <p:bldP spid="631814" grpId="0" animBg="1"/>
      <p:bldP spid="631815" grpId="0"/>
      <p:bldP spid="63181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文本框 632833"/>
          <p:cNvSpPr txBox="1"/>
          <p:nvPr/>
        </p:nvSpPr>
        <p:spPr>
          <a:xfrm>
            <a:off x="1494790" y="142875"/>
            <a:ext cx="610997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三极管多级放大电路的分析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32835" name="对象 632834"/>
          <p:cNvGraphicFramePr/>
          <p:nvPr/>
        </p:nvGraphicFramePr>
        <p:xfrm>
          <a:off x="1062038" y="4643438"/>
          <a:ext cx="1168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1" r:id="rId3" imgW="584200" imgH="571500" progId="Equation.3">
                  <p:embed/>
                </p:oleObj>
              </mc:Choice>
              <mc:Fallback>
                <p:oleObj r:id="rId3" imgW="584200" imgH="5715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038" y="4643438"/>
                        <a:ext cx="116840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36" name="对象 632835"/>
          <p:cNvGraphicFramePr/>
          <p:nvPr/>
        </p:nvGraphicFramePr>
        <p:xfrm>
          <a:off x="2286000" y="4648200"/>
          <a:ext cx="14986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2" r:id="rId5" imgW="748665" imgH="571500" progId="Equation.3">
                  <p:embed/>
                </p:oleObj>
              </mc:Choice>
              <mc:Fallback>
                <p:oleObj r:id="rId5" imgW="748665" imgH="5715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6000" y="4648200"/>
                        <a:ext cx="1498600" cy="1139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37" name="对象 632836"/>
          <p:cNvGraphicFramePr/>
          <p:nvPr/>
        </p:nvGraphicFramePr>
        <p:xfrm>
          <a:off x="3810000" y="5029200"/>
          <a:ext cx="13208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3" r:id="rId7" imgW="660400" imgH="241300" progId="Equation.3">
                  <p:embed/>
                </p:oleObj>
              </mc:Choice>
              <mc:Fallback>
                <p:oleObj r:id="rId7" imgW="660400" imgH="2413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0000" y="5029200"/>
                        <a:ext cx="1320800" cy="477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2838" name="文本框 632837"/>
          <p:cNvSpPr txBox="1"/>
          <p:nvPr/>
        </p:nvSpPr>
        <p:spPr>
          <a:xfrm>
            <a:off x="1219200" y="1600200"/>
            <a:ext cx="56388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•</a:t>
            </a:r>
            <a:r>
              <a:rPr lang="en-US" altLang="zh-CN" sz="20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前级的输出阻抗是后级的信号源阻抗</a:t>
            </a:r>
            <a:endParaRPr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32839" name="文本框 632838"/>
          <p:cNvSpPr txBox="1"/>
          <p:nvPr/>
        </p:nvSpPr>
        <p:spPr>
          <a:xfrm>
            <a:off x="1219200" y="1219200"/>
            <a:ext cx="56388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•</a:t>
            </a:r>
            <a:r>
              <a:rPr lang="en-US" altLang="zh-CN" sz="20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后级的输入阻抗是前级的负载</a:t>
            </a:r>
            <a:endParaRPr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32840" name="文本框 632839"/>
          <p:cNvSpPr txBox="1"/>
          <p:nvPr/>
        </p:nvSpPr>
        <p:spPr>
          <a:xfrm>
            <a:off x="990600" y="762000"/>
            <a:ext cx="34464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两级之间的相互影响</a:t>
            </a:r>
            <a:endParaRPr lang="zh-CN" altLang="en-US" sz="2400" b="1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2841" name="文本框 632840"/>
          <p:cNvSpPr txBox="1"/>
          <p:nvPr/>
        </p:nvSpPr>
        <p:spPr>
          <a:xfrm>
            <a:off x="1219200" y="4267200"/>
            <a:ext cx="43878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电压放大倍数（以两级为例）</a:t>
            </a:r>
            <a:endParaRPr lang="zh-CN" altLang="en-US" sz="2400" b="1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2842" name="文本框 632841"/>
          <p:cNvSpPr txBox="1"/>
          <p:nvPr/>
        </p:nvSpPr>
        <p:spPr>
          <a:xfrm>
            <a:off x="5715000" y="4572000"/>
            <a:ext cx="2971800" cy="1920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注意：在算前级放大倍数时，要把后级的输入阻抗作为前级的负载！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32843" name="对象 632842"/>
          <p:cNvGraphicFramePr/>
          <p:nvPr/>
        </p:nvGraphicFramePr>
        <p:xfrm>
          <a:off x="2438400" y="5943600"/>
          <a:ext cx="27432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4" r:id="rId9" imgW="1370965" imgH="241300" progId="Equation.3">
                  <p:embed/>
                </p:oleObj>
              </mc:Choice>
              <mc:Fallback>
                <p:oleObj r:id="rId9" imgW="1370965" imgH="2413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38400" y="5943600"/>
                        <a:ext cx="274320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2844" name="文本框 632843"/>
          <p:cNvSpPr txBox="1"/>
          <p:nvPr/>
        </p:nvSpPr>
        <p:spPr>
          <a:xfrm>
            <a:off x="609600" y="5943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扩展到</a:t>
            </a:r>
            <a:r>
              <a:rPr lang="en-US" altLang="zh-CN" sz="24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CC0099"/>
                </a:solidFill>
                <a:latin typeface="Times New Roman" panose="02020603050405020304" pitchFamily="18" charset="0"/>
              </a:rPr>
              <a:t>级：</a:t>
            </a:r>
          </a:p>
        </p:txBody>
      </p:sp>
      <p:pic>
        <p:nvPicPr>
          <p:cNvPr id="632845" name="图片 6328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2209800"/>
            <a:ext cx="7091363" cy="1971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2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2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3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63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6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2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2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63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63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63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2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32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63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3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8" grpId="0"/>
      <p:bldP spid="632839" grpId="0"/>
      <p:bldP spid="632840" grpId="0"/>
      <p:bldP spid="632841" grpId="0"/>
      <p:bldP spid="632842" grpId="0"/>
      <p:bldP spid="63284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文本框 633857"/>
          <p:cNvSpPr txBox="1"/>
          <p:nvPr/>
        </p:nvSpPr>
        <p:spPr>
          <a:xfrm>
            <a:off x="1066800" y="381000"/>
            <a:ext cx="20653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CC0099"/>
                </a:solidFill>
                <a:latin typeface="Times New Roman" panose="02020603050405020304" pitchFamily="18" charset="0"/>
              </a:rPr>
              <a:t>输入电阻</a:t>
            </a:r>
            <a:endParaRPr lang="zh-CN" altLang="en-US" b="1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859" name="文本框 633858"/>
          <p:cNvSpPr txBox="1"/>
          <p:nvPr/>
        </p:nvSpPr>
        <p:spPr>
          <a:xfrm>
            <a:off x="1295400" y="4648200"/>
            <a:ext cx="19716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b="1" dirty="0">
                <a:solidFill>
                  <a:srgbClr val="CC0099"/>
                </a:solidFill>
                <a:latin typeface="Times New Roman" panose="02020603050405020304" pitchFamily="18" charset="0"/>
              </a:rPr>
              <a:t>输出电阻</a:t>
            </a:r>
            <a:endParaRPr lang="zh-CN" altLang="en-US" b="1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860" name="文本框 633859"/>
          <p:cNvSpPr txBox="1"/>
          <p:nvPr/>
        </p:nvSpPr>
        <p:spPr>
          <a:xfrm>
            <a:off x="1524000" y="1066800"/>
            <a:ext cx="6553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i="1">
                <a:solidFill>
                  <a:srgbClr val="660066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b="1" baseline="-25000">
                <a:solidFill>
                  <a:srgbClr val="660066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3200" b="1">
                <a:solidFill>
                  <a:srgbClr val="660066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b="1" i="1" err="1">
                <a:solidFill>
                  <a:srgbClr val="660066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b="1" baseline="-25000" err="1">
                <a:solidFill>
                  <a:srgbClr val="660066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3200" b="1" baseline="-25000" dirty="0">
                <a:solidFill>
                  <a:srgbClr val="660066"/>
                </a:solidFill>
                <a:latin typeface="Times New Roman" panose="02020603050405020304" pitchFamily="18" charset="0"/>
              </a:rPr>
              <a:t>（最前级）</a:t>
            </a:r>
            <a:r>
              <a:rPr lang="zh-CN" altLang="en-US" sz="3200" b="1" baseline="-25000" dirty="0">
                <a:solidFill>
                  <a:srgbClr val="CC0099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一般情况下）</a:t>
            </a:r>
            <a:endParaRPr lang="zh-CN" altLang="en-US" sz="3200" b="1" baseline="-250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861" name="文本框 633860"/>
          <p:cNvSpPr txBox="1"/>
          <p:nvPr/>
        </p:nvSpPr>
        <p:spPr>
          <a:xfrm>
            <a:off x="1600200" y="5410200"/>
            <a:ext cx="6553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i="1">
                <a:solidFill>
                  <a:srgbClr val="660066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b="1" baseline="-25000">
                <a:solidFill>
                  <a:srgbClr val="660066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3200" b="1">
                <a:solidFill>
                  <a:srgbClr val="660066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b="1" i="1">
                <a:solidFill>
                  <a:srgbClr val="660066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b="1" baseline="-25000" dirty="0">
                <a:solidFill>
                  <a:srgbClr val="660066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sz="3200" b="1" baseline="-25000" dirty="0">
                <a:solidFill>
                  <a:srgbClr val="660066"/>
                </a:solidFill>
                <a:latin typeface="Times New Roman" panose="02020603050405020304" pitchFamily="18" charset="0"/>
              </a:rPr>
              <a:t>（最后级）</a:t>
            </a:r>
            <a:r>
              <a:rPr lang="zh-CN" altLang="en-US" sz="32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一般情况下）</a:t>
            </a:r>
            <a:endParaRPr lang="zh-CN" altLang="en-US" sz="32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33862" name="图片 6338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7853363" cy="2182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3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59" grpId="0"/>
      <p:bldP spid="633860" grpId="0"/>
      <p:bldP spid="63386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1fb76b0-7f3e-40f9-ad13-7027bbbdb81a"/>
  <p:tag name="COMMONDATA" val="eyJoZGlkIjoiNzEyYTQ1ZTkxNzgyMjUxNmZmODI5MjdiYTcxOGE3YWEifQ=="/>
</p:tagLst>
</file>

<file path=ppt/theme/theme1.xml><?xml version="1.0" encoding="utf-8"?>
<a:theme xmlns:a="http://schemas.openxmlformats.org/drawingml/2006/main" name="Lock And Key">
  <a:themeElements>
    <a:clrScheme name="">
      <a:dk1>
        <a:srgbClr val="393939"/>
      </a:dk1>
      <a:lt1>
        <a:srgbClr val="FFFFFF"/>
      </a:lt1>
      <a:dk2>
        <a:srgbClr val="FF0000"/>
      </a:dk2>
      <a:lt2>
        <a:srgbClr val="FFFFFF"/>
      </a:lt2>
      <a:accent1>
        <a:srgbClr val="F9D87E"/>
      </a:accent1>
      <a:accent2>
        <a:srgbClr val="FF3300"/>
      </a:accent2>
      <a:accent3>
        <a:srgbClr val="FFFFFF"/>
      </a:accent3>
      <a:accent4>
        <a:srgbClr val="303030"/>
      </a:accent4>
      <a:accent5>
        <a:srgbClr val="FBE8C0"/>
      </a:accent5>
      <a:accent6>
        <a:srgbClr val="E52D00"/>
      </a:accent6>
      <a:hlink>
        <a:srgbClr val="FF3300"/>
      </a:hlink>
      <a:folHlink>
        <a:srgbClr val="800000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EAEAEA"/>
        </a:dk1>
        <a:lt1>
          <a:srgbClr val="6600FF"/>
        </a:lt1>
        <a:dk2>
          <a:srgbClr val="FFCC66"/>
        </a:dk2>
        <a:lt2>
          <a:srgbClr val="200B5B"/>
        </a:lt2>
        <a:accent1>
          <a:srgbClr val="EEB00B"/>
        </a:accent1>
        <a:accent2>
          <a:srgbClr val="6600CC"/>
        </a:accent2>
        <a:accent3>
          <a:srgbClr val="B9AAFF"/>
        </a:accent3>
        <a:accent4>
          <a:srgbClr val="CACACA"/>
        </a:accent4>
        <a:accent5>
          <a:srgbClr val="F5D4AA"/>
        </a:accent5>
        <a:accent6>
          <a:srgbClr val="5B00B7"/>
        </a:accent6>
        <a:hlink>
          <a:srgbClr val="FF33CC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303030"/>
        </a:accent4>
        <a:accent5>
          <a:srgbClr val="FBE8C0"/>
        </a:accent5>
        <a:accent6>
          <a:srgbClr val="E5B7B7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CC"/>
        </a:dk1>
        <a:lt1>
          <a:srgbClr val="000000"/>
        </a:lt1>
        <a:dk2>
          <a:srgbClr val="FFCC00"/>
        </a:dk2>
        <a:lt2>
          <a:srgbClr val="3300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CDCAF"/>
        </a:accent4>
        <a:accent5>
          <a:srgbClr val="FFCAAA"/>
        </a:accent5>
        <a:accent6>
          <a:srgbClr val="2D0089"/>
        </a:accent6>
        <a:hlink>
          <a:srgbClr val="FF6633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DDDDDD"/>
        </a:dk1>
        <a:lt1>
          <a:srgbClr val="996600"/>
        </a:lt1>
        <a:dk2>
          <a:srgbClr val="FFCC66"/>
        </a:dk2>
        <a:lt2>
          <a:srgbClr val="333300"/>
        </a:lt2>
        <a:accent1>
          <a:srgbClr val="EEB00B"/>
        </a:accent1>
        <a:accent2>
          <a:srgbClr val="330099"/>
        </a:accent2>
        <a:accent3>
          <a:srgbClr val="CAB9AA"/>
        </a:accent3>
        <a:accent4>
          <a:srgbClr val="BEBEBE"/>
        </a:accent4>
        <a:accent5>
          <a:srgbClr val="F5D4AA"/>
        </a:accent5>
        <a:accent6>
          <a:srgbClr val="2D0089"/>
        </a:accent6>
        <a:hlink>
          <a:srgbClr val="FF6633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CC"/>
        </a:dk1>
        <a:lt1>
          <a:srgbClr val="999933"/>
        </a:lt1>
        <a:dk2>
          <a:srgbClr val="FFFF66"/>
        </a:dk2>
        <a:lt2>
          <a:srgbClr val="003300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CDCAF"/>
        </a:accent4>
        <a:accent5>
          <a:srgbClr val="E2CAAA"/>
        </a:accent5>
        <a:accent6>
          <a:srgbClr val="2D0089"/>
        </a:accent6>
        <a:hlink>
          <a:srgbClr val="FF99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393939"/>
    </a:dk1>
    <a:lt1>
      <a:srgbClr val="FFFFFF"/>
    </a:lt1>
    <a:dk2>
      <a:srgbClr val="FF0000"/>
    </a:dk2>
    <a:lt2>
      <a:srgbClr val="FFFFFF"/>
    </a:lt2>
    <a:accent1>
      <a:srgbClr val="F9D87E"/>
    </a:accent1>
    <a:accent2>
      <a:srgbClr val="FF3300"/>
    </a:accent2>
    <a:accent3>
      <a:srgbClr val="FFFFFF"/>
    </a:accent3>
    <a:accent4>
      <a:srgbClr val="303030"/>
    </a:accent4>
    <a:accent5>
      <a:srgbClr val="FBE8C0"/>
    </a:accent5>
    <a:accent6>
      <a:srgbClr val="E52D00"/>
    </a:accent6>
    <a:hlink>
      <a:srgbClr val="333300"/>
    </a:hlink>
    <a:folHlink>
      <a:srgbClr val="3333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Designs\Lock And Key.pot</Template>
  <TotalTime>102</TotalTime>
  <Words>4131</Words>
  <Application>Microsoft Office PowerPoint</Application>
  <PresentationFormat>全屏显示(4:3)</PresentationFormat>
  <Paragraphs>795</Paragraphs>
  <Slides>77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77</vt:i4>
      </vt:variant>
    </vt:vector>
  </HeadingPairs>
  <TitlesOfParts>
    <vt:vector size="101" baseType="lpstr">
      <vt:lpstr>Monotype Sorts</vt:lpstr>
      <vt:lpstr>方正舒体</vt:lpstr>
      <vt:lpstr>仿宋_GB2312</vt:lpstr>
      <vt:lpstr>黑体</vt:lpstr>
      <vt:lpstr>华文细黑</vt:lpstr>
      <vt:lpstr>楷体</vt:lpstr>
      <vt:lpstr>楷体_GB2312</vt:lpstr>
      <vt:lpstr>隶书</vt:lpstr>
      <vt:lpstr>宋体</vt:lpstr>
      <vt:lpstr>微软雅黑</vt:lpstr>
      <vt:lpstr>幼圆</vt:lpstr>
      <vt:lpstr>长城楷体</vt:lpstr>
      <vt:lpstr>Arial</vt:lpstr>
      <vt:lpstr>Courier New</vt:lpstr>
      <vt:lpstr>Symbol</vt:lpstr>
      <vt:lpstr>Tahoma</vt:lpstr>
      <vt:lpstr>Times New Roman</vt:lpstr>
      <vt:lpstr>Webdings</vt:lpstr>
      <vt:lpstr>Wingdings</vt:lpstr>
      <vt:lpstr>Lock And Key</vt:lpstr>
      <vt:lpstr>Microsoft Visio 2003-2010 Drawing</vt:lpstr>
      <vt:lpstr>Bitmap Image</vt:lpstr>
      <vt:lpstr>MathType 5.0 Equation</vt:lpstr>
      <vt:lpstr>Microsoft Equation 3.0</vt:lpstr>
      <vt:lpstr>第二章    晶体三极管        及其放大电路基础</vt:lpstr>
      <vt:lpstr>PowerPoint 演示文稿</vt:lpstr>
      <vt:lpstr>PowerPoint 演示文稿</vt:lpstr>
      <vt:lpstr>PowerPoint 演示文稿</vt:lpstr>
      <vt:lpstr>PowerPoint 演示文稿</vt:lpstr>
      <vt:lpstr>半导体三极管的型号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2.3 三极管的主要作用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三极管基本放大电路交直流分析方法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aotai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</dc:title>
  <dc:subject>基本放大电路</dc:subject>
  <dc:creator>fap</dc:creator>
  <cp:lastModifiedBy>Windows User</cp:lastModifiedBy>
  <cp:revision>571</cp:revision>
  <dcterms:created xsi:type="dcterms:W3CDTF">2002-03-22T02:05:00Z</dcterms:created>
  <dcterms:modified xsi:type="dcterms:W3CDTF">2025-03-06T06:47:33Z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A02A58AB24244A60892CA44AF6F31F40_12</vt:lpwstr>
  </property>
</Properties>
</file>