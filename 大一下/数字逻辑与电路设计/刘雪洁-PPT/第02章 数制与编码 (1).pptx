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9"/>
  </p:notesMasterIdLst>
  <p:handoutMasterIdLst>
    <p:handoutMasterId r:id="rId100"/>
  </p:handoutMasterIdLst>
  <p:sldIdLst>
    <p:sldId id="308" r:id="rId3"/>
    <p:sldId id="300" r:id="rId4"/>
    <p:sldId id="261" r:id="rId5"/>
    <p:sldId id="354" r:id="rId6"/>
    <p:sldId id="263" r:id="rId7"/>
    <p:sldId id="355" r:id="rId8"/>
    <p:sldId id="315" r:id="rId9"/>
    <p:sldId id="356" r:id="rId10"/>
    <p:sldId id="264" r:id="rId11"/>
    <p:sldId id="359" r:id="rId12"/>
    <p:sldId id="265" r:id="rId13"/>
    <p:sldId id="266" r:id="rId14"/>
    <p:sldId id="267" r:id="rId15"/>
    <p:sldId id="357" r:id="rId16"/>
    <p:sldId id="268" r:id="rId17"/>
    <p:sldId id="358" r:id="rId18"/>
    <p:sldId id="269" r:id="rId19"/>
    <p:sldId id="370" r:id="rId20"/>
    <p:sldId id="371" r:id="rId21"/>
    <p:sldId id="372" r:id="rId22"/>
    <p:sldId id="270" r:id="rId23"/>
    <p:sldId id="366" r:id="rId24"/>
    <p:sldId id="369" r:id="rId25"/>
    <p:sldId id="367" r:id="rId26"/>
    <p:sldId id="365" r:id="rId27"/>
    <p:sldId id="373" r:id="rId28"/>
    <p:sldId id="375" r:id="rId29"/>
    <p:sldId id="376" r:id="rId30"/>
    <p:sldId id="304" r:id="rId31"/>
    <p:sldId id="294" r:id="rId32"/>
    <p:sldId id="317" r:id="rId33"/>
    <p:sldId id="271" r:id="rId34"/>
    <p:sldId id="319" r:id="rId35"/>
    <p:sldId id="273" r:id="rId36"/>
    <p:sldId id="320" r:id="rId37"/>
    <p:sldId id="342" r:id="rId38"/>
    <p:sldId id="343" r:id="rId39"/>
    <p:sldId id="397" r:id="rId40"/>
    <p:sldId id="380" r:id="rId41"/>
    <p:sldId id="381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89" r:id="rId50"/>
    <p:sldId id="390" r:id="rId51"/>
    <p:sldId id="391" r:id="rId52"/>
    <p:sldId id="275" r:id="rId53"/>
    <p:sldId id="296" r:id="rId54"/>
    <p:sldId id="276" r:id="rId55"/>
    <p:sldId id="377" r:id="rId56"/>
    <p:sldId id="378" r:id="rId57"/>
    <p:sldId id="379" r:id="rId58"/>
    <p:sldId id="277" r:id="rId59"/>
    <p:sldId id="278" r:id="rId60"/>
    <p:sldId id="279" r:id="rId61"/>
    <p:sldId id="283" r:id="rId62"/>
    <p:sldId id="284" r:id="rId63"/>
    <p:sldId id="392" r:id="rId64"/>
    <p:sldId id="285" r:id="rId65"/>
    <p:sldId id="286" r:id="rId66"/>
    <p:sldId id="325" r:id="rId67"/>
    <p:sldId id="326" r:id="rId68"/>
    <p:sldId id="287" r:id="rId69"/>
    <p:sldId id="288" r:id="rId70"/>
    <p:sldId id="327" r:id="rId71"/>
    <p:sldId id="328" r:id="rId72"/>
    <p:sldId id="289" r:id="rId73"/>
    <p:sldId id="298" r:id="rId74"/>
    <p:sldId id="330" r:id="rId75"/>
    <p:sldId id="341" r:id="rId76"/>
    <p:sldId id="401" r:id="rId77"/>
    <p:sldId id="290" r:id="rId78"/>
    <p:sldId id="402" r:id="rId79"/>
    <p:sldId id="297" r:id="rId80"/>
    <p:sldId id="400" r:id="rId81"/>
    <p:sldId id="403" r:id="rId82"/>
    <p:sldId id="404" r:id="rId83"/>
    <p:sldId id="405" r:id="rId84"/>
    <p:sldId id="399" r:id="rId85"/>
    <p:sldId id="291" r:id="rId86"/>
    <p:sldId id="406" r:id="rId87"/>
    <p:sldId id="407" r:id="rId88"/>
    <p:sldId id="408" r:id="rId89"/>
    <p:sldId id="299" r:id="rId90"/>
    <p:sldId id="334" r:id="rId91"/>
    <p:sldId id="409" r:id="rId92"/>
    <p:sldId id="335" r:id="rId93"/>
    <p:sldId id="410" r:id="rId94"/>
    <p:sldId id="336" r:id="rId95"/>
    <p:sldId id="292" r:id="rId96"/>
    <p:sldId id="411" r:id="rId97"/>
    <p:sldId id="412" r:id="rId98"/>
  </p:sldIdLst>
  <p:sldSz cx="9144000" cy="6858000" type="screen4x3"/>
  <p:notesSz cx="6858000" cy="9144000"/>
  <p:custDataLst>
    <p:tags r:id="rId104"/>
  </p:custDataLst>
  <p:defaultTextStyle>
    <a:defPPr>
      <a:defRPr lang="zh-CN"/>
    </a:defPPr>
    <a:lvl1pPr marL="0" lvl="0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ctr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FFCC00"/>
    <a:srgbClr val="FF3300"/>
    <a:srgbClr val="FFCC66"/>
    <a:srgbClr val="99CCFF"/>
    <a:srgbClr val="6B03E9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282" autoAdjust="0"/>
  </p:normalViewPr>
  <p:slideViewPr>
    <p:cSldViewPr snapToGrid="0" showGuides="1">
      <p:cViewPr varScale="1">
        <p:scale>
          <a:sx n="111" d="100"/>
          <a:sy n="111" d="100"/>
        </p:scale>
        <p:origin x="105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1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notesMaster" Target="notesMasters/notesMaster1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4" Type="http://schemas.openxmlformats.org/officeDocument/2006/relationships/tags" Target="tags/tag6.xml"/><Relationship Id="rId103" Type="http://schemas.openxmlformats.org/officeDocument/2006/relationships/tableStyles" Target="tableStyles.xml"/><Relationship Id="rId102" Type="http://schemas.openxmlformats.org/officeDocument/2006/relationships/viewProps" Target="viewProps.xml"/><Relationship Id="rId101" Type="http://schemas.openxmlformats.org/officeDocument/2006/relationships/presProps" Target="presProps.xml"/><Relationship Id="rId100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3F70F1-3C2B-4A0E-98EA-3AD67D13B7F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6874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1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06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06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6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fontAlgn="base">
              <a:defRPr sz="1200"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35844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6963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5845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5846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96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fontAlgn="base">
              <a:defRPr sz="1200"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>
    <p:zoom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3.emf"/><Relationship Id="rId1" Type="http://schemas.openxmlformats.org/officeDocument/2006/relationships/oleObject" Target="../embeddings/oleObject1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1.png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5.png"/></Relationships>
</file>

<file path=ppt/slides/_rels/slide6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slide" Target="slide91.xml"/><Relationship Id="rId1" Type="http://schemas.openxmlformats.org/officeDocument/2006/relationships/slide" Target="slide9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slide" Target="slide89.xml"/></Relationships>
</file>

<file path=ppt/slides/_rels/slide9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" Target="slide8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9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65" name="Text Box 145"/>
          <p:cNvSpPr txBox="1">
            <a:spLocks noChangeArrowheads="1"/>
          </p:cNvSpPr>
          <p:nvPr/>
        </p:nvSpPr>
        <p:spPr bwMode="auto">
          <a:xfrm>
            <a:off x="1561171" y="2413337"/>
            <a:ext cx="6891454" cy="1938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fontAlgn="base"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第二章 </a:t>
            </a:r>
            <a:endParaRPr lang="zh-CN" altLang="en-US" sz="6000" b="1" dirty="0">
              <a:solidFill>
                <a:srgbClr val="FF0000"/>
              </a:solidFill>
              <a:effectLst>
                <a:outerShdw blurRad="38100" dist="38100" dir="2700000">
                  <a:srgbClr val="FFFFFF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 fontAlgn="base"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数制与码制</a:t>
            </a:r>
            <a:endParaRPr lang="zh-CN" altLang="en-US" sz="6000" b="1" dirty="0">
              <a:solidFill>
                <a:srgbClr val="FF0000"/>
              </a:solidFill>
              <a:effectLst>
                <a:outerShdw blurRad="38100" dist="38100" dir="2700000">
                  <a:srgbClr val="FFFFFF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739775" y="1312863"/>
            <a:ext cx="7496175" cy="43183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85750" marR="0" indent="-285750" defTabSz="914400" fontAlgn="base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rgbClr val="6B03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宋体" panose="02010600040101010101" pitchFamily="2" charset="-122"/>
                <a:cs typeface="+mn-cs"/>
              </a:rPr>
              <a:t>学习要求：</a:t>
            </a:r>
            <a:endParaRPr kumimoji="1" lang="zh-CN" altLang="en-US" sz="3200" kern="1200" cap="none" spc="0" normalizeH="0" baseline="0" noProof="0" dirty="0">
              <a:solidFill>
                <a:srgbClr val="6B03E9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+mn-cs"/>
            </a:endParaRPr>
          </a:p>
          <a:p>
            <a:pPr marL="285750" marR="0" indent="-285750" defTabSz="914400" fontAlgn="base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6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掌握二、十、八、十六进位计数制及相互转换；</a:t>
            </a:r>
            <a:endParaRPr kumimoji="1" lang="zh-CN" altLang="en-US" sz="2600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85750" marR="0" indent="-285750" defTabSz="914400" fontAlgn="base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6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掌握二进制数的原码、反码和补码表示及其加减运算； </a:t>
            </a:r>
            <a:endParaRPr kumimoji="1" lang="zh-CN" altLang="en-US" sz="2600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85750" marR="0" indent="-285750" defTabSz="914400" fontAlgn="base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6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了解定点数与浮点数的基本概念；</a:t>
            </a:r>
            <a:endParaRPr kumimoji="1" lang="en-US" altLang="zh-CN" sz="2600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85750" indent="-285750" fontAlgn="base">
              <a:lnSpc>
                <a:spcPct val="120000"/>
              </a:lnSpc>
              <a:spcBef>
                <a:spcPct val="50000"/>
              </a:spcBef>
              <a:buFontTx/>
              <a:buChar char="•"/>
              <a:defRPr/>
            </a:pPr>
            <a:r>
              <a:rPr kumimoji="1" lang="zh-CN" altLang="en-US" sz="26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掌握</a:t>
            </a:r>
            <a:r>
              <a:rPr kumimoji="1" lang="zh-CN" altLang="zh-CN" sz="2600" b="1" dirty="0"/>
              <a:t>计算机中常用的</a:t>
            </a:r>
            <a:r>
              <a:rPr kumimoji="1" lang="zh-CN" altLang="en-US" sz="2600" b="1" dirty="0"/>
              <a:t>可靠性</a:t>
            </a:r>
            <a:r>
              <a:rPr kumimoji="1" lang="zh-CN" altLang="zh-CN" sz="2600" b="1" dirty="0"/>
              <a:t>数码</a:t>
            </a:r>
            <a:r>
              <a:rPr kumimoji="1" lang="zh-CN" altLang="en-US" sz="2600" b="1" dirty="0"/>
              <a:t>，了解</a:t>
            </a:r>
            <a:r>
              <a:rPr kumimoji="1" lang="zh-CN" altLang="zh-CN" sz="2600" b="1" dirty="0"/>
              <a:t>字符的代码表示</a:t>
            </a:r>
            <a:r>
              <a:rPr kumimoji="1" lang="zh-CN" altLang="en-US" sz="2600" b="1" dirty="0"/>
              <a:t>。</a:t>
            </a:r>
            <a:endParaRPr kumimoji="1" lang="zh-CN" altLang="en-US" sz="2600" b="1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490538"/>
            <a:ext cx="326548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2.1 </a:t>
            </a:r>
            <a:r>
              <a:rPr kumimoji="1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计数体制</a:t>
            </a:r>
            <a:endParaRPr kumimoji="1" lang="zh-CN" altLang="en-US" sz="32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709613" y="1214438"/>
            <a:ext cx="7669213" cy="53183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indent="-457200" defTabSz="91440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进位计数制：</a:t>
            </a:r>
            <a:r>
              <a:rPr kumimoji="1" lang="zh-CN" altLang="en-US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用一组统一的符号和规则表示数的方法。</a:t>
            </a:r>
            <a:endParaRPr kumimoji="1" lang="zh-CN" altLang="en-US" sz="2400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相关概念</a:t>
            </a:r>
            <a:endParaRPr kumimoji="1" lang="zh-CN" altLang="en-US" b="1" kern="1200" cap="none" spc="0" normalizeH="0" baseline="0" noProof="0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）数位</a:t>
            </a:r>
            <a:r>
              <a:rPr kumimoji="1" lang="en-US" altLang="zh-CN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r>
              <a:rPr kumimoji="1" lang="en-US" altLang="zh-CN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数码在一个数中的位置称为数位。</a:t>
            </a:r>
            <a:endParaRPr kumimoji="1" lang="zh-CN" altLang="en-US" sz="2400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（</a:t>
            </a:r>
            <a:r>
              <a:rPr kumimoji="1" lang="en-US" altLang="zh-CN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）基与基数</a:t>
            </a:r>
            <a:r>
              <a:rPr kumimoji="1" lang="en-US" altLang="zh-CN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</a:t>
            </a:r>
            <a:r>
              <a:rPr kumimoji="1" lang="zh-CN" altLang="en-US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在某种计数制中</a:t>
            </a:r>
            <a:r>
              <a:rPr kumimoji="1" lang="en-US" altLang="zh-CN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zh-CN" altLang="en-US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每个数位上用来表示数的数码符号的集合称为基</a:t>
            </a:r>
            <a:r>
              <a:rPr kumimoji="1" lang="en-US" altLang="zh-CN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   </a:t>
            </a:r>
            <a:r>
              <a:rPr kumimoji="1" lang="zh-CN" altLang="en-US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集合的大小称为基数。</a:t>
            </a:r>
            <a:endParaRPr kumimoji="1" lang="zh-CN" altLang="en-US" sz="2400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（</a:t>
            </a:r>
            <a:r>
              <a:rPr kumimoji="1" lang="en-US" altLang="zh-CN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）位权数</a:t>
            </a:r>
            <a:r>
              <a:rPr kumimoji="1" lang="en-US" altLang="zh-CN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</a:t>
            </a:r>
            <a:r>
              <a:rPr kumimoji="1" lang="zh-CN" altLang="en-US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在每个数位上的数码符号所代表的数值等于该数位上的数码乘</a:t>
            </a:r>
            <a:r>
              <a:rPr kumimoji="1" lang="zh-CN" altLang="en-US" sz="2400" b="1" dirty="0"/>
              <a:t>以</a:t>
            </a:r>
            <a:r>
              <a:rPr kumimoji="1" lang="zh-CN" altLang="en-US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一个固定的数值。这个固定的数值就是这种计数制的位权数。</a:t>
            </a:r>
            <a:endParaRPr kumimoji="1" lang="zh-CN" altLang="en-US" sz="2400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）位权与基数的关系</a:t>
            </a:r>
            <a:r>
              <a:rPr kumimoji="1" lang="en-US" altLang="zh-CN" sz="2400" b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r>
              <a:rPr kumimoji="1" lang="zh-CN" altLang="en-US" sz="2400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各进位制中位权的值是基数的若干次幂。</a:t>
            </a:r>
            <a:endParaRPr kumimoji="1" lang="zh-CN" altLang="en-US" sz="2400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359861" y="543190"/>
            <a:ext cx="8124825" cy="5275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2.1.1 </a:t>
            </a:r>
            <a:r>
              <a:rPr kumimoji="1"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十进制数</a:t>
            </a:r>
            <a:endParaRPr kumimoji="1" lang="zh-CN" altLang="en-US" b="1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8182" name="Text Box 6"/>
          <p:cNvSpPr txBox="1">
            <a:spLocks noChangeArrowheads="1"/>
          </p:cNvSpPr>
          <p:nvPr/>
        </p:nvSpPr>
        <p:spPr bwMode="auto">
          <a:xfrm>
            <a:off x="719138" y="1213644"/>
            <a:ext cx="8001000" cy="38263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1. </a:t>
            </a:r>
            <a:r>
              <a:rPr kumimoji="1" lang="zh-CN" altLang="en-US" sz="24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数字符号</a:t>
            </a:r>
            <a:r>
              <a:rPr kumimoji="1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：</a:t>
            </a:r>
            <a:r>
              <a:rPr kumimoji="0" lang="en-US" altLang="zh-CN" sz="2400" kern="1200" cap="none" spc="0" normalizeH="0" baseline="0" noProof="0" dirty="0"/>
              <a:t>0,1,2,3,4,5,6,7,8,9</a:t>
            </a:r>
            <a:r>
              <a:rPr kumimoji="0" lang="zh-CN" altLang="en-US" sz="2400" kern="1200" cap="none" spc="0" normalizeH="0" baseline="0" noProof="0" dirty="0"/>
              <a:t>共十个</a:t>
            </a:r>
            <a:r>
              <a:rPr lang="zh-CN" altLang="en-US" sz="2400" noProof="0" dirty="0"/>
              <a:t>。</a:t>
            </a:r>
            <a:r>
              <a:rPr kumimoji="0" lang="en-US" altLang="zh-CN" sz="2400" kern="1200" cap="none" spc="0" normalizeH="0" baseline="0" noProof="0" dirty="0"/>
              <a:t> (</a:t>
            </a:r>
            <a:r>
              <a:rPr kumimoji="0" lang="zh-CN" altLang="en-US" sz="2400" kern="1200" cap="none" spc="0" normalizeH="0" baseline="0" noProof="0" dirty="0"/>
              <a:t>数后面加</a:t>
            </a:r>
            <a:r>
              <a:rPr kumimoji="0" lang="en-US" altLang="zh-CN" sz="2400" kern="1200" cap="none" spc="0" normalizeH="0" baseline="0" noProof="0" dirty="0"/>
              <a:t>D)</a:t>
            </a:r>
            <a:endParaRPr kumimoji="0" lang="zh-CN" altLang="en-US" sz="2400" kern="1200" cap="none" spc="0" normalizeH="0" baseline="0" noProof="0" dirty="0"/>
          </a:p>
          <a:p>
            <a:pPr marR="0" defTabSz="91440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2. </a:t>
            </a:r>
            <a:r>
              <a:rPr kumimoji="1" lang="zh-CN" altLang="en-US" sz="24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特点</a:t>
            </a:r>
            <a:r>
              <a:rPr kumimoji="1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：</a:t>
            </a:r>
            <a:r>
              <a:rPr kumimoji="0" lang="zh-CN" altLang="en-US" sz="2400" kern="1200" cap="none" spc="0" normalizeH="0" baseline="0" noProof="0" dirty="0"/>
              <a:t>由低位向高位的进位原则是“逢十进一” 。</a:t>
            </a:r>
            <a:endParaRPr kumimoji="0" lang="zh-CN" altLang="en-US" sz="2400" kern="1200" cap="none" spc="0" normalizeH="0" baseline="0" noProof="0" dirty="0"/>
          </a:p>
          <a:p>
            <a:pPr marR="0" defTabSz="91440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3. </a:t>
            </a:r>
            <a:r>
              <a:rPr kumimoji="1" lang="zh-CN" altLang="en-US" sz="24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基</a:t>
            </a:r>
            <a:r>
              <a:rPr kumimoji="1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:  </a:t>
            </a:r>
            <a:r>
              <a:rPr kumimoji="0" lang="en-US" altLang="zh-CN" sz="2400" kern="1200" cap="none" spc="0" normalizeH="0" baseline="0" noProof="0" dirty="0"/>
              <a:t>{0-9}     </a:t>
            </a:r>
            <a:r>
              <a:rPr kumimoji="1" lang="zh-CN" altLang="en-US" sz="24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基数</a:t>
            </a:r>
            <a:r>
              <a:rPr kumimoji="1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：</a:t>
            </a:r>
            <a:r>
              <a:rPr kumimoji="0" lang="en-US" altLang="zh-CN" sz="2400" kern="1200" cap="none" spc="0" normalizeH="0" baseline="0" noProof="0" dirty="0"/>
              <a:t>10</a:t>
            </a:r>
            <a:endParaRPr kumimoji="0" lang="en-US" altLang="zh-CN" sz="2400" kern="1200" cap="none" spc="0" normalizeH="0" baseline="0" noProof="0" dirty="0"/>
          </a:p>
          <a:p>
            <a:pPr marR="0" defTabSz="91440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4. </a:t>
            </a:r>
            <a:r>
              <a:rPr kumimoji="1" lang="zh-CN" altLang="en-US" sz="24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权</a:t>
            </a:r>
            <a:r>
              <a:rPr kumimoji="1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:  </a:t>
            </a:r>
            <a:r>
              <a:rPr kumimoji="0" lang="en-US" altLang="zh-CN" sz="2400" kern="1200" cap="none" spc="0" normalizeH="0" baseline="0" noProof="0" dirty="0"/>
              <a:t>10</a:t>
            </a:r>
            <a:r>
              <a:rPr kumimoji="0" lang="zh-CN" altLang="en-US" sz="2400" kern="1200" cap="none" spc="0" normalizeH="0" baseline="0" noProof="0" dirty="0"/>
              <a:t>的整幂次方称为</a:t>
            </a:r>
            <a:r>
              <a:rPr kumimoji="0" lang="en-US" altLang="zh-CN" sz="2400" kern="1200" cap="none" spc="0" normalizeH="0" baseline="0" noProof="0" dirty="0"/>
              <a:t>10</a:t>
            </a:r>
            <a:r>
              <a:rPr kumimoji="0" lang="zh-CN" altLang="en-US" sz="2400" kern="1200" cap="none" spc="0" normalizeH="0" baseline="0" noProof="0" dirty="0"/>
              <a:t>进制数的权。</a:t>
            </a:r>
            <a:endParaRPr kumimoji="0" lang="zh-CN" altLang="en-US" sz="2400" kern="1200" cap="none" spc="0" normalizeH="0" baseline="0" noProof="0" dirty="0"/>
          </a:p>
          <a:p>
            <a:pPr marR="0" defTabSz="91440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5.</a:t>
            </a:r>
            <a:r>
              <a:rPr kumimoji="1" lang="zh-CN" altLang="en-US" sz="24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记数法</a:t>
            </a:r>
            <a:endParaRPr kumimoji="1" lang="zh-CN" altLang="en-US" sz="2400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位置计数法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:  </a:t>
            </a: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例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123.45  </a:t>
            </a: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读作  一百二十三点四五</a:t>
            </a:r>
            <a:endParaRPr kumimoji="1" lang="zh-CN" altLang="en-US" sz="24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按权展形式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: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例  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lvl="1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123.45=1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10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+210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+310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+410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+510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anose="05050102010706020507" pitchFamily="18" charset="2"/>
              </a:rPr>
              <a:t>-2</a:t>
            </a:r>
            <a:r>
              <a:rPr lang="zh-CN" altLang="en-US" sz="2400" b="1" dirty="0"/>
              <a:t>。</a:t>
            </a:r>
            <a:endParaRPr kumimoji="1" lang="en-US" altLang="zh-CN" sz="2400" b="1" i="0" u="none" strike="noStrike" kern="120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47524" y="4570396"/>
            <a:ext cx="4643438" cy="661987"/>
            <a:chOff x="3295650" y="5281613"/>
            <a:chExt cx="4643438" cy="661987"/>
          </a:xfrm>
        </p:grpSpPr>
        <p:sp>
          <p:nvSpPr>
            <p:cNvPr id="178183" name="Oval 7"/>
            <p:cNvSpPr/>
            <p:nvPr/>
          </p:nvSpPr>
          <p:spPr>
            <a:xfrm>
              <a:off x="3335338" y="5287963"/>
              <a:ext cx="466725" cy="4064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8184" name="Oval 8"/>
            <p:cNvSpPr/>
            <p:nvPr/>
          </p:nvSpPr>
          <p:spPr>
            <a:xfrm>
              <a:off x="4229100" y="5294313"/>
              <a:ext cx="466725" cy="4064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8185" name="Oval 9"/>
            <p:cNvSpPr/>
            <p:nvPr/>
          </p:nvSpPr>
          <p:spPr>
            <a:xfrm>
              <a:off x="5108575" y="5284788"/>
              <a:ext cx="487363" cy="4064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8186" name="Oval 10"/>
            <p:cNvSpPr/>
            <p:nvPr/>
          </p:nvSpPr>
          <p:spPr>
            <a:xfrm>
              <a:off x="6010275" y="5281613"/>
              <a:ext cx="558800" cy="4064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8187" name="Oval 11"/>
            <p:cNvSpPr/>
            <p:nvPr/>
          </p:nvSpPr>
          <p:spPr>
            <a:xfrm>
              <a:off x="6996113" y="5286375"/>
              <a:ext cx="569912" cy="4064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0969" name="Line 13"/>
            <p:cNvSpPr/>
            <p:nvPr/>
          </p:nvSpPr>
          <p:spPr>
            <a:xfrm>
              <a:off x="3295650" y="5753100"/>
              <a:ext cx="498475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0" name="Line 14"/>
            <p:cNvSpPr/>
            <p:nvPr/>
          </p:nvSpPr>
          <p:spPr>
            <a:xfrm>
              <a:off x="4221163" y="5754688"/>
              <a:ext cx="498475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1" name="Line 15"/>
            <p:cNvSpPr/>
            <p:nvPr/>
          </p:nvSpPr>
          <p:spPr>
            <a:xfrm>
              <a:off x="5119688" y="5740400"/>
              <a:ext cx="498475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2" name="Line 16"/>
            <p:cNvSpPr/>
            <p:nvPr/>
          </p:nvSpPr>
          <p:spPr>
            <a:xfrm>
              <a:off x="6048375" y="5746750"/>
              <a:ext cx="498475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3" name="Line 17"/>
            <p:cNvSpPr/>
            <p:nvPr/>
          </p:nvSpPr>
          <p:spPr>
            <a:xfrm>
              <a:off x="7021513" y="5756275"/>
              <a:ext cx="498475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Line 18"/>
            <p:cNvSpPr/>
            <p:nvPr/>
          </p:nvSpPr>
          <p:spPr>
            <a:xfrm>
              <a:off x="3541713" y="5764213"/>
              <a:ext cx="0" cy="16668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5" name="Line 19"/>
            <p:cNvSpPr/>
            <p:nvPr/>
          </p:nvSpPr>
          <p:spPr>
            <a:xfrm>
              <a:off x="4457700" y="5741988"/>
              <a:ext cx="0" cy="16668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6" name="Line 20"/>
            <p:cNvSpPr/>
            <p:nvPr/>
          </p:nvSpPr>
          <p:spPr>
            <a:xfrm>
              <a:off x="5334000" y="5740400"/>
              <a:ext cx="0" cy="166688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7" name="Line 21"/>
            <p:cNvSpPr/>
            <p:nvPr/>
          </p:nvSpPr>
          <p:spPr>
            <a:xfrm>
              <a:off x="6283325" y="5757863"/>
              <a:ext cx="0" cy="16668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8" name="Line 22"/>
            <p:cNvSpPr/>
            <p:nvPr/>
          </p:nvSpPr>
          <p:spPr>
            <a:xfrm>
              <a:off x="7286625" y="5776913"/>
              <a:ext cx="0" cy="16668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Line 23"/>
            <p:cNvSpPr/>
            <p:nvPr/>
          </p:nvSpPr>
          <p:spPr>
            <a:xfrm flipV="1">
              <a:off x="3544888" y="5926138"/>
              <a:ext cx="4394200" cy="9525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Line 24"/>
            <p:cNvSpPr/>
            <p:nvPr/>
          </p:nvSpPr>
          <p:spPr>
            <a:xfrm>
              <a:off x="5119688" y="5751513"/>
              <a:ext cx="498475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1" name="Line 25"/>
            <p:cNvSpPr/>
            <p:nvPr/>
          </p:nvSpPr>
          <p:spPr>
            <a:xfrm>
              <a:off x="5334000" y="5751513"/>
              <a:ext cx="0" cy="16668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Line 26"/>
            <p:cNvSpPr/>
            <p:nvPr/>
          </p:nvSpPr>
          <p:spPr>
            <a:xfrm>
              <a:off x="4221163" y="5765800"/>
              <a:ext cx="498475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3" name="Line 27"/>
            <p:cNvSpPr/>
            <p:nvPr/>
          </p:nvSpPr>
          <p:spPr>
            <a:xfrm>
              <a:off x="4457700" y="5753100"/>
              <a:ext cx="0" cy="166688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8222" name="Text Box 46"/>
          <p:cNvSpPr txBox="1"/>
          <p:nvPr/>
        </p:nvSpPr>
        <p:spPr>
          <a:xfrm>
            <a:off x="5748338" y="5556836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数位不同，权值不同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8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8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8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8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8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8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8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8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/>
      <p:bldP spid="1782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452062" y="463021"/>
            <a:ext cx="7132638" cy="5275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defRPr/>
            </a:pPr>
            <a:r>
              <a:rPr kumimoji="1" lang="en-US" altLang="zh-CN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2.1.2 </a:t>
            </a:r>
            <a:r>
              <a:rPr kumimoji="1"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二进制数</a:t>
            </a:r>
            <a:endParaRPr kumimoji="1" lang="zh-CN" altLang="en-US" b="1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219" name="Text Box 3"/>
          <p:cNvSpPr txBox="1"/>
          <p:nvPr/>
        </p:nvSpPr>
        <p:spPr>
          <a:xfrm>
            <a:off x="265113" y="1071563"/>
            <a:ext cx="8307387" cy="2693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762000">
              <a:spcBef>
                <a:spcPts val="290"/>
              </a:spcBef>
              <a:spcAft>
                <a:spcPts val="29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特点</a:t>
            </a:r>
            <a:r>
              <a:rPr lang="zh-CN" altLang="en-US" sz="2400" b="1" dirty="0">
                <a:latin typeface="Times New Roman" panose="02020603050405020304" pitchFamily="18" charset="0"/>
              </a:rPr>
              <a:t>：逢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进位；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indent="762000">
              <a:spcBef>
                <a:spcPts val="290"/>
              </a:spcBef>
              <a:spcAft>
                <a:spcPts val="29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      只有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两个符号。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数后面加</a:t>
            </a:r>
            <a:r>
              <a:rPr lang="en-US" altLang="zh-CN" sz="2400" b="1" dirty="0">
                <a:latin typeface="Times New Roman" panose="02020603050405020304" pitchFamily="18" charset="0"/>
              </a:rPr>
              <a:t>B)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indent="762000">
              <a:spcBef>
                <a:spcPts val="290"/>
              </a:spcBef>
              <a:spcAft>
                <a:spcPts val="290"/>
              </a:spcAft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表示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indent="762000">
              <a:spcBef>
                <a:spcPts val="290"/>
              </a:spcBef>
              <a:spcAft>
                <a:spcPts val="29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对任意一个二进制数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Times New Roman" panose="02020603050405020304" pitchFamily="18" charset="0"/>
              </a:rPr>
              <a:t>用</a:t>
            </a:r>
            <a:r>
              <a:rPr lang="zh-CN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位置记数法</a:t>
            </a:r>
            <a:r>
              <a:rPr lang="zh-CN" altLang="zh-CN" sz="2400" b="1" dirty="0">
                <a:latin typeface="Times New Roman" panose="02020603050405020304" pitchFamily="18" charset="0"/>
              </a:rPr>
              <a:t>可表示为: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indent="762000">
              <a:spcBef>
                <a:spcPts val="290"/>
              </a:spcBef>
              <a:spcAft>
                <a:spcPts val="290"/>
              </a:spcAft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indent="762000">
              <a:spcBef>
                <a:spcPts val="290"/>
              </a:spcBef>
              <a:spcAft>
                <a:spcPts val="29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用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权展开式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9220" name="Text Box 4"/>
          <p:cNvSpPr txBox="1"/>
          <p:nvPr/>
        </p:nvSpPr>
        <p:spPr>
          <a:xfrm>
            <a:off x="1430338" y="2805113"/>
            <a:ext cx="4833937" cy="493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lnSpc>
                <a:spcPct val="11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=(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-2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-2</a:t>
            </a:r>
            <a:r>
              <a:rPr lang="en-US" altLang="zh-CN" sz="2400" b="1" dirty="0">
                <a:latin typeface="Times New Roman" panose="02020603050405020304" pitchFamily="18" charset="0"/>
              </a:rPr>
              <a:t>…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81923" name="Text Box 3"/>
          <p:cNvSpPr txBox="1"/>
          <p:nvPr/>
        </p:nvSpPr>
        <p:spPr>
          <a:xfrm>
            <a:off x="1435100" y="3570288"/>
            <a:ext cx="7158038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952500" indent="-952500" fontAlgn="base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2</a:t>
            </a:r>
            <a:r>
              <a:rPr lang="en-US" altLang="zh-CN" sz="24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2</a:t>
            </a:r>
            <a:r>
              <a:rPr lang="en-US" altLang="zh-CN" sz="24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-2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+…+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2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2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-1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 2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2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+…+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-m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2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-m</a:t>
            </a:r>
            <a:endParaRPr lang="en-US" altLang="zh-CN" sz="2400" b="1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24" name="Object 4"/>
              <p:cNvSpPr txBox="1"/>
              <p:nvPr/>
            </p:nvSpPr>
            <p:spPr>
              <a:xfrm>
                <a:off x="2144713" y="4619625"/>
                <a:ext cx="1608137" cy="8207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55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Σ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/>
                      </m:nary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192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713" y="4619625"/>
                <a:ext cx="1608137" cy="820738"/>
              </a:xfrm>
              <a:prstGeom prst="rect">
                <a:avLst/>
              </a:prstGeom>
              <a:blipFill rotWithShape="1">
                <a:blip r:embed="rId1"/>
                <a:stretch>
                  <a:fillRect l="-20" b="39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25" name="Text Box 5"/>
          <p:cNvSpPr txBox="1"/>
          <p:nvPr/>
        </p:nvSpPr>
        <p:spPr>
          <a:xfrm>
            <a:off x="798513" y="5854700"/>
            <a:ext cx="8135937" cy="52084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其中，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=0</a:t>
            </a:r>
            <a:r>
              <a:rPr lang="zh-CN" altLang="zh-CN" sz="2400" b="1" dirty="0">
                <a:latin typeface="Times New Roman" panose="02020603050405020304" pitchFamily="18" charset="0"/>
              </a:rPr>
              <a:t>或1,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dirty="0">
                <a:latin typeface="Times New Roman" panose="02020603050405020304" pitchFamily="18" charset="0"/>
              </a:rPr>
              <a:t>为整数部分的位数,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为小数部分的位数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81927" name="Rectangle 7"/>
          <p:cNvSpPr/>
          <p:nvPr/>
        </p:nvSpPr>
        <p:spPr>
          <a:xfrm>
            <a:off x="1076325" y="5457825"/>
            <a:ext cx="67294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</a:rPr>
              <a:t>: (1011.01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=1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30000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30000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+1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30000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+1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30000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+0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30000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+1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30000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  <a:endParaRPr lang="en-US" altLang="zh-CN" sz="2400" b="1" baseline="30000" dirty="0">
              <a:solidFill>
                <a:srgbClr val="FF00FF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81928" name="AutoShape 8"/>
          <p:cNvSpPr/>
          <p:nvPr/>
        </p:nvSpPr>
        <p:spPr>
          <a:xfrm>
            <a:off x="5994400" y="4448175"/>
            <a:ext cx="2338388" cy="860425"/>
          </a:xfrm>
          <a:prstGeom prst="cloudCallout">
            <a:avLst>
              <a:gd name="adj1" fmla="val -46606"/>
              <a:gd name="adj2" fmla="val 67713"/>
            </a:avLst>
          </a:pr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权值一般用十进制表示</a:t>
            </a:r>
            <a:endParaRPr lang="zh-CN" altLang="en-US" sz="20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1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build="p"/>
      <p:bldP spid="9220" grpId="0" build="p"/>
      <p:bldP spid="81923" grpId="0" build="p"/>
      <p:bldP spid="81925" grpId="0" build="p"/>
      <p:bldP spid="819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756987" y="1212784"/>
            <a:ext cx="4705350" cy="4924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26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1" lang="zh-CN" altLang="en-US" sz="2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二进制数的特点</a:t>
            </a:r>
            <a:endParaRPr kumimoji="1" lang="zh-CN" altLang="en-US" sz="26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9204" name="Text Box 4"/>
          <p:cNvSpPr txBox="1"/>
          <p:nvPr/>
        </p:nvSpPr>
        <p:spPr>
          <a:xfrm>
            <a:off x="962025" y="1932117"/>
            <a:ext cx="721995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只有两个数码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很容易用物理器件来实现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79205" name="Text Box 5"/>
          <p:cNvSpPr txBox="1"/>
          <p:nvPr/>
        </p:nvSpPr>
        <p:spPr>
          <a:xfrm>
            <a:off x="962024" y="2501125"/>
            <a:ext cx="8013534" cy="286232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buChar char="•"/>
            </a:pPr>
            <a:r>
              <a:rPr lang="en-US" altLang="zh-CN" sz="2400" b="1" dirty="0"/>
              <a:t>  </a:t>
            </a:r>
            <a:r>
              <a:rPr lang="zh-CN" altLang="en-US" sz="2400" b="1" dirty="0"/>
              <a:t>运算规则简单</a:t>
            </a:r>
            <a:endParaRPr lang="en-US" altLang="zh-CN" sz="2400" b="1" dirty="0"/>
          </a:p>
          <a:p>
            <a:pPr fontAlgn="base">
              <a:spcBef>
                <a:spcPct val="50000"/>
              </a:spcBef>
            </a:pPr>
            <a:r>
              <a:rPr lang="zh-CN" altLang="en-US" sz="2000" b="1" dirty="0"/>
              <a:t>   </a:t>
            </a:r>
            <a:r>
              <a:rPr lang="zh-CN" altLang="en-US" sz="2000" b="1" dirty="0">
                <a:solidFill>
                  <a:srgbClr val="FF00FF"/>
                </a:solidFill>
              </a:rPr>
              <a:t>加法规则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0 + 0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0   0 + 1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1   1 + 0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1   1 + 1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0 (</a:t>
            </a:r>
            <a:r>
              <a:rPr lang="zh-CN" altLang="en-US" sz="2000" b="1" dirty="0"/>
              <a:t>向相邻高位进</a:t>
            </a:r>
            <a:r>
              <a:rPr lang="en-US" altLang="zh-CN" sz="2000" b="1" dirty="0"/>
              <a:t>1)</a:t>
            </a:r>
            <a:endParaRPr lang="zh-CN" altLang="en-US" sz="2000" b="1" dirty="0"/>
          </a:p>
          <a:p>
            <a:pPr fontAlgn="base">
              <a:spcBef>
                <a:spcPct val="50000"/>
              </a:spcBef>
            </a:pPr>
            <a:r>
              <a:rPr lang="zh-CN" altLang="en-US" sz="2000" b="1" dirty="0"/>
              <a:t>   </a:t>
            </a:r>
            <a:r>
              <a:rPr lang="zh-CN" altLang="en-US" sz="2000" b="1" dirty="0">
                <a:solidFill>
                  <a:srgbClr val="FF00FF"/>
                </a:solidFill>
              </a:rPr>
              <a:t>减法规则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1 - 0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1    1 - 1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0    0 - 0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0    0 - 1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（向相邻高位借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</a:t>
            </a:r>
            <a:endParaRPr lang="zh-CN" altLang="en-US" sz="2000" b="1" dirty="0"/>
          </a:p>
          <a:p>
            <a:pPr fontAlgn="base">
              <a:spcBef>
                <a:spcPct val="50000"/>
              </a:spcBef>
            </a:pPr>
            <a:r>
              <a:rPr lang="zh-CN" altLang="en-US" sz="2000" b="1" dirty="0"/>
              <a:t>   </a:t>
            </a:r>
            <a:r>
              <a:rPr lang="zh-CN" altLang="en-US" sz="2000" b="1" dirty="0">
                <a:solidFill>
                  <a:srgbClr val="FF00FF"/>
                </a:solidFill>
              </a:rPr>
              <a:t>乘法规则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0 </a:t>
            </a:r>
            <a:r>
              <a:rPr lang="en-US" altLang="zh-CN" sz="2000" dirty="0">
                <a:sym typeface="Symbol" panose="05050102010706020507" pitchFamily="18" charset="2"/>
              </a:rPr>
              <a:t></a:t>
            </a:r>
            <a:r>
              <a:rPr lang="en-US" altLang="zh-CN" sz="2000" b="1" dirty="0"/>
              <a:t> 0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0    0 </a:t>
            </a:r>
            <a:r>
              <a:rPr lang="en-US" altLang="zh-CN" sz="2000" dirty="0">
                <a:sym typeface="Symbol" panose="05050102010706020507" pitchFamily="18" charset="2"/>
              </a:rPr>
              <a:t></a:t>
            </a:r>
            <a:r>
              <a:rPr lang="en-US" altLang="zh-CN" sz="2000" b="1" dirty="0"/>
              <a:t> 1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0    1 </a:t>
            </a:r>
            <a:r>
              <a:rPr lang="en-US" altLang="zh-CN" sz="2000" dirty="0">
                <a:sym typeface="Symbol" panose="05050102010706020507" pitchFamily="18" charset="2"/>
              </a:rPr>
              <a:t></a:t>
            </a:r>
            <a:r>
              <a:rPr lang="en-US" altLang="zh-CN" sz="2000" b="1" dirty="0"/>
              <a:t> 0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0    1 </a:t>
            </a:r>
            <a:r>
              <a:rPr lang="en-US" altLang="zh-CN" sz="2000" dirty="0">
                <a:sym typeface="Symbol" panose="05050102010706020507" pitchFamily="18" charset="2"/>
              </a:rPr>
              <a:t></a:t>
            </a:r>
            <a:r>
              <a:rPr lang="en-US" altLang="zh-CN" sz="2000" b="1" dirty="0"/>
              <a:t> 1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1</a:t>
            </a:r>
            <a:endParaRPr lang="en-US" altLang="zh-CN" sz="2000" b="1" dirty="0"/>
          </a:p>
          <a:p>
            <a:pPr fontAlgn="base">
              <a:spcBef>
                <a:spcPct val="50000"/>
              </a:spcBef>
            </a:pPr>
            <a:r>
              <a:rPr lang="zh-CN" altLang="en-US" sz="2000" b="1" dirty="0"/>
              <a:t>   </a:t>
            </a:r>
            <a:r>
              <a:rPr lang="zh-CN" altLang="en-US" sz="2000" b="1" dirty="0">
                <a:solidFill>
                  <a:srgbClr val="FF00FF"/>
                </a:solidFill>
              </a:rPr>
              <a:t>除法规则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0 </a:t>
            </a:r>
            <a:r>
              <a:rPr lang="en-US" altLang="zh-CN" sz="2000" dirty="0">
                <a:sym typeface="Symbol" panose="05050102010706020507" pitchFamily="18" charset="2"/>
              </a:rPr>
              <a:t></a:t>
            </a:r>
            <a:r>
              <a:rPr lang="en-US" altLang="zh-CN" sz="2000" b="1" dirty="0"/>
              <a:t> 1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0     1 </a:t>
            </a:r>
            <a:r>
              <a:rPr lang="en-US" altLang="zh-CN" sz="2000" dirty="0">
                <a:sym typeface="Symbol" panose="05050102010706020507" pitchFamily="18" charset="2"/>
              </a:rPr>
              <a:t></a:t>
            </a:r>
            <a:r>
              <a:rPr lang="en-US" altLang="zh-CN" sz="2000" b="1" dirty="0"/>
              <a:t> 1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1</a:t>
            </a:r>
            <a:endParaRPr lang="en-US" altLang="zh-CN" sz="2000" b="1" dirty="0"/>
          </a:p>
          <a:p>
            <a:pPr fontAlgn="base">
              <a:spcBef>
                <a:spcPct val="50000"/>
              </a:spcBef>
            </a:pPr>
            <a:endParaRPr lang="zh-CN" altLang="en-US" sz="2400" b="1" dirty="0"/>
          </a:p>
        </p:txBody>
      </p:sp>
      <p:sp>
        <p:nvSpPr>
          <p:cNvPr id="179206" name="Text Box 6"/>
          <p:cNvSpPr txBox="1"/>
          <p:nvPr/>
        </p:nvSpPr>
        <p:spPr>
          <a:xfrm>
            <a:off x="890588" y="4844231"/>
            <a:ext cx="768792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buChar char="•"/>
            </a:pPr>
            <a:r>
              <a:rPr lang="zh-CN" altLang="en-US" sz="2400" b="1" dirty="0"/>
              <a:t>可实现逻辑运算，能</a:t>
            </a:r>
            <a:r>
              <a:rPr lang="zh-CN" altLang="en-US" sz="2400" b="1" dirty="0">
                <a:latin typeface="Times New Roman" panose="02020603050405020304" pitchFamily="18" charset="0"/>
              </a:rPr>
              <a:t>使用逻辑代数这一数学工具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7110" name="Text Box 7"/>
          <p:cNvSpPr txBox="1"/>
          <p:nvPr/>
        </p:nvSpPr>
        <p:spPr>
          <a:xfrm>
            <a:off x="1876425" y="3165643"/>
            <a:ext cx="1841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endParaRPr lang="zh-CN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179211" name="Text Box 11"/>
          <p:cNvSpPr txBox="1"/>
          <p:nvPr/>
        </p:nvSpPr>
        <p:spPr>
          <a:xfrm>
            <a:off x="890587" y="5359568"/>
            <a:ext cx="8013533" cy="10156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buChar char="•"/>
            </a:pPr>
            <a:r>
              <a:rPr lang="zh-CN" altLang="en-US" sz="2400" b="1" dirty="0"/>
              <a:t>只有两个状态，数字的传输和处理不容易出错，可靠性高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50000"/>
              </a:spcBef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</a:rPr>
              <a:t>节省设备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52062" y="463021"/>
            <a:ext cx="7132638" cy="5275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defRPr/>
            </a:pPr>
            <a:r>
              <a:rPr kumimoji="1" lang="en-US" altLang="zh-CN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2.1.2 </a:t>
            </a:r>
            <a:r>
              <a:rPr kumimoji="1"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二进制数</a:t>
            </a:r>
            <a:endParaRPr kumimoji="1" lang="zh-CN" altLang="en-US" b="1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/>
      <p:bldP spid="179204" grpId="0"/>
      <p:bldP spid="179205" grpId="0"/>
      <p:bldP spid="179206" grpId="0"/>
      <p:bldP spid="179211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651209" y="1037431"/>
            <a:ext cx="721995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b="1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关于“二进制节省设备”的证明：</a:t>
            </a:r>
            <a:r>
              <a:rPr kumimoji="1" lang="zh-CN" altLang="en-US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b="1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8" name="Text Box 8"/>
          <p:cNvSpPr txBox="1"/>
          <p:nvPr/>
        </p:nvSpPr>
        <p:spPr>
          <a:xfrm>
            <a:off x="1113338" y="1701800"/>
            <a:ext cx="7470775" cy="481978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）设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是数的位数，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zh-CN" altLang="en-US" sz="2400" b="1" dirty="0">
                <a:latin typeface="宋体" panose="02010600030101010101" pitchFamily="2" charset="-122"/>
              </a:rPr>
              <a:t>是基数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    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-----</a:t>
            </a:r>
            <a:r>
              <a:rPr lang="zh-CN" altLang="en-US" sz="2400" b="1" dirty="0">
                <a:latin typeface="宋体" panose="02010600030101010101" pitchFamily="2" charset="-122"/>
              </a:rPr>
              <a:t>最大信息量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    </a:t>
            </a:r>
            <a:r>
              <a:rPr lang="en-US" altLang="zh-CN" sz="2400" b="1" dirty="0">
                <a:latin typeface="宋体" panose="02010600030101010101" pitchFamily="2" charset="-122"/>
              </a:rPr>
              <a:t>nR-----R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个数码所需设备量        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例：当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R=10</a:t>
            </a:r>
            <a:r>
              <a:rPr lang="zh-CN" altLang="en-US" sz="2400" b="1" dirty="0">
                <a:latin typeface="宋体" panose="02010600030101010101" pitchFamily="2" charset="-122"/>
              </a:rPr>
              <a:t>， 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=3</a:t>
            </a:r>
            <a:r>
              <a:rPr lang="zh-CN" altLang="en-US" sz="2400" b="1" dirty="0">
                <a:latin typeface="宋体" panose="02010600030101010101" pitchFamily="2" charset="-122"/>
              </a:rPr>
              <a:t>时，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    最大信息量  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=10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</a:rPr>
              <a:t>=1000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    所需设备量为 </a:t>
            </a:r>
            <a:r>
              <a:rPr lang="en-US" altLang="zh-CN" sz="2400" b="1" dirty="0">
                <a:latin typeface="宋体" panose="02010600030101010101" pitchFamily="2" charset="-122"/>
              </a:rPr>
              <a:t>nR=3×10=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30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    当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R=2</a:t>
            </a:r>
            <a:r>
              <a:rPr lang="zh-CN" altLang="en-US" sz="2400" b="1" dirty="0">
                <a:latin typeface="宋体" panose="02010600030101010101" pitchFamily="2" charset="-122"/>
              </a:rPr>
              <a:t>时，要使信息量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en-US" altLang="zh-CN" sz="2400" b="1" i="1" baseline="30000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≥1000</a:t>
            </a:r>
            <a:r>
              <a:rPr lang="zh-CN" altLang="en-US" sz="2400" b="1" dirty="0">
                <a:latin typeface="宋体" panose="02010600030101010101" pitchFamily="2" charset="-122"/>
              </a:rPr>
              <a:t>，即 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en-US" altLang="zh-CN" sz="2400" b="1" i="1" baseline="30000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≥1000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      则令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=10</a:t>
            </a:r>
            <a:r>
              <a:rPr lang="zh-CN" altLang="en-US" sz="2400" b="1" dirty="0">
                <a:latin typeface="宋体" panose="02010600030101010101" pitchFamily="2" charset="-122"/>
              </a:rPr>
              <a:t>，有 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en-US" altLang="zh-CN" sz="2400" b="1" i="1" baseline="30000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=2</a:t>
            </a:r>
            <a:r>
              <a:rPr lang="en-US" altLang="zh-CN" sz="2400" b="1" i="1" baseline="30000" dirty="0">
                <a:latin typeface="宋体" panose="02010600030101010101" pitchFamily="2" charset="-122"/>
              </a:rPr>
              <a:t>10</a:t>
            </a:r>
            <a:r>
              <a:rPr lang="en-US" altLang="zh-CN" sz="2400" b="1" dirty="0">
                <a:latin typeface="宋体" panose="02010600030101010101" pitchFamily="2" charset="-122"/>
              </a:rPr>
              <a:t>=1024</a:t>
            </a:r>
            <a:endParaRPr lang="en-US" altLang="zh-CN" sz="2400" b="1" i="1" dirty="0">
              <a:latin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i="1" dirty="0">
                <a:latin typeface="宋体" panose="02010600030101010101" pitchFamily="2" charset="-122"/>
              </a:rPr>
              <a:t>        </a:t>
            </a:r>
            <a:r>
              <a:rPr lang="zh-CN" altLang="en-US" sz="2400" b="1" i="1" dirty="0">
                <a:latin typeface="宋体" panose="02010600030101010101" pitchFamily="2" charset="-122"/>
              </a:rPr>
              <a:t>此时设备量 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R=10×2=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20 &lt; 30</a:t>
            </a:r>
            <a:r>
              <a:rPr lang="zh-CN" altLang="en-US" sz="2400" b="1" dirty="0">
                <a:latin typeface="宋体" panose="02010600030101010101" pitchFamily="2" charset="-122"/>
              </a:rPr>
              <a:t>；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   可知，同样为</a:t>
            </a:r>
            <a:r>
              <a:rPr lang="en-US" altLang="zh-CN" sz="2400" b="1" dirty="0">
                <a:latin typeface="宋体" panose="02010600030101010101" pitchFamily="2" charset="-122"/>
              </a:rPr>
              <a:t>1000</a:t>
            </a:r>
            <a:r>
              <a:rPr lang="zh-CN" altLang="en-US" sz="2400" b="1" dirty="0">
                <a:latin typeface="宋体" panose="02010600030101010101" pitchFamily="2" charset="-122"/>
              </a:rPr>
              <a:t>的信息量，二进制比十进制节省设备。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8132" name="Rectangle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33" name="Rectangle 18"/>
          <p:cNvSpPr/>
          <p:nvPr/>
        </p:nvSpPr>
        <p:spPr>
          <a:xfrm>
            <a:off x="0" y="39052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8134" name="Rectangle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35" name="Rectangle 22"/>
          <p:cNvSpPr/>
          <p:nvPr/>
        </p:nvSpPr>
        <p:spPr>
          <a:xfrm>
            <a:off x="0" y="39052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8136" name="Rectangle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37" name="Rectangle 26"/>
          <p:cNvSpPr/>
          <p:nvPr/>
        </p:nvSpPr>
        <p:spPr>
          <a:xfrm>
            <a:off x="0" y="39052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8138" name="Rectangle 28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36549" y="390525"/>
            <a:ext cx="5438609" cy="5275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defRPr/>
            </a:pPr>
            <a:r>
              <a:rPr kumimoji="1" lang="en-US" altLang="zh-CN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2.1.2 </a:t>
            </a:r>
            <a:r>
              <a:rPr kumimoji="1"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二进制数</a:t>
            </a:r>
            <a:endParaRPr kumimoji="1" lang="zh-CN" altLang="en-US" b="1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6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65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65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65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65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Text Box 3"/>
          <p:cNvSpPr txBox="1"/>
          <p:nvPr/>
        </p:nvSpPr>
        <p:spPr>
          <a:xfrm>
            <a:off x="946150" y="1581150"/>
            <a:ext cx="7097713" cy="489364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唯一性证明</a:t>
            </a:r>
            <a:endParaRPr lang="zh-CN" altLang="en-US" sz="2400" b="1" dirty="0">
              <a:solidFill>
                <a:srgbClr val="FF00FF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设 </a:t>
            </a:r>
            <a:r>
              <a:rPr lang="en-US" altLang="zh-CN" sz="2400" b="1" dirty="0">
                <a:latin typeface="宋体" panose="02010600030101010101" pitchFamily="2" charset="-122"/>
              </a:rPr>
              <a:t>N=R</a:t>
            </a:r>
            <a:r>
              <a:rPr lang="en-US" altLang="zh-CN" sz="2400" b="1" i="1" baseline="30000" dirty="0">
                <a:latin typeface="宋体" panose="02010600030101010101" pitchFamily="2" charset="-122"/>
              </a:rPr>
              <a:t>n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为最大信息量，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为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zh-CN" altLang="en-US" sz="2400" b="1" dirty="0">
                <a:latin typeface="宋体" panose="02010600030101010101" pitchFamily="2" charset="-122"/>
              </a:rPr>
              <a:t>进制数的位数）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两边取对数，得： </a:t>
            </a:r>
            <a:r>
              <a:rPr lang="en-US" altLang="zh-CN" sz="2400" b="1" i="1" dirty="0">
                <a:latin typeface="宋体" panose="02010600030101010101" pitchFamily="2" charset="-122"/>
              </a:rPr>
              <a:t>Ln(N)=Ln(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en-US" altLang="zh-CN" sz="2400" b="1" i="1" baseline="30000" dirty="0">
                <a:latin typeface="宋体" panose="02010600030101010101" pitchFamily="2" charset="-122"/>
              </a:rPr>
              <a:t>n</a:t>
            </a:r>
            <a:r>
              <a:rPr lang="en-US" altLang="zh-CN" sz="2400" b="1" i="1" dirty="0">
                <a:latin typeface="宋体" panose="02010600030101010101" pitchFamily="2" charset="-122"/>
              </a:rPr>
              <a:t>)=nLn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令</a:t>
            </a:r>
            <a:r>
              <a:rPr lang="en-US" altLang="zh-CN" sz="2400" b="1" dirty="0">
                <a:latin typeface="宋体" panose="02010600030101010101" pitchFamily="2" charset="-122"/>
              </a:rPr>
              <a:t>C=Ln(N)</a:t>
            </a:r>
            <a:r>
              <a:rPr lang="zh-CN" altLang="en-US" sz="2400" b="1" dirty="0">
                <a:latin typeface="宋体" panose="02010600030101010101" pitchFamily="2" charset="-122"/>
              </a:rPr>
              <a:t>， 则： </a:t>
            </a:r>
            <a:r>
              <a:rPr lang="en-US" altLang="zh-CN" sz="2400" b="1" dirty="0">
                <a:latin typeface="宋体" panose="02010600030101010101" pitchFamily="2" charset="-122"/>
              </a:rPr>
              <a:t>C=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Ln(R)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两边同乘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RC=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RLn(R)   =&gt;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endParaRPr lang="en-US" altLang="zh-CN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对</a:t>
            </a:r>
            <a:r>
              <a:rPr lang="en-US" altLang="zh-CN" sz="2400" b="1" dirty="0" err="1">
                <a:latin typeface="宋体" panose="02010600030101010101" pitchFamily="2" charset="-122"/>
              </a:rPr>
              <a:t>nR</a:t>
            </a:r>
            <a:r>
              <a:rPr lang="zh-CN" altLang="en-US" sz="2400" b="1" dirty="0">
                <a:latin typeface="宋体" panose="02010600030101010101" pitchFamily="2" charset="-122"/>
              </a:rPr>
              <a:t>求导数并令结果等于零，得：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可得： 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宋体" panose="02010600030101010101" pitchFamily="2" charset="-122"/>
              </a:rPr>
              <a:t>  由此得到最小的 </a:t>
            </a:r>
            <a:r>
              <a:rPr lang="en-US" altLang="zh-CN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R=e=2.718 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则取</a:t>
            </a:r>
            <a:r>
              <a:rPr lang="en-US" altLang="zh-CN" sz="2400" b="1" dirty="0">
                <a:latin typeface="宋体" panose="02010600030101010101" pitchFamily="2" charset="-122"/>
              </a:rPr>
              <a:t>R=2</a:t>
            </a:r>
            <a:r>
              <a:rPr lang="zh-CN" altLang="en-US" sz="2400" b="1" dirty="0">
                <a:latin typeface="宋体" panose="02010600030101010101" pitchFamily="2" charset="-122"/>
              </a:rPr>
              <a:t>。             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fontAlgn="base">
              <a:spcBef>
                <a:spcPct val="10000"/>
              </a:spcBef>
              <a:spcAft>
                <a:spcPct val="10000"/>
              </a:spcAft>
            </a:pP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307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9" name="Rectangle 6"/>
          <p:cNvSpPr/>
          <p:nvPr/>
        </p:nvSpPr>
        <p:spPr>
          <a:xfrm>
            <a:off x="0" y="39052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080" name="Rectangle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1" name="Rectangle 8"/>
          <p:cNvSpPr/>
          <p:nvPr/>
        </p:nvSpPr>
        <p:spPr>
          <a:xfrm>
            <a:off x="0" y="39052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082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3" name="Rectangle 10"/>
          <p:cNvSpPr/>
          <p:nvPr/>
        </p:nvSpPr>
        <p:spPr>
          <a:xfrm>
            <a:off x="0" y="39052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80238" name="Text Box 14"/>
          <p:cNvSpPr txBox="1"/>
          <p:nvPr/>
        </p:nvSpPr>
        <p:spPr>
          <a:xfrm>
            <a:off x="2419253" y="5017294"/>
            <a:ext cx="13716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lnR-1=0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08155" y="401373"/>
            <a:ext cx="5896392" cy="5275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defRPr/>
            </a:pPr>
            <a:r>
              <a:rPr kumimoji="1" lang="en-US" altLang="zh-CN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2.1.2 </a:t>
            </a:r>
            <a:r>
              <a:rPr kumimoji="1"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二进制数</a:t>
            </a:r>
            <a:endParaRPr kumimoji="1" lang="zh-CN" altLang="en-US" b="1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651209" y="1037431"/>
            <a:ext cx="721995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b="1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关于“二进制节省设备”的证明：</a:t>
            </a:r>
            <a:r>
              <a:rPr kumimoji="1" lang="zh-CN" altLang="en-US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b="1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4"/>
              <p:cNvSpPr txBox="1"/>
              <p:nvPr/>
            </p:nvSpPr>
            <p:spPr bwMode="auto">
              <a:xfrm>
                <a:off x="5622005" y="3162343"/>
                <a:ext cx="1365083" cy="790311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2005" y="3162343"/>
                <a:ext cx="1365083" cy="790311"/>
              </a:xfrm>
              <a:prstGeom prst="rect">
                <a:avLst/>
              </a:prstGeom>
              <a:blipFill rotWithShape="1">
                <a:blip r:embed="rId1"/>
                <a:stretch>
                  <a:fillRect l="-26" t="-327" r="13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806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533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8"/>
              <p:cNvSpPr txBox="1"/>
              <p:nvPr/>
            </p:nvSpPr>
            <p:spPr bwMode="auto">
              <a:xfrm>
                <a:off x="6038948" y="4149224"/>
                <a:ext cx="2158902" cy="975504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8948" y="4149224"/>
                <a:ext cx="2158902" cy="975504"/>
              </a:xfrm>
              <a:prstGeom prst="rect">
                <a:avLst/>
              </a:prstGeom>
              <a:blipFill rotWithShape="1">
                <a:blip r:embed="rId2"/>
                <a:stretch>
                  <a:fillRect l="-5" t="-1706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0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80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8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839788" y="949591"/>
            <a:ext cx="3198311" cy="4924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26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 </a:t>
            </a:r>
            <a:r>
              <a:rPr kumimoji="1" lang="zh-CN" altLang="en-US" sz="2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任意进制数的表示</a:t>
            </a:r>
            <a:endParaRPr kumimoji="1" lang="zh-CN" altLang="en-US" sz="26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8" name="Text Box 20"/>
          <p:cNvSpPr txBox="1"/>
          <p:nvPr/>
        </p:nvSpPr>
        <p:spPr>
          <a:xfrm>
            <a:off x="1096963" y="1451148"/>
            <a:ext cx="5595937" cy="20682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15000"/>
              </a:spcBef>
              <a:spcAft>
                <a:spcPct val="1000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对于任意一个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</a:rPr>
              <a:t>进制数</a:t>
            </a:r>
            <a:r>
              <a:rPr lang="en-US" altLang="zh-CN" sz="2400" b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15000"/>
              </a:spcBef>
              <a:spcAft>
                <a:spcPct val="1000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  用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位置记数法</a:t>
            </a:r>
            <a:r>
              <a:rPr lang="zh-CN" altLang="en-US" sz="2400" b="1" dirty="0">
                <a:latin typeface="Times New Roman" panose="02020603050405020304" pitchFamily="18" charset="0"/>
              </a:rPr>
              <a:t>可表示为：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fontAlgn="base"/>
            <a:endParaRPr lang="zh-CN" altLang="en-US" sz="2400" b="1" dirty="0">
              <a:latin typeface="Times New Roman" panose="02020603050405020304" pitchFamily="18" charset="0"/>
            </a:endParaRPr>
          </a:p>
          <a:p>
            <a:pPr fontAlgn="base"/>
            <a:endParaRPr lang="zh-CN" altLang="en-US" sz="2400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z="2400" b="1" dirty="0">
                <a:latin typeface="Times New Roman" panose="02020603050405020304" pitchFamily="18" charset="0"/>
              </a:rPr>
              <a:t>  用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权展开式</a:t>
            </a:r>
            <a:r>
              <a:rPr lang="zh-CN" altLang="en-US" sz="2400" b="1" dirty="0">
                <a:latin typeface="Times New Roman" panose="02020603050405020304" pitchFamily="18" charset="0"/>
              </a:rPr>
              <a:t>可表示为：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2310" name="Text Box 22"/>
          <p:cNvSpPr txBox="1"/>
          <p:nvPr/>
        </p:nvSpPr>
        <p:spPr>
          <a:xfrm>
            <a:off x="1592513" y="3453360"/>
            <a:ext cx="7118350" cy="137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952500" indent="-952500" fontAlgn="base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r</a:t>
            </a:r>
            <a:r>
              <a:rPr lang="en-US" altLang="zh-CN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r</a:t>
            </a:r>
            <a:r>
              <a:rPr lang="en-US" altLang="zh-CN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-2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+…+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r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r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     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-1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 r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r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+…+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-m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r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-m</a:t>
            </a:r>
            <a:endParaRPr lang="en-US" altLang="zh-CN" b="1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11" name="Object 23"/>
              <p:cNvSpPr txBox="1"/>
              <p:nvPr/>
            </p:nvSpPr>
            <p:spPr>
              <a:xfrm>
                <a:off x="2378618" y="4820783"/>
                <a:ext cx="2178050" cy="98583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Σ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/>
                      </m:nary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31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618" y="4820783"/>
                <a:ext cx="2178050" cy="985837"/>
              </a:xfrm>
              <a:prstGeom prst="rect">
                <a:avLst/>
              </a:prstGeom>
              <a:blipFill rotWithShape="1">
                <a:blip r:embed="rId1"/>
                <a:stretch>
                  <a:fillRect l="-25" t="-51" r="25" b="18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12" name="Text Box 24"/>
          <p:cNvSpPr txBox="1"/>
          <p:nvPr/>
        </p:nvSpPr>
        <p:spPr>
          <a:xfrm>
            <a:off x="1592513" y="2397051"/>
            <a:ext cx="5678487" cy="561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lnSpc>
                <a:spcPct val="11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 r</a:t>
            </a:r>
            <a:r>
              <a:rPr lang="en-US" altLang="zh-CN" b="1" dirty="0">
                <a:latin typeface="Times New Roman" panose="02020603050405020304" pitchFamily="18" charset="0"/>
              </a:rPr>
              <a:t>=(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-2 </a:t>
            </a:r>
            <a:r>
              <a:rPr lang="en-US" altLang="zh-CN" b="1" dirty="0">
                <a:latin typeface="Times New Roman" panose="02020603050405020304" pitchFamily="18" charset="0"/>
              </a:rPr>
              <a:t>…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latin typeface="Times New Roman" panose="02020603050405020304" pitchFamily="18" charset="0"/>
              </a:rPr>
              <a:t>…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-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2313" name="Text Box 25"/>
          <p:cNvSpPr txBox="1"/>
          <p:nvPr/>
        </p:nvSpPr>
        <p:spPr>
          <a:xfrm>
            <a:off x="343486" y="5869087"/>
            <a:ext cx="8650287" cy="52084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其中，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=0,1,…,</a:t>
            </a:r>
            <a:r>
              <a:rPr lang="zh-CN" altLang="en-US" sz="2400" b="1" dirty="0">
                <a:latin typeface="Times New Roman" panose="02020603050405020304" pitchFamily="18" charset="0"/>
              </a:rPr>
              <a:t>或</a:t>
            </a:r>
            <a:r>
              <a:rPr lang="en-US" altLang="zh-CN" sz="2400" b="1" dirty="0">
                <a:latin typeface="Times New Roman" panose="02020603050405020304" pitchFamily="18" charset="0"/>
              </a:rPr>
              <a:t>r-1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dirty="0">
                <a:latin typeface="Times New Roman" panose="02020603050405020304" pitchFamily="18" charset="0"/>
              </a:rPr>
              <a:t>为整数部分的位数,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为小数部分的位数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08155" y="401373"/>
            <a:ext cx="5896392" cy="5275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defRPr/>
            </a:pPr>
            <a:r>
              <a:rPr kumimoji="1" lang="en-US" altLang="zh-CN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2.1.2 </a:t>
            </a:r>
            <a:r>
              <a:rPr kumimoji="1"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二进制数</a:t>
            </a:r>
            <a:endParaRPr kumimoji="1" lang="zh-CN" altLang="en-US" b="1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2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2310" grpId="0" build="allAtOnce"/>
      <p:bldP spid="12312" grpId="0" build="p"/>
      <p:bldP spid="123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8" name="Text Box 20"/>
          <p:cNvSpPr txBox="1"/>
          <p:nvPr/>
        </p:nvSpPr>
        <p:spPr>
          <a:xfrm>
            <a:off x="1014412" y="1280464"/>
            <a:ext cx="7326313" cy="320087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Times New Roman" panose="02020603050405020304" pitchFamily="18" charset="0"/>
              </a:rPr>
              <a:t>其他常用计数制：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八进制：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特点：有</a:t>
            </a:r>
            <a:r>
              <a:rPr lang="en-US" altLang="zh-CN" sz="2400" b="1" dirty="0">
                <a:latin typeface="Times New Roman" panose="02020603050405020304" pitchFamily="18" charset="0"/>
              </a:rPr>
              <a:t>0—7</a:t>
            </a:r>
            <a:r>
              <a:rPr lang="zh-CN" altLang="en-US" sz="2400" b="1" dirty="0">
                <a:latin typeface="Times New Roman" panose="02020603050405020304" pitchFamily="18" charset="0"/>
              </a:rPr>
              <a:t>共</a:t>
            </a:r>
            <a:r>
              <a:rPr lang="en-US" altLang="zh-CN" sz="2400" b="1" dirty="0">
                <a:latin typeface="Times New Roman" panose="02020603050405020304" pitchFamily="18" charset="0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</a:rPr>
              <a:t>个数字符号，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  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逢</a:t>
            </a:r>
            <a:r>
              <a:rPr lang="en-US" altLang="zh-CN" sz="2400" b="1" dirty="0">
                <a:latin typeface="Times New Roman" panose="02020603050405020304" pitchFamily="18" charset="0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</a:rPr>
              <a:t>进位。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数后面加</a:t>
            </a:r>
            <a:r>
              <a:rPr lang="en-US" altLang="zh-CN" sz="2400" b="1" dirty="0">
                <a:latin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十六进制：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特点：有</a:t>
            </a:r>
            <a:r>
              <a:rPr lang="en-US" altLang="zh-CN" sz="2400" b="1" dirty="0">
                <a:latin typeface="Times New Roman" panose="02020603050405020304" pitchFamily="18" charset="0"/>
              </a:rPr>
              <a:t>0--9</a:t>
            </a:r>
            <a:r>
              <a:rPr lang="zh-CN" altLang="en-US" sz="2400" b="1" dirty="0">
                <a:latin typeface="Times New Roman" panose="02020603050405020304" pitchFamily="18" charset="0"/>
              </a:rPr>
              <a:t>及</a:t>
            </a:r>
            <a:r>
              <a:rPr lang="en-US" altLang="zh-CN" sz="2400" b="1" dirty="0">
                <a:latin typeface="Times New Roman" panose="02020603050405020304" pitchFamily="18" charset="0"/>
              </a:rPr>
              <a:t>A--F</a:t>
            </a:r>
            <a:r>
              <a:rPr lang="zh-CN" altLang="en-US" sz="2400" b="1" dirty="0">
                <a:latin typeface="Times New Roman" panose="02020603050405020304" pitchFamily="18" charset="0"/>
              </a:rPr>
              <a:t>共</a:t>
            </a:r>
            <a:r>
              <a:rPr lang="en-US" altLang="zh-CN" sz="2400" b="1" dirty="0">
                <a:latin typeface="Times New Roman" panose="02020603050405020304" pitchFamily="18" charset="0"/>
              </a:rPr>
              <a:t>16</a:t>
            </a:r>
            <a:r>
              <a:rPr lang="zh-CN" altLang="en-US" sz="2400" b="1" dirty="0">
                <a:latin typeface="Times New Roman" panose="02020603050405020304" pitchFamily="18" charset="0"/>
              </a:rPr>
              <a:t>个数字符号，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   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逢</a:t>
            </a:r>
            <a:r>
              <a:rPr lang="en-US" altLang="zh-CN" sz="2400" b="1" dirty="0">
                <a:latin typeface="Times New Roman" panose="02020603050405020304" pitchFamily="18" charset="0"/>
              </a:rPr>
              <a:t>16</a:t>
            </a:r>
            <a:r>
              <a:rPr lang="zh-CN" altLang="en-US" sz="2400" b="1" dirty="0">
                <a:latin typeface="Times New Roman" panose="02020603050405020304" pitchFamily="18" charset="0"/>
              </a:rPr>
              <a:t>进位。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数后面加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182688" y="4327525"/>
            <a:ext cx="6989763" cy="226695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fontAlgn="base" hangingPunct="0">
              <a:lnSpc>
                <a:spcPct val="130000"/>
              </a:lnSpc>
              <a:spcBef>
                <a:spcPts val="0"/>
              </a:spcBef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例：</a:t>
            </a:r>
            <a:r>
              <a:rPr kumimoji="0" lang="en-US" altLang="zh-CN" sz="2400" b="1" kern="0" cap="none" spc="0" normalizeH="0" baseline="0" noProof="0" dirty="0">
                <a:latin typeface="+mn-lt"/>
                <a:ea typeface="+mn-ea"/>
                <a:cs typeface="+mn-cs"/>
              </a:rPr>
              <a:t>234.98 </a:t>
            </a: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或 </a:t>
            </a:r>
            <a:r>
              <a:rPr kumimoji="0" lang="en-US" altLang="zh-CN" sz="2400" b="1" kern="0" cap="none" spc="0" normalizeH="0" baseline="0" noProof="0" dirty="0">
                <a:latin typeface="+mn-lt"/>
                <a:ea typeface="+mn-ea"/>
                <a:cs typeface="+mn-cs"/>
              </a:rPr>
              <a:t>(234.98)</a:t>
            </a:r>
            <a:r>
              <a:rPr kumimoji="0" lang="en-US" altLang="zh-CN" sz="2400" b="1" kern="0" cap="none" spc="0" normalizeH="0" baseline="-25000" noProof="0" dirty="0">
                <a:latin typeface="+mn-lt"/>
                <a:ea typeface="+mn-ea"/>
                <a:cs typeface="+mn-cs"/>
              </a:rPr>
              <a:t>10</a:t>
            </a:r>
            <a:endParaRPr kumimoji="0" lang="en-US" altLang="zh-CN" sz="2400" b="1" kern="0" cap="none" spc="0" normalizeH="0" baseline="-2500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130000"/>
              </a:lnSpc>
              <a:spcBef>
                <a:spcPts val="0"/>
              </a:spcBef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kern="0" cap="none" spc="0" normalizeH="0" baseline="0" noProof="0" dirty="0">
                <a:latin typeface="+mn-lt"/>
                <a:ea typeface="+mn-ea"/>
                <a:cs typeface="+mn-cs"/>
              </a:rPr>
              <a:t>       1101.11B </a:t>
            </a: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或 </a:t>
            </a:r>
            <a:r>
              <a:rPr kumimoji="0" lang="en-US" altLang="zh-CN" sz="2400" b="1" kern="0" cap="none" spc="0" normalizeH="0" baseline="0" noProof="0" dirty="0">
                <a:latin typeface="+mn-lt"/>
                <a:ea typeface="+mn-ea"/>
                <a:cs typeface="+mn-cs"/>
              </a:rPr>
              <a:t>(1101.11)</a:t>
            </a:r>
            <a:r>
              <a:rPr kumimoji="0" lang="en-US" altLang="zh-CN" sz="2400" b="1" kern="0" cap="none" spc="0" normalizeH="0" baseline="-25000" noProof="0" dirty="0">
                <a:latin typeface="+mn-lt"/>
                <a:ea typeface="+mn-ea"/>
                <a:cs typeface="+mn-cs"/>
              </a:rPr>
              <a:t>2</a:t>
            </a:r>
            <a:endParaRPr kumimoji="0" lang="en-US" altLang="zh-CN" sz="2400" b="1" kern="0" cap="none" spc="0" normalizeH="0" baseline="-2500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130000"/>
              </a:lnSpc>
              <a:spcBef>
                <a:spcPts val="0"/>
              </a:spcBef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kern="0" cap="none" spc="0" normalizeH="0" baseline="0" noProof="0" dirty="0">
                <a:cs typeface="+mn-cs"/>
              </a:rPr>
              <a:t>        </a:t>
            </a:r>
            <a:r>
              <a:rPr kumimoji="0" lang="en-US" altLang="zh-CN" sz="2400" b="1" kern="0" cap="none" spc="0" normalizeH="0" baseline="0" noProof="0" dirty="0">
                <a:latin typeface="+mn-lt"/>
                <a:ea typeface="+mn-ea"/>
                <a:cs typeface="+mn-cs"/>
              </a:rPr>
              <a:t>725O </a:t>
            </a: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或 </a:t>
            </a:r>
            <a:r>
              <a:rPr kumimoji="0" lang="en-US" altLang="zh-CN" sz="2400" b="1" kern="0" cap="none" spc="0" normalizeH="0" baseline="0" noProof="0" dirty="0">
                <a:latin typeface="+mn-lt"/>
                <a:ea typeface="+mn-ea"/>
                <a:cs typeface="+mn-cs"/>
              </a:rPr>
              <a:t>(725)</a:t>
            </a:r>
            <a:r>
              <a:rPr kumimoji="0" lang="en-US" altLang="zh-CN" sz="2400" b="1" kern="0" cap="none" spc="0" normalizeH="0" baseline="-25000" noProof="0" dirty="0">
                <a:latin typeface="+mn-lt"/>
                <a:ea typeface="+mn-ea"/>
                <a:cs typeface="+mn-cs"/>
              </a:rPr>
              <a:t>8</a:t>
            </a:r>
            <a:endParaRPr kumimoji="0" lang="en-US" altLang="zh-CN" sz="2400" b="1" kern="0" cap="none" spc="0" normalizeH="0" baseline="-2500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130000"/>
              </a:lnSpc>
              <a:spcBef>
                <a:spcPts val="0"/>
              </a:spcBef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kern="0" cap="none" spc="0" normalizeH="0" baseline="0" noProof="0" dirty="0">
                <a:latin typeface="+mn-lt"/>
                <a:ea typeface="+mn-ea"/>
                <a:cs typeface="+mn-cs"/>
              </a:rPr>
              <a:t>       ABCD . BFH </a:t>
            </a: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或 </a:t>
            </a:r>
            <a:r>
              <a:rPr kumimoji="0" lang="en-US" altLang="zh-CN" sz="2400" b="1" kern="0" cap="none" spc="0" normalizeH="0" baseline="0" noProof="0" dirty="0">
                <a:latin typeface="+mn-lt"/>
                <a:ea typeface="+mn-ea"/>
                <a:cs typeface="+mn-cs"/>
              </a:rPr>
              <a:t>(ABCD . BF)</a:t>
            </a:r>
            <a:r>
              <a:rPr kumimoji="0" lang="en-US" altLang="zh-CN" sz="2400" b="1" kern="0" cap="none" spc="0" normalizeH="0" baseline="-25000" noProof="0" dirty="0">
                <a:latin typeface="+mn-lt"/>
                <a:ea typeface="+mn-ea"/>
                <a:cs typeface="+mn-cs"/>
              </a:rPr>
              <a:t>16</a:t>
            </a:r>
            <a:endParaRPr kumimoji="0" lang="en-US" altLang="zh-CN" sz="2400" kern="0" cap="none" spc="0" normalizeH="0" baseline="-2500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08155" y="401373"/>
            <a:ext cx="5896392" cy="5275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defRPr/>
            </a:pPr>
            <a:r>
              <a:rPr kumimoji="1" lang="en-US" altLang="zh-CN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2.1.3 </a:t>
            </a:r>
            <a:r>
              <a:rPr kumimoji="1"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八进制数和十六进制数</a:t>
            </a:r>
            <a:endParaRPr kumimoji="1" lang="zh-CN" altLang="en-US" b="1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722313" y="1110589"/>
            <a:ext cx="412805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二进制数和十进制数的转换</a:t>
            </a:r>
            <a:endParaRPr kumimoji="1" lang="zh-CN" altLang="en-US" sz="24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872997" y="1708597"/>
            <a:ext cx="3427541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）二进制数十进制数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280" name="Text Box 16"/>
          <p:cNvSpPr txBox="1"/>
          <p:nvPr/>
        </p:nvSpPr>
        <p:spPr>
          <a:xfrm>
            <a:off x="1036638" y="2322017"/>
            <a:ext cx="65278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buChar char="•"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按权展开式在</a:t>
            </a:r>
            <a:r>
              <a:rPr lang="zh-CN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十进制数域中计算</a:t>
            </a:r>
            <a:endParaRPr lang="zh-CN" altLang="en-US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1281" name="Text Box 17"/>
          <p:cNvSpPr txBox="1"/>
          <p:nvPr/>
        </p:nvSpPr>
        <p:spPr>
          <a:xfrm>
            <a:off x="1193800" y="3005138"/>
            <a:ext cx="125095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2400" dirty="0">
                <a:latin typeface="Times New Roman" panose="02020603050405020304" pitchFamily="18" charset="0"/>
              </a:rPr>
              <a:t>例如：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08155" y="401373"/>
            <a:ext cx="5896392" cy="5275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fontAlgn="base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defRPr/>
            </a:pPr>
            <a:r>
              <a:rPr kumimoji="1" lang="en-US" altLang="zh-CN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2.1.4 </a:t>
            </a:r>
            <a:r>
              <a:rPr kumimoji="1"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数制间的转换</a:t>
            </a:r>
            <a:endParaRPr kumimoji="1" lang="zh-CN" altLang="en-US" b="1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720" y="3429635"/>
            <a:ext cx="6910070" cy="5784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880" y="3937000"/>
            <a:ext cx="3162935" cy="56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4747895"/>
            <a:ext cx="3380740" cy="4419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5375275"/>
            <a:ext cx="2134870" cy="53086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11279" grpId="0" advAuto="1000" build="p"/>
      <p:bldP spid="11280" grpId="0" build="p"/>
      <p:bldP spid="1128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762000" y="914400"/>
            <a:ext cx="39274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、十进制数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二进制数</a:t>
            </a:r>
            <a:endParaRPr kumimoji="1" lang="zh-CN" altLang="en-US" b="1" kern="1200" cap="none" spc="0" normalizeH="0" baseline="0" noProof="0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6" name="Text Box 8"/>
          <p:cNvSpPr txBox="1"/>
          <p:nvPr/>
        </p:nvSpPr>
        <p:spPr>
          <a:xfrm>
            <a:off x="1100138" y="1608138"/>
            <a:ext cx="43561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buChar char="•"/>
            </a:pPr>
            <a:r>
              <a:rPr lang="en-US" altLang="zh-CN" b="1" i="1" dirty="0">
                <a:latin typeface="Times New Roman" panose="02020603050405020304" pitchFamily="18" charset="0"/>
              </a:rPr>
              <a:t>  </a:t>
            </a:r>
            <a:r>
              <a:rPr lang="zh-CN" altLang="en-US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整数部分：除</a:t>
            </a:r>
            <a:r>
              <a:rPr lang="en-US" altLang="zh-CN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取余法</a:t>
            </a:r>
            <a:endParaRPr lang="zh-CN" altLang="en-US" b="1" i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7" name="Text Box 9"/>
          <p:cNvSpPr txBox="1"/>
          <p:nvPr/>
        </p:nvSpPr>
        <p:spPr>
          <a:xfrm>
            <a:off x="1514475" y="2270125"/>
            <a:ext cx="49926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例：将</a:t>
            </a:r>
            <a:r>
              <a:rPr lang="en-US" altLang="zh-CN" b="1" dirty="0">
                <a:latin typeface="Times New Roman" panose="02020603050405020304" pitchFamily="18" charset="0"/>
              </a:rPr>
              <a:t>(58)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</a:rPr>
              <a:t>转换成二进制形式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129" name="矩形 9"/>
          <p:cNvSpPr/>
          <p:nvPr/>
        </p:nvSpPr>
        <p:spPr>
          <a:xfrm>
            <a:off x="1657350" y="4999038"/>
            <a:ext cx="24923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两边除以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，得：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355" y="2939415"/>
            <a:ext cx="6031865" cy="18510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55" y="5423535"/>
            <a:ext cx="5798820" cy="74866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 build="p"/>
      <p:bldP spid="12297" grpId="0" build="p"/>
      <p:bldP spid="51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/>
          <p:nvPr/>
        </p:nvSpPr>
        <p:spPr>
          <a:xfrm>
            <a:off x="925513" y="2205038"/>
            <a:ext cx="72294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两数相等，整数部分和小数部分必须相等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z="2400" b="1" dirty="0">
                <a:latin typeface="Times New Roman" panose="02020603050405020304" pitchFamily="18" charset="0"/>
              </a:rPr>
              <a:t>可得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o</a:t>
            </a:r>
            <a:r>
              <a:rPr lang="en-US" altLang="zh-CN" sz="2400" b="1" dirty="0">
                <a:latin typeface="Times New Roman" panose="02020603050405020304" pitchFamily="18" charset="0"/>
              </a:rPr>
              <a:t>=0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317" name="Text Box 5"/>
          <p:cNvSpPr txBox="1"/>
          <p:nvPr/>
        </p:nvSpPr>
        <p:spPr>
          <a:xfrm>
            <a:off x="1028700" y="4391025"/>
            <a:ext cx="45196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2400" b="1" dirty="0">
                <a:latin typeface="Times New Roman" panose="02020603050405020304" pitchFamily="18" charset="0"/>
              </a:rPr>
              <a:t>可得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=1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318" name="Text Box 6"/>
          <p:cNvSpPr txBox="1"/>
          <p:nvPr/>
        </p:nvSpPr>
        <p:spPr>
          <a:xfrm rot="5400000">
            <a:off x="2381250" y="489585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3319" name="Text Box 7"/>
          <p:cNvSpPr txBox="1"/>
          <p:nvPr/>
        </p:nvSpPr>
        <p:spPr>
          <a:xfrm>
            <a:off x="1042988" y="5332413"/>
            <a:ext cx="54657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2400" b="1" dirty="0">
                <a:latin typeface="Times New Roman" panose="02020603050405020304" pitchFamily="18" charset="0"/>
              </a:rPr>
              <a:t>于是，可得：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(58)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 </a:t>
            </a:r>
            <a:r>
              <a:rPr lang="en-US" altLang="zh-CN" sz="2400" b="1" dirty="0">
                <a:latin typeface="Times New Roman" panose="02020603050405020304" pitchFamily="18" charset="0"/>
              </a:rPr>
              <a:t>= (111010)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3372928" y="1677988"/>
            <a:ext cx="3296160" cy="12700"/>
          </a:xfrm>
          <a:prstGeom prst="line">
            <a:avLst/>
          </a:prstGeom>
          <a:ln w="22225"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873875" y="1677988"/>
            <a:ext cx="538163" cy="1588"/>
          </a:xfrm>
          <a:prstGeom prst="line">
            <a:avLst/>
          </a:prstGeom>
          <a:ln w="22225">
            <a:solidFill>
              <a:srgbClr val="FF33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54" name="矩形 16"/>
          <p:cNvSpPr/>
          <p:nvPr/>
        </p:nvSpPr>
        <p:spPr>
          <a:xfrm>
            <a:off x="3985135" y="1782762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整数部分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5" name="矩形 17"/>
          <p:cNvSpPr/>
          <p:nvPr/>
        </p:nvSpPr>
        <p:spPr>
          <a:xfrm>
            <a:off x="6854825" y="1760538"/>
            <a:ext cx="1420813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小数部分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3"/>
          <p:cNvSpPr txBox="1"/>
          <p:nvPr/>
        </p:nvSpPr>
        <p:spPr>
          <a:xfrm>
            <a:off x="927100" y="3089275"/>
            <a:ext cx="64595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上式两边继续同时除以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2: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410" y="919480"/>
            <a:ext cx="5048250" cy="762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542030"/>
            <a:ext cx="5903595" cy="70421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13317" grpId="0" build="p"/>
      <p:bldP spid="13318" grpId="0"/>
      <p:bldP spid="13319" grpId="0" build="p"/>
      <p:bldP spid="6154" grpId="0"/>
      <p:bldP spid="6155" grpId="0"/>
      <p:bldP spid="1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/>
          <p:nvPr/>
        </p:nvSpPr>
        <p:spPr>
          <a:xfrm>
            <a:off x="409575" y="742950"/>
            <a:ext cx="7956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Char char="•"/>
            </a:pP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短除法：先求出的余数为低位。</a:t>
            </a:r>
            <a:endParaRPr lang="zh-CN" altLang="en-US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合 81"/>
          <p:cNvGrpSpPr/>
          <p:nvPr/>
        </p:nvGrpSpPr>
        <p:grpSpPr>
          <a:xfrm>
            <a:off x="1589088" y="2241550"/>
            <a:ext cx="1304925" cy="515938"/>
            <a:chOff x="1588545" y="2242274"/>
            <a:chExt cx="1305469" cy="515937"/>
          </a:xfrm>
        </p:grpSpPr>
        <p:sp>
          <p:nvSpPr>
            <p:cNvPr id="49194" name="Text Box 18"/>
            <p:cNvSpPr txBox="1"/>
            <p:nvPr/>
          </p:nvSpPr>
          <p:spPr>
            <a:xfrm>
              <a:off x="2220913" y="2242274"/>
              <a:ext cx="609600" cy="46196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58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9195" name="Text Box 23"/>
            <p:cNvSpPr txBox="1"/>
            <p:nvPr/>
          </p:nvSpPr>
          <p:spPr>
            <a:xfrm>
              <a:off x="1588545" y="2286032"/>
              <a:ext cx="476923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9196" name="Group 43"/>
            <p:cNvGrpSpPr/>
            <p:nvPr/>
          </p:nvGrpSpPr>
          <p:grpSpPr>
            <a:xfrm>
              <a:off x="2117726" y="2259736"/>
              <a:ext cx="776288" cy="498475"/>
              <a:chOff x="1234" y="3622"/>
              <a:chExt cx="734" cy="314"/>
            </a:xfrm>
          </p:grpSpPr>
          <p:sp>
            <p:nvSpPr>
              <p:cNvPr id="49197" name="Line 44"/>
              <p:cNvSpPr/>
              <p:nvPr/>
            </p:nvSpPr>
            <p:spPr>
              <a:xfrm>
                <a:off x="1248" y="3936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8" name="Line 45"/>
              <p:cNvSpPr/>
              <p:nvPr/>
            </p:nvSpPr>
            <p:spPr>
              <a:xfrm flipH="1" flipV="1">
                <a:off x="1234" y="3622"/>
                <a:ext cx="14" cy="31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92"/>
          <p:cNvGrpSpPr/>
          <p:nvPr/>
        </p:nvGrpSpPr>
        <p:grpSpPr>
          <a:xfrm>
            <a:off x="2206625" y="2767013"/>
            <a:ext cx="776288" cy="498475"/>
            <a:chOff x="2207108" y="2766506"/>
            <a:chExt cx="776344" cy="499106"/>
          </a:xfrm>
        </p:grpSpPr>
        <p:sp>
          <p:nvSpPr>
            <p:cNvPr id="49192" name="Line 44"/>
            <p:cNvSpPr/>
            <p:nvPr/>
          </p:nvSpPr>
          <p:spPr>
            <a:xfrm>
              <a:off x="2221452" y="3265612"/>
              <a:ext cx="7620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3" name="Line 45"/>
            <p:cNvSpPr/>
            <p:nvPr/>
          </p:nvSpPr>
          <p:spPr>
            <a:xfrm flipH="1" flipV="1">
              <a:off x="2207108" y="2766506"/>
              <a:ext cx="14344" cy="4991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93"/>
          <p:cNvGrpSpPr/>
          <p:nvPr/>
        </p:nvGrpSpPr>
        <p:grpSpPr>
          <a:xfrm>
            <a:off x="2282825" y="3271838"/>
            <a:ext cx="776288" cy="500062"/>
            <a:chOff x="2282414" y="3272116"/>
            <a:chExt cx="776344" cy="499106"/>
          </a:xfrm>
        </p:grpSpPr>
        <p:sp>
          <p:nvSpPr>
            <p:cNvPr id="49190" name="Line 44"/>
            <p:cNvSpPr/>
            <p:nvPr/>
          </p:nvSpPr>
          <p:spPr>
            <a:xfrm>
              <a:off x="2296758" y="3771222"/>
              <a:ext cx="7620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1" name="Line 45"/>
            <p:cNvSpPr/>
            <p:nvPr/>
          </p:nvSpPr>
          <p:spPr>
            <a:xfrm flipH="1" flipV="1">
              <a:off x="2282414" y="3272116"/>
              <a:ext cx="14344" cy="4991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组合 96"/>
          <p:cNvGrpSpPr/>
          <p:nvPr/>
        </p:nvGrpSpPr>
        <p:grpSpPr>
          <a:xfrm>
            <a:off x="2400300" y="3778250"/>
            <a:ext cx="776288" cy="498475"/>
            <a:chOff x="2400747" y="3766969"/>
            <a:chExt cx="776344" cy="499106"/>
          </a:xfrm>
        </p:grpSpPr>
        <p:sp>
          <p:nvSpPr>
            <p:cNvPr id="49188" name="Line 44"/>
            <p:cNvSpPr/>
            <p:nvPr/>
          </p:nvSpPr>
          <p:spPr>
            <a:xfrm>
              <a:off x="2415091" y="4266075"/>
              <a:ext cx="7620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9" name="Line 45"/>
            <p:cNvSpPr/>
            <p:nvPr/>
          </p:nvSpPr>
          <p:spPr>
            <a:xfrm flipH="1" flipV="1">
              <a:off x="2400747" y="3766969"/>
              <a:ext cx="14344" cy="4991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99"/>
          <p:cNvGrpSpPr/>
          <p:nvPr/>
        </p:nvGrpSpPr>
        <p:grpSpPr>
          <a:xfrm>
            <a:off x="2476500" y="4283075"/>
            <a:ext cx="776288" cy="500063"/>
            <a:chOff x="2476051" y="4272578"/>
            <a:chExt cx="776344" cy="499106"/>
          </a:xfrm>
        </p:grpSpPr>
        <p:sp>
          <p:nvSpPr>
            <p:cNvPr id="49186" name="Line 44"/>
            <p:cNvSpPr/>
            <p:nvPr/>
          </p:nvSpPr>
          <p:spPr>
            <a:xfrm>
              <a:off x="2490395" y="4771684"/>
              <a:ext cx="7620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7" name="Line 45"/>
            <p:cNvSpPr/>
            <p:nvPr/>
          </p:nvSpPr>
          <p:spPr>
            <a:xfrm flipH="1" flipV="1">
              <a:off x="2476051" y="4272578"/>
              <a:ext cx="14344" cy="4991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102"/>
          <p:cNvGrpSpPr/>
          <p:nvPr/>
        </p:nvGrpSpPr>
        <p:grpSpPr>
          <a:xfrm>
            <a:off x="2562225" y="4789488"/>
            <a:ext cx="776288" cy="498475"/>
            <a:chOff x="2562113" y="4788945"/>
            <a:chExt cx="776344" cy="499106"/>
          </a:xfrm>
        </p:grpSpPr>
        <p:sp>
          <p:nvSpPr>
            <p:cNvPr id="49184" name="Line 44"/>
            <p:cNvSpPr/>
            <p:nvPr/>
          </p:nvSpPr>
          <p:spPr>
            <a:xfrm>
              <a:off x="2576457" y="5288051"/>
              <a:ext cx="7620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5" name="Line 45"/>
            <p:cNvSpPr/>
            <p:nvPr/>
          </p:nvSpPr>
          <p:spPr>
            <a:xfrm flipH="1" flipV="1">
              <a:off x="2562113" y="4788945"/>
              <a:ext cx="14344" cy="4991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65" name="Text Box 23"/>
          <p:cNvSpPr txBox="1"/>
          <p:nvPr/>
        </p:nvSpPr>
        <p:spPr>
          <a:xfrm>
            <a:off x="1751013" y="2825750"/>
            <a:ext cx="47783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66" name="Text Box 23"/>
          <p:cNvSpPr txBox="1"/>
          <p:nvPr/>
        </p:nvSpPr>
        <p:spPr>
          <a:xfrm>
            <a:off x="1838325" y="3309938"/>
            <a:ext cx="4762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67" name="Text Box 23"/>
          <p:cNvSpPr txBox="1"/>
          <p:nvPr/>
        </p:nvSpPr>
        <p:spPr>
          <a:xfrm>
            <a:off x="1979613" y="3817938"/>
            <a:ext cx="476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68" name="Text Box 23"/>
          <p:cNvSpPr txBox="1"/>
          <p:nvPr/>
        </p:nvSpPr>
        <p:spPr>
          <a:xfrm>
            <a:off x="2097088" y="4311650"/>
            <a:ext cx="47783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69" name="Text Box 23"/>
          <p:cNvSpPr txBox="1"/>
          <p:nvPr/>
        </p:nvSpPr>
        <p:spPr>
          <a:xfrm>
            <a:off x="2205038" y="4849813"/>
            <a:ext cx="47783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0" name="Text Box 18"/>
          <p:cNvSpPr txBox="1"/>
          <p:nvPr/>
        </p:nvSpPr>
        <p:spPr>
          <a:xfrm>
            <a:off x="2351088" y="2781300"/>
            <a:ext cx="609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29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1" name="Text Box 18"/>
          <p:cNvSpPr txBox="1"/>
          <p:nvPr/>
        </p:nvSpPr>
        <p:spPr>
          <a:xfrm>
            <a:off x="2405063" y="3287713"/>
            <a:ext cx="609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14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2" name="Text Box 18"/>
          <p:cNvSpPr txBox="1"/>
          <p:nvPr/>
        </p:nvSpPr>
        <p:spPr>
          <a:xfrm>
            <a:off x="2598738" y="3836988"/>
            <a:ext cx="609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7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3" name="Text Box 18"/>
          <p:cNvSpPr txBox="1"/>
          <p:nvPr/>
        </p:nvSpPr>
        <p:spPr>
          <a:xfrm>
            <a:off x="2706688" y="4341813"/>
            <a:ext cx="609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4" name="Text Box 18"/>
          <p:cNvSpPr txBox="1"/>
          <p:nvPr/>
        </p:nvSpPr>
        <p:spPr>
          <a:xfrm>
            <a:off x="2782888" y="4857750"/>
            <a:ext cx="609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5" name="Text Box 18"/>
          <p:cNvSpPr txBox="1"/>
          <p:nvPr/>
        </p:nvSpPr>
        <p:spPr>
          <a:xfrm>
            <a:off x="3213100" y="2319338"/>
            <a:ext cx="75723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…0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6" name="Text Box 18"/>
          <p:cNvSpPr txBox="1"/>
          <p:nvPr/>
        </p:nvSpPr>
        <p:spPr>
          <a:xfrm>
            <a:off x="3235325" y="2762250"/>
            <a:ext cx="7572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…1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7" name="Text Box 18"/>
          <p:cNvSpPr txBox="1"/>
          <p:nvPr/>
        </p:nvSpPr>
        <p:spPr>
          <a:xfrm>
            <a:off x="3257550" y="3246438"/>
            <a:ext cx="75723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…0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8" name="Text Box 18"/>
          <p:cNvSpPr txBox="1"/>
          <p:nvPr/>
        </p:nvSpPr>
        <p:spPr>
          <a:xfrm>
            <a:off x="3279775" y="3786188"/>
            <a:ext cx="75723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…1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79" name="Text Box 18"/>
          <p:cNvSpPr txBox="1"/>
          <p:nvPr/>
        </p:nvSpPr>
        <p:spPr>
          <a:xfrm>
            <a:off x="3290888" y="4335463"/>
            <a:ext cx="7572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…1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80" name="Text Box 18"/>
          <p:cNvSpPr txBox="1"/>
          <p:nvPr/>
        </p:nvSpPr>
        <p:spPr>
          <a:xfrm>
            <a:off x="3324225" y="4905375"/>
            <a:ext cx="7572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…1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81" name="Text Box 18"/>
          <p:cNvSpPr txBox="1"/>
          <p:nvPr/>
        </p:nvSpPr>
        <p:spPr>
          <a:xfrm>
            <a:off x="2506663" y="5270500"/>
            <a:ext cx="75723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082" name="Text Box 18"/>
          <p:cNvSpPr txBox="1"/>
          <p:nvPr/>
        </p:nvSpPr>
        <p:spPr>
          <a:xfrm>
            <a:off x="3246438" y="1773238"/>
            <a:ext cx="757237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余数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123" name="直接箭头连接符 122"/>
          <p:cNvCxnSpPr/>
          <p:nvPr/>
        </p:nvCxnSpPr>
        <p:spPr>
          <a:xfrm rot="16200000" flipV="1">
            <a:off x="3011488" y="3657600"/>
            <a:ext cx="3163888" cy="4286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84" name="Text Box 18"/>
          <p:cNvSpPr txBox="1"/>
          <p:nvPr/>
        </p:nvSpPr>
        <p:spPr>
          <a:xfrm>
            <a:off x="4689475" y="5248275"/>
            <a:ext cx="979488" cy="401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最高位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5085" name="Text Box 18"/>
          <p:cNvSpPr txBox="1"/>
          <p:nvPr/>
        </p:nvSpPr>
        <p:spPr>
          <a:xfrm>
            <a:off x="4689475" y="1871663"/>
            <a:ext cx="9683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最低位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5086" name="右箭头 125"/>
          <p:cNvSpPr/>
          <p:nvPr/>
        </p:nvSpPr>
        <p:spPr>
          <a:xfrm>
            <a:off x="5087938" y="3486150"/>
            <a:ext cx="711200" cy="679450"/>
          </a:xfrm>
          <a:prstGeom prst="rightArrow">
            <a:avLst>
              <a:gd name="adj1" fmla="val 50000"/>
              <a:gd name="adj2" fmla="val 46574"/>
            </a:avLst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087" name="矩形 127"/>
          <p:cNvSpPr/>
          <p:nvPr/>
        </p:nvSpPr>
        <p:spPr>
          <a:xfrm>
            <a:off x="5942013" y="3500438"/>
            <a:ext cx="28670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(58)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10 </a:t>
            </a:r>
            <a:r>
              <a:rPr lang="en-US" altLang="zh-CN" b="1" dirty="0">
                <a:latin typeface="Times New Roman" panose="02020603050405020304" pitchFamily="18" charset="0"/>
              </a:rPr>
              <a:t>= (111010)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065" grpId="0"/>
      <p:bldP spid="45066" grpId="0"/>
      <p:bldP spid="45067" grpId="0"/>
      <p:bldP spid="45068" grpId="0"/>
      <p:bldP spid="45069" grpId="0"/>
      <p:bldP spid="45070" grpId="0"/>
      <p:bldP spid="45071" grpId="0"/>
      <p:bldP spid="45072" grpId="0"/>
      <p:bldP spid="45073" grpId="0"/>
      <p:bldP spid="45074" grpId="0"/>
      <p:bldP spid="45075" grpId="0"/>
      <p:bldP spid="45076" grpId="0"/>
      <p:bldP spid="45077" grpId="0"/>
      <p:bldP spid="45078" grpId="0"/>
      <p:bldP spid="45079" grpId="0"/>
      <p:bldP spid="45080" grpId="0"/>
      <p:bldP spid="45081" grpId="0"/>
      <p:bldP spid="45082" grpId="0"/>
      <p:bldP spid="45084" grpId="0"/>
      <p:bldP spid="45085" grpId="0"/>
      <p:bldP spid="45086" grpId="0" animBg="1"/>
      <p:bldP spid="450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2"/>
          <p:cNvSpPr txBox="1"/>
          <p:nvPr/>
        </p:nvSpPr>
        <p:spPr>
          <a:xfrm>
            <a:off x="968375" y="730250"/>
            <a:ext cx="3892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buChar char="•"/>
            </a:pPr>
            <a:r>
              <a:rPr lang="en-US" altLang="zh-CN" b="1" i="1" dirty="0">
                <a:latin typeface="Times New Roman" panose="02020603050405020304" pitchFamily="18" charset="0"/>
              </a:rPr>
              <a:t>  </a:t>
            </a:r>
            <a:r>
              <a: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小数部分：乘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取整法</a:t>
            </a:r>
            <a:endParaRPr lang="zh-CN" altLang="en-US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9" name="Text Box 3"/>
          <p:cNvSpPr txBox="1"/>
          <p:nvPr/>
        </p:nvSpPr>
        <p:spPr>
          <a:xfrm>
            <a:off x="1031875" y="1550988"/>
            <a:ext cx="50260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例：</a:t>
            </a:r>
            <a:r>
              <a:rPr lang="zh-CN" altLang="en-US" dirty="0">
                <a:latin typeface="Times New Roman" panose="02020603050405020304" pitchFamily="18" charset="0"/>
              </a:rPr>
              <a:t>将</a:t>
            </a:r>
            <a:r>
              <a:rPr lang="en-US" altLang="zh-CN" dirty="0">
                <a:latin typeface="Times New Roman" panose="02020603050405020304" pitchFamily="18" charset="0"/>
              </a:rPr>
              <a:t>(0.625)</a:t>
            </a:r>
            <a:r>
              <a:rPr lang="en-US" altLang="zh-CN" baseline="-25000" dirty="0"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</a:rPr>
              <a:t>转换为二制形式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43" name="Text Box 7"/>
          <p:cNvSpPr txBox="1"/>
          <p:nvPr/>
        </p:nvSpPr>
        <p:spPr>
          <a:xfrm>
            <a:off x="1846263" y="5338763"/>
            <a:ext cx="63388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2400" b="1" dirty="0">
                <a:latin typeface="Times New Roman" panose="02020603050405020304" pitchFamily="18" charset="0"/>
              </a:rPr>
              <a:t>得</a:t>
            </a:r>
            <a:r>
              <a:rPr lang="en-US" altLang="zh-CN" sz="2400" b="1" dirty="0">
                <a:latin typeface="Times New Roman" panose="02020603050405020304" pitchFamily="18" charset="0"/>
              </a:rPr>
              <a:t>: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-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76" name="TextBox 6"/>
          <p:cNvSpPr txBox="1"/>
          <p:nvPr/>
        </p:nvSpPr>
        <p:spPr>
          <a:xfrm>
            <a:off x="1666875" y="3979863"/>
            <a:ext cx="32924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两边乘以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，得：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640" y="2371725"/>
            <a:ext cx="5886450" cy="1295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0" y="4518660"/>
            <a:ext cx="5350510" cy="622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40" y="5930900"/>
            <a:ext cx="5695950" cy="6096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14343" grpId="0" build="p"/>
      <p:bldP spid="71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7"/>
          <p:cNvSpPr txBox="1"/>
          <p:nvPr>
            <p:custDataLst>
              <p:tags r:id="rId1"/>
            </p:custDataLst>
          </p:nvPr>
        </p:nvSpPr>
        <p:spPr>
          <a:xfrm>
            <a:off x="1416050" y="2381250"/>
            <a:ext cx="683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2400" b="1" dirty="0">
                <a:latin typeface="Times New Roman" panose="02020603050405020304" pitchFamily="18" charset="0"/>
              </a:rPr>
              <a:t>得</a:t>
            </a:r>
            <a:r>
              <a:rPr lang="en-US" altLang="zh-CN" sz="2400" b="1" dirty="0">
                <a:latin typeface="Times New Roman" panose="02020603050405020304" pitchFamily="18" charset="0"/>
              </a:rPr>
              <a:t>: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-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8197" name="TextBox 6"/>
          <p:cNvSpPr txBox="1"/>
          <p:nvPr>
            <p:custDataLst>
              <p:tags r:id="rId2"/>
            </p:custDataLst>
          </p:nvPr>
        </p:nvSpPr>
        <p:spPr>
          <a:xfrm>
            <a:off x="1130300" y="1031875"/>
            <a:ext cx="49260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两边乘以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，得：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8200" name="Text Box 7"/>
          <p:cNvSpPr txBox="1"/>
          <p:nvPr>
            <p:custDataLst>
              <p:tags r:id="rId3"/>
            </p:custDataLst>
          </p:nvPr>
        </p:nvSpPr>
        <p:spPr>
          <a:xfrm>
            <a:off x="1374775" y="4513263"/>
            <a:ext cx="67151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2400" b="1" dirty="0">
                <a:latin typeface="Times New Roman" panose="02020603050405020304" pitchFamily="18" charset="0"/>
              </a:rPr>
              <a:t>得</a:t>
            </a:r>
            <a:r>
              <a:rPr lang="en-US" altLang="zh-CN" sz="2400" b="1" dirty="0">
                <a:latin typeface="Times New Roman" panose="02020603050405020304" pitchFamily="18" charset="0"/>
              </a:rPr>
              <a:t>: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-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8201" name="TextBox 15"/>
          <p:cNvSpPr txBox="1"/>
          <p:nvPr>
            <p:custDataLst>
              <p:tags r:id="rId4"/>
            </p:custDataLst>
          </p:nvPr>
        </p:nvSpPr>
        <p:spPr>
          <a:xfrm>
            <a:off x="1109663" y="3078163"/>
            <a:ext cx="492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两边乘以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，得：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8204" name="TextBox 18"/>
          <p:cNvSpPr txBox="1"/>
          <p:nvPr/>
        </p:nvSpPr>
        <p:spPr>
          <a:xfrm>
            <a:off x="1176338" y="5156200"/>
            <a:ext cx="492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所以，（</a:t>
            </a:r>
            <a:r>
              <a:rPr lang="en-US" altLang="zh-CN" sz="2400" b="1" dirty="0">
                <a:latin typeface="Times New Roman" panose="02020603050405020304" pitchFamily="18" charset="0"/>
              </a:rPr>
              <a:t>0.625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0.101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endParaRPr lang="zh-CN" altLang="en-US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0" name="Text Box 6"/>
          <p:cNvSpPr txBox="1"/>
          <p:nvPr/>
        </p:nvSpPr>
        <p:spPr>
          <a:xfrm>
            <a:off x="1292225" y="5832475"/>
            <a:ext cx="7543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b="1" i="1" u="sng" dirty="0">
                <a:solidFill>
                  <a:srgbClr val="CC3300"/>
                </a:solidFill>
                <a:latin typeface="Times New Roman" panose="02020603050405020304" pitchFamily="18" charset="0"/>
              </a:rPr>
              <a:t>注意：不能进行精确转换的情况</a:t>
            </a:r>
            <a:endParaRPr lang="zh-CN" altLang="en-US" b="1" i="1" u="sng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27505" y="1562735"/>
            <a:ext cx="5057775" cy="5810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505" y="3711575"/>
            <a:ext cx="4991100" cy="55245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1" name="Text Box 11"/>
          <p:cNvSpPr txBox="1"/>
          <p:nvPr/>
        </p:nvSpPr>
        <p:spPr>
          <a:xfrm>
            <a:off x="1290638" y="635000"/>
            <a:ext cx="4930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buChar char="•"/>
            </a:pP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短乘法：先求出的整数为高位</a:t>
            </a:r>
            <a:endParaRPr lang="zh-CN" altLang="en-US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 Box 6"/>
          <p:cNvSpPr txBox="1"/>
          <p:nvPr/>
        </p:nvSpPr>
        <p:spPr>
          <a:xfrm>
            <a:off x="1346200" y="5961063"/>
            <a:ext cx="741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b="1" i="1" u="sng" dirty="0">
                <a:solidFill>
                  <a:srgbClr val="CC3300"/>
                </a:solidFill>
                <a:latin typeface="Times New Roman" panose="02020603050405020304" pitchFamily="18" charset="0"/>
              </a:rPr>
              <a:t>注意：式中的整数不参加乘</a:t>
            </a:r>
            <a:r>
              <a:rPr lang="en-US" altLang="zh-CN" b="1" i="1" u="sng" dirty="0">
                <a:solidFill>
                  <a:srgbClr val="CC33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i="1" u="sng" dirty="0">
                <a:solidFill>
                  <a:srgbClr val="CC3300"/>
                </a:solidFill>
                <a:latin typeface="Times New Roman" panose="02020603050405020304" pitchFamily="18" charset="0"/>
              </a:rPr>
              <a:t>运算</a:t>
            </a:r>
            <a:endParaRPr lang="zh-CN" altLang="en-US" b="1" i="1" u="sng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20" y="1303020"/>
            <a:ext cx="7648575" cy="441007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1" grpId="0"/>
      <p:bldP spid="1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fontAlgn="base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827088" y="2060575"/>
            <a:ext cx="8066087" cy="428625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 dirty="0"/>
              <a:t>十进制 </a:t>
            </a:r>
            <a:r>
              <a:rPr lang="zh-CN" altLang="en-US" b="1" dirty="0"/>
              <a:t>→ </a:t>
            </a:r>
            <a:r>
              <a:rPr lang="zh-CN" altLang="en-US" sz="2400" b="1" dirty="0"/>
              <a:t>二进制：</a:t>
            </a:r>
            <a:endParaRPr lang="zh-CN" altLang="en-US" sz="2400" b="1" dirty="0"/>
          </a:p>
          <a:p>
            <a:pPr>
              <a:lnSpc>
                <a:spcPct val="90000"/>
              </a:lnSpc>
              <a:spcAft>
                <a:spcPct val="20000"/>
              </a:spcAft>
              <a:buNone/>
            </a:pPr>
            <a:r>
              <a:rPr lang="zh-CN" altLang="en-US" sz="2400" b="1" dirty="0"/>
              <a:t>        </a:t>
            </a:r>
            <a:r>
              <a:rPr lang="zh-CN" altLang="en-US" sz="2000" b="1" dirty="0"/>
              <a:t>整数：除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取余；</a:t>
            </a:r>
            <a:endParaRPr lang="zh-CN" altLang="en-US" sz="2000" b="1" dirty="0"/>
          </a:p>
          <a:p>
            <a:pPr>
              <a:lnSpc>
                <a:spcPct val="90000"/>
              </a:lnSpc>
              <a:spcAft>
                <a:spcPct val="20000"/>
              </a:spcAft>
              <a:buNone/>
            </a:pPr>
            <a:r>
              <a:rPr lang="zh-CN" altLang="en-US" sz="2000" b="1" dirty="0"/>
              <a:t>         小数：乘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取整。</a:t>
            </a:r>
            <a:endParaRPr lang="zh-CN" altLang="en-US" sz="2000" b="1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 dirty="0"/>
              <a:t>十进制 </a:t>
            </a:r>
            <a:r>
              <a:rPr lang="zh-CN" altLang="en-US" b="1" dirty="0"/>
              <a:t>→ </a:t>
            </a:r>
            <a:r>
              <a:rPr lang="zh-CN" altLang="en-US" sz="2400" b="1" dirty="0"/>
              <a:t>十六进制：</a:t>
            </a:r>
            <a:endParaRPr lang="zh-CN" altLang="en-US" sz="2400" b="1" dirty="0"/>
          </a:p>
          <a:p>
            <a:pPr>
              <a:lnSpc>
                <a:spcPct val="90000"/>
              </a:lnSpc>
              <a:spcAft>
                <a:spcPct val="20000"/>
              </a:spcAft>
              <a:buNone/>
            </a:pPr>
            <a:r>
              <a:rPr lang="zh-CN" altLang="en-US" sz="2400" b="1" dirty="0"/>
              <a:t>       </a:t>
            </a:r>
            <a:r>
              <a:rPr lang="zh-CN" altLang="en-US" sz="2000" b="1" dirty="0"/>
              <a:t>整数：除</a:t>
            </a:r>
            <a:r>
              <a:rPr lang="en-US" altLang="zh-CN" sz="2000" b="1" dirty="0"/>
              <a:t>16</a:t>
            </a:r>
            <a:r>
              <a:rPr lang="zh-CN" altLang="en-US" sz="2000" b="1" dirty="0"/>
              <a:t>取余； </a:t>
            </a:r>
            <a:endParaRPr lang="zh-CN" altLang="en-US" sz="2000" b="1" dirty="0"/>
          </a:p>
          <a:p>
            <a:pPr>
              <a:lnSpc>
                <a:spcPct val="90000"/>
              </a:lnSpc>
              <a:spcAft>
                <a:spcPct val="20000"/>
              </a:spcAft>
              <a:buNone/>
            </a:pPr>
            <a:r>
              <a:rPr lang="zh-CN" altLang="en-US" sz="2000" b="1" dirty="0"/>
              <a:t>        小数：乘</a:t>
            </a:r>
            <a:r>
              <a:rPr lang="en-US" altLang="zh-CN" sz="2000" b="1" dirty="0"/>
              <a:t>16</a:t>
            </a:r>
            <a:r>
              <a:rPr lang="zh-CN" altLang="en-US" sz="2000" b="1" dirty="0"/>
              <a:t>取整。</a:t>
            </a:r>
            <a:endParaRPr lang="zh-CN" altLang="en-US" sz="2000" b="1" dirty="0"/>
          </a:p>
          <a:p>
            <a:pPr>
              <a:lnSpc>
                <a:spcPct val="90000"/>
              </a:lnSpc>
              <a:spcAft>
                <a:spcPct val="20000"/>
              </a:spcAft>
              <a:buNone/>
            </a:pPr>
            <a:r>
              <a:rPr lang="zh-CN" altLang="en-US" sz="2400" b="1" u="sng" dirty="0"/>
              <a:t>以小数点为起点求得整数和小数的每一位。</a:t>
            </a:r>
            <a:endParaRPr lang="zh-CN" altLang="en-US" sz="2000" b="1" u="sng" dirty="0"/>
          </a:p>
          <a:p>
            <a:pPr>
              <a:lnSpc>
                <a:spcPct val="90000"/>
              </a:lnSpc>
              <a:spcBef>
                <a:spcPct val="80000"/>
              </a:spcBef>
              <a:spcAft>
                <a:spcPct val="20000"/>
              </a:spcAft>
              <a:buNone/>
            </a:pPr>
            <a:r>
              <a:rPr lang="zh-CN" altLang="en-US" sz="2400" b="1" i="1" dirty="0">
                <a:solidFill>
                  <a:srgbClr val="FF00FF"/>
                </a:solidFill>
              </a:rPr>
              <a:t>注：十进制转换成</a:t>
            </a:r>
            <a:r>
              <a:rPr lang="zh-CN" altLang="en-US" sz="2400" b="1" i="1" u="sng" dirty="0">
                <a:solidFill>
                  <a:srgbClr val="FF00FF"/>
                </a:solidFill>
              </a:rPr>
              <a:t>任意</a:t>
            </a:r>
            <a:r>
              <a:rPr lang="en-US" altLang="zh-CN" sz="2400" b="1" i="1" u="sng" dirty="0">
                <a:solidFill>
                  <a:srgbClr val="FF00FF"/>
                </a:solidFill>
              </a:rPr>
              <a:t>K</a:t>
            </a:r>
            <a:r>
              <a:rPr lang="zh-CN" altLang="en-US" sz="2400" b="1" i="1" u="sng" dirty="0">
                <a:solidFill>
                  <a:srgbClr val="FF00FF"/>
                </a:solidFill>
              </a:rPr>
              <a:t>进制数</a:t>
            </a:r>
            <a:r>
              <a:rPr lang="zh-CN" altLang="en-US" sz="2400" b="1" i="1" dirty="0">
                <a:solidFill>
                  <a:srgbClr val="FF00FF"/>
                </a:solidFill>
              </a:rPr>
              <a:t>与上类似，整：除</a:t>
            </a:r>
            <a:r>
              <a:rPr lang="en-US" altLang="zh-CN" sz="2400" b="1" i="1" dirty="0">
                <a:solidFill>
                  <a:srgbClr val="FF00FF"/>
                </a:solidFill>
              </a:rPr>
              <a:t>K</a:t>
            </a:r>
            <a:r>
              <a:rPr lang="zh-CN" altLang="en-US" sz="2400" b="1" i="1" dirty="0">
                <a:solidFill>
                  <a:srgbClr val="FF00FF"/>
                </a:solidFill>
              </a:rPr>
              <a:t>取余，小数：乘</a:t>
            </a:r>
            <a:r>
              <a:rPr lang="en-US" altLang="zh-CN" sz="2400" b="1" i="1" dirty="0">
                <a:solidFill>
                  <a:srgbClr val="FF00FF"/>
                </a:solidFill>
              </a:rPr>
              <a:t>K</a:t>
            </a:r>
            <a:r>
              <a:rPr lang="zh-CN" altLang="en-US" sz="2400" b="1" i="1" dirty="0">
                <a:solidFill>
                  <a:srgbClr val="FF00FF"/>
                </a:solidFill>
              </a:rPr>
              <a:t>取整。</a:t>
            </a:r>
            <a:endParaRPr lang="zh-CN" altLang="en-US" sz="2400" b="1" i="1" dirty="0">
              <a:solidFill>
                <a:srgbClr val="FF00FF"/>
              </a:solidFill>
            </a:endParaRPr>
          </a:p>
        </p:txBody>
      </p:sp>
      <p:sp>
        <p:nvSpPr>
          <p:cNvPr id="51204" name="矩形 4"/>
          <p:cNvSpPr/>
          <p:nvPr/>
        </p:nvSpPr>
        <p:spPr>
          <a:xfrm>
            <a:off x="568325" y="1414463"/>
            <a:ext cx="3595688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十进制 → 非十进制数</a:t>
            </a:r>
            <a:endParaRPr lang="zh-CN" altLang="en-US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10100" y="2062163"/>
            <a:ext cx="4054475" cy="2122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十进制 </a:t>
            </a:r>
            <a:r>
              <a:rPr kumimoji="0" lang="zh-CN" altLang="en-US" sz="3200" b="1" kern="0" cap="none" spc="0" normalizeH="0" baseline="0" noProof="0" dirty="0">
                <a:latin typeface="+mn-lt"/>
                <a:ea typeface="+mn-ea"/>
                <a:cs typeface="+mn-cs"/>
              </a:rPr>
              <a:t>→ </a:t>
            </a: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八进制：</a:t>
            </a:r>
            <a:endParaRPr kumimoji="0" lang="zh-CN" altLang="en-US" sz="2400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en-US" sz="2000" b="1" kern="0" cap="none" spc="0" normalizeH="0" baseline="0" noProof="0" dirty="0">
                <a:latin typeface="+mn-lt"/>
                <a:ea typeface="+mn-ea"/>
                <a:cs typeface="+mn-cs"/>
              </a:rPr>
              <a:t>整数：除</a:t>
            </a:r>
            <a:r>
              <a:rPr kumimoji="0" lang="en-US" altLang="zh-CN" sz="2000" b="1" kern="0" cap="none" spc="0" normalizeH="0" baseline="0" noProof="0" dirty="0"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000" b="1" kern="0" cap="none" spc="0" normalizeH="0" baseline="0" noProof="0" dirty="0">
                <a:latin typeface="+mn-lt"/>
                <a:ea typeface="+mn-ea"/>
                <a:cs typeface="+mn-cs"/>
              </a:rPr>
              <a:t>取余；</a:t>
            </a:r>
            <a:endParaRPr kumimoji="0" lang="zh-CN" altLang="en-US" sz="2000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kern="0" cap="none" spc="0" normalizeH="0" baseline="0" noProof="0" dirty="0">
                <a:latin typeface="+mn-lt"/>
                <a:ea typeface="+mn-ea"/>
                <a:cs typeface="+mn-cs"/>
              </a:rPr>
              <a:t>         小数：乘</a:t>
            </a:r>
            <a:r>
              <a:rPr kumimoji="0" lang="en-US" altLang="zh-CN" sz="2000" b="1" kern="0" cap="none" spc="0" normalizeH="0" baseline="0" noProof="0" dirty="0"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000" b="1" kern="0" cap="none" spc="0" normalizeH="0" baseline="0" noProof="0" dirty="0">
                <a:latin typeface="+mn-lt"/>
                <a:ea typeface="+mn-ea"/>
                <a:cs typeface="+mn-cs"/>
              </a:rPr>
              <a:t>取整。</a:t>
            </a:r>
            <a:endParaRPr kumimoji="0" lang="zh-CN" altLang="en-US" sz="2000" b="1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68325" y="795338"/>
            <a:ext cx="8005763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、十进制数与非十进制数转换总结</a:t>
            </a:r>
            <a:endParaRPr kumimoji="1" lang="zh-CN" altLang="en-US" b="1" kern="1200" cap="none" spc="0" normalizeH="0" baseline="0" noProof="0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fontAlgn="base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914400" y="1114425"/>
            <a:ext cx="7493000" cy="4291013"/>
          </a:xfrm>
        </p:spPr>
        <p:txBody>
          <a:bodyPr vert="horz" wrap="square" lIns="91440" tIns="45720" rIns="91440" bIns="45720" anchor="t" anchorCtr="0"/>
          <a:lstStyle/>
          <a:p>
            <a:pPr>
              <a:spcAft>
                <a:spcPct val="50000"/>
              </a:spcAft>
              <a:buNone/>
            </a:pPr>
            <a:r>
              <a:rPr lang="zh-CN" altLang="en-US" sz="2800" b="1" dirty="0">
                <a:solidFill>
                  <a:srgbClr val="FF00FF"/>
                </a:solidFill>
              </a:rPr>
              <a:t>非十进制数 → 十进制数：</a:t>
            </a:r>
            <a:endParaRPr lang="zh-CN" altLang="en-US" sz="2800" b="1" dirty="0">
              <a:solidFill>
                <a:srgbClr val="FF00FF"/>
              </a:solidFill>
            </a:endParaRPr>
          </a:p>
          <a:p>
            <a:pPr>
              <a:spcAft>
                <a:spcPct val="45000"/>
              </a:spcAft>
              <a:buNone/>
            </a:pPr>
            <a:r>
              <a:rPr lang="en-GB" altLang="en-US" sz="2800" b="1" dirty="0"/>
              <a:t>   按相应的</a:t>
            </a:r>
            <a:r>
              <a:rPr lang="en-GB" altLang="en-US" sz="2800" b="1" u="sng" dirty="0"/>
              <a:t>权表达式</a:t>
            </a:r>
            <a:r>
              <a:rPr lang="en-GB" altLang="en-US" sz="2800" b="1" dirty="0"/>
              <a:t>展开</a:t>
            </a:r>
            <a:r>
              <a:rPr lang="en-GB" altLang="zh-CN" sz="2800" b="1" dirty="0"/>
              <a:t>，</a:t>
            </a:r>
            <a:r>
              <a:rPr lang="zh-CN" altLang="en-GB" sz="2800" b="1" dirty="0"/>
              <a:t>再按十进制求和。</a:t>
            </a:r>
            <a:endParaRPr lang="zh-CN" altLang="en-GB" sz="2800" b="1" dirty="0"/>
          </a:p>
          <a:p>
            <a:pPr>
              <a:spcBef>
                <a:spcPct val="100000"/>
              </a:spcBef>
              <a:buNone/>
            </a:pPr>
            <a:r>
              <a:rPr lang="zh-CN" altLang="en-US" sz="2800" b="1" dirty="0"/>
              <a:t>    例：</a:t>
            </a:r>
            <a:r>
              <a:rPr lang="en-US" altLang="zh-CN" sz="2800" b="1" dirty="0"/>
              <a:t>24.AH=2×16</a:t>
            </a:r>
            <a:r>
              <a:rPr lang="en-US" altLang="zh-CN" sz="2800" b="1" baseline="30000" dirty="0"/>
              <a:t>1</a:t>
            </a:r>
            <a:r>
              <a:rPr lang="en-US" altLang="zh-CN" sz="2800" b="1" dirty="0"/>
              <a:t>+4×16</a:t>
            </a:r>
            <a:r>
              <a:rPr lang="en-US" altLang="zh-CN" sz="2800" b="1" baseline="30000" dirty="0"/>
              <a:t>0</a:t>
            </a:r>
            <a:r>
              <a:rPr lang="en-US" altLang="zh-CN" sz="2800" b="1" dirty="0"/>
              <a:t>+A×16</a:t>
            </a:r>
            <a:r>
              <a:rPr lang="en-US" altLang="zh-CN" sz="2800" b="1" baseline="30000" dirty="0"/>
              <a:t>-1</a:t>
            </a:r>
            <a:endParaRPr lang="en-US" altLang="zh-CN" sz="2800" b="1" baseline="30000" dirty="0"/>
          </a:p>
          <a:p>
            <a:pPr>
              <a:spcBef>
                <a:spcPct val="70000"/>
              </a:spcBef>
              <a:buNone/>
            </a:pPr>
            <a:r>
              <a:rPr lang="en-US" altLang="zh-CN" sz="2800" b="1" dirty="0"/>
              <a:t>                     =36.625</a:t>
            </a:r>
            <a:endParaRPr lang="en-US" altLang="zh-CN" sz="2800" b="1" dirty="0"/>
          </a:p>
          <a:p>
            <a:pPr lvl="1">
              <a:spcBef>
                <a:spcPct val="80000"/>
              </a:spcBef>
              <a:buNone/>
            </a:pPr>
            <a:r>
              <a:rPr lang="zh-CN" altLang="en-US" b="1" i="1" dirty="0"/>
              <a:t>注：</a:t>
            </a:r>
            <a:r>
              <a:rPr lang="en-US" altLang="zh-CN" b="1" i="1" dirty="0"/>
              <a:t>A</a:t>
            </a:r>
            <a:r>
              <a:rPr lang="zh-CN" altLang="en-US" b="1" i="1" dirty="0"/>
              <a:t>～</a:t>
            </a:r>
            <a:r>
              <a:rPr lang="en-US" altLang="zh-CN" b="1" i="1" dirty="0"/>
              <a:t>F</a:t>
            </a:r>
            <a:r>
              <a:rPr lang="zh-CN" altLang="en-US" b="1" i="1" dirty="0"/>
              <a:t>分别用</a:t>
            </a:r>
            <a:r>
              <a:rPr lang="en-US" altLang="zh-CN" b="1" i="1" dirty="0"/>
              <a:t>10</a:t>
            </a:r>
            <a:r>
              <a:rPr lang="zh-CN" altLang="en-US" b="1" i="1" dirty="0"/>
              <a:t>～</a:t>
            </a:r>
            <a:r>
              <a:rPr lang="en-US" altLang="zh-CN" b="1" i="1" dirty="0"/>
              <a:t>15</a:t>
            </a:r>
            <a:r>
              <a:rPr lang="zh-CN" altLang="en-US" b="1" i="1" dirty="0"/>
              <a:t>代入。</a:t>
            </a:r>
            <a:endParaRPr lang="zh-CN" altLang="en-US" b="1" i="1" dirty="0"/>
          </a:p>
        </p:txBody>
      </p:sp>
    </p:spTree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fontAlgn="base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860425" y="1458913"/>
            <a:ext cx="8121650" cy="43640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400.25 = </a:t>
            </a:r>
            <a:r>
              <a:rPr kumimoji="0" lang="zh-CN" altLang="en-US" sz="28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    </a:t>
            </a:r>
            <a:r>
              <a:rPr kumimoji="0" lang="zh-CN" altLang="en-US" sz="28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  <a:r>
              <a:rPr kumimoji="0" lang="zh-CN" altLang="en-US" sz="28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）</a:t>
            </a:r>
            <a:r>
              <a:rPr kumimoji="0" lang="en-US" altLang="zh-CN" sz="28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endParaRPr kumimoji="0" lang="en-US" altLang="zh-CN" sz="2800" b="1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400/16=25  -----------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余数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（个位）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25/16=1  --------------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余数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=9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（十位）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1/16=0   ---------------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余数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（百位）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0.25×16=4.0 --------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（小数点后第一位）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即：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400.25 = 190.4H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92100" y="958850"/>
            <a:ext cx="854075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l" defTabSz="914400" fontAlgn="base"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 八进制数、十六进制数与二进制数的转换</a:t>
            </a:r>
            <a:endParaRPr kumimoji="1" lang="en-US" altLang="zh-CN" sz="2800" b="1" kern="1200" cap="none" spc="0" normalizeH="0" baseline="0" noProof="0" dirty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42988" y="1744663"/>
            <a:ext cx="7972425" cy="4941888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因</a:t>
            </a:r>
            <a:r>
              <a:rPr kumimoji="0" lang="en-US" altLang="zh-CN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8=2</a:t>
            </a:r>
            <a:r>
              <a:rPr kumimoji="0" lang="en-US" altLang="zh-CN" b="1" kern="1200" cap="none" spc="0" normalizeH="0" baseline="3000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b="1" kern="0" cap="none" spc="0" normalizeH="0" baseline="0" noProof="0" dirty="0">
                <a:latin typeface="+mn-lt"/>
                <a:ea typeface="+mn-ea"/>
                <a:cs typeface="+mn-cs"/>
              </a:rPr>
              <a:t>，可用</a:t>
            </a:r>
            <a:r>
              <a:rPr kumimoji="0" lang="en-US" altLang="zh-CN" b="1" kern="0" cap="none" spc="0" normalizeH="0" baseline="0" noProof="0" dirty="0"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b="1" kern="0" cap="none" spc="0" normalizeH="0" baseline="0" noProof="0" dirty="0">
                <a:latin typeface="+mn-lt"/>
                <a:ea typeface="+mn-ea"/>
                <a:cs typeface="+mn-cs"/>
              </a:rPr>
              <a:t>位二进制数表示</a:t>
            </a:r>
            <a:r>
              <a:rPr kumimoji="0" lang="en-US" altLang="zh-CN" b="1" kern="0" cap="none" spc="0" normalizeH="0" baseline="0" noProof="0" dirty="0"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b="1" kern="0" cap="none" spc="0" normalizeH="0" baseline="0" noProof="0" dirty="0">
                <a:latin typeface="+mn-lt"/>
                <a:ea typeface="+mn-ea"/>
                <a:cs typeface="+mn-cs"/>
              </a:rPr>
              <a:t>位八进制数</a:t>
            </a:r>
            <a:endParaRPr kumimoji="0" lang="en-US" altLang="zh-CN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因</a:t>
            </a:r>
            <a:r>
              <a:rPr kumimoji="0" lang="en-US" altLang="zh-CN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16=2</a:t>
            </a:r>
            <a:r>
              <a:rPr kumimoji="0" lang="en-US" altLang="zh-CN" b="1" kern="1200" cap="none" spc="0" normalizeH="0" baseline="3000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b="1" kern="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，可</a:t>
            </a:r>
            <a:r>
              <a:rPr kumimoji="0" lang="zh-CN" altLang="en-US" b="1" kern="0" cap="none" spc="0" normalizeH="0" baseline="0" noProof="0" dirty="0">
                <a:latin typeface="+mn-lt"/>
                <a:ea typeface="+mn-ea"/>
                <a:cs typeface="+mn-cs"/>
              </a:rPr>
              <a:t>用</a:t>
            </a:r>
            <a:r>
              <a:rPr kumimoji="0" lang="en-US" altLang="zh-CN" b="1" kern="0" cap="none" spc="0" normalizeH="0" baseline="0" noProof="0" dirty="0"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b="1" kern="0" cap="none" spc="0" normalizeH="0" baseline="0" noProof="0" dirty="0">
                <a:latin typeface="+mn-lt"/>
                <a:ea typeface="+mn-ea"/>
                <a:cs typeface="+mn-cs"/>
              </a:rPr>
              <a:t>位二进制数表示</a:t>
            </a:r>
            <a:r>
              <a:rPr kumimoji="0" lang="en-US" altLang="zh-CN" b="1" kern="0" cap="none" spc="0" normalizeH="0" baseline="0" noProof="0" dirty="0"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b="1" kern="0" cap="none" spc="0" normalizeH="0" baseline="0" noProof="0" dirty="0">
                <a:latin typeface="+mn-lt"/>
                <a:ea typeface="+mn-ea"/>
                <a:cs typeface="+mn-cs"/>
              </a:rPr>
              <a:t>位十六进制数</a:t>
            </a:r>
            <a:endParaRPr kumimoji="0" lang="en-US" altLang="zh-CN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例：十六进制与二进制数码关系</a:t>
            </a:r>
            <a:endParaRPr kumimoji="0" lang="zh-CN" altLang="en-US" sz="2400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5000"/>
              </a:lnSpc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0" cap="none" spc="0" normalizeH="0" baseline="0" noProof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二进制</a:t>
            </a:r>
            <a:r>
              <a:rPr kumimoji="0" lang="zh-CN" altLang="en-US" sz="2400" b="1" kern="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1" kern="0" cap="none" spc="0" normalizeH="0" baseline="0" noProof="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十六进制</a:t>
            </a:r>
            <a:endParaRPr kumimoji="0" lang="en-US" altLang="zh-CN" sz="2400" b="1" kern="0" cap="none" spc="0" normalizeH="0" baseline="0" noProof="0" dirty="0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5000"/>
              </a:lnSpc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kern="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0000  -------------  0H</a:t>
            </a:r>
            <a:endParaRPr kumimoji="0" lang="en-US" altLang="zh-CN" sz="2400" b="1" kern="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5000"/>
              </a:lnSpc>
              <a:spcBef>
                <a:spcPct val="10000"/>
              </a:spcBef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kern="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0001  -------------  1H</a:t>
            </a:r>
            <a:endParaRPr kumimoji="0" lang="en-US" altLang="zh-CN" sz="2400" b="1" kern="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5000"/>
              </a:lnSpc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kern="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┇</a:t>
            </a:r>
            <a:endParaRPr kumimoji="0" lang="en-US" altLang="zh-CN" sz="2400" b="1" kern="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5000"/>
              </a:lnSpc>
              <a:spcBef>
                <a:spcPct val="10000"/>
              </a:spcBef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kern="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1000  -------------  8H</a:t>
            </a:r>
            <a:endParaRPr kumimoji="0" lang="en-US" altLang="zh-CN" sz="2400" b="1" kern="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5000"/>
              </a:lnSpc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kern="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1001  -------------  9H</a:t>
            </a:r>
            <a:endParaRPr kumimoji="0" lang="en-US" altLang="zh-CN" sz="2400" b="1" kern="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fontAlgn="base" hangingPunct="0">
              <a:lnSpc>
                <a:spcPct val="95000"/>
              </a:lnSpc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kern="0" cap="none" spc="0" normalizeH="0" baseline="0" noProof="0" dirty="0">
                <a:solidFill>
                  <a:srgbClr val="FFFF00"/>
                </a:solidFill>
                <a:latin typeface="+mn-lt"/>
                <a:ea typeface="+mn-ea"/>
                <a:cs typeface="+mn-cs"/>
              </a:rPr>
              <a:t>   </a:t>
            </a:r>
            <a:endParaRPr kumimoji="0" lang="en-US" altLang="zh-CN" sz="2400" b="1" kern="0" cap="none" spc="0" normalizeH="0" baseline="0" noProof="0" dirty="0">
              <a:solidFill>
                <a:schemeClr val="hlink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56125" y="3489325"/>
            <a:ext cx="3759200" cy="27701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二进制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十六进制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1010  -------------  AH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1011  -------------  BH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1100  -------------  CH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1101  -------------  DH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1110  -------------  EH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1111  -------------  FH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二进制与八进制转换</a:t>
            </a:r>
            <a:br>
              <a:rPr lang="zh-CN" altLang="en-US" sz="2800" dirty="0">
                <a:solidFill>
                  <a:schemeClr val="tx2"/>
                </a:solidFill>
              </a:rPr>
            </a:b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38605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03250" y="1412875"/>
            <a:ext cx="8540750" cy="2868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二进制转八进制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：从小数点开始，将二进制数的整数和小数部分每三位分为一组，不足三位的分别在整数的最高位前和小数的最低位后加“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0”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补足，然后每组用等值的八进制码替代，即得八进制数。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八进制转二进制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：与上面转换正好相反，一位八进制数用三位二进制数来替换。对于有小数的数，要对小数和整数部分分别处理。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Rot="1"/>
          </p:cNvSpPr>
          <p:nvPr>
            <p:ph idx="1"/>
          </p:nvPr>
        </p:nvSpPr>
        <p:spPr>
          <a:xfrm>
            <a:off x="603250" y="1412875"/>
            <a:ext cx="8540750" cy="2868613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</a:pPr>
            <a:r>
              <a:rPr lang="zh-CN" altLang="en-US" sz="2800" b="1" dirty="0"/>
              <a:t>例：（</a:t>
            </a:r>
            <a:r>
              <a:rPr lang="en-US" altLang="zh-CN" sz="2800" b="1" dirty="0"/>
              <a:t>11010111.0100111</a:t>
            </a:r>
            <a:r>
              <a:rPr lang="zh-CN" altLang="en-US" sz="2800" b="1" dirty="0"/>
              <a:t>）</a:t>
            </a:r>
            <a:r>
              <a:rPr lang="en-US" altLang="zh-CN" sz="2800" b="1" baseline="-25000" dirty="0"/>
              <a:t>2 </a:t>
            </a:r>
            <a:r>
              <a:rPr lang="en-US" altLang="zh-CN" sz="2800" b="1" dirty="0"/>
              <a:t>= 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327.234</a:t>
            </a:r>
            <a:r>
              <a:rPr lang="zh-CN" altLang="en-US" sz="2800" b="1" dirty="0"/>
              <a:t>）</a:t>
            </a:r>
            <a:r>
              <a:rPr lang="en-US" altLang="zh-CN" sz="2800" b="1" baseline="-25000" dirty="0"/>
              <a:t>8</a:t>
            </a:r>
            <a:endParaRPr lang="en-US" altLang="zh-CN" sz="2800" b="1" baseline="-25000" dirty="0"/>
          </a:p>
          <a:p>
            <a:pPr>
              <a:lnSpc>
                <a:spcPct val="80000"/>
              </a:lnSpc>
            </a:pPr>
            <a:endParaRPr lang="zh-CN" altLang="en-US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125" y="2309495"/>
            <a:ext cx="6175375" cy="321119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/>
          </p:cNvSpPr>
          <p:nvPr>
            <p:ph idx="1"/>
          </p:nvPr>
        </p:nvSpPr>
        <p:spPr>
          <a:xfrm>
            <a:off x="671513" y="623888"/>
            <a:ext cx="7588250" cy="4602162"/>
          </a:xfrm>
        </p:spPr>
        <p:txBody>
          <a:bodyPr vert="horz" wrap="square" lIns="91440" tIns="45720" rIns="91440" bIns="45720" anchor="t" anchorCtr="0"/>
          <a:lstStyle/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</a:rPr>
              <a:t>二进制数与十六进制数的相互转换</a:t>
            </a:r>
            <a:endParaRPr lang="zh-CN" altLang="en-US" sz="2800" b="1" dirty="0">
              <a:solidFill>
                <a:srgbClr val="FF00FF"/>
              </a:solidFill>
              <a:latin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同二进制和八进制的转换类似，不同的在于将</a:t>
            </a:r>
            <a:r>
              <a:rPr lang="zh-CN" altLang="en-US" sz="2800" b="1" dirty="0"/>
              <a:t>二进制数的每四位分为一组，用等值的十六进制码替代。或将</a:t>
            </a:r>
            <a:r>
              <a:rPr lang="zh-CN" altLang="en-US" sz="2800" b="1" dirty="0">
                <a:latin typeface="宋体" panose="02010600030101010101" pitchFamily="2" charset="-122"/>
              </a:rPr>
              <a:t>一位十六进制数用四位二进制数来替换。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7347" name="Text Box 1"/>
          <p:cNvSpPr txBox="1"/>
          <p:nvPr/>
        </p:nvSpPr>
        <p:spPr>
          <a:xfrm>
            <a:off x="1412875" y="3136900"/>
            <a:ext cx="6624638" cy="519113"/>
          </a:xfrm>
          <a:prstGeom prst="rect">
            <a:avLst/>
          </a:prstGeom>
          <a:noFill/>
          <a:ln w="762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: (111011.10101)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=(3B.A8)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H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025" y="3656330"/>
            <a:ext cx="4732020" cy="265811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/>
          <p:nvPr/>
        </p:nvSpPr>
        <p:spPr>
          <a:xfrm>
            <a:off x="984250" y="1411288"/>
            <a:ext cx="71247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例：</a:t>
            </a:r>
            <a:r>
              <a:rPr lang="zh-CN" altLang="en-US" dirty="0">
                <a:latin typeface="Times New Roman" panose="02020603050405020304" pitchFamily="18" charset="0"/>
              </a:rPr>
              <a:t>八进制：  </a:t>
            </a:r>
            <a:r>
              <a:rPr lang="en-US" altLang="zh-CN" dirty="0">
                <a:latin typeface="Times New Roman" panose="02020603050405020304" pitchFamily="18" charset="0"/>
              </a:rPr>
              <a:t>2      5      7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    0      5      5      4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6388" name="Text Box 4"/>
          <p:cNvSpPr txBox="1"/>
          <p:nvPr/>
        </p:nvSpPr>
        <p:spPr>
          <a:xfrm>
            <a:off x="1689100" y="2058988"/>
            <a:ext cx="6584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二进制：</a:t>
            </a:r>
            <a:r>
              <a:rPr lang="en-US" altLang="zh-CN" dirty="0">
                <a:latin typeface="Times New Roman" panose="02020603050405020304" pitchFamily="18" charset="0"/>
              </a:rPr>
              <a:t>010  101  111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</a:rPr>
              <a:t>  000  101  101  100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6389" name="Text Box 5"/>
          <p:cNvSpPr txBox="1"/>
          <p:nvPr/>
        </p:nvSpPr>
        <p:spPr>
          <a:xfrm>
            <a:off x="1327150" y="2820988"/>
            <a:ext cx="66341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十六进制：　</a:t>
            </a:r>
            <a:r>
              <a:rPr lang="en-US" altLang="zh-CN" i="1" dirty="0">
                <a:latin typeface="Times New Roman" panose="02020603050405020304" pitchFamily="18" charset="0"/>
              </a:rPr>
              <a:t>A        F     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en-US" altLang="zh-CN" i="1" dirty="0">
                <a:latin typeface="Times New Roman" panose="02020603050405020304" pitchFamily="18" charset="0"/>
              </a:rPr>
              <a:t>        C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16390" name="Line 6"/>
          <p:cNvSpPr/>
          <p:nvPr/>
        </p:nvSpPr>
        <p:spPr>
          <a:xfrm>
            <a:off x="3381375" y="2608263"/>
            <a:ext cx="85725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1" name="Line 7"/>
          <p:cNvSpPr/>
          <p:nvPr/>
        </p:nvSpPr>
        <p:spPr>
          <a:xfrm>
            <a:off x="4295775" y="2608263"/>
            <a:ext cx="8636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2" name="Line 8"/>
          <p:cNvSpPr/>
          <p:nvPr/>
        </p:nvSpPr>
        <p:spPr>
          <a:xfrm>
            <a:off x="5514975" y="2608263"/>
            <a:ext cx="85725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3" name="Line 9"/>
          <p:cNvSpPr/>
          <p:nvPr/>
        </p:nvSpPr>
        <p:spPr>
          <a:xfrm>
            <a:off x="6429375" y="2608263"/>
            <a:ext cx="81915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4" name="Line 10"/>
          <p:cNvSpPr/>
          <p:nvPr/>
        </p:nvSpPr>
        <p:spPr>
          <a:xfrm>
            <a:off x="7343775" y="2608263"/>
            <a:ext cx="78105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5" name="Text Box 11"/>
          <p:cNvSpPr txBox="1"/>
          <p:nvPr/>
        </p:nvSpPr>
        <p:spPr>
          <a:xfrm>
            <a:off x="1422400" y="3416300"/>
            <a:ext cx="6791325" cy="7334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2762250" indent="-2762250" fontAlgn="base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因此，</a:t>
            </a:r>
            <a:r>
              <a:rPr lang="en-US" altLang="zh-CN" dirty="0">
                <a:latin typeface="Times New Roman" panose="02020603050405020304" pitchFamily="18" charset="0"/>
              </a:rPr>
              <a:t>(257.0554)</a:t>
            </a:r>
            <a:r>
              <a:rPr lang="en-US" altLang="zh-CN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dirty="0">
                <a:latin typeface="Times New Roman" panose="02020603050405020304" pitchFamily="18" charset="0"/>
              </a:rPr>
              <a:t>=(10101111.0001011011)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sp>
        <p:nvSpPr>
          <p:cNvPr id="16396" name="Rectangle 12"/>
          <p:cNvSpPr/>
          <p:nvPr/>
        </p:nvSpPr>
        <p:spPr>
          <a:xfrm>
            <a:off x="4133850" y="4330700"/>
            <a:ext cx="1979613" cy="4333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lnSpc>
                <a:spcPct val="8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latin typeface="Times New Roman" panose="02020603050405020304" pitchFamily="18" charset="0"/>
              </a:rPr>
              <a:t>AF</a:t>
            </a:r>
            <a:r>
              <a:rPr lang="en-US" altLang="zh-CN" dirty="0">
                <a:latin typeface="Times New Roman" panose="02020603050405020304" pitchFamily="18" charset="0"/>
              </a:rPr>
              <a:t>.16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-25000" dirty="0">
                <a:latin typeface="Times New Roman" panose="02020603050405020304" pitchFamily="18" charset="0"/>
              </a:rPr>
              <a:t>16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16388" grpId="0" build="p"/>
      <p:bldP spid="16389" grpId="0" build="p"/>
      <p:bldP spid="16395" grpId="0" build="p"/>
      <p:bldP spid="1639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/>
          <p:nvPr/>
        </p:nvSpPr>
        <p:spPr>
          <a:xfrm>
            <a:off x="790575" y="722313"/>
            <a:ext cx="79025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数制转换时，小数位数如何确定？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47713" y="1379538"/>
            <a:ext cx="7962900" cy="5262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确定小数位数的依据：数值转换后的精度要求。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解：设</a:t>
            </a:r>
            <a:r>
              <a:rPr lang="en-US" altLang="zh-CN" b="1" dirty="0">
                <a:latin typeface="Times New Roman" panose="02020603050405020304" pitchFamily="18" charset="0"/>
              </a:rPr>
              <a:t>     </a:t>
            </a:r>
            <a:r>
              <a:rPr lang="zh-CN" altLang="en-US" b="1" dirty="0">
                <a:latin typeface="Times New Roman" panose="02020603050405020304" pitchFamily="18" charset="0"/>
              </a:rPr>
              <a:t>进制有</a:t>
            </a:r>
            <a:r>
              <a:rPr lang="en-US" altLang="zh-CN" b="1" dirty="0"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</a:rPr>
              <a:t>位小数，转换成</a:t>
            </a:r>
            <a:r>
              <a:rPr lang="en-US" altLang="zh-CN" b="1" dirty="0">
                <a:latin typeface="Times New Roman" panose="02020603050405020304" pitchFamily="18" charset="0"/>
              </a:rPr>
              <a:t>     </a:t>
            </a:r>
            <a:r>
              <a:rPr lang="zh-CN" altLang="en-US" b="1" dirty="0">
                <a:latin typeface="Times New Roman" panose="02020603050405020304" pitchFamily="18" charset="0"/>
              </a:rPr>
              <a:t>进制后保证同样精度需要</a:t>
            </a:r>
            <a:r>
              <a:rPr lang="en-US" altLang="zh-CN" b="1" dirty="0">
                <a:latin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</a:rPr>
              <a:t>位小数。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这时最低位的值应相等，即：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两边取对数，得：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所以：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一般，取</a:t>
            </a:r>
            <a:r>
              <a:rPr lang="en-US" altLang="zh-CN" b="1" dirty="0">
                <a:latin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</a:rPr>
              <a:t>为满足下列不等式的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最小整数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8" name="Object 3"/>
              <p:cNvSpPr txBox="1"/>
              <p:nvPr/>
            </p:nvSpPr>
            <p:spPr>
              <a:xfrm>
                <a:off x="2301875" y="3214689"/>
                <a:ext cx="5230813" cy="53082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均为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进制表示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1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875" y="3214689"/>
                <a:ext cx="5230813" cy="530822"/>
              </a:xfrm>
              <a:prstGeom prst="rect">
                <a:avLst/>
              </a:prstGeom>
              <a:blipFill rotWithShape="1">
                <a:blip r:embed="rId1"/>
                <a:stretch>
                  <a:fillRect t="-60" r="6" b="5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19" name="Object 4"/>
              <p:cNvSpPr txBox="1"/>
              <p:nvPr/>
            </p:nvSpPr>
            <p:spPr>
              <a:xfrm>
                <a:off x="1923688" y="1765454"/>
                <a:ext cx="513392" cy="530821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1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688" y="1765454"/>
                <a:ext cx="513392" cy="530821"/>
              </a:xfrm>
              <a:prstGeom prst="rect">
                <a:avLst/>
              </a:prstGeom>
              <a:blipFill rotWithShape="1">
                <a:blip r:embed="rId2"/>
                <a:stretch>
                  <a:fillRect l="-53" t="-29" r="114" b="22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20" name="Object 5"/>
              <p:cNvSpPr txBox="1"/>
              <p:nvPr/>
            </p:nvSpPr>
            <p:spPr>
              <a:xfrm>
                <a:off x="6056313" y="1843088"/>
                <a:ext cx="398462" cy="5318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2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313" y="1843088"/>
                <a:ext cx="398462" cy="531812"/>
              </a:xfrm>
              <a:prstGeom prst="rect">
                <a:avLst/>
              </a:prstGeom>
              <a:blipFill rotWithShape="1">
                <a:blip r:embed="rId3"/>
                <a:stretch>
                  <a:fillRect l="-80" t="-60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21" name="Object 6"/>
              <p:cNvSpPr txBox="1"/>
              <p:nvPr/>
            </p:nvSpPr>
            <p:spPr>
              <a:xfrm>
                <a:off x="3814762" y="3876675"/>
                <a:ext cx="2547937" cy="542924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2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762" y="3876675"/>
                <a:ext cx="2547937" cy="542924"/>
              </a:xfrm>
              <a:prstGeom prst="rect">
                <a:avLst/>
              </a:prstGeom>
              <a:blipFill rotWithShape="1">
                <a:blip r:embed="rId4"/>
                <a:stretch>
                  <a:fillRect l="-12" r="25" b="11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22" name="Object 7"/>
              <p:cNvSpPr txBox="1"/>
              <p:nvPr/>
            </p:nvSpPr>
            <p:spPr>
              <a:xfrm>
                <a:off x="2300288" y="4507904"/>
                <a:ext cx="4154487" cy="53082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2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288" y="4507904"/>
                <a:ext cx="4154487" cy="530822"/>
              </a:xfrm>
              <a:prstGeom prst="rect">
                <a:avLst/>
              </a:prstGeom>
              <a:blipFill rotWithShape="1">
                <a:blip r:embed="rId5"/>
                <a:stretch>
                  <a:fillRect l="-8" t="-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23" name="Object 8"/>
              <p:cNvSpPr txBox="1"/>
              <p:nvPr/>
            </p:nvSpPr>
            <p:spPr>
              <a:xfrm>
                <a:off x="2393950" y="5796951"/>
                <a:ext cx="3968750" cy="53082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2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950" y="5796951"/>
                <a:ext cx="3968750" cy="530823"/>
              </a:xfrm>
              <a:prstGeom prst="rect">
                <a:avLst/>
              </a:prstGeom>
              <a:blipFill rotWithShape="1">
                <a:blip r:embed="rId6"/>
                <a:stretch>
                  <a:fillRect t="-7" b="119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9218" grpId="0"/>
      <p:bldP spid="9219" grpId="0"/>
      <p:bldP spid="9220" grpId="0"/>
      <p:bldP spid="9221" grpId="0"/>
      <p:bldP spid="9222" grpId="0"/>
      <p:bldP spid="92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/>
          <p:nvPr/>
        </p:nvSpPr>
        <p:spPr>
          <a:xfrm>
            <a:off x="790575" y="615950"/>
            <a:ext cx="7662863" cy="4400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例：将（</a:t>
            </a:r>
            <a:r>
              <a:rPr lang="en-US" altLang="zh-CN" b="1" dirty="0">
                <a:latin typeface="Times New Roman" panose="02020603050405020304" pitchFamily="18" charset="0"/>
              </a:rPr>
              <a:t>0.4071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r>
              <a:rPr lang="en-US" altLang="zh-CN" b="1" dirty="0">
                <a:latin typeface="Times New Roman" panose="02020603050405020304" pitchFamily="18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</a:rPr>
              <a:t>转换成八进制数，要求保持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b="1" dirty="0">
                <a:latin typeface="Times New Roman" panose="02020603050405020304" pitchFamily="18" charset="0"/>
              </a:rPr>
              <a:t>           </a:t>
            </a:r>
            <a:r>
              <a:rPr lang="zh-CN" altLang="en-US" b="1" dirty="0">
                <a:latin typeface="Times New Roman" panose="02020603050405020304" pitchFamily="18" charset="0"/>
              </a:rPr>
              <a:t>的精度。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解：设八进制小数需</a:t>
            </a:r>
            <a:r>
              <a:rPr lang="en-US" altLang="zh-CN" b="1" dirty="0">
                <a:latin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</a:rPr>
              <a:t>位，则</a:t>
            </a:r>
            <a:r>
              <a:rPr lang="en-US" altLang="zh-CN" b="1" dirty="0">
                <a:latin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</a:rPr>
              <a:t>应满足：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将                              代入，则得：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取满足此不等式的最小整数</a:t>
            </a:r>
            <a:r>
              <a:rPr lang="en-US" altLang="zh-CN" b="1" i="1" dirty="0">
                <a:latin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</a:rPr>
              <a:t>=5.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42" name="Object 2"/>
              <p:cNvSpPr txBox="1"/>
              <p:nvPr/>
            </p:nvSpPr>
            <p:spPr>
              <a:xfrm>
                <a:off x="701675" y="1092200"/>
                <a:ext cx="1230642" cy="54121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±(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4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75" y="1092200"/>
                <a:ext cx="1230642" cy="541218"/>
              </a:xfrm>
              <a:prstGeom prst="rect">
                <a:avLst/>
              </a:prstGeom>
              <a:blipFill rotWithShape="1">
                <a:blip r:embed="rId1"/>
                <a:stretch>
                  <a:fillRect r="1" b="3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3" name="Object 3"/>
              <p:cNvSpPr txBox="1"/>
              <p:nvPr/>
            </p:nvSpPr>
            <p:spPr>
              <a:xfrm>
                <a:off x="2062163" y="2495550"/>
                <a:ext cx="3587750" cy="54121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4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163" y="2495550"/>
                <a:ext cx="3587750" cy="541218"/>
              </a:xfrm>
              <a:prstGeom prst="rect">
                <a:avLst/>
              </a:prstGeom>
              <a:blipFill rotWithShape="1">
                <a:blip r:embed="rId2"/>
                <a:stretch>
                  <a:fillRect l="-9" r="9" b="3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4" name="Object 4"/>
              <p:cNvSpPr txBox="1"/>
              <p:nvPr/>
            </p:nvSpPr>
            <p:spPr>
              <a:xfrm>
                <a:off x="1205008" y="3216513"/>
                <a:ext cx="2901171" cy="54121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4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008" y="3216513"/>
                <a:ext cx="2901171" cy="541218"/>
              </a:xfrm>
              <a:prstGeom prst="rect">
                <a:avLst/>
              </a:prstGeom>
              <a:blipFill rotWithShape="1">
                <a:blip r:embed="rId3"/>
                <a:stretch>
                  <a:fillRect l="-14" t="-44" r="9" b="81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5" name="Object 5"/>
              <p:cNvSpPr txBox="1"/>
              <p:nvPr/>
            </p:nvSpPr>
            <p:spPr>
              <a:xfrm>
                <a:off x="2062163" y="3778371"/>
                <a:ext cx="4392612" cy="54121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428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4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163" y="3778371"/>
                <a:ext cx="4392612" cy="541218"/>
              </a:xfrm>
              <a:prstGeom prst="rect">
                <a:avLst/>
              </a:prstGeom>
              <a:blipFill rotWithShape="1">
                <a:blip r:embed="rId4"/>
                <a:stretch>
                  <a:fillRect l="-7" t="-22" b="-2997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266" name="Object 2"/>
              <p:cNvSpPr txBox="1"/>
              <p:nvPr/>
            </p:nvSpPr>
            <p:spPr>
              <a:xfrm>
                <a:off x="1255395" y="1212215"/>
                <a:ext cx="7551420" cy="230441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4071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2508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0064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0512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4096</m:t>
                      </m:r>
                    </m:oMath>
                    <m:oMath xmlns:m="http://schemas.openxmlformats.org/officeDocument/2006/math"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×     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_____________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  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×     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___________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×   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_____________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×    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____________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 ×   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____________</m:t>
                          </m:r>
                        </m:lim>
                      </m:limLow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2508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0064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0512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4096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2768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  ↓    ↓    ↓    ↓     ↓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     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     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26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95" y="1212215"/>
                <a:ext cx="7551420" cy="230441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7" name="矩形 2"/>
          <p:cNvSpPr/>
          <p:nvPr/>
        </p:nvSpPr>
        <p:spPr>
          <a:xfrm>
            <a:off x="1057275" y="4135438"/>
            <a:ext cx="74152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即 </a:t>
            </a:r>
            <a:r>
              <a:rPr lang="en-US" altLang="zh-CN" b="1" dirty="0">
                <a:latin typeface="Times New Roman" panose="02020603050405020304" pitchFamily="18" charset="0"/>
              </a:rPr>
              <a:t>(0.4071)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10  </a:t>
            </a:r>
            <a:r>
              <a:rPr lang="en-US" altLang="zh-CN" b="1" dirty="0">
                <a:latin typeface="Times New Roman" panose="02020603050405020304" pitchFamily="18" charset="0"/>
              </a:rPr>
              <a:t>=  (0.32003)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8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11268" name="椭圆 3"/>
          <p:cNvSpPr/>
          <p:nvPr/>
        </p:nvSpPr>
        <p:spPr>
          <a:xfrm>
            <a:off x="1495425" y="2247900"/>
            <a:ext cx="225425" cy="323850"/>
          </a:xfrm>
          <a:prstGeom prst="ellipse">
            <a:avLst/>
          </a:pr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69" name="椭圆 4"/>
          <p:cNvSpPr/>
          <p:nvPr/>
        </p:nvSpPr>
        <p:spPr>
          <a:xfrm>
            <a:off x="2852738" y="2260600"/>
            <a:ext cx="225425" cy="322263"/>
          </a:xfrm>
          <a:prstGeom prst="ellipse">
            <a:avLst/>
          </a:pr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0" name="椭圆 5"/>
          <p:cNvSpPr/>
          <p:nvPr/>
        </p:nvSpPr>
        <p:spPr>
          <a:xfrm>
            <a:off x="4175125" y="2271713"/>
            <a:ext cx="227013" cy="322262"/>
          </a:xfrm>
          <a:prstGeom prst="ellipse">
            <a:avLst/>
          </a:pr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1" name="椭圆 6"/>
          <p:cNvSpPr/>
          <p:nvPr/>
        </p:nvSpPr>
        <p:spPr>
          <a:xfrm>
            <a:off x="5541963" y="2271713"/>
            <a:ext cx="225425" cy="322262"/>
          </a:xfrm>
          <a:prstGeom prst="ellipse">
            <a:avLst/>
          </a:pr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2" name="椭圆 7"/>
          <p:cNvSpPr/>
          <p:nvPr/>
        </p:nvSpPr>
        <p:spPr>
          <a:xfrm>
            <a:off x="6854825" y="2260600"/>
            <a:ext cx="225425" cy="322263"/>
          </a:xfrm>
          <a:prstGeom prst="ellipse">
            <a:avLst/>
          </a:pr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068388" y="1958975"/>
            <a:ext cx="7173913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05000" marR="0" indent="-1905000" defTabSz="914400" fontAlgn="base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真   值：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直接用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"+"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"–"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表示符号的二进制数，不能在机器使用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1" lang="en-US" altLang="zh-CN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1082675" y="2994025"/>
            <a:ext cx="7173913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000250" marR="0" indent="-2000250" defTabSz="914400" fontAlgn="base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b="1" kern="1200" cap="none" spc="0" normalizeH="0" baseline="0" noProof="0" dirty="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机器数：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将符号数值化了的二进制数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可在机器中使用。</a:t>
            </a:r>
            <a:endParaRPr kumimoji="1" lang="zh-CN" altLang="en-US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8" name="Text Box 4"/>
          <p:cNvSpPr txBox="1"/>
          <p:nvPr/>
        </p:nvSpPr>
        <p:spPr>
          <a:xfrm>
            <a:off x="1104900" y="4049713"/>
            <a:ext cx="5940425" cy="560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000250" indent="-2000250" fontAlgn="base">
              <a:lnSpc>
                <a:spcPct val="120000"/>
              </a:lnSpc>
            </a:pPr>
            <a:r>
              <a:rPr lang="en-US" altLang="zh-CN" b="1" dirty="0">
                <a:solidFill>
                  <a:srgbClr val="CC66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CC6600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b="1" dirty="0">
                <a:latin typeface="Times New Roman" panose="02020603050405020304" pitchFamily="18" charset="0"/>
              </a:rPr>
              <a:t>一般将符号位放在数的最高位。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2229" name="Text Box 5"/>
          <p:cNvSpPr txBox="1"/>
          <p:nvPr/>
        </p:nvSpPr>
        <p:spPr>
          <a:xfrm>
            <a:off x="1560513" y="4703763"/>
            <a:ext cx="3279775" cy="609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000250" indent="-2000250" fontAlgn="base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例：     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</a:rPr>
              <a:t>1011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5200650" y="4799013"/>
            <a:ext cx="2743200" cy="519112"/>
            <a:chOff x="2628" y="3558"/>
            <a:chExt cx="1728" cy="327"/>
          </a:xfrm>
        </p:grpSpPr>
        <p:sp>
          <p:nvSpPr>
            <p:cNvPr id="59409" name="Rectangle 7"/>
            <p:cNvSpPr/>
            <p:nvPr/>
          </p:nvSpPr>
          <p:spPr>
            <a:xfrm>
              <a:off x="2628" y="3564"/>
              <a:ext cx="1728" cy="300"/>
            </a:xfrm>
            <a:prstGeom prst="rect">
              <a:avLst/>
            </a:prstGeom>
            <a:noFill/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10" name="Text Box 8"/>
            <p:cNvSpPr txBox="1"/>
            <p:nvPr/>
          </p:nvSpPr>
          <p:spPr>
            <a:xfrm>
              <a:off x="2666" y="3558"/>
              <a:ext cx="16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b="1" dirty="0">
                  <a:latin typeface="Times New Roman" panose="02020603050405020304" pitchFamily="18" charset="0"/>
                </a:rPr>
                <a:t>     1    0    1     1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11" name="Line 9"/>
            <p:cNvSpPr/>
            <p:nvPr/>
          </p:nvSpPr>
          <p:spPr>
            <a:xfrm>
              <a:off x="2976" y="356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" name="Line 10"/>
            <p:cNvSpPr/>
            <p:nvPr/>
          </p:nvSpPr>
          <p:spPr>
            <a:xfrm>
              <a:off x="3336" y="356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" name="Line 11"/>
            <p:cNvSpPr/>
            <p:nvPr/>
          </p:nvSpPr>
          <p:spPr>
            <a:xfrm>
              <a:off x="3684" y="356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4" name="Line 12"/>
            <p:cNvSpPr/>
            <p:nvPr/>
          </p:nvSpPr>
          <p:spPr>
            <a:xfrm>
              <a:off x="4020" y="356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5165725" y="5718175"/>
            <a:ext cx="2743200" cy="519113"/>
            <a:chOff x="2628" y="3558"/>
            <a:chExt cx="1728" cy="327"/>
          </a:xfrm>
        </p:grpSpPr>
        <p:sp>
          <p:nvSpPr>
            <p:cNvPr id="59403" name="Rectangle 14"/>
            <p:cNvSpPr/>
            <p:nvPr/>
          </p:nvSpPr>
          <p:spPr>
            <a:xfrm>
              <a:off x="2628" y="3564"/>
              <a:ext cx="1728" cy="300"/>
            </a:xfrm>
            <a:prstGeom prst="rect">
              <a:avLst/>
            </a:prstGeom>
            <a:noFill/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04" name="Text Box 15"/>
            <p:cNvSpPr txBox="1"/>
            <p:nvPr/>
          </p:nvSpPr>
          <p:spPr>
            <a:xfrm>
              <a:off x="2666" y="3558"/>
              <a:ext cx="16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b="1" dirty="0">
                  <a:latin typeface="Times New Roman" panose="02020603050405020304" pitchFamily="18" charset="0"/>
                </a:rPr>
                <a:t>    1    0    1     1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05" name="Line 16"/>
            <p:cNvSpPr/>
            <p:nvPr/>
          </p:nvSpPr>
          <p:spPr>
            <a:xfrm>
              <a:off x="2976" y="356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6" name="Line 17"/>
            <p:cNvSpPr/>
            <p:nvPr/>
          </p:nvSpPr>
          <p:spPr>
            <a:xfrm>
              <a:off x="3336" y="356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" name="Line 18"/>
            <p:cNvSpPr/>
            <p:nvPr/>
          </p:nvSpPr>
          <p:spPr>
            <a:xfrm>
              <a:off x="3684" y="356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" name="Line 19"/>
            <p:cNvSpPr/>
            <p:nvPr/>
          </p:nvSpPr>
          <p:spPr>
            <a:xfrm>
              <a:off x="4020" y="3564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44" name="Text Box 20"/>
          <p:cNvSpPr txBox="1"/>
          <p:nvPr/>
        </p:nvSpPr>
        <p:spPr>
          <a:xfrm>
            <a:off x="2855913" y="5556250"/>
            <a:ext cx="1831975" cy="563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000250" indent="-2000250" fontAlgn="base">
              <a:lnSpc>
                <a:spcPct val="120000"/>
              </a:lnSpc>
            </a:pP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b="1" dirty="0">
                <a:latin typeface="Times New Roman" panose="02020603050405020304" pitchFamily="18" charset="0"/>
              </a:rPr>
              <a:t>1011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2246" name="Text Box 22"/>
          <p:cNvSpPr txBox="1">
            <a:spLocks noChangeArrowheads="1"/>
          </p:cNvSpPr>
          <p:nvPr/>
        </p:nvSpPr>
        <p:spPr bwMode="auto">
          <a:xfrm>
            <a:off x="282575" y="1255713"/>
            <a:ext cx="343281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2.2.1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真值与机器数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190500" y="568325"/>
            <a:ext cx="488315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2.2  </a:t>
            </a:r>
            <a:r>
              <a:rPr kumimoji="1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带符号数的代码表示</a:t>
            </a:r>
            <a:endParaRPr kumimoji="1" lang="zh-CN" altLang="en-US" sz="32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build="p"/>
      <p:bldP spid="52227" grpId="0" build="p"/>
      <p:bldP spid="52228" grpId="0" build="p"/>
      <p:bldP spid="52229" grpId="0" build="p"/>
      <p:bldP spid="52244" grpId="0" build="p"/>
      <p:bldP spid="5224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214313" y="577850"/>
            <a:ext cx="8189913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2.2.2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原码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Text Box 3"/>
          <p:cNvSpPr txBox="1"/>
          <p:nvPr/>
        </p:nvSpPr>
        <p:spPr>
          <a:xfrm>
            <a:off x="344488" y="1177925"/>
            <a:ext cx="8150225" cy="120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6750" fontAlgn="base">
              <a:lnSpc>
                <a:spcPct val="13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又称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"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符号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数值表示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",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对于正数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符号位为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0,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对于负数、符号位为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1,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其余各位表示数值部分。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7" name="Text Box 33"/>
          <p:cNvSpPr txBox="1"/>
          <p:nvPr/>
        </p:nvSpPr>
        <p:spPr>
          <a:xfrm>
            <a:off x="1174750" y="2424113"/>
            <a:ext cx="6119813" cy="1289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854075" indent="-854075" fontAlgn="base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例：</a:t>
            </a:r>
            <a:r>
              <a:rPr lang="zh-CN" altLang="en-US" dirty="0">
                <a:latin typeface="Times New Roman" panose="02020603050405020304" pitchFamily="18" charset="0"/>
              </a:rPr>
              <a:t> 	 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 </a:t>
            </a:r>
            <a:r>
              <a:rPr lang="en-US" altLang="zh-CN" dirty="0">
                <a:latin typeface="Times New Roman" panose="02020603050405020304" pitchFamily="18" charset="0"/>
              </a:rPr>
              <a:t>= +10011	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 </a:t>
            </a:r>
            <a:r>
              <a:rPr lang="en-US" altLang="zh-CN" dirty="0">
                <a:latin typeface="Times New Roman" panose="02020603050405020304" pitchFamily="18" charset="0"/>
              </a:rPr>
              <a:t>= – 01010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dirty="0">
                <a:latin typeface="Times New Roman" panose="02020603050405020304" pitchFamily="18" charset="0"/>
              </a:rPr>
              <a:t>= 010011	[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dirty="0">
                <a:latin typeface="Times New Roman" panose="02020603050405020304" pitchFamily="18" charset="0"/>
              </a:rPr>
              <a:t>= 101010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2018" name="Text Box 34"/>
          <p:cNvSpPr txBox="1"/>
          <p:nvPr/>
        </p:nvSpPr>
        <p:spPr>
          <a:xfrm>
            <a:off x="944563" y="3705225"/>
            <a:ext cx="7177087" cy="2597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原码表示的特点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真值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有两种原码表示形式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            </a:t>
            </a:r>
            <a:r>
              <a:rPr lang="zh-CN" altLang="en-US" b="1" dirty="0">
                <a:latin typeface="Times New Roman" panose="02020603050405020304" pitchFamily="18" charset="0"/>
              </a:rPr>
              <a:t>即   </a:t>
            </a:r>
            <a:r>
              <a:rPr lang="en-US" altLang="zh-CN" b="1" dirty="0">
                <a:latin typeface="Times New Roman" panose="02020603050405020304" pitchFamily="18" charset="0"/>
              </a:rPr>
              <a:t>[ +0]</a:t>
            </a:r>
            <a:r>
              <a:rPr lang="zh-CN" altLang="en-US" b="1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b="1" dirty="0">
                <a:latin typeface="Times New Roman" panose="02020603050405020304" pitchFamily="18" charset="0"/>
              </a:rPr>
              <a:t>= 00…0	[– 0]</a:t>
            </a:r>
            <a:r>
              <a:rPr lang="zh-CN" altLang="en-US" b="1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b="1" dirty="0">
                <a:latin typeface="Times New Roman" panose="02020603050405020304" pitchFamily="18" charset="0"/>
              </a:rPr>
              <a:t>= 1 0…0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     (2)</a:t>
            </a:r>
            <a:r>
              <a:rPr lang="zh-CN" altLang="en-US" b="1" dirty="0">
                <a:latin typeface="Times New Roman" panose="02020603050405020304" pitchFamily="18" charset="0"/>
              </a:rPr>
              <a:t>表示范围：</a:t>
            </a:r>
            <a:r>
              <a:rPr lang="en-US" altLang="zh-CN" b="1" dirty="0">
                <a:latin typeface="Times New Roman" panose="02020603050405020304" pitchFamily="18" charset="0"/>
              </a:rPr>
              <a:t>-127—+127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8</a:t>
            </a:r>
            <a:r>
              <a:rPr lang="zh-CN" altLang="en-US" b="1" dirty="0">
                <a:latin typeface="Times New Roman" panose="02020603050405020304" pitchFamily="18" charset="0"/>
              </a:rPr>
              <a:t>位整数）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42017" grpId="0" build="p"/>
      <p:bldP spid="42018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ext Box 5"/>
          <p:cNvSpPr txBox="1"/>
          <p:nvPr/>
        </p:nvSpPr>
        <p:spPr>
          <a:xfrm>
            <a:off x="473075" y="647700"/>
            <a:ext cx="222408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原码公式：</a:t>
            </a:r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310" name="Object 6"/>
              <p:cNvSpPr txBox="1"/>
              <p:nvPr>
                <p:ph sz="half" idx="2"/>
              </p:nvPr>
            </p:nvSpPr>
            <p:spPr>
              <a:xfrm>
                <a:off x="2465705" y="4728845"/>
                <a:ext cx="3096895" cy="851535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4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831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465705" y="4728845"/>
                <a:ext cx="3096895" cy="8515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314" name="Text Box 10"/>
          <p:cNvSpPr txBox="1"/>
          <p:nvPr/>
        </p:nvSpPr>
        <p:spPr>
          <a:xfrm>
            <a:off x="665163" y="1455738"/>
            <a:ext cx="8558212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solidFill>
                  <a:srgbClr val="FF00FF"/>
                </a:solidFill>
                <a:latin typeface="Arial" panose="020B0604020202020204" pitchFamily="34" charset="0"/>
              </a:rPr>
              <a:t>整数</a:t>
            </a:r>
            <a:r>
              <a:rPr lang="zh-CN" altLang="en-US" b="1" dirty="0">
                <a:latin typeface="Arial" panose="020B0604020202020204" pitchFamily="34" charset="0"/>
              </a:rPr>
              <a:t>：真值</a:t>
            </a:r>
            <a:r>
              <a:rPr lang="en-US" altLang="zh-CN" b="1" dirty="0">
                <a:latin typeface="Arial" panose="020B0604020202020204" pitchFamily="34" charset="0"/>
              </a:rPr>
              <a:t>N</a:t>
            </a:r>
            <a:r>
              <a:rPr lang="zh-CN" altLang="en-US" b="1" dirty="0">
                <a:latin typeface="Arial" panose="020B0604020202020204" pitchFamily="34" charset="0"/>
              </a:rPr>
              <a:t>为整数，由</a:t>
            </a:r>
            <a:r>
              <a:rPr lang="en-US" altLang="zh-CN" b="1" dirty="0">
                <a:latin typeface="Arial" panose="020B0604020202020204" pitchFamily="34" charset="0"/>
              </a:rPr>
              <a:t>n-1</a:t>
            </a:r>
            <a:r>
              <a:rPr lang="zh-CN" altLang="en-US" b="1" dirty="0">
                <a:latin typeface="Arial" panose="020B0604020202020204" pitchFamily="34" charset="0"/>
              </a:rPr>
              <a:t>位二进制数字组成，则：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98316" name="Text Box 12"/>
          <p:cNvSpPr txBox="1"/>
          <p:nvPr/>
        </p:nvSpPr>
        <p:spPr>
          <a:xfrm>
            <a:off x="742950" y="3756025"/>
            <a:ext cx="8559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solidFill>
                  <a:srgbClr val="FF00FF"/>
                </a:solidFill>
                <a:latin typeface="Arial" panose="020B0604020202020204" pitchFamily="34" charset="0"/>
              </a:rPr>
              <a:t>定点小数</a:t>
            </a:r>
            <a:r>
              <a:rPr lang="zh-CN" altLang="en-US" b="1" dirty="0">
                <a:latin typeface="Arial" panose="020B0604020202020204" pitchFamily="34" charset="0"/>
              </a:rPr>
              <a:t>：</a:t>
            </a:r>
            <a:r>
              <a:rPr lang="en-US" altLang="zh-CN" b="1" dirty="0">
                <a:latin typeface="Arial" panose="020B0604020202020204" pitchFamily="34" charset="0"/>
              </a:rPr>
              <a:t>N</a:t>
            </a:r>
            <a:r>
              <a:rPr lang="zh-CN" altLang="en-US" b="1" dirty="0">
                <a:latin typeface="Arial" panose="020B0604020202020204" pitchFamily="34" charset="0"/>
              </a:rPr>
              <a:t>为二进制小数，有</a:t>
            </a:r>
            <a:r>
              <a:rPr lang="en-US" altLang="zh-CN" b="1" dirty="0">
                <a:latin typeface="Arial" panose="020B0604020202020204" pitchFamily="34" charset="0"/>
              </a:rPr>
              <a:t>n-1</a:t>
            </a:r>
            <a:r>
              <a:rPr lang="zh-CN" altLang="en-US" b="1" dirty="0">
                <a:latin typeface="Arial" panose="020B0604020202020204" pitchFamily="34" charset="0"/>
              </a:rPr>
              <a:t>位小数组成，则：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317" name="Object 13"/>
              <p:cNvSpPr txBox="1"/>
              <p:nvPr>
                <p:ph sz="half" idx="1"/>
              </p:nvPr>
            </p:nvSpPr>
            <p:spPr>
              <a:xfrm>
                <a:off x="2373630" y="2360930"/>
                <a:ext cx="3281045" cy="946150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4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83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373630" y="2360930"/>
                <a:ext cx="3281045" cy="9461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6215063" y="2360613"/>
            <a:ext cx="2928938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（含一位符号位）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6" name="矩形 7"/>
          <p:cNvSpPr/>
          <p:nvPr/>
        </p:nvSpPr>
        <p:spPr>
          <a:xfrm>
            <a:off x="6210300" y="4887913"/>
            <a:ext cx="30702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（含一位符号位）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4" grpId="0"/>
      <p:bldP spid="98316" grpId="0"/>
      <p:bldP spid="7" grpId="0"/>
      <p:bldP spid="1229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69875" y="646113"/>
            <a:ext cx="7927975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2.2.3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反   码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Text Box 3"/>
          <p:cNvSpPr txBox="1"/>
          <p:nvPr/>
        </p:nvSpPr>
        <p:spPr>
          <a:xfrm>
            <a:off x="685800" y="1268413"/>
            <a:ext cx="7597775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6750" fontAlgn="base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对于正数，其反码表示与原码表示相同，对于负数，符号位为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，其余各位是将原码数值按位求反。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7412" name="Text Box 4"/>
          <p:cNvSpPr txBox="1"/>
          <p:nvPr/>
        </p:nvSpPr>
        <p:spPr>
          <a:xfrm>
            <a:off x="695325" y="2749550"/>
            <a:ext cx="7308850" cy="1298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333500" indent="-1333500" fontAlgn="base"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例：     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     </a:t>
            </a:r>
            <a:r>
              <a:rPr lang="en-US" altLang="zh-CN" dirty="0">
                <a:latin typeface="Times New Roman" panose="02020603050405020304" pitchFamily="18" charset="0"/>
              </a:rPr>
              <a:t>= +10011	       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      </a:t>
            </a:r>
            <a:r>
              <a:rPr lang="en-US" altLang="zh-CN" dirty="0">
                <a:latin typeface="Times New Roman" panose="02020603050405020304" pitchFamily="18" charset="0"/>
              </a:rPr>
              <a:t>= – 01010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dirty="0">
                <a:latin typeface="Times New Roman" panose="02020603050405020304" pitchFamily="18" charset="0"/>
              </a:rPr>
              <a:t>= 010011		[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dirty="0">
                <a:latin typeface="Times New Roman" panose="02020603050405020304" pitchFamily="18" charset="0"/>
              </a:rPr>
              <a:t>= 1 10101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7413" name="Text Box 5"/>
          <p:cNvSpPr txBox="1"/>
          <p:nvPr/>
        </p:nvSpPr>
        <p:spPr>
          <a:xfrm>
            <a:off x="765175" y="4117975"/>
            <a:ext cx="7505700" cy="2160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524000" indent="-1524000" fontAlgn="base">
              <a:lnSpc>
                <a:spcPct val="120000"/>
              </a:lnSpc>
            </a:pP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反码表示的特点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:</a:t>
            </a:r>
            <a:endParaRPr lang="en-US" altLang="zh-CN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 marL="1524000" indent="-1524000" fontAlgn="base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    (1)  </a:t>
            </a:r>
            <a:r>
              <a:rPr lang="zh-CN" altLang="en-US" b="1" dirty="0">
                <a:latin typeface="Times New Roman" panose="02020603050405020304" pitchFamily="18" charset="0"/>
              </a:rPr>
              <a:t>真值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也有两种反码表示形式，即         </a:t>
            </a:r>
            <a:r>
              <a:rPr lang="en-US" altLang="zh-CN" b="1" dirty="0">
                <a:latin typeface="Times New Roman" panose="02020603050405020304" pitchFamily="18" charset="0"/>
              </a:rPr>
              <a:t>[ +0]</a:t>
            </a:r>
            <a:r>
              <a:rPr lang="zh-CN" altLang="zh-CN" b="1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b="1" dirty="0">
                <a:latin typeface="Times New Roman" panose="02020603050405020304" pitchFamily="18" charset="0"/>
              </a:rPr>
              <a:t>= 00…0		[– 0]</a:t>
            </a:r>
            <a:r>
              <a:rPr lang="zh-CN" altLang="zh-CN" b="1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b="1" dirty="0">
                <a:latin typeface="Times New Roman" panose="02020603050405020304" pitchFamily="18" charset="0"/>
              </a:rPr>
              <a:t>= 1 1…1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1524000" indent="-1524000" fontAlgn="base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r>
              <a:rPr lang="en-US" altLang="zh-CN" b="1" dirty="0">
                <a:latin typeface="Arial" panose="020B0604020202020204" pitchFamily="34" charset="0"/>
              </a:rPr>
              <a:t>(2) </a:t>
            </a:r>
            <a:r>
              <a:rPr lang="zh-CN" altLang="en-US" b="1" dirty="0">
                <a:latin typeface="Arial" panose="020B0604020202020204" pitchFamily="34" charset="0"/>
              </a:rPr>
              <a:t>表示范围：</a:t>
            </a:r>
            <a:r>
              <a:rPr lang="en-US" altLang="zh-CN" b="1" dirty="0">
                <a:latin typeface="Arial" panose="020B0604020202020204" pitchFamily="34" charset="0"/>
              </a:rPr>
              <a:t>-127—+127</a:t>
            </a:r>
            <a:r>
              <a:rPr lang="zh-CN" altLang="en-US" b="1" dirty="0">
                <a:latin typeface="Arial" panose="020B0604020202020204" pitchFamily="34" charset="0"/>
              </a:rPr>
              <a:t>（</a:t>
            </a:r>
            <a:r>
              <a:rPr lang="en-US" altLang="zh-CN" b="1" dirty="0">
                <a:latin typeface="Arial" panose="020B0604020202020204" pitchFamily="34" charset="0"/>
              </a:rPr>
              <a:t>8</a:t>
            </a:r>
            <a:r>
              <a:rPr lang="zh-CN" altLang="en-US" b="1" dirty="0">
                <a:latin typeface="Arial" panose="020B0604020202020204" pitchFamily="34" charset="0"/>
              </a:rPr>
              <a:t>位整数）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17412" grpId="0" build="p"/>
      <p:bldP spid="1741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2"/>
          <p:cNvSpPr txBox="1"/>
          <p:nvPr/>
        </p:nvSpPr>
        <p:spPr>
          <a:xfrm>
            <a:off x="461963" y="657225"/>
            <a:ext cx="2224087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反码公式：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427" name="Object 3"/>
              <p:cNvSpPr txBox="1"/>
              <p:nvPr>
                <p:ph sz="half" idx="2"/>
              </p:nvPr>
            </p:nvSpPr>
            <p:spPr>
              <a:xfrm>
                <a:off x="2022475" y="4554855"/>
                <a:ext cx="4858385" cy="999490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反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       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342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022475" y="4554855"/>
                <a:ext cx="4858385" cy="9994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696913" y="1509713"/>
            <a:ext cx="4152900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整数</a:t>
            </a:r>
            <a:r>
              <a:rPr kumimoji="0" lang="zh-CN" altLang="en-US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b="1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（含一位符号位）</a:t>
            </a:r>
            <a:endParaRPr kumimoji="0" lang="zh-CN" altLang="en-US" b="1" kern="1200" cap="none" spc="0" normalizeH="0" baseline="0" noProof="0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42950" y="3605213"/>
            <a:ext cx="48736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定点小数</a:t>
            </a:r>
            <a:r>
              <a:rPr kumimoji="0" lang="zh-CN" altLang="en-US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b="1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（含一位符号位）</a:t>
            </a:r>
            <a:endParaRPr kumimoji="0" lang="zh-CN" altLang="en-US" b="1" kern="1200" cap="none" spc="0" normalizeH="0" baseline="0" noProof="0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430" name="Object 6"/>
              <p:cNvSpPr txBox="1"/>
              <p:nvPr>
                <p:ph sz="half" idx="1"/>
              </p:nvPr>
            </p:nvSpPr>
            <p:spPr>
              <a:xfrm>
                <a:off x="1891665" y="2305050"/>
                <a:ext cx="4798060" cy="1009015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反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      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&amp;(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343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891665" y="2305050"/>
                <a:ext cx="4798060" cy="1009015"/>
              </a:xfrm>
              <a:prstGeom prst="rect">
                <a:avLst/>
              </a:prstGeom>
              <a:blipFill rotWithShape="1">
                <a:blip r:embed="rId2"/>
                <a:stretch>
                  <a:fillRect t="-63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9" name="矩形 6"/>
          <p:cNvSpPr/>
          <p:nvPr/>
        </p:nvSpPr>
        <p:spPr>
          <a:xfrm>
            <a:off x="2755900" y="5684838"/>
            <a:ext cx="141287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  =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-1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/>
      <p:bldP spid="103429" grpId="0"/>
      <p:bldP spid="133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52425" y="604838"/>
            <a:ext cx="4381500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2.2.4 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  码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Text Box 3"/>
          <p:cNvSpPr txBox="1"/>
          <p:nvPr/>
        </p:nvSpPr>
        <p:spPr>
          <a:xfrm>
            <a:off x="673100" y="1290638"/>
            <a:ext cx="7534275" cy="150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762000" fontAlgn="base">
              <a:lnSpc>
                <a:spcPct val="11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对于正数，其补码表示与原码表示相同，对于负数，符号位为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，其余各位是在反码数值的末位加</a:t>
            </a:r>
            <a:r>
              <a:rPr lang="en-US" altLang="zh-CN" b="1" dirty="0">
                <a:latin typeface="Times New Roman" panose="02020603050405020304" pitchFamily="18" charset="0"/>
              </a:rPr>
              <a:t>"1".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9460" name="Text Box 4"/>
          <p:cNvSpPr txBox="1"/>
          <p:nvPr/>
        </p:nvSpPr>
        <p:spPr>
          <a:xfrm>
            <a:off x="936625" y="2736850"/>
            <a:ext cx="7118350" cy="1127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1333500" indent="-1333500" fontAlgn="base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例：</a:t>
            </a:r>
            <a:r>
              <a:rPr lang="zh-CN" altLang="en-US" dirty="0"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 </a:t>
            </a:r>
            <a:r>
              <a:rPr lang="en-US" altLang="zh-CN" dirty="0">
                <a:latin typeface="Times New Roman" panose="02020603050405020304" pitchFamily="18" charset="0"/>
              </a:rPr>
              <a:t>= +10011	              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 </a:t>
            </a:r>
            <a:r>
              <a:rPr lang="en-US" altLang="zh-CN" dirty="0">
                <a:latin typeface="Times New Roman" panose="02020603050405020304" pitchFamily="18" charset="0"/>
              </a:rPr>
              <a:t>= – 01010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1333500" indent="-1333500"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   [ 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= 010011		[N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= 1 10110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954088" y="3898900"/>
            <a:ext cx="7505700" cy="1630363"/>
            <a:chOff x="480" y="2755"/>
            <a:chExt cx="4728" cy="1027"/>
          </a:xfrm>
        </p:grpSpPr>
        <p:sp>
          <p:nvSpPr>
            <p:cNvPr id="62473" name="Text Box 5"/>
            <p:cNvSpPr txBox="1"/>
            <p:nvPr/>
          </p:nvSpPr>
          <p:spPr>
            <a:xfrm>
              <a:off x="480" y="2755"/>
              <a:ext cx="4728" cy="10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1333500" indent="-1333500" defTabSz="914400" fontAlgn="base">
                <a:lnSpc>
                  <a:spcPct val="120000"/>
                </a:lnSpc>
                <a:spcBef>
                  <a:spcPct val="50000"/>
                </a:spcBef>
                <a:tabLst>
                  <a:tab pos="23812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   (1)</a:t>
              </a:r>
              <a:r>
                <a:rPr lang="zh-CN" altLang="en-US" b="1" dirty="0">
                  <a:latin typeface="Times New Roman" panose="02020603050405020304" pitchFamily="18" charset="0"/>
                </a:rPr>
                <a:t>真值</a:t>
              </a: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r>
                <a:rPr lang="zh-CN" altLang="en-US" b="1" dirty="0">
                  <a:latin typeface="Times New Roman" panose="02020603050405020304" pitchFamily="18" charset="0"/>
                </a:rPr>
                <a:t>只有一种补码表示形式，即</a:t>
              </a:r>
              <a:br>
                <a:rPr lang="zh-CN" altLang="en-US" b="1" dirty="0">
                  <a:latin typeface="Times New Roman" panose="02020603050405020304" pitchFamily="18" charset="0"/>
                </a:rPr>
              </a:br>
              <a:r>
                <a:rPr lang="en-US" altLang="zh-CN" b="1" dirty="0">
                  <a:latin typeface="Times New Roman" panose="02020603050405020304" pitchFamily="18" charset="0"/>
                </a:rPr>
                <a:t>[ – 0]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b="1" dirty="0">
                  <a:latin typeface="Times New Roman" panose="02020603050405020304" pitchFamily="18" charset="0"/>
                </a:rPr>
                <a:t>= [– 0]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反</a:t>
              </a:r>
              <a:r>
                <a:rPr lang="zh-CN" altLang="zh-CN" b="1" dirty="0">
                  <a:latin typeface="Times New Roman" panose="02020603050405020304" pitchFamily="18" charset="0"/>
                </a:rPr>
                <a:t>+1</a:t>
              </a:r>
              <a:r>
                <a:rPr lang="en-US" altLang="zh-CN" b="1" dirty="0">
                  <a:latin typeface="Times New Roman" panose="02020603050405020304" pitchFamily="18" charset="0"/>
                </a:rPr>
                <a:t>= 1 1…1+1</a:t>
              </a:r>
              <a:br>
                <a:rPr lang="en-US" altLang="zh-CN" b="1" dirty="0">
                  <a:latin typeface="Times New Roman" panose="02020603050405020304" pitchFamily="18" charset="0"/>
                </a:rPr>
              </a:br>
              <a:r>
                <a:rPr lang="en-US" altLang="zh-CN" b="1" dirty="0">
                  <a:latin typeface="Times New Roman" panose="02020603050405020304" pitchFamily="18" charset="0"/>
                </a:rPr>
                <a:t>	= 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1  </a:t>
              </a:r>
              <a:r>
                <a:rPr lang="en-US" altLang="zh-CN" b="1" dirty="0">
                  <a:latin typeface="Times New Roman" panose="02020603050405020304" pitchFamily="18" charset="0"/>
                </a:rPr>
                <a:t>0  0 … 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2474" name="Rectangle 6"/>
            <p:cNvSpPr/>
            <p:nvPr/>
          </p:nvSpPr>
          <p:spPr>
            <a:xfrm>
              <a:off x="2172" y="3515"/>
              <a:ext cx="204" cy="216"/>
            </a:xfrm>
            <a:prstGeom prst="rect">
              <a:avLst/>
            </a:prstGeom>
            <a:noFill/>
            <a:ln w="952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9464" name="Text Box 8"/>
          <p:cNvSpPr txBox="1"/>
          <p:nvPr/>
        </p:nvSpPr>
        <p:spPr>
          <a:xfrm>
            <a:off x="2043113" y="5251450"/>
            <a:ext cx="15001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丢弃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9465" name="Freeform 9"/>
          <p:cNvSpPr/>
          <p:nvPr/>
        </p:nvSpPr>
        <p:spPr>
          <a:xfrm>
            <a:off x="2808288" y="5513388"/>
            <a:ext cx="952500" cy="254000"/>
          </a:xfrm>
          <a:custGeom>
            <a:avLst/>
            <a:gdLst>
              <a:gd name="txL" fmla="*/ 0 w 600"/>
              <a:gd name="txT" fmla="*/ 0 h 160"/>
              <a:gd name="txR" fmla="*/ 600 w 600"/>
              <a:gd name="txB" fmla="*/ 160 h 160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600" h="160">
                <a:moveTo>
                  <a:pt x="0" y="96"/>
                </a:moveTo>
                <a:cubicBezTo>
                  <a:pt x="72" y="104"/>
                  <a:pt x="356" y="160"/>
                  <a:pt x="456" y="144"/>
                </a:cubicBezTo>
                <a:cubicBezTo>
                  <a:pt x="556" y="128"/>
                  <a:pt x="576" y="26"/>
                  <a:pt x="600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triangl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68" name="Text Box 12"/>
          <p:cNvSpPr txBox="1"/>
          <p:nvPr/>
        </p:nvSpPr>
        <p:spPr>
          <a:xfrm>
            <a:off x="1277938" y="5613400"/>
            <a:ext cx="6248400" cy="720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70000"/>
              </a:lnSpc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Arial" panose="020B0604020202020204" pitchFamily="34" charset="0"/>
              </a:rPr>
              <a:t>表示范围：</a:t>
            </a:r>
            <a:r>
              <a:rPr lang="en-US" altLang="zh-CN" b="1" dirty="0">
                <a:latin typeface="Arial" panose="020B0604020202020204" pitchFamily="34" charset="0"/>
              </a:rPr>
              <a:t>-128—+127</a:t>
            </a:r>
            <a:r>
              <a:rPr lang="zh-CN" altLang="en-US" b="1" dirty="0">
                <a:latin typeface="Arial" panose="020B0604020202020204" pitchFamily="34" charset="0"/>
              </a:rPr>
              <a:t>（</a:t>
            </a:r>
            <a:r>
              <a:rPr lang="en-US" altLang="zh-CN" b="1" dirty="0">
                <a:latin typeface="Arial" panose="020B0604020202020204" pitchFamily="34" charset="0"/>
              </a:rPr>
              <a:t>8</a:t>
            </a:r>
            <a:r>
              <a:rPr lang="zh-CN" altLang="en-US" b="1" dirty="0">
                <a:latin typeface="Arial" panose="020B0604020202020204" pitchFamily="34" charset="0"/>
              </a:rPr>
              <a:t>位整数）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  <p:bldP spid="19460" grpId="0" build="p"/>
      <p:bldP spid="19464" grpId="0"/>
      <p:bldP spid="1946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2"/>
          <p:cNvSpPr txBox="1"/>
          <p:nvPr/>
        </p:nvSpPr>
        <p:spPr>
          <a:xfrm>
            <a:off x="623888" y="690563"/>
            <a:ext cx="2224087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补码公式：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451" name="Object 3"/>
              <p:cNvSpPr txBox="1"/>
              <p:nvPr>
                <p:ph sz="half" idx="2"/>
              </p:nvPr>
            </p:nvSpPr>
            <p:spPr>
              <a:xfrm>
                <a:off x="2009775" y="4696460"/>
                <a:ext cx="4422140" cy="940435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55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445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009775" y="4696460"/>
                <a:ext cx="4422140" cy="9404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719138" y="1563688"/>
            <a:ext cx="4133850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整数</a:t>
            </a:r>
            <a:r>
              <a:rPr kumimoji="0" lang="zh-CN" altLang="en-US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b="1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（含一位符号位）</a:t>
            </a:r>
            <a:endParaRPr kumimoji="0" lang="zh-CN" altLang="en-US" b="1" kern="1200" cap="none" spc="0" normalizeH="0" baseline="0" noProof="0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453" name="Text Box 5"/>
          <p:cNvSpPr txBox="1"/>
          <p:nvPr/>
        </p:nvSpPr>
        <p:spPr>
          <a:xfrm>
            <a:off x="785813" y="3584575"/>
            <a:ext cx="487362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solidFill>
                  <a:srgbClr val="FF00FF"/>
                </a:solidFill>
                <a:latin typeface="Arial" panose="020B0604020202020204" pitchFamily="34" charset="0"/>
              </a:rPr>
              <a:t>定点小数</a:t>
            </a:r>
            <a:r>
              <a:rPr lang="zh-CN" altLang="en-US" b="1" dirty="0">
                <a:latin typeface="Arial" panose="020B0604020202020204" pitchFamily="34" charset="0"/>
              </a:rPr>
              <a:t>：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（含一位符号位）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454" name="Object 6"/>
              <p:cNvSpPr txBox="1"/>
              <p:nvPr>
                <p:ph sz="half" idx="1"/>
              </p:nvPr>
            </p:nvSpPr>
            <p:spPr>
              <a:xfrm>
                <a:off x="1939925" y="2319655"/>
                <a:ext cx="4770755" cy="1031240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55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     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445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939925" y="2319655"/>
                <a:ext cx="4770755" cy="10312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/>
      <p:bldP spid="10445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33375" y="528638"/>
            <a:ext cx="347980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补码的补充说明：</a:t>
            </a:r>
            <a:endParaRPr kumimoji="0" lang="zh-CN" altLang="en-US" sz="32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3491" name="Text Box 3"/>
          <p:cNvSpPr txBox="1"/>
          <p:nvPr/>
        </p:nvSpPr>
        <p:spPr>
          <a:xfrm>
            <a:off x="865188" y="1246188"/>
            <a:ext cx="184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endParaRPr lang="zh-CN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60772" name="Text Box 4"/>
          <p:cNvSpPr txBox="1"/>
          <p:nvPr/>
        </p:nvSpPr>
        <p:spPr>
          <a:xfrm>
            <a:off x="865188" y="1116013"/>
            <a:ext cx="802005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</a:rPr>
              <a:t>数学上，补码与其真值构成了以某一值（计算机的字长）为模的“模数系统”或“同余”结构的代数系统。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60773" name="Text Box 5"/>
          <p:cNvSpPr txBox="1"/>
          <p:nvPr/>
        </p:nvSpPr>
        <p:spPr>
          <a:xfrm>
            <a:off x="757238" y="2533650"/>
            <a:ext cx="35560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buChar char="•"/>
            </a:pPr>
            <a:r>
              <a:rPr lang="zh-CN" altLang="en-US" b="1" dirty="0">
                <a:latin typeface="Times New Roman" panose="02020603050405020304" pitchFamily="18" charset="0"/>
              </a:rPr>
              <a:t>模：计量器的容量。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60774" name="Text Box 6"/>
          <p:cNvSpPr txBox="1"/>
          <p:nvPr/>
        </p:nvSpPr>
        <p:spPr>
          <a:xfrm>
            <a:off x="1330325" y="3128963"/>
            <a:ext cx="58134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例：计算机的字长为</a:t>
            </a:r>
            <a:r>
              <a:rPr lang="en-US" altLang="zh-CN" b="1" dirty="0"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</a:rPr>
              <a:t>，模数为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60775" name="Line 7"/>
          <p:cNvSpPr/>
          <p:nvPr/>
        </p:nvSpPr>
        <p:spPr>
          <a:xfrm flipH="1">
            <a:off x="1306513" y="4784725"/>
            <a:ext cx="11906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776" name="Text Box 8"/>
          <p:cNvSpPr txBox="1"/>
          <p:nvPr/>
        </p:nvSpPr>
        <p:spPr>
          <a:xfrm>
            <a:off x="446088" y="4470400"/>
            <a:ext cx="1893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丢弃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63497" name="AutoShape 9"/>
          <p:cNvSpPr/>
          <p:nvPr/>
        </p:nvSpPr>
        <p:spPr>
          <a:xfrm>
            <a:off x="2641600" y="4902200"/>
            <a:ext cx="914400" cy="609600"/>
          </a:xfrm>
          <a:prstGeom prst="flowChartProcess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endParaRPr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2098675" y="3644900"/>
            <a:ext cx="3890963" cy="1384300"/>
            <a:chOff x="1322" y="2445"/>
            <a:chExt cx="2451" cy="872"/>
          </a:xfrm>
        </p:grpSpPr>
        <p:sp>
          <p:nvSpPr>
            <p:cNvPr id="63501" name="Text Box 11"/>
            <p:cNvSpPr txBox="1"/>
            <p:nvPr/>
          </p:nvSpPr>
          <p:spPr>
            <a:xfrm>
              <a:off x="1322" y="2445"/>
              <a:ext cx="2451" cy="8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</a:rPr>
                <a:t>         1  0  0  1         9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r>
                <a:rPr lang="en-US" altLang="zh-CN" b="1" u="sng" dirty="0">
                  <a:latin typeface="Times New Roman" panose="02020603050405020304" pitchFamily="18" charset="0"/>
                </a:rPr>
                <a:t>+       1  0  0  0         8</a:t>
              </a:r>
              <a:r>
                <a:rPr lang="en-US" altLang="zh-CN" b="1" dirty="0">
                  <a:latin typeface="Times New Roman" panose="02020603050405020304" pitchFamily="18" charset="0"/>
                </a:rPr>
                <a:t>       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r>
                <a:rPr lang="en-US" altLang="zh-CN" b="1" dirty="0">
                  <a:latin typeface="Times New Roman" panose="02020603050405020304" pitchFamily="18" charset="0"/>
                </a:rPr>
                <a:t>    </a:t>
              </a:r>
              <a:r>
                <a:rPr lang="en-US" altLang="zh-CN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 1</a:t>
              </a:r>
              <a:r>
                <a:rPr lang="en-US" altLang="zh-CN" b="1" dirty="0">
                  <a:latin typeface="Times New Roman" panose="02020603050405020304" pitchFamily="18" charset="0"/>
                </a:rPr>
                <a:t>  0  0  0  1        17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02" name="AutoShape 12"/>
            <p:cNvSpPr/>
            <p:nvPr/>
          </p:nvSpPr>
          <p:spPr>
            <a:xfrm>
              <a:off x="1600" y="3026"/>
              <a:ext cx="192" cy="238"/>
            </a:xfrm>
            <a:prstGeom prst="flowChartAlternateProcess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0781" name="Text Box 13"/>
          <p:cNvSpPr txBox="1"/>
          <p:nvPr/>
        </p:nvSpPr>
        <p:spPr>
          <a:xfrm>
            <a:off x="1211263" y="5095875"/>
            <a:ext cx="62023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在模</a:t>
            </a:r>
            <a:r>
              <a:rPr lang="en-US" altLang="zh-CN" b="1" dirty="0">
                <a:latin typeface="Times New Roman" panose="02020603050405020304" pitchFamily="18" charset="0"/>
              </a:rPr>
              <a:t>16</a:t>
            </a:r>
            <a:r>
              <a:rPr lang="zh-CN" altLang="en-US" b="1" dirty="0">
                <a:latin typeface="Times New Roman" panose="02020603050405020304" pitchFamily="18" charset="0"/>
              </a:rPr>
              <a:t>的系统中，</a:t>
            </a:r>
            <a:r>
              <a:rPr lang="en-US" altLang="zh-CN" b="1" dirty="0">
                <a:latin typeface="Times New Roman" panose="02020603050405020304" pitchFamily="18" charset="0"/>
              </a:rPr>
              <a:t>17=1 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mod16</a:t>
            </a:r>
            <a:r>
              <a:rPr lang="zh-CN" altLang="en-US" b="1" dirty="0">
                <a:latin typeface="Times New Roman" panose="02020603050405020304" pitchFamily="18" charset="0"/>
              </a:rPr>
              <a:t>）。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60782" name="Text Box 14"/>
          <p:cNvSpPr txBox="1"/>
          <p:nvPr/>
        </p:nvSpPr>
        <p:spPr>
          <a:xfrm>
            <a:off x="754063" y="5637213"/>
            <a:ext cx="8104187" cy="9540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b="1" dirty="0">
                <a:latin typeface="Times New Roman" panose="02020603050405020304" pitchFamily="18" charset="0"/>
              </a:rPr>
              <a:t>同余：在某一模数系统中，模数为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，如果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              余数相同，则称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模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同余。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/>
      <p:bldP spid="160773" grpId="0"/>
      <p:bldP spid="160774" grpId="0"/>
      <p:bldP spid="160776" grpId="0"/>
      <p:bldP spid="160781" grpId="0"/>
      <p:bldP spid="16078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2"/>
          <p:cNvSpPr txBox="1"/>
          <p:nvPr/>
        </p:nvSpPr>
        <p:spPr>
          <a:xfrm>
            <a:off x="822325" y="468313"/>
            <a:ext cx="184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15365" name="Text Box 3"/>
          <p:cNvSpPr txBox="1"/>
          <p:nvPr/>
        </p:nvSpPr>
        <p:spPr>
          <a:xfrm>
            <a:off x="1112838" y="788988"/>
            <a:ext cx="24352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补码的应用：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1796" name="Text Box 4"/>
          <p:cNvSpPr txBox="1"/>
          <p:nvPr/>
        </p:nvSpPr>
        <p:spPr>
          <a:xfrm>
            <a:off x="1057275" y="1420813"/>
            <a:ext cx="40894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例：钟表为模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的系统。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74700" y="2055813"/>
            <a:ext cx="1811338" cy="1900237"/>
            <a:chOff x="488" y="1295"/>
            <a:chExt cx="1141" cy="1197"/>
          </a:xfrm>
        </p:grpSpPr>
        <p:sp>
          <p:nvSpPr>
            <p:cNvPr id="15379" name="Oval 6"/>
            <p:cNvSpPr/>
            <p:nvPr/>
          </p:nvSpPr>
          <p:spPr>
            <a:xfrm>
              <a:off x="488" y="1369"/>
              <a:ext cx="1141" cy="10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/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0" name="Text Box 7"/>
            <p:cNvSpPr txBox="1"/>
            <p:nvPr/>
          </p:nvSpPr>
          <p:spPr>
            <a:xfrm>
              <a:off x="821" y="1298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1" name="Text Box 8"/>
            <p:cNvSpPr txBox="1"/>
            <p:nvPr/>
          </p:nvSpPr>
          <p:spPr>
            <a:xfrm>
              <a:off x="927" y="1360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CC6600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000" b="1" dirty="0">
                <a:solidFill>
                  <a:srgbClr val="CC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2" name="Text Box 9"/>
            <p:cNvSpPr txBox="1"/>
            <p:nvPr/>
          </p:nvSpPr>
          <p:spPr>
            <a:xfrm>
              <a:off x="1344" y="1733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5383" name="Text Box 10"/>
            <p:cNvSpPr txBox="1"/>
            <p:nvPr/>
          </p:nvSpPr>
          <p:spPr>
            <a:xfrm>
              <a:off x="1412" y="1773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CC66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solidFill>
                  <a:srgbClr val="CC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4" name="Text Box 11"/>
            <p:cNvSpPr txBox="1"/>
            <p:nvPr/>
          </p:nvSpPr>
          <p:spPr>
            <a:xfrm>
              <a:off x="509" y="179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CC6600"/>
                  </a:solidFill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solidFill>
                  <a:srgbClr val="CC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5" name="Text Box 12"/>
            <p:cNvSpPr txBox="1"/>
            <p:nvPr/>
          </p:nvSpPr>
          <p:spPr>
            <a:xfrm>
              <a:off x="945" y="220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CC66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solidFill>
                  <a:srgbClr val="CC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6" name="Line 13"/>
            <p:cNvSpPr/>
            <p:nvPr/>
          </p:nvSpPr>
          <p:spPr>
            <a:xfrm flipH="1">
              <a:off x="630" y="2098"/>
              <a:ext cx="76" cy="54"/>
            </a:xfrm>
            <a:prstGeom prst="line">
              <a:avLst/>
            </a:pr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Text Box 14"/>
            <p:cNvSpPr txBox="1"/>
            <p:nvPr/>
          </p:nvSpPr>
          <p:spPr>
            <a:xfrm>
              <a:off x="912" y="1776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●</a:t>
              </a:r>
              <a:endPara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88" name="AutoShape 15"/>
            <p:cNvSpPr/>
            <p:nvPr/>
          </p:nvSpPr>
          <p:spPr>
            <a:xfrm>
              <a:off x="1065" y="1565"/>
              <a:ext cx="27" cy="364"/>
            </a:xfrm>
            <a:prstGeom prst="upArrow">
              <a:avLst>
                <a:gd name="adj1" fmla="val 50000"/>
                <a:gd name="adj2" fmla="val 337037"/>
              </a:avLst>
            </a:prstGeom>
            <a:noFill/>
            <a:ln w="381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89" name="AutoShape 16"/>
            <p:cNvSpPr/>
            <p:nvPr/>
          </p:nvSpPr>
          <p:spPr>
            <a:xfrm rot="5400000">
              <a:off x="1223" y="1743"/>
              <a:ext cx="27" cy="342"/>
            </a:xfrm>
            <a:prstGeom prst="upArrow">
              <a:avLst>
                <a:gd name="adj1" fmla="val 50000"/>
                <a:gd name="adj2" fmla="val 316666"/>
              </a:avLst>
            </a:prstGeom>
            <a:noFill/>
            <a:ln w="381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90" name="Text Box 17"/>
            <p:cNvSpPr txBox="1"/>
            <p:nvPr/>
          </p:nvSpPr>
          <p:spPr>
            <a:xfrm>
              <a:off x="600" y="1821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∙</a:t>
              </a:r>
              <a:endParaRPr lang="en-US" altLang="zh-CN" sz="4800" b="1" dirty="0">
                <a:solidFill>
                  <a:srgbClr val="CC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91" name="Text Box 18"/>
            <p:cNvSpPr txBox="1"/>
            <p:nvPr/>
          </p:nvSpPr>
          <p:spPr>
            <a:xfrm>
              <a:off x="747" y="1968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∙</a:t>
              </a:r>
              <a:endParaRPr lang="en-US" altLang="zh-CN" sz="4800" b="1" dirty="0">
                <a:solidFill>
                  <a:srgbClr val="CC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92" name="Text Box 19"/>
            <p:cNvSpPr txBox="1"/>
            <p:nvPr/>
          </p:nvSpPr>
          <p:spPr>
            <a:xfrm>
              <a:off x="1166" y="1973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∙</a:t>
              </a:r>
              <a:endParaRPr lang="en-US" altLang="zh-CN" sz="4800" b="1" dirty="0">
                <a:solidFill>
                  <a:srgbClr val="CC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93" name="Text Box 20"/>
            <p:cNvSpPr txBox="1"/>
            <p:nvPr/>
          </p:nvSpPr>
          <p:spPr>
            <a:xfrm>
              <a:off x="1325" y="1827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∙</a:t>
              </a:r>
              <a:endParaRPr lang="en-US" altLang="zh-CN" sz="4800" b="1" dirty="0">
                <a:solidFill>
                  <a:srgbClr val="CC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94" name="Text Box 21"/>
            <p:cNvSpPr txBox="1"/>
            <p:nvPr/>
          </p:nvSpPr>
          <p:spPr>
            <a:xfrm>
              <a:off x="1319" y="1419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∙</a:t>
              </a:r>
              <a:endParaRPr lang="en-US" altLang="zh-CN" sz="4800" b="1" dirty="0">
                <a:solidFill>
                  <a:srgbClr val="CC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95" name="Text Box 22"/>
            <p:cNvSpPr txBox="1"/>
            <p:nvPr/>
          </p:nvSpPr>
          <p:spPr>
            <a:xfrm>
              <a:off x="1184" y="1296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∙</a:t>
              </a:r>
              <a:endParaRPr lang="en-US" altLang="zh-CN" sz="4800" b="1" dirty="0">
                <a:solidFill>
                  <a:srgbClr val="CC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96" name="Text Box 23"/>
            <p:cNvSpPr txBox="1"/>
            <p:nvPr/>
          </p:nvSpPr>
          <p:spPr>
            <a:xfrm>
              <a:off x="601" y="1442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∙</a:t>
              </a:r>
              <a:endParaRPr lang="en-US" altLang="zh-CN" sz="4800" b="1" dirty="0">
                <a:solidFill>
                  <a:srgbClr val="CC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97" name="Text Box 24"/>
            <p:cNvSpPr txBox="1"/>
            <p:nvPr/>
          </p:nvSpPr>
          <p:spPr>
            <a:xfrm>
              <a:off x="747" y="1295"/>
              <a:ext cx="212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∙</a:t>
              </a:r>
              <a:endParaRPr lang="en-US" altLang="zh-CN" sz="4800" b="1" dirty="0">
                <a:solidFill>
                  <a:srgbClr val="CC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161817" name="Text Box 25"/>
          <p:cNvSpPr txBox="1"/>
          <p:nvPr/>
        </p:nvSpPr>
        <p:spPr>
          <a:xfrm>
            <a:off x="2841625" y="2060575"/>
            <a:ext cx="40973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顺时针：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</a:rPr>
              <a:t>；逆时针：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61818" name="Text Box 26"/>
          <p:cNvSpPr txBox="1"/>
          <p:nvPr/>
        </p:nvSpPr>
        <p:spPr>
          <a:xfrm>
            <a:off x="2857500" y="2635250"/>
            <a:ext cx="2851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点拨到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点：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1819" name="Text Box 27"/>
          <p:cNvSpPr txBox="1"/>
          <p:nvPr/>
        </p:nvSpPr>
        <p:spPr>
          <a:xfrm>
            <a:off x="2962275" y="3189288"/>
            <a:ext cx="50800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12+3=15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</a:t>
            </a:r>
            <a:r>
              <a:rPr lang="en-US" altLang="zh-CN" dirty="0">
                <a:latin typeface="Times New Roman" panose="02020603050405020304" pitchFamily="18" charset="0"/>
              </a:rPr>
              <a:t>15-12=3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mod12)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61820" name="Text Box 28"/>
          <p:cNvSpPr txBox="1"/>
          <p:nvPr/>
        </p:nvSpPr>
        <p:spPr>
          <a:xfrm>
            <a:off x="3005138" y="3673475"/>
            <a:ext cx="4387850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2)  12-9=3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     12+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12-9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=3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mod12)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61821" name="Text Box 29"/>
          <p:cNvSpPr txBox="1"/>
          <p:nvPr/>
        </p:nvSpPr>
        <p:spPr>
          <a:xfrm>
            <a:off x="1127125" y="4983163"/>
            <a:ext cx="6862763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在模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的系统中，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n-N</a:t>
            </a:r>
            <a:r>
              <a:rPr lang="zh-CN" altLang="en-US" dirty="0">
                <a:latin typeface="Times New Roman" panose="02020603050405020304" pitchFamily="18" charset="0"/>
              </a:rPr>
              <a:t>是一对互补的数，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利用其特点可把减法变成加法运算。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73" name="Text Box 30"/>
          <p:cNvSpPr txBox="1"/>
          <p:nvPr/>
        </p:nvSpPr>
        <p:spPr>
          <a:xfrm>
            <a:off x="1430338" y="6007100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3" name="Group 31"/>
          <p:cNvGrpSpPr/>
          <p:nvPr/>
        </p:nvGrpSpPr>
        <p:grpSpPr>
          <a:xfrm>
            <a:off x="1200150" y="5934075"/>
            <a:ext cx="4375150" cy="519113"/>
            <a:chOff x="2076" y="3772"/>
            <a:chExt cx="2756" cy="327"/>
          </a:xfrm>
        </p:grpSpPr>
        <p:sp>
          <p:nvSpPr>
            <p:cNvPr id="15378" name="Text Box 32"/>
            <p:cNvSpPr txBox="1"/>
            <p:nvPr/>
          </p:nvSpPr>
          <p:spPr>
            <a:xfrm>
              <a:off x="2076" y="3772"/>
              <a:ext cx="275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[N]</a:t>
              </a:r>
              <a:r>
                <a:rPr lang="zh-CN" altLang="en-US" baseline="-25000" dirty="0">
                  <a:latin typeface="Times New Roman" panose="02020603050405020304" pitchFamily="18" charset="0"/>
                </a:rPr>
                <a:t>补</a:t>
              </a:r>
              <a:r>
                <a:rPr lang="en-US" altLang="zh-CN" dirty="0">
                  <a:latin typeface="Times New Roman" panose="02020603050405020304" pitchFamily="18" charset="0"/>
                </a:rPr>
                <a:t>=2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+N        -2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n-1</a:t>
              </a:r>
              <a:r>
                <a:rPr lang="en-US" altLang="zh-CN" dirty="0">
                  <a:latin typeface="Times New Roman" panose="02020603050405020304" pitchFamily="18" charset="0"/>
                </a:rPr>
                <a:t>    N &lt;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63" name="Object 33"/>
                <p:cNvSpPr txBox="1"/>
                <p:nvPr/>
              </p:nvSpPr>
              <p:spPr>
                <a:xfrm>
                  <a:off x="3982" y="3849"/>
                  <a:ext cx="188" cy="22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55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5363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2" y="3849"/>
                  <a:ext cx="188" cy="225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1827" name="Text Box 35"/>
          <p:cNvSpPr txBox="1"/>
          <p:nvPr/>
        </p:nvSpPr>
        <p:spPr>
          <a:xfrm>
            <a:off x="7008813" y="5913438"/>
            <a:ext cx="1438275" cy="528637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取反加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cxnSp>
        <p:nvCxnSpPr>
          <p:cNvPr id="161828" name="AutoShape 36"/>
          <p:cNvCxnSpPr>
            <a:stCxn id="15378" idx="1"/>
            <a:endCxn id="161827" idx="1"/>
          </p:cNvCxnSpPr>
          <p:nvPr/>
        </p:nvCxnSpPr>
        <p:spPr>
          <a:xfrm rot="-10800000" flipH="1">
            <a:off x="1200150" y="6178550"/>
            <a:ext cx="5808663" cy="15875"/>
          </a:xfrm>
          <a:prstGeom prst="bentConnector5">
            <a:avLst>
              <a:gd name="adj1" fmla="val -3935"/>
              <a:gd name="adj2" fmla="val 1720000"/>
              <a:gd name="adj3" fmla="val 87648"/>
            </a:avLst>
          </a:prstGeom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161829" name="Text Box 37"/>
          <p:cNvSpPr txBox="1"/>
          <p:nvPr/>
        </p:nvSpPr>
        <p:spPr>
          <a:xfrm>
            <a:off x="2343150" y="4557713"/>
            <a:ext cx="57594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则，在模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的系统里：</a:t>
            </a:r>
            <a:r>
              <a:rPr lang="en-US" altLang="zh-CN" dirty="0">
                <a:latin typeface="Times New Roman" panose="02020603050405020304" pitchFamily="18" charset="0"/>
              </a:rPr>
              <a:t>12-9=12+3=3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6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1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6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6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2" dur="2000" fill="hold"/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/>
      <p:bldP spid="161817" grpId="0"/>
      <p:bldP spid="161818" grpId="0"/>
      <p:bldP spid="161819" grpId="0"/>
      <p:bldP spid="161820" grpId="0"/>
      <p:bldP spid="161821" grpId="0"/>
      <p:bldP spid="161827" grpId="0" animBg="1"/>
      <p:bldP spid="161827" grpId="1" animBg="1"/>
      <p:bldP spid="1618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1066800" y="1227138"/>
            <a:ext cx="7634288" cy="3886200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dirty="0"/>
              <a:t>[x+y]</a:t>
            </a:r>
            <a:r>
              <a:rPr lang="zh-CN" altLang="en-US" dirty="0"/>
              <a:t>补</a:t>
            </a:r>
            <a:r>
              <a:rPr lang="en-US" altLang="zh-CN" dirty="0"/>
              <a:t>=[x]</a:t>
            </a:r>
            <a:r>
              <a:rPr lang="zh-CN" altLang="en-US" dirty="0"/>
              <a:t>补</a:t>
            </a:r>
            <a:r>
              <a:rPr lang="en-US" altLang="zh-CN" dirty="0"/>
              <a:t>+[y]</a:t>
            </a:r>
            <a:r>
              <a:rPr lang="zh-CN" altLang="en-US" dirty="0"/>
              <a:t>补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[x-y]</a:t>
            </a:r>
            <a:r>
              <a:rPr lang="zh-CN" altLang="en-US" dirty="0"/>
              <a:t>补</a:t>
            </a:r>
            <a:r>
              <a:rPr lang="en-US" altLang="zh-CN" dirty="0"/>
              <a:t>= [x+(-y)]</a:t>
            </a:r>
            <a:r>
              <a:rPr lang="zh-CN" altLang="en-US" dirty="0"/>
              <a:t>补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          = [x]</a:t>
            </a:r>
            <a:r>
              <a:rPr lang="zh-CN" altLang="en-US" dirty="0"/>
              <a:t>补</a:t>
            </a:r>
            <a:r>
              <a:rPr lang="en-US" altLang="zh-CN" dirty="0"/>
              <a:t>+[-y]</a:t>
            </a:r>
            <a:r>
              <a:rPr lang="zh-CN" altLang="en-US" dirty="0"/>
              <a:t>补</a:t>
            </a:r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386" name="Object 2"/>
              <p:cNvSpPr txBox="1"/>
              <p:nvPr>
                <p:ph idx="1"/>
              </p:nvPr>
            </p:nvSpPr>
            <p:spPr>
              <a:xfrm>
                <a:off x="1279525" y="1320165"/>
                <a:ext cx="6708140" cy="1635125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638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9525" y="1320165"/>
                <a:ext cx="6708140" cy="16351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346075" y="657225"/>
            <a:ext cx="3479800" cy="585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补码的补充公式：</a:t>
            </a:r>
            <a:endParaRPr kumimoji="0" lang="zh-CN" altLang="en-US" sz="32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389" name="Text Box 4"/>
          <p:cNvSpPr txBox="1"/>
          <p:nvPr/>
        </p:nvSpPr>
        <p:spPr>
          <a:xfrm>
            <a:off x="654050" y="3757613"/>
            <a:ext cx="10001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3200" b="1" dirty="0">
                <a:latin typeface="Arial" panose="020B0604020202020204" pitchFamily="34" charset="0"/>
              </a:rPr>
              <a:t>证：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7" name="Object 5"/>
              <p:cNvSpPr txBox="1"/>
              <p:nvPr/>
            </p:nvSpPr>
            <p:spPr>
              <a:xfrm>
                <a:off x="1654810" y="3952875"/>
                <a:ext cx="6129655" cy="137985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 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 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 −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638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810" y="3952875"/>
                <a:ext cx="6129655" cy="1379855"/>
              </a:xfrm>
              <a:prstGeom prst="rect">
                <a:avLst/>
              </a:prstGeom>
              <a:blipFill rotWithShape="1">
                <a:blip r:embed="rId2"/>
                <a:stretch>
                  <a:fillRect t="-782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0" name="Text Box 6"/>
          <p:cNvSpPr txBox="1"/>
          <p:nvPr/>
        </p:nvSpPr>
        <p:spPr>
          <a:xfrm>
            <a:off x="1163638" y="2867025"/>
            <a:ext cx="33321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b="1" dirty="0">
                <a:latin typeface="Arial" panose="020B0604020202020204" pitchFamily="34" charset="0"/>
              </a:rPr>
              <a:t>反之亦然。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2"/>
          <p:cNvSpPr txBox="1"/>
          <p:nvPr/>
        </p:nvSpPr>
        <p:spPr>
          <a:xfrm>
            <a:off x="950913" y="1130300"/>
            <a:ext cx="678973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endParaRPr lang="zh-CN" altLang="zh-CN" sz="18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0" name="Object 3"/>
              <p:cNvSpPr txBox="1"/>
              <p:nvPr>
                <p:ph/>
              </p:nvPr>
            </p:nvSpPr>
            <p:spPr>
              <a:xfrm>
                <a:off x="826770" y="1256030"/>
                <a:ext cx="7490460" cy="3725545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7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741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826770" y="1256030"/>
                <a:ext cx="7490460" cy="37255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/>
          <p:cNvSpPr txBox="1"/>
          <p:nvPr/>
        </p:nvSpPr>
        <p:spPr>
          <a:xfrm>
            <a:off x="814388" y="2813050"/>
            <a:ext cx="1000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3200" b="1" dirty="0">
                <a:latin typeface="Arial" panose="020B0604020202020204" pitchFamily="34" charset="0"/>
              </a:rPr>
              <a:t>证：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166917" name="Text Box 5"/>
          <p:cNvSpPr txBox="1">
            <a:spLocks noChangeArrowheads="1"/>
          </p:cNvSpPr>
          <p:nvPr/>
        </p:nvSpPr>
        <p:spPr bwMode="auto">
          <a:xfrm>
            <a:off x="250825" y="765175"/>
            <a:ext cx="16129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应用</a:t>
            </a:r>
            <a:r>
              <a:rPr kumimoji="0" lang="en-US" altLang="zh-CN" sz="32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32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</a:t>
            </a:r>
            <a:endParaRPr kumimoji="0" lang="zh-CN" altLang="en-US" sz="3200" b="1" kern="1200" cap="none" spc="0" normalizeH="0" baseline="0" noProof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2"/>
              <p:cNvSpPr txBox="1"/>
              <p:nvPr/>
            </p:nvSpPr>
            <p:spPr>
              <a:xfrm>
                <a:off x="2014538" y="873125"/>
                <a:ext cx="5883275" cy="1827213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538" y="873125"/>
                <a:ext cx="5883275" cy="1827213"/>
              </a:xfrm>
              <a:prstGeom prst="rect">
                <a:avLst/>
              </a:prstGeom>
              <a:blipFill rotWithShape="1">
                <a:blip r:embed="rId1"/>
                <a:stretch>
                  <a:fillRect l="-5" r="5" b="17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3"/>
              <p:cNvSpPr txBox="1"/>
              <p:nvPr/>
            </p:nvSpPr>
            <p:spPr>
              <a:xfrm>
                <a:off x="1403350" y="3644900"/>
                <a:ext cx="5829300" cy="20367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350" y="3644900"/>
                <a:ext cx="5829300" cy="2036763"/>
              </a:xfrm>
              <a:prstGeom prst="rect">
                <a:avLst/>
              </a:prstGeom>
              <a:blipFill rotWithShape="1">
                <a:blip r:embed="rId2"/>
                <a:stretch>
                  <a:fillRect b="16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2"/>
              <p:cNvSpPr txBox="1"/>
              <p:nvPr/>
            </p:nvSpPr>
            <p:spPr>
              <a:xfrm>
                <a:off x="900113" y="836613"/>
                <a:ext cx="6507162" cy="13573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3" y="836613"/>
                <a:ext cx="6507162" cy="1357312"/>
              </a:xfrm>
              <a:prstGeom prst="rect">
                <a:avLst/>
              </a:prstGeom>
              <a:blipFill rotWithShape="1">
                <a:blip r:embed="rId1"/>
                <a:stretch>
                  <a:fillRect l="-5" t="-2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3"/>
              <p:cNvSpPr txBox="1"/>
              <p:nvPr/>
            </p:nvSpPr>
            <p:spPr>
              <a:xfrm>
                <a:off x="1547813" y="2133600"/>
                <a:ext cx="5629275" cy="13573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 =(−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813" y="2133600"/>
                <a:ext cx="5629275" cy="1357313"/>
              </a:xfrm>
              <a:prstGeom prst="rect">
                <a:avLst/>
              </a:prstGeom>
              <a:blipFill rotWithShape="1">
                <a:blip r:embed="rId2"/>
                <a:stretch>
                  <a:fillRect l="-6" r="6" b="2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4"/>
              <p:cNvSpPr txBox="1"/>
              <p:nvPr/>
            </p:nvSpPr>
            <p:spPr>
              <a:xfrm>
                <a:off x="1619250" y="3644900"/>
                <a:ext cx="5589588" cy="20748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 =[(−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]+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0" y="3644900"/>
                <a:ext cx="5589588" cy="2074863"/>
              </a:xfrm>
              <a:prstGeom prst="rect">
                <a:avLst/>
              </a:prstGeom>
              <a:blipFill rotWithShape="1">
                <a:blip r:embed="rId3"/>
                <a:stretch>
                  <a:fillRect r="6" b="15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6" name="Group 5"/>
          <p:cNvGrpSpPr/>
          <p:nvPr/>
        </p:nvGrpSpPr>
        <p:grpSpPr>
          <a:xfrm>
            <a:off x="577850" y="4238625"/>
            <a:ext cx="8335963" cy="2420938"/>
            <a:chOff x="0" y="2795"/>
            <a:chExt cx="4876" cy="1525"/>
          </a:xfrm>
        </p:grpSpPr>
        <p:sp>
          <p:nvSpPr>
            <p:cNvPr id="17415" name="Text Box 6"/>
            <p:cNvSpPr txBox="1">
              <a:spLocks noChangeArrowheads="1"/>
            </p:cNvSpPr>
            <p:nvPr/>
          </p:nvSpPr>
          <p:spPr bwMode="auto">
            <a:xfrm>
              <a:off x="0" y="2976"/>
              <a:ext cx="2577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defTabSz="914400" fontAlgn="base">
                <a:buClrTx/>
                <a:buSzTx/>
                <a:buFontTx/>
                <a:buNone/>
                <a:defRPr/>
              </a:pPr>
              <a:r>
                <a:rPr kumimoji="0" lang="zh-CN" altLang="en-US" sz="3200" b="1" kern="1200" cap="none" spc="0" normalizeH="0" baseline="0" noProof="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表明：</a:t>
              </a:r>
              <a:r>
                <a:rPr kumimoji="0" lang="zh-CN" altLang="en-US" sz="3200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不论</a:t>
              </a:r>
              <a:r>
                <a:rPr kumimoji="0" lang="en-US" altLang="zh-CN" sz="3200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zh-CN" altLang="en-US" sz="3200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为正或负</a:t>
              </a:r>
              <a:r>
                <a:rPr kumimoji="0" lang="zh-CN" altLang="en-US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，</a:t>
              </a:r>
              <a:endPara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485" name="Object 7"/>
                <p:cNvSpPr txBox="1"/>
                <p:nvPr/>
              </p:nvSpPr>
              <p:spPr>
                <a:xfrm>
                  <a:off x="2576" y="2795"/>
                  <a:ext cx="907" cy="72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 [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补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0485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6" y="2795"/>
                  <a:ext cx="907" cy="721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488" name="Text Box 8"/>
            <p:cNvSpPr txBox="1"/>
            <p:nvPr/>
          </p:nvSpPr>
          <p:spPr>
            <a:xfrm>
              <a:off x="3515" y="2976"/>
              <a:ext cx="90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/>
              <a:r>
                <a:rPr lang="zh-CN" altLang="en-US" sz="3200" dirty="0">
                  <a:latin typeface="Arial" panose="020B0604020202020204" pitchFamily="34" charset="0"/>
                </a:rPr>
                <a:t>总等于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20489" name="Text Box 9"/>
            <p:cNvSpPr txBox="1"/>
            <p:nvPr/>
          </p:nvSpPr>
          <p:spPr>
            <a:xfrm>
              <a:off x="793" y="3475"/>
              <a:ext cx="4083" cy="8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/>
              <a:r>
                <a:rPr lang="en-US" altLang="zh-CN" sz="3200" dirty="0">
                  <a:latin typeface="Arial" panose="020B0604020202020204" pitchFamily="34" charset="0"/>
                </a:rPr>
                <a:t>[x]</a:t>
              </a:r>
              <a:r>
                <a:rPr lang="zh-CN" altLang="en-US" sz="3200" dirty="0">
                  <a:latin typeface="Arial" panose="020B0604020202020204" pitchFamily="34" charset="0"/>
                </a:rPr>
                <a:t>补的各位（含符号位）右移一位，且符号位保持不变。</a:t>
              </a:r>
              <a:endParaRPr lang="zh-CN" altLang="en-US" sz="3200" dirty="0">
                <a:latin typeface="Arial" panose="020B0604020202020204" pitchFamily="34" charset="0"/>
              </a:endParaRPr>
            </a:p>
            <a:p>
              <a:pPr fontAlgn="base"/>
              <a:endParaRPr lang="en-US" altLang="zh-CN" sz="1800" dirty="0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2"/>
              <p:cNvSpPr txBox="1"/>
              <p:nvPr/>
            </p:nvSpPr>
            <p:spPr>
              <a:xfrm>
                <a:off x="514350" y="582613"/>
                <a:ext cx="7785100" cy="13573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 =(−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582613"/>
                <a:ext cx="7785100" cy="1357312"/>
              </a:xfrm>
              <a:prstGeom prst="rect">
                <a:avLst/>
              </a:prstGeom>
              <a:blipFill rotWithShape="1">
                <a:blip r:embed="rId2"/>
                <a:stretch>
                  <a:fillRect t="-2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3"/>
              <p:cNvSpPr txBox="1"/>
              <p:nvPr/>
            </p:nvSpPr>
            <p:spPr>
              <a:xfrm>
                <a:off x="533400" y="1827213"/>
                <a:ext cx="5589588" cy="13573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 =(−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827213"/>
                <a:ext cx="5589588" cy="1357312"/>
              </a:xfrm>
              <a:prstGeom prst="rect">
                <a:avLst/>
              </a:prstGeom>
              <a:blipFill rotWithShape="1">
                <a:blip r:embed="rId3"/>
                <a:stretch>
                  <a:fillRect t="-23" r="6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4"/>
              <p:cNvSpPr txBox="1"/>
              <p:nvPr/>
            </p:nvSpPr>
            <p:spPr>
              <a:xfrm>
                <a:off x="706438" y="3175000"/>
                <a:ext cx="6049962" cy="11445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8" y="3175000"/>
                <a:ext cx="6049962" cy="1144588"/>
              </a:xfrm>
              <a:prstGeom prst="rect">
                <a:avLst/>
              </a:prstGeom>
              <a:blipFill rotWithShape="1">
                <a:blip r:embed="rId4"/>
                <a:stretch>
                  <a:fillRect l="-5" b="28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23850" y="549275"/>
            <a:ext cx="16129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应用</a:t>
            </a:r>
            <a:r>
              <a:rPr kumimoji="0" lang="en-US" altLang="zh-CN" sz="32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3200" b="1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</a:t>
            </a:r>
            <a:endParaRPr kumimoji="0" lang="zh-CN" altLang="en-US" sz="3200" b="1" kern="1200" cap="none" spc="0" normalizeH="0" baseline="0" noProof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3"/>
              <p:cNvSpPr txBox="1"/>
              <p:nvPr/>
            </p:nvSpPr>
            <p:spPr>
              <a:xfrm>
                <a:off x="2016125" y="549275"/>
                <a:ext cx="5549900" cy="13985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 [− 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125" y="549275"/>
                <a:ext cx="5549900" cy="1398588"/>
              </a:xfrm>
              <a:prstGeom prst="rect">
                <a:avLst/>
              </a:prstGeom>
              <a:blipFill rotWithShape="1">
                <a:blip r:embed="rId1"/>
                <a:stretch>
                  <a:fillRect b="2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4"/>
              <p:cNvSpPr txBox="1"/>
              <p:nvPr>
                <p:ph sz="quarter" idx="1"/>
              </p:nvPr>
            </p:nvSpPr>
            <p:spPr>
              <a:xfrm>
                <a:off x="1476375" y="2205038"/>
                <a:ext cx="6808788" cy="773112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76375" y="2205038"/>
                <a:ext cx="6808788" cy="773112"/>
              </a:xfrm>
              <a:prstGeom prst="rect">
                <a:avLst/>
              </a:prstGeom>
              <a:blipFill rotWithShape="1">
                <a:blip r:embed="rId2"/>
                <a:stretch>
                  <a:fillRect t="-41" r="5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5"/>
              <p:cNvSpPr txBox="1"/>
              <p:nvPr>
                <p:ph sz="quarter" idx="2"/>
              </p:nvPr>
            </p:nvSpPr>
            <p:spPr>
              <a:xfrm>
                <a:off x="2339975" y="3141663"/>
                <a:ext cx="4392613" cy="723900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>
              <a:xfrm>
                <a:off x="2339975" y="3141663"/>
                <a:ext cx="4392613" cy="723900"/>
              </a:xfrm>
              <a:prstGeom prst="rect">
                <a:avLst/>
              </a:prstGeom>
              <a:blipFill rotWithShape="1">
                <a:blip r:embed="rId3"/>
                <a:stretch>
                  <a:fillRect t="-44" r="7" b="44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6"/>
              <p:cNvSpPr txBox="1"/>
              <p:nvPr>
                <p:ph sz="quarter" idx="3"/>
              </p:nvPr>
            </p:nvSpPr>
            <p:spPr>
              <a:xfrm>
                <a:off x="2339975" y="4797425"/>
                <a:ext cx="4464050" cy="709613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>
              <a:xfrm>
                <a:off x="2339975" y="4797425"/>
                <a:ext cx="4464050" cy="709613"/>
              </a:xfrm>
              <a:prstGeom prst="rect">
                <a:avLst/>
              </a:prstGeom>
              <a:blipFill rotWithShape="1">
                <a:blip r:embed="rId4"/>
                <a:stretch>
                  <a:fillRect b="45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7"/>
          <p:cNvSpPr txBox="1"/>
          <p:nvPr/>
        </p:nvSpPr>
        <p:spPr>
          <a:xfrm>
            <a:off x="395288" y="2276475"/>
            <a:ext cx="1000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3200" b="1" dirty="0">
                <a:latin typeface="Arial" panose="020B0604020202020204" pitchFamily="34" charset="0"/>
              </a:rPr>
              <a:t>证：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8"/>
              <p:cNvSpPr txBox="1"/>
              <p:nvPr>
                <p:ph sz="quarter" idx="4"/>
              </p:nvPr>
            </p:nvSpPr>
            <p:spPr>
              <a:xfrm>
                <a:off x="2339975" y="5678488"/>
                <a:ext cx="4464050" cy="633412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7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2339975" y="5678488"/>
                <a:ext cx="4464050" cy="633412"/>
              </a:xfrm>
              <a:prstGeom prst="rect">
                <a:avLst/>
              </a:prstGeom>
              <a:blipFill rotWithShape="1">
                <a:blip r:embed="rId5"/>
                <a:stretch>
                  <a:fillRect t="-50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9"/>
              <p:cNvSpPr txBox="1"/>
              <p:nvPr/>
            </p:nvSpPr>
            <p:spPr>
              <a:xfrm>
                <a:off x="2339975" y="3933825"/>
                <a:ext cx="4321175" cy="7127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75" y="3933825"/>
                <a:ext cx="4321175" cy="712788"/>
              </a:xfrm>
              <a:prstGeom prst="rect">
                <a:avLst/>
              </a:prstGeom>
              <a:blipFill rotWithShape="1">
                <a:blip r:embed="rId6"/>
                <a:stretch>
                  <a:fillRect b="45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2"/>
              <p:cNvSpPr txBox="1"/>
              <p:nvPr/>
            </p:nvSpPr>
            <p:spPr>
              <a:xfrm>
                <a:off x="782638" y="774700"/>
                <a:ext cx="7332662" cy="7731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38" y="774700"/>
                <a:ext cx="7332662" cy="773113"/>
              </a:xfrm>
              <a:prstGeom prst="rect">
                <a:avLst/>
              </a:prstGeom>
              <a:blipFill rotWithShape="1">
                <a:blip r:embed="rId1"/>
                <a:stretch>
                  <a:fillRect l="-4" b="41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3"/>
              <p:cNvSpPr txBox="1"/>
              <p:nvPr/>
            </p:nvSpPr>
            <p:spPr>
              <a:xfrm>
                <a:off x="2051050" y="1493838"/>
                <a:ext cx="4306888" cy="7239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050" y="1493838"/>
                <a:ext cx="4306888" cy="723900"/>
              </a:xfrm>
              <a:prstGeom prst="rect">
                <a:avLst/>
              </a:prstGeom>
              <a:blipFill rotWithShape="1">
                <a:blip r:embed="rId2"/>
                <a:stretch>
                  <a:fillRect t="-44" r="7" b="44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4"/>
              <p:cNvSpPr txBox="1"/>
              <p:nvPr/>
            </p:nvSpPr>
            <p:spPr>
              <a:xfrm>
                <a:off x="2062163" y="3078163"/>
                <a:ext cx="5173662" cy="7096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163" y="3078163"/>
                <a:ext cx="5173662" cy="709612"/>
              </a:xfrm>
              <a:prstGeom prst="rect">
                <a:avLst/>
              </a:prstGeom>
              <a:blipFill rotWithShape="1">
                <a:blip r:embed="rId3"/>
                <a:stretch>
                  <a:fillRect l="-6" t="-45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5"/>
              <p:cNvSpPr txBox="1"/>
              <p:nvPr/>
            </p:nvSpPr>
            <p:spPr>
              <a:xfrm>
                <a:off x="2041525" y="2214563"/>
                <a:ext cx="4846638" cy="7556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525" y="2214563"/>
                <a:ext cx="4846638" cy="755650"/>
              </a:xfrm>
              <a:prstGeom prst="rect">
                <a:avLst/>
              </a:prstGeom>
              <a:blipFill rotWithShape="1">
                <a:blip r:embed="rId4"/>
                <a:stretch>
                  <a:fillRect t="-42" r="7" b="42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6"/>
              <p:cNvSpPr txBox="1"/>
              <p:nvPr/>
            </p:nvSpPr>
            <p:spPr>
              <a:xfrm>
                <a:off x="2068513" y="3943350"/>
                <a:ext cx="4951412" cy="7127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513" y="3943350"/>
                <a:ext cx="4951412" cy="712788"/>
              </a:xfrm>
              <a:prstGeom prst="rect">
                <a:avLst/>
              </a:prstGeom>
              <a:blipFill rotWithShape="1">
                <a:blip r:embed="rId5"/>
                <a:stretch>
                  <a:fillRect l="-6" b="45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7"/>
          <p:cNvSpPr txBox="1"/>
          <p:nvPr/>
        </p:nvSpPr>
        <p:spPr>
          <a:xfrm>
            <a:off x="900113" y="4662488"/>
            <a:ext cx="4494212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latin typeface="Arial" panose="020B0604020202020204" pitchFamily="34" charset="0"/>
              </a:rPr>
              <a:t>综合以上两种情况，得证。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3" name="Text Box 8"/>
          <p:cNvSpPr txBox="1"/>
          <p:nvPr/>
        </p:nvSpPr>
        <p:spPr>
          <a:xfrm>
            <a:off x="1093788" y="5227638"/>
            <a:ext cx="6329362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3200" dirty="0">
                <a:latin typeface="Arial" panose="020B0604020202020204" pitchFamily="34" charset="0"/>
              </a:rPr>
              <a:t>例：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补 </a:t>
            </a:r>
            <a:r>
              <a:rPr lang="en-US" altLang="zh-CN" sz="3200" dirty="0">
                <a:latin typeface="Times New Roman" panose="02020603050405020304" pitchFamily="18" charset="0"/>
              </a:rPr>
              <a:t>= 10111011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latin typeface="Times New Roman" panose="02020603050405020304" pitchFamily="18" charset="0"/>
              </a:rPr>
              <a:t>[-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3200" dirty="0">
                <a:latin typeface="Times New Roman" panose="02020603050405020304" pitchFamily="18" charset="0"/>
              </a:rPr>
              <a:t>= 01000100+1=01000101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376238" y="857250"/>
            <a:ext cx="7580312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3200" dirty="0">
                <a:latin typeface="Times New Roman" panose="02020603050405020304" pitchFamily="18" charset="0"/>
              </a:rPr>
              <a:t>例</a:t>
            </a:r>
            <a:r>
              <a:rPr lang="en-US" altLang="zh-CN" sz="3200" dirty="0"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</a:rPr>
              <a:t>：已知：</a:t>
            </a:r>
            <a:r>
              <a:rPr lang="zh-CN" altLang="en-US" sz="1800" dirty="0">
                <a:latin typeface="Arial" panose="020B0604020202020204" pitchFamily="34" charset="0"/>
              </a:rPr>
              <a:t>－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&lt; </a:t>
            </a:r>
            <a:r>
              <a:rPr lang="en-US" altLang="zh-CN" sz="3200" i="1" dirty="0">
                <a:latin typeface="Times New Roman" panose="02020603050405020304" pitchFamily="18" charset="0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</a:rPr>
              <a:t>&lt;0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</a:rPr>
              <a:t>为何值时等式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z="3200" dirty="0">
                <a:latin typeface="Times New Roman" panose="02020603050405020304" pitchFamily="18" charset="0"/>
              </a:rPr>
              <a:t>           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3200" dirty="0">
                <a:latin typeface="Times New Roman" panose="02020603050405020304" pitchFamily="18" charset="0"/>
              </a:rPr>
              <a:t>=[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dirty="0">
                <a:latin typeface="Times New Roman" panose="02020603050405020304" pitchFamily="18" charset="0"/>
              </a:rPr>
              <a:t>成立。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/>
          <p:nvPr/>
        </p:nvSpPr>
        <p:spPr>
          <a:xfrm>
            <a:off x="395288" y="2133600"/>
            <a:ext cx="76327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sz="3200" dirty="0">
                <a:latin typeface="Arial" panose="020B0604020202020204" pitchFamily="34" charset="0"/>
              </a:rPr>
              <a:t>解：</a:t>
            </a:r>
            <a:r>
              <a:rPr lang="en-US" altLang="zh-CN" sz="3200" dirty="0">
                <a:latin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</a:rPr>
              <a:t>、以四位二进制为例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  <p:graphicFrame>
        <p:nvGraphicFramePr>
          <p:cNvPr id="6" name="Object 4"/>
          <p:cNvGraphicFramePr/>
          <p:nvPr/>
        </p:nvGraphicFramePr>
        <p:xfrm>
          <a:off x="2268538" y="2924175"/>
          <a:ext cx="4540250" cy="359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845945" imgH="1464945" progId="Excel.Sheet.8">
                  <p:embed/>
                </p:oleObj>
              </mc:Choice>
              <mc:Fallback>
                <p:oleObj name="" r:id="rId1" imgW="1845945" imgH="1464945" progId="Excel.Sheet.8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8538" y="2924175"/>
                        <a:ext cx="4540250" cy="35988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/>
          <p:nvPr/>
        </p:nvSpPr>
        <p:spPr>
          <a:xfrm>
            <a:off x="558800" y="595313"/>
            <a:ext cx="8380413" cy="5829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3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</a:rPr>
              <a:t>、一般性说明：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fontAlgn="base">
              <a:lnSpc>
                <a:spcPct val="135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      由于</a:t>
            </a:r>
            <a:r>
              <a:rPr lang="zh-CN" altLang="en-US" sz="1800" dirty="0">
                <a:latin typeface="Arial" panose="020B0604020202020204" pitchFamily="34" charset="0"/>
              </a:rPr>
              <a:t>－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&lt; </a:t>
            </a:r>
            <a:r>
              <a:rPr lang="en-US" altLang="zh-CN" sz="3200" i="1" dirty="0">
                <a:latin typeface="Times New Roman" panose="02020603050405020304" pitchFamily="18" charset="0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</a:rPr>
              <a:t>&lt;0</a:t>
            </a:r>
            <a:r>
              <a:rPr lang="zh-CN" altLang="en-US" sz="3200" dirty="0">
                <a:latin typeface="Times New Roman" panose="02020603050405020304" pitchFamily="18" charset="0"/>
              </a:rPr>
              <a:t>， 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sz="3200" dirty="0">
                <a:latin typeface="Times New Roman" panose="02020603050405020304" pitchFamily="18" charset="0"/>
              </a:rPr>
              <a:t>=2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 </a:t>
            </a:r>
            <a:r>
              <a:rPr lang="en-US" altLang="en-US" sz="1800" dirty="0">
                <a:latin typeface="Arial" panose="020B0604020202020204" pitchFamily="34" charset="0"/>
              </a:rPr>
              <a:t>－</a:t>
            </a:r>
            <a:r>
              <a:rPr lang="zh-CN" altLang="en-US" sz="1800" dirty="0">
                <a:latin typeface="Arial" panose="020B0604020202020204" pitchFamily="34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                                     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3200" dirty="0">
                <a:latin typeface="Times New Roman" panose="02020603050405020304" pitchFamily="18" charset="0"/>
              </a:rPr>
              <a:t>=2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fontAlgn="base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3200" i="1" dirty="0">
                <a:latin typeface="Times New Roman" panose="02020603050405020304" pitchFamily="18" charset="0"/>
              </a:rPr>
              <a:t>      </a:t>
            </a:r>
            <a:r>
              <a:rPr lang="zh-CN" altLang="en-US" sz="3200" dirty="0">
                <a:latin typeface="Times New Roman" panose="02020603050405020304" pitchFamily="18" charset="0"/>
              </a:rPr>
              <a:t>为满足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sz="3200" dirty="0">
                <a:latin typeface="Times New Roman" panose="02020603050405020304" pitchFamily="18" charset="0"/>
              </a:rPr>
              <a:t>=[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补</a:t>
            </a:r>
            <a:endParaRPr lang="zh-CN" altLang="en-US" sz="3200" baseline="-25000" dirty="0"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3200" baseline="-25000" dirty="0">
                <a:latin typeface="Times New Roman" panose="02020603050405020304" pitchFamily="18" charset="0"/>
              </a:rPr>
              <a:t>                           </a:t>
            </a:r>
            <a:r>
              <a:rPr lang="zh-CN" altLang="en-US" sz="3200" dirty="0">
                <a:latin typeface="Times New Roman" panose="02020603050405020304" pitchFamily="18" charset="0"/>
              </a:rPr>
              <a:t>有： 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 </a:t>
            </a:r>
            <a:r>
              <a:rPr lang="en-US" altLang="en-US" sz="1800" dirty="0">
                <a:latin typeface="Arial" panose="020B0604020202020204" pitchFamily="34" charset="0"/>
              </a:rPr>
              <a:t>－</a:t>
            </a:r>
            <a:r>
              <a:rPr lang="zh-CN" altLang="en-US" sz="1800" dirty="0">
                <a:latin typeface="Arial" panose="020B0604020202020204" pitchFamily="34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 = 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3200" i="1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3200" dirty="0">
                <a:latin typeface="Times New Roman" panose="02020603050405020304" pitchFamily="18" charset="0"/>
              </a:rPr>
              <a:t>则</a:t>
            </a:r>
            <a:r>
              <a:rPr lang="zh-CN" altLang="en-US" sz="3200" i="1" dirty="0">
                <a:latin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</a:rPr>
              <a:t>2×</a:t>
            </a:r>
            <a:r>
              <a:rPr lang="en-US" altLang="zh-CN" sz="3200" i="1" dirty="0">
                <a:latin typeface="Times New Roman" panose="02020603050405020304" pitchFamily="18" charset="0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</a:rPr>
              <a:t>= 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 </a:t>
            </a:r>
            <a:r>
              <a:rPr lang="zh-CN" altLang="en-US" sz="1800" dirty="0">
                <a:latin typeface="Arial" panose="020B0604020202020204" pitchFamily="34" charset="0"/>
              </a:rPr>
              <a:t>－ 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endParaRPr lang="en-US" altLang="zh-CN" sz="3200" i="1" baseline="30000" dirty="0"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3200" i="1" baseline="30000" dirty="0">
                <a:latin typeface="Times New Roman" panose="02020603050405020304" pitchFamily="18" charset="0"/>
              </a:rPr>
              <a:t>                                     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x = </a:t>
            </a:r>
            <a:r>
              <a:rPr lang="zh-CN" altLang="en-US" sz="3200" i="1" dirty="0">
                <a:latin typeface="Times New Roman" panose="02020603050405020304" pitchFamily="18" charset="0"/>
              </a:rPr>
              <a:t>－ 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-2</a:t>
            </a:r>
            <a:endParaRPr lang="en-US" altLang="zh-CN" sz="3200" baseline="30000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sz="3200" dirty="0">
                <a:latin typeface="Times New Roman" panose="02020603050405020304" pitchFamily="18" charset="0"/>
              </a:rPr>
              <a:t>       </a:t>
            </a:r>
            <a:r>
              <a:rPr lang="zh-CN" altLang="en-US" sz="3200" dirty="0">
                <a:latin typeface="Times New Roman" panose="02020603050405020304" pitchFamily="18" charset="0"/>
              </a:rPr>
              <a:t>结论：当</a:t>
            </a:r>
            <a:r>
              <a:rPr lang="zh-CN" altLang="en-US" sz="1800" dirty="0">
                <a:latin typeface="Arial" panose="020B0604020202020204" pitchFamily="34" charset="0"/>
              </a:rPr>
              <a:t>－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&lt; </a:t>
            </a:r>
            <a:r>
              <a:rPr lang="en-US" altLang="zh-CN" sz="3200" i="1" dirty="0">
                <a:latin typeface="Times New Roman" panose="02020603050405020304" pitchFamily="18" charset="0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</a:rPr>
              <a:t>&lt;0</a:t>
            </a:r>
            <a:r>
              <a:rPr lang="zh-CN" altLang="en-US" sz="3200" dirty="0">
                <a:latin typeface="Times New Roman" panose="02020603050405020304" pitchFamily="18" charset="0"/>
              </a:rPr>
              <a:t>时，一个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</a:rPr>
              <a:t>只有一个   </a:t>
            </a:r>
            <a:r>
              <a:rPr lang="en-US" altLang="zh-CN" sz="3200" i="1" dirty="0">
                <a:latin typeface="Times New Roman" panose="02020603050405020304" pitchFamily="18" charset="0"/>
              </a:rPr>
              <a:t>x=</a:t>
            </a:r>
            <a:r>
              <a:rPr lang="zh-CN" altLang="en-US" sz="3200" i="1" dirty="0">
                <a:latin typeface="Times New Roman" panose="02020603050405020304" pitchFamily="18" charset="0"/>
              </a:rPr>
              <a:t> － 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-2</a:t>
            </a:r>
            <a:r>
              <a:rPr lang="zh-CN" altLang="en-US" sz="3200" dirty="0">
                <a:latin typeface="Times New Roman" panose="02020603050405020304" pitchFamily="18" charset="0"/>
              </a:rPr>
              <a:t>使等式 </a:t>
            </a:r>
            <a:r>
              <a:rPr lang="en-US" altLang="zh-CN" sz="3200" dirty="0">
                <a:latin typeface="Times New Roman" panose="02020603050405020304" pitchFamily="18" charset="0"/>
              </a:rPr>
              <a:t>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3200" dirty="0">
                <a:latin typeface="Times New Roman" panose="02020603050405020304" pitchFamily="18" charset="0"/>
              </a:rPr>
              <a:t>=[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]</a:t>
            </a:r>
            <a:r>
              <a:rPr lang="zh-CN" altLang="en-US" sz="3200" baseline="-25000" dirty="0">
                <a:latin typeface="Times New Roman" panose="02020603050405020304" pitchFamily="18" charset="0"/>
              </a:rPr>
              <a:t>原</a:t>
            </a:r>
            <a:r>
              <a:rPr lang="zh-CN" altLang="en-US" sz="3200" dirty="0">
                <a:latin typeface="Times New Roman" panose="02020603050405020304" pitchFamily="18" charset="0"/>
              </a:rPr>
              <a:t>成立。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0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0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0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88950" y="787400"/>
            <a:ext cx="8229600" cy="1600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为二进制数，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[x]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补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11x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x&lt;-16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应满足什么条件？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850" y="1924050"/>
            <a:ext cx="3038475" cy="4541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4803775" y="3511550"/>
            <a:ext cx="3748088" cy="1384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  所以：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=0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取任意的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。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8" y="868363"/>
            <a:ext cx="2790825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25" y="1658938"/>
            <a:ext cx="3413125" cy="638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" y="2486025"/>
            <a:ext cx="3895725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688" y="3101975"/>
            <a:ext cx="2371725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7213" y="3732213"/>
            <a:ext cx="1876425" cy="44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3950" y="4370388"/>
            <a:ext cx="1171575" cy="504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5072063"/>
            <a:ext cx="5191125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88950" y="787400"/>
            <a:ext cx="8229600" cy="1600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[x]</a:t>
            </a:r>
            <a:r>
              <a:rPr kumimoji="0" lang="zh-CN" altLang="en-US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&gt;[y]</a:t>
            </a:r>
            <a:r>
              <a:rPr kumimoji="0" lang="zh-CN" altLang="en-US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，是否有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x&gt;y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解：举例说明：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3492" name="矩形 5"/>
          <p:cNvSpPr/>
          <p:nvPr/>
        </p:nvSpPr>
        <p:spPr>
          <a:xfrm>
            <a:off x="4700588" y="2108200"/>
            <a:ext cx="4067175" cy="332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例如：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[-2]</a:t>
            </a:r>
            <a:r>
              <a:rPr lang="zh-CN" altLang="en-US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b="1" dirty="0">
                <a:latin typeface="Times New Roman" panose="02020603050405020304" pitchFamily="18" charset="0"/>
              </a:rPr>
              <a:t>=1011 &gt; [1]</a:t>
            </a:r>
            <a:r>
              <a:rPr lang="zh-CN" altLang="en-US" b="1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b="1" dirty="0">
                <a:latin typeface="Times New Roman" panose="02020603050405020304" pitchFamily="18" charset="0"/>
              </a:rPr>
              <a:t>=0001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但是：</a:t>
            </a:r>
            <a:r>
              <a:rPr lang="en-US" altLang="zh-CN" b="1" dirty="0">
                <a:latin typeface="Times New Roman" panose="02020603050405020304" pitchFamily="18" charset="0"/>
              </a:rPr>
              <a:t>-2 &lt; 1 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所以： 此结论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不一定</a:t>
            </a:r>
            <a:r>
              <a:rPr lang="zh-CN" altLang="en-US" b="1" dirty="0">
                <a:latin typeface="Times New Roman" panose="02020603050405020304" pitchFamily="18" charset="0"/>
              </a:rPr>
              <a:t>成立。 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363" y="2062163"/>
            <a:ext cx="3306762" cy="3906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/>
          <p:nvPr/>
        </p:nvSpPr>
        <p:spPr>
          <a:xfrm>
            <a:off x="1012825" y="3452813"/>
            <a:ext cx="7259638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476250" fontAlgn="base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同号数相加或异号数相减，运算规则为绝对值相加，取被加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减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数的符号。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1519" name="Text Box 15"/>
          <p:cNvSpPr txBox="1"/>
          <p:nvPr/>
        </p:nvSpPr>
        <p:spPr>
          <a:xfrm>
            <a:off x="1363663" y="4462463"/>
            <a:ext cx="3609975" cy="1044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476250" indent="-476250" fontAlgn="base">
              <a:lnSpc>
                <a:spcPct val="120000"/>
              </a:lnSpc>
              <a:buChar char="•"/>
            </a:pPr>
            <a:r>
              <a:rPr lang="en-US" altLang="zh-CN" sz="2600" dirty="0">
                <a:latin typeface="Times New Roman" panose="02020603050405020304" pitchFamily="18" charset="0"/>
              </a:rPr>
              <a:t> (+</a:t>
            </a:r>
            <a:r>
              <a:rPr lang="en-US" altLang="zh-CN" sz="2600" i="1" dirty="0">
                <a:latin typeface="Times New Roman" panose="02020603050405020304" pitchFamily="18" charset="0"/>
              </a:rPr>
              <a:t>A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r>
              <a:rPr lang="en-US" altLang="zh-CN" sz="2600" i="1" dirty="0">
                <a:latin typeface="Times New Roman" panose="02020603050405020304" pitchFamily="18" charset="0"/>
              </a:rPr>
              <a:t>-</a:t>
            </a:r>
            <a:r>
              <a:rPr lang="en-US" altLang="zh-CN" sz="2600" dirty="0">
                <a:latin typeface="Times New Roman" panose="02020603050405020304" pitchFamily="18" charset="0"/>
              </a:rPr>
              <a:t>(+</a:t>
            </a:r>
            <a:r>
              <a:rPr lang="en-US" altLang="zh-CN" sz="2600" i="1" dirty="0">
                <a:latin typeface="Times New Roman" panose="02020603050405020304" pitchFamily="18" charset="0"/>
              </a:rPr>
              <a:t>B</a:t>
            </a:r>
            <a:r>
              <a:rPr lang="en-US" altLang="zh-CN" sz="2600" dirty="0">
                <a:latin typeface="Times New Roman" panose="02020603050405020304" pitchFamily="18" charset="0"/>
              </a:rPr>
              <a:t>)=(+</a:t>
            </a:r>
            <a:r>
              <a:rPr lang="en-US" altLang="zh-CN" sz="2600" i="1" dirty="0">
                <a:latin typeface="Times New Roman" panose="02020603050405020304" pitchFamily="18" charset="0"/>
              </a:rPr>
              <a:t>A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r>
              <a:rPr lang="en-US" altLang="zh-CN" sz="2600" i="1" dirty="0">
                <a:latin typeface="Times New Roman" panose="02020603050405020304" pitchFamily="18" charset="0"/>
              </a:rPr>
              <a:t>+</a:t>
            </a:r>
            <a:r>
              <a:rPr lang="en-US" altLang="zh-CN" sz="2600" dirty="0">
                <a:latin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</a:rPr>
              <a:t>-B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br>
              <a:rPr lang="en-US" altLang="zh-CN" sz="2600" dirty="0">
                <a:latin typeface="Times New Roman" panose="02020603050405020304" pitchFamily="18" charset="0"/>
              </a:rPr>
            </a:br>
            <a:r>
              <a:rPr lang="en-US" altLang="zh-CN" sz="2600" dirty="0">
                <a:latin typeface="Times New Roman" panose="02020603050405020304" pitchFamily="18" charset="0"/>
              </a:rPr>
              <a:t> (</a:t>
            </a:r>
            <a:r>
              <a:rPr lang="en-US" altLang="zh-CN" sz="2600" i="1" dirty="0">
                <a:latin typeface="Times New Roman" panose="02020603050405020304" pitchFamily="18" charset="0"/>
              </a:rPr>
              <a:t>-A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r>
              <a:rPr lang="en-US" altLang="zh-CN" sz="2600" i="1" dirty="0">
                <a:latin typeface="Times New Roman" panose="02020603050405020304" pitchFamily="18" charset="0"/>
              </a:rPr>
              <a:t>-</a:t>
            </a:r>
            <a:r>
              <a:rPr lang="en-US" altLang="zh-CN" sz="2600" dirty="0">
                <a:latin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</a:rPr>
              <a:t>-B</a:t>
            </a:r>
            <a:r>
              <a:rPr lang="en-US" altLang="zh-CN" sz="2600" dirty="0">
                <a:latin typeface="Times New Roman" panose="02020603050405020304" pitchFamily="18" charset="0"/>
              </a:rPr>
              <a:t>)=(</a:t>
            </a:r>
            <a:r>
              <a:rPr lang="en-US" altLang="zh-CN" sz="2600" i="1" dirty="0">
                <a:latin typeface="Times New Roman" panose="02020603050405020304" pitchFamily="18" charset="0"/>
              </a:rPr>
              <a:t>-A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r>
              <a:rPr lang="en-US" altLang="zh-CN" sz="2600" i="1" dirty="0">
                <a:latin typeface="Times New Roman" panose="02020603050405020304" pitchFamily="18" charset="0"/>
              </a:rPr>
              <a:t>+</a:t>
            </a:r>
            <a:r>
              <a:rPr lang="en-US" altLang="zh-CN" sz="2600" dirty="0">
                <a:latin typeface="Times New Roman" panose="02020603050405020304" pitchFamily="18" charset="0"/>
              </a:rPr>
              <a:t>(+</a:t>
            </a:r>
            <a:r>
              <a:rPr lang="en-US" altLang="zh-CN" sz="2600" i="1" dirty="0">
                <a:latin typeface="Times New Roman" panose="02020603050405020304" pitchFamily="18" charset="0"/>
              </a:rPr>
              <a:t>B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endParaRPr lang="en-US" altLang="zh-CN" sz="2600" dirty="0">
              <a:latin typeface="Times New Roman" panose="02020603050405020304" pitchFamily="18" charset="0"/>
            </a:endParaRPr>
          </a:p>
        </p:txBody>
      </p:sp>
      <p:sp>
        <p:nvSpPr>
          <p:cNvPr id="21520" name="Text Box 16"/>
          <p:cNvSpPr txBox="1"/>
          <p:nvPr/>
        </p:nvSpPr>
        <p:spPr>
          <a:xfrm>
            <a:off x="908050" y="2036763"/>
            <a:ext cx="78724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、设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i="1" dirty="0">
                <a:latin typeface="Times New Roman" panose="02020603050405020304" pitchFamily="18" charset="0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zh-CN" altLang="zh-CN" b="1" dirty="0">
                <a:latin typeface="Times New Roman" panose="02020603050405020304" pitchFamily="18" charset="0"/>
              </a:rPr>
              <a:t>表示绝对值，有下列两类八种情况。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1521" name="Text Box 17"/>
          <p:cNvSpPr txBox="1"/>
          <p:nvPr/>
        </p:nvSpPr>
        <p:spPr>
          <a:xfrm>
            <a:off x="1458913" y="2541588"/>
            <a:ext cx="3573462" cy="1044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476250" indent="-476250" fontAlgn="base">
              <a:lnSpc>
                <a:spcPct val="120000"/>
              </a:lnSpc>
              <a:buChar char="•"/>
            </a:pPr>
            <a:r>
              <a:rPr lang="en-US" altLang="zh-CN" sz="2600" dirty="0">
                <a:latin typeface="Times New Roman" panose="02020603050405020304" pitchFamily="18" charset="0"/>
              </a:rPr>
              <a:t> (+</a:t>
            </a:r>
            <a:r>
              <a:rPr lang="en-US" altLang="zh-CN" sz="2600" i="1" dirty="0">
                <a:latin typeface="Times New Roman" panose="02020603050405020304" pitchFamily="18" charset="0"/>
              </a:rPr>
              <a:t>A</a:t>
            </a:r>
            <a:r>
              <a:rPr lang="en-US" altLang="zh-CN" sz="2600" dirty="0">
                <a:latin typeface="Times New Roman" panose="02020603050405020304" pitchFamily="18" charset="0"/>
              </a:rPr>
              <a:t>)+(+</a:t>
            </a:r>
            <a:r>
              <a:rPr lang="en-US" altLang="zh-CN" sz="2600" i="1" dirty="0">
                <a:latin typeface="Times New Roman" panose="02020603050405020304" pitchFamily="18" charset="0"/>
              </a:rPr>
              <a:t>B</a:t>
            </a:r>
            <a:r>
              <a:rPr lang="en-US" altLang="zh-CN" sz="2600" dirty="0">
                <a:latin typeface="Times New Roman" panose="02020603050405020304" pitchFamily="18" charset="0"/>
              </a:rPr>
              <a:t>)=(+</a:t>
            </a:r>
            <a:r>
              <a:rPr lang="en-US" altLang="zh-CN" sz="2600" i="1" dirty="0">
                <a:latin typeface="Times New Roman" panose="02020603050405020304" pitchFamily="18" charset="0"/>
              </a:rPr>
              <a:t>A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r>
              <a:rPr lang="en-US" altLang="zh-CN" sz="2600" i="1" dirty="0">
                <a:latin typeface="Times New Roman" panose="02020603050405020304" pitchFamily="18" charset="0"/>
              </a:rPr>
              <a:t>-</a:t>
            </a:r>
            <a:r>
              <a:rPr lang="en-US" altLang="zh-CN" sz="2600" dirty="0">
                <a:latin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</a:rPr>
              <a:t>-B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br>
              <a:rPr lang="en-US" altLang="zh-CN" sz="2600" dirty="0">
                <a:latin typeface="Times New Roman" panose="02020603050405020304" pitchFamily="18" charset="0"/>
              </a:rPr>
            </a:br>
            <a:r>
              <a:rPr lang="en-US" altLang="zh-CN" sz="2600" dirty="0">
                <a:latin typeface="Times New Roman" panose="02020603050405020304" pitchFamily="18" charset="0"/>
              </a:rPr>
              <a:t> (</a:t>
            </a:r>
            <a:r>
              <a:rPr lang="en-US" altLang="zh-CN" sz="2600" i="1" dirty="0">
                <a:latin typeface="Times New Roman" panose="02020603050405020304" pitchFamily="18" charset="0"/>
              </a:rPr>
              <a:t>-A</a:t>
            </a:r>
            <a:r>
              <a:rPr lang="en-US" altLang="zh-CN" sz="2600" dirty="0">
                <a:latin typeface="Times New Roman" panose="02020603050405020304" pitchFamily="18" charset="0"/>
              </a:rPr>
              <a:t>)+(</a:t>
            </a:r>
            <a:r>
              <a:rPr lang="en-US" altLang="zh-CN" sz="2600" i="1" dirty="0">
                <a:latin typeface="Times New Roman" panose="02020603050405020304" pitchFamily="18" charset="0"/>
              </a:rPr>
              <a:t>-B</a:t>
            </a:r>
            <a:r>
              <a:rPr lang="en-US" altLang="zh-CN" sz="2600" dirty="0">
                <a:latin typeface="Times New Roman" panose="02020603050405020304" pitchFamily="18" charset="0"/>
              </a:rPr>
              <a:t>)=(</a:t>
            </a:r>
            <a:r>
              <a:rPr lang="en-US" altLang="zh-CN" sz="2600" i="1" dirty="0">
                <a:latin typeface="Times New Roman" panose="02020603050405020304" pitchFamily="18" charset="0"/>
              </a:rPr>
              <a:t>-A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r>
              <a:rPr lang="en-US" altLang="zh-CN" sz="2600" i="1" dirty="0">
                <a:latin typeface="Times New Roman" panose="02020603050405020304" pitchFamily="18" charset="0"/>
              </a:rPr>
              <a:t>-</a:t>
            </a:r>
            <a:r>
              <a:rPr lang="en-US" altLang="zh-CN" sz="2600" dirty="0">
                <a:latin typeface="Times New Roman" panose="02020603050405020304" pitchFamily="18" charset="0"/>
              </a:rPr>
              <a:t>(+</a:t>
            </a:r>
            <a:r>
              <a:rPr lang="en-US" altLang="zh-CN" sz="2600" i="1" dirty="0">
                <a:latin typeface="Times New Roman" panose="02020603050405020304" pitchFamily="18" charset="0"/>
              </a:rPr>
              <a:t>B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endParaRPr lang="en-US" altLang="zh-CN" sz="2600" dirty="0">
              <a:latin typeface="Times New Roman" panose="02020603050405020304" pitchFamily="18" charset="0"/>
            </a:endParaRPr>
          </a:p>
        </p:txBody>
      </p:sp>
      <p:sp>
        <p:nvSpPr>
          <p:cNvPr id="21522" name="Text Box 18"/>
          <p:cNvSpPr txBox="1"/>
          <p:nvPr/>
        </p:nvSpPr>
        <p:spPr>
          <a:xfrm>
            <a:off x="944563" y="5349875"/>
            <a:ext cx="7373937" cy="1152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9925" fontAlgn="base">
              <a:lnSpc>
                <a:spcPct val="13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同号数相减或异号数相加。运算规则为绝对值相减，取绝大值较大者的符号。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1524" name="Text Box 20"/>
          <p:cNvSpPr txBox="1"/>
          <p:nvPr/>
        </p:nvSpPr>
        <p:spPr>
          <a:xfrm>
            <a:off x="890588" y="1533525"/>
            <a:ext cx="5840412" cy="527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65150" indent="-565150" fontAlgn="base">
              <a:lnSpc>
                <a:spcPct val="11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、符号位不参与运算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</a:rPr>
              <a:t>单独处理。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304800" y="1008063"/>
            <a:ext cx="23368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一、原码运算</a:t>
            </a:r>
            <a:endParaRPr kumimoji="1" lang="zh-CN" altLang="en-US" b="1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276225" y="512763"/>
            <a:ext cx="458152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2.2.5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机器数的加、减运算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/>
      <p:bldP spid="21519" grpId="0" build="p"/>
      <p:bldP spid="21520" grpId="0"/>
      <p:bldP spid="21521" grpId="0" build="p"/>
      <p:bldP spid="21522" grpId="0" build="p"/>
      <p:bldP spid="21524" grpId="0" build="p"/>
      <p:bldP spid="2152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/>
          <p:nvPr/>
        </p:nvSpPr>
        <p:spPr>
          <a:xfrm>
            <a:off x="1169988" y="2271713"/>
            <a:ext cx="57023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解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zh-CN" altLang="zh-CN" dirty="0">
                <a:latin typeface="Times New Roman" panose="02020603050405020304" pitchFamily="18" charset="0"/>
              </a:rPr>
              <a:t>＝10011，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zh-CN" altLang="zh-CN" dirty="0">
                <a:latin typeface="Times New Roman" panose="02020603050405020304" pitchFamily="18" charset="0"/>
              </a:rPr>
              <a:t>＝01011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1727200" y="2949575"/>
            <a:ext cx="51054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  <a:sym typeface="Monotype Sorts" pitchFamily="2" charset="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zh-CN" altLang="zh-CN" dirty="0">
                <a:latin typeface="Times New Roman" panose="02020603050405020304" pitchFamily="18" charset="0"/>
              </a:rPr>
              <a:t>，绝对值相减，有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790950" y="3527425"/>
            <a:ext cx="2244725" cy="1433513"/>
            <a:chOff x="2366" y="2430"/>
            <a:chExt cx="1414" cy="903"/>
          </a:xfrm>
        </p:grpSpPr>
        <p:sp>
          <p:nvSpPr>
            <p:cNvPr id="70667" name="Text Box 5"/>
            <p:cNvSpPr txBox="1"/>
            <p:nvPr/>
          </p:nvSpPr>
          <p:spPr>
            <a:xfrm>
              <a:off x="2366" y="2430"/>
              <a:ext cx="1367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        1  0  1  1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－</a:t>
              </a:r>
              <a:r>
                <a:rPr lang="en-US" altLang="zh-CN" dirty="0">
                  <a:latin typeface="Times New Roman" panose="02020603050405020304" pitchFamily="18" charset="0"/>
                </a:rPr>
                <a:t>)   0  0  1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0668" name="Line 6"/>
            <p:cNvSpPr/>
            <p:nvPr/>
          </p:nvSpPr>
          <p:spPr>
            <a:xfrm>
              <a:off x="2424" y="3024"/>
              <a:ext cx="13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Text Box 7"/>
            <p:cNvSpPr txBox="1"/>
            <p:nvPr/>
          </p:nvSpPr>
          <p:spPr>
            <a:xfrm>
              <a:off x="2834" y="3006"/>
              <a:ext cx="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1  0  0  0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1390650" y="4891088"/>
            <a:ext cx="6473825" cy="542925"/>
            <a:chOff x="854" y="3145"/>
            <a:chExt cx="4078" cy="342"/>
          </a:xfrm>
        </p:grpSpPr>
        <p:sp>
          <p:nvSpPr>
            <p:cNvPr id="70665" name="Text Box 9"/>
            <p:cNvSpPr txBox="1"/>
            <p:nvPr/>
          </p:nvSpPr>
          <p:spPr>
            <a:xfrm>
              <a:off x="854" y="3160"/>
              <a:ext cx="2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结果取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zh-CN" dirty="0">
                  <a:latin typeface="Times New Roman" panose="02020603050405020304" pitchFamily="18" charset="0"/>
                </a:rPr>
                <a:t>的符号，即：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0666" name="Rectangle 10"/>
            <p:cNvSpPr/>
            <p:nvPr/>
          </p:nvSpPr>
          <p:spPr>
            <a:xfrm>
              <a:off x="3060" y="3145"/>
              <a:ext cx="18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[ 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 </a:t>
              </a:r>
              <a:r>
                <a:rPr lang="en-US" altLang="zh-CN" dirty="0">
                  <a:latin typeface="Times New Roman" panose="02020603050405020304" pitchFamily="18" charset="0"/>
                </a:rPr>
                <a:t>+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]</a:t>
              </a:r>
              <a:r>
                <a:rPr lang="zh-CN" altLang="zh-CN" baseline="-25000" dirty="0">
                  <a:latin typeface="Times New Roman" panose="02020603050405020304" pitchFamily="18" charset="0"/>
                </a:rPr>
                <a:t>原</a:t>
              </a:r>
              <a:r>
                <a:rPr lang="zh-CN" altLang="zh-CN" dirty="0">
                  <a:latin typeface="Times New Roman" panose="02020603050405020304" pitchFamily="18" charset="0"/>
                </a:rPr>
                <a:t>＝01000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4043" name="Text Box 11"/>
          <p:cNvSpPr txBox="1"/>
          <p:nvPr/>
        </p:nvSpPr>
        <p:spPr>
          <a:xfrm>
            <a:off x="1390650" y="5441950"/>
            <a:ext cx="3813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真值为：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1000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sp>
        <p:nvSpPr>
          <p:cNvPr id="70663" name="Text Box 12"/>
          <p:cNvSpPr txBox="1"/>
          <p:nvPr/>
        </p:nvSpPr>
        <p:spPr>
          <a:xfrm>
            <a:off x="857250" y="1025525"/>
            <a:ext cx="6810375" cy="120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666750" indent="-666750" fontAlgn="base">
              <a:lnSpc>
                <a:spcPct val="13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例：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0011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 </a:t>
            </a:r>
            <a:r>
              <a:rPr lang="en-US" altLang="zh-CN" dirty="0">
                <a:latin typeface="Times New Roman" panose="02020603050405020304" pitchFamily="18" charset="0"/>
              </a:rPr>
              <a:t>= 1011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zh-CN" altLang="zh-CN" dirty="0"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zh-CN" altLang="zh-CN" dirty="0">
                <a:latin typeface="Times New Roman" panose="02020603050405020304" pitchFamily="18" charset="0"/>
              </a:rPr>
              <a:t>。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65544" name="圆角矩形标注 13"/>
          <p:cNvSpPr/>
          <p:nvPr/>
        </p:nvSpPr>
        <p:spPr>
          <a:xfrm>
            <a:off x="387350" y="3732213"/>
            <a:ext cx="1860550" cy="784225"/>
          </a:xfrm>
          <a:prstGeom prst="wedgeRoundRectCallout">
            <a:avLst>
              <a:gd name="adj1" fmla="val 73176"/>
              <a:gd name="adj2" fmla="val -83648"/>
              <a:gd name="adj3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同号数相减或异号数相加</a:t>
            </a:r>
            <a:endParaRPr lang="zh-CN" altLang="en-US" sz="2000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/>
      <p:bldP spid="44035" grpId="0" build="p"/>
      <p:bldP spid="44043" grpId="0" build="p"/>
      <p:bldP spid="6554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/>
          <p:nvPr/>
        </p:nvSpPr>
        <p:spPr>
          <a:xfrm>
            <a:off x="1336675" y="1247775"/>
            <a:ext cx="52609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  <a:sym typeface="Monotype Sorts" pitchFamily="2" charset="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sym typeface="Monotype Sorts" pitchFamily="2" charset="2"/>
              </a:rPr>
              <a:t>求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zh-CN" altLang="zh-CN" dirty="0">
                <a:latin typeface="Times New Roman" panose="02020603050405020304" pitchFamily="18" charset="0"/>
              </a:rPr>
              <a:t>，绝对值相加，有</a:t>
            </a:r>
            <a:endParaRPr lang="zh-CN" altLang="en-US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470275" y="1938338"/>
            <a:ext cx="2244725" cy="1433512"/>
            <a:chOff x="2366" y="2430"/>
            <a:chExt cx="1414" cy="903"/>
          </a:xfrm>
        </p:grpSpPr>
        <p:sp>
          <p:nvSpPr>
            <p:cNvPr id="71688" name="Text Box 4"/>
            <p:cNvSpPr txBox="1"/>
            <p:nvPr/>
          </p:nvSpPr>
          <p:spPr>
            <a:xfrm>
              <a:off x="2366" y="2430"/>
              <a:ext cx="1367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        0  0  1  1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dirty="0">
                  <a:latin typeface="Times New Roman" panose="02020603050405020304" pitchFamily="18" charset="0"/>
                </a:rPr>
                <a:t>)   1  0  1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1689" name="Line 5"/>
            <p:cNvSpPr/>
            <p:nvPr/>
          </p:nvSpPr>
          <p:spPr>
            <a:xfrm>
              <a:off x="2424" y="3024"/>
              <a:ext cx="13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0" name="Text Box 6"/>
            <p:cNvSpPr txBox="1"/>
            <p:nvPr/>
          </p:nvSpPr>
          <p:spPr>
            <a:xfrm>
              <a:off x="2834" y="3006"/>
              <a:ext cx="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1  1  1  0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536" name="Text Box 8"/>
          <p:cNvSpPr txBox="1"/>
          <p:nvPr/>
        </p:nvSpPr>
        <p:spPr>
          <a:xfrm>
            <a:off x="1849438" y="3560763"/>
            <a:ext cx="37290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结果取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</a:rPr>
              <a:t>的符号，即：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37" name="Rectangle 9"/>
          <p:cNvSpPr/>
          <p:nvPr/>
        </p:nvSpPr>
        <p:spPr>
          <a:xfrm>
            <a:off x="4002088" y="4305300"/>
            <a:ext cx="31226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原</a:t>
            </a:r>
            <a:r>
              <a:rPr lang="zh-CN" altLang="zh-CN" dirty="0">
                <a:latin typeface="Times New Roman" panose="02020603050405020304" pitchFamily="18" charset="0"/>
              </a:rPr>
              <a:t>＝11110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sp>
        <p:nvSpPr>
          <p:cNvPr id="22538" name="Text Box 10"/>
          <p:cNvSpPr txBox="1"/>
          <p:nvPr/>
        </p:nvSpPr>
        <p:spPr>
          <a:xfrm>
            <a:off x="1725613" y="5013325"/>
            <a:ext cx="5041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真值为：      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＝－</a:t>
            </a:r>
            <a:r>
              <a:rPr lang="en-US" altLang="zh-CN" dirty="0">
                <a:latin typeface="Times New Roman" panose="02020603050405020304" pitchFamily="18" charset="0"/>
              </a:rPr>
              <a:t>1110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sp>
        <p:nvSpPr>
          <p:cNvPr id="66567" name="圆角矩形标注 9"/>
          <p:cNvSpPr/>
          <p:nvPr/>
        </p:nvSpPr>
        <p:spPr>
          <a:xfrm>
            <a:off x="452438" y="1979613"/>
            <a:ext cx="1860550" cy="782637"/>
          </a:xfrm>
          <a:prstGeom prst="wedgeRoundRectCallout">
            <a:avLst>
              <a:gd name="adj1" fmla="val 73176"/>
              <a:gd name="adj2" fmla="val -83648"/>
              <a:gd name="adj3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同号数相加或异号数相减</a:t>
            </a:r>
            <a:endParaRPr lang="zh-CN" altLang="en-US" sz="2000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build="p"/>
      <p:bldP spid="22537" grpId="0" build="p"/>
      <p:bldP spid="22538" grpId="0" build="p"/>
      <p:bldP spid="6656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798513" y="920750"/>
            <a:ext cx="2347913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二、反码运算</a:t>
            </a:r>
            <a:endParaRPr kumimoji="1" lang="zh-CN" altLang="en-US" b="1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/>
          <p:nvPr/>
        </p:nvSpPr>
        <p:spPr>
          <a:xfrm>
            <a:off x="1790700" y="2490788"/>
            <a:ext cx="4311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＝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+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27652" name="Rectangle 4"/>
          <p:cNvSpPr/>
          <p:nvPr/>
        </p:nvSpPr>
        <p:spPr>
          <a:xfrm>
            <a:off x="1790700" y="3070225"/>
            <a:ext cx="48228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＝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+ 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zh-CN" altLang="en-US" dirty="0">
                <a:latin typeface="Times New Roman" panose="02020603050405020304" pitchFamily="18" charset="0"/>
              </a:rPr>
              <a:t>－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27653" name="Text Box 5"/>
          <p:cNvSpPr txBox="1"/>
          <p:nvPr/>
        </p:nvSpPr>
        <p:spPr>
          <a:xfrm>
            <a:off x="1098550" y="3798888"/>
            <a:ext cx="725805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6750" fontAlgn="base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符号位也参加运算，当符号位有进位时，应在结果的最低位再加“</a:t>
            </a:r>
            <a:r>
              <a:rPr lang="en-US" altLang="zh-CN" b="1" dirty="0">
                <a:latin typeface="Times New Roman" panose="02020603050405020304" pitchFamily="18" charset="0"/>
              </a:rPr>
              <a:t>1”</a:t>
            </a:r>
            <a:r>
              <a:rPr lang="zh-CN" altLang="en-US" b="1" dirty="0">
                <a:latin typeface="Times New Roman" panose="02020603050405020304" pitchFamily="18" charset="0"/>
              </a:rPr>
              <a:t>（即循环进位）。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7667" name="Text Box 19"/>
          <p:cNvSpPr txBox="1"/>
          <p:nvPr/>
        </p:nvSpPr>
        <p:spPr>
          <a:xfrm>
            <a:off x="3489325" y="5480050"/>
            <a:ext cx="23320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[[N]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dirty="0">
                <a:latin typeface="Times New Roman" panose="02020603050405020304" pitchFamily="18" charset="0"/>
              </a:rPr>
              <a:t>=[N]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原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/>
          <p:nvPr/>
        </p:nvSpPr>
        <p:spPr>
          <a:xfrm>
            <a:off x="1133475" y="1531938"/>
            <a:ext cx="725805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6750" fontAlgn="base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用反码进行运算时，两数反码的和等于两数和的反码。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67592" name="矩形 7"/>
          <p:cNvSpPr/>
          <p:nvPr/>
        </p:nvSpPr>
        <p:spPr>
          <a:xfrm>
            <a:off x="1790700" y="4899025"/>
            <a:ext cx="45720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反码与原码的关系：</a:t>
            </a:r>
            <a:endParaRPr lang="zh-CN" altLang="en-US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652" grpId="0" build="p"/>
      <p:bldP spid="27653" grpId="0" build="p"/>
      <p:bldP spid="27667" grpId="0"/>
      <p:bldP spid="7" grpId="0" build="p"/>
      <p:bldP spid="6759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/>
          <p:nvPr/>
        </p:nvSpPr>
        <p:spPr>
          <a:xfrm>
            <a:off x="860425" y="604838"/>
            <a:ext cx="734695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857250" indent="-857250" fontAlgn="base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例：  已知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0011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 </a:t>
            </a:r>
            <a:r>
              <a:rPr lang="en-US" altLang="zh-CN" dirty="0">
                <a:latin typeface="Times New Roman" panose="02020603050405020304" pitchFamily="18" charset="0"/>
              </a:rPr>
              <a:t>= 1011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。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28675" name="Text Box 3"/>
          <p:cNvSpPr txBox="1"/>
          <p:nvPr/>
        </p:nvSpPr>
        <p:spPr>
          <a:xfrm>
            <a:off x="903288" y="1608138"/>
            <a:ext cx="6810375" cy="695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762000" indent="-762000" fontAlgn="base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解</a:t>
            </a:r>
            <a:r>
              <a:rPr lang="zh-CN" altLang="en-US" dirty="0">
                <a:latin typeface="Times New Roman" panose="02020603050405020304" pitchFamily="18" charset="0"/>
              </a:rPr>
              <a:t>： 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＝11100，	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＝01011,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676" name="Text Box 4"/>
          <p:cNvSpPr txBox="1"/>
          <p:nvPr/>
        </p:nvSpPr>
        <p:spPr>
          <a:xfrm>
            <a:off x="1782763" y="2228850"/>
            <a:ext cx="5854700" cy="1643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 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baseline="-25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 [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         =1</a:t>
            </a:r>
            <a:r>
              <a:rPr lang="zh-CN" altLang="zh-CN" dirty="0">
                <a:latin typeface="Times New Roman" panose="02020603050405020304" pitchFamily="18" charset="0"/>
              </a:rPr>
              <a:t>1100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01011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          </a:t>
            </a:r>
            <a:r>
              <a:rPr lang="zh-CN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 01000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3584575" y="3673475"/>
            <a:ext cx="2540000" cy="1433513"/>
            <a:chOff x="2258" y="2097"/>
            <a:chExt cx="1600" cy="903"/>
          </a:xfrm>
        </p:grpSpPr>
        <p:sp>
          <p:nvSpPr>
            <p:cNvPr id="73742" name="Text Box 8"/>
            <p:cNvSpPr txBox="1"/>
            <p:nvPr/>
          </p:nvSpPr>
          <p:spPr>
            <a:xfrm>
              <a:off x="2258" y="2097"/>
              <a:ext cx="1591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        1  1  1  0  0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dirty="0">
                  <a:latin typeface="Times New Roman" panose="02020603050405020304" pitchFamily="18" charset="0"/>
                </a:rPr>
                <a:t>)   0  1  0  1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3743" name="Line 9"/>
            <p:cNvSpPr/>
            <p:nvPr/>
          </p:nvSpPr>
          <p:spPr>
            <a:xfrm>
              <a:off x="2364" y="2691"/>
              <a:ext cx="1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4" name="Text Box 10"/>
            <p:cNvSpPr txBox="1"/>
            <p:nvPr/>
          </p:nvSpPr>
          <p:spPr>
            <a:xfrm>
              <a:off x="2510" y="2673"/>
              <a:ext cx="13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  0  0  1  1  1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3745" name="Rectangle 11"/>
            <p:cNvSpPr/>
            <p:nvPr/>
          </p:nvSpPr>
          <p:spPr>
            <a:xfrm>
              <a:off x="2496" y="2724"/>
              <a:ext cx="252" cy="228"/>
            </a:xfrm>
            <a:prstGeom prst="rect">
              <a:avLst/>
            </a:prstGeom>
            <a:noFill/>
            <a:ln w="952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2"/>
          <p:cNvGrpSpPr/>
          <p:nvPr/>
        </p:nvGrpSpPr>
        <p:grpSpPr>
          <a:xfrm>
            <a:off x="3467100" y="5091113"/>
            <a:ext cx="2895600" cy="1058862"/>
            <a:chOff x="2184" y="2990"/>
            <a:chExt cx="1824" cy="667"/>
          </a:xfrm>
        </p:grpSpPr>
        <p:grpSp>
          <p:nvGrpSpPr>
            <p:cNvPr id="73736" name="Group 21"/>
            <p:cNvGrpSpPr/>
            <p:nvPr/>
          </p:nvGrpSpPr>
          <p:grpSpPr>
            <a:xfrm>
              <a:off x="2244" y="2990"/>
              <a:ext cx="1634" cy="331"/>
              <a:chOff x="2244" y="2990"/>
              <a:chExt cx="1634" cy="331"/>
            </a:xfrm>
          </p:grpSpPr>
          <p:sp>
            <p:nvSpPr>
              <p:cNvPr id="73739" name="Line 13"/>
              <p:cNvSpPr/>
              <p:nvPr/>
            </p:nvSpPr>
            <p:spPr>
              <a:xfrm>
                <a:off x="2688" y="3180"/>
                <a:ext cx="9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0" name="Rectangle 14"/>
              <p:cNvSpPr/>
              <p:nvPr/>
            </p:nvSpPr>
            <p:spPr>
              <a:xfrm>
                <a:off x="2244" y="2990"/>
                <a:ext cx="41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/>
                <a:r>
                  <a:rPr lang="zh-CN" altLang="en-US" dirty="0">
                    <a:latin typeface="Times New Roman" panose="02020603050405020304" pitchFamily="18" charset="0"/>
                  </a:rPr>
                  <a:t>＋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)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741" name="Text Box 15"/>
              <p:cNvSpPr txBox="1"/>
              <p:nvPr/>
            </p:nvSpPr>
            <p:spPr>
              <a:xfrm>
                <a:off x="3650" y="2994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/>
                <a:r>
                  <a:rPr lang="en-US" altLang="zh-CN" dirty="0">
                    <a:latin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3737" name="Line 16"/>
            <p:cNvSpPr/>
            <p:nvPr/>
          </p:nvSpPr>
          <p:spPr>
            <a:xfrm>
              <a:off x="2184" y="3348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Text Box 17"/>
            <p:cNvSpPr txBox="1">
              <a:spLocks noChangeArrowheads="1"/>
            </p:cNvSpPr>
            <p:nvPr/>
          </p:nvSpPr>
          <p:spPr bwMode="auto">
            <a:xfrm>
              <a:off x="2762" y="3330"/>
              <a:ext cx="1124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defTabSz="914400" fontAlgn="base">
                <a:buClrTx/>
                <a:buSzTx/>
                <a:buFontTx/>
                <a:buNone/>
                <a:defRPr/>
              </a:pPr>
              <a:r>
                <a:rPr kumimoji="1" lang="en-US" altLang="zh-CN" kern="1200" cap="none" spc="0" normalizeH="0" baseline="0" noProof="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kern="1200" cap="none" spc="0" normalizeH="0" baseline="0" noProof="0" dirty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1  0  0  0</a:t>
              </a:r>
              <a:endParaRPr kumimoji="1" lang="en-US" altLang="zh-CN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691" name="Text Box 19"/>
          <p:cNvSpPr txBox="1"/>
          <p:nvPr/>
        </p:nvSpPr>
        <p:spPr>
          <a:xfrm>
            <a:off x="1781175" y="6127750"/>
            <a:ext cx="35210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真值为：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=1000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28676" grpId="0" uiExpand="1" build="p"/>
      <p:bldP spid="28691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/>
          <p:nvPr/>
        </p:nvSpPr>
        <p:spPr>
          <a:xfrm>
            <a:off x="822325" y="1689100"/>
            <a:ext cx="4786313" cy="11255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 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dirty="0">
                <a:latin typeface="Times New Roman" panose="02020603050405020304" pitchFamily="18" charset="0"/>
              </a:rPr>
              <a:t>+[</a:t>
            </a:r>
            <a:r>
              <a:rPr lang="en-US" altLang="zh-CN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</a:pPr>
            <a:r>
              <a:rPr lang="en-US" altLang="zh-CN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                   = 11100   + 10100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431925" y="2960688"/>
            <a:ext cx="2540000" cy="1433512"/>
            <a:chOff x="1986" y="1283"/>
            <a:chExt cx="1600" cy="903"/>
          </a:xfrm>
        </p:grpSpPr>
        <p:sp>
          <p:nvSpPr>
            <p:cNvPr id="74766" name="Text Box 4"/>
            <p:cNvSpPr txBox="1"/>
            <p:nvPr/>
          </p:nvSpPr>
          <p:spPr>
            <a:xfrm>
              <a:off x="1986" y="1283"/>
              <a:ext cx="1591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        1  1  1  0  0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dirty="0">
                  <a:latin typeface="Times New Roman" panose="02020603050405020304" pitchFamily="18" charset="0"/>
                </a:rPr>
                <a:t>)   1  0  1  0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4767" name="Line 5"/>
            <p:cNvSpPr/>
            <p:nvPr/>
          </p:nvSpPr>
          <p:spPr>
            <a:xfrm>
              <a:off x="2092" y="1877"/>
              <a:ext cx="1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8" name="Text Box 6"/>
            <p:cNvSpPr txBox="1"/>
            <p:nvPr/>
          </p:nvSpPr>
          <p:spPr>
            <a:xfrm>
              <a:off x="2238" y="1859"/>
              <a:ext cx="13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  1  0  0  0  0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4769" name="Rectangle 7"/>
            <p:cNvSpPr/>
            <p:nvPr/>
          </p:nvSpPr>
          <p:spPr>
            <a:xfrm>
              <a:off x="2224" y="1910"/>
              <a:ext cx="252" cy="228"/>
            </a:xfrm>
            <a:prstGeom prst="rect">
              <a:avLst/>
            </a:prstGeom>
            <a:noFill/>
            <a:ln w="952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4"/>
          <p:cNvGrpSpPr/>
          <p:nvPr/>
        </p:nvGrpSpPr>
        <p:grpSpPr>
          <a:xfrm>
            <a:off x="1314450" y="4378325"/>
            <a:ext cx="2895600" cy="1058863"/>
            <a:chOff x="1912" y="2176"/>
            <a:chExt cx="1824" cy="667"/>
          </a:xfrm>
        </p:grpSpPr>
        <p:sp>
          <p:nvSpPr>
            <p:cNvPr id="74761" name="Line 8"/>
            <p:cNvSpPr/>
            <p:nvPr/>
          </p:nvSpPr>
          <p:spPr>
            <a:xfrm>
              <a:off x="2416" y="2366"/>
              <a:ext cx="9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2" name="Rectangle 9"/>
            <p:cNvSpPr/>
            <p:nvPr/>
          </p:nvSpPr>
          <p:spPr>
            <a:xfrm>
              <a:off x="1972" y="2176"/>
              <a:ext cx="4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4763" name="Text Box 10"/>
            <p:cNvSpPr txBox="1"/>
            <p:nvPr/>
          </p:nvSpPr>
          <p:spPr>
            <a:xfrm>
              <a:off x="3378" y="218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4764" name="Line 11"/>
            <p:cNvSpPr/>
            <p:nvPr/>
          </p:nvSpPr>
          <p:spPr>
            <a:xfrm>
              <a:off x="1912" y="2534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5" name="Text Box 12"/>
            <p:cNvSpPr txBox="1"/>
            <p:nvPr/>
          </p:nvSpPr>
          <p:spPr>
            <a:xfrm>
              <a:off x="2490" y="2516"/>
              <a:ext cx="11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1  0  0  0  1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709" name="Text Box 13"/>
          <p:cNvSpPr txBox="1"/>
          <p:nvPr/>
        </p:nvSpPr>
        <p:spPr>
          <a:xfrm>
            <a:off x="1749425" y="5675313"/>
            <a:ext cx="48545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真值为：	 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1110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6" name="Text Box 3"/>
          <p:cNvSpPr txBox="1"/>
          <p:nvPr/>
        </p:nvSpPr>
        <p:spPr>
          <a:xfrm>
            <a:off x="655638" y="801688"/>
            <a:ext cx="8015287" cy="690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762000" indent="-762000" fontAlgn="base"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＝11100，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＝01011,</a:t>
            </a:r>
            <a:r>
              <a:rPr lang="en-US" altLang="zh-CN" dirty="0">
                <a:latin typeface="Times New Roman" panose="02020603050405020304" pitchFamily="18" charset="0"/>
              </a:rPr>
              <a:t> [</a:t>
            </a:r>
            <a:r>
              <a:rPr lang="zh-CN" altLang="en-US" dirty="0">
                <a:latin typeface="Times New Roman" panose="02020603050405020304" pitchFamily="18" charset="0"/>
              </a:rPr>
              <a:t>－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反</a:t>
            </a:r>
            <a:r>
              <a:rPr lang="zh-CN" altLang="zh-CN" dirty="0">
                <a:latin typeface="Times New Roman" panose="02020603050405020304" pitchFamily="18" charset="0"/>
              </a:rPr>
              <a:t>＝10100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9639" name="矩形 16"/>
          <p:cNvSpPr/>
          <p:nvPr/>
        </p:nvSpPr>
        <p:spPr>
          <a:xfrm>
            <a:off x="4702175" y="3779838"/>
            <a:ext cx="4186238" cy="16446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dirty="0">
                <a:latin typeface="Times New Roman" panose="02020603050405020304" pitchFamily="18" charset="0"/>
              </a:rPr>
              <a:t>=[[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反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反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dirty="0">
                <a:latin typeface="Times New Roman" panose="02020603050405020304" pitchFamily="18" charset="0"/>
              </a:rPr>
              <a:t>=[10001]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反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baseline="-25000" dirty="0">
                <a:latin typeface="Times New Roman" panose="02020603050405020304" pitchFamily="18" charset="0"/>
              </a:rPr>
              <a:t>       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=11110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" name="圆角右箭头 19"/>
          <p:cNvSpPr/>
          <p:nvPr/>
        </p:nvSpPr>
        <p:spPr bwMode="auto">
          <a:xfrm rot="10800000">
            <a:off x="6562725" y="5445125"/>
            <a:ext cx="730250" cy="523875"/>
          </a:xfrm>
          <a:prstGeom prst="bentArrow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  <p:bldP spid="29709" grpId="0" build="p"/>
      <p:bldP spid="16" grpId="0" build="p"/>
      <p:bldP spid="6963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436563" y="725488"/>
            <a:ext cx="2349500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三、补码运算</a:t>
            </a:r>
            <a:endParaRPr kumimoji="1" lang="zh-CN" altLang="en-US" b="1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1222375" y="1633538"/>
            <a:ext cx="6362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可以证明有如下补码加、减运算规则：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4580" name="Rectangle 4"/>
          <p:cNvSpPr/>
          <p:nvPr/>
        </p:nvSpPr>
        <p:spPr>
          <a:xfrm>
            <a:off x="1870075" y="2465388"/>
            <a:ext cx="44259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b="1" dirty="0">
                <a:latin typeface="Times New Roman" panose="02020603050405020304" pitchFamily="18" charset="0"/>
              </a:rPr>
              <a:t>[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latin typeface="Times New Roman" panose="02020603050405020304" pitchFamily="18" charset="0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]</a:t>
            </a:r>
            <a:r>
              <a:rPr lang="zh-CN" altLang="zh-CN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b="1" dirty="0">
                <a:latin typeface="Times New Roman" panose="02020603050405020304" pitchFamily="18" charset="0"/>
              </a:rPr>
              <a:t>＝ </a:t>
            </a:r>
            <a:r>
              <a:rPr lang="en-US" altLang="zh-CN" b="1" dirty="0">
                <a:latin typeface="Times New Roman" panose="02020603050405020304" pitchFamily="18" charset="0"/>
              </a:rPr>
              <a:t>[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]</a:t>
            </a:r>
            <a:r>
              <a:rPr lang="zh-CN" altLang="zh-CN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b="1" dirty="0">
                <a:latin typeface="Times New Roman" panose="02020603050405020304" pitchFamily="18" charset="0"/>
              </a:rPr>
              <a:t>+ </a:t>
            </a:r>
            <a:r>
              <a:rPr lang="en-US" altLang="zh-CN" b="1" dirty="0">
                <a:latin typeface="Times New Roman" panose="02020603050405020304" pitchFamily="18" charset="0"/>
              </a:rPr>
              <a:t>[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]</a:t>
            </a:r>
            <a:r>
              <a:rPr lang="zh-CN" altLang="zh-CN" b="1" baseline="-25000" dirty="0">
                <a:latin typeface="Times New Roman" panose="02020603050405020304" pitchFamily="18" charset="0"/>
              </a:rPr>
              <a:t>补</a:t>
            </a:r>
            <a:endParaRPr lang="zh-CN" altLang="en-US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4581" name="Rectangle 5"/>
          <p:cNvSpPr/>
          <p:nvPr/>
        </p:nvSpPr>
        <p:spPr>
          <a:xfrm>
            <a:off x="1870075" y="3297238"/>
            <a:ext cx="49418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b="1" dirty="0">
                <a:latin typeface="Times New Roman" panose="02020603050405020304" pitchFamily="18" charset="0"/>
              </a:rPr>
              <a:t>[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b="1" dirty="0">
                <a:latin typeface="Times New Roman" panose="02020603050405020304" pitchFamily="18" charset="0"/>
              </a:rPr>
              <a:t>－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]</a:t>
            </a:r>
            <a:r>
              <a:rPr lang="zh-CN" altLang="zh-CN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b="1" dirty="0">
                <a:latin typeface="Times New Roman" panose="02020603050405020304" pitchFamily="18" charset="0"/>
              </a:rPr>
              <a:t>＝ </a:t>
            </a:r>
            <a:r>
              <a:rPr lang="en-US" altLang="zh-CN" b="1" dirty="0">
                <a:latin typeface="Times New Roman" panose="02020603050405020304" pitchFamily="18" charset="0"/>
              </a:rPr>
              <a:t>[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]</a:t>
            </a:r>
            <a:r>
              <a:rPr lang="zh-CN" altLang="zh-CN" b="1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b="1" dirty="0">
                <a:latin typeface="Times New Roman" panose="02020603050405020304" pitchFamily="18" charset="0"/>
              </a:rPr>
              <a:t>+ </a:t>
            </a:r>
            <a:r>
              <a:rPr lang="en-US" altLang="zh-CN" b="1" dirty="0">
                <a:latin typeface="Times New Roman" panose="02020603050405020304" pitchFamily="18" charset="0"/>
              </a:rPr>
              <a:t>[</a:t>
            </a:r>
            <a:r>
              <a:rPr lang="zh-CN" altLang="en-US" b="1" dirty="0">
                <a:latin typeface="Times New Roman" panose="02020603050405020304" pitchFamily="18" charset="0"/>
              </a:rPr>
              <a:t>－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]</a:t>
            </a:r>
            <a:r>
              <a:rPr lang="zh-CN" altLang="zh-CN" b="1" baseline="-25000" dirty="0">
                <a:latin typeface="Times New Roman" panose="02020603050405020304" pitchFamily="18" charset="0"/>
              </a:rPr>
              <a:t>补</a:t>
            </a:r>
            <a:endParaRPr lang="zh-CN" altLang="en-US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222375" y="4129088"/>
            <a:ext cx="64008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fontAlgn="base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此规则说明补码的符号位</a:t>
            </a:r>
            <a:r>
              <a:rPr kumimoji="1" lang="zh-CN" altLang="en-US" b="1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参与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加减运算。</a:t>
            </a:r>
            <a:endParaRPr kumimoji="1" lang="zh-CN" altLang="en-US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4" name="Text Box 8"/>
          <p:cNvSpPr txBox="1"/>
          <p:nvPr/>
        </p:nvSpPr>
        <p:spPr>
          <a:xfrm>
            <a:off x="2847975" y="5557838"/>
            <a:ext cx="28749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[[N]</a:t>
            </a:r>
            <a:r>
              <a:rPr lang="zh-CN" altLang="en-US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=[N]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原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70664" name="矩形 7"/>
          <p:cNvSpPr/>
          <p:nvPr/>
        </p:nvSpPr>
        <p:spPr>
          <a:xfrm>
            <a:off x="1209675" y="4856163"/>
            <a:ext cx="45720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补码与原码的关系：</a:t>
            </a:r>
            <a:endParaRPr lang="zh-CN" altLang="en-US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24580" grpId="0" build="p"/>
      <p:bldP spid="24581" grpId="0" build="p"/>
      <p:bldP spid="24582" grpId="0" build="p"/>
      <p:bldP spid="24584" grpId="0"/>
      <p:bldP spid="7066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3"/>
          <p:cNvSpPr txBox="1"/>
          <p:nvPr/>
        </p:nvSpPr>
        <p:spPr>
          <a:xfrm>
            <a:off x="908050" y="765175"/>
            <a:ext cx="761206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857250" indent="-857250" fontAlgn="base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例： 已知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0011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 </a:t>
            </a:r>
            <a:r>
              <a:rPr lang="en-US" altLang="zh-CN" dirty="0">
                <a:latin typeface="Times New Roman" panose="02020603050405020304" pitchFamily="18" charset="0"/>
              </a:rPr>
              <a:t>= 1011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。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25604" name="Text Box 4"/>
          <p:cNvSpPr txBox="1"/>
          <p:nvPr/>
        </p:nvSpPr>
        <p:spPr>
          <a:xfrm>
            <a:off x="908050" y="2065338"/>
            <a:ext cx="6719888" cy="112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762000" indent="-762000" fontAlgn="base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解</a:t>
            </a:r>
            <a:r>
              <a:rPr lang="zh-CN" altLang="en-US" dirty="0">
                <a:latin typeface="Times New Roman" panose="02020603050405020304" pitchFamily="18" charset="0"/>
              </a:rPr>
              <a:t>： 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＝11101，	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＝01011, </a:t>
            </a:r>
            <a:br>
              <a:rPr lang="zh-CN" altLang="zh-CN" dirty="0">
                <a:latin typeface="Times New Roman" panose="02020603050405020304" pitchFamily="18" charset="0"/>
              </a:rPr>
            </a:br>
            <a:r>
              <a:rPr lang="zh-CN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zh-CN" altLang="en-US" dirty="0">
                <a:latin typeface="Times New Roman" panose="02020603050405020304" pitchFamily="18" charset="0"/>
              </a:rPr>
              <a:t>－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＝10101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5" name="Text Box 5"/>
          <p:cNvSpPr txBox="1"/>
          <p:nvPr/>
        </p:nvSpPr>
        <p:spPr>
          <a:xfrm>
            <a:off x="1765300" y="3284538"/>
            <a:ext cx="63023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 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+[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zh-CN" altLang="zh-CN" dirty="0">
                <a:latin typeface="Times New Roman" panose="02020603050405020304" pitchFamily="18" charset="0"/>
              </a:rPr>
              <a:t>1101+01011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1"/>
          <p:cNvGrpSpPr/>
          <p:nvPr/>
        </p:nvGrpSpPr>
        <p:grpSpPr>
          <a:xfrm>
            <a:off x="4502150" y="4198938"/>
            <a:ext cx="3629025" cy="1492250"/>
            <a:chOff x="1586" y="2421"/>
            <a:chExt cx="2286" cy="940"/>
          </a:xfrm>
        </p:grpSpPr>
        <p:grpSp>
          <p:nvGrpSpPr>
            <p:cNvPr id="76810" name="Group 20"/>
            <p:cNvGrpSpPr/>
            <p:nvPr/>
          </p:nvGrpSpPr>
          <p:grpSpPr>
            <a:xfrm>
              <a:off x="2258" y="2421"/>
              <a:ext cx="1614" cy="940"/>
              <a:chOff x="2258" y="2421"/>
              <a:chExt cx="1614" cy="940"/>
            </a:xfrm>
          </p:grpSpPr>
          <p:grpSp>
            <p:nvGrpSpPr>
              <p:cNvPr id="76813" name="Group 19"/>
              <p:cNvGrpSpPr/>
              <p:nvPr/>
            </p:nvGrpSpPr>
            <p:grpSpPr>
              <a:xfrm>
                <a:off x="2258" y="2421"/>
                <a:ext cx="1614" cy="940"/>
                <a:chOff x="2258" y="2421"/>
                <a:chExt cx="1614" cy="940"/>
              </a:xfrm>
            </p:grpSpPr>
            <p:sp>
              <p:nvSpPr>
                <p:cNvPr id="76815" name="Text Box 7"/>
                <p:cNvSpPr txBox="1"/>
                <p:nvPr/>
              </p:nvSpPr>
              <p:spPr>
                <a:xfrm>
                  <a:off x="2258" y="2421"/>
                  <a:ext cx="159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fontAlgn="base"/>
                  <a:r>
                    <a:rPr lang="en-US" altLang="zh-CN" dirty="0">
                      <a:latin typeface="Times New Roman" panose="02020603050405020304" pitchFamily="18" charset="0"/>
                    </a:rPr>
                    <a:t>        1  1  1  0  1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  <a:p>
                  <a:pPr fontAlgn="base"/>
                  <a:r>
                    <a:rPr lang="zh-CN" altLang="en-US" dirty="0">
                      <a:latin typeface="Times New Roman" panose="02020603050405020304" pitchFamily="18" charset="0"/>
                    </a:rPr>
                    <a:t>＋</a:t>
                  </a:r>
                  <a:r>
                    <a:rPr lang="en-US" altLang="zh-CN" dirty="0">
                      <a:latin typeface="Times New Roman" panose="02020603050405020304" pitchFamily="18" charset="0"/>
                    </a:rPr>
                    <a:t>)   0  1  0  1  1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6816" name="Line 8"/>
                <p:cNvSpPr/>
                <p:nvPr/>
              </p:nvSpPr>
              <p:spPr>
                <a:xfrm>
                  <a:off x="2316" y="3015"/>
                  <a:ext cx="155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17" name="Text Box 9"/>
                <p:cNvSpPr txBox="1"/>
                <p:nvPr/>
              </p:nvSpPr>
              <p:spPr>
                <a:xfrm>
                  <a:off x="2493" y="3031"/>
                  <a:ext cx="1357" cy="3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fontAlgn="base"/>
                  <a:r>
                    <a:rPr lang="en-US" altLang="zh-CN" b="1" dirty="0">
                      <a:solidFill>
                        <a:srgbClr val="FF00FF"/>
                      </a:solidFill>
                      <a:latin typeface="Times New Roman" panose="02020603050405020304" pitchFamily="18" charset="0"/>
                    </a:rPr>
                    <a:t>1  </a:t>
                  </a:r>
                  <a:r>
                    <a:rPr lang="en-US" altLang="zh-CN" dirty="0">
                      <a:latin typeface="Times New Roman" panose="02020603050405020304" pitchFamily="18" charset="0"/>
                    </a:rPr>
                    <a:t>0  1  0  0  0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6814" name="Rectangle 10"/>
              <p:cNvSpPr/>
              <p:nvPr/>
            </p:nvSpPr>
            <p:spPr>
              <a:xfrm>
                <a:off x="2479" y="3048"/>
                <a:ext cx="252" cy="228"/>
              </a:xfrm>
              <a:prstGeom prst="rect">
                <a:avLst/>
              </a:prstGeom>
              <a:noFill/>
              <a:ln w="952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6811" name="Text Box 12"/>
            <p:cNvSpPr txBox="1"/>
            <p:nvPr/>
          </p:nvSpPr>
          <p:spPr>
            <a:xfrm>
              <a:off x="1586" y="2992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丢弃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6812" name="Line 13"/>
            <p:cNvSpPr/>
            <p:nvPr/>
          </p:nvSpPr>
          <p:spPr>
            <a:xfrm flipH="1">
              <a:off x="2100" y="3168"/>
              <a:ext cx="3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14" name="Text Box 14"/>
          <p:cNvSpPr txBox="1"/>
          <p:nvPr/>
        </p:nvSpPr>
        <p:spPr>
          <a:xfrm>
            <a:off x="1833563" y="5816600"/>
            <a:ext cx="40195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真值为：	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=1000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5" name="下箭头 14"/>
          <p:cNvSpPr/>
          <p:nvPr/>
        </p:nvSpPr>
        <p:spPr bwMode="auto">
          <a:xfrm>
            <a:off x="6819900" y="3776663"/>
            <a:ext cx="301625" cy="593725"/>
          </a:xfrm>
          <a:prstGeom prst="downArrow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8" name="矩形 15"/>
          <p:cNvSpPr/>
          <p:nvPr/>
        </p:nvSpPr>
        <p:spPr>
          <a:xfrm>
            <a:off x="1870075" y="4448175"/>
            <a:ext cx="2922588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01000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" name="右箭头 16"/>
          <p:cNvSpPr/>
          <p:nvPr/>
        </p:nvSpPr>
        <p:spPr bwMode="auto">
          <a:xfrm rot="10800000">
            <a:off x="4808538" y="4592638"/>
            <a:ext cx="623888" cy="360363"/>
          </a:xfrm>
          <a:prstGeom prst="rightArrow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/>
      <p:bldP spid="25605" grpId="0" build="p"/>
      <p:bldP spid="25614" grpId="0" build="p"/>
      <p:bldP spid="15" grpId="0" animBg="1"/>
      <p:bldP spid="71688" grpId="0"/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/>
          <p:nvPr/>
        </p:nvSpPr>
        <p:spPr>
          <a:xfrm>
            <a:off x="636588" y="1657350"/>
            <a:ext cx="7011987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 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+ [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zh-CN" dirty="0">
                <a:latin typeface="Times New Roman" panose="02020603050405020304" pitchFamily="18" charset="0"/>
              </a:rPr>
              <a:t>11101+10101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652463" y="2559050"/>
            <a:ext cx="3592512" cy="1406525"/>
            <a:chOff x="1610" y="1497"/>
            <a:chExt cx="2263" cy="886"/>
          </a:xfrm>
        </p:grpSpPr>
        <p:sp>
          <p:nvSpPr>
            <p:cNvPr id="77835" name="Text Box 5"/>
            <p:cNvSpPr txBox="1"/>
            <p:nvPr/>
          </p:nvSpPr>
          <p:spPr>
            <a:xfrm>
              <a:off x="2282" y="1497"/>
              <a:ext cx="1591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        1  1  1  0  1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dirty="0">
                  <a:latin typeface="Times New Roman" panose="02020603050405020304" pitchFamily="18" charset="0"/>
                </a:rPr>
                <a:t>)   1  0  1  0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7836" name="Line 6"/>
            <p:cNvSpPr/>
            <p:nvPr/>
          </p:nvSpPr>
          <p:spPr>
            <a:xfrm>
              <a:off x="2340" y="2091"/>
              <a:ext cx="13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7" name="Text Box 7"/>
            <p:cNvSpPr txBox="1"/>
            <p:nvPr/>
          </p:nvSpPr>
          <p:spPr>
            <a:xfrm>
              <a:off x="2436" y="2032"/>
              <a:ext cx="14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/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1   </a:t>
              </a:r>
              <a:r>
                <a:rPr lang="en-US" altLang="zh-CN" dirty="0">
                  <a:latin typeface="Times New Roman" panose="02020603050405020304" pitchFamily="18" charset="0"/>
                </a:rPr>
                <a:t>1  0  0  1  0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7838" name="Rectangle 8"/>
            <p:cNvSpPr/>
            <p:nvPr/>
          </p:nvSpPr>
          <p:spPr>
            <a:xfrm>
              <a:off x="2436" y="2124"/>
              <a:ext cx="252" cy="228"/>
            </a:xfrm>
            <a:prstGeom prst="rect">
              <a:avLst/>
            </a:prstGeom>
            <a:noFill/>
            <a:ln w="952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7839" name="Text Box 9"/>
            <p:cNvSpPr txBox="1"/>
            <p:nvPr/>
          </p:nvSpPr>
          <p:spPr>
            <a:xfrm>
              <a:off x="1610" y="2056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丢弃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7840" name="Line 10"/>
            <p:cNvSpPr/>
            <p:nvPr/>
          </p:nvSpPr>
          <p:spPr>
            <a:xfrm flipH="1">
              <a:off x="2124" y="2232"/>
              <a:ext cx="31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635" name="Text Box 11"/>
          <p:cNvSpPr txBox="1"/>
          <p:nvPr/>
        </p:nvSpPr>
        <p:spPr>
          <a:xfrm>
            <a:off x="1609725" y="5026025"/>
            <a:ext cx="48545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真值为：	    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</a:rPr>
              <a:t>1110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639" name="Text Box 15"/>
          <p:cNvSpPr txBox="1"/>
          <p:nvPr/>
        </p:nvSpPr>
        <p:spPr>
          <a:xfrm>
            <a:off x="1055688" y="5684838"/>
            <a:ext cx="71326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b="1" dirty="0">
                <a:latin typeface="Times New Roman" panose="02020603050405020304" pitchFamily="18" charset="0"/>
              </a:rPr>
              <a:t>补码加法减法运算：符号位有进位则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丢弃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77830" name="Text Box 4"/>
          <p:cNvSpPr txBox="1"/>
          <p:nvPr/>
        </p:nvSpPr>
        <p:spPr>
          <a:xfrm>
            <a:off x="612775" y="731838"/>
            <a:ext cx="8143875" cy="609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762000" indent="-762000"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＝11101，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＝01011,  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zh-CN" altLang="en-US" dirty="0">
                <a:latin typeface="Times New Roman" panose="02020603050405020304" pitchFamily="18" charset="0"/>
              </a:rPr>
              <a:t>－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zh-CN" baseline="-25000" dirty="0">
                <a:latin typeface="Times New Roman" panose="02020603050405020304" pitchFamily="18" charset="0"/>
              </a:rPr>
              <a:t>补</a:t>
            </a:r>
            <a:r>
              <a:rPr lang="zh-CN" altLang="zh-CN" dirty="0">
                <a:latin typeface="Times New Roman" panose="02020603050405020304" pitchFamily="18" charset="0"/>
              </a:rPr>
              <a:t>＝10101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2711" name="矩形 13"/>
          <p:cNvSpPr/>
          <p:nvPr/>
        </p:nvSpPr>
        <p:spPr>
          <a:xfrm>
            <a:off x="4849813" y="3286125"/>
            <a:ext cx="4186237" cy="16430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baseline="-25000" dirty="0">
                <a:latin typeface="Times New Roman" panose="02020603050405020304" pitchFamily="18" charset="0"/>
              </a:rPr>
              <a:t>原</a:t>
            </a:r>
            <a:r>
              <a:rPr lang="en-US" altLang="zh-CN" dirty="0">
                <a:latin typeface="Times New Roman" panose="02020603050405020304" pitchFamily="18" charset="0"/>
              </a:rPr>
              <a:t>=[[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－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baseline="-25000" dirty="0">
                <a:latin typeface="Times New Roman" panose="02020603050405020304" pitchFamily="18" charset="0"/>
              </a:rPr>
              <a:t>补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dirty="0">
                <a:latin typeface="Times New Roman" panose="02020603050405020304" pitchFamily="18" charset="0"/>
              </a:rPr>
              <a:t>=[10010]</a:t>
            </a:r>
            <a:r>
              <a:rPr lang="zh-CN" altLang="en-US" baseline="-25000" dirty="0">
                <a:latin typeface="Times New Roman" panose="02020603050405020304" pitchFamily="18" charset="0"/>
              </a:rPr>
              <a:t>补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baseline="-25000" dirty="0">
                <a:latin typeface="Times New Roman" panose="02020603050405020304" pitchFamily="18" charset="0"/>
              </a:rPr>
              <a:t>       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=11110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" name="圆角右箭头 14"/>
          <p:cNvSpPr/>
          <p:nvPr/>
        </p:nvSpPr>
        <p:spPr bwMode="auto">
          <a:xfrm rot="10800000">
            <a:off x="4249738" y="2339975"/>
            <a:ext cx="1570038" cy="52387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右箭头 16"/>
          <p:cNvSpPr/>
          <p:nvPr/>
        </p:nvSpPr>
        <p:spPr bwMode="auto">
          <a:xfrm>
            <a:off x="4313238" y="3462338"/>
            <a:ext cx="623888" cy="360363"/>
          </a:xfrm>
          <a:prstGeom prst="rightArrow">
            <a:avLst/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圆角右箭头 17"/>
          <p:cNvSpPr/>
          <p:nvPr/>
        </p:nvSpPr>
        <p:spPr bwMode="auto">
          <a:xfrm rot="10800000">
            <a:off x="6542088" y="4870450"/>
            <a:ext cx="633413" cy="52387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1121"/>
            </a:avLst>
          </a:prstGeom>
          <a:noFill/>
          <a:ln w="190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dvAuto="1000" build="p"/>
      <p:bldP spid="26635" grpId="0" build="p"/>
      <p:bldP spid="26639" grpId="0"/>
      <p:bldP spid="72711" grpId="0"/>
      <p:bldP spid="1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66700" y="636588"/>
            <a:ext cx="569976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2.3  </a:t>
            </a:r>
            <a:r>
              <a:rPr kumimoji="1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数的定点表示与浮点表示</a:t>
            </a:r>
            <a:endParaRPr kumimoji="1" lang="zh-CN" altLang="en-US" sz="32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412750" y="1355725"/>
            <a:ext cx="343281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2.3.1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数的定点表示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38" name="Text Box 18"/>
          <p:cNvSpPr txBox="1"/>
          <p:nvPr/>
        </p:nvSpPr>
        <p:spPr>
          <a:xfrm>
            <a:off x="741363" y="2162175"/>
            <a:ext cx="7467600" cy="2595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762000" fontAlgn="base"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即小数点的位置固定不变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一般可固定在任何位置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但通常固定在数值部份的最高位之前或最低之后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前者表示纯小数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后者表示纯整数。但机器中并没有小数点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仅仅是一种默认。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7" grpId="0" build="p"/>
      <p:bldP spid="30738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/>
          <p:nvPr/>
        </p:nvGrpSpPr>
        <p:grpSpPr>
          <a:xfrm>
            <a:off x="619125" y="1651000"/>
            <a:ext cx="3540125" cy="1985963"/>
            <a:chOff x="434" y="606"/>
            <a:chExt cx="2230" cy="1251"/>
          </a:xfrm>
        </p:grpSpPr>
        <p:grpSp>
          <p:nvGrpSpPr>
            <p:cNvPr id="83988" name="Group 10"/>
            <p:cNvGrpSpPr/>
            <p:nvPr/>
          </p:nvGrpSpPr>
          <p:grpSpPr>
            <a:xfrm>
              <a:off x="470" y="606"/>
              <a:ext cx="2194" cy="342"/>
              <a:chOff x="722" y="606"/>
              <a:chExt cx="2194" cy="342"/>
            </a:xfrm>
          </p:grpSpPr>
          <p:sp>
            <p:nvSpPr>
              <p:cNvPr id="83993" name="Text Box 2"/>
              <p:cNvSpPr txBox="1"/>
              <p:nvPr/>
            </p:nvSpPr>
            <p:spPr>
              <a:xfrm>
                <a:off x="722" y="606"/>
                <a:ext cx="2194" cy="333"/>
              </a:xfrm>
              <a:prstGeom prst="rect">
                <a:avLst/>
              </a:prstGeom>
              <a:noFill/>
              <a:ln w="952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lstStyle/>
              <a:p>
                <a:pPr fontAlgn="base"/>
                <a:r>
                  <a:rPr lang="en-US" altLang="zh-CN" dirty="0">
                    <a:latin typeface="Times New Roman" panose="02020603050405020304" pitchFamily="18" charset="0"/>
                  </a:rPr>
                  <a:t>1   1   1   0   1   1   0   1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994" name="Line 3"/>
              <p:cNvSpPr/>
              <p:nvPr/>
            </p:nvSpPr>
            <p:spPr>
              <a:xfrm>
                <a:off x="972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95" name="Line 4"/>
              <p:cNvSpPr/>
              <p:nvPr/>
            </p:nvSpPr>
            <p:spPr>
              <a:xfrm>
                <a:off x="1248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96" name="Line 5"/>
              <p:cNvSpPr/>
              <p:nvPr/>
            </p:nvSpPr>
            <p:spPr>
              <a:xfrm>
                <a:off x="1536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97" name="Line 6"/>
              <p:cNvSpPr/>
              <p:nvPr/>
            </p:nvSpPr>
            <p:spPr>
              <a:xfrm>
                <a:off x="1812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98" name="Line 7"/>
              <p:cNvSpPr/>
              <p:nvPr/>
            </p:nvSpPr>
            <p:spPr>
              <a:xfrm>
                <a:off x="2088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99" name="Line 8"/>
              <p:cNvSpPr/>
              <p:nvPr/>
            </p:nvSpPr>
            <p:spPr>
              <a:xfrm>
                <a:off x="2376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00" name="Line 9"/>
              <p:cNvSpPr/>
              <p:nvPr/>
            </p:nvSpPr>
            <p:spPr>
              <a:xfrm>
                <a:off x="2640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989" name="Text Box 20"/>
            <p:cNvSpPr txBox="1"/>
            <p:nvPr/>
          </p:nvSpPr>
          <p:spPr>
            <a:xfrm>
              <a:off x="434" y="916"/>
              <a:ext cx="30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/>
              <a:r>
                <a:rPr lang="zh-CN" altLang="en-US" sz="2400" dirty="0">
                  <a:latin typeface="Times New Roman" panose="02020603050405020304" pitchFamily="18" charset="0"/>
                </a:rPr>
                <a:t>符号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3990" name="Text Box 21"/>
            <p:cNvSpPr txBox="1"/>
            <p:nvPr/>
          </p:nvSpPr>
          <p:spPr>
            <a:xfrm>
              <a:off x="590" y="868"/>
              <a:ext cx="300" cy="9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/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r>
                <a:rPr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小数点</a:t>
              </a:r>
              <a:endPara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91" name="AutoShape 22"/>
            <p:cNvSpPr/>
            <p:nvPr/>
          </p:nvSpPr>
          <p:spPr>
            <a:xfrm rot="-5400000">
              <a:off x="1596" y="216"/>
              <a:ext cx="192" cy="1728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3992" name="Text Box 23"/>
            <p:cNvSpPr txBox="1"/>
            <p:nvPr/>
          </p:nvSpPr>
          <p:spPr>
            <a:xfrm>
              <a:off x="1274" y="1170"/>
              <a:ext cx="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zh-CN" altLang="zh-CN" dirty="0">
                  <a:latin typeface="Times New Roman" panose="02020603050405020304" pitchFamily="18" charset="0"/>
                </a:rPr>
                <a:t>位数值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29"/>
          <p:cNvGrpSpPr/>
          <p:nvPr/>
        </p:nvGrpSpPr>
        <p:grpSpPr>
          <a:xfrm>
            <a:off x="4810125" y="1651000"/>
            <a:ext cx="3905250" cy="1985963"/>
            <a:chOff x="3074" y="606"/>
            <a:chExt cx="2460" cy="1251"/>
          </a:xfrm>
        </p:grpSpPr>
        <p:grpSp>
          <p:nvGrpSpPr>
            <p:cNvPr id="83975" name="Group 11"/>
            <p:cNvGrpSpPr/>
            <p:nvPr/>
          </p:nvGrpSpPr>
          <p:grpSpPr>
            <a:xfrm>
              <a:off x="3098" y="606"/>
              <a:ext cx="2194" cy="342"/>
              <a:chOff x="722" y="606"/>
              <a:chExt cx="2194" cy="342"/>
            </a:xfrm>
          </p:grpSpPr>
          <p:sp>
            <p:nvSpPr>
              <p:cNvPr id="83980" name="Text Box 12"/>
              <p:cNvSpPr txBox="1"/>
              <p:nvPr/>
            </p:nvSpPr>
            <p:spPr>
              <a:xfrm>
                <a:off x="722" y="606"/>
                <a:ext cx="2194" cy="333"/>
              </a:xfrm>
              <a:prstGeom prst="rect">
                <a:avLst/>
              </a:prstGeom>
              <a:noFill/>
              <a:ln w="952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lstStyle/>
              <a:p>
                <a:pPr fontAlgn="base"/>
                <a:r>
                  <a:rPr lang="en-US" altLang="zh-CN" dirty="0">
                    <a:latin typeface="Times New Roman" panose="02020603050405020304" pitchFamily="18" charset="0"/>
                  </a:rPr>
                  <a:t>1   1   1   0   1   1   0   1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981" name="Line 13"/>
              <p:cNvSpPr/>
              <p:nvPr/>
            </p:nvSpPr>
            <p:spPr>
              <a:xfrm>
                <a:off x="972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2" name="Line 14"/>
              <p:cNvSpPr/>
              <p:nvPr/>
            </p:nvSpPr>
            <p:spPr>
              <a:xfrm>
                <a:off x="1248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3" name="Line 15"/>
              <p:cNvSpPr/>
              <p:nvPr/>
            </p:nvSpPr>
            <p:spPr>
              <a:xfrm>
                <a:off x="1536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4" name="Line 16"/>
              <p:cNvSpPr/>
              <p:nvPr/>
            </p:nvSpPr>
            <p:spPr>
              <a:xfrm>
                <a:off x="1812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5" name="Line 17"/>
              <p:cNvSpPr/>
              <p:nvPr/>
            </p:nvSpPr>
            <p:spPr>
              <a:xfrm>
                <a:off x="2088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6" name="Line 18"/>
              <p:cNvSpPr/>
              <p:nvPr/>
            </p:nvSpPr>
            <p:spPr>
              <a:xfrm>
                <a:off x="2376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7" name="Line 19"/>
              <p:cNvSpPr/>
              <p:nvPr/>
            </p:nvSpPr>
            <p:spPr>
              <a:xfrm>
                <a:off x="2640" y="624"/>
                <a:ext cx="0" cy="324"/>
              </a:xfrm>
              <a:prstGeom prst="line">
                <a:avLst/>
              </a:prstGeom>
              <a:ln w="952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976" name="Text Box 24"/>
            <p:cNvSpPr txBox="1"/>
            <p:nvPr/>
          </p:nvSpPr>
          <p:spPr>
            <a:xfrm>
              <a:off x="3074" y="916"/>
              <a:ext cx="30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/>
              <a:r>
                <a:rPr lang="zh-CN" altLang="en-US" sz="2400" dirty="0">
                  <a:latin typeface="Times New Roman" panose="02020603050405020304" pitchFamily="18" charset="0"/>
                </a:rPr>
                <a:t>符号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3977" name="AutoShape 25"/>
            <p:cNvSpPr/>
            <p:nvPr/>
          </p:nvSpPr>
          <p:spPr>
            <a:xfrm rot="-5400000">
              <a:off x="4224" y="216"/>
              <a:ext cx="192" cy="1728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3978" name="Text Box 26"/>
            <p:cNvSpPr txBox="1"/>
            <p:nvPr/>
          </p:nvSpPr>
          <p:spPr>
            <a:xfrm>
              <a:off x="5234" y="868"/>
              <a:ext cx="300" cy="9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/>
              <a:r>
                <a:rPr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</a:t>
              </a:r>
              <a:r>
                <a:rPr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小数点</a:t>
              </a:r>
              <a:endPara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9" name="Text Box 27"/>
            <p:cNvSpPr txBox="1"/>
            <p:nvPr/>
          </p:nvSpPr>
          <p:spPr>
            <a:xfrm>
              <a:off x="3890" y="1170"/>
              <a:ext cx="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zh-CN" altLang="zh-CN" dirty="0">
                  <a:latin typeface="Times New Roman" panose="02020603050405020304" pitchFamily="18" charset="0"/>
                </a:rPr>
                <a:t>位数值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775" name="Text Box 31"/>
          <p:cNvSpPr txBox="1"/>
          <p:nvPr/>
        </p:nvSpPr>
        <p:spPr>
          <a:xfrm>
            <a:off x="688975" y="3819525"/>
            <a:ext cx="7658100" cy="2139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9925" fontAlgn="base">
              <a:lnSpc>
                <a:spcPct val="16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如果运算结果小于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-n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zh-CN" dirty="0">
                <a:latin typeface="Times New Roman" panose="02020603050405020304" pitchFamily="18" charset="0"/>
              </a:rPr>
              <a:t>或1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，称出现了</a:t>
            </a:r>
            <a:r>
              <a:rPr lang="en-US" altLang="zh-CN" dirty="0">
                <a:latin typeface="Times New Roman" panose="02020603050405020304" pitchFamily="18" charset="0"/>
              </a:rPr>
              <a:t>"</a:t>
            </a:r>
            <a:r>
              <a:rPr lang="zh-CN" altLang="en-US" dirty="0">
                <a:latin typeface="Times New Roman" panose="02020603050405020304" pitchFamily="18" charset="0"/>
              </a:rPr>
              <a:t>下溢</a:t>
            </a:r>
            <a:r>
              <a:rPr lang="en-US" altLang="zh-CN" dirty="0">
                <a:latin typeface="Times New Roman" panose="02020603050405020304" pitchFamily="18" charset="0"/>
              </a:rPr>
              <a:t>"</a:t>
            </a:r>
            <a:r>
              <a:rPr lang="zh-CN" altLang="en-US" dirty="0">
                <a:latin typeface="Times New Roman" panose="02020603050405020304" pitchFamily="18" charset="0"/>
              </a:rPr>
              <a:t>，一般作为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处理，结果大于</a:t>
            </a:r>
            <a:r>
              <a:rPr lang="en-US" altLang="zh-CN" dirty="0">
                <a:latin typeface="Times New Roman" panose="02020603050405020304" pitchFamily="18" charset="0"/>
              </a:rPr>
              <a:t>1- 2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-n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</a:rPr>
              <a:t>-</a:t>
            </a:r>
            <a:r>
              <a:rPr lang="en-US" altLang="zh-CN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，称出现了</a:t>
            </a:r>
            <a:r>
              <a:rPr lang="en-US" altLang="zh-CN" dirty="0">
                <a:latin typeface="Times New Roman" panose="02020603050405020304" pitchFamily="18" charset="0"/>
              </a:rPr>
              <a:t>"</a:t>
            </a:r>
            <a:r>
              <a:rPr lang="zh-CN" altLang="en-US" dirty="0">
                <a:latin typeface="Times New Roman" panose="02020603050405020304" pitchFamily="18" charset="0"/>
              </a:rPr>
              <a:t>上溢</a:t>
            </a:r>
            <a:r>
              <a:rPr lang="en-US" altLang="zh-CN" dirty="0">
                <a:latin typeface="Times New Roman" panose="02020603050405020304" pitchFamily="18" charset="0"/>
              </a:rPr>
              <a:t>"</a:t>
            </a:r>
            <a:r>
              <a:rPr lang="zh-CN" altLang="en-US" dirty="0">
                <a:latin typeface="Times New Roman" panose="02020603050405020304" pitchFamily="18" charset="0"/>
              </a:rPr>
              <a:t>，一般会停机或进入出错处理程序。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973" name="矩形 31"/>
          <p:cNvSpPr/>
          <p:nvPr/>
        </p:nvSpPr>
        <p:spPr>
          <a:xfrm>
            <a:off x="565150" y="1079500"/>
            <a:ext cx="38989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纯小数，即：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400" b="1" i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≤|N|≤1-2</a:t>
            </a:r>
            <a:r>
              <a:rPr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-n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4" name="矩形 32"/>
          <p:cNvSpPr/>
          <p:nvPr/>
        </p:nvSpPr>
        <p:spPr>
          <a:xfrm>
            <a:off x="4751388" y="1049338"/>
            <a:ext cx="38989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纯整数，即：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≤|N|≤2</a:t>
            </a:r>
            <a:r>
              <a:rPr lang="en-US" altLang="zh-CN" sz="24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-n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-1 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5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44488" y="661988"/>
            <a:ext cx="352806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2.3.2 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数的浮点表示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882650" y="1509713"/>
            <a:ext cx="7497763" cy="3711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indent="666750" defTabSz="914400" fontAlgn="base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定点数的数域较小。若既要能表示很小的数，又要能表示很大的数，则采用浮点表示法比较合适。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数的浮点表示法是指表示一个数时，其小数点的位置是浮动的，实际上是数的指数计数法在计算机中的具体体现，解决了定点表示中取值范围过窄的问题。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3"/>
          <p:cNvSpPr txBox="1"/>
          <p:nvPr/>
        </p:nvSpPr>
        <p:spPr>
          <a:xfrm>
            <a:off x="581025" y="1476375"/>
            <a:ext cx="7691438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6750" fontAlgn="base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浮点表示中，数由两部分构成：阶码部分和尾数部分。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772" name="Text Box 4"/>
          <p:cNvSpPr txBox="1"/>
          <p:nvPr/>
        </p:nvSpPr>
        <p:spPr>
          <a:xfrm>
            <a:off x="1973263" y="2878138"/>
            <a:ext cx="40290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一般形式为</a:t>
            </a: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	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  <a:r>
              <a:rPr lang="en-US" altLang="zh-CN" baseline="30000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2773" name="Text Box 5"/>
          <p:cNvSpPr txBox="1"/>
          <p:nvPr/>
        </p:nvSpPr>
        <p:spPr>
          <a:xfrm>
            <a:off x="1227138" y="3446463"/>
            <a:ext cx="7239000" cy="1901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J</a:t>
            </a:r>
            <a:r>
              <a:rPr lang="zh-CN" altLang="zh-CN" dirty="0">
                <a:latin typeface="Times New Roman" panose="02020603050405020304" pitchFamily="18" charset="0"/>
              </a:rPr>
              <a:t>称为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zh-CN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阶码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zh-CN" altLang="zh-CN" dirty="0">
                <a:latin typeface="Times New Roman" panose="02020603050405020304" pitchFamily="18" charset="0"/>
              </a:rPr>
              <a:t>指数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zh-CN" altLang="zh-CN" dirty="0">
                <a:latin typeface="Times New Roman" panose="02020603050405020304" pitchFamily="18" charset="0"/>
              </a:rPr>
              <a:t>部分，表示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小数点的位置</a:t>
            </a:r>
            <a:r>
              <a:rPr lang="zh-CN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zh-CN" dirty="0">
                <a:latin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尾数</a:t>
            </a:r>
            <a:r>
              <a:rPr lang="zh-CN" altLang="zh-CN" dirty="0">
                <a:latin typeface="Times New Roman" panose="02020603050405020304" pitchFamily="18" charset="0"/>
              </a:rPr>
              <a:t>部分，表示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数的符号和有效数字</a:t>
            </a:r>
            <a:r>
              <a:rPr lang="zh-CN" altLang="zh-CN" dirty="0">
                <a:latin typeface="Times New Roman" panose="02020603050405020304" pitchFamily="18" charset="0"/>
              </a:rPr>
              <a:t>。</a:t>
            </a:r>
            <a:endParaRPr lang="zh-CN" altLang="en-US" baseline="30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  <p:bldP spid="32772" grpId="0" build="p"/>
      <p:bldP spid="3277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2"/>
          <p:cNvSpPr txBox="1"/>
          <p:nvPr/>
        </p:nvSpPr>
        <p:spPr>
          <a:xfrm>
            <a:off x="806450" y="1427163"/>
            <a:ext cx="7767638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        在浮点数中，为了在尾数中表示最多的有效数据位， 同时使浮点数具有唯一的表示方式，规定尾数部分用纯小数给出，且最高数值位非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78" name="Object 3"/>
              <p:cNvSpPr txBox="1"/>
              <p:nvPr/>
            </p:nvSpPr>
            <p:spPr>
              <a:xfrm>
                <a:off x="3225799" y="2844800"/>
                <a:ext cx="2191589" cy="7635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57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799" y="2844800"/>
                <a:ext cx="2191589" cy="763588"/>
              </a:xfrm>
              <a:prstGeom prst="rect">
                <a:avLst/>
              </a:prstGeom>
              <a:blipFill rotWithShape="1">
                <a:blip r:embed="rId1"/>
                <a:stretch>
                  <a:fillRect l="-29" t="-915" r="9" b="42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1" name="Text Box 5"/>
          <p:cNvSpPr txBox="1"/>
          <p:nvPr/>
        </p:nvSpPr>
        <p:spPr>
          <a:xfrm>
            <a:off x="847725" y="3608388"/>
            <a:ext cx="6557963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       规格化数可以提高运算精度。例如：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798" name="Object 6"/>
              <p:cNvSpPr txBox="1"/>
              <p:nvPr/>
            </p:nvSpPr>
            <p:spPr>
              <a:xfrm>
                <a:off x="2260122" y="4397375"/>
                <a:ext cx="5512278" cy="76984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1011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1011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01011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79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122" y="4397375"/>
                <a:ext cx="5512278" cy="769848"/>
              </a:xfrm>
              <a:prstGeom prst="rect">
                <a:avLst/>
              </a:prstGeom>
              <a:blipFill rotWithShape="1">
                <a:blip r:embed="rId2"/>
                <a:stretch>
                  <a:fillRect l="-3" b="30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9" name="Text Box 7"/>
          <p:cNvSpPr txBox="1"/>
          <p:nvPr/>
        </p:nvSpPr>
        <p:spPr>
          <a:xfrm>
            <a:off x="933450" y="5038725"/>
            <a:ext cx="7219950" cy="138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如果尾数的数值部分只有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位，则后一种表示将产生误差。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583" name="矩形 7"/>
          <p:cNvSpPr/>
          <p:nvPr/>
        </p:nvSpPr>
        <p:spPr>
          <a:xfrm>
            <a:off x="627063" y="747713"/>
            <a:ext cx="26987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浮点数的规格化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2"/>
          <p:cNvGrpSpPr/>
          <p:nvPr/>
        </p:nvGrpSpPr>
        <p:grpSpPr>
          <a:xfrm>
            <a:off x="1141413" y="1476375"/>
            <a:ext cx="5789612" cy="2168525"/>
            <a:chOff x="717" y="587"/>
            <a:chExt cx="3647" cy="1366"/>
          </a:xfrm>
        </p:grpSpPr>
        <p:grpSp>
          <p:nvGrpSpPr>
            <p:cNvPr id="25610" name="Group 125"/>
            <p:cNvGrpSpPr/>
            <p:nvPr/>
          </p:nvGrpSpPr>
          <p:grpSpPr>
            <a:xfrm>
              <a:off x="753" y="587"/>
              <a:ext cx="3611" cy="443"/>
              <a:chOff x="764" y="564"/>
              <a:chExt cx="3611" cy="443"/>
            </a:xfrm>
          </p:grpSpPr>
          <p:sp>
            <p:nvSpPr>
              <p:cNvPr id="25619" name="Rectangle 13"/>
              <p:cNvSpPr/>
              <p:nvPr/>
            </p:nvSpPr>
            <p:spPr>
              <a:xfrm>
                <a:off x="4016" y="564"/>
                <a:ext cx="282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dirty="0">
                    <a:latin typeface="Arial" panose="020B0604020202020204" pitchFamily="34" charset="0"/>
                  </a:rPr>
                  <a:t>０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20" name="Rectangle 12"/>
              <p:cNvSpPr/>
              <p:nvPr/>
            </p:nvSpPr>
            <p:spPr>
              <a:xfrm>
                <a:off x="3552" y="564"/>
                <a:ext cx="464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dirty="0">
                    <a:latin typeface="Arial" panose="020B0604020202020204" pitchFamily="34" charset="0"/>
                  </a:rPr>
                  <a:t>１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21" name="Rectangle 11"/>
              <p:cNvSpPr/>
              <p:nvPr/>
            </p:nvSpPr>
            <p:spPr>
              <a:xfrm>
                <a:off x="3087" y="564"/>
                <a:ext cx="465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dirty="0">
                    <a:latin typeface="Arial" panose="020B0604020202020204" pitchFamily="34" charset="0"/>
                  </a:rPr>
                  <a:t>０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22" name="Rectangle 10"/>
              <p:cNvSpPr/>
              <p:nvPr/>
            </p:nvSpPr>
            <p:spPr>
              <a:xfrm>
                <a:off x="2622" y="564"/>
                <a:ext cx="465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dirty="0">
                    <a:latin typeface="Arial" panose="020B0604020202020204" pitchFamily="34" charset="0"/>
                  </a:rPr>
                  <a:t>１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23" name="Rectangle 9"/>
              <p:cNvSpPr/>
              <p:nvPr/>
            </p:nvSpPr>
            <p:spPr>
              <a:xfrm>
                <a:off x="2158" y="564"/>
                <a:ext cx="464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dirty="0">
                    <a:latin typeface="Arial" panose="020B0604020202020204" pitchFamily="34" charset="0"/>
                  </a:rPr>
                  <a:t>０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24" name="Rectangle 8"/>
              <p:cNvSpPr/>
              <p:nvPr/>
            </p:nvSpPr>
            <p:spPr>
              <a:xfrm>
                <a:off x="1706" y="564"/>
                <a:ext cx="452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dirty="0">
                    <a:latin typeface="Arial" panose="020B0604020202020204" pitchFamily="34" charset="0"/>
                  </a:rPr>
                  <a:t>０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25" name="Rectangle 7"/>
              <p:cNvSpPr/>
              <p:nvPr/>
            </p:nvSpPr>
            <p:spPr>
              <a:xfrm>
                <a:off x="1229" y="564"/>
                <a:ext cx="477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dirty="0">
                    <a:latin typeface="Arial" panose="020B0604020202020204" pitchFamily="34" charset="0"/>
                  </a:rPr>
                  <a:t>１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26" name="Rectangle 6"/>
              <p:cNvSpPr/>
              <p:nvPr/>
            </p:nvSpPr>
            <p:spPr>
              <a:xfrm>
                <a:off x="764" y="564"/>
                <a:ext cx="465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dirty="0">
                    <a:latin typeface="Arial" panose="020B0604020202020204" pitchFamily="34" charset="0"/>
                  </a:rPr>
                  <a:t>０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27" name="Line 14"/>
              <p:cNvSpPr/>
              <p:nvPr/>
            </p:nvSpPr>
            <p:spPr>
              <a:xfrm>
                <a:off x="831" y="575"/>
                <a:ext cx="3534" cy="0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8" name="Line 16"/>
              <p:cNvSpPr/>
              <p:nvPr/>
            </p:nvSpPr>
            <p:spPr>
              <a:xfrm>
                <a:off x="820" y="575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9" name="Line 17"/>
              <p:cNvSpPr/>
              <p:nvPr/>
            </p:nvSpPr>
            <p:spPr>
              <a:xfrm>
                <a:off x="1229" y="564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0" name="Line 18"/>
              <p:cNvSpPr/>
              <p:nvPr/>
            </p:nvSpPr>
            <p:spPr>
              <a:xfrm>
                <a:off x="1706" y="564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1" name="Line 19"/>
              <p:cNvSpPr/>
              <p:nvPr/>
            </p:nvSpPr>
            <p:spPr>
              <a:xfrm>
                <a:off x="2158" y="564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2" name="Line 20"/>
              <p:cNvSpPr/>
              <p:nvPr/>
            </p:nvSpPr>
            <p:spPr>
              <a:xfrm>
                <a:off x="2622" y="564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3" name="Line 21"/>
              <p:cNvSpPr/>
              <p:nvPr/>
            </p:nvSpPr>
            <p:spPr>
              <a:xfrm>
                <a:off x="3087" y="564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4" name="Line 22"/>
              <p:cNvSpPr/>
              <p:nvPr/>
            </p:nvSpPr>
            <p:spPr>
              <a:xfrm>
                <a:off x="3552" y="564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5" name="Line 23"/>
              <p:cNvSpPr/>
              <p:nvPr/>
            </p:nvSpPr>
            <p:spPr>
              <a:xfrm>
                <a:off x="4016" y="564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6" name="Line 24"/>
              <p:cNvSpPr/>
              <p:nvPr/>
            </p:nvSpPr>
            <p:spPr>
              <a:xfrm>
                <a:off x="4365" y="574"/>
                <a:ext cx="0" cy="432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7" name="Line 15"/>
              <p:cNvSpPr/>
              <p:nvPr/>
            </p:nvSpPr>
            <p:spPr>
              <a:xfrm>
                <a:off x="841" y="1007"/>
                <a:ext cx="3534" cy="0"/>
              </a:xfrm>
              <a:prstGeom prst="line">
                <a:avLst/>
              </a:prstGeom>
              <a:ln w="12700" cap="flat" cmpd="sng">
                <a:solidFill>
                  <a:srgbClr val="FF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11" name="Line 126"/>
            <p:cNvSpPr/>
            <p:nvPr/>
          </p:nvSpPr>
          <p:spPr>
            <a:xfrm flipV="1">
              <a:off x="997" y="1030"/>
              <a:ext cx="0" cy="2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Line 135"/>
            <p:cNvSpPr/>
            <p:nvPr/>
          </p:nvSpPr>
          <p:spPr>
            <a:xfrm flipV="1">
              <a:off x="2385" y="1022"/>
              <a:ext cx="0" cy="2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AutoShape 136"/>
            <p:cNvSpPr/>
            <p:nvPr/>
          </p:nvSpPr>
          <p:spPr>
            <a:xfrm rot="-5400000">
              <a:off x="1639" y="908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14" name="AutoShape 137"/>
            <p:cNvSpPr/>
            <p:nvPr/>
          </p:nvSpPr>
          <p:spPr>
            <a:xfrm rot="-5400000">
              <a:off x="3475" y="495"/>
              <a:ext cx="63" cy="1374"/>
            </a:xfrm>
            <a:prstGeom prst="leftBrace">
              <a:avLst>
                <a:gd name="adj1" fmla="val 181746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15" name="Text Box 138"/>
            <p:cNvSpPr txBox="1"/>
            <p:nvPr/>
          </p:nvSpPr>
          <p:spPr>
            <a:xfrm>
              <a:off x="717" y="1357"/>
              <a:ext cx="560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/>
              <a:r>
                <a:rPr lang="zh-CN" altLang="en-US" dirty="0">
                  <a:latin typeface="Arial" panose="020B0604020202020204" pitchFamily="34" charset="0"/>
                </a:rPr>
                <a:t>阶符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616" name="Text Box 139"/>
            <p:cNvSpPr txBox="1"/>
            <p:nvPr/>
          </p:nvSpPr>
          <p:spPr>
            <a:xfrm>
              <a:off x="1404" y="1346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Arial" panose="020B0604020202020204" pitchFamily="34" charset="0"/>
                </a:rPr>
                <a:t>阶码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617" name="Text Box 140"/>
            <p:cNvSpPr txBox="1"/>
            <p:nvPr/>
          </p:nvSpPr>
          <p:spPr>
            <a:xfrm>
              <a:off x="2124" y="1337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Arial" panose="020B0604020202020204" pitchFamily="34" charset="0"/>
                </a:rPr>
                <a:t>尾符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618" name="Text Box 141"/>
            <p:cNvSpPr txBox="1"/>
            <p:nvPr/>
          </p:nvSpPr>
          <p:spPr>
            <a:xfrm>
              <a:off x="3232" y="1324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Arial" panose="020B0604020202020204" pitchFamily="34" charset="0"/>
                </a:rPr>
                <a:t>尾数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10735" name="Text Box 143"/>
          <p:cNvSpPr txBox="1"/>
          <p:nvPr/>
        </p:nvSpPr>
        <p:spPr>
          <a:xfrm>
            <a:off x="1525588" y="712788"/>
            <a:ext cx="8890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0738" name="Text Box 146"/>
          <p:cNvSpPr txBox="1"/>
          <p:nvPr/>
        </p:nvSpPr>
        <p:spPr>
          <a:xfrm>
            <a:off x="912813" y="3614738"/>
            <a:ext cx="70643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机器零：浮点数的尾数为零或阶码为最小数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0739" name="Text Box 147"/>
          <p:cNvSpPr txBox="1"/>
          <p:nvPr/>
        </p:nvSpPr>
        <p:spPr>
          <a:xfrm>
            <a:off x="909638" y="4318000"/>
            <a:ext cx="74072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上溢：数的阶码大于机器所能表示的最大阶码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0740" name="Text Box 148"/>
          <p:cNvSpPr txBox="1"/>
          <p:nvPr/>
        </p:nvSpPr>
        <p:spPr>
          <a:xfrm>
            <a:off x="893763" y="4968875"/>
            <a:ext cx="77406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下溢：数的阶码小于机器所能表示的最小阶码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fontAlgn="base"/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57"/>
          <p:cNvGrpSpPr/>
          <p:nvPr/>
        </p:nvGrpSpPr>
        <p:grpSpPr>
          <a:xfrm>
            <a:off x="3360738" y="768350"/>
            <a:ext cx="2279650" cy="519113"/>
            <a:chOff x="3020" y="463"/>
            <a:chExt cx="1436" cy="327"/>
          </a:xfrm>
        </p:grpSpPr>
        <p:sp>
          <p:nvSpPr>
            <p:cNvPr id="25609" name="Text Box 144"/>
            <p:cNvSpPr txBox="1"/>
            <p:nvPr/>
          </p:nvSpPr>
          <p:spPr>
            <a:xfrm>
              <a:off x="3020" y="463"/>
              <a:ext cx="14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N=2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10    </a:t>
              </a:r>
              <a:r>
                <a:rPr lang="en-US" altLang="zh-CN" dirty="0">
                  <a:latin typeface="Times New Roman" panose="02020603050405020304" pitchFamily="18" charset="0"/>
                </a:rPr>
                <a:t>0.1010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602" name="Object 155"/>
                <p:cNvSpPr txBox="1"/>
                <p:nvPr/>
              </p:nvSpPr>
              <p:spPr>
                <a:xfrm>
                  <a:off x="3592" y="509"/>
                  <a:ext cx="238" cy="26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5602" name="Object 1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2" y="509"/>
                  <a:ext cx="238" cy="268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735" grpId="0"/>
      <p:bldP spid="110738" grpId="0"/>
      <p:bldP spid="110739" grpId="0"/>
      <p:bldP spid="11074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2" name="Text Box 4"/>
          <p:cNvSpPr txBox="1"/>
          <p:nvPr/>
        </p:nvSpPr>
        <p:spPr>
          <a:xfrm>
            <a:off x="536575" y="593725"/>
            <a:ext cx="23495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浮点数的运算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3" name="Text Box 5"/>
          <p:cNvSpPr txBox="1"/>
          <p:nvPr/>
        </p:nvSpPr>
        <p:spPr>
          <a:xfrm>
            <a:off x="998538" y="1381125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endParaRPr lang="zh-CN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2242820" y="1202690"/>
            <a:ext cx="5236282" cy="707473"/>
            <a:chOff x="1610" y="735"/>
            <a:chExt cx="2122" cy="1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630" name="Object 6"/>
                <p:cNvSpPr txBox="1"/>
                <p:nvPr/>
              </p:nvSpPr>
              <p:spPr>
                <a:xfrm>
                  <a:off x="1610" y="746"/>
                  <a:ext cx="863" cy="14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63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0" y="746"/>
                  <a:ext cx="863" cy="141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631" name="Object 8"/>
                <p:cNvSpPr txBox="1"/>
                <p:nvPr/>
              </p:nvSpPr>
              <p:spPr>
                <a:xfrm>
                  <a:off x="2869" y="735"/>
                  <a:ext cx="863" cy="14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631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" y="735"/>
                  <a:ext cx="863" cy="141"/>
                </a:xfrm>
                <a:prstGeom prst="rect">
                  <a:avLst/>
                </a:prstGeom>
                <a:blipFill rotWithShape="1">
                  <a:blip r:embed="rId2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4701" name="Object 13"/>
              <p:cNvSpPr txBox="1"/>
              <p:nvPr>
                <p:ph sz="quarter" idx="3"/>
              </p:nvPr>
            </p:nvSpPr>
            <p:spPr>
              <a:xfrm>
                <a:off x="3830638" y="2065338"/>
                <a:ext cx="3278187" cy="484187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470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>
              <a:xfrm>
                <a:off x="3830638" y="2065338"/>
                <a:ext cx="3278187" cy="484187"/>
              </a:xfrm>
              <a:prstGeom prst="rect">
                <a:avLst/>
              </a:prstGeom>
              <a:blipFill rotWithShape="1">
                <a:blip r:embed="rId3"/>
                <a:stretch>
                  <a:fillRect l="-10" t="-66" b="-19016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699" name="Text Box 11"/>
          <p:cNvSpPr txBox="1">
            <a:spLocks noChangeArrowheads="1"/>
          </p:cNvSpPr>
          <p:nvPr/>
        </p:nvSpPr>
        <p:spPr bwMode="auto">
          <a:xfrm>
            <a:off x="704850" y="1577975"/>
            <a:ext cx="192563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1)</a:t>
            </a:r>
            <a:r>
              <a:rPr kumimoji="0" lang="zh-CN" altLang="en-US" b="1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加减法</a:t>
            </a: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700" name="Text Box 12"/>
          <p:cNvSpPr txBox="1"/>
          <p:nvPr/>
        </p:nvSpPr>
        <p:spPr>
          <a:xfrm>
            <a:off x="1246188" y="2087563"/>
            <a:ext cx="25511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 dirty="0">
                <a:solidFill>
                  <a:srgbClr val="FF00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FF00FF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solidFill>
                  <a:srgbClr val="FF00FF"/>
                </a:solidFill>
                <a:latin typeface="Times New Roman" panose="02020603050405020304" pitchFamily="18" charset="0"/>
              </a:rPr>
              <a:t>=J</a:t>
            </a:r>
            <a:r>
              <a:rPr lang="en-US" altLang="zh-CN" baseline="-25000" dirty="0">
                <a:solidFill>
                  <a:srgbClr val="FF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，则：</a:t>
            </a:r>
            <a:r>
              <a:rPr lang="en-US" altLang="zh-CN" baseline="-25000" dirty="0">
                <a:solidFill>
                  <a:srgbClr val="FF00FF"/>
                </a:solidFill>
                <a:latin typeface="Times New Roman" panose="02020603050405020304" pitchFamily="18" charset="0"/>
              </a:rPr>
              <a:t> </a:t>
            </a:r>
            <a:endParaRPr lang="en-US" altLang="zh-CN" baseline="-25000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704" name="Text Box 16"/>
          <p:cNvSpPr txBox="1"/>
          <p:nvPr/>
        </p:nvSpPr>
        <p:spPr>
          <a:xfrm>
            <a:off x="1296988" y="2600325"/>
            <a:ext cx="68468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FF00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FF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≠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FF00FF"/>
                </a:solidFill>
                <a:latin typeface="Times New Roman" panose="02020603050405020304" pitchFamily="18" charset="0"/>
              </a:rPr>
              <a:t>2   </a:t>
            </a:r>
            <a:r>
              <a:rPr lang="zh-CN" altLang="en-US" dirty="0">
                <a:latin typeface="Times New Roman" panose="02020603050405020304" pitchFamily="18" charset="0"/>
              </a:rPr>
              <a:t>则需要先对阶再按上式进行计算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114705" name="Text Box 17"/>
          <p:cNvSpPr txBox="1"/>
          <p:nvPr/>
        </p:nvSpPr>
        <p:spPr>
          <a:xfrm>
            <a:off x="1524000" y="3175000"/>
            <a:ext cx="47942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2400" dirty="0">
                <a:latin typeface="Times New Roman" panose="02020603050405020304" pitchFamily="18" charset="0"/>
              </a:rPr>
              <a:t>例： </a:t>
            </a:r>
            <a:r>
              <a:rPr lang="en-US" altLang="zh-CN" sz="2400" dirty="0">
                <a:latin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=2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11</a:t>
            </a:r>
            <a:r>
              <a:rPr lang="en-US" altLang="zh-CN" sz="2400" dirty="0">
                <a:latin typeface="Times New Roman" panose="02020603050405020304" pitchFamily="18" charset="0"/>
              </a:rPr>
              <a:t>*0.1011   N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=2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01</a:t>
            </a:r>
            <a:r>
              <a:rPr lang="en-US" altLang="zh-CN" sz="2400" dirty="0">
                <a:latin typeface="Times New Roman" panose="02020603050405020304" pitchFamily="18" charset="0"/>
              </a:rPr>
              <a:t>*0.1100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4706" name="Text Box 18"/>
          <p:cNvSpPr txBox="1"/>
          <p:nvPr/>
        </p:nvSpPr>
        <p:spPr>
          <a:xfrm>
            <a:off x="2211388" y="3676650"/>
            <a:ext cx="535146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2400" dirty="0">
                <a:latin typeface="Times New Roman" panose="02020603050405020304" pitchFamily="18" charset="0"/>
              </a:rPr>
              <a:t>对阶：使</a:t>
            </a:r>
            <a:r>
              <a:rPr lang="en-US" altLang="zh-CN" sz="2400" dirty="0">
                <a:latin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=J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=11</a:t>
            </a:r>
            <a:r>
              <a:rPr lang="zh-CN" altLang="en-US" sz="2400" dirty="0">
                <a:latin typeface="Times New Roman" panose="02020603050405020304" pitchFamily="18" charset="0"/>
              </a:rPr>
              <a:t>　　则Ｎ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=2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11</a:t>
            </a:r>
            <a:r>
              <a:rPr lang="en-US" altLang="zh-CN" sz="2400" dirty="0">
                <a:latin typeface="Times New Roman" panose="02020603050405020304" pitchFamily="18" charset="0"/>
              </a:rPr>
              <a:t>*0.0011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707" name="Object 19"/>
              <p:cNvSpPr txBox="1"/>
              <p:nvPr>
                <p:ph sz="quarter" idx="4"/>
              </p:nvPr>
            </p:nvSpPr>
            <p:spPr>
              <a:xfrm>
                <a:off x="2700338" y="4248149"/>
                <a:ext cx="4554537" cy="591269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1011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470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2700338" y="4248149"/>
                <a:ext cx="4554537" cy="591269"/>
              </a:xfrm>
              <a:prstGeom prst="rect">
                <a:avLst/>
              </a:prstGeom>
              <a:blipFill rotWithShape="1">
                <a:blip r:embed="rId4"/>
                <a:stretch>
                  <a:fillRect l="-7" t="-107" b="14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710" name="Text Box 22"/>
          <p:cNvSpPr txBox="1">
            <a:spLocks noChangeArrowheads="1"/>
          </p:cNvSpPr>
          <p:nvPr/>
        </p:nvSpPr>
        <p:spPr bwMode="auto">
          <a:xfrm>
            <a:off x="773113" y="4668838"/>
            <a:ext cx="1927225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2)</a:t>
            </a:r>
            <a:r>
              <a:rPr kumimoji="0" lang="zh-CN" altLang="en-US" b="1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乘除法：</a:t>
            </a:r>
            <a:endParaRPr kumimoji="0" lang="zh-CN" altLang="en-US" b="1" kern="1200" cap="none" spc="0" normalizeH="0" baseline="0" noProof="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711" name="Object 23"/>
              <p:cNvSpPr txBox="1"/>
              <p:nvPr/>
            </p:nvSpPr>
            <p:spPr>
              <a:xfrm>
                <a:off x="3084513" y="4994275"/>
                <a:ext cx="4256087" cy="5207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471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513" y="4994275"/>
                <a:ext cx="4256087" cy="520700"/>
              </a:xfrm>
              <a:prstGeom prst="rect">
                <a:avLst/>
              </a:prstGeom>
              <a:blipFill rotWithShape="1">
                <a:blip r:embed="rId5"/>
                <a:stretch>
                  <a:fillRect l="-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712" name="Object 24"/>
              <p:cNvSpPr txBox="1"/>
              <p:nvPr/>
            </p:nvSpPr>
            <p:spPr>
              <a:xfrm>
                <a:off x="3216275" y="5792788"/>
                <a:ext cx="4038600" cy="5207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4712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275" y="5792788"/>
                <a:ext cx="4038600" cy="520700"/>
              </a:xfrm>
              <a:prstGeom prst="rect">
                <a:avLst/>
              </a:prstGeom>
              <a:blipFill rotWithShape="1">
                <a:blip r:embed="rId6"/>
                <a:stretch>
                  <a:fillRect t="-61" b="61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9" grpId="0"/>
      <p:bldP spid="114700" grpId="0"/>
      <p:bldP spid="114704" grpId="0"/>
      <p:bldP spid="114705" grpId="0"/>
      <p:bldP spid="114706" grpId="0"/>
      <p:bldP spid="11471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50825" y="650875"/>
            <a:ext cx="5291455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2.4  </a:t>
            </a:r>
            <a:r>
              <a:rPr kumimoji="1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数码和字符的代码表示</a:t>
            </a:r>
            <a:endParaRPr kumimoji="1" lang="zh-CN" altLang="en-US" sz="32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484188" y="1362075"/>
            <a:ext cx="496443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2.4.1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十进制数的二进制编码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0" name="Text Box 4"/>
          <p:cNvSpPr txBox="1"/>
          <p:nvPr/>
        </p:nvSpPr>
        <p:spPr>
          <a:xfrm>
            <a:off x="825500" y="2330450"/>
            <a:ext cx="7467600" cy="138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简称为二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十进制码</a:t>
            </a:r>
            <a:r>
              <a:rPr lang="zh-CN" altLang="zh-CN" dirty="0">
                <a:latin typeface="Times New Roman" panose="02020603050405020304" pitchFamily="18" charset="0"/>
              </a:rPr>
              <a:t>，即用若干位二进制数来表示一位十进制数。</a:t>
            </a:r>
            <a:r>
              <a:rPr lang="zh-CN" altLang="en-US" dirty="0">
                <a:latin typeface="Times New Roman" panose="02020603050405020304" pitchFamily="18" charset="0"/>
              </a:rPr>
              <a:t>这种编码既具有二进制数的形式又具有十进制数的特点。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93863" y="3973513"/>
            <a:ext cx="4572000" cy="16430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 8421 BCD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码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 余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码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 2421 BCD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码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6" name="矩形 5"/>
          <p:cNvSpPr/>
          <p:nvPr/>
        </p:nvSpPr>
        <p:spPr>
          <a:xfrm>
            <a:off x="984250" y="5684838"/>
            <a:ext cx="7202488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BCD------Binary-Coded-Decimal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  <p:bldP spid="34820" grpId="0" build="p"/>
      <p:bldP spid="5" grpId="0"/>
      <p:bldP spid="8704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04825" y="838200"/>
            <a:ext cx="290036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一、</a:t>
            </a:r>
            <a:r>
              <a:rPr kumimoji="1" lang="en-US" altLang="zh-CN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8421  BCD</a:t>
            </a:r>
            <a:r>
              <a:rPr kumimoji="1" lang="zh-CN" altLang="zh-CN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码</a:t>
            </a:r>
            <a:endParaRPr kumimoji="1" lang="zh-CN" altLang="en-US" b="1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750888" y="1508125"/>
            <a:ext cx="7931150" cy="2139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762000" fontAlgn="base">
              <a:lnSpc>
                <a:spcPct val="16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简称</a:t>
            </a:r>
            <a:r>
              <a:rPr lang="en-US" altLang="zh-CN" dirty="0">
                <a:latin typeface="Times New Roman" panose="02020603050405020304" pitchFamily="18" charset="0"/>
              </a:rPr>
              <a:t>8421</a:t>
            </a:r>
            <a:r>
              <a:rPr lang="zh-CN" altLang="en-US" dirty="0">
                <a:latin typeface="Times New Roman" panose="02020603050405020304" pitchFamily="18" charset="0"/>
              </a:rPr>
              <a:t>码。按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位二进制数的自然顺序，取前十个数依次表示十进制的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～</a:t>
            </a:r>
            <a:r>
              <a:rPr lang="en-US" altLang="zh-CN" dirty="0"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</a:rPr>
              <a:t>，后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个数不允许出现，若出现则认为是非法的或错误的。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44" name="Text Box 4"/>
          <p:cNvSpPr txBox="1"/>
          <p:nvPr/>
        </p:nvSpPr>
        <p:spPr>
          <a:xfrm>
            <a:off x="733425" y="4178300"/>
            <a:ext cx="8108950" cy="2139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762000" fontAlgn="base">
              <a:lnSpc>
                <a:spcPct val="16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8421</a:t>
            </a:r>
            <a:r>
              <a:rPr lang="zh-CN" altLang="en-US" dirty="0">
                <a:latin typeface="Times New Roman" panose="02020603050405020304" pitchFamily="18" charset="0"/>
              </a:rPr>
              <a:t>码是一种有权码，每位有固定的权，从高到低依次为</a:t>
            </a:r>
            <a:r>
              <a:rPr lang="en-US" altLang="zh-CN" dirty="0">
                <a:latin typeface="Times New Roman" panose="02020603050405020304" pitchFamily="18" charset="0"/>
              </a:rPr>
              <a:t>8, 4, 2, 1</a:t>
            </a:r>
            <a:r>
              <a:rPr lang="zh-CN" altLang="en-US" dirty="0">
                <a:latin typeface="Times New Roman" panose="02020603050405020304" pitchFamily="18" charset="0"/>
              </a:rPr>
              <a:t>，如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    (0111) </a:t>
            </a:r>
            <a:r>
              <a:rPr lang="en-US" altLang="zh-CN" baseline="-25000" dirty="0">
                <a:latin typeface="Times New Roman" panose="02020603050405020304" pitchFamily="18" charset="0"/>
              </a:rPr>
              <a:t>8421</a:t>
            </a:r>
            <a:r>
              <a:rPr lang="zh-CN" altLang="en-US" baseline="-25000" dirty="0">
                <a:latin typeface="Times New Roman" panose="02020603050405020304" pitchFamily="18" charset="0"/>
              </a:rPr>
              <a:t>码</a:t>
            </a:r>
            <a:r>
              <a:rPr lang="en-US" altLang="zh-CN" dirty="0">
                <a:latin typeface="Times New Roman" panose="02020603050405020304" pitchFamily="18" charset="0"/>
              </a:rPr>
              <a:t>=0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8+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4+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2+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1=7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88069" name="矩形 4"/>
          <p:cNvSpPr/>
          <p:nvPr/>
        </p:nvSpPr>
        <p:spPr>
          <a:xfrm>
            <a:off x="1054100" y="3694113"/>
            <a:ext cx="7799388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冗余码：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1010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1011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1100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1101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1110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1111 </a:t>
            </a:r>
            <a:endParaRPr lang="zh-CN" altLang="en-US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35844" grpId="0" build="p"/>
      <p:bldP spid="8806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4"/>
          <p:cNvSpPr txBox="1"/>
          <p:nvPr/>
        </p:nvSpPr>
        <p:spPr>
          <a:xfrm>
            <a:off x="747713" y="830263"/>
            <a:ext cx="26733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8421</a:t>
            </a:r>
            <a:r>
              <a:rPr lang="zh-CN" altLang="en-US" dirty="0">
                <a:latin typeface="Times New Roman" panose="02020603050405020304" pitchFamily="18" charset="0"/>
              </a:rPr>
              <a:t>码的特点：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9813" name="Text Box 5"/>
          <p:cNvSpPr txBox="1"/>
          <p:nvPr/>
        </p:nvSpPr>
        <p:spPr>
          <a:xfrm>
            <a:off x="857250" y="1562100"/>
            <a:ext cx="58499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）与四位二进制数的表示完全一样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9814" name="Text Box 6"/>
          <p:cNvSpPr txBox="1"/>
          <p:nvPr/>
        </p:nvSpPr>
        <p:spPr>
          <a:xfrm>
            <a:off x="874713" y="2159000"/>
            <a:ext cx="3917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1010—1111</a:t>
            </a:r>
            <a:r>
              <a:rPr lang="zh-CN" altLang="en-US" dirty="0">
                <a:latin typeface="Times New Roman" panose="02020603050405020304" pitchFamily="18" charset="0"/>
              </a:rPr>
              <a:t>为冗余码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9815" name="Text Box 7"/>
          <p:cNvSpPr txBox="1"/>
          <p:nvPr/>
        </p:nvSpPr>
        <p:spPr>
          <a:xfrm>
            <a:off x="841375" y="2827338"/>
            <a:ext cx="7473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8421</a:t>
            </a:r>
            <a:r>
              <a:rPr lang="zh-CN" altLang="en-US" dirty="0">
                <a:latin typeface="Times New Roman" panose="02020603050405020304" pitchFamily="18" charset="0"/>
              </a:rPr>
              <a:t>码与十进制的转换关系为直接转换关系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9816" name="Text Box 8"/>
          <p:cNvSpPr txBox="1"/>
          <p:nvPr/>
        </p:nvSpPr>
        <p:spPr>
          <a:xfrm>
            <a:off x="1349375" y="3478213"/>
            <a:ext cx="66817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0001 0011.0110 0100)</a:t>
            </a:r>
            <a:r>
              <a:rPr lang="en-US" altLang="zh-CN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8421BCD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=(13.64)</a:t>
            </a:r>
            <a:r>
              <a:rPr lang="en-US" altLang="zh-CN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sp>
        <p:nvSpPr>
          <p:cNvPr id="119817" name="Text Box 9"/>
          <p:cNvSpPr txBox="1"/>
          <p:nvPr/>
        </p:nvSpPr>
        <p:spPr>
          <a:xfrm>
            <a:off x="928688" y="4198938"/>
            <a:ext cx="69707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4)  </a:t>
            </a:r>
            <a:r>
              <a:rPr lang="zh-CN" altLang="en-US" dirty="0">
                <a:latin typeface="Times New Roman" panose="02020603050405020304" pitchFamily="18" charset="0"/>
              </a:rPr>
              <a:t>运算时按逢</a:t>
            </a:r>
            <a:r>
              <a:rPr lang="en-US" altLang="zh-CN" dirty="0"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</a:rPr>
              <a:t>进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的原则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并且要进行调整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9818" name="Text Box 10"/>
          <p:cNvSpPr txBox="1"/>
          <p:nvPr/>
        </p:nvSpPr>
        <p:spPr>
          <a:xfrm>
            <a:off x="1438275" y="4902200"/>
            <a:ext cx="5438775" cy="1373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调整原则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有进位或出现冗余码时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加法</a:t>
            </a:r>
            <a:r>
              <a:rPr lang="en-US" altLang="zh-CN" dirty="0">
                <a:latin typeface="Times New Roman" panose="02020603050405020304" pitchFamily="18" charset="0"/>
              </a:rPr>
              <a:t>+6</a:t>
            </a:r>
            <a:r>
              <a:rPr lang="zh-CN" altLang="en-US" dirty="0">
                <a:latin typeface="Times New Roman" panose="02020603050405020304" pitchFamily="18" charset="0"/>
              </a:rPr>
              <a:t>调整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减法 </a:t>
            </a:r>
            <a:r>
              <a:rPr lang="en-US" altLang="zh-CN" dirty="0">
                <a:latin typeface="Times New Roman" panose="02020603050405020304" pitchFamily="18" charset="0"/>
              </a:rPr>
              <a:t>-6</a:t>
            </a:r>
            <a:r>
              <a:rPr lang="zh-CN" altLang="en-US" dirty="0">
                <a:latin typeface="Times New Roman" panose="02020603050405020304" pitchFamily="18" charset="0"/>
              </a:rPr>
              <a:t>调整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/>
      <p:bldP spid="119814" grpId="0"/>
      <p:bldP spid="119815" grpId="0"/>
      <p:bldP spid="119816" grpId="0"/>
      <p:bldP spid="119817" grpId="0"/>
      <p:bldP spid="11981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4"/>
          <p:cNvSpPr txBox="1"/>
          <p:nvPr/>
        </p:nvSpPr>
        <p:spPr>
          <a:xfrm>
            <a:off x="839788" y="717550"/>
            <a:ext cx="2771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8421</a:t>
            </a:r>
            <a:r>
              <a:rPr lang="zh-CN" altLang="en-US" dirty="0">
                <a:latin typeface="Times New Roman" panose="02020603050405020304" pitchFamily="18" charset="0"/>
              </a:rPr>
              <a:t>码运算举例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0837" name="Text Box 5"/>
          <p:cNvSpPr txBox="1"/>
          <p:nvPr/>
        </p:nvSpPr>
        <p:spPr>
          <a:xfrm>
            <a:off x="1436688" y="1603375"/>
            <a:ext cx="23050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1:    8+9=17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0838" name="Text Box 6"/>
          <p:cNvSpPr txBox="1"/>
          <p:nvPr/>
        </p:nvSpPr>
        <p:spPr>
          <a:xfrm>
            <a:off x="1695450" y="2297113"/>
            <a:ext cx="2673350" cy="1373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         1 0 0 0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u="sng" dirty="0">
                <a:latin typeface="Times New Roman" panose="02020603050405020304" pitchFamily="18" charset="0"/>
              </a:rPr>
              <a:t>+)     1 0 0 1</a:t>
            </a:r>
            <a:endParaRPr lang="en-US" altLang="zh-CN" u="sng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0 0 0 1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0839" name="Line 7"/>
          <p:cNvSpPr/>
          <p:nvPr/>
        </p:nvSpPr>
        <p:spPr>
          <a:xfrm flipH="1">
            <a:off x="1735138" y="3395663"/>
            <a:ext cx="5445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840" name="Text Box 8"/>
          <p:cNvSpPr txBox="1"/>
          <p:nvPr/>
        </p:nvSpPr>
        <p:spPr>
          <a:xfrm>
            <a:off x="801688" y="3121025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进位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0841" name="Text Box 9"/>
          <p:cNvSpPr txBox="1"/>
          <p:nvPr/>
        </p:nvSpPr>
        <p:spPr>
          <a:xfrm>
            <a:off x="1871663" y="3548063"/>
            <a:ext cx="17478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u="sng" dirty="0">
                <a:latin typeface="Times New Roman" panose="02020603050405020304" pitchFamily="18" charset="0"/>
              </a:rPr>
              <a:t>+)   0 1 1 0</a:t>
            </a:r>
            <a:endParaRPr lang="en-US" altLang="zh-CN" u="sng" dirty="0">
              <a:latin typeface="Times New Roman" panose="02020603050405020304" pitchFamily="18" charset="0"/>
            </a:endParaRPr>
          </a:p>
        </p:txBody>
      </p:sp>
      <p:sp>
        <p:nvSpPr>
          <p:cNvPr id="120842" name="Text Box 10"/>
          <p:cNvSpPr txBox="1"/>
          <p:nvPr/>
        </p:nvSpPr>
        <p:spPr>
          <a:xfrm>
            <a:off x="2435225" y="4021138"/>
            <a:ext cx="11620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0 1 1 1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0843" name="Text Box 11"/>
          <p:cNvSpPr txBox="1"/>
          <p:nvPr/>
        </p:nvSpPr>
        <p:spPr>
          <a:xfrm>
            <a:off x="5391150" y="1608138"/>
            <a:ext cx="21240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2:  7+6=13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0847" name="Text Box 15"/>
          <p:cNvSpPr txBox="1"/>
          <p:nvPr/>
        </p:nvSpPr>
        <p:spPr>
          <a:xfrm>
            <a:off x="5449888" y="2085975"/>
            <a:ext cx="2673350" cy="1373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         0 1 1 1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u="sng" dirty="0">
                <a:latin typeface="Times New Roman" panose="02020603050405020304" pitchFamily="18" charset="0"/>
              </a:rPr>
              <a:t>+)     0 1 1 0</a:t>
            </a:r>
            <a:endParaRPr lang="en-US" altLang="zh-CN" u="sng" dirty="0">
              <a:latin typeface="Times New Roman" panose="02020603050405020304" pitchFamily="18" charset="0"/>
            </a:endParaRPr>
          </a:p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         1 1 0 1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0848" name="Text Box 16"/>
          <p:cNvSpPr txBox="1"/>
          <p:nvPr/>
        </p:nvSpPr>
        <p:spPr>
          <a:xfrm>
            <a:off x="5626100" y="3405188"/>
            <a:ext cx="17478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u="sng" dirty="0">
                <a:latin typeface="Times New Roman" panose="02020603050405020304" pitchFamily="18" charset="0"/>
              </a:rPr>
              <a:t>+)   0 1 1 0</a:t>
            </a:r>
            <a:endParaRPr lang="en-US" altLang="zh-CN" u="sng" dirty="0">
              <a:latin typeface="Times New Roman" panose="02020603050405020304" pitchFamily="18" charset="0"/>
            </a:endParaRPr>
          </a:p>
        </p:txBody>
      </p:sp>
      <p:sp>
        <p:nvSpPr>
          <p:cNvPr id="120849" name="Text Box 17"/>
          <p:cNvSpPr txBox="1"/>
          <p:nvPr/>
        </p:nvSpPr>
        <p:spPr>
          <a:xfrm>
            <a:off x="5943600" y="3862388"/>
            <a:ext cx="16891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0 0 1 1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0852" name="Line 20"/>
          <p:cNvSpPr/>
          <p:nvPr/>
        </p:nvSpPr>
        <p:spPr>
          <a:xfrm flipH="1">
            <a:off x="5465763" y="4110038"/>
            <a:ext cx="4048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853" name="Text Box 21"/>
          <p:cNvSpPr txBox="1"/>
          <p:nvPr/>
        </p:nvSpPr>
        <p:spPr>
          <a:xfrm>
            <a:off x="4583113" y="3819525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丢弃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5007" name="圆角矩形标注 14"/>
          <p:cNvSpPr/>
          <p:nvPr/>
        </p:nvSpPr>
        <p:spPr>
          <a:xfrm>
            <a:off x="388938" y="4130675"/>
            <a:ext cx="1860550" cy="1033463"/>
          </a:xfrm>
          <a:prstGeom prst="wedgeRoundRectCallout">
            <a:avLst>
              <a:gd name="adj1" fmla="val 56907"/>
              <a:gd name="adj2" fmla="val -107444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有进位，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+6</a:t>
            </a:r>
            <a:r>
              <a:rPr lang="zh-CN" altLang="en-US" b="1" dirty="0">
                <a:latin typeface="Times New Roman" panose="02020603050405020304" pitchFamily="18" charset="0"/>
              </a:rPr>
              <a:t>调整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5008" name="圆角矩形标注 16"/>
          <p:cNvSpPr/>
          <p:nvPr/>
        </p:nvSpPr>
        <p:spPr>
          <a:xfrm>
            <a:off x="7094538" y="4175125"/>
            <a:ext cx="1779587" cy="1033463"/>
          </a:xfrm>
          <a:prstGeom prst="wedgeRoundRectCallout">
            <a:avLst>
              <a:gd name="adj1" fmla="val -41167"/>
              <a:gd name="adj2" fmla="val -132042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冗余码，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+6</a:t>
            </a:r>
            <a:r>
              <a:rPr lang="zh-CN" altLang="en-US" b="1" dirty="0">
                <a:latin typeface="Times New Roman" panose="02020603050405020304" pitchFamily="18" charset="0"/>
              </a:rPr>
              <a:t>调整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" dur="20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2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0" dur="2000" fill="hold"/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7" grpId="0"/>
      <p:bldP spid="120838" grpId="0"/>
      <p:bldP spid="120840" grpId="0"/>
      <p:bldP spid="120840" grpId="1"/>
      <p:bldP spid="120841" grpId="0"/>
      <p:bldP spid="120842" grpId="0"/>
      <p:bldP spid="120843" grpId="0"/>
      <p:bldP spid="120847" grpId="0"/>
      <p:bldP spid="120848" grpId="0"/>
      <p:bldP spid="120849" grpId="0"/>
      <p:bldP spid="120853" grpId="0"/>
      <p:bldP spid="120853" grpId="1"/>
      <p:bldP spid="85007" grpId="0" animBg="1"/>
      <p:bldP spid="8500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481013" y="714375"/>
            <a:ext cx="17970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二、余</a:t>
            </a:r>
            <a:r>
              <a:rPr kumimoji="1" lang="en-US" altLang="zh-CN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码</a:t>
            </a:r>
            <a:endParaRPr kumimoji="1" lang="zh-CN" altLang="en-US" b="1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Text Box 3"/>
          <p:cNvSpPr txBox="1"/>
          <p:nvPr/>
        </p:nvSpPr>
        <p:spPr>
          <a:xfrm>
            <a:off x="-284162" y="1193800"/>
            <a:ext cx="6030912" cy="690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6750" fontAlgn="base"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</a:rPr>
              <a:t>8421</a:t>
            </a:r>
            <a:r>
              <a:rPr lang="zh-CN" altLang="en-US" dirty="0">
                <a:latin typeface="Times New Roman" panose="02020603050405020304" pitchFamily="18" charset="0"/>
              </a:rPr>
              <a:t>码加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形成。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92" name="Text Box 28"/>
          <p:cNvSpPr txBox="1"/>
          <p:nvPr/>
        </p:nvSpPr>
        <p:spPr>
          <a:xfrm>
            <a:off x="500063" y="4927600"/>
            <a:ext cx="6745287" cy="1227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）如果两个余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码相加没有进位，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fontAlgn="base"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则和数要减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，否则和数要加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94" name="Text Box 30"/>
          <p:cNvSpPr txBox="1"/>
          <p:nvPr/>
        </p:nvSpPr>
        <p:spPr>
          <a:xfrm>
            <a:off x="411163" y="1930400"/>
            <a:ext cx="29702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是一种无权码。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96" name="Text Box 32"/>
          <p:cNvSpPr txBox="1"/>
          <p:nvPr/>
        </p:nvSpPr>
        <p:spPr>
          <a:xfrm>
            <a:off x="463550" y="2457450"/>
            <a:ext cx="6940550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2)</a:t>
            </a:r>
            <a:r>
              <a:rPr lang="zh-CN" altLang="en-US" dirty="0">
                <a:latin typeface="Times New Roman" panose="02020603050405020304" pitchFamily="18" charset="0"/>
              </a:rPr>
              <a:t>有六个冗余码。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0000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0001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0010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1101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1110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1111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97" name="Text Box 33"/>
          <p:cNvSpPr txBox="1"/>
          <p:nvPr/>
        </p:nvSpPr>
        <p:spPr>
          <a:xfrm>
            <a:off x="479425" y="3390900"/>
            <a:ext cx="3028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）对</a:t>
            </a:r>
            <a:r>
              <a:rPr lang="en-US" altLang="zh-CN" dirty="0"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</a:rPr>
              <a:t>的自补码。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99" name="Text Box 35"/>
          <p:cNvSpPr txBox="1"/>
          <p:nvPr/>
        </p:nvSpPr>
        <p:spPr>
          <a:xfrm>
            <a:off x="1009650" y="3900488"/>
            <a:ext cx="6199188" cy="1127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(4)</a:t>
            </a:r>
            <a:r>
              <a:rPr lang="zh-CN" altLang="en-US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余</a:t>
            </a:r>
            <a:r>
              <a:rPr lang="en-US" altLang="zh-CN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zh-CN" altLang="en-US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码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=0111;     (5)</a:t>
            </a:r>
            <a:r>
              <a:rPr lang="zh-CN" altLang="en-US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余</a:t>
            </a:r>
            <a:r>
              <a:rPr lang="en-US" altLang="zh-CN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zh-CN" altLang="en-US" baseline="-25000" dirty="0">
                <a:latin typeface="Times New Roman" panose="02020603050405020304" pitchFamily="18" charset="0"/>
                <a:sym typeface="Wingdings" panose="05000000000000000000" pitchFamily="2" charset="2"/>
              </a:rPr>
              <a:t>码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=1000</a:t>
            </a:r>
            <a:endParaRPr lang="en-US" altLang="zh-CN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(0111)</a:t>
            </a:r>
            <a:r>
              <a:rPr lang="en-US" altLang="zh-CN" baseline="-25000" dirty="0">
                <a:latin typeface="Times New Roman" panose="02020603050405020304" pitchFamily="18" charset="0"/>
              </a:rPr>
              <a:t>9</a:t>
            </a:r>
            <a:r>
              <a:rPr lang="zh-CN" altLang="en-US" baseline="-25000" dirty="0">
                <a:latin typeface="Times New Roman" panose="02020603050405020304" pitchFamily="18" charset="0"/>
              </a:rPr>
              <a:t>自补</a:t>
            </a:r>
            <a:r>
              <a:rPr lang="en-US" altLang="zh-CN" dirty="0">
                <a:latin typeface="Times New Roman" panose="02020603050405020304" pitchFamily="18" charset="0"/>
              </a:rPr>
              <a:t>=1000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r>
              <a:rPr lang="en-US" altLang="zh-CN" dirty="0">
                <a:latin typeface="Times New Roman" panose="02020603050405020304" pitchFamily="18" charset="0"/>
              </a:rPr>
              <a:t>0111</a:t>
            </a:r>
            <a:r>
              <a:rPr lang="zh-CN" altLang="en-US" dirty="0">
                <a:latin typeface="Times New Roman" panose="02020603050405020304" pitchFamily="18" charset="0"/>
              </a:rPr>
              <a:t>按位取反。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圆角矩形标注 8"/>
          <p:cNvSpPr/>
          <p:nvPr/>
        </p:nvSpPr>
        <p:spPr bwMode="auto">
          <a:xfrm>
            <a:off x="4119563" y="1022350"/>
            <a:ext cx="2614613" cy="1804988"/>
          </a:xfrm>
          <a:prstGeom prst="wedgeRoundRectCallout">
            <a:avLst>
              <a:gd name="adj1" fmla="val -96027"/>
              <a:gd name="adj2" fmla="val 8928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对某数的自补码指只要该码自身取反，便可得到该码所对应的十进制数对某数的补码。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6665913" y="381000"/>
            <a:ext cx="2362200" cy="6264275"/>
            <a:chOff x="960" y="240"/>
            <a:chExt cx="1488" cy="3946"/>
          </a:xfrm>
        </p:grpSpPr>
        <p:sp>
          <p:nvSpPr>
            <p:cNvPr id="91147" name="Line 11"/>
            <p:cNvSpPr/>
            <p:nvPr/>
          </p:nvSpPr>
          <p:spPr>
            <a:xfrm>
              <a:off x="1056" y="624"/>
              <a:ext cx="13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48" name="Line 12"/>
            <p:cNvSpPr/>
            <p:nvPr/>
          </p:nvSpPr>
          <p:spPr>
            <a:xfrm>
              <a:off x="1632" y="336"/>
              <a:ext cx="0" cy="38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1149" name="Group 13"/>
            <p:cNvGrpSpPr/>
            <p:nvPr/>
          </p:nvGrpSpPr>
          <p:grpSpPr>
            <a:xfrm>
              <a:off x="1728" y="528"/>
              <a:ext cx="643" cy="3658"/>
              <a:chOff x="552" y="571"/>
              <a:chExt cx="643" cy="3658"/>
            </a:xfrm>
          </p:grpSpPr>
          <p:sp>
            <p:nvSpPr>
              <p:cNvPr id="91170" name="Text Box 14"/>
              <p:cNvSpPr txBox="1"/>
              <p:nvPr/>
            </p:nvSpPr>
            <p:spPr>
              <a:xfrm>
                <a:off x="557" y="571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99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0000</a:t>
                </a:r>
                <a:endParaRPr lang="en-US" altLang="zh-CN" sz="32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1" name="Text Box 15"/>
              <p:cNvSpPr txBox="1"/>
              <p:nvPr/>
            </p:nvSpPr>
            <p:spPr>
              <a:xfrm>
                <a:off x="557" y="804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99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0001</a:t>
                </a:r>
                <a:endParaRPr lang="en-US" altLang="zh-CN" sz="32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2" name="Text Box 16"/>
              <p:cNvSpPr txBox="1"/>
              <p:nvPr/>
            </p:nvSpPr>
            <p:spPr>
              <a:xfrm>
                <a:off x="557" y="1056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99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0010</a:t>
                </a:r>
                <a:endParaRPr lang="en-US" altLang="zh-CN" sz="32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3" name="Text Box 17"/>
              <p:cNvSpPr txBox="1"/>
              <p:nvPr/>
            </p:nvSpPr>
            <p:spPr>
              <a:xfrm>
                <a:off x="557" y="1296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0011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4" name="Text Box 18"/>
              <p:cNvSpPr txBox="1"/>
              <p:nvPr/>
            </p:nvSpPr>
            <p:spPr>
              <a:xfrm>
                <a:off x="557" y="1932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0110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5" name="Text Box 19"/>
              <p:cNvSpPr txBox="1"/>
              <p:nvPr/>
            </p:nvSpPr>
            <p:spPr>
              <a:xfrm>
                <a:off x="557" y="2136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0111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6" name="Text Box 20"/>
              <p:cNvSpPr txBox="1"/>
              <p:nvPr/>
            </p:nvSpPr>
            <p:spPr>
              <a:xfrm>
                <a:off x="569" y="2323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1000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7" name="Text Box 21"/>
              <p:cNvSpPr txBox="1"/>
              <p:nvPr/>
            </p:nvSpPr>
            <p:spPr>
              <a:xfrm>
                <a:off x="569" y="2556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1001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8" name="Text Box 22"/>
              <p:cNvSpPr txBox="1"/>
              <p:nvPr/>
            </p:nvSpPr>
            <p:spPr>
              <a:xfrm>
                <a:off x="569" y="2808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1010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79" name="Text Box 23"/>
              <p:cNvSpPr txBox="1"/>
              <p:nvPr/>
            </p:nvSpPr>
            <p:spPr>
              <a:xfrm>
                <a:off x="564" y="3036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1011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80" name="Text Box 24"/>
              <p:cNvSpPr txBox="1"/>
              <p:nvPr/>
            </p:nvSpPr>
            <p:spPr>
              <a:xfrm>
                <a:off x="569" y="3468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99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1101</a:t>
                </a:r>
                <a:endParaRPr lang="en-US" altLang="zh-CN" sz="32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81" name="Text Box 25"/>
              <p:cNvSpPr txBox="1"/>
              <p:nvPr/>
            </p:nvSpPr>
            <p:spPr>
              <a:xfrm>
                <a:off x="564" y="3672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99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1110</a:t>
                </a:r>
                <a:endParaRPr lang="en-US" altLang="zh-CN" sz="32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82" name="Text Box 26"/>
              <p:cNvSpPr txBox="1"/>
              <p:nvPr/>
            </p:nvSpPr>
            <p:spPr>
              <a:xfrm>
                <a:off x="557" y="3864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99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1111</a:t>
                </a:r>
                <a:endParaRPr lang="en-US" altLang="zh-CN" sz="3200" b="1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83" name="Text Box 27"/>
              <p:cNvSpPr txBox="1"/>
              <p:nvPr/>
            </p:nvSpPr>
            <p:spPr>
              <a:xfrm>
                <a:off x="552" y="1728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0101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84" name="Text Box 28"/>
              <p:cNvSpPr txBox="1"/>
              <p:nvPr/>
            </p:nvSpPr>
            <p:spPr>
              <a:xfrm>
                <a:off x="564" y="3252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1100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85" name="Text Box 29"/>
              <p:cNvSpPr txBox="1"/>
              <p:nvPr/>
            </p:nvSpPr>
            <p:spPr>
              <a:xfrm>
                <a:off x="552" y="1512"/>
                <a:ext cx="62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0100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91150" name="Group 30"/>
            <p:cNvGrpSpPr/>
            <p:nvPr/>
          </p:nvGrpSpPr>
          <p:grpSpPr>
            <a:xfrm>
              <a:off x="1248" y="528"/>
              <a:ext cx="259" cy="3658"/>
              <a:chOff x="744" y="571"/>
              <a:chExt cx="259" cy="3658"/>
            </a:xfrm>
          </p:grpSpPr>
          <p:sp>
            <p:nvSpPr>
              <p:cNvPr id="91154" name="Text Box 31"/>
              <p:cNvSpPr txBox="1"/>
              <p:nvPr/>
            </p:nvSpPr>
            <p:spPr>
              <a:xfrm>
                <a:off x="813" y="571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55" name="Text Box 32"/>
              <p:cNvSpPr txBox="1"/>
              <p:nvPr/>
            </p:nvSpPr>
            <p:spPr>
              <a:xfrm>
                <a:off x="813" y="804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56" name="Text Box 33"/>
              <p:cNvSpPr txBox="1"/>
              <p:nvPr/>
            </p:nvSpPr>
            <p:spPr>
              <a:xfrm>
                <a:off x="813" y="1056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57" name="Text Box 34"/>
              <p:cNvSpPr txBox="1"/>
              <p:nvPr/>
            </p:nvSpPr>
            <p:spPr>
              <a:xfrm>
                <a:off x="749" y="1296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58" name="Text Box 35"/>
              <p:cNvSpPr txBox="1"/>
              <p:nvPr/>
            </p:nvSpPr>
            <p:spPr>
              <a:xfrm>
                <a:off x="749" y="1932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59" name="Text Box 36"/>
              <p:cNvSpPr txBox="1"/>
              <p:nvPr/>
            </p:nvSpPr>
            <p:spPr>
              <a:xfrm>
                <a:off x="749" y="2136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0" name="Text Box 37"/>
              <p:cNvSpPr txBox="1"/>
              <p:nvPr/>
            </p:nvSpPr>
            <p:spPr>
              <a:xfrm>
                <a:off x="761" y="2323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5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1" name="Text Box 38"/>
              <p:cNvSpPr txBox="1"/>
              <p:nvPr/>
            </p:nvSpPr>
            <p:spPr>
              <a:xfrm>
                <a:off x="761" y="2556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6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2" name="Text Box 39"/>
              <p:cNvSpPr txBox="1"/>
              <p:nvPr/>
            </p:nvSpPr>
            <p:spPr>
              <a:xfrm>
                <a:off x="761" y="2808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7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3" name="Text Box 40"/>
              <p:cNvSpPr txBox="1"/>
              <p:nvPr/>
            </p:nvSpPr>
            <p:spPr>
              <a:xfrm>
                <a:off x="756" y="3036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8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4" name="Text Box 41"/>
              <p:cNvSpPr txBox="1"/>
              <p:nvPr/>
            </p:nvSpPr>
            <p:spPr>
              <a:xfrm>
                <a:off x="825" y="3468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5" name="Text Box 42"/>
              <p:cNvSpPr txBox="1"/>
              <p:nvPr/>
            </p:nvSpPr>
            <p:spPr>
              <a:xfrm>
                <a:off x="820" y="3672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6" name="Text Box 43"/>
              <p:cNvSpPr txBox="1"/>
              <p:nvPr/>
            </p:nvSpPr>
            <p:spPr>
              <a:xfrm>
                <a:off x="813" y="3864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7" name="Text Box 44"/>
              <p:cNvSpPr txBox="1"/>
              <p:nvPr/>
            </p:nvSpPr>
            <p:spPr>
              <a:xfrm>
                <a:off x="744" y="1728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8" name="Text Box 45"/>
              <p:cNvSpPr txBox="1"/>
              <p:nvPr/>
            </p:nvSpPr>
            <p:spPr>
              <a:xfrm>
                <a:off x="756" y="3252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9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69" name="Text Box 46"/>
              <p:cNvSpPr txBox="1"/>
              <p:nvPr/>
            </p:nvSpPr>
            <p:spPr>
              <a:xfrm>
                <a:off x="744" y="1512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91151" name="Text Box 47"/>
            <p:cNvSpPr txBox="1"/>
            <p:nvPr/>
          </p:nvSpPr>
          <p:spPr>
            <a:xfrm>
              <a:off x="960" y="264"/>
              <a:ext cx="62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数码</a:t>
              </a:r>
              <a:endParaRPr lang="zh-CN" altLang="en-US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1152" name="Text Box 48"/>
            <p:cNvSpPr txBox="1"/>
            <p:nvPr/>
          </p:nvSpPr>
          <p:spPr>
            <a:xfrm>
              <a:off x="1633" y="240"/>
              <a:ext cx="78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余三码</a:t>
              </a:r>
              <a:endParaRPr lang="zh-CN" altLang="en-US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1153" name="Line 52"/>
            <p:cNvSpPr/>
            <p:nvPr/>
          </p:nvSpPr>
          <p:spPr>
            <a:xfrm>
              <a:off x="1104" y="4176"/>
              <a:ext cx="13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92" grpId="0"/>
      <p:bldP spid="36894" grpId="0"/>
      <p:bldP spid="36896" grpId="0"/>
      <p:bldP spid="36897" grpId="0"/>
      <p:bldP spid="36899" grpId="0"/>
      <p:bldP spid="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/>
          <p:nvPr/>
        </p:nvGrpSpPr>
        <p:grpSpPr>
          <a:xfrm>
            <a:off x="1419225" y="2249488"/>
            <a:ext cx="2473325" cy="1471612"/>
            <a:chOff x="1091" y="1593"/>
            <a:chExt cx="1558" cy="927"/>
          </a:xfrm>
        </p:grpSpPr>
        <p:sp>
          <p:nvSpPr>
            <p:cNvPr id="92186" name="Text Box 3"/>
            <p:cNvSpPr txBox="1"/>
            <p:nvPr/>
          </p:nvSpPr>
          <p:spPr>
            <a:xfrm>
              <a:off x="1091" y="1593"/>
              <a:ext cx="1367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        0  1  0  0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dirty="0">
                  <a:latin typeface="Times New Roman" panose="02020603050405020304" pitchFamily="18" charset="0"/>
                </a:rPr>
                <a:t>)   0  1  1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2187" name="Line 4"/>
            <p:cNvSpPr/>
            <p:nvPr/>
          </p:nvSpPr>
          <p:spPr>
            <a:xfrm>
              <a:off x="1197" y="2211"/>
              <a:ext cx="1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8" name="Text Box 5"/>
            <p:cNvSpPr txBox="1"/>
            <p:nvPr/>
          </p:nvSpPr>
          <p:spPr>
            <a:xfrm>
              <a:off x="1559" y="2193"/>
              <a:ext cx="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1  0  1  0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5"/>
          <p:cNvGrpSpPr/>
          <p:nvPr/>
        </p:nvGrpSpPr>
        <p:grpSpPr>
          <a:xfrm>
            <a:off x="1397000" y="3667125"/>
            <a:ext cx="2533650" cy="1058863"/>
            <a:chOff x="1077" y="2486"/>
            <a:chExt cx="1596" cy="667"/>
          </a:xfrm>
        </p:grpSpPr>
        <p:sp>
          <p:nvSpPr>
            <p:cNvPr id="92182" name="Rectangle 6"/>
            <p:cNvSpPr/>
            <p:nvPr/>
          </p:nvSpPr>
          <p:spPr>
            <a:xfrm>
              <a:off x="1077" y="2486"/>
              <a:ext cx="4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－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2183" name="Text Box 7"/>
            <p:cNvSpPr txBox="1"/>
            <p:nvPr/>
          </p:nvSpPr>
          <p:spPr>
            <a:xfrm>
              <a:off x="1571" y="2490"/>
              <a:ext cx="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0  0  1  1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2184" name="Line 8"/>
            <p:cNvSpPr/>
            <p:nvPr/>
          </p:nvSpPr>
          <p:spPr>
            <a:xfrm>
              <a:off x="1149" y="2844"/>
              <a:ext cx="15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5" name="Text Box 9"/>
            <p:cNvSpPr txBox="1"/>
            <p:nvPr/>
          </p:nvSpPr>
          <p:spPr>
            <a:xfrm>
              <a:off x="1583" y="2826"/>
              <a:ext cx="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0  1  1  1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6092" name="Text Box 12"/>
          <p:cNvSpPr txBox="1"/>
          <p:nvPr/>
        </p:nvSpPr>
        <p:spPr>
          <a:xfrm>
            <a:off x="700088" y="1509713"/>
            <a:ext cx="34305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：计算</a:t>
            </a:r>
            <a:r>
              <a:rPr lang="en-US" altLang="zh-CN" dirty="0">
                <a:latin typeface="Times New Roman" panose="02020603050405020304" pitchFamily="18" charset="0"/>
              </a:rPr>
              <a:t>0100+0110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26"/>
          <p:cNvGrpSpPr/>
          <p:nvPr/>
        </p:nvGrpSpPr>
        <p:grpSpPr>
          <a:xfrm>
            <a:off x="5608638" y="2249488"/>
            <a:ext cx="2473325" cy="1471612"/>
            <a:chOff x="3174" y="1593"/>
            <a:chExt cx="1558" cy="927"/>
          </a:xfrm>
        </p:grpSpPr>
        <p:sp>
          <p:nvSpPr>
            <p:cNvPr id="92179" name="Text Box 13"/>
            <p:cNvSpPr txBox="1"/>
            <p:nvPr/>
          </p:nvSpPr>
          <p:spPr>
            <a:xfrm>
              <a:off x="3174" y="1593"/>
              <a:ext cx="1367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        1  0  0  0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＋</a:t>
              </a:r>
              <a:r>
                <a:rPr lang="en-US" altLang="zh-CN" dirty="0">
                  <a:latin typeface="Times New Roman" panose="02020603050405020304" pitchFamily="18" charset="0"/>
                </a:rPr>
                <a:t>)   1  0  0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2180" name="Line 15"/>
            <p:cNvSpPr/>
            <p:nvPr/>
          </p:nvSpPr>
          <p:spPr>
            <a:xfrm>
              <a:off x="3280" y="2211"/>
              <a:ext cx="1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1" name="Text Box 16"/>
            <p:cNvSpPr txBox="1"/>
            <p:nvPr/>
          </p:nvSpPr>
          <p:spPr>
            <a:xfrm>
              <a:off x="3426" y="2193"/>
              <a:ext cx="11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1  0  0  0  1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7"/>
          <p:cNvGrpSpPr/>
          <p:nvPr/>
        </p:nvGrpSpPr>
        <p:grpSpPr>
          <a:xfrm>
            <a:off x="5586413" y="3667125"/>
            <a:ext cx="2533650" cy="1058863"/>
            <a:chOff x="3160" y="2486"/>
            <a:chExt cx="1596" cy="667"/>
          </a:xfrm>
        </p:grpSpPr>
        <p:sp>
          <p:nvSpPr>
            <p:cNvPr id="92174" name="Rectangle 17"/>
            <p:cNvSpPr/>
            <p:nvPr/>
          </p:nvSpPr>
          <p:spPr>
            <a:xfrm>
              <a:off x="3160" y="2486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+)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2175" name="Text Box 18"/>
            <p:cNvSpPr txBox="1"/>
            <p:nvPr/>
          </p:nvSpPr>
          <p:spPr>
            <a:xfrm>
              <a:off x="3654" y="2490"/>
              <a:ext cx="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0  0  1  1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2176" name="Line 19"/>
            <p:cNvSpPr/>
            <p:nvPr/>
          </p:nvSpPr>
          <p:spPr>
            <a:xfrm>
              <a:off x="3232" y="2844"/>
              <a:ext cx="15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7" name="Text Box 20"/>
            <p:cNvSpPr txBox="1"/>
            <p:nvPr/>
          </p:nvSpPr>
          <p:spPr>
            <a:xfrm>
              <a:off x="3438" y="2826"/>
              <a:ext cx="11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  0  1  0  0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2178" name="Rectangle 21"/>
            <p:cNvSpPr/>
            <p:nvPr/>
          </p:nvSpPr>
          <p:spPr>
            <a:xfrm>
              <a:off x="3416" y="2877"/>
              <a:ext cx="245" cy="234"/>
            </a:xfrm>
            <a:prstGeom prst="rect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" name="Text Box 12"/>
          <p:cNvSpPr txBox="1"/>
          <p:nvPr/>
        </p:nvSpPr>
        <p:spPr>
          <a:xfrm>
            <a:off x="722313" y="5191125"/>
            <a:ext cx="378142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所以：</a:t>
            </a:r>
            <a:r>
              <a:rPr lang="en-US" altLang="zh-CN" dirty="0">
                <a:latin typeface="Times New Roman" panose="02020603050405020304" pitchFamily="18" charset="0"/>
              </a:rPr>
              <a:t>0100+0110=0111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87048" name="Rectangle 28"/>
          <p:cNvSpPr/>
          <p:nvPr/>
        </p:nvSpPr>
        <p:spPr>
          <a:xfrm>
            <a:off x="4819650" y="5149850"/>
            <a:ext cx="414496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所以：</a:t>
            </a:r>
            <a:r>
              <a:rPr lang="en-US" altLang="zh-CN" dirty="0">
                <a:latin typeface="Times New Roman" panose="02020603050405020304" pitchFamily="18" charset="0"/>
              </a:rPr>
              <a:t>1000+1001= 0100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9" name="Text Box 12"/>
          <p:cNvSpPr txBox="1"/>
          <p:nvPr/>
        </p:nvSpPr>
        <p:spPr>
          <a:xfrm>
            <a:off x="4649788" y="1490663"/>
            <a:ext cx="344487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b="1" dirty="0"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：计算</a:t>
            </a:r>
            <a:r>
              <a:rPr lang="en-US" altLang="zh-CN" dirty="0">
                <a:latin typeface="Times New Roman" panose="02020603050405020304" pitchFamily="18" charset="0"/>
              </a:rPr>
              <a:t>1000+1001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87050" name="圆角矩形标注 29"/>
          <p:cNvSpPr/>
          <p:nvPr/>
        </p:nvSpPr>
        <p:spPr>
          <a:xfrm>
            <a:off x="225425" y="2651125"/>
            <a:ext cx="1335088" cy="768350"/>
          </a:xfrm>
          <a:prstGeom prst="wedgeRoundRectCallout">
            <a:avLst>
              <a:gd name="adj1" fmla="val 92926"/>
              <a:gd name="adj2" fmla="val 50829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无进位， 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</a:rPr>
              <a:t>和数减</a:t>
            </a:r>
            <a:r>
              <a:rPr lang="en-US" altLang="zh-CN" sz="2000" b="1" dirty="0">
                <a:latin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</a:rPr>
              <a:t> 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87051" name="圆角矩形标注 30"/>
          <p:cNvSpPr/>
          <p:nvPr/>
        </p:nvSpPr>
        <p:spPr>
          <a:xfrm>
            <a:off x="4337050" y="2824163"/>
            <a:ext cx="1376363" cy="833437"/>
          </a:xfrm>
          <a:prstGeom prst="wedgeRoundRectCallout">
            <a:avLst>
              <a:gd name="adj1" fmla="val 77120"/>
              <a:gd name="adj2" fmla="val 25588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有进位， 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</a:rPr>
              <a:t>和数加</a:t>
            </a:r>
            <a:r>
              <a:rPr lang="en-US" altLang="zh-CN" sz="20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2" name="Line 20"/>
          <p:cNvSpPr/>
          <p:nvPr/>
        </p:nvSpPr>
        <p:spPr>
          <a:xfrm flipH="1">
            <a:off x="5551488" y="4508500"/>
            <a:ext cx="4048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21"/>
          <p:cNvSpPr txBox="1"/>
          <p:nvPr/>
        </p:nvSpPr>
        <p:spPr>
          <a:xfrm>
            <a:off x="4668838" y="4217988"/>
            <a:ext cx="9032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进位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2" grpId="0" advAuto="1000" build="p"/>
      <p:bldP spid="25" grpId="0"/>
      <p:bldP spid="87048" grpId="0"/>
      <p:bldP spid="29" grpId="0"/>
      <p:bldP spid="87050" grpId="0" animBg="1"/>
      <p:bldP spid="87051" grpId="0" animBg="1"/>
      <p:bldP spid="33" grpId="0"/>
      <p:bldP spid="33" grpId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/>
          <p:cNvSpPr txBox="1">
            <a:spLocks noChangeArrowheads="1"/>
          </p:cNvSpPr>
          <p:nvPr/>
        </p:nvSpPr>
        <p:spPr bwMode="auto">
          <a:xfrm>
            <a:off x="414338" y="636588"/>
            <a:ext cx="290036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三、</a:t>
            </a:r>
            <a:r>
              <a:rPr kumimoji="1" lang="en-US" altLang="zh-CN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2421  BCD</a:t>
            </a:r>
            <a:r>
              <a:rPr kumimoji="1" lang="zh-CN" altLang="zh-CN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码</a:t>
            </a:r>
            <a:endParaRPr kumimoji="1" lang="zh-CN" altLang="en-US" b="1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883" name="Text Box 3"/>
          <p:cNvSpPr txBox="1"/>
          <p:nvPr/>
        </p:nvSpPr>
        <p:spPr>
          <a:xfrm>
            <a:off x="800100" y="1282700"/>
            <a:ext cx="7688263" cy="2627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762000" fontAlgn="base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简称</a:t>
            </a:r>
            <a:r>
              <a:rPr lang="en-US" altLang="zh-CN" dirty="0">
                <a:latin typeface="Times New Roman" panose="02020603050405020304" pitchFamily="18" charset="0"/>
              </a:rPr>
              <a:t>2421</a:t>
            </a:r>
            <a:r>
              <a:rPr lang="zh-CN" altLang="en-US" dirty="0">
                <a:latin typeface="Times New Roman" panose="02020603050405020304" pitchFamily="18" charset="0"/>
              </a:rPr>
              <a:t>码。按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位二进制数的自然顺序，取前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个数依次表示十进制的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～</a:t>
            </a:r>
            <a:r>
              <a:rPr lang="en-US" altLang="zh-CN" dirty="0">
                <a:latin typeface="Times New Roman" panose="02020603050405020304" pitchFamily="18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</a:rPr>
              <a:t>分别为</a:t>
            </a:r>
            <a:r>
              <a:rPr lang="en-US" altLang="zh-CN" dirty="0">
                <a:latin typeface="Times New Roman" panose="02020603050405020304" pitchFamily="18" charset="0"/>
              </a:rPr>
              <a:t>1110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1111</a:t>
            </a:r>
            <a:r>
              <a:rPr lang="zh-CN" altLang="en-US" dirty="0">
                <a:latin typeface="Times New Roman" panose="02020603050405020304" pitchFamily="18" charset="0"/>
              </a:rPr>
              <a:t>。其余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个数不允许出现，若出现则认为是非法的或错误的。这只是</a:t>
            </a:r>
            <a:r>
              <a:rPr lang="en-US" altLang="zh-CN" dirty="0">
                <a:latin typeface="Times New Roman" panose="02020603050405020304" pitchFamily="18" charset="0"/>
              </a:rPr>
              <a:t>2421</a:t>
            </a:r>
            <a:r>
              <a:rPr lang="zh-CN" altLang="en-US" dirty="0">
                <a:latin typeface="Times New Roman" panose="02020603050405020304" pitchFamily="18" charset="0"/>
              </a:rPr>
              <a:t>码的一种编码方案。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2884" name="Text Box 4"/>
          <p:cNvSpPr txBox="1"/>
          <p:nvPr/>
        </p:nvSpPr>
        <p:spPr>
          <a:xfrm>
            <a:off x="782638" y="3863975"/>
            <a:ext cx="7769225" cy="2160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762000"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2421</a:t>
            </a:r>
            <a:r>
              <a:rPr lang="zh-CN" altLang="en-US" dirty="0">
                <a:latin typeface="Times New Roman" panose="02020603050405020304" pitchFamily="18" charset="0"/>
              </a:rPr>
              <a:t>码是一种有权码，每位有固定的权，从高到低依次为</a:t>
            </a:r>
            <a:r>
              <a:rPr lang="en-US" altLang="zh-CN" dirty="0">
                <a:latin typeface="Times New Roman" panose="02020603050405020304" pitchFamily="18" charset="0"/>
              </a:rPr>
              <a:t>2, 4, 2, 1</a:t>
            </a:r>
            <a:r>
              <a:rPr lang="zh-CN" altLang="en-US" dirty="0">
                <a:latin typeface="Times New Roman" panose="02020603050405020304" pitchFamily="18" charset="0"/>
              </a:rPr>
              <a:t>，如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    2421</a:t>
            </a:r>
            <a:r>
              <a:rPr lang="zh-CN" altLang="en-US" dirty="0">
                <a:latin typeface="Times New Roman" panose="02020603050405020304" pitchFamily="18" charset="0"/>
              </a:rPr>
              <a:t>码</a:t>
            </a:r>
            <a:r>
              <a:rPr lang="en-US" altLang="zh-CN" dirty="0">
                <a:latin typeface="Times New Roman" panose="02020603050405020304" pitchFamily="18" charset="0"/>
              </a:rPr>
              <a:t>0111=0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2+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4+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2+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1=7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indent="762000"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2421</a:t>
            </a:r>
            <a:r>
              <a:rPr lang="zh-CN" altLang="en-US" dirty="0">
                <a:latin typeface="Times New Roman" panose="02020603050405020304" pitchFamily="18" charset="0"/>
              </a:rPr>
              <a:t>码</a:t>
            </a:r>
            <a:r>
              <a:rPr lang="en-US" altLang="zh-CN" dirty="0">
                <a:latin typeface="Times New Roman" panose="02020603050405020304" pitchFamily="18" charset="0"/>
              </a:rPr>
              <a:t>1110=1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2+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4+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2+01=8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  <p:bldP spid="12288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/>
          <p:cNvSpPr txBox="1"/>
          <p:nvPr/>
        </p:nvSpPr>
        <p:spPr>
          <a:xfrm>
            <a:off x="611188" y="476250"/>
            <a:ext cx="380841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sz="32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2421</a:t>
            </a:r>
            <a:r>
              <a:rPr lang="zh-CN" altLang="en-US" sz="32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码的编码方案：</a:t>
            </a:r>
            <a:endParaRPr lang="zh-CN" altLang="en-US" sz="32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4211" name="内容占位符 94210"/>
          <p:cNvGraphicFramePr>
            <a:graphicFrameLocks noGrp="1"/>
          </p:cNvGraphicFramePr>
          <p:nvPr>
            <p:ph/>
          </p:nvPr>
        </p:nvGraphicFramePr>
        <p:xfrm>
          <a:off x="684213" y="1196975"/>
          <a:ext cx="6840538" cy="5168900"/>
        </p:xfrm>
        <a:graphic>
          <a:graphicData uri="http://schemas.openxmlformats.org/drawingml/2006/table">
            <a:tbl>
              <a:tblPr/>
              <a:tblGrid>
                <a:gridCol w="1655763"/>
                <a:gridCol w="1512887"/>
                <a:gridCol w="1584325"/>
                <a:gridCol w="2087563"/>
              </a:tblGrid>
              <a:tr h="534988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代码</a:t>
                      </a:r>
                      <a:endParaRPr lang="zh-CN" altLang="en-US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方案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方案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</a:rPr>
                        <a:t>方案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3/4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0010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rPr>
                        <a:t>0010</a:t>
                      </a:r>
                      <a:r>
                        <a:rPr lang="en-US" altLang="zh-CN" sz="2400" b="1" dirty="0">
                          <a:solidFill>
                            <a:srgbClr val="0066FF"/>
                          </a:solidFill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2400" dirty="0">
                        <a:solidFill>
                          <a:srgbClr val="CC00CC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2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3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0011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rPr>
                        <a:t>0011</a:t>
                      </a:r>
                      <a:r>
                        <a:rPr lang="en-US" altLang="zh-CN" sz="2400" b="1" dirty="0">
                          <a:solidFill>
                            <a:srgbClr val="0066FF"/>
                          </a:solidFill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2400" dirty="0">
                        <a:solidFill>
                          <a:srgbClr val="CC00CC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4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0100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1010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rPr>
                        <a:t>0100</a:t>
                      </a:r>
                      <a:r>
                        <a:rPr lang="en-US" altLang="zh-CN" sz="2400" b="1" dirty="0">
                          <a:solidFill>
                            <a:srgbClr val="0066FF"/>
                          </a:solidFill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Arial" panose="020B0604020202020204" pitchFamily="34" charset="0"/>
                        </a:rPr>
                        <a:t>1010</a:t>
                      </a:r>
                      <a:endParaRPr lang="en-US" altLang="zh-CN" sz="2400" dirty="0">
                        <a:solidFill>
                          <a:srgbClr val="CC00CC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5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0101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1011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rPr>
                        <a:t>1011</a:t>
                      </a:r>
                      <a:r>
                        <a:rPr lang="en-US" altLang="zh-CN" sz="2400" b="1" dirty="0">
                          <a:solidFill>
                            <a:srgbClr val="0066FF"/>
                          </a:solidFill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Arial" panose="020B0604020202020204" pitchFamily="34" charset="0"/>
                        </a:rPr>
                        <a:t>0101</a:t>
                      </a:r>
                      <a:endParaRPr lang="en-US" altLang="zh-CN" sz="2400" dirty="0">
                        <a:solidFill>
                          <a:srgbClr val="CC00CC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6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1100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rPr>
                        <a:t>1100</a:t>
                      </a:r>
                      <a:r>
                        <a:rPr lang="en-US" altLang="zh-CN" sz="2400" b="1" dirty="0">
                          <a:solidFill>
                            <a:srgbClr val="0066FF"/>
                          </a:solidFill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2400" dirty="0">
                        <a:solidFill>
                          <a:srgbClr val="CC00CC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7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0111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</a:rPr>
                        <a:t>1101</a:t>
                      </a:r>
                      <a:endParaRPr lang="en-US" altLang="zh-CN" sz="24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00"/>
                          </a:solidFill>
                          <a:latin typeface="Arial" panose="020B0604020202020204" pitchFamily="34" charset="0"/>
                        </a:rPr>
                        <a:t>1101</a:t>
                      </a:r>
                      <a:r>
                        <a:rPr lang="en-US" altLang="zh-CN" sz="2400" b="1" dirty="0">
                          <a:solidFill>
                            <a:srgbClr val="0066FF"/>
                          </a:solidFill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Arial" panose="020B0604020202020204" pitchFamily="34" charset="0"/>
                        </a:rPr>
                        <a:t>0111</a:t>
                      </a:r>
                      <a:endParaRPr lang="en-US" altLang="zh-CN" sz="2400" dirty="0">
                        <a:solidFill>
                          <a:srgbClr val="CC00CC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8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</a:rPr>
                        <a:t>9</a:t>
                      </a:r>
                      <a:endParaRPr lang="en-US" altLang="zh-CN" sz="24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1111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1111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1111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4273" name="AutoShape 65"/>
          <p:cNvSpPr/>
          <p:nvPr/>
        </p:nvSpPr>
        <p:spPr>
          <a:xfrm>
            <a:off x="7596188" y="3789363"/>
            <a:ext cx="287337" cy="576262"/>
          </a:xfrm>
          <a:prstGeom prst="rightBrace">
            <a:avLst>
              <a:gd name="adj1" fmla="val 16712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4274" name="AutoShape 66"/>
          <p:cNvSpPr/>
          <p:nvPr/>
        </p:nvSpPr>
        <p:spPr>
          <a:xfrm>
            <a:off x="7596188" y="2060575"/>
            <a:ext cx="1017587" cy="4103688"/>
          </a:xfrm>
          <a:prstGeom prst="rightBrace">
            <a:avLst>
              <a:gd name="adj1" fmla="val 33606"/>
              <a:gd name="adj2" fmla="val 49083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7763" name="Text Box 67"/>
          <p:cNvSpPr txBox="1"/>
          <p:nvPr/>
        </p:nvSpPr>
        <p:spPr>
          <a:xfrm>
            <a:off x="8297863" y="1227138"/>
            <a:ext cx="620712" cy="15240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>
            <a:spAutoFit/>
          </a:bodyPr>
          <a:lstStyle/>
          <a:p>
            <a:pPr algn="ctr" fontAlgn="base"/>
            <a:r>
              <a:rPr lang="zh-CN" altLang="en-US" dirty="0">
                <a:latin typeface="Arial" panose="020B0604020202020204" pitchFamily="34" charset="0"/>
              </a:rPr>
              <a:t>对九自补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276" name="AutoShape 68"/>
          <p:cNvSpPr/>
          <p:nvPr/>
        </p:nvSpPr>
        <p:spPr>
          <a:xfrm>
            <a:off x="7680325" y="2925763"/>
            <a:ext cx="357188" cy="2281237"/>
          </a:xfrm>
          <a:prstGeom prst="rightBrace">
            <a:avLst>
              <a:gd name="adj1" fmla="val 36338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94277" name="AutoShape 69"/>
          <p:cNvCxnSpPr>
            <a:stCxn id="94274" idx="1"/>
          </p:cNvCxnSpPr>
          <p:nvPr/>
        </p:nvCxnSpPr>
        <p:spPr>
          <a:xfrm flipH="1" flipV="1">
            <a:off x="8609013" y="2751138"/>
            <a:ext cx="4762" cy="1323975"/>
          </a:xfrm>
          <a:prstGeom prst="curvedConnector4">
            <a:avLst>
              <a:gd name="adj1" fmla="val -4800000"/>
              <a:gd name="adj2" fmla="val -175060"/>
            </a:avLst>
          </a:prstGeom>
          <a:ln w="9525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577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63" grpId="0" animBg="1"/>
      <p:bldP spid="157763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4" name="Group 2"/>
          <p:cNvGrpSpPr/>
          <p:nvPr/>
        </p:nvGrpSpPr>
        <p:grpSpPr>
          <a:xfrm>
            <a:off x="571500" y="171450"/>
            <a:ext cx="7848600" cy="6457950"/>
            <a:chOff x="360" y="108"/>
            <a:chExt cx="4944" cy="4068"/>
          </a:xfrm>
        </p:grpSpPr>
        <p:sp>
          <p:nvSpPr>
            <p:cNvPr id="95357" name="AutoShape 3"/>
            <p:cNvSpPr>
              <a:spLocks noChangeAspect="1"/>
            </p:cNvSpPr>
            <p:nvPr/>
          </p:nvSpPr>
          <p:spPr>
            <a:xfrm>
              <a:off x="612" y="168"/>
              <a:ext cx="4380" cy="7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5358" name="Line 4"/>
            <p:cNvSpPr/>
            <p:nvPr/>
          </p:nvSpPr>
          <p:spPr>
            <a:xfrm>
              <a:off x="360" y="120"/>
              <a:ext cx="49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59" name="Line 5"/>
            <p:cNvSpPr/>
            <p:nvPr/>
          </p:nvSpPr>
          <p:spPr>
            <a:xfrm>
              <a:off x="360" y="624"/>
              <a:ext cx="49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0" name="Line 6"/>
            <p:cNvSpPr/>
            <p:nvPr/>
          </p:nvSpPr>
          <p:spPr>
            <a:xfrm>
              <a:off x="1572" y="120"/>
              <a:ext cx="0" cy="40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1" name="Line 7"/>
            <p:cNvSpPr/>
            <p:nvPr/>
          </p:nvSpPr>
          <p:spPr>
            <a:xfrm>
              <a:off x="2304" y="108"/>
              <a:ext cx="0" cy="40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2" name="Line 8"/>
            <p:cNvSpPr/>
            <p:nvPr/>
          </p:nvSpPr>
          <p:spPr>
            <a:xfrm>
              <a:off x="3012" y="132"/>
              <a:ext cx="0" cy="40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3" name="Line 9"/>
            <p:cNvSpPr/>
            <p:nvPr/>
          </p:nvSpPr>
          <p:spPr>
            <a:xfrm>
              <a:off x="3804" y="132"/>
              <a:ext cx="0" cy="40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4" name="Line 10"/>
            <p:cNvSpPr/>
            <p:nvPr/>
          </p:nvSpPr>
          <p:spPr>
            <a:xfrm>
              <a:off x="4584" y="120"/>
              <a:ext cx="0" cy="40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65" name="Line 11"/>
            <p:cNvSpPr/>
            <p:nvPr/>
          </p:nvSpPr>
          <p:spPr>
            <a:xfrm>
              <a:off x="360" y="4164"/>
              <a:ext cx="49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876300" y="906463"/>
            <a:ext cx="1020763" cy="5807075"/>
            <a:chOff x="552" y="571"/>
            <a:chExt cx="643" cy="3658"/>
          </a:xfrm>
        </p:grpSpPr>
        <p:sp>
          <p:nvSpPr>
            <p:cNvPr id="95341" name="Text Box 13"/>
            <p:cNvSpPr txBox="1"/>
            <p:nvPr/>
          </p:nvSpPr>
          <p:spPr>
            <a:xfrm>
              <a:off x="557" y="571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0000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2" name="Text Box 14"/>
            <p:cNvSpPr txBox="1"/>
            <p:nvPr/>
          </p:nvSpPr>
          <p:spPr>
            <a:xfrm>
              <a:off x="557" y="804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0001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3" name="Text Box 15"/>
            <p:cNvSpPr txBox="1"/>
            <p:nvPr/>
          </p:nvSpPr>
          <p:spPr>
            <a:xfrm>
              <a:off x="557" y="1056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0010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4" name="Text Box 16"/>
            <p:cNvSpPr txBox="1"/>
            <p:nvPr/>
          </p:nvSpPr>
          <p:spPr>
            <a:xfrm>
              <a:off x="557" y="1296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0011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5" name="Text Box 17"/>
            <p:cNvSpPr txBox="1"/>
            <p:nvPr/>
          </p:nvSpPr>
          <p:spPr>
            <a:xfrm>
              <a:off x="557" y="1932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0110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6" name="Text Box 18"/>
            <p:cNvSpPr txBox="1"/>
            <p:nvPr/>
          </p:nvSpPr>
          <p:spPr>
            <a:xfrm>
              <a:off x="557" y="2136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0111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7" name="Text Box 19"/>
            <p:cNvSpPr txBox="1"/>
            <p:nvPr/>
          </p:nvSpPr>
          <p:spPr>
            <a:xfrm>
              <a:off x="569" y="2323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1000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8" name="Text Box 20"/>
            <p:cNvSpPr txBox="1"/>
            <p:nvPr/>
          </p:nvSpPr>
          <p:spPr>
            <a:xfrm>
              <a:off x="569" y="2556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1001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9" name="Text Box 21"/>
            <p:cNvSpPr txBox="1"/>
            <p:nvPr/>
          </p:nvSpPr>
          <p:spPr>
            <a:xfrm>
              <a:off x="569" y="2808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1010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50" name="Text Box 22"/>
            <p:cNvSpPr txBox="1"/>
            <p:nvPr/>
          </p:nvSpPr>
          <p:spPr>
            <a:xfrm>
              <a:off x="564" y="3036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1011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51" name="Text Box 23"/>
            <p:cNvSpPr txBox="1"/>
            <p:nvPr/>
          </p:nvSpPr>
          <p:spPr>
            <a:xfrm>
              <a:off x="569" y="3468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1101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52" name="Text Box 24"/>
            <p:cNvSpPr txBox="1"/>
            <p:nvPr/>
          </p:nvSpPr>
          <p:spPr>
            <a:xfrm>
              <a:off x="564" y="3672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1110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53" name="Text Box 25"/>
            <p:cNvSpPr txBox="1"/>
            <p:nvPr/>
          </p:nvSpPr>
          <p:spPr>
            <a:xfrm>
              <a:off x="557" y="3864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1111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54" name="Text Box 26"/>
            <p:cNvSpPr txBox="1"/>
            <p:nvPr/>
          </p:nvSpPr>
          <p:spPr>
            <a:xfrm>
              <a:off x="552" y="1728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0101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55" name="Text Box 27"/>
            <p:cNvSpPr txBox="1"/>
            <p:nvPr/>
          </p:nvSpPr>
          <p:spPr>
            <a:xfrm>
              <a:off x="564" y="3252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1100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56" name="Text Box 28"/>
            <p:cNvSpPr txBox="1"/>
            <p:nvPr/>
          </p:nvSpPr>
          <p:spPr>
            <a:xfrm>
              <a:off x="552" y="1512"/>
              <a:ext cx="62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0100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" name="Group 29"/>
          <p:cNvGrpSpPr/>
          <p:nvPr/>
        </p:nvGrpSpPr>
        <p:grpSpPr>
          <a:xfrm>
            <a:off x="2763838" y="898525"/>
            <a:ext cx="606425" cy="5807075"/>
            <a:chOff x="685" y="571"/>
            <a:chExt cx="382" cy="3658"/>
          </a:xfrm>
        </p:grpSpPr>
        <p:sp>
          <p:nvSpPr>
            <p:cNvPr id="95325" name="Text Box 30"/>
            <p:cNvSpPr txBox="1"/>
            <p:nvPr/>
          </p:nvSpPr>
          <p:spPr>
            <a:xfrm>
              <a:off x="749" y="571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6" name="Text Box 31"/>
            <p:cNvSpPr txBox="1"/>
            <p:nvPr/>
          </p:nvSpPr>
          <p:spPr>
            <a:xfrm>
              <a:off x="749" y="804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7" name="Text Box 32"/>
            <p:cNvSpPr txBox="1"/>
            <p:nvPr/>
          </p:nvSpPr>
          <p:spPr>
            <a:xfrm>
              <a:off x="749" y="105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8" name="Text Box 33"/>
            <p:cNvSpPr txBox="1"/>
            <p:nvPr/>
          </p:nvSpPr>
          <p:spPr>
            <a:xfrm>
              <a:off x="749" y="129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9" name="Text Box 34"/>
            <p:cNvSpPr txBox="1"/>
            <p:nvPr/>
          </p:nvSpPr>
          <p:spPr>
            <a:xfrm>
              <a:off x="749" y="193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0" name="Text Box 35"/>
            <p:cNvSpPr txBox="1"/>
            <p:nvPr/>
          </p:nvSpPr>
          <p:spPr>
            <a:xfrm>
              <a:off x="749" y="213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1" name="Text Box 36"/>
            <p:cNvSpPr txBox="1"/>
            <p:nvPr/>
          </p:nvSpPr>
          <p:spPr>
            <a:xfrm>
              <a:off x="761" y="2323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2" name="Text Box 37"/>
            <p:cNvSpPr txBox="1"/>
            <p:nvPr/>
          </p:nvSpPr>
          <p:spPr>
            <a:xfrm>
              <a:off x="761" y="255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9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3" name="Text Box 38"/>
            <p:cNvSpPr txBox="1"/>
            <p:nvPr/>
          </p:nvSpPr>
          <p:spPr>
            <a:xfrm>
              <a:off x="697" y="2808"/>
              <a:ext cx="3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4" name="Text Box 39"/>
            <p:cNvSpPr txBox="1"/>
            <p:nvPr/>
          </p:nvSpPr>
          <p:spPr>
            <a:xfrm>
              <a:off x="692" y="3036"/>
              <a:ext cx="3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5" name="Text Box 40"/>
            <p:cNvSpPr txBox="1"/>
            <p:nvPr/>
          </p:nvSpPr>
          <p:spPr>
            <a:xfrm>
              <a:off x="697" y="3468"/>
              <a:ext cx="3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13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6" name="Text Box 41"/>
            <p:cNvSpPr txBox="1"/>
            <p:nvPr/>
          </p:nvSpPr>
          <p:spPr>
            <a:xfrm>
              <a:off x="692" y="3672"/>
              <a:ext cx="3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14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7" name="Text Box 42"/>
            <p:cNvSpPr txBox="1"/>
            <p:nvPr/>
          </p:nvSpPr>
          <p:spPr>
            <a:xfrm>
              <a:off x="685" y="3864"/>
              <a:ext cx="3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15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8" name="Text Box 43"/>
            <p:cNvSpPr txBox="1"/>
            <p:nvPr/>
          </p:nvSpPr>
          <p:spPr>
            <a:xfrm>
              <a:off x="744" y="1728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39" name="Text Box 44"/>
            <p:cNvSpPr txBox="1"/>
            <p:nvPr/>
          </p:nvSpPr>
          <p:spPr>
            <a:xfrm>
              <a:off x="692" y="3252"/>
              <a:ext cx="3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12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40" name="Text Box 45"/>
            <p:cNvSpPr txBox="1"/>
            <p:nvPr/>
          </p:nvSpPr>
          <p:spPr>
            <a:xfrm>
              <a:off x="744" y="151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" name="Group 46"/>
          <p:cNvGrpSpPr/>
          <p:nvPr/>
        </p:nvGrpSpPr>
        <p:grpSpPr>
          <a:xfrm>
            <a:off x="5181600" y="898525"/>
            <a:ext cx="411163" cy="5807075"/>
            <a:chOff x="744" y="571"/>
            <a:chExt cx="259" cy="3658"/>
          </a:xfrm>
        </p:grpSpPr>
        <p:sp>
          <p:nvSpPr>
            <p:cNvPr id="95309" name="Text Box 47"/>
            <p:cNvSpPr txBox="1"/>
            <p:nvPr/>
          </p:nvSpPr>
          <p:spPr>
            <a:xfrm>
              <a:off x="749" y="571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0" name="Text Box 48"/>
            <p:cNvSpPr txBox="1"/>
            <p:nvPr/>
          </p:nvSpPr>
          <p:spPr>
            <a:xfrm>
              <a:off x="749" y="804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1" name="Text Box 49"/>
            <p:cNvSpPr txBox="1"/>
            <p:nvPr/>
          </p:nvSpPr>
          <p:spPr>
            <a:xfrm>
              <a:off x="749" y="105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2" name="Text Box 50"/>
            <p:cNvSpPr txBox="1"/>
            <p:nvPr/>
          </p:nvSpPr>
          <p:spPr>
            <a:xfrm>
              <a:off x="749" y="129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3" name="Text Box 51"/>
            <p:cNvSpPr txBox="1"/>
            <p:nvPr/>
          </p:nvSpPr>
          <p:spPr>
            <a:xfrm>
              <a:off x="813" y="1932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4" name="Text Box 52"/>
            <p:cNvSpPr txBox="1"/>
            <p:nvPr/>
          </p:nvSpPr>
          <p:spPr>
            <a:xfrm>
              <a:off x="813" y="2136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5" name="Text Box 53"/>
            <p:cNvSpPr txBox="1"/>
            <p:nvPr/>
          </p:nvSpPr>
          <p:spPr>
            <a:xfrm>
              <a:off x="825" y="2323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6" name="Text Box 54"/>
            <p:cNvSpPr txBox="1"/>
            <p:nvPr/>
          </p:nvSpPr>
          <p:spPr>
            <a:xfrm>
              <a:off x="825" y="2556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7" name="Text Box 55"/>
            <p:cNvSpPr txBox="1"/>
            <p:nvPr/>
          </p:nvSpPr>
          <p:spPr>
            <a:xfrm>
              <a:off x="825" y="2808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8" name="Text Box 56"/>
            <p:cNvSpPr txBox="1"/>
            <p:nvPr/>
          </p:nvSpPr>
          <p:spPr>
            <a:xfrm>
              <a:off x="756" y="303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19" name="Text Box 57"/>
            <p:cNvSpPr txBox="1"/>
            <p:nvPr/>
          </p:nvSpPr>
          <p:spPr>
            <a:xfrm>
              <a:off x="761" y="3468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0" name="Text Box 58"/>
            <p:cNvSpPr txBox="1"/>
            <p:nvPr/>
          </p:nvSpPr>
          <p:spPr>
            <a:xfrm>
              <a:off x="756" y="367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1" name="Text Box 59"/>
            <p:cNvSpPr txBox="1"/>
            <p:nvPr/>
          </p:nvSpPr>
          <p:spPr>
            <a:xfrm>
              <a:off x="749" y="3864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9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2" name="Text Box 60"/>
            <p:cNvSpPr txBox="1"/>
            <p:nvPr/>
          </p:nvSpPr>
          <p:spPr>
            <a:xfrm>
              <a:off x="808" y="1728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3" name="Text Box 61"/>
            <p:cNvSpPr txBox="1"/>
            <p:nvPr/>
          </p:nvSpPr>
          <p:spPr>
            <a:xfrm>
              <a:off x="756" y="325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24" name="Text Box 62"/>
            <p:cNvSpPr txBox="1"/>
            <p:nvPr/>
          </p:nvSpPr>
          <p:spPr>
            <a:xfrm>
              <a:off x="744" y="151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" name="Group 63"/>
          <p:cNvGrpSpPr/>
          <p:nvPr/>
        </p:nvGrpSpPr>
        <p:grpSpPr>
          <a:xfrm>
            <a:off x="6438900" y="898525"/>
            <a:ext cx="411163" cy="5807075"/>
            <a:chOff x="744" y="571"/>
            <a:chExt cx="259" cy="3658"/>
          </a:xfrm>
        </p:grpSpPr>
        <p:sp>
          <p:nvSpPr>
            <p:cNvPr id="95293" name="Text Box 64"/>
            <p:cNvSpPr txBox="1"/>
            <p:nvPr/>
          </p:nvSpPr>
          <p:spPr>
            <a:xfrm>
              <a:off x="749" y="571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4" name="Text Box 65"/>
            <p:cNvSpPr txBox="1"/>
            <p:nvPr/>
          </p:nvSpPr>
          <p:spPr>
            <a:xfrm>
              <a:off x="749" y="804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5" name="Text Box 66"/>
            <p:cNvSpPr txBox="1"/>
            <p:nvPr/>
          </p:nvSpPr>
          <p:spPr>
            <a:xfrm>
              <a:off x="749" y="105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6" name="Text Box 67"/>
            <p:cNvSpPr txBox="1"/>
            <p:nvPr/>
          </p:nvSpPr>
          <p:spPr>
            <a:xfrm>
              <a:off x="749" y="129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7" name="Text Box 68"/>
            <p:cNvSpPr txBox="1"/>
            <p:nvPr/>
          </p:nvSpPr>
          <p:spPr>
            <a:xfrm>
              <a:off x="813" y="1932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8" name="Text Box 69"/>
            <p:cNvSpPr txBox="1"/>
            <p:nvPr/>
          </p:nvSpPr>
          <p:spPr>
            <a:xfrm>
              <a:off x="813" y="2136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9" name="Text Box 70"/>
            <p:cNvSpPr txBox="1"/>
            <p:nvPr/>
          </p:nvSpPr>
          <p:spPr>
            <a:xfrm>
              <a:off x="761" y="2323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0" name="Text Box 71"/>
            <p:cNvSpPr txBox="1"/>
            <p:nvPr/>
          </p:nvSpPr>
          <p:spPr>
            <a:xfrm>
              <a:off x="761" y="255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1" name="Text Box 72"/>
            <p:cNvSpPr txBox="1"/>
            <p:nvPr/>
          </p:nvSpPr>
          <p:spPr>
            <a:xfrm>
              <a:off x="761" y="2808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2" name="Text Box 73"/>
            <p:cNvSpPr txBox="1"/>
            <p:nvPr/>
          </p:nvSpPr>
          <p:spPr>
            <a:xfrm>
              <a:off x="756" y="303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3" name="Text Box 74"/>
            <p:cNvSpPr txBox="1"/>
            <p:nvPr/>
          </p:nvSpPr>
          <p:spPr>
            <a:xfrm>
              <a:off x="825" y="3468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4" name="Text Box 75"/>
            <p:cNvSpPr txBox="1"/>
            <p:nvPr/>
          </p:nvSpPr>
          <p:spPr>
            <a:xfrm>
              <a:off x="820" y="3672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5" name="Text Box 76"/>
            <p:cNvSpPr txBox="1"/>
            <p:nvPr/>
          </p:nvSpPr>
          <p:spPr>
            <a:xfrm>
              <a:off x="813" y="3864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6" name="Text Box 77"/>
            <p:cNvSpPr txBox="1"/>
            <p:nvPr/>
          </p:nvSpPr>
          <p:spPr>
            <a:xfrm>
              <a:off x="808" y="1728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7" name="Text Box 78"/>
            <p:cNvSpPr txBox="1"/>
            <p:nvPr/>
          </p:nvSpPr>
          <p:spPr>
            <a:xfrm>
              <a:off x="756" y="325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9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308" name="Text Box 79"/>
            <p:cNvSpPr txBox="1"/>
            <p:nvPr/>
          </p:nvSpPr>
          <p:spPr>
            <a:xfrm>
              <a:off x="744" y="151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" name="Group 80"/>
          <p:cNvGrpSpPr/>
          <p:nvPr/>
        </p:nvGrpSpPr>
        <p:grpSpPr>
          <a:xfrm>
            <a:off x="7696200" y="898525"/>
            <a:ext cx="411163" cy="5807075"/>
            <a:chOff x="744" y="571"/>
            <a:chExt cx="259" cy="3658"/>
          </a:xfrm>
        </p:grpSpPr>
        <p:sp>
          <p:nvSpPr>
            <p:cNvPr id="95277" name="Text Box 81"/>
            <p:cNvSpPr txBox="1"/>
            <p:nvPr/>
          </p:nvSpPr>
          <p:spPr>
            <a:xfrm>
              <a:off x="813" y="571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78" name="Text Box 82"/>
            <p:cNvSpPr txBox="1"/>
            <p:nvPr/>
          </p:nvSpPr>
          <p:spPr>
            <a:xfrm>
              <a:off x="813" y="804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79" name="Text Box 83"/>
            <p:cNvSpPr txBox="1"/>
            <p:nvPr/>
          </p:nvSpPr>
          <p:spPr>
            <a:xfrm>
              <a:off x="813" y="1056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0" name="Text Box 84"/>
            <p:cNvSpPr txBox="1"/>
            <p:nvPr/>
          </p:nvSpPr>
          <p:spPr>
            <a:xfrm>
              <a:off x="749" y="129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1" name="Text Box 85"/>
            <p:cNvSpPr txBox="1"/>
            <p:nvPr/>
          </p:nvSpPr>
          <p:spPr>
            <a:xfrm>
              <a:off x="749" y="193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2" name="Text Box 86"/>
            <p:cNvSpPr txBox="1"/>
            <p:nvPr/>
          </p:nvSpPr>
          <p:spPr>
            <a:xfrm>
              <a:off x="749" y="213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3" name="Text Box 87"/>
            <p:cNvSpPr txBox="1"/>
            <p:nvPr/>
          </p:nvSpPr>
          <p:spPr>
            <a:xfrm>
              <a:off x="761" y="2323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4" name="Text Box 88"/>
            <p:cNvSpPr txBox="1"/>
            <p:nvPr/>
          </p:nvSpPr>
          <p:spPr>
            <a:xfrm>
              <a:off x="761" y="255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5" name="Text Box 89"/>
            <p:cNvSpPr txBox="1"/>
            <p:nvPr/>
          </p:nvSpPr>
          <p:spPr>
            <a:xfrm>
              <a:off x="761" y="2808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6" name="Text Box 90"/>
            <p:cNvSpPr txBox="1"/>
            <p:nvPr/>
          </p:nvSpPr>
          <p:spPr>
            <a:xfrm>
              <a:off x="756" y="3036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7" name="Text Box 91"/>
            <p:cNvSpPr txBox="1"/>
            <p:nvPr/>
          </p:nvSpPr>
          <p:spPr>
            <a:xfrm>
              <a:off x="825" y="3468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8" name="Text Box 92"/>
            <p:cNvSpPr txBox="1"/>
            <p:nvPr/>
          </p:nvSpPr>
          <p:spPr>
            <a:xfrm>
              <a:off x="820" y="3672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89" name="Text Box 93"/>
            <p:cNvSpPr txBox="1"/>
            <p:nvPr/>
          </p:nvSpPr>
          <p:spPr>
            <a:xfrm>
              <a:off x="813" y="3864"/>
              <a:ext cx="11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0" name="Text Box 94"/>
            <p:cNvSpPr txBox="1"/>
            <p:nvPr/>
          </p:nvSpPr>
          <p:spPr>
            <a:xfrm>
              <a:off x="744" y="1728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1" name="Text Box 95"/>
            <p:cNvSpPr txBox="1"/>
            <p:nvPr/>
          </p:nvSpPr>
          <p:spPr>
            <a:xfrm>
              <a:off x="756" y="325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9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292" name="Text Box 96"/>
            <p:cNvSpPr txBox="1"/>
            <p:nvPr/>
          </p:nvSpPr>
          <p:spPr>
            <a:xfrm>
              <a:off x="744" y="1512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" name="Group 97"/>
          <p:cNvGrpSpPr/>
          <p:nvPr/>
        </p:nvGrpSpPr>
        <p:grpSpPr>
          <a:xfrm>
            <a:off x="4038600" y="898525"/>
            <a:ext cx="411163" cy="5807075"/>
            <a:chOff x="2544" y="566"/>
            <a:chExt cx="259" cy="3658"/>
          </a:xfrm>
        </p:grpSpPr>
        <p:grpSp>
          <p:nvGrpSpPr>
            <p:cNvPr id="95259" name="Group 98"/>
            <p:cNvGrpSpPr/>
            <p:nvPr/>
          </p:nvGrpSpPr>
          <p:grpSpPr>
            <a:xfrm>
              <a:off x="2544" y="566"/>
              <a:ext cx="259" cy="3658"/>
              <a:chOff x="744" y="571"/>
              <a:chExt cx="259" cy="3658"/>
            </a:xfrm>
          </p:grpSpPr>
          <p:sp>
            <p:nvSpPr>
              <p:cNvPr id="95261" name="Text Box 99"/>
              <p:cNvSpPr txBox="1"/>
              <p:nvPr/>
            </p:nvSpPr>
            <p:spPr>
              <a:xfrm>
                <a:off x="749" y="571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62" name="Text Box 100"/>
              <p:cNvSpPr txBox="1"/>
              <p:nvPr/>
            </p:nvSpPr>
            <p:spPr>
              <a:xfrm>
                <a:off x="749" y="804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63" name="Text Box 101"/>
              <p:cNvSpPr txBox="1"/>
              <p:nvPr/>
            </p:nvSpPr>
            <p:spPr>
              <a:xfrm>
                <a:off x="749" y="1056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64" name="Text Box 102"/>
              <p:cNvSpPr txBox="1"/>
              <p:nvPr/>
            </p:nvSpPr>
            <p:spPr>
              <a:xfrm>
                <a:off x="749" y="1296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65" name="Text Box 103"/>
              <p:cNvSpPr txBox="1"/>
              <p:nvPr/>
            </p:nvSpPr>
            <p:spPr>
              <a:xfrm>
                <a:off x="749" y="1932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6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66" name="Text Box 104"/>
              <p:cNvSpPr txBox="1"/>
              <p:nvPr/>
            </p:nvSpPr>
            <p:spPr>
              <a:xfrm>
                <a:off x="749" y="2136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7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67" name="Text Box 105"/>
              <p:cNvSpPr txBox="1"/>
              <p:nvPr/>
            </p:nvSpPr>
            <p:spPr>
              <a:xfrm>
                <a:off x="761" y="2323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8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68" name="Text Box 106"/>
              <p:cNvSpPr txBox="1"/>
              <p:nvPr/>
            </p:nvSpPr>
            <p:spPr>
              <a:xfrm>
                <a:off x="825" y="2556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69" name="Text Box 107"/>
              <p:cNvSpPr txBox="1"/>
              <p:nvPr/>
            </p:nvSpPr>
            <p:spPr>
              <a:xfrm>
                <a:off x="825" y="2808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70" name="Text Box 108"/>
              <p:cNvSpPr txBox="1"/>
              <p:nvPr/>
            </p:nvSpPr>
            <p:spPr>
              <a:xfrm>
                <a:off x="820" y="3036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71" name="Text Box 109"/>
              <p:cNvSpPr txBox="1"/>
              <p:nvPr/>
            </p:nvSpPr>
            <p:spPr>
              <a:xfrm>
                <a:off x="825" y="3468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72" name="Text Box 110"/>
              <p:cNvSpPr txBox="1"/>
              <p:nvPr/>
            </p:nvSpPr>
            <p:spPr>
              <a:xfrm>
                <a:off x="820" y="3672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73" name="Text Box 111"/>
              <p:cNvSpPr txBox="1"/>
              <p:nvPr/>
            </p:nvSpPr>
            <p:spPr>
              <a:xfrm>
                <a:off x="813" y="3864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74" name="Text Box 112"/>
              <p:cNvSpPr txBox="1"/>
              <p:nvPr/>
            </p:nvSpPr>
            <p:spPr>
              <a:xfrm>
                <a:off x="744" y="1728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5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75" name="Text Box 113"/>
              <p:cNvSpPr txBox="1"/>
              <p:nvPr/>
            </p:nvSpPr>
            <p:spPr>
              <a:xfrm>
                <a:off x="820" y="3252"/>
                <a:ext cx="114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5276" name="Text Box 114"/>
              <p:cNvSpPr txBox="1"/>
              <p:nvPr/>
            </p:nvSpPr>
            <p:spPr>
              <a:xfrm>
                <a:off x="744" y="1512"/>
                <a:ext cx="24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  <a:endParaRPr lang="en-US" altLang="zh-CN" sz="32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95260" name="Text Box 115"/>
            <p:cNvSpPr txBox="1"/>
            <p:nvPr/>
          </p:nvSpPr>
          <p:spPr>
            <a:xfrm>
              <a:off x="2555" y="2548"/>
              <a:ext cx="2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 fontAlgn="base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楷体_GB2312" pitchFamily="49" charset="-122"/>
                </a:rPr>
                <a:t>9</a:t>
              </a:r>
              <a:endParaRPr lang="en-US" altLang="zh-CN" sz="32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95241" name="Text Box 116"/>
          <p:cNvSpPr txBox="1"/>
          <p:nvPr/>
        </p:nvSpPr>
        <p:spPr>
          <a:xfrm>
            <a:off x="566738" y="339725"/>
            <a:ext cx="1819275" cy="57943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</a:pPr>
            <a:r>
              <a:rPr lang="zh-CN" altLang="en-US" sz="32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二进制数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2" name="Text Box 117"/>
          <p:cNvSpPr txBox="1"/>
          <p:nvPr/>
        </p:nvSpPr>
        <p:spPr>
          <a:xfrm>
            <a:off x="2409825" y="369888"/>
            <a:ext cx="1257300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</a:pPr>
            <a:r>
              <a:rPr lang="zh-CN" altLang="en-US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自然码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3" name="Text Box 118"/>
          <p:cNvSpPr txBox="1"/>
          <p:nvPr/>
        </p:nvSpPr>
        <p:spPr>
          <a:xfrm>
            <a:off x="3594100" y="369888"/>
            <a:ext cx="1250950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</a:pPr>
            <a:r>
              <a:rPr lang="en-US" altLang="zh-CN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8421</a:t>
            </a:r>
            <a:r>
              <a:rPr lang="zh-CN" altLang="en-US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码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4" name="Text Box 119"/>
          <p:cNvSpPr txBox="1"/>
          <p:nvPr/>
        </p:nvSpPr>
        <p:spPr>
          <a:xfrm>
            <a:off x="4775200" y="369888"/>
            <a:ext cx="1250950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</a:pPr>
            <a:r>
              <a:rPr lang="en-US" altLang="zh-CN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2421</a:t>
            </a:r>
            <a:r>
              <a:rPr lang="zh-CN" altLang="en-US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码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5" name="Text Box 120"/>
          <p:cNvSpPr txBox="1"/>
          <p:nvPr/>
        </p:nvSpPr>
        <p:spPr>
          <a:xfrm>
            <a:off x="6051550" y="369888"/>
            <a:ext cx="1250950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</a:pPr>
            <a:r>
              <a:rPr lang="en-US" altLang="zh-CN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5421</a:t>
            </a:r>
            <a:r>
              <a:rPr lang="zh-CN" altLang="en-US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码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46" name="Text Box 121"/>
          <p:cNvSpPr txBox="1"/>
          <p:nvPr/>
        </p:nvSpPr>
        <p:spPr>
          <a:xfrm>
            <a:off x="7286625" y="369888"/>
            <a:ext cx="1257300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 fontAlgn="base">
              <a:spcBef>
                <a:spcPct val="50000"/>
              </a:spcBef>
            </a:pPr>
            <a:r>
              <a:rPr lang="zh-CN" altLang="en-US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余三码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0" name="Group 124"/>
          <p:cNvGrpSpPr/>
          <p:nvPr/>
        </p:nvGrpSpPr>
        <p:grpSpPr>
          <a:xfrm>
            <a:off x="762000" y="4572000"/>
            <a:ext cx="3810000" cy="1828800"/>
            <a:chOff x="480" y="2880"/>
            <a:chExt cx="2400" cy="1152"/>
          </a:xfrm>
        </p:grpSpPr>
        <p:sp>
          <p:nvSpPr>
            <p:cNvPr id="95257" name="Line 122"/>
            <p:cNvSpPr/>
            <p:nvPr/>
          </p:nvSpPr>
          <p:spPr>
            <a:xfrm>
              <a:off x="480" y="2880"/>
              <a:ext cx="2400" cy="0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8" name="Text Box 123"/>
            <p:cNvSpPr txBox="1"/>
            <p:nvPr/>
          </p:nvSpPr>
          <p:spPr>
            <a:xfrm>
              <a:off x="2544" y="2880"/>
              <a:ext cx="336" cy="1152"/>
            </a:xfrm>
            <a:prstGeom prst="rect">
              <a:avLst/>
            </a:prstGeom>
            <a:noFill/>
            <a:ln w="127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118800" rIns="0"/>
            <a:lstStyle/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400" i="1" dirty="0">
                  <a:latin typeface="Arial" panose="020B0604020202020204" pitchFamily="34" charset="0"/>
                </a:rPr>
                <a:t> </a:t>
              </a:r>
              <a:r>
                <a:rPr lang="zh-CN" altLang="en-US" sz="24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前</a:t>
              </a:r>
              <a:endParaRPr lang="zh-CN" altLang="en-US" sz="24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4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4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个</a:t>
              </a:r>
              <a:endParaRPr lang="zh-CN" altLang="en-US" sz="24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4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码</a:t>
              </a:r>
              <a:endParaRPr lang="zh-CN" altLang="en-US" sz="24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32"/>
          <p:cNvGrpSpPr/>
          <p:nvPr/>
        </p:nvGrpSpPr>
        <p:grpSpPr>
          <a:xfrm>
            <a:off x="838200" y="2895600"/>
            <a:ext cx="4876800" cy="2057400"/>
            <a:chOff x="528" y="1824"/>
            <a:chExt cx="3072" cy="1296"/>
          </a:xfrm>
        </p:grpSpPr>
        <p:sp>
          <p:nvSpPr>
            <p:cNvPr id="95254" name="Line 126"/>
            <p:cNvSpPr/>
            <p:nvPr/>
          </p:nvSpPr>
          <p:spPr>
            <a:xfrm>
              <a:off x="576" y="1824"/>
              <a:ext cx="2976" cy="0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5" name="Line 127"/>
            <p:cNvSpPr/>
            <p:nvPr/>
          </p:nvSpPr>
          <p:spPr>
            <a:xfrm>
              <a:off x="528" y="3120"/>
              <a:ext cx="2976" cy="0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6" name="Text Box 130"/>
            <p:cNvSpPr txBox="1"/>
            <p:nvPr/>
          </p:nvSpPr>
          <p:spPr>
            <a:xfrm>
              <a:off x="3216" y="1824"/>
              <a:ext cx="384" cy="1296"/>
            </a:xfrm>
            <a:prstGeom prst="rect">
              <a:avLst/>
            </a:prstGeom>
            <a:noFill/>
            <a:ln w="127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118800" rIns="0"/>
            <a:lstStyle/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400" i="1" dirty="0">
                  <a:latin typeface="Arial" panose="020B0604020202020204" pitchFamily="34" charset="0"/>
                </a:rPr>
                <a:t> </a:t>
              </a: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前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后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各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5</a:t>
              </a:r>
              <a:endParaRPr lang="en-US" altLang="zh-CN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个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码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Group 135"/>
          <p:cNvGrpSpPr/>
          <p:nvPr/>
        </p:nvGrpSpPr>
        <p:grpSpPr>
          <a:xfrm>
            <a:off x="762000" y="2133600"/>
            <a:ext cx="8001000" cy="3505200"/>
            <a:chOff x="480" y="1344"/>
            <a:chExt cx="5040" cy="2208"/>
          </a:xfrm>
        </p:grpSpPr>
        <p:sp>
          <p:nvSpPr>
            <p:cNvPr id="95251" name="Text Box 131"/>
            <p:cNvSpPr txBox="1"/>
            <p:nvPr/>
          </p:nvSpPr>
          <p:spPr>
            <a:xfrm>
              <a:off x="5136" y="1344"/>
              <a:ext cx="384" cy="2208"/>
            </a:xfrm>
            <a:prstGeom prst="rect">
              <a:avLst/>
            </a:prstGeom>
            <a:noFill/>
            <a:ln w="127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118800" rIns="0"/>
            <a:lstStyle/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endParaRPr lang="en-US" altLang="zh-CN" sz="2400" i="1" dirty="0"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endParaRPr lang="en-US" altLang="zh-CN" sz="2400" i="1" dirty="0"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400" i="1" dirty="0">
                  <a:latin typeface="Arial" panose="020B0604020202020204" pitchFamily="34" charset="0"/>
                </a:rPr>
                <a:t> </a:t>
              </a:r>
              <a:endParaRPr lang="en-US" altLang="zh-CN" sz="2400" i="1" dirty="0"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中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间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个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  <a:p>
              <a:pPr marL="342900" indent="-342900" algn="ctr" fontAlgn="base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 i="1" dirty="0">
                  <a:solidFill>
                    <a:srgbClr val="FF9900"/>
                  </a:solidFill>
                  <a:latin typeface="Arial" panose="020B0604020202020204" pitchFamily="34" charset="0"/>
                </a:rPr>
                <a:t>码</a:t>
              </a:r>
              <a:endParaRPr lang="zh-CN" altLang="en-US" sz="2000" i="1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5252" name="Line 133"/>
            <p:cNvSpPr/>
            <p:nvPr/>
          </p:nvSpPr>
          <p:spPr>
            <a:xfrm flipH="1">
              <a:off x="480" y="3552"/>
              <a:ext cx="4944" cy="0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3" name="Line 134"/>
            <p:cNvSpPr/>
            <p:nvPr/>
          </p:nvSpPr>
          <p:spPr>
            <a:xfrm flipH="1">
              <a:off x="576" y="1344"/>
              <a:ext cx="4944" cy="0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480" name="AutoShape 136"/>
          <p:cNvSpPr/>
          <p:nvPr/>
        </p:nvSpPr>
        <p:spPr>
          <a:xfrm>
            <a:off x="8534400" y="6324600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noFill/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8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474663" y="698500"/>
            <a:ext cx="304990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2.4.2  </a:t>
            </a:r>
            <a:r>
              <a:rPr kumimoji="1" lang="zh-CN" altLang="en-US" sz="30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可靠性编码</a:t>
            </a:r>
            <a:endParaRPr kumimoji="1" lang="zh-CN" altLang="en-US" sz="3000" b="1" kern="1200" cap="none" spc="0" normalizeH="0" baseline="0" noProof="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Text Box 3"/>
          <p:cNvSpPr txBox="1"/>
          <p:nvPr/>
        </p:nvSpPr>
        <p:spPr>
          <a:xfrm>
            <a:off x="820738" y="1492250"/>
            <a:ext cx="7408862" cy="120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762000" fontAlgn="base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能减少错误，发现错误，甚至纠正错误的编码称为可靠性编码。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47838" y="3036888"/>
            <a:ext cx="4572000" cy="20320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格雷码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奇偶校验码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海明码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/>
          <p:nvPr/>
        </p:nvSpPr>
        <p:spPr>
          <a:xfrm>
            <a:off x="457200" y="2782888"/>
            <a:ext cx="2743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</a:rPr>
              <a:t>纠错的三个层次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97283" name="AutoShape 5"/>
          <p:cNvSpPr/>
          <p:nvPr/>
        </p:nvSpPr>
        <p:spPr>
          <a:xfrm>
            <a:off x="3352800" y="2097088"/>
            <a:ext cx="381000" cy="1828800"/>
          </a:xfrm>
          <a:prstGeom prst="leftBrace">
            <a:avLst>
              <a:gd name="adj1" fmla="val 4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7284" name="Rectangle 6"/>
          <p:cNvSpPr/>
          <p:nvPr/>
        </p:nvSpPr>
        <p:spPr>
          <a:xfrm>
            <a:off x="3810000" y="1944688"/>
            <a:ext cx="4800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</a:rPr>
              <a:t>编码本身不易出错→</a:t>
            </a:r>
            <a:r>
              <a:rPr lang="zh-CN" altLang="en-US" b="1" dirty="0">
                <a:solidFill>
                  <a:srgbClr val="FF9900"/>
                </a:solidFill>
                <a:latin typeface="Times New Roman" panose="02020603050405020304" pitchFamily="18" charset="0"/>
              </a:rPr>
              <a:t>格雷码</a:t>
            </a:r>
            <a:endParaRPr lang="zh-CN" altLang="en-US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5" name="Rectangle 7"/>
          <p:cNvSpPr/>
          <p:nvPr/>
        </p:nvSpPr>
        <p:spPr>
          <a:xfrm>
            <a:off x="3810000" y="2706688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</a:rPr>
              <a:t>出错能检查出来→</a:t>
            </a:r>
            <a:r>
              <a:rPr lang="zh-CN" altLang="en-US" b="1" dirty="0">
                <a:solidFill>
                  <a:srgbClr val="FF9900"/>
                </a:solidFill>
                <a:latin typeface="Times New Roman" panose="02020603050405020304" pitchFamily="18" charset="0"/>
              </a:rPr>
              <a:t>奇偶校验码</a:t>
            </a:r>
            <a:endParaRPr lang="zh-CN" altLang="en-US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7286" name="Rectangle 8"/>
          <p:cNvSpPr/>
          <p:nvPr/>
        </p:nvSpPr>
        <p:spPr>
          <a:xfrm>
            <a:off x="3810000" y="3468688"/>
            <a:ext cx="47244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</a:rPr>
              <a:t>检查并能纠错→</a:t>
            </a:r>
            <a:r>
              <a:rPr lang="zh-CN" altLang="en-US" b="1" dirty="0">
                <a:solidFill>
                  <a:srgbClr val="FF9900"/>
                </a:solidFill>
                <a:latin typeface="Times New Roman" panose="02020603050405020304" pitchFamily="18" charset="0"/>
              </a:rPr>
              <a:t>海明码</a:t>
            </a:r>
            <a:endParaRPr lang="zh-CN" altLang="en-US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7" name="Rectangle 9"/>
          <p:cNvSpPr/>
          <p:nvPr/>
        </p:nvSpPr>
        <p:spPr>
          <a:xfrm>
            <a:off x="2209800" y="4383088"/>
            <a:ext cx="47244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b="1" i="1" dirty="0">
                <a:latin typeface="Times New Roman" panose="02020603050405020304" pitchFamily="18" charset="0"/>
              </a:rPr>
              <a:t>纠错是以增加硬件为代价的</a:t>
            </a:r>
            <a:endParaRPr lang="zh-CN" altLang="en-US" b="1" i="1" dirty="0">
              <a:latin typeface="Times New Roman" panose="02020603050405020304" pitchFamily="18" charset="0"/>
            </a:endParaRPr>
          </a:p>
        </p:txBody>
      </p:sp>
      <p:sp>
        <p:nvSpPr>
          <p:cNvPr id="72714" name="AutoShape 10"/>
          <p:cNvSpPr/>
          <p:nvPr/>
        </p:nvSpPr>
        <p:spPr>
          <a:xfrm>
            <a:off x="8534400" y="6324600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noFill/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558800" y="698500"/>
            <a:ext cx="19700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一、格雷码</a:t>
            </a:r>
            <a:endParaRPr kumimoji="1" lang="zh-CN" altLang="en-US" b="1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Text Box 3"/>
          <p:cNvSpPr txBox="1"/>
          <p:nvPr/>
        </p:nvSpPr>
        <p:spPr>
          <a:xfrm>
            <a:off x="828675" y="1262063"/>
            <a:ext cx="7680325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6750" fontAlgn="base">
              <a:lnSpc>
                <a:spcPct val="125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在一组数的编码中，如果任意相邻的代码只有一位二进制数不同，即为格雷码。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062" name="Text Box 6"/>
          <p:cNvSpPr txBox="1"/>
          <p:nvPr/>
        </p:nvSpPr>
        <p:spPr>
          <a:xfrm>
            <a:off x="1571625" y="2517775"/>
            <a:ext cx="4806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典型二进制格雷码编码规则：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3111500" y="3138488"/>
            <a:ext cx="2836863" cy="1022350"/>
            <a:chOff x="1130" y="1944"/>
            <a:chExt cx="1787" cy="6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53" name="Object 8"/>
                <p:cNvSpPr txBox="1"/>
                <p:nvPr/>
              </p:nvSpPr>
              <p:spPr>
                <a:xfrm>
                  <a:off x="1390" y="1944"/>
                  <a:ext cx="1527" cy="35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7653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0" y="1944"/>
                  <a:ext cx="1527" cy="353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54" name="Object 9"/>
                <p:cNvSpPr txBox="1"/>
                <p:nvPr/>
              </p:nvSpPr>
              <p:spPr>
                <a:xfrm>
                  <a:off x="1337" y="2232"/>
                  <a:ext cx="1580" cy="35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7654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7" y="2232"/>
                  <a:ext cx="1580" cy="356"/>
                </a:xfrm>
                <a:prstGeom prst="rect">
                  <a:avLst/>
                </a:prstGeom>
                <a:blipFill rotWithShape="1">
                  <a:blip r:embed="rId2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672" name="AutoShape 10"/>
            <p:cNvSpPr/>
            <p:nvPr/>
          </p:nvSpPr>
          <p:spPr>
            <a:xfrm>
              <a:off x="1130" y="2071"/>
              <a:ext cx="207" cy="377"/>
            </a:xfrm>
            <a:prstGeom prst="leftBrace">
              <a:avLst>
                <a:gd name="adj1" fmla="val 15177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086" name="Text Box 30"/>
          <p:cNvSpPr txBox="1"/>
          <p:nvPr/>
        </p:nvSpPr>
        <p:spPr>
          <a:xfrm>
            <a:off x="1595438" y="4530725"/>
            <a:ext cx="3028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例：</a:t>
            </a:r>
            <a:r>
              <a:rPr lang="en-US" altLang="zh-CN" dirty="0">
                <a:latin typeface="Times New Roman" panose="02020603050405020304" pitchFamily="18" charset="0"/>
              </a:rPr>
              <a:t>13</a:t>
            </a:r>
            <a:r>
              <a:rPr lang="zh-CN" altLang="en-US" dirty="0">
                <a:latin typeface="Times New Roman" panose="02020603050405020304" pitchFamily="18" charset="0"/>
              </a:rPr>
              <a:t>的格雷码：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562474" y="4425950"/>
            <a:ext cx="1967901" cy="1373188"/>
            <a:chOff x="4562474" y="4425950"/>
            <a:chExt cx="1967901" cy="1373188"/>
          </a:xfrm>
        </p:grpSpPr>
        <p:grpSp>
          <p:nvGrpSpPr>
            <p:cNvPr id="5" name="Group 31"/>
            <p:cNvGrpSpPr/>
            <p:nvPr/>
          </p:nvGrpSpPr>
          <p:grpSpPr>
            <a:xfrm>
              <a:off x="4562474" y="4425950"/>
              <a:ext cx="1962150" cy="1373188"/>
              <a:chOff x="2047" y="2734"/>
              <a:chExt cx="1236" cy="865"/>
            </a:xfrm>
          </p:grpSpPr>
          <p:sp>
            <p:nvSpPr>
              <p:cNvPr id="27661" name="Text Box 15"/>
              <p:cNvSpPr txBox="1"/>
              <p:nvPr/>
            </p:nvSpPr>
            <p:spPr>
              <a:xfrm>
                <a:off x="2047" y="2734"/>
                <a:ext cx="1236" cy="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/>
                <a:r>
                  <a:rPr lang="en-US" altLang="zh-CN" dirty="0">
                    <a:latin typeface="Times New Roman" panose="02020603050405020304" pitchFamily="18" charset="0"/>
                  </a:rPr>
                  <a:t>1    1    0    1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fontAlgn="base"/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fontAlgn="base"/>
                <a:r>
                  <a:rPr lang="en-US" altLang="zh-CN" dirty="0">
                    <a:latin typeface="Times New Roman" panose="02020603050405020304" pitchFamily="18" charset="0"/>
                  </a:rPr>
                  <a:t>1    0    1    1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650" name="Object 12"/>
                  <p:cNvSpPr txBox="1"/>
                  <p:nvPr/>
                </p:nvSpPr>
                <p:spPr>
                  <a:xfrm>
                    <a:off x="2373" y="3047"/>
                    <a:ext cx="289" cy="31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925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7650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73" y="3047"/>
                    <a:ext cx="289" cy="314"/>
                  </a:xfrm>
                  <a:prstGeom prst="rect">
                    <a:avLst/>
                  </a:prstGeom>
                  <a:blipFill rotWithShape="1">
                    <a:blip r:embed="rId3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651" name="Object 13"/>
                  <p:cNvSpPr txBox="1"/>
                  <p:nvPr/>
                </p:nvSpPr>
                <p:spPr>
                  <a:xfrm>
                    <a:off x="2706" y="3048"/>
                    <a:ext cx="289" cy="31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925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7651" name="Object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06" y="3048"/>
                    <a:ext cx="289" cy="314"/>
                  </a:xfrm>
                  <a:prstGeom prst="rect">
                    <a:avLst/>
                  </a:prstGeom>
                  <a:blipFill rotWithShape="1">
                    <a:blip r:embed="rId3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662" name="Line 18"/>
              <p:cNvSpPr/>
              <p:nvPr/>
            </p:nvSpPr>
            <p:spPr>
              <a:xfrm>
                <a:off x="2873" y="2981"/>
                <a:ext cx="186" cy="13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3" name="Line 19"/>
              <p:cNvSpPr/>
              <p:nvPr/>
            </p:nvSpPr>
            <p:spPr>
              <a:xfrm>
                <a:off x="2533" y="2992"/>
                <a:ext cx="208" cy="15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4" name="Line 20"/>
              <p:cNvSpPr/>
              <p:nvPr/>
            </p:nvSpPr>
            <p:spPr>
              <a:xfrm>
                <a:off x="2182" y="3003"/>
                <a:ext cx="22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5" name="Line 21"/>
              <p:cNvSpPr/>
              <p:nvPr/>
            </p:nvSpPr>
            <p:spPr>
              <a:xfrm>
                <a:off x="2160" y="2992"/>
                <a:ext cx="0" cy="321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6" name="Line 22"/>
              <p:cNvSpPr/>
              <p:nvPr/>
            </p:nvSpPr>
            <p:spPr>
              <a:xfrm>
                <a:off x="2489" y="2981"/>
                <a:ext cx="22" cy="15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7" name="Line 23"/>
              <p:cNvSpPr/>
              <p:nvPr/>
            </p:nvSpPr>
            <p:spPr>
              <a:xfrm>
                <a:off x="2819" y="2981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8" name="Line 24"/>
              <p:cNvSpPr/>
              <p:nvPr/>
            </p:nvSpPr>
            <p:spPr>
              <a:xfrm>
                <a:off x="3158" y="2970"/>
                <a:ext cx="0" cy="15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9" name="Line 25"/>
              <p:cNvSpPr/>
              <p:nvPr/>
            </p:nvSpPr>
            <p:spPr>
              <a:xfrm>
                <a:off x="2511" y="3269"/>
                <a:ext cx="0" cy="122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0" name="Line 26"/>
              <p:cNvSpPr/>
              <p:nvPr/>
            </p:nvSpPr>
            <p:spPr>
              <a:xfrm>
                <a:off x="2829" y="3269"/>
                <a:ext cx="11" cy="122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1" name="Line 27"/>
              <p:cNvSpPr/>
              <p:nvPr/>
            </p:nvSpPr>
            <p:spPr>
              <a:xfrm>
                <a:off x="3147" y="3280"/>
                <a:ext cx="11" cy="99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Object 13"/>
                <p:cNvSpPr txBox="1"/>
                <p:nvPr/>
              </p:nvSpPr>
              <p:spPr>
                <a:xfrm>
                  <a:off x="6071587" y="4904299"/>
                  <a:ext cx="458788" cy="49847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1587" y="4904299"/>
                  <a:ext cx="458788" cy="498475"/>
                </a:xfrm>
                <a:prstGeom prst="rect">
                  <a:avLst/>
                </a:prstGeom>
                <a:blipFill rotWithShape="1">
                  <a:blip r:embed="rId3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/>
      <p:bldP spid="45062" grpId="0"/>
      <p:bldP spid="4508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表格 98305"/>
          <p:cNvGraphicFramePr/>
          <p:nvPr/>
        </p:nvGraphicFramePr>
        <p:xfrm>
          <a:off x="625475" y="463550"/>
          <a:ext cx="7808913" cy="6295520"/>
        </p:xfrm>
        <a:graphic>
          <a:graphicData uri="http://schemas.openxmlformats.org/drawingml/2006/table">
            <a:tbl>
              <a:tblPr/>
              <a:tblGrid>
                <a:gridCol w="1338263"/>
                <a:gridCol w="1397000"/>
                <a:gridCol w="1528762"/>
                <a:gridCol w="1982788"/>
                <a:gridCol w="1562100"/>
              </a:tblGrid>
              <a:tr h="36512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十进制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二进制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四元</a:t>
                      </a: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GREY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码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三元</a:t>
                      </a: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GREY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码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二元</a:t>
                      </a: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GREY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码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000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00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001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01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0011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011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11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3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0010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010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10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4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110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0111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111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0101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101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7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0100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100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8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1100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9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1101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1111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12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1010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13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1011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14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15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圆角矩形标注 20"/>
          <p:cNvSpPr/>
          <p:nvPr/>
        </p:nvSpPr>
        <p:spPr bwMode="auto">
          <a:xfrm>
            <a:off x="6218238" y="3582988"/>
            <a:ext cx="2452688" cy="1362075"/>
          </a:xfrm>
          <a:prstGeom prst="wedgeRoundRectCallout">
            <a:avLst>
              <a:gd name="adj1" fmla="val 8360"/>
              <a:gd name="adj2" fmla="val -13918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第一项改变最右边的码元，第二项改变右起第一个为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的码元左边的码元。。。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2819400" cy="5334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格雷码的特点：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9331" name="表格 99330"/>
          <p:cNvGraphicFramePr/>
          <p:nvPr/>
        </p:nvGraphicFramePr>
        <p:xfrm>
          <a:off x="5638800" y="152400"/>
          <a:ext cx="3100388" cy="6295520"/>
        </p:xfrm>
        <a:graphic>
          <a:graphicData uri="http://schemas.openxmlformats.org/drawingml/2006/table">
            <a:tbl>
              <a:tblPr/>
              <a:tblGrid>
                <a:gridCol w="973138"/>
                <a:gridCol w="1009650"/>
                <a:gridCol w="1117600"/>
              </a:tblGrid>
              <a:tr h="36512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十进制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二进制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GREY1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0 0 0 0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0 0 0 1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0 0 1 1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3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0 0 1 0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4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0 1 1 0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0 1 1 1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0 1 0 1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7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0 1 0 0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8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1 1 0 0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9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1 1 0 1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1 1 1 1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1 1 1 0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12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1 0 1 0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13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1 0 1 1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14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1 0 0 1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15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1 0 0 0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9405" name="Rectangle 116"/>
          <p:cNvSpPr/>
          <p:nvPr/>
        </p:nvSpPr>
        <p:spPr>
          <a:xfrm>
            <a:off x="457200" y="1143000"/>
            <a:ext cx="3200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fontAlgn="base"/>
            <a:r>
              <a:rPr lang="en-US" altLang="zh-CN" sz="3200" dirty="0">
                <a:latin typeface="Arial" panose="020B0604020202020204" pitchFamily="34" charset="0"/>
              </a:rPr>
              <a:t>⒈ </a:t>
            </a:r>
            <a:r>
              <a:rPr lang="zh-CN" altLang="en-US" sz="3200" dirty="0">
                <a:latin typeface="Arial" panose="020B0604020202020204" pitchFamily="34" charset="0"/>
              </a:rPr>
              <a:t>海明距离＝</a:t>
            </a:r>
            <a:r>
              <a:rPr lang="en-US" altLang="zh-CN" sz="3200" dirty="0">
                <a:latin typeface="Arial" panose="020B0604020202020204" pitchFamily="34" charset="0"/>
              </a:rPr>
              <a:t>1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99406" name="Rectangle 117"/>
          <p:cNvSpPr/>
          <p:nvPr/>
        </p:nvSpPr>
        <p:spPr>
          <a:xfrm>
            <a:off x="457200" y="1752600"/>
            <a:ext cx="4876800" cy="1524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fontAlgn="base"/>
            <a:r>
              <a:rPr lang="en-US" altLang="zh-CN" sz="3200" dirty="0">
                <a:latin typeface="Arial" panose="020B0604020202020204" pitchFamily="34" charset="0"/>
              </a:rPr>
              <a:t>⒉ </a:t>
            </a:r>
            <a:r>
              <a:rPr lang="zh-CN" altLang="en-US" sz="3200" dirty="0">
                <a:latin typeface="Arial" panose="020B0604020202020204" pitchFamily="34" charset="0"/>
              </a:rPr>
              <a:t>循环特性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fontAlgn="base"/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一定时最大数的第</a:t>
            </a:r>
            <a:r>
              <a:rPr lang="en-US" altLang="zh-CN" sz="2400" b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位为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，其余各位为</a:t>
            </a:r>
            <a:r>
              <a:rPr lang="en-US" altLang="zh-CN" sz="2400" b="1" dirty="0">
                <a:latin typeface="Arial" panose="020B0604020202020204" pitchFamily="34" charset="0"/>
              </a:rPr>
              <a:t>0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。  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99407" name="Rectangle 118"/>
          <p:cNvSpPr/>
          <p:nvPr/>
        </p:nvSpPr>
        <p:spPr>
          <a:xfrm>
            <a:off x="457200" y="3276600"/>
            <a:ext cx="4114800" cy="1295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fontAlgn="base"/>
            <a:r>
              <a:rPr lang="en-US" altLang="zh-CN" sz="3200" dirty="0">
                <a:latin typeface="Arial" panose="020B0604020202020204" pitchFamily="34" charset="0"/>
              </a:rPr>
              <a:t>⒊ </a:t>
            </a:r>
            <a:r>
              <a:rPr lang="zh-CN" altLang="en-US" sz="3200" dirty="0">
                <a:latin typeface="Arial" panose="020B0604020202020204" pitchFamily="34" charset="0"/>
              </a:rPr>
              <a:t>具有反射特性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fontAlgn="base"/>
            <a:r>
              <a:rPr lang="zh-CN" altLang="en-US" sz="2400" dirty="0">
                <a:latin typeface="Arial" panose="020B0604020202020204" pitchFamily="34" charset="0"/>
              </a:rPr>
              <a:t>    </a:t>
            </a: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位为反射位，以第</a:t>
            </a:r>
            <a:r>
              <a:rPr lang="en-US" altLang="zh-CN" sz="2400" b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位的</a:t>
            </a:r>
            <a:r>
              <a:rPr lang="en-US" altLang="zh-CN" sz="2400" b="1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交界处为轴上下对称。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99408" name="Rectangle 119"/>
          <p:cNvSpPr/>
          <p:nvPr/>
        </p:nvSpPr>
        <p:spPr>
          <a:xfrm>
            <a:off x="457200" y="4572000"/>
            <a:ext cx="4343400" cy="1828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fontAlgn="base"/>
            <a:r>
              <a:rPr lang="en-US" altLang="zh-CN" sz="3200" dirty="0">
                <a:latin typeface="Arial" panose="020B0604020202020204" pitchFamily="34" charset="0"/>
              </a:rPr>
              <a:t>⒋</a:t>
            </a:r>
            <a:r>
              <a:rPr lang="zh-CN" altLang="en-US" sz="2400" b="1" dirty="0">
                <a:latin typeface="Arial" panose="020B0604020202020204" pitchFamily="34" charset="0"/>
              </a:rPr>
              <a:t>一个</a:t>
            </a:r>
            <a:r>
              <a:rPr lang="en-US" altLang="zh-CN" sz="2400" b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位的格雷码，可由</a:t>
            </a:r>
            <a:r>
              <a:rPr lang="en-US" altLang="zh-CN" sz="2400" b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－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位格雷码产生。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fontAlgn="base"/>
            <a:r>
              <a:rPr lang="zh-CN" altLang="en-US" sz="2400" b="1" dirty="0">
                <a:latin typeface="Arial" panose="020B0604020202020204" pitchFamily="34" charset="0"/>
              </a:rPr>
              <a:t>方法：在</a:t>
            </a:r>
            <a:r>
              <a:rPr lang="en-US" altLang="zh-CN" sz="2400" b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－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位码前加</a:t>
            </a:r>
            <a:r>
              <a:rPr lang="en-US" altLang="zh-CN" sz="2400" b="1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，再作对称镜像。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2" name="Group 127"/>
          <p:cNvGrpSpPr/>
          <p:nvPr/>
        </p:nvGrpSpPr>
        <p:grpSpPr>
          <a:xfrm>
            <a:off x="3581400" y="1066800"/>
            <a:ext cx="4267200" cy="4038600"/>
            <a:chOff x="2256" y="720"/>
            <a:chExt cx="2688" cy="2544"/>
          </a:xfrm>
        </p:grpSpPr>
        <p:sp>
          <p:nvSpPr>
            <p:cNvPr id="99427" name="Rectangle 122"/>
            <p:cNvSpPr/>
            <p:nvPr/>
          </p:nvSpPr>
          <p:spPr>
            <a:xfrm>
              <a:off x="2256" y="720"/>
              <a:ext cx="76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/>
            <a:p>
              <a:pPr fontAlgn="base"/>
              <a:r>
                <a:rPr lang="zh-CN" altLang="en-US" sz="3200" i="1" dirty="0">
                  <a:latin typeface="Arial" panose="020B0604020202020204" pitchFamily="34" charset="0"/>
                </a:rPr>
                <a:t>例：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99428" name="Line 123"/>
            <p:cNvSpPr/>
            <p:nvPr/>
          </p:nvSpPr>
          <p:spPr>
            <a:xfrm>
              <a:off x="2688" y="960"/>
              <a:ext cx="2208" cy="192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29" name="Line 124"/>
            <p:cNvSpPr/>
            <p:nvPr/>
          </p:nvSpPr>
          <p:spPr>
            <a:xfrm>
              <a:off x="2688" y="960"/>
              <a:ext cx="2208" cy="432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30" name="Line 125"/>
            <p:cNvSpPr/>
            <p:nvPr/>
          </p:nvSpPr>
          <p:spPr>
            <a:xfrm>
              <a:off x="2688" y="960"/>
              <a:ext cx="2256" cy="2064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31" name="Line 126"/>
            <p:cNvSpPr/>
            <p:nvPr/>
          </p:nvSpPr>
          <p:spPr>
            <a:xfrm>
              <a:off x="2688" y="960"/>
              <a:ext cx="2256" cy="2304"/>
            </a:xfrm>
            <a:prstGeom prst="line">
              <a:avLst/>
            </a:prstGeom>
            <a:ln w="9525" cap="flat" cmpd="sng">
              <a:solidFill>
                <a:srgbClr val="33CC33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31"/>
          <p:cNvGrpSpPr/>
          <p:nvPr/>
        </p:nvGrpSpPr>
        <p:grpSpPr>
          <a:xfrm>
            <a:off x="2514600" y="762000"/>
            <a:ext cx="5334000" cy="5486400"/>
            <a:chOff x="1584" y="480"/>
            <a:chExt cx="3360" cy="3456"/>
          </a:xfrm>
        </p:grpSpPr>
        <p:sp>
          <p:nvSpPr>
            <p:cNvPr id="99425" name="Line 129"/>
            <p:cNvSpPr/>
            <p:nvPr/>
          </p:nvSpPr>
          <p:spPr>
            <a:xfrm flipV="1">
              <a:off x="1584" y="480"/>
              <a:ext cx="3312" cy="1440"/>
            </a:xfrm>
            <a:prstGeom prst="line">
              <a:avLst/>
            </a:prstGeom>
            <a:ln w="9525" cap="flat" cmpd="sng">
              <a:solidFill>
                <a:srgbClr val="FF0066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26" name="Line 130"/>
            <p:cNvSpPr/>
            <p:nvPr/>
          </p:nvSpPr>
          <p:spPr>
            <a:xfrm>
              <a:off x="1584" y="1920"/>
              <a:ext cx="3360" cy="2016"/>
            </a:xfrm>
            <a:prstGeom prst="line">
              <a:avLst/>
            </a:prstGeom>
            <a:ln w="9525" cap="flat" cmpd="sng">
              <a:solidFill>
                <a:srgbClr val="FF0066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40"/>
          <p:cNvGrpSpPr/>
          <p:nvPr/>
        </p:nvGrpSpPr>
        <p:grpSpPr>
          <a:xfrm>
            <a:off x="3505200" y="1981200"/>
            <a:ext cx="5257800" cy="2971800"/>
            <a:chOff x="2208" y="1248"/>
            <a:chExt cx="3312" cy="1872"/>
          </a:xfrm>
        </p:grpSpPr>
        <p:sp>
          <p:nvSpPr>
            <p:cNvPr id="99419" name="Rectangle 139"/>
            <p:cNvSpPr/>
            <p:nvPr/>
          </p:nvSpPr>
          <p:spPr>
            <a:xfrm>
              <a:off x="4800" y="1248"/>
              <a:ext cx="672" cy="240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9420" name="Rectangle 138"/>
            <p:cNvSpPr/>
            <p:nvPr/>
          </p:nvSpPr>
          <p:spPr>
            <a:xfrm>
              <a:off x="4800" y="2880"/>
              <a:ext cx="672" cy="240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9421" name="Rectangle 137"/>
            <p:cNvSpPr/>
            <p:nvPr/>
          </p:nvSpPr>
          <p:spPr>
            <a:xfrm>
              <a:off x="4800" y="1968"/>
              <a:ext cx="720" cy="43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99422" name="Group 134"/>
            <p:cNvGrpSpPr/>
            <p:nvPr/>
          </p:nvGrpSpPr>
          <p:grpSpPr>
            <a:xfrm>
              <a:off x="2208" y="2064"/>
              <a:ext cx="2736" cy="240"/>
              <a:chOff x="2208" y="2064"/>
              <a:chExt cx="2736" cy="240"/>
            </a:xfrm>
          </p:grpSpPr>
          <p:sp>
            <p:nvSpPr>
              <p:cNvPr id="99423" name="Line 132"/>
              <p:cNvSpPr/>
              <p:nvPr/>
            </p:nvSpPr>
            <p:spPr>
              <a:xfrm flipV="1">
                <a:off x="2208" y="2064"/>
                <a:ext cx="2688" cy="192"/>
              </a:xfrm>
              <a:prstGeom prst="line">
                <a:avLst/>
              </a:prstGeom>
              <a:ln w="9525" cap="flat" cmpd="sng">
                <a:solidFill>
                  <a:srgbClr val="000099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24" name="Line 133"/>
              <p:cNvSpPr/>
              <p:nvPr/>
            </p:nvSpPr>
            <p:spPr>
              <a:xfrm>
                <a:off x="2208" y="2256"/>
                <a:ext cx="2736" cy="48"/>
              </a:xfrm>
              <a:prstGeom prst="line">
                <a:avLst/>
              </a:prstGeom>
              <a:ln w="9525" cap="flat" cmpd="sng">
                <a:solidFill>
                  <a:srgbClr val="000099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148"/>
          <p:cNvGrpSpPr/>
          <p:nvPr/>
        </p:nvGrpSpPr>
        <p:grpSpPr>
          <a:xfrm>
            <a:off x="3048000" y="533400"/>
            <a:ext cx="5638800" cy="5943600"/>
            <a:chOff x="672" y="240"/>
            <a:chExt cx="3552" cy="3744"/>
          </a:xfrm>
        </p:grpSpPr>
        <p:grpSp>
          <p:nvGrpSpPr>
            <p:cNvPr id="99414" name="Group 147"/>
            <p:cNvGrpSpPr/>
            <p:nvPr/>
          </p:nvGrpSpPr>
          <p:grpSpPr>
            <a:xfrm>
              <a:off x="3648" y="240"/>
              <a:ext cx="576" cy="3744"/>
              <a:chOff x="3648" y="240"/>
              <a:chExt cx="576" cy="3744"/>
            </a:xfrm>
          </p:grpSpPr>
          <p:sp>
            <p:nvSpPr>
              <p:cNvPr id="99416" name="Rectangle 143"/>
              <p:cNvSpPr/>
              <p:nvPr/>
            </p:nvSpPr>
            <p:spPr>
              <a:xfrm>
                <a:off x="3648" y="2016"/>
                <a:ext cx="576" cy="1968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9525">
                <a:noFill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417" name="Rectangle 142"/>
              <p:cNvSpPr/>
              <p:nvPr/>
            </p:nvSpPr>
            <p:spPr>
              <a:xfrm>
                <a:off x="3648" y="240"/>
                <a:ext cx="144" cy="1824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9525">
                <a:noFill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418" name="Rectangle 141"/>
              <p:cNvSpPr/>
              <p:nvPr/>
            </p:nvSpPr>
            <p:spPr>
              <a:xfrm>
                <a:off x="3792" y="240"/>
                <a:ext cx="432" cy="1824"/>
              </a:xfrm>
              <a:prstGeom prst="rect">
                <a:avLst/>
              </a:prstGeom>
              <a:solidFill>
                <a:srgbClr val="FFCCFF">
                  <a:alpha val="50195"/>
                </a:srgbClr>
              </a:solidFill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9415" name="Line 145"/>
            <p:cNvSpPr/>
            <p:nvPr/>
          </p:nvSpPr>
          <p:spPr>
            <a:xfrm flipV="1">
              <a:off x="672" y="2400"/>
              <a:ext cx="2928" cy="912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圆角矩形标注 30"/>
          <p:cNvSpPr/>
          <p:nvPr/>
        </p:nvSpPr>
        <p:spPr bwMode="auto">
          <a:xfrm>
            <a:off x="2862263" y="139700"/>
            <a:ext cx="2689225" cy="1022350"/>
          </a:xfrm>
          <a:prstGeom prst="wedgeRoundRectCallout">
            <a:avLst>
              <a:gd name="adj1" fmla="val -70599"/>
              <a:gd name="adj2" fmla="val 6487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两个码字的对应比特取值不同的比特数称为这两个码字的海明距离。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9" name="Group 3"/>
          <p:cNvGrpSpPr/>
          <p:nvPr/>
        </p:nvGrpSpPr>
        <p:grpSpPr>
          <a:xfrm>
            <a:off x="2514600" y="1143000"/>
            <a:ext cx="2836863" cy="1063625"/>
            <a:chOff x="1130" y="1944"/>
            <a:chExt cx="1787" cy="67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77" name="Object 5"/>
                <p:cNvSpPr txBox="1"/>
                <p:nvPr/>
              </p:nvSpPr>
              <p:spPr>
                <a:xfrm>
                  <a:off x="1390" y="1944"/>
                  <a:ext cx="1527" cy="35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8677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0" y="1944"/>
                  <a:ext cx="1527" cy="353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78" name="Object 6"/>
                <p:cNvSpPr txBox="1"/>
                <p:nvPr/>
              </p:nvSpPr>
              <p:spPr>
                <a:xfrm>
                  <a:off x="1370" y="2261"/>
                  <a:ext cx="1527" cy="35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867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0" y="2261"/>
                  <a:ext cx="1527" cy="353"/>
                </a:xfrm>
                <a:prstGeom prst="rect">
                  <a:avLst/>
                </a:prstGeom>
                <a:blipFill rotWithShape="1">
                  <a:blip r:embed="rId2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702" name="AutoShape 6"/>
            <p:cNvSpPr/>
            <p:nvPr/>
          </p:nvSpPr>
          <p:spPr>
            <a:xfrm>
              <a:off x="1130" y="2071"/>
              <a:ext cx="207" cy="377"/>
            </a:xfrm>
            <a:prstGeom prst="leftBrace">
              <a:avLst>
                <a:gd name="adj1" fmla="val 15177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680" name="Text Box 8"/>
          <p:cNvSpPr txBox="1"/>
          <p:nvPr/>
        </p:nvSpPr>
        <p:spPr>
          <a:xfrm>
            <a:off x="990600" y="2514600"/>
            <a:ext cx="44942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zh-CN" altLang="en-US" dirty="0">
                <a:latin typeface="Times New Roman" panose="02020603050405020304" pitchFamily="18" charset="0"/>
              </a:rPr>
              <a:t>例：</a:t>
            </a:r>
            <a:r>
              <a:rPr lang="en-US" altLang="zh-CN" dirty="0">
                <a:latin typeface="Times New Roman" panose="02020603050405020304" pitchFamily="18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</a:rPr>
              <a:t>的典型格雷码为 </a:t>
            </a:r>
            <a:r>
              <a:rPr lang="en-US" altLang="zh-CN" dirty="0">
                <a:latin typeface="Times New Roman" panose="02020603050405020304" pitchFamily="18" charset="0"/>
              </a:rPr>
              <a:t>0100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681" name="Rectangle 54"/>
          <p:cNvSpPr>
            <a:spLocks noGrp="1"/>
          </p:cNvSpPr>
          <p:nvPr>
            <p:ph type="title" idx="4294967295"/>
          </p:nvPr>
        </p:nvSpPr>
        <p:spPr>
          <a:xfrm>
            <a:off x="304800" y="457200"/>
            <a:ext cx="7162800" cy="6858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典型二进制格雷码转换成二进制数的方法：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81975" name="Text Box 55"/>
          <p:cNvSpPr txBox="1"/>
          <p:nvPr/>
        </p:nvSpPr>
        <p:spPr>
          <a:xfrm>
            <a:off x="2362200" y="3276600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base"/>
            <a:r>
              <a:rPr lang="en-US" altLang="zh-CN" dirty="0">
                <a:latin typeface="Times New Roman" panose="02020603050405020304" pitchFamily="18" charset="0"/>
              </a:rPr>
              <a:t>( 0     1     0     0)</a:t>
            </a:r>
            <a:r>
              <a:rPr lang="en-US" altLang="zh-CN" baseline="-25000" dirty="0">
                <a:latin typeface="Times New Roman" panose="02020603050405020304" pitchFamily="18" charset="0"/>
              </a:rPr>
              <a:t>G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80"/>
          <p:cNvGrpSpPr/>
          <p:nvPr/>
        </p:nvGrpSpPr>
        <p:grpSpPr>
          <a:xfrm>
            <a:off x="2590800" y="3810000"/>
            <a:ext cx="361950" cy="1509713"/>
            <a:chOff x="1056" y="2400"/>
            <a:chExt cx="228" cy="951"/>
          </a:xfrm>
        </p:grpSpPr>
        <p:sp>
          <p:nvSpPr>
            <p:cNvPr id="28700" name="Line 57"/>
            <p:cNvSpPr/>
            <p:nvPr/>
          </p:nvSpPr>
          <p:spPr>
            <a:xfrm>
              <a:off x="1152" y="2400"/>
              <a:ext cx="0" cy="62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1" name="Text Box 58"/>
            <p:cNvSpPr txBox="1"/>
            <p:nvPr/>
          </p:nvSpPr>
          <p:spPr>
            <a:xfrm>
              <a:off x="1056" y="302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81"/>
          <p:cNvGrpSpPr/>
          <p:nvPr/>
        </p:nvGrpSpPr>
        <p:grpSpPr>
          <a:xfrm>
            <a:off x="2895600" y="3810000"/>
            <a:ext cx="765175" cy="1509713"/>
            <a:chOff x="1824" y="2400"/>
            <a:chExt cx="482" cy="9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76" name="Object 4"/>
                <p:cNvSpPr txBox="1"/>
                <p:nvPr/>
              </p:nvSpPr>
              <p:spPr>
                <a:xfrm>
                  <a:off x="2062" y="2614"/>
                  <a:ext cx="244" cy="26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867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" y="2614"/>
                  <a:ext cx="244" cy="269"/>
                </a:xfrm>
                <a:prstGeom prst="rect">
                  <a:avLst/>
                </a:prstGeom>
                <a:blipFill rotWithShape="1">
                  <a:blip r:embed="rId3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696" name="Line 61"/>
            <p:cNvSpPr/>
            <p:nvPr/>
          </p:nvSpPr>
          <p:spPr>
            <a:xfrm flipV="1">
              <a:off x="1824" y="2832"/>
              <a:ext cx="288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7" name="Line 62"/>
            <p:cNvSpPr/>
            <p:nvPr/>
          </p:nvSpPr>
          <p:spPr>
            <a:xfrm>
              <a:off x="2160" y="240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8" name="Line 63"/>
            <p:cNvSpPr/>
            <p:nvPr/>
          </p:nvSpPr>
          <p:spPr>
            <a:xfrm>
              <a:off x="2160" y="2880"/>
              <a:ext cx="0" cy="17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9" name="Text Box 64"/>
            <p:cNvSpPr txBox="1"/>
            <p:nvPr/>
          </p:nvSpPr>
          <p:spPr>
            <a:xfrm>
              <a:off x="2064" y="302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1997" name="Text Box 77"/>
          <p:cNvSpPr txBox="1"/>
          <p:nvPr/>
        </p:nvSpPr>
        <p:spPr>
          <a:xfrm>
            <a:off x="5029200" y="3200400"/>
            <a:ext cx="21447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en-US" altLang="zh-CN" sz="3200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(0  1  1  1 )</a:t>
            </a:r>
            <a:r>
              <a:rPr lang="en-US" altLang="zh-CN" baseline="-25000" dirty="0">
                <a:latin typeface="Times New Roman" panose="02020603050405020304" pitchFamily="18" charset="0"/>
              </a:rPr>
              <a:t>B</a:t>
            </a:r>
            <a:endParaRPr lang="en-US" altLang="zh-CN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7" name="Group 82"/>
          <p:cNvGrpSpPr/>
          <p:nvPr/>
        </p:nvGrpSpPr>
        <p:grpSpPr>
          <a:xfrm>
            <a:off x="3505200" y="3810000"/>
            <a:ext cx="765175" cy="1509713"/>
            <a:chOff x="1824" y="2400"/>
            <a:chExt cx="482" cy="9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75" name="Object 3"/>
                <p:cNvSpPr txBox="1"/>
                <p:nvPr/>
              </p:nvSpPr>
              <p:spPr>
                <a:xfrm>
                  <a:off x="2062" y="2614"/>
                  <a:ext cx="244" cy="26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8675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" y="2614"/>
                  <a:ext cx="244" cy="269"/>
                </a:xfrm>
                <a:prstGeom prst="rect">
                  <a:avLst/>
                </a:prstGeom>
                <a:blipFill rotWithShape="1">
                  <a:blip r:embed="rId3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692" name="Line 84"/>
            <p:cNvSpPr/>
            <p:nvPr/>
          </p:nvSpPr>
          <p:spPr>
            <a:xfrm flipV="1">
              <a:off x="1824" y="2832"/>
              <a:ext cx="288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85"/>
            <p:cNvSpPr/>
            <p:nvPr/>
          </p:nvSpPr>
          <p:spPr>
            <a:xfrm>
              <a:off x="2160" y="240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Line 86"/>
            <p:cNvSpPr/>
            <p:nvPr/>
          </p:nvSpPr>
          <p:spPr>
            <a:xfrm>
              <a:off x="2160" y="2880"/>
              <a:ext cx="0" cy="17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5" name="Text Box 87"/>
            <p:cNvSpPr txBox="1"/>
            <p:nvPr/>
          </p:nvSpPr>
          <p:spPr>
            <a:xfrm>
              <a:off x="2064" y="302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114800" y="3810000"/>
            <a:ext cx="742950" cy="1509713"/>
            <a:chOff x="4114800" y="3810000"/>
            <a:chExt cx="742950" cy="1509713"/>
          </a:xfrm>
        </p:grpSpPr>
        <p:grpSp>
          <p:nvGrpSpPr>
            <p:cNvPr id="9" name="Group 88"/>
            <p:cNvGrpSpPr/>
            <p:nvPr/>
          </p:nvGrpSpPr>
          <p:grpSpPr>
            <a:xfrm>
              <a:off x="4114800" y="3810000"/>
              <a:ext cx="742950" cy="1509713"/>
              <a:chOff x="1824" y="2400"/>
              <a:chExt cx="468" cy="951"/>
            </a:xfrm>
          </p:grpSpPr>
          <p:sp>
            <p:nvSpPr>
              <p:cNvPr id="28688" name="Line 90"/>
              <p:cNvSpPr/>
              <p:nvPr/>
            </p:nvSpPr>
            <p:spPr>
              <a:xfrm flipV="1">
                <a:off x="1824" y="2832"/>
                <a:ext cx="288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89" name="Line 91"/>
              <p:cNvSpPr/>
              <p:nvPr/>
            </p:nvSpPr>
            <p:spPr>
              <a:xfrm>
                <a:off x="2160" y="2400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0" name="Line 92"/>
              <p:cNvSpPr/>
              <p:nvPr/>
            </p:nvSpPr>
            <p:spPr>
              <a:xfrm>
                <a:off x="2160" y="2880"/>
                <a:ext cx="0" cy="17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1" name="Text Box 93"/>
              <p:cNvSpPr txBox="1"/>
              <p:nvPr/>
            </p:nvSpPr>
            <p:spPr>
              <a:xfrm>
                <a:off x="2064" y="3024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/>
                <a:r>
                  <a:rPr lang="en-US" altLang="zh-CN" dirty="0">
                    <a:latin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Object 3"/>
                <p:cNvSpPr txBox="1"/>
                <p:nvPr/>
              </p:nvSpPr>
              <p:spPr>
                <a:xfrm>
                  <a:off x="4397732" y="4146857"/>
                  <a:ext cx="387350" cy="42703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4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7732" y="4146857"/>
                  <a:ext cx="387350" cy="427038"/>
                </a:xfrm>
                <a:prstGeom prst="rect">
                  <a:avLst/>
                </a:prstGeom>
                <a:blipFill rotWithShape="1">
                  <a:blip r:embed="rId3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5" grpId="0"/>
      <p:bldP spid="8199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4876800" cy="762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步进码的形成：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00355" name="Text Box 4"/>
          <p:cNvSpPr txBox="1"/>
          <p:nvPr/>
        </p:nvSpPr>
        <p:spPr>
          <a:xfrm>
            <a:off x="1371600" y="1295400"/>
            <a:ext cx="50292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例：由</a:t>
            </a:r>
            <a:r>
              <a:rPr lang="en-US" altLang="zh-CN" dirty="0">
                <a:latin typeface="Times New Roman" panose="02020603050405020304" pitchFamily="18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</a:rPr>
              <a:t>的步进码：</a:t>
            </a:r>
            <a:r>
              <a:rPr lang="en-US" altLang="zh-CN" dirty="0">
                <a:latin typeface="Times New Roman" panose="02020603050405020304" pitchFamily="18" charset="0"/>
              </a:rPr>
              <a:t>11100 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产生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的步进码：</a:t>
            </a:r>
            <a:r>
              <a:rPr lang="en-US" altLang="zh-CN" dirty="0">
                <a:latin typeface="Times New Roman" panose="02020603050405020304" pitchFamily="18" charset="0"/>
              </a:rPr>
              <a:t>11000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4"/>
          <p:cNvGrpSpPr/>
          <p:nvPr/>
        </p:nvGrpSpPr>
        <p:grpSpPr>
          <a:xfrm>
            <a:off x="990600" y="2590800"/>
            <a:ext cx="4983163" cy="557213"/>
            <a:chOff x="183" y="1972"/>
            <a:chExt cx="3139" cy="351"/>
          </a:xfrm>
        </p:grpSpPr>
        <p:sp>
          <p:nvSpPr>
            <p:cNvPr id="100423" name="AutoShape 55"/>
            <p:cNvSpPr/>
            <p:nvPr/>
          </p:nvSpPr>
          <p:spPr>
            <a:xfrm rot="-5400000">
              <a:off x="2509" y="1510"/>
              <a:ext cx="129" cy="1496"/>
            </a:xfrm>
            <a:prstGeom prst="rightBrace">
              <a:avLst>
                <a:gd name="adj1" fmla="val 9664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00424" name="AutoShape 56"/>
            <p:cNvCxnSpPr>
              <a:stCxn id="100423" idx="1"/>
            </p:cNvCxnSpPr>
            <p:nvPr/>
          </p:nvCxnSpPr>
          <p:spPr>
            <a:xfrm rot="5400000" flipH="1">
              <a:off x="1850" y="1470"/>
              <a:ext cx="64" cy="1384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sp>
          <p:nvSpPr>
            <p:cNvPr id="100425" name="Text Box 57"/>
            <p:cNvSpPr txBox="1"/>
            <p:nvPr/>
          </p:nvSpPr>
          <p:spPr>
            <a:xfrm>
              <a:off x="183" y="1972"/>
              <a:ext cx="1012" cy="327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</a:rPr>
                <a:t>左移一位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11"/>
          <p:cNvGrpSpPr/>
          <p:nvPr/>
        </p:nvGrpSpPr>
        <p:grpSpPr>
          <a:xfrm>
            <a:off x="609600" y="3200400"/>
            <a:ext cx="5662613" cy="528638"/>
            <a:chOff x="384" y="2016"/>
            <a:chExt cx="3567" cy="333"/>
          </a:xfrm>
        </p:grpSpPr>
        <p:sp>
          <p:nvSpPr>
            <p:cNvPr id="100403" name="Text Box 31"/>
            <p:cNvSpPr txBox="1"/>
            <p:nvPr/>
          </p:nvSpPr>
          <p:spPr>
            <a:xfrm>
              <a:off x="384" y="2016"/>
              <a:ext cx="1104" cy="333"/>
            </a:xfrm>
            <a:prstGeom prst="rect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“7”</a:t>
              </a:r>
              <a:r>
                <a:rPr lang="zh-CN" altLang="en-US" dirty="0">
                  <a:latin typeface="Times New Roman" panose="02020603050405020304" pitchFamily="18" charset="0"/>
                </a:rPr>
                <a:t>步进码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0404" name="Group 109"/>
            <p:cNvGrpSpPr/>
            <p:nvPr/>
          </p:nvGrpSpPr>
          <p:grpSpPr>
            <a:xfrm>
              <a:off x="1776" y="2016"/>
              <a:ext cx="2175" cy="293"/>
              <a:chOff x="1776" y="2016"/>
              <a:chExt cx="2175" cy="293"/>
            </a:xfrm>
          </p:grpSpPr>
          <p:sp>
            <p:nvSpPr>
              <p:cNvPr id="100405" name="Rectangle 38"/>
              <p:cNvSpPr/>
              <p:nvPr/>
            </p:nvSpPr>
            <p:spPr>
              <a:xfrm>
                <a:off x="3596" y="2016"/>
                <a:ext cx="3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0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0406" name="Rectangle 39"/>
              <p:cNvSpPr/>
              <p:nvPr/>
            </p:nvSpPr>
            <p:spPr>
              <a:xfrm>
                <a:off x="3242" y="2016"/>
                <a:ext cx="35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0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0407" name="Rectangle 40"/>
              <p:cNvSpPr/>
              <p:nvPr/>
            </p:nvSpPr>
            <p:spPr>
              <a:xfrm>
                <a:off x="2898" y="2016"/>
                <a:ext cx="3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1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0408" name="Rectangle 41"/>
              <p:cNvSpPr/>
              <p:nvPr/>
            </p:nvSpPr>
            <p:spPr>
              <a:xfrm>
                <a:off x="2544" y="2016"/>
                <a:ext cx="35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1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0409" name="Rectangle 42"/>
              <p:cNvSpPr/>
              <p:nvPr/>
            </p:nvSpPr>
            <p:spPr>
              <a:xfrm>
                <a:off x="2208" y="2016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1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0410" name="Line 43"/>
              <p:cNvSpPr/>
              <p:nvPr/>
            </p:nvSpPr>
            <p:spPr>
              <a:xfrm>
                <a:off x="2208" y="2016"/>
                <a:ext cx="1743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1" name="Line 44"/>
              <p:cNvSpPr/>
              <p:nvPr/>
            </p:nvSpPr>
            <p:spPr>
              <a:xfrm>
                <a:off x="2208" y="2304"/>
                <a:ext cx="1743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2" name="Line 45"/>
              <p:cNvSpPr/>
              <p:nvPr/>
            </p:nvSpPr>
            <p:spPr>
              <a:xfrm>
                <a:off x="2208" y="2016"/>
                <a:ext cx="0" cy="288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3" name="Line 46"/>
              <p:cNvSpPr/>
              <p:nvPr/>
            </p:nvSpPr>
            <p:spPr>
              <a:xfrm>
                <a:off x="2544" y="2016"/>
                <a:ext cx="0" cy="28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4" name="Line 47"/>
              <p:cNvSpPr/>
              <p:nvPr/>
            </p:nvSpPr>
            <p:spPr>
              <a:xfrm>
                <a:off x="2898" y="2016"/>
                <a:ext cx="0" cy="28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5" name="Line 48"/>
              <p:cNvSpPr/>
              <p:nvPr/>
            </p:nvSpPr>
            <p:spPr>
              <a:xfrm>
                <a:off x="3242" y="2016"/>
                <a:ext cx="0" cy="28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6" name="Line 49"/>
              <p:cNvSpPr/>
              <p:nvPr/>
            </p:nvSpPr>
            <p:spPr>
              <a:xfrm>
                <a:off x="3596" y="2016"/>
                <a:ext cx="0" cy="28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7" name="Line 51"/>
              <p:cNvSpPr/>
              <p:nvPr/>
            </p:nvSpPr>
            <p:spPr>
              <a:xfrm>
                <a:off x="3951" y="2016"/>
                <a:ext cx="0" cy="288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8" name="Rectangle 59"/>
              <p:cNvSpPr/>
              <p:nvPr/>
            </p:nvSpPr>
            <p:spPr>
              <a:xfrm>
                <a:off x="1776" y="2016"/>
                <a:ext cx="303" cy="2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 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0419" name="Line 60"/>
              <p:cNvSpPr/>
              <p:nvPr/>
            </p:nvSpPr>
            <p:spPr>
              <a:xfrm>
                <a:off x="1776" y="2016"/>
                <a:ext cx="303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20" name="Line 61"/>
              <p:cNvSpPr/>
              <p:nvPr/>
            </p:nvSpPr>
            <p:spPr>
              <a:xfrm>
                <a:off x="1776" y="2309"/>
                <a:ext cx="303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21" name="Line 62"/>
              <p:cNvSpPr/>
              <p:nvPr/>
            </p:nvSpPr>
            <p:spPr>
              <a:xfrm>
                <a:off x="1776" y="2016"/>
                <a:ext cx="0" cy="293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22" name="Line 63"/>
              <p:cNvSpPr/>
              <p:nvPr/>
            </p:nvSpPr>
            <p:spPr>
              <a:xfrm>
                <a:off x="2079" y="2016"/>
                <a:ext cx="0" cy="293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108"/>
          <p:cNvGrpSpPr/>
          <p:nvPr/>
        </p:nvGrpSpPr>
        <p:grpSpPr>
          <a:xfrm>
            <a:off x="2819400" y="3886200"/>
            <a:ext cx="3429000" cy="457200"/>
            <a:chOff x="1776" y="2448"/>
            <a:chExt cx="2160" cy="288"/>
          </a:xfrm>
        </p:grpSpPr>
        <p:sp>
          <p:nvSpPr>
            <p:cNvPr id="100385" name="Rectangle 65"/>
            <p:cNvSpPr/>
            <p:nvPr/>
          </p:nvSpPr>
          <p:spPr>
            <a:xfrm>
              <a:off x="1776" y="2448"/>
              <a:ext cx="30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 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86" name="Line 66"/>
            <p:cNvSpPr/>
            <p:nvPr/>
          </p:nvSpPr>
          <p:spPr>
            <a:xfrm>
              <a:off x="1776" y="2448"/>
              <a:ext cx="303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7" name="Line 67"/>
            <p:cNvSpPr/>
            <p:nvPr/>
          </p:nvSpPr>
          <p:spPr>
            <a:xfrm>
              <a:off x="1776" y="2736"/>
              <a:ext cx="303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8" name="Line 68"/>
            <p:cNvSpPr/>
            <p:nvPr/>
          </p:nvSpPr>
          <p:spPr>
            <a:xfrm>
              <a:off x="1776" y="2448"/>
              <a:ext cx="0" cy="28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9" name="Line 69"/>
            <p:cNvSpPr/>
            <p:nvPr/>
          </p:nvSpPr>
          <p:spPr>
            <a:xfrm>
              <a:off x="2079" y="2448"/>
              <a:ext cx="0" cy="28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0" name="Rectangle 72"/>
            <p:cNvSpPr/>
            <p:nvPr/>
          </p:nvSpPr>
          <p:spPr>
            <a:xfrm>
              <a:off x="3596" y="2448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endParaRPr lang="zh-CN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91" name="Rectangle 73"/>
            <p:cNvSpPr/>
            <p:nvPr/>
          </p:nvSpPr>
          <p:spPr>
            <a:xfrm>
              <a:off x="3242" y="2448"/>
              <a:ext cx="3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0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92" name="Rectangle 74"/>
            <p:cNvSpPr/>
            <p:nvPr/>
          </p:nvSpPr>
          <p:spPr>
            <a:xfrm>
              <a:off x="2898" y="2448"/>
              <a:ext cx="3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0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93" name="Rectangle 75"/>
            <p:cNvSpPr/>
            <p:nvPr/>
          </p:nvSpPr>
          <p:spPr>
            <a:xfrm>
              <a:off x="2544" y="2448"/>
              <a:ext cx="3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94" name="Rectangle 76"/>
            <p:cNvSpPr/>
            <p:nvPr/>
          </p:nvSpPr>
          <p:spPr>
            <a:xfrm>
              <a:off x="2208" y="244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95" name="Line 77"/>
            <p:cNvSpPr/>
            <p:nvPr/>
          </p:nvSpPr>
          <p:spPr>
            <a:xfrm>
              <a:off x="2208" y="2448"/>
              <a:ext cx="172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6" name="Line 78"/>
            <p:cNvSpPr/>
            <p:nvPr/>
          </p:nvSpPr>
          <p:spPr>
            <a:xfrm>
              <a:off x="2208" y="2736"/>
              <a:ext cx="172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7" name="Line 79"/>
            <p:cNvSpPr/>
            <p:nvPr/>
          </p:nvSpPr>
          <p:spPr>
            <a:xfrm>
              <a:off x="2208" y="2448"/>
              <a:ext cx="0" cy="28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8" name="Line 80"/>
            <p:cNvSpPr/>
            <p:nvPr/>
          </p:nvSpPr>
          <p:spPr>
            <a:xfrm>
              <a:off x="2544" y="2448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99" name="Line 81"/>
            <p:cNvSpPr/>
            <p:nvPr/>
          </p:nvSpPr>
          <p:spPr>
            <a:xfrm>
              <a:off x="2898" y="2448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0" name="Line 82"/>
            <p:cNvSpPr/>
            <p:nvPr/>
          </p:nvSpPr>
          <p:spPr>
            <a:xfrm>
              <a:off x="3242" y="2448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1" name="Line 83"/>
            <p:cNvSpPr/>
            <p:nvPr/>
          </p:nvSpPr>
          <p:spPr>
            <a:xfrm>
              <a:off x="3596" y="2448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02" name="Line 84"/>
            <p:cNvSpPr/>
            <p:nvPr/>
          </p:nvSpPr>
          <p:spPr>
            <a:xfrm>
              <a:off x="3936" y="2448"/>
              <a:ext cx="0" cy="28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12"/>
          <p:cNvGrpSpPr/>
          <p:nvPr/>
        </p:nvGrpSpPr>
        <p:grpSpPr>
          <a:xfrm>
            <a:off x="3048000" y="3733800"/>
            <a:ext cx="5314950" cy="1219200"/>
            <a:chOff x="1920" y="2352"/>
            <a:chExt cx="3348" cy="768"/>
          </a:xfrm>
        </p:grpSpPr>
        <p:sp>
          <p:nvSpPr>
            <p:cNvPr id="100375" name="Text Box 32"/>
            <p:cNvSpPr txBox="1"/>
            <p:nvPr/>
          </p:nvSpPr>
          <p:spPr>
            <a:xfrm>
              <a:off x="4704" y="2352"/>
              <a:ext cx="564" cy="327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</a:rPr>
                <a:t>取反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00376" name="AutoShape 33"/>
            <p:cNvCxnSpPr/>
            <p:nvPr/>
          </p:nvCxnSpPr>
          <p:spPr>
            <a:xfrm flipV="1">
              <a:off x="2976" y="2688"/>
              <a:ext cx="2029" cy="380"/>
            </a:xfrm>
            <a:prstGeom prst="curvedConnector2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cxnSp>
        <p:grpSp>
          <p:nvGrpSpPr>
            <p:cNvPr id="100377" name="Group 107"/>
            <p:cNvGrpSpPr/>
            <p:nvPr/>
          </p:nvGrpSpPr>
          <p:grpSpPr>
            <a:xfrm>
              <a:off x="1920" y="2736"/>
              <a:ext cx="1941" cy="384"/>
              <a:chOff x="1920" y="2736"/>
              <a:chExt cx="1941" cy="384"/>
            </a:xfrm>
          </p:grpSpPr>
          <p:cxnSp>
            <p:nvCxnSpPr>
              <p:cNvPr id="100378" name="AutoShape 23"/>
              <p:cNvCxnSpPr/>
              <p:nvPr/>
            </p:nvCxnSpPr>
            <p:spPr>
              <a:xfrm>
                <a:off x="1920" y="2736"/>
                <a:ext cx="720" cy="240"/>
              </a:xfrm>
              <a:prstGeom prst="bentConnector3">
                <a:avLst>
                  <a:gd name="adj1" fmla="val -833"/>
                </a:avLst>
              </a:prstGeom>
              <a:ln w="9525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cxnSp>
          <p:cxnSp>
            <p:nvCxnSpPr>
              <p:cNvPr id="100379" name="AutoShape 30"/>
              <p:cNvCxnSpPr/>
              <p:nvPr/>
            </p:nvCxnSpPr>
            <p:spPr>
              <a:xfrm flipV="1">
                <a:off x="2976" y="2736"/>
                <a:ext cx="885" cy="244"/>
              </a:xfrm>
              <a:prstGeom prst="bentConnector2">
                <a:avLst/>
              </a:prstGeom>
              <a:ln w="9525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cxnSp>
          <p:sp>
            <p:nvSpPr>
              <p:cNvPr id="100380" name="Rectangle 87"/>
              <p:cNvSpPr/>
              <p:nvPr/>
            </p:nvSpPr>
            <p:spPr>
              <a:xfrm>
                <a:off x="2640" y="2832"/>
                <a:ext cx="288" cy="288"/>
              </a:xfrm>
              <a:prstGeom prst="rect">
                <a:avLst/>
              </a:prstGeom>
              <a:noFill/>
              <a:ln w="9525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dirty="0">
                    <a:latin typeface="Arial" panose="020B0604020202020204" pitchFamily="34" charset="0"/>
                  </a:rPr>
                  <a:t> 0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0381" name="Line 88"/>
              <p:cNvSpPr/>
              <p:nvPr/>
            </p:nvSpPr>
            <p:spPr>
              <a:xfrm>
                <a:off x="2640" y="2832"/>
                <a:ext cx="288" cy="0"/>
              </a:xfrm>
              <a:prstGeom prst="line">
                <a:avLst/>
              </a:prstGeom>
              <a:ln w="28575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82" name="Line 89"/>
              <p:cNvSpPr/>
              <p:nvPr/>
            </p:nvSpPr>
            <p:spPr>
              <a:xfrm>
                <a:off x="2640" y="3120"/>
                <a:ext cx="288" cy="0"/>
              </a:xfrm>
              <a:prstGeom prst="line">
                <a:avLst/>
              </a:prstGeom>
              <a:ln w="28575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83" name="Line 90"/>
              <p:cNvSpPr/>
              <p:nvPr/>
            </p:nvSpPr>
            <p:spPr>
              <a:xfrm>
                <a:off x="2640" y="2832"/>
                <a:ext cx="0" cy="288"/>
              </a:xfrm>
              <a:prstGeom prst="line">
                <a:avLst/>
              </a:prstGeom>
              <a:ln w="28575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84" name="Line 91"/>
              <p:cNvSpPr/>
              <p:nvPr/>
            </p:nvSpPr>
            <p:spPr>
              <a:xfrm>
                <a:off x="2928" y="2832"/>
                <a:ext cx="0" cy="288"/>
              </a:xfrm>
              <a:prstGeom prst="line">
                <a:avLst/>
              </a:prstGeom>
              <a:ln w="28575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110"/>
          <p:cNvGrpSpPr/>
          <p:nvPr/>
        </p:nvGrpSpPr>
        <p:grpSpPr>
          <a:xfrm>
            <a:off x="609600" y="5181600"/>
            <a:ext cx="5662613" cy="528638"/>
            <a:chOff x="384" y="3264"/>
            <a:chExt cx="3567" cy="333"/>
          </a:xfrm>
        </p:grpSpPr>
        <p:sp>
          <p:nvSpPr>
            <p:cNvPr id="100361" name="Rectangle 7"/>
            <p:cNvSpPr/>
            <p:nvPr/>
          </p:nvSpPr>
          <p:spPr>
            <a:xfrm>
              <a:off x="3596" y="3264"/>
              <a:ext cx="3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0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62" name="Rectangle 8"/>
            <p:cNvSpPr/>
            <p:nvPr/>
          </p:nvSpPr>
          <p:spPr>
            <a:xfrm>
              <a:off x="3242" y="3264"/>
              <a:ext cx="3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0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63" name="Rectangle 9"/>
            <p:cNvSpPr/>
            <p:nvPr/>
          </p:nvSpPr>
          <p:spPr>
            <a:xfrm>
              <a:off x="2898" y="3264"/>
              <a:ext cx="3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0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64" name="Rectangle 10"/>
            <p:cNvSpPr/>
            <p:nvPr/>
          </p:nvSpPr>
          <p:spPr>
            <a:xfrm>
              <a:off x="2544" y="3264"/>
              <a:ext cx="3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65" name="Rectangle 11"/>
            <p:cNvSpPr/>
            <p:nvPr/>
          </p:nvSpPr>
          <p:spPr>
            <a:xfrm>
              <a:off x="2208" y="326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dirty="0">
                  <a:latin typeface="Arial" panose="020B0604020202020204" pitchFamily="34" charset="0"/>
                </a:rPr>
                <a:t>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100366" name="Line 12"/>
            <p:cNvSpPr/>
            <p:nvPr/>
          </p:nvSpPr>
          <p:spPr>
            <a:xfrm>
              <a:off x="2208" y="3264"/>
              <a:ext cx="1743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7" name="Line 13"/>
            <p:cNvSpPr/>
            <p:nvPr/>
          </p:nvSpPr>
          <p:spPr>
            <a:xfrm>
              <a:off x="2208" y="3552"/>
              <a:ext cx="1743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8" name="Line 14"/>
            <p:cNvSpPr/>
            <p:nvPr/>
          </p:nvSpPr>
          <p:spPr>
            <a:xfrm>
              <a:off x="2208" y="3264"/>
              <a:ext cx="0" cy="28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9" name="Line 15"/>
            <p:cNvSpPr/>
            <p:nvPr/>
          </p:nvSpPr>
          <p:spPr>
            <a:xfrm>
              <a:off x="2544" y="3264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0" name="Line 16"/>
            <p:cNvSpPr/>
            <p:nvPr/>
          </p:nvSpPr>
          <p:spPr>
            <a:xfrm>
              <a:off x="2898" y="3264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1" name="Line 17"/>
            <p:cNvSpPr/>
            <p:nvPr/>
          </p:nvSpPr>
          <p:spPr>
            <a:xfrm>
              <a:off x="3242" y="3264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2" name="Line 18"/>
            <p:cNvSpPr/>
            <p:nvPr/>
          </p:nvSpPr>
          <p:spPr>
            <a:xfrm>
              <a:off x="3596" y="3264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3" name="Line 20"/>
            <p:cNvSpPr/>
            <p:nvPr/>
          </p:nvSpPr>
          <p:spPr>
            <a:xfrm>
              <a:off x="3951" y="3264"/>
              <a:ext cx="0" cy="28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4" name="Text Box 97"/>
            <p:cNvSpPr txBox="1"/>
            <p:nvPr/>
          </p:nvSpPr>
          <p:spPr>
            <a:xfrm>
              <a:off x="384" y="3264"/>
              <a:ext cx="1104" cy="333"/>
            </a:xfrm>
            <a:prstGeom prst="rect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“8”</a:t>
              </a:r>
              <a:r>
                <a:rPr lang="zh-CN" altLang="en-US" dirty="0">
                  <a:latin typeface="Times New Roman" panose="02020603050405020304" pitchFamily="18" charset="0"/>
                </a:rPr>
                <a:t>步进码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2" name="表格 102401"/>
          <p:cNvGraphicFramePr/>
          <p:nvPr/>
        </p:nvGraphicFramePr>
        <p:xfrm>
          <a:off x="625475" y="463550"/>
          <a:ext cx="6096000" cy="6295520"/>
        </p:xfrm>
        <a:graphic>
          <a:graphicData uri="http://schemas.openxmlformats.org/drawingml/2006/table">
            <a:tbl>
              <a:tblPr/>
              <a:tblGrid>
                <a:gridCol w="1044575"/>
                <a:gridCol w="1090613"/>
                <a:gridCol w="1193800"/>
                <a:gridCol w="1547812"/>
                <a:gridCol w="1219200"/>
              </a:tblGrid>
              <a:tr h="36512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十进制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二进制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GREY1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步进码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GREY2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00000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00001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0011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00011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0011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3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0011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0010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00111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0010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4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01111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0111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11111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0101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11110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1010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7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0111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0100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11100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1011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8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1100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11000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9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1101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6B03E9"/>
                          </a:solidFill>
                          <a:latin typeface="Arial" panose="020B0604020202020204" pitchFamily="34" charset="0"/>
                        </a:rPr>
                        <a:t>10000</a:t>
                      </a:r>
                      <a:endParaRPr lang="en-US" altLang="zh-CN" sz="1800" dirty="0">
                        <a:solidFill>
                          <a:srgbClr val="6B03E9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1800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1111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1011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12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1100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1010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13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1101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1011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14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1110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15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 marL="90000" marR="90000" marT="46800" marB="4680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</a:rPr>
                        <a:t>1111</a:t>
                      </a:r>
                      <a:endParaRPr lang="en-US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rgbClr val="FF6600"/>
                          </a:solidFill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1800" dirty="0">
                        <a:solidFill>
                          <a:srgbClr val="FF66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6249" name="AutoShape 297"/>
          <p:cNvSpPr/>
          <p:nvPr/>
        </p:nvSpPr>
        <p:spPr>
          <a:xfrm>
            <a:off x="6788150" y="2439988"/>
            <a:ext cx="80963" cy="420687"/>
          </a:xfrm>
          <a:prstGeom prst="rightBrace">
            <a:avLst>
              <a:gd name="adj1" fmla="val 43300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250" name="AutoShape 298"/>
          <p:cNvSpPr/>
          <p:nvPr/>
        </p:nvSpPr>
        <p:spPr>
          <a:xfrm>
            <a:off x="6819900" y="2084388"/>
            <a:ext cx="287338" cy="1090612"/>
          </a:xfrm>
          <a:prstGeom prst="rightBrace">
            <a:avLst>
              <a:gd name="adj1" fmla="val 31629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251" name="AutoShape 299"/>
          <p:cNvSpPr/>
          <p:nvPr/>
        </p:nvSpPr>
        <p:spPr>
          <a:xfrm>
            <a:off x="7135813" y="958850"/>
            <a:ext cx="311150" cy="3359150"/>
          </a:xfrm>
          <a:prstGeom prst="rightBrace">
            <a:avLst>
              <a:gd name="adj1" fmla="val 89965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252" name="AutoShape 300"/>
          <p:cNvSpPr/>
          <p:nvPr/>
        </p:nvSpPr>
        <p:spPr>
          <a:xfrm>
            <a:off x="3673475" y="3546475"/>
            <a:ext cx="100013" cy="509588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 cap="flat" cmpd="sng">
            <a:solidFill>
              <a:srgbClr val="CC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253" name="AutoShape 301"/>
          <p:cNvSpPr/>
          <p:nvPr/>
        </p:nvSpPr>
        <p:spPr>
          <a:xfrm>
            <a:off x="3763963" y="3232150"/>
            <a:ext cx="187325" cy="1090613"/>
          </a:xfrm>
          <a:prstGeom prst="rightBrace">
            <a:avLst>
              <a:gd name="adj1" fmla="val 48516"/>
              <a:gd name="adj2" fmla="val 50000"/>
            </a:avLst>
          </a:prstGeom>
          <a:noFill/>
          <a:ln w="9525" cap="flat" cmpd="sng">
            <a:solidFill>
              <a:srgbClr val="CC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257" name="AutoShape 305"/>
          <p:cNvSpPr/>
          <p:nvPr/>
        </p:nvSpPr>
        <p:spPr>
          <a:xfrm>
            <a:off x="4029075" y="981075"/>
            <a:ext cx="239713" cy="5503863"/>
          </a:xfrm>
          <a:prstGeom prst="rightBrace">
            <a:avLst>
              <a:gd name="adj1" fmla="val 191335"/>
              <a:gd name="adj2" fmla="val 50000"/>
            </a:avLst>
          </a:prstGeom>
          <a:noFill/>
          <a:ln w="9525" cap="flat" cmpd="sng">
            <a:solidFill>
              <a:srgbClr val="CC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376" name="Line 424"/>
          <p:cNvSpPr/>
          <p:nvPr/>
        </p:nvSpPr>
        <p:spPr>
          <a:xfrm flipV="1">
            <a:off x="4308475" y="1438275"/>
            <a:ext cx="3182938" cy="2303463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377" name="Line 425"/>
          <p:cNvSpPr/>
          <p:nvPr/>
        </p:nvSpPr>
        <p:spPr>
          <a:xfrm flipV="1">
            <a:off x="7473950" y="1525588"/>
            <a:ext cx="193675" cy="1073150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378" name="Text Box 426"/>
          <p:cNvSpPr txBox="1"/>
          <p:nvPr/>
        </p:nvSpPr>
        <p:spPr>
          <a:xfrm>
            <a:off x="7539038" y="941388"/>
            <a:ext cx="904875" cy="528637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FFFF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反射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379" name="AutoShape 427"/>
          <p:cNvSpPr/>
          <p:nvPr/>
        </p:nvSpPr>
        <p:spPr>
          <a:xfrm>
            <a:off x="2884488" y="981075"/>
            <a:ext cx="204787" cy="1160463"/>
          </a:xfrm>
          <a:prstGeom prst="leftBrace">
            <a:avLst>
              <a:gd name="adj1" fmla="val 47222"/>
              <a:gd name="adj2" fmla="val 50000"/>
            </a:avLst>
          </a:prstGeom>
          <a:noFill/>
          <a:ln w="9525" cap="flat" cmpd="sng">
            <a:solidFill>
              <a:srgbClr val="CC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380" name="AutoShape 428"/>
          <p:cNvSpPr/>
          <p:nvPr/>
        </p:nvSpPr>
        <p:spPr>
          <a:xfrm>
            <a:off x="2762250" y="979488"/>
            <a:ext cx="169863" cy="2586037"/>
          </a:xfrm>
          <a:prstGeom prst="leftBrace">
            <a:avLst>
              <a:gd name="adj1" fmla="val 126868"/>
              <a:gd name="adj2" fmla="val 50000"/>
            </a:avLst>
          </a:prstGeom>
          <a:noFill/>
          <a:ln w="9525" cap="flat" cmpd="sng">
            <a:solidFill>
              <a:srgbClr val="CC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381" name="AutoShape 429"/>
          <p:cNvSpPr/>
          <p:nvPr/>
        </p:nvSpPr>
        <p:spPr>
          <a:xfrm>
            <a:off x="2551113" y="996950"/>
            <a:ext cx="220662" cy="5381625"/>
          </a:xfrm>
          <a:prstGeom prst="leftBrace">
            <a:avLst>
              <a:gd name="adj1" fmla="val 203237"/>
              <a:gd name="adj2" fmla="val 50000"/>
            </a:avLst>
          </a:prstGeom>
          <a:noFill/>
          <a:ln w="9525" cap="flat" cmpd="sng">
            <a:solidFill>
              <a:srgbClr val="CC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384" name="AutoShape 432"/>
          <p:cNvSpPr/>
          <p:nvPr/>
        </p:nvSpPr>
        <p:spPr>
          <a:xfrm>
            <a:off x="5556250" y="998538"/>
            <a:ext cx="223838" cy="3376612"/>
          </a:xfrm>
          <a:prstGeom prst="leftBrace">
            <a:avLst>
              <a:gd name="adj1" fmla="val 125708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126388" name="AutoShape 436"/>
          <p:cNvCxnSpPr/>
          <p:nvPr/>
        </p:nvCxnSpPr>
        <p:spPr>
          <a:xfrm>
            <a:off x="5591175" y="2687638"/>
            <a:ext cx="2444750" cy="1425575"/>
          </a:xfrm>
          <a:prstGeom prst="curvedConnector3">
            <a:avLst>
              <a:gd name="adj1" fmla="val 50000"/>
            </a:avLst>
          </a:prstGeom>
          <a:ln w="9525" cap="flat" cmpd="sng">
            <a:solidFill>
              <a:srgbClr val="99CCF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6389" name="AutoShape 437"/>
          <p:cNvCxnSpPr>
            <a:stCxn id="126381" idx="1"/>
          </p:cNvCxnSpPr>
          <p:nvPr/>
        </p:nvCxnSpPr>
        <p:spPr>
          <a:xfrm rot="10800000" flipH="1" flipV="1">
            <a:off x="2551113" y="3687763"/>
            <a:ext cx="5432425" cy="757237"/>
          </a:xfrm>
          <a:prstGeom prst="curvedConnector5">
            <a:avLst>
              <a:gd name="adj1" fmla="val -676"/>
              <a:gd name="adj2" fmla="val 206708"/>
              <a:gd name="adj3" fmla="val 52019"/>
            </a:avLst>
          </a:prstGeom>
          <a:ln w="9525" cap="flat" cmpd="sng">
            <a:solidFill>
              <a:srgbClr val="99CCFF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26390" name="Text Box 438"/>
          <p:cNvSpPr txBox="1"/>
          <p:nvPr/>
        </p:nvSpPr>
        <p:spPr>
          <a:xfrm>
            <a:off x="8050213" y="3983038"/>
            <a:ext cx="904875" cy="528637"/>
          </a:xfrm>
          <a:prstGeom prst="rect">
            <a:avLst/>
          </a:prstGeom>
          <a:solidFill>
            <a:srgbClr val="FFCC99"/>
          </a:solidFill>
          <a:ln w="9525" cap="flat" cmpd="sng">
            <a:solidFill>
              <a:srgbClr val="FFCC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循环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528" name="Text Box 439"/>
          <p:cNvSpPr txBox="1"/>
          <p:nvPr/>
        </p:nvSpPr>
        <p:spPr>
          <a:xfrm>
            <a:off x="7170738" y="4879975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126393" name="Text Box 441"/>
          <p:cNvSpPr txBox="1"/>
          <p:nvPr/>
        </p:nvSpPr>
        <p:spPr>
          <a:xfrm>
            <a:off x="6826250" y="4986338"/>
            <a:ext cx="2317750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格雷码应用：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CC6600"/>
                </a:solidFill>
                <a:latin typeface="Times New Roman" panose="02020603050405020304" pitchFamily="18" charset="0"/>
              </a:rPr>
              <a:t>循环计数</a:t>
            </a:r>
            <a:endParaRPr lang="zh-CN" altLang="en-US" b="1" dirty="0">
              <a:solidFill>
                <a:srgbClr val="CC66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2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5" dur="2000" fill="hold"/>
                                        <p:tgtEl>
                                          <p:spTgt spid="126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6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6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6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6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6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6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6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6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2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6" dur="2000" fill="hold"/>
                                        <p:tgtEl>
                                          <p:spTgt spid="1263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2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05" dur="2000" fill="hold"/>
                                        <p:tgtEl>
                                          <p:spTgt spid="12639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249" grpId="0" animBg="1"/>
      <p:bldP spid="126250" grpId="0" animBg="1"/>
      <p:bldP spid="126251" grpId="0" animBg="1"/>
      <p:bldP spid="126252" grpId="0" animBg="1"/>
      <p:bldP spid="126253" grpId="0" animBg="1"/>
      <p:bldP spid="126257" grpId="0" animBg="1"/>
      <p:bldP spid="126378" grpId="0" animBg="1"/>
      <p:bldP spid="126378" grpId="1" animBg="1"/>
      <p:bldP spid="126379" grpId="0" animBg="1"/>
      <p:bldP spid="126380" grpId="0" animBg="1"/>
      <p:bldP spid="126381" grpId="0" animBg="1"/>
      <p:bldP spid="126384" grpId="0" animBg="1"/>
      <p:bldP spid="126390" grpId="0" animBg="1"/>
      <p:bldP spid="126390" grpId="1" animBg="1"/>
      <p:bldP spid="126393" grpId="0"/>
      <p:bldP spid="126393" grpId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473075" y="723900"/>
            <a:ext cx="26955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二、奇偶校验码</a:t>
            </a:r>
            <a:endParaRPr kumimoji="1" lang="zh-CN" altLang="en-US" b="1" kern="1200" cap="none" spc="0" normalizeH="0" baseline="0" noProof="0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5" name="Text Box 3"/>
          <p:cNvSpPr txBox="1"/>
          <p:nvPr/>
        </p:nvSpPr>
        <p:spPr>
          <a:xfrm>
            <a:off x="698500" y="1311275"/>
            <a:ext cx="7993063" cy="418370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666750" fontAlgn="base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由信息位和校验位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冗余部分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两部分组成。校验位的取值可使整个校验码中的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的个数按事先的规完成为奇数（称为奇校验）或偶数（称为偶校验）。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666750" fontAlgn="base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一般对任何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位二进制位，只增加一位检验位，便可构成</a:t>
            </a:r>
            <a:r>
              <a:rPr lang="en-US" altLang="zh-CN" dirty="0">
                <a:latin typeface="Times New Roman" panose="02020603050405020304" pitchFamily="18" charset="0"/>
              </a:rPr>
              <a:t>(n+1)</a:t>
            </a:r>
            <a:r>
              <a:rPr lang="zh-CN" altLang="en-US" dirty="0">
                <a:latin typeface="Times New Roman" panose="02020603050405020304" pitchFamily="18" charset="0"/>
              </a:rPr>
              <a:t>位奇或偶校验码。设奇偶校验码为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…C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P,</a:t>
            </a:r>
            <a:r>
              <a:rPr lang="zh-CN" altLang="en-US" dirty="0">
                <a:latin typeface="Times New Roman" panose="02020603050405020304" pitchFamily="18" charset="0"/>
              </a:rPr>
              <a:t>则检验位可表示成：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666750"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                                                                                   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698" name="Object 4"/>
              <p:cNvSpPr txBox="1"/>
              <p:nvPr/>
            </p:nvSpPr>
            <p:spPr>
              <a:xfrm>
                <a:off x="1450975" y="5016347"/>
                <a:ext cx="3994150" cy="5365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⊕…⊕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69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975" y="5016347"/>
                <a:ext cx="3994150" cy="536575"/>
              </a:xfrm>
              <a:prstGeom prst="rect">
                <a:avLst/>
              </a:prstGeom>
              <a:blipFill rotWithShape="1">
                <a:blip r:embed="rId1"/>
                <a:stretch>
                  <a:fillRect t="-90" b="90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699" name="Object 5"/>
              <p:cNvSpPr txBox="1"/>
              <p:nvPr/>
            </p:nvSpPr>
            <p:spPr>
              <a:xfrm>
                <a:off x="1431925" y="5543397"/>
                <a:ext cx="4530725" cy="5365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⊕…⊕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69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925" y="5543397"/>
                <a:ext cx="4530725" cy="536575"/>
              </a:xfrm>
              <a:prstGeom prst="rect">
                <a:avLst/>
              </a:prstGeom>
              <a:blipFill rotWithShape="1">
                <a:blip r:embed="rId2"/>
                <a:stretch>
                  <a:fillRect t="-90" b="90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4696828" y="4914363"/>
            <a:ext cx="3688047" cy="559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66750" fontAlgn="base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偶校验码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  或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22138" y="5490213"/>
            <a:ext cx="2117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奇校验码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  <p:bldP spid="29698" grpId="0"/>
      <p:bldP spid="29699" grpId="0"/>
      <p:bldP spid="7" grpId="0"/>
      <p:bldP spid="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/>
          <p:nvPr/>
        </p:nvSpPr>
        <p:spPr>
          <a:xfrm>
            <a:off x="457200" y="1460500"/>
            <a:ext cx="80772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b="1" dirty="0">
                <a:latin typeface="Times New Roman" panose="02020603050405020304" pitchFamily="18" charset="0"/>
              </a:rPr>
              <a:t>⑴</a:t>
            </a:r>
            <a:r>
              <a:rPr lang="zh-CN" altLang="en-US" b="1" dirty="0">
                <a:latin typeface="Times New Roman" panose="02020603050405020304" pitchFamily="18" charset="0"/>
              </a:rPr>
              <a:t>组成</a:t>
            </a:r>
            <a:r>
              <a:rPr lang="en-US" altLang="zh-CN" b="1" dirty="0">
                <a:latin typeface="Times New Roman" panose="02020603050405020304" pitchFamily="18" charset="0"/>
              </a:rPr>
              <a:t>:  </a:t>
            </a:r>
            <a:r>
              <a:rPr lang="zh-CN" altLang="en-US" b="1" dirty="0">
                <a:latin typeface="Times New Roman" panose="02020603050405020304" pitchFamily="18" charset="0"/>
              </a:rPr>
              <a:t>信息位＋校验位（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位）＝奇偶校验码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103427" name="Group 11"/>
          <p:cNvGrpSpPr/>
          <p:nvPr/>
        </p:nvGrpSpPr>
        <p:grpSpPr>
          <a:xfrm>
            <a:off x="1371600" y="2070100"/>
            <a:ext cx="5715000" cy="1143000"/>
            <a:chOff x="768" y="1488"/>
            <a:chExt cx="3600" cy="720"/>
          </a:xfrm>
        </p:grpSpPr>
        <p:sp>
          <p:nvSpPr>
            <p:cNvPr id="103429" name="Rectangle 8"/>
            <p:cNvSpPr/>
            <p:nvPr/>
          </p:nvSpPr>
          <p:spPr>
            <a:xfrm>
              <a:off x="768" y="1584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rIns="0"/>
            <a:lstStyle/>
            <a:p>
              <a:pPr marL="342900" indent="-342900" eaLnBrk="0" fontAlgn="base" hangingPunct="0"/>
              <a:r>
                <a:rPr lang="zh-CN" altLang="en-US" b="1" dirty="0">
                  <a:latin typeface="Times New Roman" panose="02020603050405020304" pitchFamily="18" charset="0"/>
                </a:rPr>
                <a:t>码中：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3430" name="Rectangle 9"/>
            <p:cNvSpPr/>
            <p:nvPr/>
          </p:nvSpPr>
          <p:spPr>
            <a:xfrm>
              <a:off x="1392" y="1488"/>
              <a:ext cx="2976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0" fontAlgn="base" hangingPunct="0"/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b="1" dirty="0">
                  <a:latin typeface="Times New Roman" panose="02020603050405020304" pitchFamily="18" charset="0"/>
                </a:rPr>
                <a:t>的个数为</a:t>
              </a:r>
              <a:r>
                <a:rPr lang="zh-CN" altLang="en-US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奇</a:t>
              </a:r>
              <a:r>
                <a:rPr lang="zh-CN" altLang="en-US" b="1" dirty="0">
                  <a:latin typeface="Times New Roman" panose="02020603050405020304" pitchFamily="18" charset="0"/>
                </a:rPr>
                <a:t>数→奇校验码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pPr marL="342900" indent="-342900" eaLnBrk="0" fontAlgn="base" hangingPunct="0"/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b="1" dirty="0">
                  <a:latin typeface="Times New Roman" panose="02020603050405020304" pitchFamily="18" charset="0"/>
                </a:rPr>
                <a:t>的个数为</a:t>
              </a:r>
              <a:r>
                <a:rPr lang="zh-CN" altLang="en-US" b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偶</a:t>
              </a:r>
              <a:r>
                <a:rPr lang="zh-CN" altLang="en-US" b="1" dirty="0">
                  <a:latin typeface="Times New Roman" panose="02020603050405020304" pitchFamily="18" charset="0"/>
                </a:rPr>
                <a:t>数→偶校验码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5855" name="Text Box 79"/>
          <p:cNvSpPr txBox="1"/>
          <p:nvPr/>
        </p:nvSpPr>
        <p:spPr>
          <a:xfrm>
            <a:off x="1162050" y="3289300"/>
            <a:ext cx="6667500" cy="2278063"/>
          </a:xfrm>
          <a:prstGeom prst="rect">
            <a:avLst/>
          </a:prstGeom>
          <a:noFill/>
          <a:ln w="9525" cap="flat" cmpd="sng">
            <a:solidFill>
              <a:srgbClr val="33CC33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indent="666750" fontAlgn="base">
              <a:lnSpc>
                <a:spcPct val="17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由信息位和校验位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冗余部分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两部分组成。校验位的取值可使整个校验码中的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的个数按事先的规完成为奇数或偶数。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9" name="Rectangle 2"/>
          <p:cNvSpPr>
            <a:spLocks noGrp="1"/>
          </p:cNvSpPr>
          <p:nvPr>
            <p:ph type="title"/>
          </p:nvPr>
        </p:nvSpPr>
        <p:spPr>
          <a:xfrm>
            <a:off x="-1" y="762000"/>
            <a:ext cx="3942273" cy="7620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sz="2800" b="1" dirty="0">
                <a:latin typeface="Times New Roman" panose="02020603050405020304" pitchFamily="18" charset="0"/>
              </a:rPr>
              <a:t>⑵ </a:t>
            </a:r>
            <a:r>
              <a:rPr lang="zh-CN" altLang="en-US" sz="2800" b="1" dirty="0">
                <a:latin typeface="Times New Roman" panose="02020603050405020304" pitchFamily="18" charset="0"/>
              </a:rPr>
              <a:t>简单的奇偶校验码：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30" name="表格 30729"/>
          <p:cNvGraphicFramePr/>
          <p:nvPr/>
        </p:nvGraphicFramePr>
        <p:xfrm>
          <a:off x="3657600" y="838200"/>
          <a:ext cx="4953000" cy="5475288"/>
        </p:xfrm>
        <a:graphic>
          <a:graphicData uri="http://schemas.openxmlformats.org/drawingml/2006/table">
            <a:tbl>
              <a:tblPr/>
              <a:tblGrid>
                <a:gridCol w="457200"/>
                <a:gridCol w="1214438"/>
                <a:gridCol w="461962"/>
                <a:gridCol w="457200"/>
                <a:gridCol w="1143000"/>
                <a:gridCol w="1219200"/>
              </a:tblGrid>
              <a:tr h="460375">
                <a:tc rowSpan="2"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数码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Times New Roman" panose="02020603050405020304" pitchFamily="18" charset="0"/>
                        </a:rPr>
                        <a:t>信息位</a:t>
                      </a:r>
                      <a:endParaRPr lang="zh-CN" altLang="en-US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校验位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奇校验码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Arial" panose="020B0604020202020204" pitchFamily="34" charset="0"/>
                        </a:rPr>
                        <a:t>偶校验码</a:t>
                      </a:r>
                      <a:endParaRPr lang="zh-CN" altLang="en-US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 vMerge="1"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8421BCD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Times New Roman" panose="02020603050405020304" pitchFamily="18" charset="0"/>
                        </a:rPr>
                        <a:t>奇</a:t>
                      </a:r>
                      <a:endParaRPr lang="zh-CN" altLang="en-US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 dirty="0">
                          <a:latin typeface="Times New Roman" panose="02020603050405020304" pitchFamily="18" charset="0"/>
                        </a:rPr>
                        <a:t>偶</a:t>
                      </a:r>
                      <a:endParaRPr lang="zh-CN" altLang="en-US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0000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00001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00000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0001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00010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00011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2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0010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00100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00101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3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0011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     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4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0100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46037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5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0101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46037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6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0110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46037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7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0111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6037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8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1000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10000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10001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9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1001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10011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atin typeface="Arial" panose="020B0604020202020204" pitchFamily="34" charset="0"/>
                        </a:rPr>
                        <a:t>  10010</a:t>
                      </a:r>
                      <a:endParaRPr lang="en-US" altLang="zh-CN" sz="18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234"/>
          <p:cNvGrpSpPr/>
          <p:nvPr/>
        </p:nvGrpSpPr>
        <p:grpSpPr>
          <a:xfrm>
            <a:off x="6629400" y="3810000"/>
            <a:ext cx="1754188" cy="1143000"/>
            <a:chOff x="4176" y="2592"/>
            <a:chExt cx="1105" cy="720"/>
          </a:xfrm>
        </p:grpSpPr>
        <p:sp>
          <p:nvSpPr>
            <p:cNvPr id="30823" name="Text Box 186"/>
            <p:cNvSpPr txBox="1"/>
            <p:nvPr/>
          </p:nvSpPr>
          <p:spPr>
            <a:xfrm>
              <a:off x="4896" y="2592"/>
              <a:ext cx="385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… …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4" name="Text Box 203"/>
            <p:cNvSpPr txBox="1"/>
            <p:nvPr/>
          </p:nvSpPr>
          <p:spPr>
            <a:xfrm>
              <a:off x="4176" y="2640"/>
              <a:ext cx="385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… …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9072" name="Rectangle 224"/>
          <p:cNvSpPr/>
          <p:nvPr/>
        </p:nvSpPr>
        <p:spPr>
          <a:xfrm>
            <a:off x="457200" y="1752600"/>
            <a:ext cx="27432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fontAlgn="base">
              <a:lnSpc>
                <a:spcPct val="14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</a:rPr>
              <a:t>以</a:t>
            </a:r>
            <a:r>
              <a:rPr lang="en-US" altLang="zh-CN" sz="2400" b="1" dirty="0">
                <a:latin typeface="Times New Roman" panose="02020603050405020304" pitchFamily="18" charset="0"/>
              </a:rPr>
              <a:t>8421BCD</a:t>
            </a:r>
            <a:r>
              <a:rPr lang="zh-CN" altLang="en-US" sz="2400" b="1" dirty="0">
                <a:latin typeface="Times New Roman" panose="02020603050405020304" pitchFamily="18" charset="0"/>
              </a:rPr>
              <a:t>码为例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79076" name="Rectangle 228"/>
          <p:cNvSpPr/>
          <p:nvPr/>
        </p:nvSpPr>
        <p:spPr>
          <a:xfrm>
            <a:off x="3657600" y="1828800"/>
            <a:ext cx="4800600" cy="304800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9078" name="Rectangle 230"/>
          <p:cNvSpPr/>
          <p:nvPr/>
        </p:nvSpPr>
        <p:spPr>
          <a:xfrm>
            <a:off x="3657600" y="2286000"/>
            <a:ext cx="4800600" cy="304800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9079" name="Rectangle 231"/>
          <p:cNvSpPr/>
          <p:nvPr/>
        </p:nvSpPr>
        <p:spPr>
          <a:xfrm>
            <a:off x="3657600" y="2743200"/>
            <a:ext cx="4800600" cy="304800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9080" name="Rectangle 232"/>
          <p:cNvSpPr/>
          <p:nvPr/>
        </p:nvSpPr>
        <p:spPr>
          <a:xfrm>
            <a:off x="3657600" y="5486400"/>
            <a:ext cx="4800600" cy="304800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9081" name="Rectangle 233"/>
          <p:cNvSpPr/>
          <p:nvPr/>
        </p:nvSpPr>
        <p:spPr>
          <a:xfrm>
            <a:off x="3657600" y="5943600"/>
            <a:ext cx="4800600" cy="304800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04800" y="2895600"/>
            <a:ext cx="3048000" cy="1905000"/>
            <a:chOff x="304800" y="2895600"/>
            <a:chExt cx="3048000" cy="1905000"/>
          </a:xfrm>
        </p:grpSpPr>
        <p:grpSp>
          <p:nvGrpSpPr>
            <p:cNvPr id="3" name="Group 226"/>
            <p:cNvGrpSpPr/>
            <p:nvPr/>
          </p:nvGrpSpPr>
          <p:grpSpPr>
            <a:xfrm>
              <a:off x="304800" y="2895600"/>
              <a:ext cx="3048000" cy="1905000"/>
              <a:chOff x="192" y="2112"/>
              <a:chExt cx="1920" cy="1200"/>
            </a:xfrm>
          </p:grpSpPr>
          <p:grpSp>
            <p:nvGrpSpPr>
              <p:cNvPr id="30819" name="Group 216"/>
              <p:cNvGrpSpPr/>
              <p:nvPr/>
            </p:nvGrpSpPr>
            <p:grpSpPr>
              <a:xfrm>
                <a:off x="192" y="2112"/>
                <a:ext cx="1920" cy="576"/>
                <a:chOff x="240" y="1200"/>
                <a:chExt cx="1920" cy="576"/>
              </a:xfrm>
            </p:grpSpPr>
            <p:sp>
              <p:nvSpPr>
                <p:cNvPr id="30822" name="Rectangle 185"/>
                <p:cNvSpPr/>
                <p:nvPr/>
              </p:nvSpPr>
              <p:spPr>
                <a:xfrm>
                  <a:off x="240" y="1200"/>
                  <a:ext cx="1920" cy="5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rIns="0"/>
                <a:lstStyle/>
                <a:p>
                  <a:pPr marL="342900" indent="-342900" eaLnBrk="0" fontAlgn="base" hangingPunct="0"/>
                  <a:r>
                    <a:rPr lang="zh-CN" altLang="en-US" sz="2400" b="1" dirty="0">
                      <a:latin typeface="Arial" panose="020B0604020202020204" pitchFamily="34" charset="0"/>
                    </a:rPr>
                    <a:t>奇校验位</a:t>
                  </a:r>
                  <a:r>
                    <a:rPr lang="zh-CN" altLang="en-US" b="1" dirty="0">
                      <a:latin typeface="Times New Roman" panose="02020603050405020304" pitchFamily="18" charset="0"/>
                    </a:rPr>
                    <a:t>：</a:t>
                  </a:r>
                  <a:endParaRPr lang="zh-CN" altLang="en-US" b="1" dirty="0">
                    <a:latin typeface="Times New Roman" panose="02020603050405020304" pitchFamily="18" charset="0"/>
                  </a:endParaRPr>
                </a:p>
                <a:p>
                  <a:pPr marL="342900" indent="-342900" eaLnBrk="0" fontAlgn="base" hangingPunct="0"/>
                  <a:r>
                    <a:rPr lang="zh-CN" altLang="en-US" b="1" dirty="0">
                      <a:latin typeface="Times New Roman" panose="02020603050405020304" pitchFamily="18" charset="0"/>
                    </a:rPr>
                    <a:t>  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P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＝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 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0725" name="Object 5"/>
                    <p:cNvSpPr txBox="1"/>
                    <p:nvPr/>
                  </p:nvSpPr>
                  <p:spPr>
                    <a:xfrm>
                      <a:off x="809" y="1584"/>
                      <a:ext cx="232" cy="192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47500" lnSpcReduction="200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30725" name="Object 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9" y="1584"/>
                      <a:ext cx="232" cy="192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0727" name="Object 7"/>
                    <p:cNvSpPr txBox="1"/>
                    <p:nvPr/>
                  </p:nvSpPr>
                  <p:spPr>
                    <a:xfrm>
                      <a:off x="1140" y="1574"/>
                      <a:ext cx="177" cy="192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47500" lnSpcReduction="200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30727" name="Object 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40" y="1574"/>
                      <a:ext cx="177" cy="192"/>
                    </a:xfrm>
                    <a:prstGeom prst="rect">
                      <a:avLst/>
                    </a:prstGeom>
                    <a:blipFill rotWithShape="1">
                      <a:blip r:embed="rId2"/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0821" name="Rectangle 218"/>
              <p:cNvSpPr/>
              <p:nvPr/>
            </p:nvSpPr>
            <p:spPr>
              <a:xfrm>
                <a:off x="192" y="2736"/>
                <a:ext cx="1920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rIns="0"/>
              <a:lstStyle/>
              <a:p>
                <a:pPr marL="342900" indent="-342900" eaLnBrk="0" fontAlgn="base" hangingPunct="0"/>
                <a:r>
                  <a:rPr lang="zh-CN" altLang="en-US" sz="2400" b="1" dirty="0">
                    <a:latin typeface="Arial" panose="020B0604020202020204" pitchFamily="34" charset="0"/>
                  </a:rPr>
                  <a:t>偶校验位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：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  <a:p>
                <a:pPr marL="342900" indent="-342900" eaLnBrk="0" fontAlgn="base" hangingPunct="0"/>
                <a:r>
                  <a:rPr lang="zh-CN" altLang="en-US" b="1" dirty="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P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＝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    B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4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   B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  B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Object 5"/>
                <p:cNvSpPr txBox="1"/>
                <p:nvPr/>
              </p:nvSpPr>
              <p:spPr>
                <a:xfrm>
                  <a:off x="2231755" y="3502327"/>
                  <a:ext cx="368300" cy="3048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4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1755" y="3502327"/>
                  <a:ext cx="368300" cy="304800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Object 5"/>
                <p:cNvSpPr txBox="1"/>
                <p:nvPr/>
              </p:nvSpPr>
              <p:spPr>
                <a:xfrm>
                  <a:off x="2732084" y="3476448"/>
                  <a:ext cx="368300" cy="3048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4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2084" y="3476448"/>
                  <a:ext cx="368300" cy="304800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Object 5"/>
                <p:cNvSpPr txBox="1"/>
                <p:nvPr/>
              </p:nvSpPr>
              <p:spPr>
                <a:xfrm>
                  <a:off x="1196591" y="4459851"/>
                  <a:ext cx="368300" cy="3048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4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591" y="4459851"/>
                  <a:ext cx="368300" cy="304800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Object 5"/>
                <p:cNvSpPr txBox="1"/>
                <p:nvPr/>
              </p:nvSpPr>
              <p:spPr>
                <a:xfrm>
                  <a:off x="1740050" y="4459854"/>
                  <a:ext cx="368300" cy="3048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4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0050" y="4459854"/>
                  <a:ext cx="368300" cy="304800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Object 5"/>
                <p:cNvSpPr txBox="1"/>
                <p:nvPr/>
              </p:nvSpPr>
              <p:spPr>
                <a:xfrm>
                  <a:off x="2240373" y="4459848"/>
                  <a:ext cx="368300" cy="3048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4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373" y="4459848"/>
                  <a:ext cx="368300" cy="304800"/>
                </a:xfrm>
                <a:prstGeom prst="rect">
                  <a:avLst/>
                </a:prstGeom>
                <a:blipFill rotWithShape="1">
                  <a:blip r:embed="rId1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0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72" grpId="0"/>
      <p:bldP spid="79076" grpId="0" animBg="1"/>
      <p:bldP spid="79078" grpId="0" animBg="1"/>
      <p:bldP spid="79079" grpId="0" animBg="1"/>
      <p:bldP spid="79080" grpId="0" animBg="1"/>
      <p:bldP spid="79081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6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981200" cy="5334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sz="2800" b="1" dirty="0">
                <a:latin typeface="Times New Roman" panose="02020603050405020304" pitchFamily="18" charset="0"/>
              </a:rPr>
              <a:t>⑶  </a:t>
            </a:r>
            <a:r>
              <a:rPr lang="zh-CN" altLang="en-US" sz="2800" b="1" dirty="0">
                <a:latin typeface="Times New Roman" panose="02020603050405020304" pitchFamily="18" charset="0"/>
              </a:rPr>
              <a:t>检错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1767" name="Rectangle 4"/>
          <p:cNvSpPr/>
          <p:nvPr/>
        </p:nvSpPr>
        <p:spPr>
          <a:xfrm>
            <a:off x="762000" y="1066800"/>
            <a:ext cx="62484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fontAlgn="base">
              <a:lnSpc>
                <a:spcPct val="14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</a:rPr>
              <a:t>只能检出单个错误或奇数个错，但不能纠错。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79890" name="Rectangle 18"/>
          <p:cNvSpPr/>
          <p:nvPr/>
        </p:nvSpPr>
        <p:spPr>
          <a:xfrm>
            <a:off x="762000" y="2895600"/>
            <a:ext cx="6553200" cy="1524000"/>
          </a:xfrm>
          <a:prstGeom prst="rect">
            <a:avLst/>
          </a:prstGeom>
          <a:noFill/>
          <a:ln w="9525">
            <a:noFill/>
          </a:ln>
        </p:spPr>
        <p:txBody>
          <a:bodyPr rIns="0"/>
          <a:lstStyle/>
          <a:p>
            <a:pPr marL="342900" indent="-342900" eaLnBrk="0" fontAlgn="base" hangingPunct="0"/>
            <a:r>
              <a:rPr lang="zh-CN" altLang="en-US" sz="2400" b="1" dirty="0">
                <a:latin typeface="Arial" panose="020B0604020202020204" pitchFamily="34" charset="0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</a:rPr>
              <a:t>:   </a:t>
            </a:r>
            <a:r>
              <a:rPr lang="zh-CN" altLang="en-US" sz="2400" b="1" dirty="0">
                <a:latin typeface="Arial" panose="020B0604020202020204" pitchFamily="34" charset="0"/>
              </a:rPr>
              <a:t>奇校验传送 </a:t>
            </a:r>
            <a:r>
              <a:rPr lang="en-US" altLang="zh-CN" sz="2400" b="1" dirty="0">
                <a:latin typeface="Arial" panose="020B0604020202020204" pitchFamily="34" charset="0"/>
              </a:rPr>
              <a:t>1001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marL="342900" indent="-342900" eaLnBrk="0" fontAlgn="base" hangingPunct="0"/>
            <a:r>
              <a:rPr lang="zh-CN" altLang="en-US" sz="2400" b="1" dirty="0">
                <a:latin typeface="Arial" panose="020B0604020202020204" pitchFamily="34" charset="0"/>
              </a:rPr>
              <a:t>解</a:t>
            </a:r>
            <a:r>
              <a:rPr lang="en-US" altLang="zh-CN" sz="2400" b="1" dirty="0">
                <a:latin typeface="Arial" panose="020B0604020202020204" pitchFamily="34" charset="0"/>
              </a:rPr>
              <a:t>:  </a:t>
            </a:r>
            <a:r>
              <a:rPr lang="zh-CN" altLang="en-US" sz="2400" b="1" dirty="0">
                <a:latin typeface="Arial" panose="020B0604020202020204" pitchFamily="34" charset="0"/>
              </a:rPr>
              <a:t>校验位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P=1,      </a:t>
            </a:r>
            <a:r>
              <a:rPr lang="zh-CN" altLang="en-US" sz="2400" b="1" dirty="0">
                <a:latin typeface="Arial" panose="020B0604020202020204" pitchFamily="34" charset="0"/>
              </a:rPr>
              <a:t>奇校验码为</a:t>
            </a:r>
            <a:r>
              <a:rPr lang="en-US" altLang="zh-CN" sz="2400" b="1" dirty="0">
                <a:latin typeface="Arial" panose="020B0604020202020204" pitchFamily="34" charset="0"/>
              </a:rPr>
              <a:t>:10011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indent="-342900" eaLnBrk="0" fontAlgn="base" hangingPunct="0"/>
            <a:r>
              <a:rPr lang="en-US" altLang="zh-CN" sz="2400" b="1" dirty="0">
                <a:latin typeface="Arial" panose="020B0604020202020204" pitchFamily="34" charset="0"/>
              </a:rPr>
              <a:t>       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indent="-342900" eaLnBrk="0" fontAlgn="base" hangingPunct="0"/>
            <a:r>
              <a:rPr lang="en-US" altLang="zh-CN" sz="2400" b="1" dirty="0">
                <a:latin typeface="Arial" panose="020B0604020202020204" pitchFamily="34" charset="0"/>
              </a:rPr>
              <a:t>       </a:t>
            </a:r>
            <a:r>
              <a:rPr lang="zh-CN" altLang="en-US" sz="2400" b="1" dirty="0">
                <a:latin typeface="Arial" panose="020B0604020202020204" pitchFamily="34" charset="0"/>
              </a:rPr>
              <a:t>正确传送时</a:t>
            </a:r>
            <a:r>
              <a:rPr lang="en-US" altLang="zh-CN" sz="2400" b="1" dirty="0">
                <a:latin typeface="Arial" panose="020B0604020202020204" pitchFamily="34" charset="0"/>
              </a:rPr>
              <a:t>: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342900" indent="-342900" eaLnBrk="0" fontAlgn="base" hangingPunct="0"/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79910" name="Rectangle 38"/>
          <p:cNvSpPr/>
          <p:nvPr/>
        </p:nvSpPr>
        <p:spPr>
          <a:xfrm>
            <a:off x="1219200" y="5105400"/>
            <a:ext cx="6553200" cy="533400"/>
          </a:xfrm>
          <a:prstGeom prst="rect">
            <a:avLst/>
          </a:prstGeom>
          <a:noFill/>
          <a:ln w="9525">
            <a:noFill/>
          </a:ln>
        </p:spPr>
        <p:txBody>
          <a:bodyPr rIns="0"/>
          <a:lstStyle/>
          <a:p>
            <a:pPr marL="342900" indent="-342900" eaLnBrk="0" fontAlgn="base" hangingPunct="0"/>
            <a:r>
              <a:rPr lang="zh-CN" altLang="en-US" sz="2400" b="1" dirty="0">
                <a:latin typeface="Arial" panose="020B0604020202020204" pitchFamily="34" charset="0"/>
              </a:rPr>
              <a:t>不正确传送时</a:t>
            </a:r>
            <a:r>
              <a:rPr lang="en-US" altLang="zh-CN" sz="2400" b="1" dirty="0">
                <a:latin typeface="Arial" panose="020B0604020202020204" pitchFamily="34" charset="0"/>
              </a:rPr>
              <a:t>:</a:t>
            </a:r>
            <a:r>
              <a:rPr lang="zh-CN" altLang="en-US" sz="2400" b="1" dirty="0">
                <a:latin typeface="Arial" panose="020B0604020202020204" pitchFamily="34" charset="0"/>
              </a:rPr>
              <a:t>设接收码为</a:t>
            </a:r>
            <a:r>
              <a:rPr lang="en-US" altLang="zh-CN" sz="2400" b="1" dirty="0">
                <a:latin typeface="Arial" panose="020B0604020202020204" pitchFamily="34" charset="0"/>
              </a:rPr>
              <a:t>10</a:t>
            </a:r>
            <a:r>
              <a:rPr lang="en-US" altLang="zh-CN" sz="2400" b="1" dirty="0">
                <a:solidFill>
                  <a:srgbClr val="FF99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11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79924" name="AutoShape 52"/>
          <p:cNvSpPr/>
          <p:nvPr/>
        </p:nvSpPr>
        <p:spPr>
          <a:xfrm>
            <a:off x="7086600" y="5410200"/>
            <a:ext cx="1003300" cy="873125"/>
          </a:xfrm>
          <a:prstGeom prst="irregularSeal1">
            <a:avLst/>
          </a:prstGeom>
          <a:solidFill>
            <a:srgbClr val="FF0066"/>
          </a:solidFill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出错</a:t>
            </a:r>
            <a:endParaRPr lang="zh-CN" altLang="en-US" sz="1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14400" y="1752600"/>
            <a:ext cx="6172200" cy="1143000"/>
            <a:chOff x="914400" y="1752600"/>
            <a:chExt cx="6172200" cy="1143000"/>
          </a:xfrm>
        </p:grpSpPr>
        <p:grpSp>
          <p:nvGrpSpPr>
            <p:cNvPr id="2" name="Group 56"/>
            <p:cNvGrpSpPr/>
            <p:nvPr/>
          </p:nvGrpSpPr>
          <p:grpSpPr>
            <a:xfrm>
              <a:off x="914400" y="1752600"/>
              <a:ext cx="6172200" cy="1143000"/>
              <a:chOff x="576" y="1104"/>
              <a:chExt cx="3888" cy="720"/>
            </a:xfrm>
          </p:grpSpPr>
          <p:grpSp>
            <p:nvGrpSpPr>
              <p:cNvPr id="31782" name="Group 6"/>
              <p:cNvGrpSpPr/>
              <p:nvPr/>
            </p:nvGrpSpPr>
            <p:grpSpPr>
              <a:xfrm>
                <a:off x="576" y="1104"/>
                <a:ext cx="1920" cy="576"/>
                <a:chOff x="240" y="1200"/>
                <a:chExt cx="1920" cy="576"/>
              </a:xfrm>
            </p:grpSpPr>
            <p:sp>
              <p:nvSpPr>
                <p:cNvPr id="31784" name="Rectangle 7"/>
                <p:cNvSpPr/>
                <p:nvPr/>
              </p:nvSpPr>
              <p:spPr>
                <a:xfrm>
                  <a:off x="240" y="1200"/>
                  <a:ext cx="1920" cy="5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rIns="0"/>
                <a:lstStyle/>
                <a:p>
                  <a:pPr marL="342900" indent="-342900" eaLnBrk="0" fontAlgn="base" hangingPunct="0"/>
                  <a:r>
                    <a:rPr lang="zh-CN" altLang="en-US" sz="2400" b="1" dirty="0">
                      <a:latin typeface="Arial" panose="020B0604020202020204" pitchFamily="34" charset="0"/>
                    </a:rPr>
                    <a:t>校验</a:t>
                  </a:r>
                  <a:r>
                    <a:rPr lang="zh-CN" altLang="en-US" b="1" dirty="0">
                      <a:latin typeface="Times New Roman" panose="02020603050405020304" pitchFamily="18" charset="0"/>
                    </a:rPr>
                    <a:t>：</a:t>
                  </a:r>
                  <a:endParaRPr lang="zh-CN" altLang="en-US" b="1" dirty="0">
                    <a:latin typeface="Times New Roman" panose="02020603050405020304" pitchFamily="18" charset="0"/>
                  </a:endParaRPr>
                </a:p>
                <a:p>
                  <a:pPr marL="342900" indent="-342900" eaLnBrk="0" fontAlgn="base" hangingPunct="0"/>
                  <a:r>
                    <a:rPr lang="zh-CN" altLang="en-US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P’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＝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P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1762" name="Object 18"/>
                    <p:cNvSpPr txBox="1"/>
                    <p:nvPr/>
                  </p:nvSpPr>
                  <p:spPr>
                    <a:xfrm>
                      <a:off x="814" y="1579"/>
                      <a:ext cx="177" cy="192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47500" lnSpcReduction="200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31762" name="Object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4" y="1579"/>
                      <a:ext cx="177" cy="192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1783" name="Rectangle 13"/>
              <p:cNvSpPr/>
              <p:nvPr/>
            </p:nvSpPr>
            <p:spPr>
              <a:xfrm>
                <a:off x="2544" y="1248"/>
                <a:ext cx="1920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rIns="0"/>
              <a:lstStyle/>
              <a:p>
                <a:pPr marL="342900" indent="-342900" eaLnBrk="0" fontAlgn="base" hangingPunct="0"/>
                <a:r>
                  <a:rPr lang="zh-CN" altLang="en-US" sz="2400" b="1" dirty="0">
                    <a:latin typeface="Arial" panose="020B0604020202020204" pitchFamily="34" charset="0"/>
                  </a:rPr>
                  <a:t>奇校验：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P’</a:t>
                </a:r>
                <a:r>
                  <a:rPr lang="zh-CN" altLang="en-US" sz="2400" b="1" dirty="0">
                    <a:latin typeface="Arial" panose="020B0604020202020204" pitchFamily="34" charset="0"/>
                  </a:rPr>
                  <a:t>＝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1   </a:t>
                </a:r>
                <a:r>
                  <a:rPr lang="zh-CN" altLang="en-US" sz="2400" b="1" dirty="0">
                    <a:latin typeface="Arial" panose="020B0604020202020204" pitchFamily="34" charset="0"/>
                  </a:rPr>
                  <a:t>正确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  <a:p>
                <a:pPr marL="342900" indent="-342900" eaLnBrk="0" fontAlgn="base" hangingPunct="0"/>
                <a:r>
                  <a:rPr lang="zh-CN" altLang="en-US" sz="2400" b="1" dirty="0">
                    <a:latin typeface="Arial" panose="020B0604020202020204" pitchFamily="34" charset="0"/>
                  </a:rPr>
                  <a:t>偶校验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：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P’</a:t>
                </a:r>
                <a:r>
                  <a:rPr lang="zh-CN" altLang="en-US" sz="2400" b="1" dirty="0">
                    <a:latin typeface="Arial" panose="020B0604020202020204" pitchFamily="34" charset="0"/>
                  </a:rPr>
                  <a:t>＝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0   </a:t>
                </a:r>
                <a:r>
                  <a:rPr lang="zh-CN" altLang="en-US" sz="2400" b="1" dirty="0">
                    <a:latin typeface="Arial" panose="020B0604020202020204" pitchFamily="34" charset="0"/>
                  </a:rPr>
                  <a:t>正确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366215" y="2351387"/>
              <a:ext cx="1264391" cy="304808"/>
              <a:chOff x="2366215" y="2351387"/>
              <a:chExt cx="1264391" cy="30480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Object 18"/>
                  <p:cNvSpPr txBox="1"/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17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Object 18"/>
                  <p:cNvSpPr txBox="1"/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18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Object 18"/>
                  <p:cNvSpPr txBox="1"/>
                  <p:nvPr/>
                </p:nvSpPr>
                <p:spPr>
                  <a:xfrm>
                    <a:off x="3349618" y="2351395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19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9618" y="2351395"/>
                    <a:ext cx="280988" cy="304800"/>
                  </a:xfrm>
                  <a:prstGeom prst="rect">
                    <a:avLst/>
                  </a:prstGeom>
                  <a:blipFill rotWithShape="1">
                    <a:blip r:embed="rId2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8" name="组合 37"/>
          <p:cNvGrpSpPr/>
          <p:nvPr/>
        </p:nvGrpSpPr>
        <p:grpSpPr>
          <a:xfrm>
            <a:off x="1295400" y="4419600"/>
            <a:ext cx="5638800" cy="533400"/>
            <a:chOff x="1295400" y="4419600"/>
            <a:chExt cx="5638800" cy="533400"/>
          </a:xfrm>
        </p:grpSpPr>
        <p:grpSp>
          <p:nvGrpSpPr>
            <p:cNvPr id="7" name="Group 55"/>
            <p:cNvGrpSpPr/>
            <p:nvPr/>
          </p:nvGrpSpPr>
          <p:grpSpPr>
            <a:xfrm>
              <a:off x="1295400" y="4419600"/>
              <a:ext cx="5638800" cy="533400"/>
              <a:chOff x="816" y="2784"/>
              <a:chExt cx="3552" cy="336"/>
            </a:xfrm>
          </p:grpSpPr>
          <p:grpSp>
            <p:nvGrpSpPr>
              <p:cNvPr id="31778" name="Group 29"/>
              <p:cNvGrpSpPr/>
              <p:nvPr/>
            </p:nvGrpSpPr>
            <p:grpSpPr>
              <a:xfrm>
                <a:off x="816" y="2784"/>
                <a:ext cx="1920" cy="288"/>
                <a:chOff x="3456" y="720"/>
                <a:chExt cx="1920" cy="288"/>
              </a:xfrm>
            </p:grpSpPr>
            <p:sp>
              <p:nvSpPr>
                <p:cNvPr id="31781" name="Rectangle 24"/>
                <p:cNvSpPr/>
                <p:nvPr/>
              </p:nvSpPr>
              <p:spPr>
                <a:xfrm>
                  <a:off x="3456" y="720"/>
                  <a:ext cx="192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rIns="0"/>
                <a:lstStyle/>
                <a:p>
                  <a:pPr marL="342900" indent="-342900" eaLnBrk="0" fontAlgn="base" hangingPunct="0"/>
                  <a:r>
                    <a:rPr lang="en-US" altLang="zh-CN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P’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＝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P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1759" name="Object 15"/>
                    <p:cNvSpPr txBox="1"/>
                    <p:nvPr/>
                  </p:nvSpPr>
                  <p:spPr>
                    <a:xfrm>
                      <a:off x="4992" y="816"/>
                      <a:ext cx="177" cy="192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47500" lnSpcReduction="200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31759" name="Object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92" y="816"/>
                      <a:ext cx="177" cy="192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1779" name="Group 37"/>
              <p:cNvGrpSpPr/>
              <p:nvPr/>
            </p:nvGrpSpPr>
            <p:grpSpPr>
              <a:xfrm>
                <a:off x="2688" y="2832"/>
                <a:ext cx="1680" cy="288"/>
                <a:chOff x="3360" y="2928"/>
                <a:chExt cx="1680" cy="288"/>
              </a:xfrm>
            </p:grpSpPr>
            <p:sp>
              <p:nvSpPr>
                <p:cNvPr id="31780" name="Rectangle 31"/>
                <p:cNvSpPr/>
                <p:nvPr/>
              </p:nvSpPr>
              <p:spPr>
                <a:xfrm>
                  <a:off x="3360" y="2928"/>
                  <a:ext cx="168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rIns="0"/>
                <a:lstStyle/>
                <a:p>
                  <a:pPr marL="342900" indent="-342900" eaLnBrk="0" fontAlgn="base" hangingPunct="0"/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=1     0      0     1      1=1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1755" name="Object 11"/>
                    <p:cNvSpPr txBox="1"/>
                    <p:nvPr/>
                  </p:nvSpPr>
                  <p:spPr>
                    <a:xfrm>
                      <a:off x="4464" y="2956"/>
                      <a:ext cx="177" cy="192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47500" lnSpcReduction="200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>
                <p:sp>
                  <p:nvSpPr>
                    <p:cNvPr id="31755" name="Object 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" y="2956"/>
                      <a:ext cx="177" cy="192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1" name="组合 20"/>
            <p:cNvGrpSpPr/>
            <p:nvPr/>
          </p:nvGrpSpPr>
          <p:grpSpPr>
            <a:xfrm>
              <a:off x="2187204" y="4586365"/>
              <a:ext cx="1316147" cy="304808"/>
              <a:chOff x="2366215" y="2351387"/>
              <a:chExt cx="1316147" cy="30480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Object 18"/>
                  <p:cNvSpPr txBox="1"/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2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Object 18"/>
                  <p:cNvSpPr txBox="1"/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3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Object 18"/>
                  <p:cNvSpPr txBox="1"/>
                  <p:nvPr/>
                </p:nvSpPr>
                <p:spPr>
                  <a:xfrm>
                    <a:off x="3401374" y="2351395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4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1374" y="2351395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组合 28"/>
            <p:cNvGrpSpPr/>
            <p:nvPr/>
          </p:nvGrpSpPr>
          <p:grpSpPr>
            <a:xfrm>
              <a:off x="4572000" y="4533058"/>
              <a:ext cx="1316147" cy="304808"/>
              <a:chOff x="2366215" y="2351387"/>
              <a:chExt cx="1316147" cy="30480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Object 18"/>
                  <p:cNvSpPr txBox="1"/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0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Object 18"/>
                  <p:cNvSpPr txBox="1"/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1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Object 18"/>
                  <p:cNvSpPr txBox="1"/>
                  <p:nvPr/>
                </p:nvSpPr>
                <p:spPr>
                  <a:xfrm>
                    <a:off x="3401374" y="2351395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2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1374" y="2351395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9" name="组合 38"/>
          <p:cNvGrpSpPr/>
          <p:nvPr/>
        </p:nvGrpSpPr>
        <p:grpSpPr>
          <a:xfrm>
            <a:off x="1371600" y="5638800"/>
            <a:ext cx="5638800" cy="533400"/>
            <a:chOff x="1371600" y="5638800"/>
            <a:chExt cx="5638800" cy="533400"/>
          </a:xfrm>
        </p:grpSpPr>
        <p:grpSp>
          <p:nvGrpSpPr>
            <p:cNvPr id="16" name="Group 54"/>
            <p:cNvGrpSpPr/>
            <p:nvPr/>
          </p:nvGrpSpPr>
          <p:grpSpPr>
            <a:xfrm>
              <a:off x="1371600" y="5638800"/>
              <a:ext cx="5638800" cy="533400"/>
              <a:chOff x="864" y="3552"/>
              <a:chExt cx="3552" cy="336"/>
            </a:xfrm>
          </p:grpSpPr>
          <p:grpSp>
            <p:nvGrpSpPr>
              <p:cNvPr id="31774" name="Group 39"/>
              <p:cNvGrpSpPr/>
              <p:nvPr/>
            </p:nvGrpSpPr>
            <p:grpSpPr>
              <a:xfrm>
                <a:off x="864" y="3552"/>
                <a:ext cx="1920" cy="288"/>
                <a:chOff x="3456" y="720"/>
                <a:chExt cx="1920" cy="288"/>
              </a:xfrm>
            </p:grpSpPr>
            <p:sp>
              <p:nvSpPr>
                <p:cNvPr id="31777" name="Rectangle 40"/>
                <p:cNvSpPr/>
                <p:nvPr/>
              </p:nvSpPr>
              <p:spPr>
                <a:xfrm>
                  <a:off x="3456" y="720"/>
                  <a:ext cx="192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rIns="0"/>
                <a:lstStyle/>
                <a:p>
                  <a:pPr marL="342900" indent="-342900" eaLnBrk="0" fontAlgn="base" hangingPunct="0"/>
                  <a:r>
                    <a:rPr lang="en-US" altLang="zh-CN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P’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＝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B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  P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1753" name="Object 9"/>
                    <p:cNvSpPr txBox="1"/>
                    <p:nvPr/>
                  </p:nvSpPr>
                  <p:spPr>
                    <a:xfrm>
                      <a:off x="5040" y="816"/>
                      <a:ext cx="177" cy="192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47500" lnSpcReduction="200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31753" name="Object 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40" y="816"/>
                      <a:ext cx="177" cy="192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1775" name="Group 45"/>
              <p:cNvGrpSpPr/>
              <p:nvPr/>
            </p:nvGrpSpPr>
            <p:grpSpPr>
              <a:xfrm>
                <a:off x="2736" y="3600"/>
                <a:ext cx="1680" cy="288"/>
                <a:chOff x="3360" y="2928"/>
                <a:chExt cx="1680" cy="288"/>
              </a:xfrm>
            </p:grpSpPr>
            <p:sp>
              <p:nvSpPr>
                <p:cNvPr id="31776" name="Rectangle 46"/>
                <p:cNvSpPr/>
                <p:nvPr/>
              </p:nvSpPr>
              <p:spPr>
                <a:xfrm>
                  <a:off x="3360" y="2928"/>
                  <a:ext cx="168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rIns="0"/>
                <a:lstStyle/>
                <a:p>
                  <a:pPr marL="342900" indent="-342900" eaLnBrk="0" fontAlgn="base" hangingPunct="0"/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=1     0      1     1      1=0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1749" name="Object 5"/>
                    <p:cNvSpPr txBox="1"/>
                    <p:nvPr/>
                  </p:nvSpPr>
                  <p:spPr>
                    <a:xfrm>
                      <a:off x="4464" y="2976"/>
                      <a:ext cx="177" cy="192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47500" lnSpcReduction="200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31749" name="Object 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" y="2976"/>
                      <a:ext cx="177" cy="192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5" name="组合 24"/>
            <p:cNvGrpSpPr/>
            <p:nvPr/>
          </p:nvGrpSpPr>
          <p:grpSpPr>
            <a:xfrm>
              <a:off x="2292980" y="5791192"/>
              <a:ext cx="1316147" cy="304808"/>
              <a:chOff x="2366215" y="2351387"/>
              <a:chExt cx="1316147" cy="30480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Object 18"/>
                  <p:cNvSpPr txBox="1"/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6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Object 18"/>
                  <p:cNvSpPr txBox="1"/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7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Object 18"/>
                  <p:cNvSpPr txBox="1"/>
                  <p:nvPr/>
                </p:nvSpPr>
                <p:spPr>
                  <a:xfrm>
                    <a:off x="3401374" y="2351395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8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1374" y="2351395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组合 32"/>
            <p:cNvGrpSpPr/>
            <p:nvPr/>
          </p:nvGrpSpPr>
          <p:grpSpPr>
            <a:xfrm>
              <a:off x="4638942" y="5791184"/>
              <a:ext cx="1316147" cy="304808"/>
              <a:chOff x="2366215" y="2351387"/>
              <a:chExt cx="1316147" cy="30480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Object 18"/>
                  <p:cNvSpPr txBox="1"/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4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6215" y="2351391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Object 18"/>
                  <p:cNvSpPr txBox="1"/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5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545" y="2351387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Object 18"/>
                  <p:cNvSpPr txBox="1"/>
                  <p:nvPr/>
                </p:nvSpPr>
                <p:spPr>
                  <a:xfrm>
                    <a:off x="3401374" y="2351395"/>
                    <a:ext cx="280988" cy="30480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4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36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1374" y="2351395"/>
                    <a:ext cx="280988" cy="30480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90" grpId="0"/>
      <p:bldP spid="79910" grpId="0"/>
      <p:bldP spid="799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/>
          <p:nvPr/>
        </p:nvGrpSpPr>
        <p:grpSpPr>
          <a:xfrm>
            <a:off x="917575" y="1595438"/>
            <a:ext cx="7316788" cy="3506787"/>
            <a:chOff x="578" y="911"/>
            <a:chExt cx="4609" cy="2209"/>
          </a:xfrm>
        </p:grpSpPr>
        <p:sp>
          <p:nvSpPr>
            <p:cNvPr id="104451" name="Text Box 3"/>
            <p:cNvSpPr txBox="1"/>
            <p:nvPr/>
          </p:nvSpPr>
          <p:spPr>
            <a:xfrm>
              <a:off x="1075" y="911"/>
              <a:ext cx="4090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奇偶校验码可发现奇数位错误，但不能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452" name="Group 16"/>
            <p:cNvGrpSpPr/>
            <p:nvPr/>
          </p:nvGrpSpPr>
          <p:grpSpPr>
            <a:xfrm>
              <a:off x="2684" y="1385"/>
              <a:ext cx="2353" cy="327"/>
              <a:chOff x="2230" y="1196"/>
              <a:chExt cx="2353" cy="327"/>
            </a:xfrm>
          </p:grpSpPr>
          <p:sp>
            <p:nvSpPr>
              <p:cNvPr id="104460" name="Rectangle 5"/>
              <p:cNvSpPr/>
              <p:nvPr/>
            </p:nvSpPr>
            <p:spPr>
              <a:xfrm>
                <a:off x="3494" y="1254"/>
                <a:ext cx="168" cy="216"/>
              </a:xfrm>
              <a:prstGeom prst="rect">
                <a:avLst/>
              </a:prstGeom>
              <a:noFill/>
              <a:ln w="952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1" name="Rectangle 6"/>
              <p:cNvSpPr/>
              <p:nvPr/>
            </p:nvSpPr>
            <p:spPr>
              <a:xfrm>
                <a:off x="2264" y="1254"/>
                <a:ext cx="168" cy="216"/>
              </a:xfrm>
              <a:prstGeom prst="rect">
                <a:avLst/>
              </a:prstGeom>
              <a:noFill/>
              <a:ln w="952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2" name="Rectangle 7"/>
              <p:cNvSpPr/>
              <p:nvPr/>
            </p:nvSpPr>
            <p:spPr>
              <a:xfrm>
                <a:off x="2230" y="1196"/>
                <a:ext cx="23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FF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0011010</a:t>
                </a:r>
                <a:r>
                  <a:rPr lang="en-US" altLang="zh-CN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altLang="zh-CN" b="1" dirty="0">
                    <a:solidFill>
                      <a:srgbClr val="FF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0011011 </a:t>
                </a:r>
                <a:endPara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104453" name="Text Box 9"/>
            <p:cNvSpPr txBox="1"/>
            <p:nvPr/>
          </p:nvSpPr>
          <p:spPr>
            <a:xfrm>
              <a:off x="598" y="1818"/>
              <a:ext cx="4589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出现的错误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但并不知道是哪一位出了错</a:t>
              </a:r>
              <a:r>
                <a:rPr lang="en-US" altLang="zh-CN" dirty="0">
                  <a:latin typeface="Times New Roman" panose="02020603050405020304" pitchFamily="18" charset="0"/>
                </a:rPr>
                <a:t>.</a:t>
              </a:r>
              <a:r>
                <a:rPr lang="zh-CN" altLang="en-US" dirty="0">
                  <a:latin typeface="Times New Roman" panose="02020603050405020304" pitchFamily="18" charset="0"/>
                </a:rPr>
                <a:t>虽然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454" name="Group 10"/>
            <p:cNvGrpSpPr/>
            <p:nvPr/>
          </p:nvGrpSpPr>
          <p:grpSpPr>
            <a:xfrm>
              <a:off x="665" y="2312"/>
              <a:ext cx="4309" cy="327"/>
              <a:chOff x="770" y="3074"/>
              <a:chExt cx="4309" cy="327"/>
            </a:xfrm>
          </p:grpSpPr>
          <p:sp>
            <p:nvSpPr>
              <p:cNvPr id="104457" name="Rectangle 11"/>
              <p:cNvSpPr/>
              <p:nvPr/>
            </p:nvSpPr>
            <p:spPr>
              <a:xfrm>
                <a:off x="2364" y="3132"/>
                <a:ext cx="168" cy="216"/>
              </a:xfrm>
              <a:prstGeom prst="rect">
                <a:avLst/>
              </a:prstGeom>
              <a:noFill/>
              <a:ln w="952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58" name="Rectangle 12"/>
              <p:cNvSpPr/>
              <p:nvPr/>
            </p:nvSpPr>
            <p:spPr>
              <a:xfrm>
                <a:off x="804" y="3132"/>
                <a:ext cx="168" cy="216"/>
              </a:xfrm>
              <a:prstGeom prst="rect">
                <a:avLst/>
              </a:prstGeom>
              <a:noFill/>
              <a:ln w="952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59" name="Rectangle 13"/>
              <p:cNvSpPr/>
              <p:nvPr/>
            </p:nvSpPr>
            <p:spPr>
              <a:xfrm>
                <a:off x="770" y="3074"/>
                <a:ext cx="430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FF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0 0 1 1 0 1 0</a:t>
                </a:r>
                <a:r>
                  <a:rPr lang="en-US" altLang="zh-CN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altLang="zh-CN" b="1" dirty="0">
                    <a:solidFill>
                      <a:srgbClr val="FF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0 0 1 1 0 0 1</a:t>
                </a:r>
                <a:r>
                  <a:rPr lang="zh-CN" altLang="en-US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出现了错误，</a:t>
                </a:r>
                <a:endPara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104455" name="Text Box 14"/>
            <p:cNvSpPr txBox="1"/>
            <p:nvPr/>
          </p:nvSpPr>
          <p:spPr>
            <a:xfrm>
              <a:off x="578" y="2793"/>
              <a:ext cx="19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但</a:t>
              </a:r>
              <a:r>
                <a:rPr lang="zh-CN" altLang="en-US" dirty="0">
                  <a:latin typeface="Times New Roman" panose="02020603050405020304" pitchFamily="18" charset="0"/>
                </a:rPr>
                <a:t>我们无法知道。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456" name="Rectangle 15"/>
            <p:cNvSpPr/>
            <p:nvPr/>
          </p:nvSpPr>
          <p:spPr>
            <a:xfrm>
              <a:off x="635" y="1384"/>
              <a:ext cx="21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fontAlgn="base"/>
              <a:r>
                <a:rPr lang="zh-CN" altLang="en-US" dirty="0">
                  <a:latin typeface="Times New Roman" panose="02020603050405020304" pitchFamily="18" charset="0"/>
                </a:rPr>
                <a:t>发现偶数位错误。如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1092200" y="752475"/>
            <a:ext cx="19780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三、海明码</a:t>
            </a:r>
            <a:endParaRPr kumimoji="1" lang="zh-CN" altLang="en-US" b="1" kern="1200" cap="none" spc="0" normalizeH="0" baseline="0" noProof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0053" name="Text Box 5"/>
          <p:cNvSpPr txBox="1"/>
          <p:nvPr/>
        </p:nvSpPr>
        <p:spPr>
          <a:xfrm>
            <a:off x="787400" y="1349375"/>
            <a:ext cx="7651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可以检验一位错误并且可以定位的可靠性编码。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0054" name="Text Box 6"/>
          <p:cNvSpPr txBox="1"/>
          <p:nvPr/>
        </p:nvSpPr>
        <p:spPr>
          <a:xfrm>
            <a:off x="804863" y="1979613"/>
            <a:ext cx="83042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结构</a:t>
            </a:r>
            <a:r>
              <a:rPr lang="zh-CN" altLang="en-US" dirty="0">
                <a:latin typeface="Times New Roman" panose="02020603050405020304" pitchFamily="18" charset="0"/>
              </a:rPr>
              <a:t>：信息位</a:t>
            </a:r>
            <a:r>
              <a:rPr lang="en-US" altLang="zh-CN" dirty="0">
                <a:latin typeface="Times New Roman" panose="02020603050405020304" pitchFamily="18" charset="0"/>
              </a:rPr>
              <a:t>(4</a:t>
            </a:r>
            <a:r>
              <a:rPr lang="zh-CN" altLang="en-US" dirty="0">
                <a:latin typeface="Times New Roman" panose="02020603050405020304" pitchFamily="18" charset="0"/>
              </a:rPr>
              <a:t>位</a:t>
            </a:r>
            <a:r>
              <a:rPr lang="en-US" altLang="zh-CN" dirty="0">
                <a:latin typeface="Times New Roman" panose="02020603050405020304" pitchFamily="18" charset="0"/>
              </a:rPr>
              <a:t>)+</a:t>
            </a:r>
            <a:r>
              <a:rPr lang="zh-CN" altLang="en-US" dirty="0">
                <a:latin typeface="Times New Roman" panose="02020603050405020304" pitchFamily="18" charset="0"/>
              </a:rPr>
              <a:t>校验位</a:t>
            </a:r>
            <a:r>
              <a:rPr lang="en-US" altLang="zh-CN" dirty="0">
                <a:latin typeface="Times New Roman" panose="02020603050405020304" pitchFamily="18" charset="0"/>
              </a:rPr>
              <a:t>(3</a:t>
            </a:r>
            <a:r>
              <a:rPr lang="zh-CN" altLang="en-US" dirty="0">
                <a:latin typeface="Times New Roman" panose="02020603050405020304" pitchFamily="18" charset="0"/>
              </a:rPr>
              <a:t>位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（以</a:t>
            </a:r>
            <a:r>
              <a:rPr lang="en-US" altLang="zh-CN" dirty="0">
                <a:latin typeface="Times New Roman" panose="02020603050405020304" pitchFamily="18" charset="0"/>
              </a:rPr>
              <a:t>BCD</a:t>
            </a:r>
            <a:r>
              <a:rPr lang="zh-CN" altLang="en-US" dirty="0">
                <a:latin typeface="Times New Roman" panose="02020603050405020304" pitchFamily="18" charset="0"/>
              </a:rPr>
              <a:t>码为例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0056" name="Text Box 8"/>
          <p:cNvSpPr txBox="1"/>
          <p:nvPr/>
        </p:nvSpPr>
        <p:spPr>
          <a:xfrm>
            <a:off x="839788" y="2651125"/>
            <a:ext cx="1374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组织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0108" name="Group 60"/>
          <p:cNvGraphicFramePr>
            <a:graphicFrameLocks noGrp="1"/>
          </p:cNvGraphicFramePr>
          <p:nvPr>
            <p:ph sz="half" idx="1"/>
          </p:nvPr>
        </p:nvGraphicFramePr>
        <p:xfrm>
          <a:off x="2276475" y="2765425"/>
          <a:ext cx="4019550" cy="518160"/>
        </p:xfrm>
        <a:graphic>
          <a:graphicData uri="http://schemas.openxmlformats.org/drawingml/2006/table">
            <a:tbl>
              <a:tblPr/>
              <a:tblGrid>
                <a:gridCol w="558800"/>
                <a:gridCol w="576262"/>
                <a:gridCol w="533400"/>
                <a:gridCol w="620713"/>
                <a:gridCol w="576262"/>
                <a:gridCol w="576263"/>
                <a:gridCol w="577850"/>
              </a:tblGrid>
              <a:tr h="4642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96" name="Text Box 36"/>
          <p:cNvSpPr txBox="1"/>
          <p:nvPr/>
        </p:nvSpPr>
        <p:spPr>
          <a:xfrm>
            <a:off x="927100" y="3565525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130085" name="Text Box 37"/>
          <p:cNvSpPr txBox="1"/>
          <p:nvPr/>
        </p:nvSpPr>
        <p:spPr>
          <a:xfrm>
            <a:off x="844550" y="3425825"/>
            <a:ext cx="39004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校验规则（偶校验）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770" name="Rectangle 38"/>
          <p:cNvSpPr txBox="1"/>
          <p:nvPr/>
        </p:nvSpPr>
        <p:spPr>
          <a:xfrm>
            <a:off x="4521200" y="3333750"/>
            <a:ext cx="101600" cy="1905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 fontScale="25000" lnSpcReduction="20000"/>
          </a:bodyPr>
          <a:lstStyle/>
          <a:p>
            <a:endParaRPr lang="zh-CN" altLang="en-US"/>
          </a:p>
        </p:txBody>
      </p:sp>
      <p:sp>
        <p:nvSpPr>
          <p:cNvPr id="130107" name="Text Box 59"/>
          <p:cNvSpPr txBox="1"/>
          <p:nvPr/>
        </p:nvSpPr>
        <p:spPr>
          <a:xfrm>
            <a:off x="1016000" y="5340350"/>
            <a:ext cx="3384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例：求</a:t>
            </a:r>
            <a:r>
              <a:rPr lang="en-US" altLang="zh-CN" dirty="0">
                <a:latin typeface="Times New Roman" panose="02020603050405020304" pitchFamily="18" charset="0"/>
              </a:rPr>
              <a:t>0100</a:t>
            </a:r>
            <a:r>
              <a:rPr lang="zh-CN" altLang="en-US" dirty="0">
                <a:latin typeface="Times New Roman" panose="02020603050405020304" pitchFamily="18" charset="0"/>
              </a:rPr>
              <a:t>的海明码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2800" name="表格 32799"/>
          <p:cNvGraphicFramePr/>
          <p:nvPr/>
        </p:nvGraphicFramePr>
        <p:xfrm>
          <a:off x="2601913" y="6049963"/>
          <a:ext cx="4256088" cy="518160"/>
        </p:xfrm>
        <a:graphic>
          <a:graphicData uri="http://schemas.openxmlformats.org/drawingml/2006/table">
            <a:tbl>
              <a:tblPr/>
              <a:tblGrid>
                <a:gridCol w="601663"/>
                <a:gridCol w="615950"/>
                <a:gridCol w="601662"/>
                <a:gridCol w="655638"/>
                <a:gridCol w="617537"/>
                <a:gridCol w="582613"/>
                <a:gridCol w="581025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fontAlgn="base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Group 131"/>
          <p:cNvGrpSpPr/>
          <p:nvPr/>
        </p:nvGrpSpPr>
        <p:grpSpPr>
          <a:xfrm>
            <a:off x="4656138" y="5378450"/>
            <a:ext cx="2208212" cy="654050"/>
            <a:chOff x="2888" y="3232"/>
            <a:chExt cx="1391" cy="412"/>
          </a:xfrm>
        </p:grpSpPr>
        <p:sp>
          <p:nvSpPr>
            <p:cNvPr id="32823" name="Text Box 124"/>
            <p:cNvSpPr txBox="1"/>
            <p:nvPr/>
          </p:nvSpPr>
          <p:spPr>
            <a:xfrm>
              <a:off x="2955" y="3232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24" name="Text Box 125"/>
            <p:cNvSpPr txBox="1"/>
            <p:nvPr/>
          </p:nvSpPr>
          <p:spPr>
            <a:xfrm>
              <a:off x="2888" y="3253"/>
              <a:ext cx="13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</a:rPr>
                <a:t>         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   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25" name="Line 127"/>
            <p:cNvSpPr/>
            <p:nvPr/>
          </p:nvSpPr>
          <p:spPr>
            <a:xfrm>
              <a:off x="3024" y="3544"/>
              <a:ext cx="0" cy="1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6" name="Line 129"/>
            <p:cNvSpPr/>
            <p:nvPr/>
          </p:nvSpPr>
          <p:spPr>
            <a:xfrm>
              <a:off x="3714" y="3536"/>
              <a:ext cx="0" cy="1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7" name="Line 130"/>
            <p:cNvSpPr/>
            <p:nvPr/>
          </p:nvSpPr>
          <p:spPr>
            <a:xfrm>
              <a:off x="4071" y="3528"/>
              <a:ext cx="0" cy="1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71" name="圆角矩形标注 23"/>
          <p:cNvSpPr/>
          <p:nvPr/>
        </p:nvSpPr>
        <p:spPr>
          <a:xfrm>
            <a:off x="6551613" y="3362325"/>
            <a:ext cx="2430462" cy="920750"/>
          </a:xfrm>
          <a:prstGeom prst="wedgeRoundRectCallout">
            <a:avLst>
              <a:gd name="adj1" fmla="val -58843"/>
              <a:gd name="adj2" fmla="val -71588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校验位置于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</a:rPr>
              <a:t>码位上</a:t>
            </a:r>
            <a:r>
              <a:rPr lang="en-US" altLang="zh-CN" sz="2400" dirty="0">
                <a:latin typeface="Times New Roman" panose="02020603050405020304" pitchFamily="18" charset="0"/>
              </a:rPr>
              <a:t>(i=0,1,2…)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0772" name="TextBox 24"/>
          <p:cNvSpPr txBox="1"/>
          <p:nvPr/>
        </p:nvSpPr>
        <p:spPr>
          <a:xfrm>
            <a:off x="2409825" y="2463800"/>
            <a:ext cx="40655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7      6     5     4      3     2      1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21" name="AutoShape 5">
            <a:hlinkClick r:id="rId1" action="ppaction://hlinksldjump"/>
          </p:cNvPr>
          <p:cNvSpPr/>
          <p:nvPr/>
        </p:nvSpPr>
        <p:spPr>
          <a:xfrm>
            <a:off x="8158163" y="6324600"/>
            <a:ext cx="215900" cy="228600"/>
          </a:xfrm>
          <a:prstGeom prst="downArrow">
            <a:avLst>
              <a:gd name="adj1" fmla="val 50000"/>
              <a:gd name="adj2" fmla="val 37519"/>
            </a:avLst>
          </a:prstGeom>
          <a:solidFill>
            <a:srgbClr val="FFCC00"/>
          </a:solidFill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822" name="AutoShape 5">
            <a:hlinkClick r:id="rId2" action="ppaction://hlinksldjump"/>
          </p:cNvPr>
          <p:cNvSpPr/>
          <p:nvPr/>
        </p:nvSpPr>
        <p:spPr>
          <a:xfrm>
            <a:off x="8534400" y="6324600"/>
            <a:ext cx="215900" cy="228600"/>
          </a:xfrm>
          <a:prstGeom prst="downArrow">
            <a:avLst>
              <a:gd name="adj1" fmla="val 50000"/>
              <a:gd name="adj2" fmla="val 37519"/>
            </a:avLst>
          </a:prstGeom>
          <a:solidFill>
            <a:srgbClr val="FFCC00"/>
          </a:solidFill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" name="Group 58"/>
          <p:cNvGrpSpPr/>
          <p:nvPr/>
        </p:nvGrpSpPr>
        <p:grpSpPr>
          <a:xfrm>
            <a:off x="3111500" y="3738563"/>
            <a:ext cx="2908300" cy="1658937"/>
            <a:chOff x="1871" y="2187"/>
            <a:chExt cx="1832" cy="10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Object 42"/>
                <p:cNvSpPr txBox="1"/>
                <p:nvPr/>
              </p:nvSpPr>
              <p:spPr>
                <a:xfrm>
                  <a:off x="2056" y="2187"/>
                  <a:ext cx="1647" cy="36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9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6" y="2187"/>
                  <a:ext cx="1647" cy="366"/>
                </a:xfrm>
                <a:prstGeom prst="rect">
                  <a:avLst/>
                </a:prstGeom>
                <a:blipFill rotWithShape="1">
                  <a:blip r:embed="rId3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57"/>
            <p:cNvGrpSpPr/>
            <p:nvPr/>
          </p:nvGrpSpPr>
          <p:grpSpPr>
            <a:xfrm>
              <a:off x="1871" y="2316"/>
              <a:ext cx="1779" cy="916"/>
              <a:chOff x="1904" y="2315"/>
              <a:chExt cx="1779" cy="91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Object 46"/>
                  <p:cNvSpPr txBox="1"/>
                  <p:nvPr/>
                </p:nvSpPr>
                <p:spPr>
                  <a:xfrm>
                    <a:off x="2101" y="2891"/>
                    <a:ext cx="1582" cy="34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1" name="Object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1" y="2891"/>
                    <a:ext cx="1582" cy="340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Object 49"/>
                  <p:cNvSpPr txBox="1"/>
                  <p:nvPr/>
                </p:nvSpPr>
                <p:spPr>
                  <a:xfrm>
                    <a:off x="2101" y="2540"/>
                    <a:ext cx="1532" cy="34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75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2" name="Object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1" y="2540"/>
                    <a:ext cx="1532" cy="345"/>
                  </a:xfrm>
                  <a:prstGeom prst="rect">
                    <a:avLst/>
                  </a:prstGeom>
                  <a:blipFill rotWithShape="1">
                    <a:blip r:embed="rId5"/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AutoShape 56"/>
              <p:cNvSpPr/>
              <p:nvPr/>
            </p:nvSpPr>
            <p:spPr>
              <a:xfrm>
                <a:off x="1904" y="2315"/>
                <a:ext cx="74" cy="786"/>
              </a:xfrm>
              <a:prstGeom prst="leftBrace">
                <a:avLst>
                  <a:gd name="adj1" fmla="val 88513"/>
                  <a:gd name="adj2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0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0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/>
      <p:bldP spid="130054" grpId="0"/>
      <p:bldP spid="130056" grpId="0"/>
      <p:bldP spid="130085" grpId="0"/>
      <p:bldP spid="130107" grpId="0"/>
      <p:bldP spid="30771" grpId="0" animBg="1"/>
      <p:bldP spid="3077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3100388" y="930275"/>
            <a:ext cx="26987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海明码的分组表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58913" y="1741488"/>
          <a:ext cx="6598024" cy="23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653"/>
                <a:gridCol w="5443371"/>
              </a:tblGrid>
              <a:tr h="57590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               </a:t>
                      </a:r>
                      <a:r>
                        <a:rPr lang="zh-CN" altLang="en-US" dirty="0"/>
                        <a:t>码  位</a:t>
                      </a:r>
                      <a:r>
                        <a:rPr lang="en-US" altLang="zh-CN" dirty="0"/>
                        <a:t> 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   7        6        5        4        3       2       1</a:t>
                      </a:r>
                      <a:endParaRPr lang="zh-CN" altLang="en-US" dirty="0"/>
                    </a:p>
                  </a:txBody>
                  <a:tcPr/>
                </a:tc>
              </a:tr>
              <a:tr h="575908">
                <a:tc>
                  <a:txBody>
                    <a:bodyPr/>
                    <a:lstStyle/>
                    <a:p>
                      <a:r>
                        <a:rPr lang="en-US" altLang="zh-CN" dirty="0"/>
                        <a:t>  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I4                 I2                 I1 </a:t>
                      </a:r>
                      <a:endParaRPr lang="zh-CN" altLang="en-US" dirty="0"/>
                    </a:p>
                  </a:txBody>
                  <a:tcPr/>
                </a:tc>
              </a:tr>
              <a:tr h="575908">
                <a:tc>
                  <a:txBody>
                    <a:bodyPr/>
                    <a:lstStyle/>
                    <a:p>
                      <a:r>
                        <a:rPr lang="en-US" altLang="zh-CN" dirty="0"/>
                        <a:t>  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I4       I3                           I1</a:t>
                      </a:r>
                      <a:endParaRPr lang="zh-CN" altLang="en-US" dirty="0"/>
                    </a:p>
                  </a:txBody>
                  <a:tcPr/>
                </a:tc>
              </a:tr>
              <a:tr h="575908">
                <a:tc>
                  <a:txBody>
                    <a:bodyPr/>
                    <a:lstStyle/>
                    <a:p>
                      <a:r>
                        <a:rPr lang="en-US" altLang="zh-CN" dirty="0"/>
                        <a:t>  P3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I4       I3       I2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957263" y="4308475"/>
            <a:ext cx="7566025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        将码位号用二进制表示，在例的方向由下往上，如码位号为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，由下往上填</a:t>
            </a:r>
            <a:r>
              <a:rPr lang="en-US" altLang="zh-CN" dirty="0">
                <a:latin typeface="Times New Roman" panose="02020603050405020304" pitchFamily="18" charset="0"/>
              </a:rPr>
              <a:t>110</a:t>
            </a:r>
            <a:r>
              <a:rPr lang="zh-CN" altLang="en-US" dirty="0">
                <a:latin typeface="Times New Roman" panose="02020603050405020304" pitchFamily="18" charset="0"/>
              </a:rPr>
              <a:t>，然后将每位相应的码元在列的方向填在该码位为“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”的位置。例码位为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的码元为</a:t>
            </a:r>
            <a:r>
              <a:rPr lang="en-US" altLang="zh-CN" dirty="0">
                <a:latin typeface="Times New Roman" panose="02020603050405020304" pitchFamily="18" charset="0"/>
              </a:rPr>
              <a:t>I3</a:t>
            </a:r>
            <a:r>
              <a:rPr lang="zh-CN" altLang="en-US" dirty="0">
                <a:latin typeface="Times New Roman" panose="02020603050405020304" pitchFamily="18" charset="0"/>
              </a:rPr>
              <a:t>，在它列下填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I3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5493" name="AutoShape 5">
            <a:hlinkClick r:id="rId1" action="ppaction://hlinksldjump"/>
          </p:cNvPr>
          <p:cNvSpPr/>
          <p:nvPr/>
        </p:nvSpPr>
        <p:spPr>
          <a:xfrm flipV="1">
            <a:off x="247650" y="6334125"/>
            <a:ext cx="215900" cy="230188"/>
          </a:xfrm>
          <a:prstGeom prst="downArrow">
            <a:avLst>
              <a:gd name="adj1" fmla="val 50000"/>
              <a:gd name="adj2" fmla="val 37484"/>
            </a:avLst>
          </a:prstGeom>
          <a:solidFill>
            <a:srgbClr val="FFCC00"/>
          </a:solidFill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Text Box 4"/>
          <p:cNvSpPr txBox="1"/>
          <p:nvPr/>
        </p:nvSpPr>
        <p:spPr>
          <a:xfrm>
            <a:off x="981075" y="715963"/>
            <a:ext cx="27590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海明码校验和：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55" name="Text Box 15"/>
          <p:cNvSpPr txBox="1"/>
          <p:nvPr/>
        </p:nvSpPr>
        <p:spPr>
          <a:xfrm>
            <a:off x="1384300" y="2595563"/>
            <a:ext cx="58324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solidFill>
                  <a:srgbClr val="6B03E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rgbClr val="6B03E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6B03E9"/>
                </a:solidFill>
                <a:latin typeface="Times New Roman" panose="02020603050405020304" pitchFamily="18" charset="0"/>
              </a:rPr>
              <a:t>=0 </a:t>
            </a:r>
            <a:r>
              <a:rPr lang="zh-CN" altLang="en-US" dirty="0">
                <a:solidFill>
                  <a:srgbClr val="6B03E9"/>
                </a:solidFill>
                <a:latin typeface="Times New Roman" panose="02020603050405020304" pitchFamily="18" charset="0"/>
              </a:rPr>
              <a:t>无错；</a:t>
            </a:r>
            <a:r>
              <a:rPr lang="en-US" altLang="zh-CN" dirty="0">
                <a:solidFill>
                  <a:srgbClr val="6B03E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rgbClr val="6B03E9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6B03E9"/>
                </a:solidFill>
                <a:latin typeface="Times New Roman" panose="02020603050405020304" pitchFamily="18" charset="0"/>
              </a:rPr>
              <a:t>=1 </a:t>
            </a:r>
            <a:r>
              <a:rPr lang="zh-CN" altLang="en-US" dirty="0">
                <a:solidFill>
                  <a:srgbClr val="6B03E9"/>
                </a:solidFill>
                <a:latin typeface="Times New Roman" panose="02020603050405020304" pitchFamily="18" charset="0"/>
              </a:rPr>
              <a:t>出错。（</a:t>
            </a:r>
            <a:r>
              <a:rPr lang="en-US" altLang="zh-CN" dirty="0">
                <a:solidFill>
                  <a:srgbClr val="6B03E9"/>
                </a:solidFill>
                <a:latin typeface="Times New Roman" panose="02020603050405020304" pitchFamily="18" charset="0"/>
              </a:rPr>
              <a:t>i=0,1,2</a:t>
            </a:r>
            <a:r>
              <a:rPr lang="zh-CN" altLang="en-US" dirty="0">
                <a:solidFill>
                  <a:srgbClr val="6B03E9"/>
                </a:solidFill>
                <a:latin typeface="Times New Roman" panose="02020603050405020304" pitchFamily="18" charset="0"/>
              </a:rPr>
              <a:t>）</a:t>
            </a:r>
            <a:endParaRPr lang="zh-CN" altLang="en-US" dirty="0">
              <a:solidFill>
                <a:srgbClr val="6B03E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56" name="Text Box 16"/>
          <p:cNvSpPr txBox="1"/>
          <p:nvPr/>
        </p:nvSpPr>
        <p:spPr>
          <a:xfrm>
            <a:off x="1052513" y="3281363"/>
            <a:ext cx="2851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海明码错误定位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8375" name="Text Box 135"/>
          <p:cNvSpPr txBox="1"/>
          <p:nvPr/>
        </p:nvSpPr>
        <p:spPr>
          <a:xfrm>
            <a:off x="1700213" y="3827463"/>
            <a:ext cx="6075362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</a:rPr>
              <a:t>000</a:t>
            </a:r>
            <a:r>
              <a:rPr lang="zh-CN" altLang="en-US" dirty="0">
                <a:latin typeface="Times New Roman" panose="02020603050405020304" pitchFamily="18" charset="0"/>
              </a:rPr>
              <a:t>说明无错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</a:rPr>
              <a:t>111</a:t>
            </a:r>
            <a:r>
              <a:rPr lang="zh-CN" altLang="en-US" dirty="0">
                <a:latin typeface="Times New Roman" panose="02020603050405020304" pitchFamily="18" charset="0"/>
              </a:rPr>
              <a:t>至</a:t>
            </a:r>
            <a:r>
              <a:rPr lang="en-US" altLang="zh-CN" dirty="0">
                <a:latin typeface="Times New Roman" panose="02020603050405020304" pitchFamily="18" charset="0"/>
              </a:rPr>
              <a:t>001</a:t>
            </a:r>
            <a:r>
              <a:rPr lang="zh-CN" altLang="en-US" dirty="0">
                <a:latin typeface="Times New Roman" panose="02020603050405020304" pitchFamily="18" charset="0"/>
              </a:rPr>
              <a:t>表明一位出错位置。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377" name="Text Box 137"/>
          <p:cNvSpPr txBox="1"/>
          <p:nvPr/>
        </p:nvSpPr>
        <p:spPr>
          <a:xfrm>
            <a:off x="1455738" y="5867400"/>
            <a:ext cx="61547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S2=1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r>
              <a:rPr lang="en-US" altLang="zh-CN" dirty="0">
                <a:latin typeface="Times New Roman" panose="02020603050405020304" pitchFamily="18" charset="0"/>
              </a:rPr>
              <a:t>S1=0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r>
              <a:rPr lang="en-US" altLang="zh-CN" dirty="0">
                <a:latin typeface="Times New Roman" panose="02020603050405020304" pitchFamily="18" charset="0"/>
              </a:rPr>
              <a:t>S0=1  </a:t>
            </a:r>
            <a:r>
              <a:rPr lang="zh-CN" altLang="en-US" dirty="0">
                <a:latin typeface="Times New Roman" panose="02020603050405020304" pitchFamily="18" charset="0"/>
              </a:rPr>
              <a:t>说明第五位出错。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88557" y="4748213"/>
            <a:ext cx="4244181" cy="912812"/>
            <a:chOff x="3688557" y="4748213"/>
            <a:chExt cx="4244181" cy="912812"/>
          </a:xfrm>
        </p:grpSpPr>
        <p:cxnSp>
          <p:nvCxnSpPr>
            <p:cNvPr id="138379" name="AutoShape 139"/>
            <p:cNvCxnSpPr/>
            <p:nvPr/>
          </p:nvCxnSpPr>
          <p:spPr>
            <a:xfrm rot="5400000" flipV="1">
              <a:off x="5287963" y="3440113"/>
              <a:ext cx="268287" cy="3467100"/>
            </a:xfrm>
            <a:prstGeom prst="bentConnector4">
              <a:avLst>
                <a:gd name="adj1" fmla="val -85208"/>
                <a:gd name="adj2" fmla="val 82648"/>
              </a:avLst>
            </a:prstGeom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grpSp>
          <p:nvGrpSpPr>
            <p:cNvPr id="6" name="Group 144"/>
            <p:cNvGrpSpPr/>
            <p:nvPr/>
          </p:nvGrpSpPr>
          <p:grpSpPr>
            <a:xfrm>
              <a:off x="7177088" y="4748213"/>
              <a:ext cx="755650" cy="912812"/>
              <a:chOff x="4521" y="2991"/>
              <a:chExt cx="476" cy="575"/>
            </a:xfrm>
          </p:grpSpPr>
          <p:sp>
            <p:nvSpPr>
              <p:cNvPr id="33809" name="AutoShape 141"/>
              <p:cNvSpPr/>
              <p:nvPr/>
            </p:nvSpPr>
            <p:spPr>
              <a:xfrm>
                <a:off x="4521" y="2991"/>
                <a:ext cx="476" cy="575"/>
              </a:xfrm>
              <a:prstGeom prst="irregularSeal2">
                <a:avLst/>
              </a:prstGeom>
              <a:solidFill>
                <a:srgbClr val="FF99CC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10" name="Text Box 140"/>
              <p:cNvSpPr txBox="1"/>
              <p:nvPr/>
            </p:nvSpPr>
            <p:spPr>
              <a:xfrm>
                <a:off x="4561" y="3098"/>
                <a:ext cx="33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</a:rPr>
                  <a:t>错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" name="Group 143"/>
          <p:cNvGrpSpPr/>
          <p:nvPr/>
        </p:nvGrpSpPr>
        <p:grpSpPr>
          <a:xfrm>
            <a:off x="1125538" y="4881563"/>
            <a:ext cx="4673600" cy="908050"/>
            <a:chOff x="709" y="3075"/>
            <a:chExt cx="2944" cy="572"/>
          </a:xfrm>
        </p:grpSpPr>
        <p:sp>
          <p:nvSpPr>
            <p:cNvPr id="33807" name="Text Box 136"/>
            <p:cNvSpPr txBox="1"/>
            <p:nvPr/>
          </p:nvSpPr>
          <p:spPr>
            <a:xfrm>
              <a:off x="709" y="3075"/>
              <a:ext cx="294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</a:rPr>
                <a:t>例：接收  </a:t>
              </a:r>
              <a:r>
                <a:rPr lang="en-US" altLang="zh-CN" dirty="0">
                  <a:latin typeface="Times New Roman" panose="02020603050405020304" pitchFamily="18" charset="0"/>
                </a:rPr>
                <a:t>0  1   1   1   0   1   0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08" name="Text Box 142"/>
            <p:cNvSpPr txBox="1"/>
            <p:nvPr/>
          </p:nvSpPr>
          <p:spPr>
            <a:xfrm>
              <a:off x="1690" y="3320"/>
              <a:ext cx="19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4  </a:t>
              </a:r>
              <a:r>
                <a:rPr lang="en-US" altLang="zh-CN" dirty="0"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    </a:t>
              </a:r>
              <a:r>
                <a:rPr lang="en-US" altLang="zh-CN" dirty="0"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  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   </a:t>
              </a:r>
              <a:r>
                <a:rPr lang="en-US" altLang="zh-CN" dirty="0"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   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  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806" name="AutoShape 5">
            <a:hlinkClick r:id="rId1" action="ppaction://hlinksldjump"/>
          </p:cNvPr>
          <p:cNvSpPr/>
          <p:nvPr/>
        </p:nvSpPr>
        <p:spPr>
          <a:xfrm flipV="1">
            <a:off x="247650" y="6334125"/>
            <a:ext cx="215900" cy="230188"/>
          </a:xfrm>
          <a:prstGeom prst="downArrow">
            <a:avLst>
              <a:gd name="adj1" fmla="val 50000"/>
              <a:gd name="adj2" fmla="val 37484"/>
            </a:avLst>
          </a:prstGeom>
          <a:solidFill>
            <a:srgbClr val="FFCC00"/>
          </a:solidFill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" name="Group 14"/>
          <p:cNvGrpSpPr/>
          <p:nvPr/>
        </p:nvGrpSpPr>
        <p:grpSpPr>
          <a:xfrm>
            <a:off x="3306763" y="1182688"/>
            <a:ext cx="3479800" cy="1455737"/>
            <a:chOff x="1972" y="1344"/>
            <a:chExt cx="2192" cy="91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Object 5"/>
                <p:cNvSpPr txBox="1"/>
                <p:nvPr/>
              </p:nvSpPr>
              <p:spPr>
                <a:xfrm>
                  <a:off x="2134" y="1624"/>
                  <a:ext cx="2026" cy="3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9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" y="1624"/>
                  <a:ext cx="2026" cy="354"/>
                </a:xfrm>
                <a:prstGeom prst="rect">
                  <a:avLst/>
                </a:prstGeom>
                <a:blipFill rotWithShape="1">
                  <a:blip r:embed="rId2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Object 7"/>
                <p:cNvSpPr txBox="1"/>
                <p:nvPr/>
              </p:nvSpPr>
              <p:spPr>
                <a:xfrm>
                  <a:off x="2129" y="1344"/>
                  <a:ext cx="2035" cy="35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0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9" y="1344"/>
                  <a:ext cx="2035" cy="350"/>
                </a:xfrm>
                <a:prstGeom prst="rect">
                  <a:avLst/>
                </a:prstGeom>
                <a:blipFill rotWithShape="1">
                  <a:blip r:embed="rId3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Object 10"/>
                <p:cNvSpPr txBox="1"/>
                <p:nvPr/>
              </p:nvSpPr>
              <p:spPr>
                <a:xfrm>
                  <a:off x="2126" y="1906"/>
                  <a:ext cx="2032" cy="35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6" y="1906"/>
                  <a:ext cx="2032" cy="355"/>
                </a:xfrm>
                <a:prstGeom prst="rect">
                  <a:avLst/>
                </a:prstGeom>
                <a:blipFill rotWithShape="1">
                  <a:blip r:embed="rId4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AutoShape 13"/>
            <p:cNvSpPr/>
            <p:nvPr/>
          </p:nvSpPr>
          <p:spPr>
            <a:xfrm>
              <a:off x="1972" y="1529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3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138255" grpId="0"/>
      <p:bldP spid="138256" grpId="0"/>
      <p:bldP spid="138375" grpId="0"/>
      <p:bldP spid="13837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内容占位符 2"/>
          <p:cNvSpPr>
            <a:spLocks noGrp="1"/>
          </p:cNvSpPr>
          <p:nvPr>
            <p:ph sz="half" idx="1"/>
          </p:nvPr>
        </p:nvSpPr>
        <p:spPr>
          <a:xfrm>
            <a:off x="457200" y="1290638"/>
            <a:ext cx="8191500" cy="4576762"/>
          </a:xfrm>
        </p:spPr>
        <p:txBody>
          <a:bodyPr vert="horz" wrap="square" lIns="91440" tIns="45720" rIns="91440" bIns="45720" anchor="t" anchorCtr="0"/>
          <a:lstStyle/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dirty="0"/>
              <a:t>3</a:t>
            </a:r>
            <a:r>
              <a:rPr lang="zh-CN" altLang="en-US" dirty="0"/>
              <a:t>个校验方程形成的校验结果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0</a:t>
            </a:r>
            <a:r>
              <a:rPr lang="zh-CN" altLang="en-US" dirty="0"/>
              <a:t>共有</a:t>
            </a:r>
            <a:r>
              <a:rPr lang="en-US" altLang="zh-CN" dirty="0"/>
              <a:t>8</a:t>
            </a:r>
            <a:r>
              <a:rPr lang="zh-CN" altLang="en-US" dirty="0"/>
              <a:t>种不同的取值，可以指示</a:t>
            </a:r>
            <a:r>
              <a:rPr lang="en-US" altLang="zh-CN" dirty="0"/>
              <a:t>7</a:t>
            </a:r>
            <a:r>
              <a:rPr lang="zh-CN" altLang="en-US" dirty="0"/>
              <a:t>个码元的出错。即</a:t>
            </a:r>
            <a:r>
              <a:rPr lang="en-US" altLang="zh-CN" dirty="0"/>
              <a:t>3</a:t>
            </a:r>
            <a:r>
              <a:rPr lang="zh-CN" altLang="en-US" dirty="0"/>
              <a:t>个校验码最多指出</a:t>
            </a:r>
            <a:r>
              <a:rPr lang="en-US" altLang="zh-CN" dirty="0"/>
              <a:t>2</a:t>
            </a:r>
            <a:r>
              <a:rPr lang="en-US" altLang="zh-CN" baseline="30000" dirty="0"/>
              <a:t>3</a:t>
            </a:r>
            <a:r>
              <a:rPr lang="en-US" altLang="zh-CN" dirty="0"/>
              <a:t>-1</a:t>
            </a:r>
            <a:r>
              <a:rPr lang="zh-CN" altLang="en-US" dirty="0"/>
              <a:t>个码元的错误，其中信息码元个数为</a:t>
            </a:r>
            <a:r>
              <a:rPr lang="en-US" altLang="zh-CN" b="1" dirty="0"/>
              <a:t>(</a:t>
            </a:r>
            <a:r>
              <a:rPr lang="en-US" altLang="zh-CN" dirty="0"/>
              <a:t>2</a:t>
            </a:r>
            <a:r>
              <a:rPr lang="en-US" altLang="zh-CN" baseline="30000" dirty="0"/>
              <a:t>3</a:t>
            </a:r>
            <a:r>
              <a:rPr lang="en-US" altLang="zh-CN" dirty="0"/>
              <a:t>-1</a:t>
            </a:r>
            <a:r>
              <a:rPr lang="en-US" altLang="zh-CN" b="1" dirty="0"/>
              <a:t>)-</a:t>
            </a:r>
            <a:r>
              <a:rPr lang="en-US" altLang="zh-CN" dirty="0"/>
              <a:t>3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dirty="0"/>
              <a:t>对于</a:t>
            </a:r>
            <a:r>
              <a:rPr lang="en-US" altLang="zh-CN" i="1" dirty="0"/>
              <a:t>n</a:t>
            </a:r>
            <a:r>
              <a:rPr lang="zh-CN" altLang="en-US" dirty="0"/>
              <a:t>位信息码，</a:t>
            </a:r>
            <a:r>
              <a:rPr lang="en-US" altLang="zh-CN" i="1" dirty="0"/>
              <a:t>k</a:t>
            </a:r>
            <a:r>
              <a:rPr lang="zh-CN" altLang="en-US" dirty="0"/>
              <a:t>位校验码，可推论得：</a:t>
            </a:r>
            <a:endParaRPr lang="en-US" altLang="zh-CN" dirty="0"/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        </a:t>
            </a:r>
            <a:r>
              <a:rPr lang="en-US" altLang="zh-CN" b="1" dirty="0"/>
              <a:t>(</a:t>
            </a:r>
            <a:r>
              <a:rPr lang="en-US" altLang="zh-CN" dirty="0"/>
              <a:t>2</a:t>
            </a:r>
            <a:r>
              <a:rPr lang="en-US" altLang="zh-CN" i="1" baseline="30000" dirty="0"/>
              <a:t>k</a:t>
            </a:r>
            <a:r>
              <a:rPr lang="en-US" altLang="zh-CN" dirty="0"/>
              <a:t>-1</a:t>
            </a:r>
            <a:r>
              <a:rPr lang="en-US" altLang="zh-CN" b="1" dirty="0"/>
              <a:t>)-</a:t>
            </a:r>
            <a:r>
              <a:rPr lang="en-US" altLang="zh-CN" i="1" dirty="0"/>
              <a:t>k</a:t>
            </a:r>
            <a:r>
              <a:rPr lang="en-US" altLang="zh-CN" dirty="0"/>
              <a:t>=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因此检验位数</a:t>
            </a:r>
            <a:r>
              <a:rPr lang="en-US" altLang="zh-CN" dirty="0"/>
              <a:t>r</a:t>
            </a:r>
            <a:r>
              <a:rPr lang="zh-CN" altLang="en-US" dirty="0"/>
              <a:t>为可满足下列不等式的最小整数：</a:t>
            </a:r>
            <a:r>
              <a:rPr lang="en-US" altLang="zh-CN" b="1" dirty="0"/>
              <a:t> </a:t>
            </a:r>
            <a:r>
              <a:rPr lang="en-US" altLang="zh-CN" dirty="0"/>
              <a:t>2</a:t>
            </a:r>
            <a:r>
              <a:rPr lang="en-US" altLang="zh-CN" i="1" baseline="30000" dirty="0"/>
              <a:t>k</a:t>
            </a:r>
            <a:r>
              <a:rPr lang="en-US" altLang="zh-CN" dirty="0"/>
              <a:t>&gt;=</a:t>
            </a:r>
            <a:r>
              <a:rPr lang="en-US" altLang="zh-CN" i="1" dirty="0"/>
              <a:t>k</a:t>
            </a:r>
            <a:r>
              <a:rPr lang="en-US" altLang="zh-CN" dirty="0"/>
              <a:t>+</a:t>
            </a:r>
            <a:r>
              <a:rPr lang="en-US" altLang="zh-CN" i="1" dirty="0"/>
              <a:t>n</a:t>
            </a:r>
            <a:r>
              <a:rPr lang="en-US" altLang="zh-CN" dirty="0"/>
              <a:t>+1</a:t>
            </a:r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Text Box 4"/>
          <p:cNvSpPr txBox="1"/>
          <p:nvPr/>
        </p:nvSpPr>
        <p:spPr>
          <a:xfrm>
            <a:off x="857250" y="663575"/>
            <a:ext cx="5216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海明码信息位与校验位的关系：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6523" name="Text Box 91"/>
          <p:cNvSpPr txBox="1"/>
          <p:nvPr/>
        </p:nvSpPr>
        <p:spPr>
          <a:xfrm>
            <a:off x="1154113" y="2012950"/>
            <a:ext cx="62293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为校验位位数；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为信息位位数。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54"/>
          <p:cNvGrpSpPr/>
          <p:nvPr/>
        </p:nvGrpSpPr>
        <p:grpSpPr>
          <a:xfrm>
            <a:off x="1639888" y="2746375"/>
            <a:ext cx="4899025" cy="3795713"/>
            <a:chOff x="1033" y="1730"/>
            <a:chExt cx="3086" cy="2391"/>
          </a:xfrm>
        </p:grpSpPr>
        <p:grpSp>
          <p:nvGrpSpPr>
            <p:cNvPr id="34824" name="Group 150"/>
            <p:cNvGrpSpPr/>
            <p:nvPr/>
          </p:nvGrpSpPr>
          <p:grpSpPr>
            <a:xfrm>
              <a:off x="1033" y="1730"/>
              <a:ext cx="3086" cy="2391"/>
              <a:chOff x="2717" y="1230"/>
              <a:chExt cx="2544" cy="2945"/>
            </a:xfrm>
          </p:grpSpPr>
          <p:sp>
            <p:nvSpPr>
              <p:cNvPr id="34827" name="Rectangle 122"/>
              <p:cNvSpPr/>
              <p:nvPr/>
            </p:nvSpPr>
            <p:spPr>
              <a:xfrm>
                <a:off x="4413" y="3838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255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8" name="Rectangle 121"/>
              <p:cNvSpPr/>
              <p:nvPr/>
            </p:nvSpPr>
            <p:spPr>
              <a:xfrm>
                <a:off x="3565" y="3838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247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9" name="Rectangle 120"/>
              <p:cNvSpPr/>
              <p:nvPr/>
            </p:nvSpPr>
            <p:spPr>
              <a:xfrm>
                <a:off x="2717" y="3838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8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30" name="Rectangle 119"/>
              <p:cNvSpPr/>
              <p:nvPr/>
            </p:nvSpPr>
            <p:spPr>
              <a:xfrm>
                <a:off x="4413" y="3512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127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31" name="Rectangle 118"/>
              <p:cNvSpPr/>
              <p:nvPr/>
            </p:nvSpPr>
            <p:spPr>
              <a:xfrm>
                <a:off x="3565" y="3512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120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32" name="Rectangle 117"/>
              <p:cNvSpPr/>
              <p:nvPr/>
            </p:nvSpPr>
            <p:spPr>
              <a:xfrm>
                <a:off x="2717" y="3512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7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33" name="Rectangle 116"/>
              <p:cNvSpPr/>
              <p:nvPr/>
            </p:nvSpPr>
            <p:spPr>
              <a:xfrm>
                <a:off x="4413" y="3186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63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34" name="Rectangle 115"/>
              <p:cNvSpPr/>
              <p:nvPr/>
            </p:nvSpPr>
            <p:spPr>
              <a:xfrm>
                <a:off x="3565" y="3186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57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35" name="Rectangle 114"/>
              <p:cNvSpPr/>
              <p:nvPr/>
            </p:nvSpPr>
            <p:spPr>
              <a:xfrm>
                <a:off x="2717" y="3186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6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36" name="Rectangle 113"/>
              <p:cNvSpPr/>
              <p:nvPr/>
            </p:nvSpPr>
            <p:spPr>
              <a:xfrm>
                <a:off x="4413" y="2860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31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37" name="Rectangle 112"/>
              <p:cNvSpPr/>
              <p:nvPr/>
            </p:nvSpPr>
            <p:spPr>
              <a:xfrm>
                <a:off x="3565" y="2860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26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38" name="Rectangle 111"/>
              <p:cNvSpPr/>
              <p:nvPr/>
            </p:nvSpPr>
            <p:spPr>
              <a:xfrm>
                <a:off x="2717" y="2860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5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39" name="Rectangle 110"/>
              <p:cNvSpPr/>
              <p:nvPr/>
            </p:nvSpPr>
            <p:spPr>
              <a:xfrm>
                <a:off x="4413" y="2534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15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40" name="Rectangle 109"/>
              <p:cNvSpPr/>
              <p:nvPr/>
            </p:nvSpPr>
            <p:spPr>
              <a:xfrm>
                <a:off x="3565" y="2534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11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41" name="Rectangle 108"/>
              <p:cNvSpPr/>
              <p:nvPr/>
            </p:nvSpPr>
            <p:spPr>
              <a:xfrm>
                <a:off x="2717" y="2534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4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42" name="Rectangle 107"/>
              <p:cNvSpPr/>
              <p:nvPr/>
            </p:nvSpPr>
            <p:spPr>
              <a:xfrm>
                <a:off x="4413" y="2208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 7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43" name="Rectangle 106"/>
              <p:cNvSpPr/>
              <p:nvPr/>
            </p:nvSpPr>
            <p:spPr>
              <a:xfrm>
                <a:off x="3565" y="2208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 4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44" name="Rectangle 105"/>
              <p:cNvSpPr/>
              <p:nvPr/>
            </p:nvSpPr>
            <p:spPr>
              <a:xfrm>
                <a:off x="2717" y="2208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3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45" name="Rectangle 104"/>
              <p:cNvSpPr/>
              <p:nvPr/>
            </p:nvSpPr>
            <p:spPr>
              <a:xfrm>
                <a:off x="4413" y="1882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 3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46" name="Rectangle 103"/>
              <p:cNvSpPr/>
              <p:nvPr/>
            </p:nvSpPr>
            <p:spPr>
              <a:xfrm>
                <a:off x="3565" y="1882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      1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47" name="Rectangle 102"/>
              <p:cNvSpPr/>
              <p:nvPr/>
            </p:nvSpPr>
            <p:spPr>
              <a:xfrm>
                <a:off x="2717" y="1882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2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48" name="Rectangle 101"/>
              <p:cNvSpPr/>
              <p:nvPr/>
            </p:nvSpPr>
            <p:spPr>
              <a:xfrm>
                <a:off x="4413" y="1556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1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49" name="Rectangle 100"/>
              <p:cNvSpPr/>
              <p:nvPr/>
            </p:nvSpPr>
            <p:spPr>
              <a:xfrm>
                <a:off x="3565" y="1556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0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50" name="Rectangle 99"/>
              <p:cNvSpPr/>
              <p:nvPr/>
            </p:nvSpPr>
            <p:spPr>
              <a:xfrm>
                <a:off x="2717" y="1556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1" name="Rectangle 98"/>
              <p:cNvSpPr/>
              <p:nvPr/>
            </p:nvSpPr>
            <p:spPr>
              <a:xfrm>
                <a:off x="4413" y="1230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000" b="1" dirty="0">
                    <a:latin typeface="Arial" panose="020B0604020202020204" pitchFamily="34" charset="0"/>
                  </a:rPr>
                  <a:t>海明码位数</a:t>
                </a:r>
                <a:endParaRPr lang="zh-CN" altLang="en-US" sz="20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52" name="Rectangle 97"/>
              <p:cNvSpPr/>
              <p:nvPr/>
            </p:nvSpPr>
            <p:spPr>
              <a:xfrm>
                <a:off x="3565" y="1230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t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n</a:t>
                </a:r>
                <a:r>
                  <a:rPr lang="en-US" altLang="zh-CN" baseline="-25000" dirty="0">
                    <a:latin typeface="Arial" panose="020B0604020202020204" pitchFamily="34" charset="0"/>
                  </a:rPr>
                  <a:t>max</a:t>
                </a:r>
                <a:endParaRPr lang="en-US" altLang="zh-CN" baseline="-25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53" name="Rectangle 96"/>
              <p:cNvSpPr/>
              <p:nvPr/>
            </p:nvSpPr>
            <p:spPr>
              <a:xfrm>
                <a:off x="2717" y="1230"/>
                <a:ext cx="848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dirty="0">
                    <a:latin typeface="Arial" panose="020B0604020202020204" pitchFamily="34" charset="0"/>
                  </a:rPr>
                  <a:t>k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54" name="Line 123"/>
              <p:cNvSpPr/>
              <p:nvPr/>
            </p:nvSpPr>
            <p:spPr>
              <a:xfrm>
                <a:off x="2717" y="1230"/>
                <a:ext cx="254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5" name="Line 124"/>
              <p:cNvSpPr/>
              <p:nvPr/>
            </p:nvSpPr>
            <p:spPr>
              <a:xfrm>
                <a:off x="2717" y="1556"/>
                <a:ext cx="25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6" name="Line 125"/>
              <p:cNvSpPr/>
              <p:nvPr/>
            </p:nvSpPr>
            <p:spPr>
              <a:xfrm>
                <a:off x="2717" y="1882"/>
                <a:ext cx="25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7" name="Line 126"/>
              <p:cNvSpPr/>
              <p:nvPr/>
            </p:nvSpPr>
            <p:spPr>
              <a:xfrm>
                <a:off x="2717" y="2208"/>
                <a:ext cx="25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8" name="Line 127"/>
              <p:cNvSpPr/>
              <p:nvPr/>
            </p:nvSpPr>
            <p:spPr>
              <a:xfrm>
                <a:off x="2717" y="2534"/>
                <a:ext cx="25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9" name="Line 128"/>
              <p:cNvSpPr/>
              <p:nvPr/>
            </p:nvSpPr>
            <p:spPr>
              <a:xfrm>
                <a:off x="2717" y="2860"/>
                <a:ext cx="25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0" name="Line 129"/>
              <p:cNvSpPr/>
              <p:nvPr/>
            </p:nvSpPr>
            <p:spPr>
              <a:xfrm>
                <a:off x="2717" y="3186"/>
                <a:ext cx="25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1" name="Line 130"/>
              <p:cNvSpPr/>
              <p:nvPr/>
            </p:nvSpPr>
            <p:spPr>
              <a:xfrm>
                <a:off x="2717" y="3512"/>
                <a:ext cx="25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2" name="Line 131"/>
              <p:cNvSpPr/>
              <p:nvPr/>
            </p:nvSpPr>
            <p:spPr>
              <a:xfrm>
                <a:off x="2717" y="3838"/>
                <a:ext cx="25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3" name="Line 132"/>
              <p:cNvSpPr/>
              <p:nvPr/>
            </p:nvSpPr>
            <p:spPr>
              <a:xfrm>
                <a:off x="2717" y="4175"/>
                <a:ext cx="254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4" name="Line 133"/>
              <p:cNvSpPr/>
              <p:nvPr/>
            </p:nvSpPr>
            <p:spPr>
              <a:xfrm>
                <a:off x="2717" y="1230"/>
                <a:ext cx="0" cy="2934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5" name="Line 134"/>
              <p:cNvSpPr/>
              <p:nvPr/>
            </p:nvSpPr>
            <p:spPr>
              <a:xfrm>
                <a:off x="3565" y="1230"/>
                <a:ext cx="0" cy="293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6" name="Line 135"/>
              <p:cNvSpPr/>
              <p:nvPr/>
            </p:nvSpPr>
            <p:spPr>
              <a:xfrm>
                <a:off x="4413" y="1230"/>
                <a:ext cx="0" cy="293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7" name="Line 136"/>
              <p:cNvSpPr/>
              <p:nvPr/>
            </p:nvSpPr>
            <p:spPr>
              <a:xfrm>
                <a:off x="5261" y="1230"/>
                <a:ext cx="0" cy="2934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25" name="Group 153"/>
            <p:cNvGrpSpPr>
              <a:grpSpLocks noChangeAspect="1"/>
            </p:cNvGrpSpPr>
            <p:nvPr/>
          </p:nvGrpSpPr>
          <p:grpSpPr>
            <a:xfrm>
              <a:off x="2788" y="2167"/>
              <a:ext cx="88" cy="110"/>
              <a:chOff x="2788" y="2167"/>
              <a:chExt cx="88" cy="110"/>
            </a:xfrm>
          </p:grpSpPr>
          <p:sp>
            <p:nvSpPr>
              <p:cNvPr id="34826" name="AutoShape 152"/>
              <p:cNvSpPr>
                <a:spLocks noChangeAspect="1" noTextEdit="1"/>
              </p:cNvSpPr>
              <p:nvPr/>
            </p:nvSpPr>
            <p:spPr>
              <a:xfrm>
                <a:off x="2788" y="2167"/>
                <a:ext cx="88" cy="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88"/>
              <p:cNvSpPr txBox="1"/>
              <p:nvPr>
                <p:ph sz="half" idx="1"/>
              </p:nvPr>
            </p:nvSpPr>
            <p:spPr>
              <a:xfrm>
                <a:off x="4243388" y="1360488"/>
                <a:ext cx="2286000" cy="561975"/>
              </a:xfrm>
              <a:prstGeom prst="rect">
                <a:avLst/>
              </a:prstGeom>
              <a:noFill/>
              <a:ln w="38100">
                <a:miter/>
              </a:ln>
            </p:spPr>
            <p:txBody>
              <a:bodyPr>
                <a:normAutofit fontScale="7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Object 8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243388" y="1360488"/>
                <a:ext cx="2286000" cy="561975"/>
              </a:xfrm>
              <a:prstGeom prst="rect">
                <a:avLst/>
              </a:prstGeom>
              <a:blipFill rotWithShape="1">
                <a:blip r:embed="rId1"/>
                <a:stretch>
                  <a:fillRect l="-14" t="-57" r="14" b="57"/>
                </a:stretch>
              </a:blipFill>
              <a:ln w="38100"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93"/>
          <p:cNvSpPr/>
          <p:nvPr/>
        </p:nvSpPr>
        <p:spPr>
          <a:xfrm rot="5400000">
            <a:off x="4132263" y="1336675"/>
            <a:ext cx="598487" cy="609600"/>
          </a:xfrm>
          <a:prstGeom prst="wedgeEllipseCallout">
            <a:avLst>
              <a:gd name="adj1" fmla="val 130"/>
              <a:gd name="adj2" fmla="val 158329"/>
            </a:avLst>
          </a:prstGeom>
          <a:noFill/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/>
          <a:lstStyle/>
          <a:p>
            <a:pPr algn="ctr"/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Text Box 94"/>
          <p:cNvSpPr txBox="1"/>
          <p:nvPr/>
        </p:nvSpPr>
        <p:spPr>
          <a:xfrm>
            <a:off x="1333500" y="1431925"/>
            <a:ext cx="206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i="1" dirty="0">
                <a:solidFill>
                  <a:srgbClr val="6B03E9"/>
                </a:solidFill>
                <a:latin typeface="Times New Roman" panose="02020603050405020304" pitchFamily="18" charset="0"/>
              </a:rPr>
              <a:t>海明码位数</a:t>
            </a:r>
            <a:r>
              <a:rPr lang="en-US" altLang="zh-CN" sz="2400" i="1" dirty="0">
                <a:solidFill>
                  <a:srgbClr val="6B03E9"/>
                </a:solidFill>
                <a:latin typeface="Times New Roman" panose="02020603050405020304" pitchFamily="18" charset="0"/>
              </a:rPr>
              <a:t>+1</a:t>
            </a:r>
            <a:endParaRPr lang="en-US" altLang="zh-CN" sz="2400" i="1" dirty="0">
              <a:solidFill>
                <a:srgbClr val="6B03E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4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6" grpId="0"/>
      <p:bldP spid="146523" grpId="0"/>
      <p:bldP spid="6" grpId="0" bldLvl="0" animBg="1"/>
      <p:bldP spid="7" grpId="0"/>
      <p:bldP spid="7" grpId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450850" y="720725"/>
            <a:ext cx="266700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en-US" altLang="zh-CN" sz="30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2.4.3  </a:t>
            </a:r>
            <a:r>
              <a:rPr kumimoji="1" lang="zh-CN" altLang="en-US" sz="30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字符代码</a:t>
            </a:r>
            <a:endParaRPr kumimoji="1" lang="zh-CN" altLang="en-US" sz="30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1" name="Text Box 5"/>
          <p:cNvSpPr txBox="1"/>
          <p:nvPr/>
        </p:nvSpPr>
        <p:spPr>
          <a:xfrm>
            <a:off x="1293813" y="3932238"/>
            <a:ext cx="61118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/>
            <a:r>
              <a:rPr lang="zh-CN" altLang="en-US" sz="2400" b="1" u="sng" dirty="0">
                <a:solidFill>
                  <a:srgbClr val="3333FF"/>
                </a:solidFill>
                <a:latin typeface="Times New Roman" panose="02020603050405020304" pitchFamily="18" charset="0"/>
              </a:rPr>
              <a:t>注：数字</a:t>
            </a:r>
            <a:r>
              <a:rPr lang="en-US" altLang="zh-CN" sz="2400" b="1" u="sng" dirty="0">
                <a:solidFill>
                  <a:srgbClr val="3333FF"/>
                </a:solidFill>
                <a:latin typeface="Times New Roman" panose="02020603050405020304" pitchFamily="18" charset="0"/>
              </a:rPr>
              <a:t>0, 1, …, 9</a:t>
            </a:r>
            <a:r>
              <a:rPr lang="zh-CN" altLang="en-US" sz="2400" b="1" u="sng" dirty="0">
                <a:solidFill>
                  <a:srgbClr val="3333FF"/>
                </a:solidFill>
                <a:latin typeface="Times New Roman" panose="02020603050405020304" pitchFamily="18" charset="0"/>
              </a:rPr>
              <a:t>与字符</a:t>
            </a:r>
            <a:r>
              <a:rPr lang="en-US" altLang="zh-CN" sz="2400" b="1" u="sng" dirty="0">
                <a:solidFill>
                  <a:srgbClr val="3333FF"/>
                </a:solidFill>
                <a:latin typeface="Times New Roman" panose="02020603050405020304" pitchFamily="18" charset="0"/>
              </a:rPr>
              <a:t>0, 1, …, 9</a:t>
            </a:r>
            <a:r>
              <a:rPr lang="zh-CN" altLang="en-US" sz="2400" b="1" u="sng" dirty="0">
                <a:solidFill>
                  <a:srgbClr val="3333FF"/>
                </a:solidFill>
                <a:latin typeface="Times New Roman" panose="02020603050405020304" pitchFamily="18" charset="0"/>
              </a:rPr>
              <a:t>是不同的</a:t>
            </a:r>
            <a:r>
              <a:rPr lang="en-US" altLang="zh-CN" sz="2400" b="1" u="sng" dirty="0">
                <a:solidFill>
                  <a:srgbClr val="3333FF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b="1" u="sng" dirty="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2" name="矩形 4"/>
          <p:cNvSpPr/>
          <p:nvPr/>
        </p:nvSpPr>
        <p:spPr>
          <a:xfrm>
            <a:off x="635000" y="1477963"/>
            <a:ext cx="8110538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        对十进制数字、英文字母和专用符号进行编码，使计算机能够对其进行直接处理。它们的编码称为字符代码。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94213" name="矩形 5"/>
          <p:cNvSpPr/>
          <p:nvPr/>
        </p:nvSpPr>
        <p:spPr>
          <a:xfrm>
            <a:off x="612775" y="2390775"/>
            <a:ext cx="7972425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         </a:t>
            </a:r>
            <a:r>
              <a:rPr lang="en-US" altLang="zh-CN" sz="2400" dirty="0">
                <a:latin typeface="Times New Roman" panose="02020603050405020304" pitchFamily="18" charset="0"/>
              </a:rPr>
              <a:t>ASCII</a:t>
            </a:r>
            <a:r>
              <a:rPr lang="zh-CN" altLang="en-US" sz="2400" dirty="0">
                <a:latin typeface="Times New Roman" panose="02020603050405020304" pitchFamily="18" charset="0"/>
              </a:rPr>
              <a:t>码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美国标准信息交换码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是一种</a:t>
            </a:r>
            <a:r>
              <a:rPr lang="en-US" altLang="zh-CN" sz="2400" dirty="0">
                <a:latin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</a:rPr>
              <a:t>位代码，有</a:t>
            </a:r>
            <a:r>
              <a:rPr lang="en-US" altLang="zh-CN" sz="2400" dirty="0">
                <a:latin typeface="Times New Roman" panose="02020603050405020304" pitchFamily="18" charset="0"/>
              </a:rPr>
              <a:t>26</a:t>
            </a:r>
            <a:r>
              <a:rPr lang="zh-CN" altLang="en-US" sz="2400" dirty="0">
                <a:latin typeface="Times New Roman" panose="02020603050405020304" pitchFamily="18" charset="0"/>
              </a:rPr>
              <a:t>个大写的英文字母、</a:t>
            </a:r>
            <a:r>
              <a:rPr lang="en-US" altLang="zh-CN" sz="2400" dirty="0">
                <a:latin typeface="Times New Roman" panose="02020603050405020304" pitchFamily="18" charset="0"/>
              </a:rPr>
              <a:t>26</a:t>
            </a:r>
            <a:r>
              <a:rPr lang="zh-CN" altLang="en-US" sz="2400" dirty="0">
                <a:latin typeface="Times New Roman" panose="02020603050405020304" pitchFamily="18" charset="0"/>
              </a:rPr>
              <a:t>个小写的英文字母、</a:t>
            </a: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r>
              <a:rPr lang="zh-CN" altLang="en-US" sz="2400" dirty="0">
                <a:latin typeface="Times New Roman" panose="02020603050405020304" pitchFamily="18" charset="0"/>
              </a:rPr>
              <a:t>个数字符号、</a:t>
            </a:r>
            <a:r>
              <a:rPr lang="en-US" altLang="zh-CN" sz="2400" dirty="0">
                <a:latin typeface="Times New Roman" panose="02020603050405020304" pitchFamily="18" charset="0"/>
              </a:rPr>
              <a:t>34</a:t>
            </a:r>
            <a:r>
              <a:rPr lang="zh-CN" altLang="en-US" sz="2400" dirty="0">
                <a:latin typeface="Times New Roman" panose="02020603050405020304" pitchFamily="18" charset="0"/>
              </a:rPr>
              <a:t>个专用符号，总共</a:t>
            </a:r>
            <a:r>
              <a:rPr lang="en-US" altLang="zh-CN" sz="2400" dirty="0">
                <a:latin typeface="Times New Roman" panose="02020603050405020304" pitchFamily="18" charset="0"/>
              </a:rPr>
              <a:t>96</a:t>
            </a:r>
            <a:r>
              <a:rPr lang="zh-CN" altLang="en-US" sz="2400" dirty="0">
                <a:latin typeface="Times New Roman" panose="02020603050405020304" pitchFamily="18" charset="0"/>
              </a:rPr>
              <a:t>个，称为图形字符，此外还有</a:t>
            </a:r>
            <a:r>
              <a:rPr lang="en-US" altLang="zh-CN" sz="2400" dirty="0">
                <a:latin typeface="Times New Roman" panose="02020603050405020304" pitchFamily="18" charset="0"/>
              </a:rPr>
              <a:t>32</a:t>
            </a:r>
            <a:r>
              <a:rPr lang="zh-CN" altLang="en-US" sz="2400" dirty="0">
                <a:latin typeface="Times New Roman" panose="02020603050405020304" pitchFamily="18" charset="0"/>
              </a:rPr>
              <a:t>个控制字符。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94214" name="矩形 6"/>
          <p:cNvSpPr/>
          <p:nvPr/>
        </p:nvSpPr>
        <p:spPr>
          <a:xfrm>
            <a:off x="690563" y="4457700"/>
            <a:ext cx="7970837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         计算机中用一个字节</a:t>
            </a:r>
            <a:r>
              <a:rPr lang="en-US" altLang="zh-CN" sz="2400" dirty="0">
                <a:latin typeface="Times New Roman" panose="02020603050405020304" pitchFamily="18" charset="0"/>
              </a:rPr>
              <a:t>(8</a:t>
            </a:r>
            <a:r>
              <a:rPr lang="zh-CN" altLang="en-US" sz="2400" dirty="0">
                <a:latin typeface="Times New Roman" panose="02020603050405020304" pitchFamily="18" charset="0"/>
              </a:rPr>
              <a:t>位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表示一个字符，其中</a:t>
            </a:r>
            <a:r>
              <a:rPr lang="en-US" altLang="zh-CN" sz="2400" dirty="0">
                <a:latin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</a:rPr>
              <a:t>位为标准码，最高位填入奇偶校验位。好处是低</a:t>
            </a:r>
            <a:r>
              <a:rPr lang="en-US" altLang="zh-CN" sz="2400" dirty="0">
                <a:latin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</a:rPr>
              <a:t>位仍保持</a:t>
            </a:r>
            <a:r>
              <a:rPr lang="en-US" altLang="zh-CN" sz="2400" dirty="0">
                <a:latin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</a:rPr>
              <a:t>位标准码的编码，高位奇偶校验位不影响计算机的内部处理和输入输出规则。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build="p"/>
      <p:bldP spid="94212" grpId="0"/>
      <p:bldP spid="94213" grpId="0"/>
      <p:bldP spid="9421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矩形 4"/>
          <p:cNvSpPr/>
          <p:nvPr/>
        </p:nvSpPr>
        <p:spPr>
          <a:xfrm>
            <a:off x="467360" y="612775"/>
            <a:ext cx="8278495" cy="603758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</a:rPr>
              <a:t>GB2312</a:t>
            </a:r>
            <a:r>
              <a:rPr lang="zh-CN" altLang="en-US" sz="2400" dirty="0">
                <a:latin typeface="Times New Roman" panose="02020603050405020304" pitchFamily="18" charset="0"/>
              </a:rPr>
              <a:t>字符集又称为</a:t>
            </a:r>
            <a:r>
              <a:rPr lang="en-US" altLang="zh-CN" sz="2400" dirty="0">
                <a:latin typeface="Times New Roman" panose="02020603050405020304" pitchFamily="18" charset="0"/>
              </a:rPr>
              <a:t>GB2312-80</a:t>
            </a:r>
            <a:r>
              <a:rPr lang="zh-CN" altLang="en-US" sz="2400" dirty="0">
                <a:latin typeface="Times New Roman" panose="02020603050405020304" pitchFamily="18" charset="0"/>
              </a:rPr>
              <a:t>字符集，全称为《信息交换用汉字编码字符集</a:t>
            </a:r>
            <a:r>
              <a:rPr lang="en-US" altLang="zh-CN" sz="2400" dirty="0">
                <a:latin typeface="Times New Roman" panose="02020603050405020304" pitchFamily="18" charset="0"/>
              </a:rPr>
              <a:t>·</a:t>
            </a:r>
            <a:r>
              <a:rPr lang="zh-CN" altLang="en-US" sz="2400" dirty="0">
                <a:latin typeface="Times New Roman" panose="02020603050405020304" pitchFamily="18" charset="0"/>
              </a:rPr>
              <a:t>基本集》，由原中国国家标准总局发布，</a:t>
            </a:r>
            <a:r>
              <a:rPr lang="en-US" altLang="zh-CN" sz="2400" dirty="0">
                <a:latin typeface="Times New Roman" panose="02020603050405020304" pitchFamily="18" charset="0"/>
              </a:rPr>
              <a:t>1981</a:t>
            </a:r>
            <a:r>
              <a:rPr lang="zh-CN" altLang="en-US" sz="2400" dirty="0">
                <a:latin typeface="Times New Roman" panose="02020603050405020304" pitchFamily="18" charset="0"/>
              </a:rPr>
              <a:t>年实施。</a:t>
            </a:r>
            <a:r>
              <a:rPr lang="en-US" altLang="zh-CN" sz="2400" dirty="0">
                <a:latin typeface="Times New Roman" panose="02020603050405020304" pitchFamily="18" charset="0"/>
              </a:rPr>
              <a:t>GB2312</a:t>
            </a:r>
            <a:r>
              <a:rPr lang="zh-CN" altLang="en-US" sz="2400" dirty="0">
                <a:latin typeface="Times New Roman" panose="02020603050405020304" pitchFamily="18" charset="0"/>
              </a:rPr>
              <a:t>是中国国家标准的简体中文字符集。它所收录的汉字已经覆盖</a:t>
            </a:r>
            <a:r>
              <a:rPr lang="en-US" altLang="zh-CN" sz="2400" dirty="0">
                <a:latin typeface="Times New Roman" panose="02020603050405020304" pitchFamily="18" charset="0"/>
              </a:rPr>
              <a:t>99.75%</a:t>
            </a:r>
            <a:r>
              <a:rPr lang="zh-CN" altLang="en-US" sz="2400" dirty="0">
                <a:latin typeface="Times New Roman" panose="02020603050405020304" pitchFamily="18" charset="0"/>
              </a:rPr>
              <a:t>的使用频率，基本满足了汉字的计算机处理需要。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       Unicode</a:t>
            </a:r>
            <a:r>
              <a:rPr lang="zh-CN" altLang="en-US" sz="2400" dirty="0">
                <a:latin typeface="Times New Roman" panose="02020603050405020304" pitchFamily="18" charset="0"/>
              </a:rPr>
              <a:t>字符集编码是通用多八位编码字符集（</a:t>
            </a:r>
            <a:r>
              <a:rPr lang="en-US" altLang="zh-CN" sz="2400" dirty="0">
                <a:latin typeface="Times New Roman" panose="02020603050405020304" pitchFamily="18" charset="0"/>
              </a:rPr>
              <a:t>Universal Multiple-Octet Coded Character Set</a:t>
            </a:r>
            <a:r>
              <a:rPr lang="en-US" altLang="en-US" sz="2400" dirty="0">
                <a:latin typeface="Times New Roman" panose="02020603050405020304" pitchFamily="18" charset="0"/>
              </a:rPr>
              <a:t> </a:t>
            </a:r>
            <a:r>
              <a:rPr lang="zh-CN" altLang="en-US" sz="2400" dirty="0">
                <a:latin typeface="Times New Roman" panose="02020603050405020304" pitchFamily="18" charset="0"/>
              </a:rPr>
              <a:t>）的简称，能支持现今世界各种不同语言的书面文本的交换、处理及显示。它采用双字节，为每种语言中的每个字符设定了统一并且唯一的二进制编码，以满足跨语言、跨平台进行文本转换、处理的要求。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       UTF-8</a:t>
            </a:r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</a:rPr>
              <a:t>8-bit Unicode Transformation Format</a:t>
            </a:r>
            <a:r>
              <a:rPr lang="zh-CN" altLang="en-US" sz="2400" dirty="0">
                <a:latin typeface="Times New Roman" panose="02020603050405020304" pitchFamily="18" charset="0"/>
              </a:rPr>
              <a:t>）是一种针对</a:t>
            </a:r>
            <a:r>
              <a:rPr lang="en-US" altLang="zh-CN" sz="2400" dirty="0">
                <a:latin typeface="Times New Roman" panose="02020603050405020304" pitchFamily="18" charset="0"/>
              </a:rPr>
              <a:t>Unicode</a:t>
            </a:r>
            <a:r>
              <a:rPr lang="zh-CN" altLang="en-US" sz="2400" dirty="0">
                <a:latin typeface="Times New Roman" panose="02020603050405020304" pitchFamily="18" charset="0"/>
              </a:rPr>
              <a:t>的可变长度字符编码，又称万国码。该字符集使用可变长度字节来储存</a:t>
            </a:r>
            <a:r>
              <a:rPr lang="en-US" altLang="zh-CN" sz="2400" dirty="0">
                <a:latin typeface="Times New Roman" panose="02020603050405020304" pitchFamily="18" charset="0"/>
              </a:rPr>
              <a:t> Unicode</a:t>
            </a:r>
            <a:r>
              <a:rPr lang="zh-CN" altLang="en-US" sz="2400" dirty="0">
                <a:latin typeface="Times New Roman" panose="02020603050405020304" pitchFamily="18" charset="0"/>
              </a:rPr>
              <a:t>字符，如：</a:t>
            </a:r>
            <a:r>
              <a:rPr lang="en-US" altLang="zh-CN" sz="2400" dirty="0">
                <a:latin typeface="Times New Roman" panose="02020603050405020304" pitchFamily="18" charset="0"/>
              </a:rPr>
              <a:t>ASCII</a:t>
            </a:r>
            <a:r>
              <a:rPr lang="zh-CN" altLang="en-US" sz="2400" dirty="0">
                <a:latin typeface="Times New Roman" panose="02020603050405020304" pitchFamily="18" charset="0"/>
              </a:rPr>
              <a:t>字母继续使用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字节储存，重音文字、希腊字母或西里尔字母等使用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字节来储存，常用的汉字就要使用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字节，而辅助平面字符则使用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字节。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450850" y="720725"/>
            <a:ext cx="201930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fontAlgn="base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本章小结</a:t>
            </a:r>
            <a:endParaRPr kumimoji="1" lang="zh-CN" altLang="en-US" sz="36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9020" y="1477010"/>
            <a:ext cx="7247255" cy="269557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本章主要介绍数字系统中数的各种基本表示方法，包括各种不同的进位计数体制及其相互间的转换；带符号数的代码表示方法；数的定点表示与浮点表示；计算机中常用的数码与字符的代码表示。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tags/tag1.xml><?xml version="1.0" encoding="utf-8"?>
<p:tagLst xmlns:p="http://schemas.openxmlformats.org/presentationml/2006/main">
  <p:tag name="KSO_WM_DIAGRAM_VIRTUALLY_FRAME" val="{&quot;height&quot;:326.12496062992125,&quot;left&quot;:87.37503937007874,&quot;top&quot;:70.12503937007872,&quot;width&quot;:562.1249606299212}"/>
</p:tagLst>
</file>

<file path=ppt/tags/tag2.xml><?xml version="1.0" encoding="utf-8"?>
<p:tagLst xmlns:p="http://schemas.openxmlformats.org/presentationml/2006/main">
  <p:tag name="KSO_WM_DIAGRAM_VIRTUALLY_FRAME" val="{&quot;height&quot;:326.12496062992125,&quot;left&quot;:87.37503937007874,&quot;top&quot;:70.12503937007872,&quot;width&quot;:562.1249606299212}"/>
</p:tagLst>
</file>

<file path=ppt/tags/tag3.xml><?xml version="1.0" encoding="utf-8"?>
<p:tagLst xmlns:p="http://schemas.openxmlformats.org/presentationml/2006/main">
  <p:tag name="KSO_WM_DIAGRAM_VIRTUALLY_FRAME" val="{&quot;height&quot;:326.12496062992125,&quot;left&quot;:87.37503937007874,&quot;top&quot;:70.12503937007872,&quot;width&quot;:562.1249606299212}"/>
</p:tagLst>
</file>

<file path=ppt/tags/tag4.xml><?xml version="1.0" encoding="utf-8"?>
<p:tagLst xmlns:p="http://schemas.openxmlformats.org/presentationml/2006/main">
  <p:tag name="KSO_WM_DIAGRAM_VIRTUALLY_FRAME" val="{&quot;height&quot;:326.12496062992125,&quot;left&quot;:87.37503937007874,&quot;top&quot;:70.12503937007872,&quot;width&quot;:562.1249606299212}"/>
</p:tagLst>
</file>

<file path=ppt/tags/tag5.xml><?xml version="1.0" encoding="utf-8"?>
<p:tagLst xmlns:p="http://schemas.openxmlformats.org/presentationml/2006/main">
  <p:tag name="KSO_WM_DIAGRAM_VIRTUALLY_FRAME" val="{&quot;height&quot;:326.12496062992125,&quot;left&quot;:87.37503937007874,&quot;top&quot;:70.12503937007872,&quot;width&quot;:562.1249606299212}"/>
</p:tagLst>
</file>

<file path=ppt/tags/tag6.xml><?xml version="1.0" encoding="utf-8"?>
<p:tagLst xmlns:p="http://schemas.openxmlformats.org/presentationml/2006/main">
  <p:tag name="COMMONDATA" val="eyJoZGlkIjoiNzEyYTQ1ZTkxNzgyMjUxNmZmODI5MjdiYTcxOGE3YWEifQ=="/>
  <p:tag name="RESOURCE_RECORD_KEY" val="{&quot;12&quot;:[25002243]}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18140</Words>
  <Application>WPS 演示</Application>
  <PresentationFormat>全屏显示(4:3)</PresentationFormat>
  <Paragraphs>2343</Paragraphs>
  <Slides>96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16" baseType="lpstr">
      <vt:lpstr>Arial</vt:lpstr>
      <vt:lpstr>宋体</vt:lpstr>
      <vt:lpstr>Wingdings</vt:lpstr>
      <vt:lpstr>Times New Roman</vt:lpstr>
      <vt:lpstr>Arial Black</vt:lpstr>
      <vt:lpstr>华文中宋</vt:lpstr>
      <vt:lpstr>华文宋体</vt:lpstr>
      <vt:lpstr>幼圆</vt:lpstr>
      <vt:lpstr>Symbol</vt:lpstr>
      <vt:lpstr>黑体</vt:lpstr>
      <vt:lpstr>Cambria Math</vt:lpstr>
      <vt:lpstr>微软雅黑</vt:lpstr>
      <vt:lpstr>Arial Unicode MS</vt:lpstr>
      <vt:lpstr>Calibri</vt:lpstr>
      <vt:lpstr>Monotype Sorts</vt:lpstr>
      <vt:lpstr>Wingdings</vt:lpstr>
      <vt:lpstr>楷体_GB2312</vt:lpstr>
      <vt:lpstr>新宋体</vt:lpstr>
      <vt:lpstr>Pixel</vt:lpstr>
      <vt:lpstr>Excel.Sheet.8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</vt:lpstr>
      <vt:lpstr>PowerPoint 演示文稿</vt:lpstr>
      <vt:lpstr>二进制与八进制转换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格雷码的特点：</vt:lpstr>
      <vt:lpstr>典型二进制格雷码转换成二进制数的方法：</vt:lpstr>
      <vt:lpstr>步进码的形成：</vt:lpstr>
      <vt:lpstr>PowerPoint 演示文稿</vt:lpstr>
      <vt:lpstr>PowerPoint 演示文稿</vt:lpstr>
      <vt:lpstr>PowerPoint 演示文稿</vt:lpstr>
      <vt:lpstr>⑵ 简单的奇偶校验码：</vt:lpstr>
      <vt:lpstr>⑶  检错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教师</dc:creator>
  <cp:lastModifiedBy>wujing</cp:lastModifiedBy>
  <cp:revision>538</cp:revision>
  <cp:lastPrinted>1999-10-10T02:25:00Z</cp:lastPrinted>
  <dcterms:created xsi:type="dcterms:W3CDTF">1999-09-13T01:56:00Z</dcterms:created>
  <dcterms:modified xsi:type="dcterms:W3CDTF">2025-04-05T13:16:57Z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AA75AAB1CA4044988D4E9B3424361044_13</vt:lpwstr>
  </property>
  <property fmtid="{D5CDD505-2E9C-101B-9397-08002B2CF9AE}" pid="3" name="KSOProductBuildVer">
    <vt:lpwstr>2052-12.1.0.20305</vt:lpwstr>
  </property>
</Properties>
</file>