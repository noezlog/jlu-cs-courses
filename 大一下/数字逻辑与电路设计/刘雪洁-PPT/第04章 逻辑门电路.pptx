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handoutMasterIdLst>
    <p:handoutMasterId r:id="rId56"/>
  </p:handoutMasterIdLst>
  <p:sldIdLst>
    <p:sldId id="301" r:id="rId3"/>
    <p:sldId id="527" r:id="rId4"/>
    <p:sldId id="515" r:id="rId5"/>
    <p:sldId id="516" r:id="rId6"/>
    <p:sldId id="466" r:id="rId7"/>
    <p:sldId id="467" r:id="rId8"/>
    <p:sldId id="468" r:id="rId9"/>
    <p:sldId id="469" r:id="rId10"/>
    <p:sldId id="470" r:id="rId11"/>
    <p:sldId id="523" r:id="rId12"/>
    <p:sldId id="524" r:id="rId13"/>
    <p:sldId id="525" r:id="rId15"/>
    <p:sldId id="471" r:id="rId16"/>
    <p:sldId id="472" r:id="rId17"/>
    <p:sldId id="528" r:id="rId18"/>
    <p:sldId id="478" r:id="rId19"/>
    <p:sldId id="479" r:id="rId20"/>
    <p:sldId id="526" r:id="rId21"/>
    <p:sldId id="529" r:id="rId22"/>
    <p:sldId id="530" r:id="rId23"/>
    <p:sldId id="570" r:id="rId24"/>
    <p:sldId id="533" r:id="rId25"/>
    <p:sldId id="568" r:id="rId26"/>
    <p:sldId id="569" r:id="rId27"/>
    <p:sldId id="563" r:id="rId28"/>
    <p:sldId id="488" r:id="rId29"/>
    <p:sldId id="490" r:id="rId30"/>
    <p:sldId id="491" r:id="rId31"/>
    <p:sldId id="494" r:id="rId32"/>
    <p:sldId id="495" r:id="rId33"/>
    <p:sldId id="496" r:id="rId34"/>
    <p:sldId id="497" r:id="rId35"/>
    <p:sldId id="498" r:id="rId36"/>
    <p:sldId id="499" r:id="rId37"/>
    <p:sldId id="500" r:id="rId38"/>
    <p:sldId id="501" r:id="rId39"/>
    <p:sldId id="572" r:id="rId40"/>
    <p:sldId id="573" r:id="rId41"/>
    <p:sldId id="534" r:id="rId42"/>
    <p:sldId id="535" r:id="rId43"/>
    <p:sldId id="536" r:id="rId44"/>
    <p:sldId id="537" r:id="rId45"/>
    <p:sldId id="538" r:id="rId46"/>
    <p:sldId id="539" r:id="rId47"/>
    <p:sldId id="540" r:id="rId48"/>
    <p:sldId id="541" r:id="rId49"/>
    <p:sldId id="542" r:id="rId50"/>
    <p:sldId id="543" r:id="rId51"/>
    <p:sldId id="544" r:id="rId52"/>
    <p:sldId id="545" r:id="rId53"/>
    <p:sldId id="546" r:id="rId54"/>
    <p:sldId id="571" r:id="rId5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7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2DC"/>
    <a:srgbClr val="FFFFF3"/>
    <a:srgbClr val="FFE1FF"/>
    <a:srgbClr val="FF9900"/>
    <a:srgbClr val="E2FEF2"/>
    <a:srgbClr val="33CC33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03" autoAdjust="0"/>
    <p:restoredTop sz="94660" autoAdjust="0"/>
  </p:normalViewPr>
  <p:slideViewPr>
    <p:cSldViewPr snapToGrid="0" showGuides="1">
      <p:cViewPr varScale="1">
        <p:scale>
          <a:sx n="69" d="100"/>
          <a:sy n="69" d="100"/>
        </p:scale>
        <p:origin x="744" y="72"/>
      </p:cViewPr>
      <p:guideLst>
        <p:guide orient="horz" pos="1638"/>
        <p:guide pos="7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image" Target="../media/image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B9702E12-6608-41CD-9906-83CA2AD474A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7B55A-93C9-4F87-A9A7-BB478E8B201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C32B7-451D-45AF-88E0-A52274F785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C32B7-451D-45AF-88E0-A52274F785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/>
            </a:p>
          </p:txBody>
        </p:sp>
        <p:sp>
          <p:nvSpPr>
            <p:cNvPr id="4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2400"/>
            </a:p>
          </p:txBody>
        </p:sp>
        <p:grpSp>
          <p:nvGrpSpPr>
            <p:cNvPr id="5" name="Group 5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7" name="Rectangle 7"/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8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9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10" name="Rectangle 10"/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11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12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14" name="Rectangle 14"/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  <p:sp>
            <p:nvSpPr>
              <p:cNvPr id="15" name="Rectangle 15"/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endParaRPr lang="zh-CN" altLang="zh-CN" sz="2400"/>
              </a:p>
            </p:txBody>
          </p:sp>
        </p:grpSp>
      </p:grpSp>
      <p:sp>
        <p:nvSpPr>
          <p:cNvPr id="5224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224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F9378F-DDDD-4187-B086-80B32FCCF73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E619FB-3945-48E0-B87C-D3F7E5DCD9CB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4A8C4-EE84-4D01-A22A-93006A683E8F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AFBF1D-5222-42B9-B488-BB600344861C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A814CA-8802-426F-83C8-924840527A4D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B9E9-65DB-471F-8665-565B6B96077B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5676F-E656-4C43-A151-DE0897212361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C7374-6AA6-41DA-AE9A-503D3E056706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3C8998-0554-4E5F-B658-8AE5204E0983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02D839-DEEB-44F3-9C78-9E9FEDCA1150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C5253A-BBDF-4176-9BD8-A2C928B952E5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46304-F914-4400-BB22-2278F29A2D85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05569C92-AAD5-43DF-8FD4-8F653847296B}" type="slidenum">
              <a:rPr lang="en-US" altLang="zh-CN"/>
            </a:fld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1028" name="Group 4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zh-CN" sz="2400"/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2400"/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2400"/>
            </a:p>
          </p:txBody>
        </p:sp>
        <p:sp>
          <p:nvSpPr>
            <p:cNvPr id="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ctr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defRPr/>
              </a:pPr>
              <a:endParaRPr lang="zh-CN" altLang="zh-CN" sz="180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21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oleObject" Target="../embeddings/oleObject4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oleObject" Target="../embeddings/oleObject5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1" Type="http://schemas.openxmlformats.org/officeDocument/2006/relationships/oleObject" Target="../embeddings/oleObject6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6.xml"/><Relationship Id="rId7" Type="http://schemas.openxmlformats.org/officeDocument/2006/relationships/image" Target="../media/image38.png"/><Relationship Id="rId6" Type="http://schemas.openxmlformats.org/officeDocument/2006/relationships/tags" Target="../tags/tag5.xml"/><Relationship Id="rId5" Type="http://schemas.openxmlformats.org/officeDocument/2006/relationships/image" Target="../media/image37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oleObject" Target="../embeddings/oleObject7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2.png"/><Relationship Id="rId3" Type="http://schemas.openxmlformats.org/officeDocument/2006/relationships/oleObject" Target="../embeddings/oleObject9.bin"/><Relationship Id="rId2" Type="http://schemas.openxmlformats.org/officeDocument/2006/relationships/image" Target="../media/image41.png"/><Relationship Id="rId1" Type="http://schemas.openxmlformats.org/officeDocument/2006/relationships/oleObject" Target="../embeddings/oleObject8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4.wmf"/><Relationship Id="rId1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wmf"/><Relationship Id="rId1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png"/><Relationship Id="rId3" Type="http://schemas.openxmlformats.org/officeDocument/2006/relationships/oleObject" Target="../embeddings/oleObject11.bin"/><Relationship Id="rId2" Type="http://schemas.openxmlformats.org/officeDocument/2006/relationships/image" Target="../media/image47.wmf"/><Relationship Id="rId1" Type="http://schemas.openxmlformats.org/officeDocument/2006/relationships/oleObject" Target="../embeddings/oleObject10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149860" y="2476500"/>
            <a:ext cx="8715375" cy="212280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kumimoji="1" lang="zh-CN" altLang="en-US" sz="66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第四章</a:t>
            </a:r>
            <a:endParaRPr kumimoji="1" lang="zh-CN" altLang="en-US" sz="6600" b="1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hangingPunct="1">
              <a:defRPr/>
            </a:pPr>
            <a:r>
              <a:rPr kumimoji="1" lang="zh-CN" altLang="en-US" sz="6600" b="1">
                <a:solidFill>
                  <a:srgbClr val="0000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逻辑门电路</a:t>
            </a:r>
            <a:endParaRPr kumimoji="1" lang="zh-CN" altLang="en-US" sz="6600" b="1">
              <a:solidFill>
                <a:srgbClr val="0000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 bwMode="auto">
          <a:xfrm>
            <a:off x="368300" y="2954338"/>
            <a:ext cx="2971800" cy="3157537"/>
            <a:chOff x="336" y="1200"/>
            <a:chExt cx="1872" cy="1989"/>
          </a:xfrm>
        </p:grpSpPr>
        <p:sp useBgFill="1">
          <p:nvSpPr>
            <p:cNvPr id="5127" name="Rectangle 3"/>
            <p:cNvSpPr>
              <a:spLocks noChangeArrowheads="1"/>
            </p:cNvSpPr>
            <p:nvPr/>
          </p:nvSpPr>
          <p:spPr bwMode="auto">
            <a:xfrm>
              <a:off x="1118" y="2154"/>
              <a:ext cx="521" cy="517"/>
            </a:xfrm>
            <a:prstGeom prst="rect">
              <a:avLst/>
            </a:prstGeom>
            <a:ln w="9525">
              <a:solidFill>
                <a:srgbClr val="000000"/>
              </a:solidFill>
              <a:prstDash val="dash"/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28" name="Line 4"/>
            <p:cNvSpPr>
              <a:spLocks noChangeShapeType="1"/>
            </p:cNvSpPr>
            <p:nvPr/>
          </p:nvSpPr>
          <p:spPr bwMode="auto">
            <a:xfrm flipH="1">
              <a:off x="727" y="2413"/>
              <a:ext cx="39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9" name="Line 5"/>
            <p:cNvSpPr>
              <a:spLocks noChangeShapeType="1"/>
            </p:cNvSpPr>
            <p:nvPr/>
          </p:nvSpPr>
          <p:spPr bwMode="auto">
            <a:xfrm>
              <a:off x="1118" y="2413"/>
              <a:ext cx="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Line 6"/>
            <p:cNvSpPr>
              <a:spLocks noChangeShapeType="1"/>
            </p:cNvSpPr>
            <p:nvPr/>
          </p:nvSpPr>
          <p:spPr bwMode="auto">
            <a:xfrm>
              <a:off x="1378" y="2542"/>
              <a:ext cx="0" cy="3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Line 7"/>
            <p:cNvSpPr>
              <a:spLocks noChangeShapeType="1"/>
            </p:cNvSpPr>
            <p:nvPr/>
          </p:nvSpPr>
          <p:spPr bwMode="auto">
            <a:xfrm flipV="1">
              <a:off x="1378" y="2283"/>
              <a:ext cx="131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32" name="Group 8"/>
            <p:cNvGrpSpPr>
              <a:grpSpLocks noChangeAspect="1"/>
            </p:cNvGrpSpPr>
            <p:nvPr/>
          </p:nvGrpSpPr>
          <p:grpSpPr bwMode="auto">
            <a:xfrm flipH="1">
              <a:off x="1346" y="1636"/>
              <a:ext cx="82" cy="471"/>
              <a:chOff x="4860" y="8928"/>
              <a:chExt cx="360" cy="1560"/>
            </a:xfrm>
          </p:grpSpPr>
          <p:sp>
            <p:nvSpPr>
              <p:cNvPr id="5146" name="Rectangle 9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5147" name="Line 10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8" name="Line 11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133" name="Line 12"/>
            <p:cNvSpPr>
              <a:spLocks noChangeShapeType="1"/>
            </p:cNvSpPr>
            <p:nvPr/>
          </p:nvSpPr>
          <p:spPr bwMode="auto">
            <a:xfrm flipV="1">
              <a:off x="1389" y="2024"/>
              <a:ext cx="0" cy="2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4" name="Line 13"/>
            <p:cNvSpPr>
              <a:spLocks noChangeShapeType="1"/>
            </p:cNvSpPr>
            <p:nvPr/>
          </p:nvSpPr>
          <p:spPr bwMode="auto">
            <a:xfrm flipV="1">
              <a:off x="1389" y="1507"/>
              <a:ext cx="0" cy="1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5" name="Line 14"/>
            <p:cNvSpPr>
              <a:spLocks noChangeShapeType="1"/>
            </p:cNvSpPr>
            <p:nvPr/>
          </p:nvSpPr>
          <p:spPr bwMode="auto">
            <a:xfrm>
              <a:off x="1378" y="2087"/>
              <a:ext cx="52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6" name="Oval 15"/>
            <p:cNvSpPr>
              <a:spLocks noChangeArrowheads="1"/>
            </p:cNvSpPr>
            <p:nvPr/>
          </p:nvSpPr>
          <p:spPr bwMode="auto">
            <a:xfrm>
              <a:off x="1367" y="2062"/>
              <a:ext cx="33" cy="37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5137" name="Line 16"/>
            <p:cNvSpPr>
              <a:spLocks noChangeShapeType="1"/>
            </p:cNvSpPr>
            <p:nvPr/>
          </p:nvSpPr>
          <p:spPr bwMode="auto">
            <a:xfrm>
              <a:off x="1335" y="2930"/>
              <a:ext cx="8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5138" name="Text Box 17"/>
            <p:cNvSpPr txBox="1">
              <a:spLocks noChangeArrowheads="1"/>
            </p:cNvSpPr>
            <p:nvPr/>
          </p:nvSpPr>
          <p:spPr bwMode="auto">
            <a:xfrm>
              <a:off x="1509" y="2283"/>
              <a:ext cx="130" cy="259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b="1">
                  <a:latin typeface="宋体" panose="02010600030101010101" pitchFamily="2" charset="-122"/>
                </a:rPr>
                <a:t>k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5139" name="Text Box 18"/>
            <p:cNvSpPr txBox="1">
              <a:spLocks noChangeArrowheads="1"/>
            </p:cNvSpPr>
            <p:nvPr/>
          </p:nvSpPr>
          <p:spPr bwMode="auto">
            <a:xfrm>
              <a:off x="1248" y="1200"/>
              <a:ext cx="261" cy="2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b="1">
                  <a:latin typeface="宋体" panose="02010600030101010101" pitchFamily="2" charset="-122"/>
                </a:rPr>
                <a:t>V</a:t>
              </a:r>
              <a:r>
                <a:rPr lang="en-US" altLang="zh-CN" sz="1800" b="1" baseline="-25000">
                  <a:latin typeface="宋体" panose="02010600030101010101" pitchFamily="2" charset="-122"/>
                </a:rPr>
                <a:t>CC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 useBgFill="1">
          <p:nvSpPr>
            <p:cNvPr id="5140" name="Text Box 19"/>
            <p:cNvSpPr txBox="1">
              <a:spLocks noChangeArrowheads="1"/>
            </p:cNvSpPr>
            <p:nvPr/>
          </p:nvSpPr>
          <p:spPr bwMode="auto">
            <a:xfrm>
              <a:off x="738" y="2154"/>
              <a:ext cx="260" cy="259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b="1">
                  <a:latin typeface="宋体" panose="02010600030101010101" pitchFamily="2" charset="-122"/>
                </a:rPr>
                <a:t>V</a:t>
              </a:r>
              <a:r>
                <a:rPr lang="en-US" altLang="zh-CN" sz="1800" b="1" baseline="-25000">
                  <a:latin typeface="宋体" panose="02010600030101010101" pitchFamily="2" charset="-122"/>
                </a:rPr>
                <a:t>I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5141" name="Text Box 20"/>
            <p:cNvSpPr txBox="1">
              <a:spLocks noChangeArrowheads="1"/>
            </p:cNvSpPr>
            <p:nvPr/>
          </p:nvSpPr>
          <p:spPr bwMode="auto">
            <a:xfrm>
              <a:off x="1632" y="1728"/>
              <a:ext cx="260" cy="2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b="1">
                  <a:latin typeface="宋体" panose="02010600030101010101" pitchFamily="2" charset="-122"/>
                </a:rPr>
                <a:t>V</a:t>
              </a:r>
              <a:r>
                <a:rPr lang="en-US" altLang="zh-CN" sz="1800" b="1" baseline="-25000">
                  <a:latin typeface="宋体" panose="02010600030101010101" pitchFamily="2" charset="-122"/>
                </a:rPr>
                <a:t>O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5142" name="Line 21"/>
            <p:cNvSpPr>
              <a:spLocks noChangeShapeType="1"/>
            </p:cNvSpPr>
            <p:nvPr/>
          </p:nvSpPr>
          <p:spPr bwMode="auto">
            <a:xfrm>
              <a:off x="1671" y="2087"/>
              <a:ext cx="13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43" name="Line 22"/>
            <p:cNvSpPr>
              <a:spLocks noChangeShapeType="1"/>
            </p:cNvSpPr>
            <p:nvPr/>
          </p:nvSpPr>
          <p:spPr bwMode="auto">
            <a:xfrm>
              <a:off x="1595" y="2087"/>
              <a:ext cx="13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5144" name="Text Box 23"/>
            <p:cNvSpPr txBox="1">
              <a:spLocks noChangeAspect="1" noChangeArrowheads="1"/>
            </p:cNvSpPr>
            <p:nvPr/>
          </p:nvSpPr>
          <p:spPr bwMode="auto">
            <a:xfrm>
              <a:off x="336" y="1636"/>
              <a:ext cx="260" cy="1553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1800" b="1">
                  <a:latin typeface="宋体" panose="02010600030101010101" pitchFamily="2" charset="-122"/>
                </a:rPr>
                <a:t>输入信号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 useBgFill="1">
          <p:nvSpPr>
            <p:cNvPr id="5145" name="Text Box 24"/>
            <p:cNvSpPr txBox="1">
              <a:spLocks noChangeArrowheads="1"/>
            </p:cNvSpPr>
            <p:nvPr/>
          </p:nvSpPr>
          <p:spPr bwMode="auto">
            <a:xfrm>
              <a:off x="2016" y="1680"/>
              <a:ext cx="192" cy="1008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zh-CN" altLang="en-US" sz="1800" b="1">
                  <a:latin typeface="宋体" panose="02010600030101010101" pitchFamily="2" charset="-122"/>
                </a:rPr>
                <a:t>输出信号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</p:grpSp>
      <p:sp>
        <p:nvSpPr>
          <p:cNvPr id="5123" name="Text Box 25"/>
          <p:cNvSpPr txBox="1">
            <a:spLocks noChangeArrowheads="1"/>
          </p:cNvSpPr>
          <p:nvPr/>
        </p:nvSpPr>
        <p:spPr bwMode="auto">
          <a:xfrm>
            <a:off x="3752850" y="2597150"/>
            <a:ext cx="48006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</a:rPr>
              <a:t>数字电路是二值逻辑电路。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    用“</a:t>
            </a:r>
            <a:r>
              <a:rPr lang="en-US" altLang="zh-CN" sz="2400" b="1">
                <a:latin typeface="宋体" panose="02010600030101010101" pitchFamily="2" charset="-122"/>
              </a:rPr>
              <a:t>1”</a:t>
            </a:r>
            <a:r>
              <a:rPr lang="zh-CN" altLang="en-US" sz="2400" b="1">
                <a:latin typeface="宋体" panose="02010600030101010101" pitchFamily="2" charset="-122"/>
              </a:rPr>
              <a:t>、“</a:t>
            </a:r>
            <a:r>
              <a:rPr lang="en-US" altLang="zh-CN" sz="2400" b="1">
                <a:latin typeface="宋体" panose="02010600030101010101" pitchFamily="2" charset="-122"/>
              </a:rPr>
              <a:t>0”</a:t>
            </a:r>
            <a:r>
              <a:rPr lang="zh-CN" altLang="en-US" sz="2400" b="1">
                <a:latin typeface="宋体" panose="02010600030101010101" pitchFamily="2" charset="-122"/>
              </a:rPr>
              <a:t>表示高低电平。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正逻辑： “</a:t>
            </a:r>
            <a:r>
              <a:rPr lang="en-US" altLang="zh-CN" sz="2400" b="1">
                <a:latin typeface="宋体" panose="02010600030101010101" pitchFamily="2" charset="-122"/>
              </a:rPr>
              <a:t>1”</a:t>
            </a:r>
            <a:r>
              <a:rPr lang="zh-CN" altLang="en-US" sz="2400" b="1">
                <a:latin typeface="宋体" panose="02010600030101010101" pitchFamily="2" charset="-122"/>
              </a:rPr>
              <a:t>：表示高电平。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         “</a:t>
            </a:r>
            <a:r>
              <a:rPr lang="en-US" altLang="zh-CN" sz="2400" b="1">
                <a:latin typeface="宋体" panose="02010600030101010101" pitchFamily="2" charset="-122"/>
              </a:rPr>
              <a:t>0”</a:t>
            </a:r>
            <a:r>
              <a:rPr lang="zh-CN" altLang="en-US" sz="2400" b="1">
                <a:latin typeface="宋体" panose="02010600030101010101" pitchFamily="2" charset="-122"/>
              </a:rPr>
              <a:t>：表示低电平。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负逻辑： “</a:t>
            </a:r>
            <a:r>
              <a:rPr lang="en-US" altLang="zh-CN" sz="2400" b="1">
                <a:latin typeface="宋体" panose="02010600030101010101" pitchFamily="2" charset="-122"/>
              </a:rPr>
              <a:t>0”</a:t>
            </a:r>
            <a:r>
              <a:rPr lang="zh-CN" altLang="en-US" sz="2400" b="1">
                <a:latin typeface="宋体" panose="02010600030101010101" pitchFamily="2" charset="-122"/>
              </a:rPr>
              <a:t>：表示高电平。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         “</a:t>
            </a:r>
            <a:r>
              <a:rPr lang="en-US" altLang="zh-CN" sz="2400" b="1">
                <a:latin typeface="宋体" panose="02010600030101010101" pitchFamily="2" charset="-122"/>
              </a:rPr>
              <a:t>1”</a:t>
            </a:r>
            <a:r>
              <a:rPr lang="zh-CN" altLang="en-US" sz="2400" b="1">
                <a:latin typeface="宋体" panose="02010600030101010101" pitchFamily="2" charset="-122"/>
              </a:rPr>
              <a:t>：表示低电平。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5124" name="Text Box 26"/>
          <p:cNvSpPr txBox="1">
            <a:spLocks noChangeArrowheads="1"/>
          </p:cNvSpPr>
          <p:nvPr/>
        </p:nvSpPr>
        <p:spPr bwMode="auto">
          <a:xfrm>
            <a:off x="0" y="850900"/>
            <a:ext cx="9144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latin typeface="宋体" panose="02010600030101010101" pitchFamily="2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</a:rPr>
              <a:t>开关电路（逻辑电路）中的开关</a:t>
            </a:r>
            <a:r>
              <a:rPr lang="en-US" altLang="zh-CN" sz="2400" b="1">
                <a:latin typeface="宋体" panose="02010600030101010101" pitchFamily="2" charset="-122"/>
              </a:rPr>
              <a:t>K</a:t>
            </a:r>
            <a:r>
              <a:rPr lang="zh-CN" altLang="en-US" sz="2400" b="1">
                <a:latin typeface="宋体" panose="02010600030101010101" pitchFamily="2" charset="-122"/>
              </a:rPr>
              <a:t>由二极管或三极管电路构成。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在输入电压</a:t>
            </a:r>
            <a:r>
              <a:rPr lang="en-US" altLang="zh-CN" sz="2400" b="1">
                <a:latin typeface="宋体" panose="02010600030101010101" pitchFamily="2" charset="-122"/>
              </a:rPr>
              <a:t>V</a:t>
            </a:r>
            <a:r>
              <a:rPr lang="en-US" altLang="zh-CN" sz="2400" b="1" baseline="-25000">
                <a:latin typeface="宋体" panose="02010600030101010101" pitchFamily="2" charset="-122"/>
              </a:rPr>
              <a:t>i</a:t>
            </a:r>
            <a:r>
              <a:rPr lang="zh-CN" altLang="en-US" sz="2400" b="1">
                <a:latin typeface="宋体" panose="02010600030101010101" pitchFamily="2" charset="-122"/>
              </a:rPr>
              <a:t>的作用下使二极管或三极管电路处于导通或截止状态。</a:t>
            </a:r>
            <a:endParaRPr lang="zh-CN" altLang="en-US" sz="24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输出电压：</a:t>
            </a:r>
            <a:r>
              <a:rPr lang="en-US" altLang="zh-CN" sz="2400" b="1">
                <a:latin typeface="宋体" panose="02010600030101010101" pitchFamily="2" charset="-122"/>
              </a:rPr>
              <a:t>K</a:t>
            </a:r>
            <a:r>
              <a:rPr lang="zh-CN" altLang="en-US" sz="2400" b="1">
                <a:latin typeface="宋体" panose="02010600030101010101" pitchFamily="2" charset="-122"/>
              </a:rPr>
              <a:t>导通时，</a:t>
            </a:r>
            <a:r>
              <a:rPr lang="en-US" altLang="zh-CN" sz="2400" b="1">
                <a:latin typeface="宋体" panose="02010600030101010101" pitchFamily="2" charset="-122"/>
              </a:rPr>
              <a:t>0V</a:t>
            </a:r>
            <a:r>
              <a:rPr lang="zh-CN" altLang="en-US" sz="2400" b="1">
                <a:latin typeface="宋体" panose="02010600030101010101" pitchFamily="2" charset="-122"/>
              </a:rPr>
              <a:t>（低电平）； </a:t>
            </a:r>
            <a:r>
              <a:rPr lang="en-US" altLang="zh-CN" sz="2400" b="1">
                <a:latin typeface="宋体" panose="02010600030101010101" pitchFamily="2" charset="-122"/>
              </a:rPr>
              <a:t>K</a:t>
            </a:r>
            <a:r>
              <a:rPr lang="zh-CN" altLang="en-US" sz="2400" b="1">
                <a:latin typeface="宋体" panose="02010600030101010101" pitchFamily="2" charset="-122"/>
              </a:rPr>
              <a:t>断开时， </a:t>
            </a:r>
            <a:r>
              <a:rPr lang="en-US" altLang="zh-CN" sz="2400" b="1">
                <a:latin typeface="宋体" panose="02010600030101010101" pitchFamily="2" charset="-122"/>
              </a:rPr>
              <a:t>V</a:t>
            </a:r>
            <a:r>
              <a:rPr lang="en-US" altLang="zh-CN" sz="2400" b="1" baseline="-25000">
                <a:latin typeface="宋体" panose="02010600030101010101" pitchFamily="2" charset="-122"/>
              </a:rPr>
              <a:t>CC</a:t>
            </a:r>
            <a:r>
              <a:rPr lang="zh-CN" altLang="en-US" sz="2400" b="1">
                <a:latin typeface="宋体" panose="02010600030101010101" pitchFamily="2" charset="-122"/>
              </a:rPr>
              <a:t>（高电平）</a:t>
            </a:r>
            <a:endParaRPr lang="en-US" altLang="zh-CN" sz="2400" b="1" baseline="-25000">
              <a:latin typeface="宋体" panose="02010600030101010101" pitchFamily="2" charset="-122"/>
            </a:endParaRPr>
          </a:p>
        </p:txBody>
      </p:sp>
      <p:sp>
        <p:nvSpPr>
          <p:cNvPr id="5125" name="Text Box 27"/>
          <p:cNvSpPr txBox="1">
            <a:spLocks noChangeArrowheads="1"/>
          </p:cNvSpPr>
          <p:nvPr/>
        </p:nvSpPr>
        <p:spPr bwMode="auto">
          <a:xfrm>
            <a:off x="4833938" y="5969000"/>
            <a:ext cx="3444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一般采用正逻辑关系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5126" name="Text Box 28"/>
          <p:cNvSpPr txBox="1">
            <a:spLocks noChangeArrowheads="1"/>
          </p:cNvSpPr>
          <p:nvPr/>
        </p:nvSpPr>
        <p:spPr bwMode="auto">
          <a:xfrm>
            <a:off x="637858" y="328295"/>
            <a:ext cx="2057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宋体" panose="02010600030101010101" pitchFamily="2" charset="-122"/>
              </a:rPr>
              <a:t>4.1 </a:t>
            </a:r>
            <a:r>
              <a:rPr lang="zh-CN" altLang="en-US" sz="2800" b="1">
                <a:latin typeface="宋体" panose="02010600030101010101" pitchFamily="2" charset="-122"/>
              </a:rPr>
              <a:t>概  述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84163" y="896938"/>
            <a:ext cx="365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latin typeface="Arial" panose="020B0604020202020204" pitchFamily="34" charset="0"/>
              </a:rPr>
              <a:t>1</a:t>
            </a:r>
            <a:r>
              <a:rPr lang="zh-CN" altLang="en-US" b="1">
                <a:latin typeface="Arial" panose="020B0604020202020204" pitchFamily="34" charset="0"/>
              </a:rPr>
              <a:t>、晶体二极管的开关特性</a:t>
            </a:r>
            <a:endParaRPr lang="zh-CN" altLang="en-US">
              <a:latin typeface="Arial" panose="020B0604020202020204" pitchFamily="34" charset="0"/>
            </a:endParaRPr>
          </a:p>
        </p:txBody>
      </p:sp>
      <p:grpSp>
        <p:nvGrpSpPr>
          <p:cNvPr id="6147" name="Group 3"/>
          <p:cNvGrpSpPr/>
          <p:nvPr/>
        </p:nvGrpSpPr>
        <p:grpSpPr bwMode="auto">
          <a:xfrm>
            <a:off x="5562600" y="533400"/>
            <a:ext cx="3352800" cy="2406650"/>
            <a:chOff x="192" y="672"/>
            <a:chExt cx="2112" cy="1516"/>
          </a:xfrm>
        </p:grpSpPr>
        <p:sp>
          <p:nvSpPr>
            <p:cNvPr id="6220" name="Line 4"/>
            <p:cNvSpPr>
              <a:spLocks noChangeShapeType="1"/>
            </p:cNvSpPr>
            <p:nvPr/>
          </p:nvSpPr>
          <p:spPr bwMode="auto">
            <a:xfrm flipV="1">
              <a:off x="1245" y="1347"/>
              <a:ext cx="0" cy="21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221" name="Group 5"/>
            <p:cNvGrpSpPr>
              <a:grpSpLocks noChangeAspect="1"/>
            </p:cNvGrpSpPr>
            <p:nvPr/>
          </p:nvGrpSpPr>
          <p:grpSpPr bwMode="auto">
            <a:xfrm flipH="1">
              <a:off x="1207" y="1032"/>
              <a:ext cx="73" cy="382"/>
              <a:chOff x="4860" y="8928"/>
              <a:chExt cx="360" cy="1560"/>
            </a:xfrm>
          </p:grpSpPr>
          <p:sp>
            <p:nvSpPr>
              <p:cNvPr id="6248" name="Rectangle 6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49" name="Line 7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0" name="Line 8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222" name="Line 9"/>
            <p:cNvSpPr>
              <a:spLocks noChangeShapeType="1"/>
            </p:cNvSpPr>
            <p:nvPr/>
          </p:nvSpPr>
          <p:spPr bwMode="auto">
            <a:xfrm flipV="1">
              <a:off x="1245" y="927"/>
              <a:ext cx="0" cy="105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3" name="Line 10"/>
            <p:cNvSpPr>
              <a:spLocks noChangeShapeType="1"/>
            </p:cNvSpPr>
            <p:nvPr/>
          </p:nvSpPr>
          <p:spPr bwMode="auto">
            <a:xfrm>
              <a:off x="1236" y="1977"/>
              <a:ext cx="0" cy="2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4" name="Line 11"/>
            <p:cNvSpPr>
              <a:spLocks noChangeShapeType="1"/>
            </p:cNvSpPr>
            <p:nvPr/>
          </p:nvSpPr>
          <p:spPr bwMode="auto">
            <a:xfrm>
              <a:off x="1197" y="2188"/>
              <a:ext cx="7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25" name="Oval 12"/>
            <p:cNvSpPr>
              <a:spLocks noChangeArrowheads="1"/>
            </p:cNvSpPr>
            <p:nvPr/>
          </p:nvSpPr>
          <p:spPr bwMode="auto">
            <a:xfrm>
              <a:off x="1229" y="1548"/>
              <a:ext cx="29" cy="3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226" name="Oval 13"/>
            <p:cNvSpPr>
              <a:spLocks noChangeArrowheads="1"/>
            </p:cNvSpPr>
            <p:nvPr/>
          </p:nvSpPr>
          <p:spPr bwMode="auto">
            <a:xfrm>
              <a:off x="1219" y="1967"/>
              <a:ext cx="29" cy="31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 useBgFill="1">
          <p:nvSpPr>
            <p:cNvPr id="6227" name="Text Box 14"/>
            <p:cNvSpPr txBox="1">
              <a:spLocks noChangeArrowheads="1"/>
            </p:cNvSpPr>
            <p:nvPr/>
          </p:nvSpPr>
          <p:spPr bwMode="auto">
            <a:xfrm>
              <a:off x="1132" y="672"/>
              <a:ext cx="245" cy="181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V</a:t>
              </a:r>
              <a:r>
                <a:rPr lang="en-US" altLang="zh-CN" sz="1600" b="1" baseline="-25000"/>
                <a:t>CC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6228" name="Text Box 15"/>
            <p:cNvSpPr txBox="1">
              <a:spLocks noChangeArrowheads="1"/>
            </p:cNvSpPr>
            <p:nvPr/>
          </p:nvSpPr>
          <p:spPr bwMode="auto">
            <a:xfrm>
              <a:off x="1332" y="1138"/>
              <a:ext cx="233" cy="209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R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6229" name="Text Box 16"/>
            <p:cNvSpPr txBox="1">
              <a:spLocks noChangeArrowheads="1"/>
            </p:cNvSpPr>
            <p:nvPr/>
          </p:nvSpPr>
          <p:spPr bwMode="auto">
            <a:xfrm>
              <a:off x="846" y="1259"/>
              <a:ext cx="160" cy="146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D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6230" name="Text Box 17"/>
            <p:cNvSpPr txBox="1">
              <a:spLocks noChangeArrowheads="1"/>
            </p:cNvSpPr>
            <p:nvPr/>
          </p:nvSpPr>
          <p:spPr bwMode="auto">
            <a:xfrm>
              <a:off x="2072" y="1665"/>
              <a:ext cx="232" cy="211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V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O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grpSp>
          <p:nvGrpSpPr>
            <p:cNvPr id="6231" name="Group 18"/>
            <p:cNvGrpSpPr/>
            <p:nvPr/>
          </p:nvGrpSpPr>
          <p:grpSpPr bwMode="auto">
            <a:xfrm>
              <a:off x="192" y="1517"/>
              <a:ext cx="73" cy="76"/>
              <a:chOff x="8280" y="12471"/>
              <a:chExt cx="720" cy="780"/>
            </a:xfrm>
          </p:grpSpPr>
          <p:sp>
            <p:nvSpPr>
              <p:cNvPr id="6246" name="Line 19"/>
              <p:cNvSpPr>
                <a:spLocks noChangeShapeType="1"/>
              </p:cNvSpPr>
              <p:nvPr/>
            </p:nvSpPr>
            <p:spPr bwMode="auto">
              <a:xfrm>
                <a:off x="8280" y="1282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7" name="Line 20"/>
              <p:cNvSpPr>
                <a:spLocks noChangeShapeType="1"/>
              </p:cNvSpPr>
              <p:nvPr/>
            </p:nvSpPr>
            <p:spPr bwMode="auto">
              <a:xfrm>
                <a:off x="8640" y="12471"/>
                <a:ext cx="0" cy="7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232" name="Group 21"/>
            <p:cNvGrpSpPr/>
            <p:nvPr/>
          </p:nvGrpSpPr>
          <p:grpSpPr bwMode="auto">
            <a:xfrm>
              <a:off x="2077" y="1517"/>
              <a:ext cx="73" cy="76"/>
              <a:chOff x="8280" y="12471"/>
              <a:chExt cx="720" cy="780"/>
            </a:xfrm>
          </p:grpSpPr>
          <p:sp>
            <p:nvSpPr>
              <p:cNvPr id="6244" name="Line 22"/>
              <p:cNvSpPr>
                <a:spLocks noChangeShapeType="1"/>
              </p:cNvSpPr>
              <p:nvPr/>
            </p:nvSpPr>
            <p:spPr bwMode="auto">
              <a:xfrm>
                <a:off x="8280" y="1282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5" name="Line 23"/>
              <p:cNvSpPr>
                <a:spLocks noChangeShapeType="1"/>
              </p:cNvSpPr>
              <p:nvPr/>
            </p:nvSpPr>
            <p:spPr bwMode="auto">
              <a:xfrm>
                <a:off x="8640" y="12471"/>
                <a:ext cx="0" cy="7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233" name="Line 24"/>
            <p:cNvSpPr>
              <a:spLocks noChangeShapeType="1"/>
            </p:cNvSpPr>
            <p:nvPr/>
          </p:nvSpPr>
          <p:spPr bwMode="auto">
            <a:xfrm>
              <a:off x="2077" y="1977"/>
              <a:ext cx="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4" name="Line 25"/>
            <p:cNvSpPr>
              <a:spLocks noChangeShapeType="1"/>
            </p:cNvSpPr>
            <p:nvPr/>
          </p:nvSpPr>
          <p:spPr bwMode="auto">
            <a:xfrm>
              <a:off x="192" y="1977"/>
              <a:ext cx="7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235" name="Group 26"/>
            <p:cNvGrpSpPr/>
            <p:nvPr/>
          </p:nvGrpSpPr>
          <p:grpSpPr bwMode="auto">
            <a:xfrm>
              <a:off x="801" y="1483"/>
              <a:ext cx="219" cy="153"/>
              <a:chOff x="8999" y="11735"/>
              <a:chExt cx="340" cy="227"/>
            </a:xfrm>
          </p:grpSpPr>
          <p:sp>
            <p:nvSpPr>
              <p:cNvPr id="6240" name="AutoShape 27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41" name="Line 28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2" name="Line 29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3" name="Line 30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 useBgFill="1">
          <p:nvSpPr>
            <p:cNvPr id="6236" name="Text Box 31"/>
            <p:cNvSpPr txBox="1">
              <a:spLocks noChangeArrowheads="1"/>
            </p:cNvSpPr>
            <p:nvPr/>
          </p:nvSpPr>
          <p:spPr bwMode="auto">
            <a:xfrm>
              <a:off x="192" y="1680"/>
              <a:ext cx="232" cy="211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V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i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6237" name="Line 32"/>
            <p:cNvSpPr>
              <a:spLocks noChangeShapeType="1"/>
            </p:cNvSpPr>
            <p:nvPr/>
          </p:nvSpPr>
          <p:spPr bwMode="auto">
            <a:xfrm>
              <a:off x="336" y="1968"/>
              <a:ext cx="163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8" name="Line 33"/>
            <p:cNvSpPr>
              <a:spLocks noChangeShapeType="1"/>
            </p:cNvSpPr>
            <p:nvPr/>
          </p:nvSpPr>
          <p:spPr bwMode="auto">
            <a:xfrm>
              <a:off x="960" y="1560"/>
              <a:ext cx="100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39" name="Line 34"/>
            <p:cNvSpPr>
              <a:spLocks noChangeShapeType="1"/>
            </p:cNvSpPr>
            <p:nvPr/>
          </p:nvSpPr>
          <p:spPr bwMode="auto">
            <a:xfrm>
              <a:off x="376" y="1560"/>
              <a:ext cx="43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8019" name="Group 35"/>
          <p:cNvGrpSpPr/>
          <p:nvPr/>
        </p:nvGrpSpPr>
        <p:grpSpPr bwMode="auto">
          <a:xfrm>
            <a:off x="1066800" y="3886200"/>
            <a:ext cx="4089400" cy="2644775"/>
            <a:chOff x="2976" y="576"/>
            <a:chExt cx="2576" cy="1666"/>
          </a:xfrm>
        </p:grpSpPr>
        <p:grpSp>
          <p:nvGrpSpPr>
            <p:cNvPr id="6152" name="Group 36"/>
            <p:cNvGrpSpPr/>
            <p:nvPr/>
          </p:nvGrpSpPr>
          <p:grpSpPr bwMode="auto">
            <a:xfrm rot="10800000">
              <a:off x="3436" y="576"/>
              <a:ext cx="162" cy="148"/>
              <a:chOff x="8999" y="11735"/>
              <a:chExt cx="340" cy="227"/>
            </a:xfrm>
          </p:grpSpPr>
          <p:sp>
            <p:nvSpPr>
              <p:cNvPr id="6216" name="AutoShape 37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17" name="Line 38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8" name="Line 39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9" name="Line 40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53" name="Group 41"/>
            <p:cNvGrpSpPr>
              <a:grpSpLocks noChangeAspect="1"/>
            </p:cNvGrpSpPr>
            <p:nvPr/>
          </p:nvGrpSpPr>
          <p:grpSpPr bwMode="auto">
            <a:xfrm flipH="1">
              <a:off x="3838" y="759"/>
              <a:ext cx="54" cy="370"/>
              <a:chOff x="4860" y="8928"/>
              <a:chExt cx="360" cy="1560"/>
            </a:xfrm>
          </p:grpSpPr>
          <p:sp>
            <p:nvSpPr>
              <p:cNvPr id="6213" name="Rectangle 42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14" name="Line 43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5" name="Line 44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54" name="Line 45"/>
            <p:cNvSpPr>
              <a:spLocks noChangeShapeType="1"/>
            </p:cNvSpPr>
            <p:nvPr/>
          </p:nvSpPr>
          <p:spPr bwMode="auto">
            <a:xfrm flipH="1">
              <a:off x="3091" y="1268"/>
              <a:ext cx="77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6155" name="Text Box 46"/>
            <p:cNvSpPr txBox="1">
              <a:spLocks noChangeArrowheads="1"/>
            </p:cNvSpPr>
            <p:nvPr/>
          </p:nvSpPr>
          <p:spPr bwMode="auto">
            <a:xfrm>
              <a:off x="3709" y="848"/>
              <a:ext cx="108" cy="236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R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grpSp>
          <p:nvGrpSpPr>
            <p:cNvPr id="6156" name="Group 47"/>
            <p:cNvGrpSpPr/>
            <p:nvPr/>
          </p:nvGrpSpPr>
          <p:grpSpPr bwMode="auto">
            <a:xfrm>
              <a:off x="2976" y="624"/>
              <a:ext cx="54" cy="75"/>
              <a:chOff x="8280" y="12471"/>
              <a:chExt cx="720" cy="780"/>
            </a:xfrm>
          </p:grpSpPr>
          <p:sp>
            <p:nvSpPr>
              <p:cNvPr id="6211" name="Line 48"/>
              <p:cNvSpPr>
                <a:spLocks noChangeShapeType="1"/>
              </p:cNvSpPr>
              <p:nvPr/>
            </p:nvSpPr>
            <p:spPr bwMode="auto">
              <a:xfrm>
                <a:off x="8280" y="1282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2" name="Line 49"/>
              <p:cNvSpPr>
                <a:spLocks noChangeShapeType="1"/>
              </p:cNvSpPr>
              <p:nvPr/>
            </p:nvSpPr>
            <p:spPr bwMode="auto">
              <a:xfrm>
                <a:off x="8640" y="12471"/>
                <a:ext cx="0" cy="7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57" name="Line 50"/>
            <p:cNvSpPr>
              <a:spLocks noChangeShapeType="1"/>
            </p:cNvSpPr>
            <p:nvPr/>
          </p:nvSpPr>
          <p:spPr bwMode="auto">
            <a:xfrm>
              <a:off x="2983" y="1258"/>
              <a:ext cx="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8" name="AutoShape 51"/>
            <p:cNvSpPr>
              <a:spLocks noChangeArrowheads="1"/>
            </p:cNvSpPr>
            <p:nvPr/>
          </p:nvSpPr>
          <p:spPr bwMode="auto">
            <a:xfrm>
              <a:off x="4075" y="809"/>
              <a:ext cx="272" cy="258"/>
            </a:xfrm>
            <a:prstGeom prst="notchedRightArrow">
              <a:avLst>
                <a:gd name="adj1" fmla="val 50000"/>
                <a:gd name="adj2" fmla="val 26352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59" name="Line 52"/>
            <p:cNvSpPr>
              <a:spLocks noChangeShapeType="1"/>
            </p:cNvSpPr>
            <p:nvPr/>
          </p:nvSpPr>
          <p:spPr bwMode="auto">
            <a:xfrm>
              <a:off x="4557" y="678"/>
              <a:ext cx="43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0" name="Oval 53"/>
            <p:cNvSpPr>
              <a:spLocks noChangeArrowheads="1"/>
            </p:cNvSpPr>
            <p:nvPr/>
          </p:nvSpPr>
          <p:spPr bwMode="auto">
            <a:xfrm>
              <a:off x="4988" y="648"/>
              <a:ext cx="40" cy="5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61" name="Oval 54"/>
            <p:cNvSpPr>
              <a:spLocks noChangeArrowheads="1"/>
            </p:cNvSpPr>
            <p:nvPr/>
          </p:nvSpPr>
          <p:spPr bwMode="auto">
            <a:xfrm>
              <a:off x="5132" y="648"/>
              <a:ext cx="40" cy="5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62" name="Line 55"/>
            <p:cNvSpPr>
              <a:spLocks noChangeShapeType="1"/>
            </p:cNvSpPr>
            <p:nvPr/>
          </p:nvSpPr>
          <p:spPr bwMode="auto">
            <a:xfrm>
              <a:off x="5175" y="678"/>
              <a:ext cx="34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56"/>
            <p:cNvSpPr>
              <a:spLocks noChangeShapeType="1"/>
            </p:cNvSpPr>
            <p:nvPr/>
          </p:nvSpPr>
          <p:spPr bwMode="auto">
            <a:xfrm>
              <a:off x="5527" y="678"/>
              <a:ext cx="0" cy="20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4" name="Group 57"/>
            <p:cNvGrpSpPr>
              <a:grpSpLocks noChangeAspect="1"/>
            </p:cNvGrpSpPr>
            <p:nvPr/>
          </p:nvGrpSpPr>
          <p:grpSpPr bwMode="auto">
            <a:xfrm flipH="1">
              <a:off x="5498" y="783"/>
              <a:ext cx="54" cy="370"/>
              <a:chOff x="4860" y="8928"/>
              <a:chExt cx="360" cy="1560"/>
            </a:xfrm>
          </p:grpSpPr>
          <p:sp>
            <p:nvSpPr>
              <p:cNvPr id="6208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09" name="Line 59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0" name="Line 60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65" name="Line 61"/>
            <p:cNvSpPr>
              <a:spLocks noChangeShapeType="1"/>
            </p:cNvSpPr>
            <p:nvPr/>
          </p:nvSpPr>
          <p:spPr bwMode="auto">
            <a:xfrm>
              <a:off x="5527" y="1166"/>
              <a:ext cx="0" cy="10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6" name="Line 62"/>
            <p:cNvSpPr>
              <a:spLocks noChangeShapeType="1"/>
            </p:cNvSpPr>
            <p:nvPr/>
          </p:nvSpPr>
          <p:spPr bwMode="auto">
            <a:xfrm flipH="1">
              <a:off x="4578" y="1277"/>
              <a:ext cx="94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63"/>
            <p:cNvSpPr>
              <a:spLocks noChangeShapeType="1"/>
            </p:cNvSpPr>
            <p:nvPr/>
          </p:nvSpPr>
          <p:spPr bwMode="auto">
            <a:xfrm>
              <a:off x="4995" y="635"/>
              <a:ext cx="1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8" name="Line 64"/>
            <p:cNvSpPr>
              <a:spLocks noChangeShapeType="1"/>
            </p:cNvSpPr>
            <p:nvPr/>
          </p:nvSpPr>
          <p:spPr bwMode="auto">
            <a:xfrm>
              <a:off x="4557" y="1277"/>
              <a:ext cx="8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69" name="Group 65"/>
            <p:cNvGrpSpPr/>
            <p:nvPr/>
          </p:nvGrpSpPr>
          <p:grpSpPr bwMode="auto">
            <a:xfrm rot="10800000">
              <a:off x="3436" y="1510"/>
              <a:ext cx="162" cy="148"/>
              <a:chOff x="8999" y="11735"/>
              <a:chExt cx="340" cy="227"/>
            </a:xfrm>
          </p:grpSpPr>
          <p:sp>
            <p:nvSpPr>
              <p:cNvPr id="6204" name="AutoShape 66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05" name="Line 67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6" name="Line 68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7" name="Line 69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70" name="Group 70"/>
            <p:cNvGrpSpPr>
              <a:grpSpLocks noChangeAspect="1"/>
            </p:cNvGrpSpPr>
            <p:nvPr/>
          </p:nvGrpSpPr>
          <p:grpSpPr bwMode="auto">
            <a:xfrm flipH="1">
              <a:off x="3838" y="1694"/>
              <a:ext cx="54" cy="369"/>
              <a:chOff x="4860" y="8928"/>
              <a:chExt cx="360" cy="1560"/>
            </a:xfrm>
          </p:grpSpPr>
          <p:sp>
            <p:nvSpPr>
              <p:cNvPr id="6201" name="Rectangle 71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202" name="Line 72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3" name="Line 73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71" name="Line 74"/>
            <p:cNvSpPr>
              <a:spLocks noChangeShapeType="1"/>
            </p:cNvSpPr>
            <p:nvPr/>
          </p:nvSpPr>
          <p:spPr bwMode="auto">
            <a:xfrm>
              <a:off x="3867" y="1999"/>
              <a:ext cx="0" cy="20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2" name="Line 75"/>
            <p:cNvSpPr>
              <a:spLocks noChangeShapeType="1"/>
            </p:cNvSpPr>
            <p:nvPr/>
          </p:nvSpPr>
          <p:spPr bwMode="auto">
            <a:xfrm flipH="1">
              <a:off x="3091" y="2202"/>
              <a:ext cx="77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6173" name="Text Box 76"/>
            <p:cNvSpPr txBox="1">
              <a:spLocks noChangeArrowheads="1"/>
            </p:cNvSpPr>
            <p:nvPr/>
          </p:nvSpPr>
          <p:spPr bwMode="auto">
            <a:xfrm>
              <a:off x="3709" y="1782"/>
              <a:ext cx="108" cy="236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R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6174" name="AutoShape 77"/>
            <p:cNvSpPr>
              <a:spLocks noChangeArrowheads="1"/>
            </p:cNvSpPr>
            <p:nvPr/>
          </p:nvSpPr>
          <p:spPr bwMode="auto">
            <a:xfrm>
              <a:off x="4075" y="1742"/>
              <a:ext cx="272" cy="259"/>
            </a:xfrm>
            <a:prstGeom prst="notchedRightArrow">
              <a:avLst>
                <a:gd name="adj1" fmla="val 50000"/>
                <a:gd name="adj2" fmla="val 2625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75" name="Line 78"/>
            <p:cNvSpPr>
              <a:spLocks noChangeShapeType="1"/>
            </p:cNvSpPr>
            <p:nvPr/>
          </p:nvSpPr>
          <p:spPr bwMode="auto">
            <a:xfrm>
              <a:off x="4557" y="1612"/>
              <a:ext cx="431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6" name="Oval 79"/>
            <p:cNvSpPr>
              <a:spLocks noChangeArrowheads="1"/>
            </p:cNvSpPr>
            <p:nvPr/>
          </p:nvSpPr>
          <p:spPr bwMode="auto">
            <a:xfrm>
              <a:off x="4988" y="1582"/>
              <a:ext cx="40" cy="5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77" name="Oval 80"/>
            <p:cNvSpPr>
              <a:spLocks noChangeArrowheads="1"/>
            </p:cNvSpPr>
            <p:nvPr/>
          </p:nvSpPr>
          <p:spPr bwMode="auto">
            <a:xfrm>
              <a:off x="5132" y="1582"/>
              <a:ext cx="40" cy="5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6178" name="Line 81"/>
            <p:cNvSpPr>
              <a:spLocks noChangeShapeType="1"/>
            </p:cNvSpPr>
            <p:nvPr/>
          </p:nvSpPr>
          <p:spPr bwMode="auto">
            <a:xfrm>
              <a:off x="5175" y="1612"/>
              <a:ext cx="34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9" name="Line 82"/>
            <p:cNvSpPr>
              <a:spLocks noChangeShapeType="1"/>
            </p:cNvSpPr>
            <p:nvPr/>
          </p:nvSpPr>
          <p:spPr bwMode="auto">
            <a:xfrm>
              <a:off x="5527" y="1612"/>
              <a:ext cx="0" cy="20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80" name="Group 83"/>
            <p:cNvGrpSpPr>
              <a:grpSpLocks noChangeAspect="1"/>
            </p:cNvGrpSpPr>
            <p:nvPr/>
          </p:nvGrpSpPr>
          <p:grpSpPr bwMode="auto">
            <a:xfrm flipH="1">
              <a:off x="5498" y="1717"/>
              <a:ext cx="54" cy="369"/>
              <a:chOff x="4860" y="8928"/>
              <a:chExt cx="360" cy="1560"/>
            </a:xfrm>
          </p:grpSpPr>
          <p:sp>
            <p:nvSpPr>
              <p:cNvPr id="6198" name="Rectangle 84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FF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6199" name="Line 85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0" name="Line 86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81" name="Line 87"/>
            <p:cNvSpPr>
              <a:spLocks noChangeShapeType="1"/>
            </p:cNvSpPr>
            <p:nvPr/>
          </p:nvSpPr>
          <p:spPr bwMode="auto">
            <a:xfrm>
              <a:off x="5527" y="2100"/>
              <a:ext cx="0" cy="10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2" name="Line 88"/>
            <p:cNvSpPr>
              <a:spLocks noChangeShapeType="1"/>
            </p:cNvSpPr>
            <p:nvPr/>
          </p:nvSpPr>
          <p:spPr bwMode="auto">
            <a:xfrm flipH="1">
              <a:off x="4578" y="2212"/>
              <a:ext cx="949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3" name="Line 89"/>
            <p:cNvSpPr>
              <a:spLocks noChangeShapeType="1"/>
            </p:cNvSpPr>
            <p:nvPr/>
          </p:nvSpPr>
          <p:spPr bwMode="auto">
            <a:xfrm>
              <a:off x="4557" y="2212"/>
              <a:ext cx="8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184" name="Group 90"/>
            <p:cNvGrpSpPr/>
            <p:nvPr/>
          </p:nvGrpSpPr>
          <p:grpSpPr bwMode="auto">
            <a:xfrm>
              <a:off x="2976" y="2169"/>
              <a:ext cx="54" cy="73"/>
              <a:chOff x="8280" y="12471"/>
              <a:chExt cx="720" cy="780"/>
            </a:xfrm>
          </p:grpSpPr>
          <p:sp>
            <p:nvSpPr>
              <p:cNvPr id="6196" name="Line 91"/>
              <p:cNvSpPr>
                <a:spLocks noChangeShapeType="1"/>
              </p:cNvSpPr>
              <p:nvPr/>
            </p:nvSpPr>
            <p:spPr bwMode="auto">
              <a:xfrm>
                <a:off x="8280" y="1282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7" name="Line 92"/>
              <p:cNvSpPr>
                <a:spLocks noChangeShapeType="1"/>
              </p:cNvSpPr>
              <p:nvPr/>
            </p:nvSpPr>
            <p:spPr bwMode="auto">
              <a:xfrm>
                <a:off x="8640" y="12471"/>
                <a:ext cx="0" cy="78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85" name="Line 93"/>
            <p:cNvSpPr>
              <a:spLocks noChangeShapeType="1"/>
            </p:cNvSpPr>
            <p:nvPr/>
          </p:nvSpPr>
          <p:spPr bwMode="auto">
            <a:xfrm>
              <a:off x="2983" y="1582"/>
              <a:ext cx="5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6" name="Line 94"/>
            <p:cNvSpPr>
              <a:spLocks noChangeShapeType="1"/>
            </p:cNvSpPr>
            <p:nvPr/>
          </p:nvSpPr>
          <p:spPr bwMode="auto">
            <a:xfrm flipV="1">
              <a:off x="4995" y="1490"/>
              <a:ext cx="173" cy="1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7" name="Line 95"/>
            <p:cNvSpPr>
              <a:spLocks noChangeShapeType="1"/>
            </p:cNvSpPr>
            <p:nvPr/>
          </p:nvSpPr>
          <p:spPr bwMode="auto">
            <a:xfrm>
              <a:off x="3576" y="1584"/>
              <a:ext cx="288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8" name="Line 96"/>
            <p:cNvSpPr>
              <a:spLocks noChangeShapeType="1"/>
            </p:cNvSpPr>
            <p:nvPr/>
          </p:nvSpPr>
          <p:spPr bwMode="auto">
            <a:xfrm>
              <a:off x="3864" y="1584"/>
              <a:ext cx="0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9" name="Line 97"/>
            <p:cNvSpPr>
              <a:spLocks noChangeShapeType="1"/>
            </p:cNvSpPr>
            <p:nvPr/>
          </p:nvSpPr>
          <p:spPr bwMode="auto">
            <a:xfrm flipH="1">
              <a:off x="3072" y="1584"/>
              <a:ext cx="38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0" name="Line 98"/>
            <p:cNvSpPr>
              <a:spLocks noChangeShapeType="1"/>
            </p:cNvSpPr>
            <p:nvPr/>
          </p:nvSpPr>
          <p:spPr bwMode="auto">
            <a:xfrm flipH="1">
              <a:off x="3072" y="648"/>
              <a:ext cx="38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1" name="Line 99"/>
            <p:cNvSpPr>
              <a:spLocks noChangeShapeType="1"/>
            </p:cNvSpPr>
            <p:nvPr/>
          </p:nvSpPr>
          <p:spPr bwMode="auto">
            <a:xfrm>
              <a:off x="3608" y="648"/>
              <a:ext cx="24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2" name="Line 100"/>
            <p:cNvSpPr>
              <a:spLocks noChangeShapeType="1"/>
            </p:cNvSpPr>
            <p:nvPr/>
          </p:nvSpPr>
          <p:spPr bwMode="auto">
            <a:xfrm>
              <a:off x="3856" y="640"/>
              <a:ext cx="0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3" name="Line 101"/>
            <p:cNvSpPr>
              <a:spLocks noChangeShapeType="1"/>
            </p:cNvSpPr>
            <p:nvPr/>
          </p:nvSpPr>
          <p:spPr bwMode="auto">
            <a:xfrm flipV="1">
              <a:off x="3856" y="1120"/>
              <a:ext cx="0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4" name="Text Box 102"/>
            <p:cNvSpPr txBox="1">
              <a:spLocks noChangeArrowheads="1"/>
            </p:cNvSpPr>
            <p:nvPr/>
          </p:nvSpPr>
          <p:spPr bwMode="auto">
            <a:xfrm>
              <a:off x="5328" y="864"/>
              <a:ext cx="108" cy="2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R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6195" name="Text Box 103"/>
            <p:cNvSpPr txBox="1">
              <a:spLocks noChangeArrowheads="1"/>
            </p:cNvSpPr>
            <p:nvPr/>
          </p:nvSpPr>
          <p:spPr bwMode="auto">
            <a:xfrm>
              <a:off x="5328" y="1776"/>
              <a:ext cx="108" cy="2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R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</p:grpSp>
      <p:sp>
        <p:nvSpPr>
          <p:cNvPr id="298088" name="Text Box 104"/>
          <p:cNvSpPr txBox="1">
            <a:spLocks noChangeArrowheads="1"/>
          </p:cNvSpPr>
          <p:nvPr/>
        </p:nvSpPr>
        <p:spPr bwMode="auto">
          <a:xfrm>
            <a:off x="5486400" y="4572000"/>
            <a:ext cx="36576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二极管导通时相当于短路</a:t>
            </a:r>
            <a:endParaRPr lang="zh-CN" altLang="en-US" sz="24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二极管截止时相当于开路</a:t>
            </a:r>
            <a:endParaRPr lang="zh-CN" altLang="en-US" sz="24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98089" name="Text Box 105"/>
          <p:cNvSpPr txBox="1">
            <a:spLocks noChangeArrowheads="1"/>
          </p:cNvSpPr>
          <p:nvPr/>
        </p:nvSpPr>
        <p:spPr bwMode="auto">
          <a:xfrm>
            <a:off x="228600" y="1447800"/>
            <a:ext cx="51927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V</a:t>
            </a:r>
            <a:r>
              <a:rPr lang="en-US" altLang="zh-CN" sz="2400" b="1" baseline="-25000"/>
              <a:t>i </a:t>
            </a:r>
            <a:r>
              <a:rPr lang="en-US" altLang="zh-CN" sz="2400" b="1"/>
              <a:t>= V</a:t>
            </a:r>
            <a:r>
              <a:rPr lang="en-US" altLang="zh-CN" sz="2400" b="1" baseline="-25000"/>
              <a:t>CC</a:t>
            </a:r>
            <a:r>
              <a:rPr lang="en-US" altLang="zh-CN" sz="2400" b="1">
                <a:latin typeface="Arial" panose="020B0604020202020204" pitchFamily="34" charset="0"/>
              </a:rPr>
              <a:t>    </a:t>
            </a:r>
            <a:r>
              <a:rPr lang="zh-CN" altLang="en-US" sz="2400" b="1">
                <a:latin typeface="Arial" panose="020B0604020202020204" pitchFamily="34" charset="0"/>
              </a:rPr>
              <a:t>二极管截止，</a:t>
            </a:r>
            <a:r>
              <a:rPr lang="en-US" altLang="zh-CN" sz="2400" b="1"/>
              <a:t>V</a:t>
            </a:r>
            <a:r>
              <a:rPr lang="en-US" altLang="zh-CN" sz="2400" b="1" baseline="-25000"/>
              <a:t>o</a:t>
            </a:r>
            <a:r>
              <a:rPr lang="en-US" altLang="zh-CN" sz="2400" b="1"/>
              <a:t> = V</a:t>
            </a:r>
            <a:r>
              <a:rPr lang="en-US" altLang="zh-CN" sz="2400" b="1" baseline="-25000"/>
              <a:t>CC</a:t>
            </a:r>
            <a:endParaRPr lang="en-US" altLang="zh-CN" sz="2400" b="1" baseline="-25000"/>
          </a:p>
          <a:p>
            <a:pPr eaLnBrk="1" hangingPunct="1">
              <a:spcBef>
                <a:spcPct val="50000"/>
              </a:spcBef>
            </a:pPr>
            <a:endParaRPr lang="en-US" altLang="zh-CN" sz="2400" b="1" baseline="-25000"/>
          </a:p>
          <a:p>
            <a:pPr eaLnBrk="1" hangingPunct="1">
              <a:spcBef>
                <a:spcPct val="50000"/>
              </a:spcBef>
            </a:pPr>
            <a:r>
              <a:rPr lang="en-US" altLang="zh-CN" sz="2400" b="1"/>
              <a:t>Vi = 0</a:t>
            </a:r>
            <a:r>
              <a:rPr lang="en-US" altLang="zh-CN" sz="2400" b="1">
                <a:latin typeface="Arial" panose="020B0604020202020204" pitchFamily="34" charset="0"/>
              </a:rPr>
              <a:t>       </a:t>
            </a:r>
            <a:r>
              <a:rPr lang="zh-CN" altLang="en-US" sz="2400" b="1">
                <a:latin typeface="Arial" panose="020B0604020202020204" pitchFamily="34" charset="0"/>
              </a:rPr>
              <a:t>二极管导通，</a:t>
            </a:r>
            <a:r>
              <a:rPr lang="en-US" altLang="zh-CN" sz="2400" b="1"/>
              <a:t>V</a:t>
            </a:r>
            <a:r>
              <a:rPr lang="en-US" altLang="zh-CN" sz="2400" b="1" baseline="-25000"/>
              <a:t>o</a:t>
            </a:r>
            <a:r>
              <a:rPr lang="en-US" altLang="zh-CN" sz="2400" b="1"/>
              <a:t> = 0</a:t>
            </a:r>
            <a:r>
              <a:rPr lang="zh-CN" altLang="en-US" sz="2400" b="1"/>
              <a:t>或</a:t>
            </a:r>
            <a:r>
              <a:rPr lang="en-US" altLang="zh-CN" sz="2400" b="1"/>
              <a:t>0.7v</a:t>
            </a:r>
            <a:endParaRPr lang="en-US" altLang="zh-CN" sz="2400" b="1" baseline="-25000">
              <a:latin typeface="Arial" panose="020B0604020202020204" pitchFamily="34" charset="0"/>
            </a:endParaRPr>
          </a:p>
        </p:txBody>
      </p:sp>
      <p:sp>
        <p:nvSpPr>
          <p:cNvPr id="6151" name="Text Box 106"/>
          <p:cNvSpPr txBox="1">
            <a:spLocks noChangeArrowheads="1"/>
          </p:cNvSpPr>
          <p:nvPr/>
        </p:nvSpPr>
        <p:spPr bwMode="auto">
          <a:xfrm>
            <a:off x="449580" y="415925"/>
            <a:ext cx="52292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4.2  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半导体管的开关特性</a:t>
            </a:r>
            <a:endParaRPr lang="zh-CN" altLang="en-US" sz="280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8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8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088" grpId="0"/>
      <p:bldP spid="2980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28613" y="528638"/>
            <a:ext cx="589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b="1">
                <a:latin typeface="Arial" panose="020B0604020202020204" pitchFamily="34" charset="0"/>
              </a:rPr>
              <a:t>2</a:t>
            </a:r>
            <a:r>
              <a:rPr lang="zh-CN" altLang="en-US" b="1">
                <a:latin typeface="Arial" panose="020B0604020202020204" pitchFamily="34" charset="0"/>
              </a:rPr>
              <a:t>、   晶体三极管的开关特性</a:t>
            </a:r>
            <a:endParaRPr lang="zh-CN" altLang="en-US" b="1">
              <a:latin typeface="Arial" panose="020B0604020202020204" pitchFamily="34" charset="0"/>
            </a:endParaRPr>
          </a:p>
        </p:txBody>
      </p:sp>
      <p:grpSp>
        <p:nvGrpSpPr>
          <p:cNvPr id="299011" name="Group 3"/>
          <p:cNvGrpSpPr/>
          <p:nvPr/>
        </p:nvGrpSpPr>
        <p:grpSpPr bwMode="auto">
          <a:xfrm>
            <a:off x="457200" y="3657600"/>
            <a:ext cx="3683000" cy="2222500"/>
            <a:chOff x="608" y="2736"/>
            <a:chExt cx="2672" cy="1400"/>
          </a:xfrm>
        </p:grpSpPr>
        <p:sp>
          <p:nvSpPr>
            <p:cNvPr id="7225" name="Rectangle 4"/>
            <p:cNvSpPr>
              <a:spLocks noChangeArrowheads="1"/>
            </p:cNvSpPr>
            <p:nvPr/>
          </p:nvSpPr>
          <p:spPr bwMode="auto">
            <a:xfrm>
              <a:off x="2558" y="3146"/>
              <a:ext cx="722" cy="61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3333FF"/>
              </a:solidFill>
              <a:prstDash val="dash"/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26" name="Line 5"/>
            <p:cNvSpPr>
              <a:spLocks noChangeShapeType="1"/>
            </p:cNvSpPr>
            <p:nvPr/>
          </p:nvSpPr>
          <p:spPr bwMode="auto">
            <a:xfrm>
              <a:off x="3029" y="2795"/>
              <a:ext cx="0" cy="5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7" name="Line 6"/>
            <p:cNvSpPr>
              <a:spLocks noChangeShapeType="1"/>
            </p:cNvSpPr>
            <p:nvPr/>
          </p:nvSpPr>
          <p:spPr bwMode="auto">
            <a:xfrm>
              <a:off x="3019" y="3604"/>
              <a:ext cx="0" cy="5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8" name="Oval 7"/>
            <p:cNvSpPr>
              <a:spLocks noChangeArrowheads="1"/>
            </p:cNvSpPr>
            <p:nvPr/>
          </p:nvSpPr>
          <p:spPr bwMode="auto">
            <a:xfrm>
              <a:off x="2676" y="3420"/>
              <a:ext cx="57" cy="5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29" name="Oval 8"/>
            <p:cNvSpPr>
              <a:spLocks noChangeArrowheads="1"/>
            </p:cNvSpPr>
            <p:nvPr/>
          </p:nvSpPr>
          <p:spPr bwMode="auto">
            <a:xfrm>
              <a:off x="3002" y="3301"/>
              <a:ext cx="57" cy="5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30" name="Oval 9"/>
            <p:cNvSpPr>
              <a:spLocks noChangeArrowheads="1"/>
            </p:cNvSpPr>
            <p:nvPr/>
          </p:nvSpPr>
          <p:spPr bwMode="auto">
            <a:xfrm>
              <a:off x="2992" y="3554"/>
              <a:ext cx="57" cy="5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 useBgFill="1">
          <p:nvSpPr>
            <p:cNvPr id="7231" name="Text Box 10"/>
            <p:cNvSpPr txBox="1">
              <a:spLocks noChangeArrowheads="1"/>
            </p:cNvSpPr>
            <p:nvPr/>
          </p:nvSpPr>
          <p:spPr bwMode="auto">
            <a:xfrm>
              <a:off x="2144" y="3376"/>
              <a:ext cx="120" cy="305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B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232" name="Text Box 11"/>
            <p:cNvSpPr txBox="1">
              <a:spLocks noChangeArrowheads="1"/>
            </p:cNvSpPr>
            <p:nvPr/>
          </p:nvSpPr>
          <p:spPr bwMode="auto">
            <a:xfrm>
              <a:off x="2849" y="2736"/>
              <a:ext cx="120" cy="204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C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7233" name="Line 12"/>
            <p:cNvSpPr>
              <a:spLocks noChangeShapeType="1"/>
            </p:cNvSpPr>
            <p:nvPr/>
          </p:nvSpPr>
          <p:spPr bwMode="auto">
            <a:xfrm>
              <a:off x="2951" y="4123"/>
              <a:ext cx="1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7234" name="Text Box 13"/>
            <p:cNvSpPr txBox="1">
              <a:spLocks noChangeArrowheads="1"/>
            </p:cNvSpPr>
            <p:nvPr/>
          </p:nvSpPr>
          <p:spPr bwMode="auto">
            <a:xfrm>
              <a:off x="2849" y="3926"/>
              <a:ext cx="120" cy="202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E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235" name="Rectangle 14"/>
            <p:cNvSpPr>
              <a:spLocks noChangeArrowheads="1"/>
            </p:cNvSpPr>
            <p:nvPr/>
          </p:nvSpPr>
          <p:spPr bwMode="auto">
            <a:xfrm>
              <a:off x="960" y="3124"/>
              <a:ext cx="723" cy="611"/>
            </a:xfrm>
            <a:prstGeom prst="rect">
              <a:avLst/>
            </a:prstGeom>
            <a:ln w="28575">
              <a:solidFill>
                <a:srgbClr val="3333FF"/>
              </a:solidFill>
              <a:prstDash val="dash"/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7236" name="Group 15"/>
            <p:cNvGrpSpPr/>
            <p:nvPr/>
          </p:nvGrpSpPr>
          <p:grpSpPr bwMode="auto">
            <a:xfrm rot="-5400000">
              <a:off x="1026" y="3280"/>
              <a:ext cx="222" cy="152"/>
              <a:chOff x="8999" y="11735"/>
              <a:chExt cx="340" cy="227"/>
            </a:xfrm>
          </p:grpSpPr>
          <p:sp>
            <p:nvSpPr>
              <p:cNvPr id="7253" name="AutoShape 16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2857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7254" name="Line 17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55" name="Line 18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56" name="Line 19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37" name="Line 20"/>
            <p:cNvSpPr>
              <a:spLocks noChangeShapeType="1"/>
            </p:cNvSpPr>
            <p:nvPr/>
          </p:nvSpPr>
          <p:spPr bwMode="auto">
            <a:xfrm>
              <a:off x="1141" y="3449"/>
              <a:ext cx="0" cy="1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8" name="Line 21"/>
            <p:cNvSpPr>
              <a:spLocks noChangeShapeType="1"/>
            </p:cNvSpPr>
            <p:nvPr/>
          </p:nvSpPr>
          <p:spPr bwMode="auto">
            <a:xfrm>
              <a:off x="1141" y="3550"/>
              <a:ext cx="36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9" name="Line 22"/>
            <p:cNvSpPr>
              <a:spLocks noChangeShapeType="1"/>
            </p:cNvSpPr>
            <p:nvPr/>
          </p:nvSpPr>
          <p:spPr bwMode="auto">
            <a:xfrm flipV="1">
              <a:off x="1512" y="3449"/>
              <a:ext cx="0" cy="1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0" name="Line 23"/>
            <p:cNvSpPr>
              <a:spLocks noChangeShapeType="1"/>
            </p:cNvSpPr>
            <p:nvPr/>
          </p:nvSpPr>
          <p:spPr bwMode="auto">
            <a:xfrm flipV="1">
              <a:off x="1512" y="2837"/>
              <a:ext cx="0" cy="4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1" name="Oval 24"/>
            <p:cNvSpPr>
              <a:spLocks noChangeArrowheads="1"/>
            </p:cNvSpPr>
            <p:nvPr/>
          </p:nvSpPr>
          <p:spPr bwMode="auto">
            <a:xfrm>
              <a:off x="1482" y="3235"/>
              <a:ext cx="57" cy="56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42" name="Oval 25"/>
            <p:cNvSpPr>
              <a:spLocks noChangeArrowheads="1"/>
            </p:cNvSpPr>
            <p:nvPr/>
          </p:nvSpPr>
          <p:spPr bwMode="auto">
            <a:xfrm>
              <a:off x="1482" y="3410"/>
              <a:ext cx="57" cy="55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43" name="Line 26"/>
            <p:cNvSpPr>
              <a:spLocks noChangeShapeType="1"/>
            </p:cNvSpPr>
            <p:nvPr/>
          </p:nvSpPr>
          <p:spPr bwMode="auto">
            <a:xfrm>
              <a:off x="1562" y="3245"/>
              <a:ext cx="0" cy="2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7244" name="Text Box 27"/>
            <p:cNvSpPr txBox="1">
              <a:spLocks noChangeArrowheads="1"/>
            </p:cNvSpPr>
            <p:nvPr/>
          </p:nvSpPr>
          <p:spPr bwMode="auto">
            <a:xfrm>
              <a:off x="608" y="3168"/>
              <a:ext cx="120" cy="305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B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245" name="Text Box 28"/>
            <p:cNvSpPr txBox="1">
              <a:spLocks noChangeArrowheads="1"/>
            </p:cNvSpPr>
            <p:nvPr/>
          </p:nvSpPr>
          <p:spPr bwMode="auto">
            <a:xfrm>
              <a:off x="1332" y="2736"/>
              <a:ext cx="120" cy="204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C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7246" name="Line 29"/>
            <p:cNvSpPr>
              <a:spLocks noChangeShapeType="1"/>
            </p:cNvSpPr>
            <p:nvPr/>
          </p:nvSpPr>
          <p:spPr bwMode="auto">
            <a:xfrm>
              <a:off x="1321" y="3550"/>
              <a:ext cx="0" cy="5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7" name="Line 30"/>
            <p:cNvSpPr>
              <a:spLocks noChangeShapeType="1"/>
            </p:cNvSpPr>
            <p:nvPr/>
          </p:nvSpPr>
          <p:spPr bwMode="auto">
            <a:xfrm>
              <a:off x="1261" y="4059"/>
              <a:ext cx="12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7248" name="Text Box 31"/>
            <p:cNvSpPr txBox="1">
              <a:spLocks noChangeArrowheads="1"/>
            </p:cNvSpPr>
            <p:nvPr/>
          </p:nvSpPr>
          <p:spPr bwMode="auto">
            <a:xfrm>
              <a:off x="1111" y="3857"/>
              <a:ext cx="120" cy="202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E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7249" name="Oval 32"/>
            <p:cNvSpPr>
              <a:spLocks noChangeArrowheads="1"/>
            </p:cNvSpPr>
            <p:nvPr/>
          </p:nvSpPr>
          <p:spPr bwMode="auto">
            <a:xfrm>
              <a:off x="1309" y="4050"/>
              <a:ext cx="31" cy="29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50" name="Oval 33"/>
            <p:cNvSpPr>
              <a:spLocks noChangeArrowheads="1"/>
            </p:cNvSpPr>
            <p:nvPr/>
          </p:nvSpPr>
          <p:spPr bwMode="auto">
            <a:xfrm>
              <a:off x="2999" y="4107"/>
              <a:ext cx="30" cy="29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51" name="Line 34"/>
            <p:cNvSpPr>
              <a:spLocks noChangeShapeType="1"/>
            </p:cNvSpPr>
            <p:nvPr/>
          </p:nvSpPr>
          <p:spPr bwMode="auto">
            <a:xfrm flipH="1">
              <a:off x="752" y="3240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2" name="Line 35"/>
            <p:cNvSpPr>
              <a:spLocks noChangeShapeType="1"/>
            </p:cNvSpPr>
            <p:nvPr/>
          </p:nvSpPr>
          <p:spPr bwMode="auto">
            <a:xfrm flipH="1">
              <a:off x="2304" y="3448"/>
              <a:ext cx="38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72" name="Group 36"/>
          <p:cNvGrpSpPr/>
          <p:nvPr/>
        </p:nvGrpSpPr>
        <p:grpSpPr bwMode="auto">
          <a:xfrm>
            <a:off x="5257800" y="381000"/>
            <a:ext cx="3886200" cy="2808288"/>
            <a:chOff x="3312" y="240"/>
            <a:chExt cx="2448" cy="1769"/>
          </a:xfrm>
        </p:grpSpPr>
        <p:sp>
          <p:nvSpPr>
            <p:cNvPr id="7176" name="Line 37"/>
            <p:cNvSpPr>
              <a:spLocks noChangeShapeType="1"/>
            </p:cNvSpPr>
            <p:nvPr/>
          </p:nvSpPr>
          <p:spPr bwMode="auto">
            <a:xfrm>
              <a:off x="3506" y="1402"/>
              <a:ext cx="41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77" name="Group 38"/>
            <p:cNvGrpSpPr>
              <a:grpSpLocks noChangeAspect="1"/>
            </p:cNvGrpSpPr>
            <p:nvPr/>
          </p:nvGrpSpPr>
          <p:grpSpPr bwMode="auto">
            <a:xfrm rot="5400000" flipH="1">
              <a:off x="3955" y="1185"/>
              <a:ext cx="77" cy="431"/>
              <a:chOff x="4860" y="8928"/>
              <a:chExt cx="360" cy="1560"/>
            </a:xfrm>
          </p:grpSpPr>
          <p:sp>
            <p:nvSpPr>
              <p:cNvPr id="7222" name="Rectangle 39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7223" name="Line 40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4" name="Line 41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78" name="Line 42"/>
            <p:cNvSpPr>
              <a:spLocks noChangeShapeType="1"/>
            </p:cNvSpPr>
            <p:nvPr/>
          </p:nvSpPr>
          <p:spPr bwMode="auto">
            <a:xfrm>
              <a:off x="4189" y="1402"/>
              <a:ext cx="41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79" name="Group 43"/>
            <p:cNvGrpSpPr/>
            <p:nvPr/>
          </p:nvGrpSpPr>
          <p:grpSpPr bwMode="auto">
            <a:xfrm>
              <a:off x="4531" y="1322"/>
              <a:ext cx="258" cy="155"/>
              <a:chOff x="8640" y="7992"/>
              <a:chExt cx="720" cy="315"/>
            </a:xfrm>
          </p:grpSpPr>
          <p:sp>
            <p:nvSpPr>
              <p:cNvPr id="7218" name="Line 44"/>
              <p:cNvSpPr>
                <a:spLocks noChangeShapeType="1"/>
              </p:cNvSpPr>
              <p:nvPr/>
            </p:nvSpPr>
            <p:spPr bwMode="auto">
              <a:xfrm flipV="1">
                <a:off x="9000" y="7992"/>
                <a:ext cx="360" cy="1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9" name="Line 45"/>
              <p:cNvSpPr>
                <a:spLocks noChangeShapeType="1"/>
              </p:cNvSpPr>
              <p:nvPr/>
            </p:nvSpPr>
            <p:spPr bwMode="auto">
              <a:xfrm>
                <a:off x="9000" y="8151"/>
                <a:ext cx="360" cy="15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0" name="Line 46"/>
              <p:cNvSpPr>
                <a:spLocks noChangeShapeType="1"/>
              </p:cNvSpPr>
              <p:nvPr/>
            </p:nvSpPr>
            <p:spPr bwMode="auto">
              <a:xfrm>
                <a:off x="9000" y="7992"/>
                <a:ext cx="0" cy="31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1" name="Line 47"/>
              <p:cNvSpPr>
                <a:spLocks noChangeShapeType="1"/>
              </p:cNvSpPr>
              <p:nvPr/>
            </p:nvSpPr>
            <p:spPr bwMode="auto">
              <a:xfrm flipH="1">
                <a:off x="8640" y="8148"/>
                <a:ext cx="3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80" name="Line 48"/>
            <p:cNvSpPr>
              <a:spLocks noChangeShapeType="1"/>
            </p:cNvSpPr>
            <p:nvPr/>
          </p:nvSpPr>
          <p:spPr bwMode="auto">
            <a:xfrm flipV="1">
              <a:off x="4793" y="1123"/>
              <a:ext cx="0" cy="21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1" name="Line 49"/>
            <p:cNvSpPr>
              <a:spLocks noChangeShapeType="1"/>
            </p:cNvSpPr>
            <p:nvPr/>
          </p:nvSpPr>
          <p:spPr bwMode="auto">
            <a:xfrm>
              <a:off x="4793" y="1477"/>
              <a:ext cx="0" cy="53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2" name="Oval 50"/>
            <p:cNvSpPr>
              <a:spLocks noChangeArrowheads="1"/>
            </p:cNvSpPr>
            <p:nvPr/>
          </p:nvSpPr>
          <p:spPr bwMode="auto">
            <a:xfrm>
              <a:off x="4782" y="1923"/>
              <a:ext cx="34" cy="31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7183" name="Group 51"/>
            <p:cNvGrpSpPr>
              <a:grpSpLocks noChangeAspect="1"/>
            </p:cNvGrpSpPr>
            <p:nvPr/>
          </p:nvGrpSpPr>
          <p:grpSpPr bwMode="auto">
            <a:xfrm flipH="1">
              <a:off x="4748" y="586"/>
              <a:ext cx="85" cy="386"/>
              <a:chOff x="4860" y="8928"/>
              <a:chExt cx="360" cy="1560"/>
            </a:xfrm>
          </p:grpSpPr>
          <p:sp>
            <p:nvSpPr>
              <p:cNvPr id="7215" name="Rectangle 52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3333FF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7216" name="Line 53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7" name="Line 54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28575">
                <a:solidFill>
                  <a:srgbClr val="3333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 useBgFill="1">
          <p:nvSpPr>
            <p:cNvPr id="7184" name="Text Box 55"/>
            <p:cNvSpPr txBox="1">
              <a:spLocks noChangeArrowheads="1"/>
            </p:cNvSpPr>
            <p:nvPr/>
          </p:nvSpPr>
          <p:spPr bwMode="auto">
            <a:xfrm>
              <a:off x="4656" y="240"/>
              <a:ext cx="274" cy="213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V</a:t>
              </a:r>
              <a:r>
                <a:rPr lang="en-US" altLang="zh-CN" sz="1600" b="1" baseline="-25000"/>
                <a:t>CC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7185" name="Oval 56"/>
            <p:cNvSpPr>
              <a:spLocks noChangeArrowheads="1"/>
            </p:cNvSpPr>
            <p:nvPr/>
          </p:nvSpPr>
          <p:spPr bwMode="auto">
            <a:xfrm>
              <a:off x="4782" y="1093"/>
              <a:ext cx="34" cy="30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186" name="Line 57"/>
            <p:cNvSpPr>
              <a:spLocks noChangeShapeType="1"/>
            </p:cNvSpPr>
            <p:nvPr/>
          </p:nvSpPr>
          <p:spPr bwMode="auto">
            <a:xfrm>
              <a:off x="4907" y="657"/>
              <a:ext cx="0" cy="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7" name="Line 58"/>
            <p:cNvSpPr>
              <a:spLocks noChangeShapeType="1"/>
            </p:cNvSpPr>
            <p:nvPr/>
          </p:nvSpPr>
          <p:spPr bwMode="auto">
            <a:xfrm>
              <a:off x="3642" y="1189"/>
              <a:ext cx="4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88" name="Group 59"/>
            <p:cNvGrpSpPr/>
            <p:nvPr/>
          </p:nvGrpSpPr>
          <p:grpSpPr bwMode="auto">
            <a:xfrm>
              <a:off x="3323" y="1381"/>
              <a:ext cx="86" cy="77"/>
              <a:chOff x="8280" y="12471"/>
              <a:chExt cx="720" cy="780"/>
            </a:xfrm>
          </p:grpSpPr>
          <p:sp>
            <p:nvSpPr>
              <p:cNvPr id="7213" name="Line 60"/>
              <p:cNvSpPr>
                <a:spLocks noChangeShapeType="1"/>
              </p:cNvSpPr>
              <p:nvPr/>
            </p:nvSpPr>
            <p:spPr bwMode="auto">
              <a:xfrm>
                <a:off x="8280" y="12828"/>
                <a:ext cx="72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4" name="Line 61"/>
              <p:cNvSpPr>
                <a:spLocks noChangeShapeType="1"/>
              </p:cNvSpPr>
              <p:nvPr/>
            </p:nvSpPr>
            <p:spPr bwMode="auto">
              <a:xfrm>
                <a:off x="8640" y="12471"/>
                <a:ext cx="0" cy="78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89" name="Line 62"/>
            <p:cNvSpPr>
              <a:spLocks noChangeShapeType="1"/>
            </p:cNvSpPr>
            <p:nvPr/>
          </p:nvSpPr>
          <p:spPr bwMode="auto">
            <a:xfrm>
              <a:off x="3323" y="1933"/>
              <a:ext cx="8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190" name="Group 63"/>
            <p:cNvGrpSpPr/>
            <p:nvPr/>
          </p:nvGrpSpPr>
          <p:grpSpPr bwMode="auto">
            <a:xfrm>
              <a:off x="5483" y="1056"/>
              <a:ext cx="85" cy="77"/>
              <a:chOff x="8280" y="12471"/>
              <a:chExt cx="720" cy="780"/>
            </a:xfrm>
          </p:grpSpPr>
          <p:sp>
            <p:nvSpPr>
              <p:cNvPr id="7211" name="Line 64"/>
              <p:cNvSpPr>
                <a:spLocks noChangeShapeType="1"/>
              </p:cNvSpPr>
              <p:nvPr/>
            </p:nvSpPr>
            <p:spPr bwMode="auto">
              <a:xfrm>
                <a:off x="8280" y="12828"/>
                <a:ext cx="72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2" name="Line 65"/>
              <p:cNvSpPr>
                <a:spLocks noChangeShapeType="1"/>
              </p:cNvSpPr>
              <p:nvPr/>
            </p:nvSpPr>
            <p:spPr bwMode="auto">
              <a:xfrm>
                <a:off x="8640" y="12471"/>
                <a:ext cx="0" cy="78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91" name="Line 66"/>
            <p:cNvSpPr>
              <a:spLocks noChangeShapeType="1"/>
            </p:cNvSpPr>
            <p:nvPr/>
          </p:nvSpPr>
          <p:spPr bwMode="auto">
            <a:xfrm>
              <a:off x="5472" y="1929"/>
              <a:ext cx="8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2" name="Text Box 67"/>
            <p:cNvSpPr txBox="1">
              <a:spLocks noChangeArrowheads="1"/>
            </p:cNvSpPr>
            <p:nvPr/>
          </p:nvSpPr>
          <p:spPr bwMode="auto">
            <a:xfrm>
              <a:off x="3312" y="1584"/>
              <a:ext cx="273" cy="2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V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I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193" name="Text Box 68"/>
            <p:cNvSpPr txBox="1">
              <a:spLocks noChangeArrowheads="1"/>
            </p:cNvSpPr>
            <p:nvPr/>
          </p:nvSpPr>
          <p:spPr bwMode="auto">
            <a:xfrm>
              <a:off x="5487" y="1371"/>
              <a:ext cx="273" cy="213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V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O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194" name="Text Box 69"/>
            <p:cNvSpPr txBox="1">
              <a:spLocks noChangeArrowheads="1"/>
            </p:cNvSpPr>
            <p:nvPr/>
          </p:nvSpPr>
          <p:spPr bwMode="auto">
            <a:xfrm>
              <a:off x="3756" y="952"/>
              <a:ext cx="410" cy="212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I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B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195" name="Text Box 70"/>
            <p:cNvSpPr txBox="1">
              <a:spLocks noChangeArrowheads="1"/>
            </p:cNvSpPr>
            <p:nvPr/>
          </p:nvSpPr>
          <p:spPr bwMode="auto">
            <a:xfrm>
              <a:off x="4953" y="678"/>
              <a:ext cx="148" cy="167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I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C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196" name="Text Box 71"/>
            <p:cNvSpPr txBox="1">
              <a:spLocks noChangeArrowheads="1"/>
            </p:cNvSpPr>
            <p:nvPr/>
          </p:nvSpPr>
          <p:spPr bwMode="auto">
            <a:xfrm>
              <a:off x="4326" y="1532"/>
              <a:ext cx="410" cy="213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V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BE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7197" name="Freeform 72"/>
            <p:cNvSpPr>
              <a:spLocks noChangeArrowheads="1"/>
            </p:cNvSpPr>
            <p:nvPr/>
          </p:nvSpPr>
          <p:spPr bwMode="auto">
            <a:xfrm>
              <a:off x="4264" y="1433"/>
              <a:ext cx="57" cy="92"/>
            </a:xfrm>
            <a:custGeom>
              <a:avLst/>
              <a:gdLst>
                <a:gd name="T0" fmla="*/ 0 w 75"/>
                <a:gd name="T1" fmla="*/ 0 h 135"/>
                <a:gd name="T2" fmla="*/ 57 w 75"/>
                <a:gd name="T3" fmla="*/ 92 h 1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" h="135">
                  <a:moveTo>
                    <a:pt x="0" y="0"/>
                  </a:moveTo>
                  <a:cubicBezTo>
                    <a:pt x="8" y="23"/>
                    <a:pt x="29" y="135"/>
                    <a:pt x="75" y="135"/>
                  </a:cubicBezTo>
                </a:path>
              </a:pathLst>
            </a:custGeom>
            <a:noFill/>
            <a:ln w="28575">
              <a:solidFill>
                <a:srgbClr val="66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8" name="Freeform 73"/>
            <p:cNvSpPr>
              <a:spLocks noChangeArrowheads="1"/>
            </p:cNvSpPr>
            <p:nvPr/>
          </p:nvSpPr>
          <p:spPr bwMode="auto">
            <a:xfrm>
              <a:off x="4577" y="1733"/>
              <a:ext cx="182" cy="18"/>
            </a:xfrm>
            <a:custGeom>
              <a:avLst/>
              <a:gdLst>
                <a:gd name="T0" fmla="*/ 0 w 240"/>
                <a:gd name="T1" fmla="*/ 0 h 26"/>
                <a:gd name="T2" fmla="*/ 182 w 240"/>
                <a:gd name="T3" fmla="*/ 1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0" h="26">
                  <a:moveTo>
                    <a:pt x="0" y="0"/>
                  </a:moveTo>
                  <a:cubicBezTo>
                    <a:pt x="129" y="26"/>
                    <a:pt x="50" y="15"/>
                    <a:pt x="240" y="15"/>
                  </a:cubicBezTo>
                </a:path>
              </a:pathLst>
            </a:custGeom>
            <a:noFill/>
            <a:ln w="28575">
              <a:solidFill>
                <a:srgbClr val="66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99" name="Oval 74"/>
            <p:cNvSpPr>
              <a:spLocks noChangeArrowheads="1"/>
            </p:cNvSpPr>
            <p:nvPr/>
          </p:nvSpPr>
          <p:spPr bwMode="auto">
            <a:xfrm>
              <a:off x="4280" y="1391"/>
              <a:ext cx="35" cy="31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7200" name="Oval 75"/>
            <p:cNvSpPr>
              <a:spLocks noChangeArrowheads="1"/>
            </p:cNvSpPr>
            <p:nvPr/>
          </p:nvSpPr>
          <p:spPr bwMode="auto">
            <a:xfrm>
              <a:off x="4782" y="1690"/>
              <a:ext cx="34" cy="31"/>
            </a:xfrm>
            <a:prstGeom prst="ellipse">
              <a:avLst/>
            </a:prstGeom>
            <a:solidFill>
              <a:srgbClr val="000000"/>
            </a:solidFill>
            <a:ln w="28575">
              <a:solidFill>
                <a:srgbClr val="FF33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 useBgFill="1">
          <p:nvSpPr>
            <p:cNvPr id="7201" name="Text Box 76"/>
            <p:cNvSpPr txBox="1">
              <a:spLocks noChangeArrowheads="1"/>
            </p:cNvSpPr>
            <p:nvPr/>
          </p:nvSpPr>
          <p:spPr bwMode="auto">
            <a:xfrm>
              <a:off x="4235" y="1179"/>
              <a:ext cx="137" cy="206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B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202" name="Text Box 77"/>
            <p:cNvSpPr txBox="1">
              <a:spLocks noChangeArrowheads="1"/>
            </p:cNvSpPr>
            <p:nvPr/>
          </p:nvSpPr>
          <p:spPr bwMode="auto">
            <a:xfrm>
              <a:off x="4873" y="1639"/>
              <a:ext cx="137" cy="212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E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 useBgFill="1">
          <p:nvSpPr>
            <p:cNvPr id="7203" name="Text Box 78"/>
            <p:cNvSpPr txBox="1">
              <a:spLocks noChangeArrowheads="1"/>
            </p:cNvSpPr>
            <p:nvPr/>
          </p:nvSpPr>
          <p:spPr bwMode="auto">
            <a:xfrm>
              <a:off x="4577" y="997"/>
              <a:ext cx="136" cy="212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C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7204" name="Line 79"/>
            <p:cNvSpPr>
              <a:spLocks noChangeShapeType="1"/>
            </p:cNvSpPr>
            <p:nvPr/>
          </p:nvSpPr>
          <p:spPr bwMode="auto">
            <a:xfrm flipV="1">
              <a:off x="4793" y="890"/>
              <a:ext cx="0" cy="4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" name="Line 80"/>
            <p:cNvSpPr>
              <a:spLocks noChangeShapeType="1"/>
            </p:cNvSpPr>
            <p:nvPr/>
          </p:nvSpPr>
          <p:spPr bwMode="auto">
            <a:xfrm>
              <a:off x="5089" y="1530"/>
              <a:ext cx="0" cy="3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7206" name="Text Box 81"/>
            <p:cNvSpPr txBox="1">
              <a:spLocks noChangeArrowheads="1"/>
            </p:cNvSpPr>
            <p:nvPr/>
          </p:nvSpPr>
          <p:spPr bwMode="auto">
            <a:xfrm>
              <a:off x="5158" y="1553"/>
              <a:ext cx="273" cy="213"/>
            </a:xfrm>
            <a:prstGeom prst="rect">
              <a:avLst/>
            </a:prstGeom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600" b="1"/>
                <a:t>I</a:t>
              </a:r>
              <a:r>
                <a:rPr lang="en-US" altLang="zh-CN" sz="1600" b="1" baseline="-25000">
                  <a:ea typeface="华文细黑" panose="02010600040101010101" pitchFamily="2" charset="-122"/>
                </a:rPr>
                <a:t>E</a:t>
              </a:r>
              <a:endParaRPr lang="en-US" altLang="zh-CN" sz="1600" b="1">
                <a:latin typeface="Arial" panose="020B0604020202020204" pitchFamily="34" charset="0"/>
              </a:endParaRPr>
            </a:p>
          </p:txBody>
        </p:sp>
        <p:sp>
          <p:nvSpPr>
            <p:cNvPr id="7207" name="Line 82"/>
            <p:cNvSpPr>
              <a:spLocks noChangeShapeType="1"/>
            </p:cNvSpPr>
            <p:nvPr/>
          </p:nvSpPr>
          <p:spPr bwMode="auto">
            <a:xfrm flipV="1">
              <a:off x="4793" y="426"/>
              <a:ext cx="0" cy="21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" name="Line 83"/>
            <p:cNvSpPr>
              <a:spLocks noChangeShapeType="1"/>
            </p:cNvSpPr>
            <p:nvPr/>
          </p:nvSpPr>
          <p:spPr bwMode="auto">
            <a:xfrm>
              <a:off x="4753" y="2005"/>
              <a:ext cx="8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9" name="Line 84"/>
            <p:cNvSpPr>
              <a:spLocks noChangeShapeType="1"/>
            </p:cNvSpPr>
            <p:nvPr/>
          </p:nvSpPr>
          <p:spPr bwMode="auto">
            <a:xfrm>
              <a:off x="4800" y="1104"/>
              <a:ext cx="624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0" name="Line 85"/>
            <p:cNvSpPr>
              <a:spLocks noChangeShapeType="1"/>
            </p:cNvSpPr>
            <p:nvPr/>
          </p:nvSpPr>
          <p:spPr bwMode="auto">
            <a:xfrm>
              <a:off x="3504" y="1944"/>
              <a:ext cx="192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99094" name="Text Box 86"/>
          <p:cNvSpPr txBox="1">
            <a:spLocks noChangeArrowheads="1"/>
          </p:cNvSpPr>
          <p:nvPr/>
        </p:nvSpPr>
        <p:spPr bwMode="auto">
          <a:xfrm>
            <a:off x="228600" y="914400"/>
            <a:ext cx="51054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400" b="1"/>
              <a:t>V</a:t>
            </a:r>
            <a:r>
              <a:rPr lang="en-US" altLang="zh-CN" sz="2400" b="1" baseline="-25000"/>
              <a:t>i</a:t>
            </a:r>
            <a:r>
              <a:rPr lang="en-US" altLang="zh-CN" sz="2400" b="1"/>
              <a:t> </a:t>
            </a:r>
            <a:r>
              <a:rPr lang="en-US" altLang="zh-CN" sz="2400" b="1">
                <a:latin typeface="Arial" panose="020B0604020202020204" pitchFamily="34" charset="0"/>
              </a:rPr>
              <a:t> </a:t>
            </a:r>
            <a:r>
              <a:rPr lang="zh-CN" altLang="en-US" sz="2400" b="1">
                <a:latin typeface="Arial" panose="020B0604020202020204" pitchFamily="34" charset="0"/>
              </a:rPr>
              <a:t>低电平，</a:t>
            </a:r>
            <a:endParaRPr lang="zh-CN" altLang="en-US" sz="2400" b="1"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>
                <a:latin typeface="Arial" panose="020B0604020202020204" pitchFamily="34" charset="0"/>
              </a:rPr>
              <a:t>      三极管截止，</a:t>
            </a:r>
            <a:r>
              <a:rPr lang="en-US" altLang="zh-CN" sz="2400" b="1"/>
              <a:t>V</a:t>
            </a:r>
            <a:r>
              <a:rPr lang="en-US" altLang="zh-CN" sz="2400" b="1" baseline="-25000"/>
              <a:t>o</a:t>
            </a:r>
            <a:r>
              <a:rPr lang="en-US" altLang="zh-CN" sz="2400" b="1"/>
              <a:t>≈ V</a:t>
            </a:r>
            <a:r>
              <a:rPr lang="en-US" altLang="zh-CN" sz="1600" b="1" baseline="-25000"/>
              <a:t>CC</a:t>
            </a:r>
            <a:endParaRPr lang="en-US" altLang="zh-CN" sz="1600" b="1" baseline="-25000"/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400" b="1"/>
              <a:t>V</a:t>
            </a:r>
            <a:r>
              <a:rPr lang="en-US" altLang="zh-CN" sz="2400" b="1" baseline="-25000"/>
              <a:t>i </a:t>
            </a:r>
            <a:r>
              <a:rPr lang="en-US" altLang="zh-CN" sz="2400" b="1"/>
              <a:t> </a:t>
            </a:r>
            <a:r>
              <a:rPr lang="zh-CN" altLang="en-US" sz="2400" b="1">
                <a:latin typeface="Arial" panose="020B0604020202020204" pitchFamily="34" charset="0"/>
              </a:rPr>
              <a:t>高电平，</a:t>
            </a:r>
            <a:endParaRPr lang="zh-CN" altLang="en-US" sz="2400" b="1">
              <a:latin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>
                <a:latin typeface="Arial" panose="020B0604020202020204" pitchFamily="34" charset="0"/>
              </a:rPr>
              <a:t>     三极管饱和导通，</a:t>
            </a:r>
            <a:r>
              <a:rPr lang="en-US" altLang="zh-CN" sz="2400" b="1"/>
              <a:t>V</a:t>
            </a:r>
            <a:r>
              <a:rPr lang="en-US" altLang="zh-CN" sz="2400" b="1" baseline="-25000"/>
              <a:t>o</a:t>
            </a:r>
            <a:r>
              <a:rPr lang="en-US" altLang="zh-CN" sz="2400" b="1"/>
              <a:t>≈0</a:t>
            </a:r>
            <a:endParaRPr lang="en-US" altLang="zh-CN" sz="2400" b="1"/>
          </a:p>
        </p:txBody>
      </p:sp>
      <p:sp>
        <p:nvSpPr>
          <p:cNvPr id="299095" name="Text Box 87"/>
          <p:cNvSpPr txBox="1">
            <a:spLocks noChangeArrowheads="1"/>
          </p:cNvSpPr>
          <p:nvPr/>
        </p:nvSpPr>
        <p:spPr bwMode="auto">
          <a:xfrm>
            <a:off x="5105400" y="3810000"/>
            <a:ext cx="342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1600" b="1">
                <a:latin typeface="Arial" panose="020B0604020202020204" pitchFamily="34" charset="0"/>
              </a:rPr>
              <a:t>  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三极管饱和导通时， 相当于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间短路；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9096" name="Text Box 88"/>
          <p:cNvSpPr txBox="1">
            <a:spLocks noChangeArrowheads="1"/>
          </p:cNvSpPr>
          <p:nvPr/>
        </p:nvSpPr>
        <p:spPr bwMode="auto">
          <a:xfrm>
            <a:off x="5029200" y="5029200"/>
            <a:ext cx="4114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三极管截止时，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 相当于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间开路，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/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E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间， 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400" b="1">
                <a:latin typeface="黑体" panose="02010609060101010101" pitchFamily="49" charset="-122"/>
                <a:ea typeface="黑体" panose="02010609060101010101" pitchFamily="49" charset="-122"/>
              </a:rPr>
              <a:t>间也开路。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94" grpId="0"/>
      <p:bldP spid="299095" grpId="0"/>
      <p:bldP spid="29909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58775" y="1112838"/>
            <a:ext cx="4791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/>
              <a:t>1.    </a:t>
            </a:r>
            <a:r>
              <a:rPr lang="zh-CN" altLang="en-US" sz="2400" b="1"/>
              <a:t>二极管与门</a:t>
            </a:r>
            <a:endParaRPr lang="zh-CN" altLang="en-US" sz="2400" b="1"/>
          </a:p>
        </p:txBody>
      </p:sp>
      <p:grpSp>
        <p:nvGrpSpPr>
          <p:cNvPr id="243715" name="Group 3"/>
          <p:cNvGrpSpPr/>
          <p:nvPr/>
        </p:nvGrpSpPr>
        <p:grpSpPr bwMode="auto">
          <a:xfrm>
            <a:off x="5181600" y="2209800"/>
            <a:ext cx="2944813" cy="3698875"/>
            <a:chOff x="2962" y="1464"/>
            <a:chExt cx="2413" cy="2306"/>
          </a:xfrm>
        </p:grpSpPr>
        <p:sp>
          <p:nvSpPr>
            <p:cNvPr id="8231" name="Rectangle 4"/>
            <p:cNvSpPr>
              <a:spLocks noChangeArrowheads="1"/>
            </p:cNvSpPr>
            <p:nvPr/>
          </p:nvSpPr>
          <p:spPr bwMode="auto">
            <a:xfrm>
              <a:off x="3247" y="1568"/>
              <a:ext cx="24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A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32" name="Rectangle 5"/>
            <p:cNvSpPr>
              <a:spLocks noChangeArrowheads="1"/>
            </p:cNvSpPr>
            <p:nvPr/>
          </p:nvSpPr>
          <p:spPr bwMode="auto">
            <a:xfrm>
              <a:off x="4053" y="1568"/>
              <a:ext cx="223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B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33" name="Rectangle 6"/>
            <p:cNvSpPr>
              <a:spLocks noChangeArrowheads="1"/>
            </p:cNvSpPr>
            <p:nvPr/>
          </p:nvSpPr>
          <p:spPr bwMode="auto">
            <a:xfrm>
              <a:off x="4866" y="1568"/>
              <a:ext cx="24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Y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34" name="Rectangle 7"/>
            <p:cNvSpPr>
              <a:spLocks noChangeArrowheads="1"/>
            </p:cNvSpPr>
            <p:nvPr/>
          </p:nvSpPr>
          <p:spPr bwMode="auto">
            <a:xfrm>
              <a:off x="2962" y="1464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35" name="Line 8"/>
            <p:cNvSpPr>
              <a:spLocks noChangeShapeType="1"/>
            </p:cNvSpPr>
            <p:nvPr/>
          </p:nvSpPr>
          <p:spPr bwMode="auto">
            <a:xfrm>
              <a:off x="2962" y="1464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Rectangle 9"/>
            <p:cNvSpPr>
              <a:spLocks noChangeArrowheads="1"/>
            </p:cNvSpPr>
            <p:nvPr/>
          </p:nvSpPr>
          <p:spPr bwMode="auto">
            <a:xfrm>
              <a:off x="3759" y="146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37" name="Line 10"/>
            <p:cNvSpPr>
              <a:spLocks noChangeShapeType="1"/>
            </p:cNvSpPr>
            <p:nvPr/>
          </p:nvSpPr>
          <p:spPr bwMode="auto">
            <a:xfrm>
              <a:off x="3759" y="146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Line 11"/>
            <p:cNvSpPr>
              <a:spLocks noChangeShapeType="1"/>
            </p:cNvSpPr>
            <p:nvPr/>
          </p:nvSpPr>
          <p:spPr bwMode="auto">
            <a:xfrm>
              <a:off x="3759" y="146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Rectangle 12"/>
            <p:cNvSpPr>
              <a:spLocks noChangeArrowheads="1"/>
            </p:cNvSpPr>
            <p:nvPr/>
          </p:nvSpPr>
          <p:spPr bwMode="auto">
            <a:xfrm>
              <a:off x="3782" y="1464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40" name="Line 13"/>
            <p:cNvSpPr>
              <a:spLocks noChangeShapeType="1"/>
            </p:cNvSpPr>
            <p:nvPr/>
          </p:nvSpPr>
          <p:spPr bwMode="auto">
            <a:xfrm>
              <a:off x="3782" y="1464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Rectangle 14"/>
            <p:cNvSpPr>
              <a:spLocks noChangeArrowheads="1"/>
            </p:cNvSpPr>
            <p:nvPr/>
          </p:nvSpPr>
          <p:spPr bwMode="auto">
            <a:xfrm>
              <a:off x="4563" y="146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42" name="Line 15"/>
            <p:cNvSpPr>
              <a:spLocks noChangeShapeType="1"/>
            </p:cNvSpPr>
            <p:nvPr/>
          </p:nvSpPr>
          <p:spPr bwMode="auto">
            <a:xfrm>
              <a:off x="4563" y="146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Line 16"/>
            <p:cNvSpPr>
              <a:spLocks noChangeShapeType="1"/>
            </p:cNvSpPr>
            <p:nvPr/>
          </p:nvSpPr>
          <p:spPr bwMode="auto">
            <a:xfrm>
              <a:off x="4563" y="146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Rectangle 17"/>
            <p:cNvSpPr>
              <a:spLocks noChangeArrowheads="1"/>
            </p:cNvSpPr>
            <p:nvPr/>
          </p:nvSpPr>
          <p:spPr bwMode="auto">
            <a:xfrm>
              <a:off x="4586" y="1464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45" name="Line 18"/>
            <p:cNvSpPr>
              <a:spLocks noChangeShapeType="1"/>
            </p:cNvSpPr>
            <p:nvPr/>
          </p:nvSpPr>
          <p:spPr bwMode="auto">
            <a:xfrm>
              <a:off x="4586" y="1464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Rectangle 19"/>
            <p:cNvSpPr>
              <a:spLocks noChangeArrowheads="1"/>
            </p:cNvSpPr>
            <p:nvPr/>
          </p:nvSpPr>
          <p:spPr bwMode="auto">
            <a:xfrm>
              <a:off x="3759" y="148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47" name="Line 20"/>
            <p:cNvSpPr>
              <a:spLocks noChangeShapeType="1"/>
            </p:cNvSpPr>
            <p:nvPr/>
          </p:nvSpPr>
          <p:spPr bwMode="auto">
            <a:xfrm>
              <a:off x="3759" y="148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Rectangle 21"/>
            <p:cNvSpPr>
              <a:spLocks noChangeArrowheads="1"/>
            </p:cNvSpPr>
            <p:nvPr/>
          </p:nvSpPr>
          <p:spPr bwMode="auto">
            <a:xfrm>
              <a:off x="4563" y="148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49" name="Line 22"/>
            <p:cNvSpPr>
              <a:spLocks noChangeShapeType="1"/>
            </p:cNvSpPr>
            <p:nvPr/>
          </p:nvSpPr>
          <p:spPr bwMode="auto">
            <a:xfrm>
              <a:off x="4563" y="148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Rectangle 23"/>
            <p:cNvSpPr>
              <a:spLocks noChangeArrowheads="1"/>
            </p:cNvSpPr>
            <p:nvPr/>
          </p:nvSpPr>
          <p:spPr bwMode="auto">
            <a:xfrm>
              <a:off x="3209" y="2037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ea typeface="长城楷体" pitchFamily="49" charset="-122"/>
                </a:rPr>
                <a:t>0V</a:t>
              </a:r>
              <a:endParaRPr lang="en-US" altLang="zh-CN" sz="3200" b="1" dirty="0">
                <a:ea typeface="长城楷体" pitchFamily="49" charset="-122"/>
              </a:endParaRPr>
            </a:p>
          </p:txBody>
        </p:sp>
        <p:sp>
          <p:nvSpPr>
            <p:cNvPr id="8251" name="Rectangle 24"/>
            <p:cNvSpPr>
              <a:spLocks noChangeArrowheads="1"/>
            </p:cNvSpPr>
            <p:nvPr/>
          </p:nvSpPr>
          <p:spPr bwMode="auto">
            <a:xfrm>
              <a:off x="4012" y="2037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ea typeface="长城楷体" pitchFamily="49" charset="-122"/>
                </a:rPr>
                <a:t>0V</a:t>
              </a:r>
              <a:endParaRPr lang="en-US" altLang="zh-CN" sz="3200" b="1" dirty="0">
                <a:ea typeface="长城楷体" pitchFamily="49" charset="-122"/>
              </a:endParaRPr>
            </a:p>
          </p:txBody>
        </p:sp>
        <p:sp>
          <p:nvSpPr>
            <p:cNvPr id="8252" name="Rectangle 25"/>
            <p:cNvSpPr>
              <a:spLocks noChangeArrowheads="1"/>
            </p:cNvSpPr>
            <p:nvPr/>
          </p:nvSpPr>
          <p:spPr bwMode="auto">
            <a:xfrm>
              <a:off x="4718" y="2037"/>
              <a:ext cx="6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0.7V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53" name="Rectangle 26"/>
            <p:cNvSpPr>
              <a:spLocks noChangeArrowheads="1"/>
            </p:cNvSpPr>
            <p:nvPr/>
          </p:nvSpPr>
          <p:spPr bwMode="auto">
            <a:xfrm>
              <a:off x="2962" y="1936"/>
              <a:ext cx="79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54" name="Line 27"/>
            <p:cNvSpPr>
              <a:spLocks noChangeShapeType="1"/>
            </p:cNvSpPr>
            <p:nvPr/>
          </p:nvSpPr>
          <p:spPr bwMode="auto">
            <a:xfrm>
              <a:off x="2962" y="1936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Rectangle 28"/>
            <p:cNvSpPr>
              <a:spLocks noChangeArrowheads="1"/>
            </p:cNvSpPr>
            <p:nvPr/>
          </p:nvSpPr>
          <p:spPr bwMode="auto">
            <a:xfrm>
              <a:off x="3759" y="193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56" name="Line 29"/>
            <p:cNvSpPr>
              <a:spLocks noChangeShapeType="1"/>
            </p:cNvSpPr>
            <p:nvPr/>
          </p:nvSpPr>
          <p:spPr bwMode="auto">
            <a:xfrm>
              <a:off x="3759" y="193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Line 30"/>
            <p:cNvSpPr>
              <a:spLocks noChangeShapeType="1"/>
            </p:cNvSpPr>
            <p:nvPr/>
          </p:nvSpPr>
          <p:spPr bwMode="auto">
            <a:xfrm>
              <a:off x="3759" y="193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Rectangle 31"/>
            <p:cNvSpPr>
              <a:spLocks noChangeArrowheads="1"/>
            </p:cNvSpPr>
            <p:nvPr/>
          </p:nvSpPr>
          <p:spPr bwMode="auto">
            <a:xfrm>
              <a:off x="3776" y="1936"/>
              <a:ext cx="78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59" name="Line 32"/>
            <p:cNvSpPr>
              <a:spLocks noChangeShapeType="1"/>
            </p:cNvSpPr>
            <p:nvPr/>
          </p:nvSpPr>
          <p:spPr bwMode="auto">
            <a:xfrm>
              <a:off x="3776" y="1936"/>
              <a:ext cx="7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Rectangle 33"/>
            <p:cNvSpPr>
              <a:spLocks noChangeArrowheads="1"/>
            </p:cNvSpPr>
            <p:nvPr/>
          </p:nvSpPr>
          <p:spPr bwMode="auto">
            <a:xfrm>
              <a:off x="4563" y="193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61" name="Line 34"/>
            <p:cNvSpPr>
              <a:spLocks noChangeShapeType="1"/>
            </p:cNvSpPr>
            <p:nvPr/>
          </p:nvSpPr>
          <p:spPr bwMode="auto">
            <a:xfrm>
              <a:off x="4563" y="193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2" name="Line 35"/>
            <p:cNvSpPr>
              <a:spLocks noChangeShapeType="1"/>
            </p:cNvSpPr>
            <p:nvPr/>
          </p:nvSpPr>
          <p:spPr bwMode="auto">
            <a:xfrm>
              <a:off x="4563" y="193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3" name="Rectangle 36"/>
            <p:cNvSpPr>
              <a:spLocks noChangeArrowheads="1"/>
            </p:cNvSpPr>
            <p:nvPr/>
          </p:nvSpPr>
          <p:spPr bwMode="auto">
            <a:xfrm>
              <a:off x="4580" y="1936"/>
              <a:ext cx="792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64" name="Line 37"/>
            <p:cNvSpPr>
              <a:spLocks noChangeShapeType="1"/>
            </p:cNvSpPr>
            <p:nvPr/>
          </p:nvSpPr>
          <p:spPr bwMode="auto">
            <a:xfrm>
              <a:off x="4580" y="1936"/>
              <a:ext cx="7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5" name="Rectangle 38"/>
            <p:cNvSpPr>
              <a:spLocks noChangeArrowheads="1"/>
            </p:cNvSpPr>
            <p:nvPr/>
          </p:nvSpPr>
          <p:spPr bwMode="auto">
            <a:xfrm>
              <a:off x="3759" y="195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66" name="Line 39"/>
            <p:cNvSpPr>
              <a:spLocks noChangeShapeType="1"/>
            </p:cNvSpPr>
            <p:nvPr/>
          </p:nvSpPr>
          <p:spPr bwMode="auto">
            <a:xfrm>
              <a:off x="3759" y="195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7" name="Rectangle 40"/>
            <p:cNvSpPr>
              <a:spLocks noChangeArrowheads="1"/>
            </p:cNvSpPr>
            <p:nvPr/>
          </p:nvSpPr>
          <p:spPr bwMode="auto">
            <a:xfrm>
              <a:off x="4563" y="195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68" name="Line 41"/>
            <p:cNvSpPr>
              <a:spLocks noChangeShapeType="1"/>
            </p:cNvSpPr>
            <p:nvPr/>
          </p:nvSpPr>
          <p:spPr bwMode="auto">
            <a:xfrm>
              <a:off x="4563" y="195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9" name="Rectangle 42"/>
            <p:cNvSpPr>
              <a:spLocks noChangeArrowheads="1"/>
            </p:cNvSpPr>
            <p:nvPr/>
          </p:nvSpPr>
          <p:spPr bwMode="auto">
            <a:xfrm>
              <a:off x="3209" y="2483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70" name="Rectangle 43"/>
            <p:cNvSpPr>
              <a:spLocks noChangeArrowheads="1"/>
            </p:cNvSpPr>
            <p:nvPr/>
          </p:nvSpPr>
          <p:spPr bwMode="auto">
            <a:xfrm>
              <a:off x="4012" y="2483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dirty="0">
                  <a:ea typeface="长城楷体" pitchFamily="49" charset="-122"/>
                </a:rPr>
                <a:t>3V</a:t>
              </a:r>
              <a:endParaRPr lang="en-US" altLang="zh-CN" sz="3200" b="1" dirty="0">
                <a:ea typeface="长城楷体" pitchFamily="49" charset="-122"/>
              </a:endParaRPr>
            </a:p>
          </p:txBody>
        </p:sp>
        <p:sp>
          <p:nvSpPr>
            <p:cNvPr id="8271" name="Rectangle 44"/>
            <p:cNvSpPr>
              <a:spLocks noChangeArrowheads="1"/>
            </p:cNvSpPr>
            <p:nvPr/>
          </p:nvSpPr>
          <p:spPr bwMode="auto">
            <a:xfrm>
              <a:off x="4718" y="2483"/>
              <a:ext cx="6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0.7V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72" name="Rectangle 45"/>
            <p:cNvSpPr>
              <a:spLocks noChangeArrowheads="1"/>
            </p:cNvSpPr>
            <p:nvPr/>
          </p:nvSpPr>
          <p:spPr bwMode="auto">
            <a:xfrm>
              <a:off x="3759" y="240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73" name="Line 46"/>
            <p:cNvSpPr>
              <a:spLocks noChangeShapeType="1"/>
            </p:cNvSpPr>
            <p:nvPr/>
          </p:nvSpPr>
          <p:spPr bwMode="auto">
            <a:xfrm>
              <a:off x="3759" y="240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4" name="Rectangle 47"/>
            <p:cNvSpPr>
              <a:spLocks noChangeArrowheads="1"/>
            </p:cNvSpPr>
            <p:nvPr/>
          </p:nvSpPr>
          <p:spPr bwMode="auto">
            <a:xfrm>
              <a:off x="4563" y="240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75" name="Line 48"/>
            <p:cNvSpPr>
              <a:spLocks noChangeShapeType="1"/>
            </p:cNvSpPr>
            <p:nvPr/>
          </p:nvSpPr>
          <p:spPr bwMode="auto">
            <a:xfrm>
              <a:off x="4563" y="240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6" name="Rectangle 49"/>
            <p:cNvSpPr>
              <a:spLocks noChangeArrowheads="1"/>
            </p:cNvSpPr>
            <p:nvPr/>
          </p:nvSpPr>
          <p:spPr bwMode="auto">
            <a:xfrm>
              <a:off x="3209" y="2932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77" name="Rectangle 50"/>
            <p:cNvSpPr>
              <a:spLocks noChangeArrowheads="1"/>
            </p:cNvSpPr>
            <p:nvPr/>
          </p:nvSpPr>
          <p:spPr bwMode="auto">
            <a:xfrm>
              <a:off x="4012" y="2932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78" name="Rectangle 51"/>
            <p:cNvSpPr>
              <a:spLocks noChangeArrowheads="1"/>
            </p:cNvSpPr>
            <p:nvPr/>
          </p:nvSpPr>
          <p:spPr bwMode="auto">
            <a:xfrm>
              <a:off x="4718" y="2932"/>
              <a:ext cx="6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0.7V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79" name="Rectangle 52"/>
            <p:cNvSpPr>
              <a:spLocks noChangeArrowheads="1"/>
            </p:cNvSpPr>
            <p:nvPr/>
          </p:nvSpPr>
          <p:spPr bwMode="auto">
            <a:xfrm>
              <a:off x="3759" y="285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80" name="Line 53"/>
            <p:cNvSpPr>
              <a:spLocks noChangeShapeType="1"/>
            </p:cNvSpPr>
            <p:nvPr/>
          </p:nvSpPr>
          <p:spPr bwMode="auto">
            <a:xfrm>
              <a:off x="3759" y="285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1" name="Rectangle 54"/>
            <p:cNvSpPr>
              <a:spLocks noChangeArrowheads="1"/>
            </p:cNvSpPr>
            <p:nvPr/>
          </p:nvSpPr>
          <p:spPr bwMode="auto">
            <a:xfrm>
              <a:off x="4563" y="285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82" name="Line 55"/>
            <p:cNvSpPr>
              <a:spLocks noChangeShapeType="1"/>
            </p:cNvSpPr>
            <p:nvPr/>
          </p:nvSpPr>
          <p:spPr bwMode="auto">
            <a:xfrm>
              <a:off x="4563" y="285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3" name="Rectangle 56"/>
            <p:cNvSpPr>
              <a:spLocks noChangeArrowheads="1"/>
            </p:cNvSpPr>
            <p:nvPr/>
          </p:nvSpPr>
          <p:spPr bwMode="auto">
            <a:xfrm>
              <a:off x="3209" y="3378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84" name="Rectangle 57"/>
            <p:cNvSpPr>
              <a:spLocks noChangeArrowheads="1"/>
            </p:cNvSpPr>
            <p:nvPr/>
          </p:nvSpPr>
          <p:spPr bwMode="auto">
            <a:xfrm>
              <a:off x="4012" y="3378"/>
              <a:ext cx="40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85" name="Rectangle 58"/>
            <p:cNvSpPr>
              <a:spLocks noChangeArrowheads="1"/>
            </p:cNvSpPr>
            <p:nvPr/>
          </p:nvSpPr>
          <p:spPr bwMode="auto">
            <a:xfrm>
              <a:off x="4717" y="3378"/>
              <a:ext cx="657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3.7V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8286" name="Rectangle 59"/>
            <p:cNvSpPr>
              <a:spLocks noChangeArrowheads="1"/>
            </p:cNvSpPr>
            <p:nvPr/>
          </p:nvSpPr>
          <p:spPr bwMode="auto">
            <a:xfrm>
              <a:off x="2962" y="3747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87" name="Line 60"/>
            <p:cNvSpPr>
              <a:spLocks noChangeShapeType="1"/>
            </p:cNvSpPr>
            <p:nvPr/>
          </p:nvSpPr>
          <p:spPr bwMode="auto">
            <a:xfrm>
              <a:off x="2962" y="3747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8" name="Rectangle 61"/>
            <p:cNvSpPr>
              <a:spLocks noChangeArrowheads="1"/>
            </p:cNvSpPr>
            <p:nvPr/>
          </p:nvSpPr>
          <p:spPr bwMode="auto">
            <a:xfrm>
              <a:off x="3759" y="329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89" name="Line 62"/>
            <p:cNvSpPr>
              <a:spLocks noChangeShapeType="1"/>
            </p:cNvSpPr>
            <p:nvPr/>
          </p:nvSpPr>
          <p:spPr bwMode="auto">
            <a:xfrm>
              <a:off x="3759" y="329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0" name="Rectangle 63"/>
            <p:cNvSpPr>
              <a:spLocks noChangeArrowheads="1"/>
            </p:cNvSpPr>
            <p:nvPr/>
          </p:nvSpPr>
          <p:spPr bwMode="auto">
            <a:xfrm>
              <a:off x="3759" y="374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91" name="Line 64"/>
            <p:cNvSpPr>
              <a:spLocks noChangeShapeType="1"/>
            </p:cNvSpPr>
            <p:nvPr/>
          </p:nvSpPr>
          <p:spPr bwMode="auto">
            <a:xfrm>
              <a:off x="3759" y="374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2" name="Line 65"/>
            <p:cNvSpPr>
              <a:spLocks noChangeShapeType="1"/>
            </p:cNvSpPr>
            <p:nvPr/>
          </p:nvSpPr>
          <p:spPr bwMode="auto">
            <a:xfrm>
              <a:off x="3759" y="374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3" name="Rectangle 66"/>
            <p:cNvSpPr>
              <a:spLocks noChangeArrowheads="1"/>
            </p:cNvSpPr>
            <p:nvPr/>
          </p:nvSpPr>
          <p:spPr bwMode="auto">
            <a:xfrm>
              <a:off x="3782" y="3747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94" name="Line 67"/>
            <p:cNvSpPr>
              <a:spLocks noChangeShapeType="1"/>
            </p:cNvSpPr>
            <p:nvPr/>
          </p:nvSpPr>
          <p:spPr bwMode="auto">
            <a:xfrm>
              <a:off x="3782" y="3747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5" name="Rectangle 68"/>
            <p:cNvSpPr>
              <a:spLocks noChangeArrowheads="1"/>
            </p:cNvSpPr>
            <p:nvPr/>
          </p:nvSpPr>
          <p:spPr bwMode="auto">
            <a:xfrm>
              <a:off x="4563" y="329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96" name="Line 69"/>
            <p:cNvSpPr>
              <a:spLocks noChangeShapeType="1"/>
            </p:cNvSpPr>
            <p:nvPr/>
          </p:nvSpPr>
          <p:spPr bwMode="auto">
            <a:xfrm>
              <a:off x="4563" y="329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7" name="Rectangle 70"/>
            <p:cNvSpPr>
              <a:spLocks noChangeArrowheads="1"/>
            </p:cNvSpPr>
            <p:nvPr/>
          </p:nvSpPr>
          <p:spPr bwMode="auto">
            <a:xfrm>
              <a:off x="4563" y="374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98" name="Line 71"/>
            <p:cNvSpPr>
              <a:spLocks noChangeShapeType="1"/>
            </p:cNvSpPr>
            <p:nvPr/>
          </p:nvSpPr>
          <p:spPr bwMode="auto">
            <a:xfrm>
              <a:off x="4563" y="374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" name="Line 72"/>
            <p:cNvSpPr>
              <a:spLocks noChangeShapeType="1"/>
            </p:cNvSpPr>
            <p:nvPr/>
          </p:nvSpPr>
          <p:spPr bwMode="auto">
            <a:xfrm>
              <a:off x="4563" y="374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" name="Rectangle 73"/>
            <p:cNvSpPr>
              <a:spLocks noChangeArrowheads="1"/>
            </p:cNvSpPr>
            <p:nvPr/>
          </p:nvSpPr>
          <p:spPr bwMode="auto">
            <a:xfrm>
              <a:off x="4586" y="3747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301" name="Line 74"/>
            <p:cNvSpPr>
              <a:spLocks noChangeShapeType="1"/>
            </p:cNvSpPr>
            <p:nvPr/>
          </p:nvSpPr>
          <p:spPr bwMode="auto">
            <a:xfrm>
              <a:off x="4586" y="3747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3821" name="Text Box 109"/>
          <p:cNvSpPr txBox="1">
            <a:spLocks noChangeArrowheads="1"/>
          </p:cNvSpPr>
          <p:nvPr/>
        </p:nvSpPr>
        <p:spPr bwMode="auto">
          <a:xfrm>
            <a:off x="5868988" y="1393825"/>
            <a:ext cx="1733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 </a:t>
            </a:r>
            <a:r>
              <a:rPr lang="zh-CN" altLang="en-US" sz="2400" b="1"/>
              <a:t>功能表</a:t>
            </a:r>
            <a:endParaRPr lang="zh-CN" altLang="en-US" sz="2400" b="1"/>
          </a:p>
        </p:txBody>
      </p:sp>
      <p:grpSp>
        <p:nvGrpSpPr>
          <p:cNvPr id="8197" name="Group 113"/>
          <p:cNvGrpSpPr/>
          <p:nvPr/>
        </p:nvGrpSpPr>
        <p:grpSpPr bwMode="auto">
          <a:xfrm>
            <a:off x="361950" y="1657350"/>
            <a:ext cx="4133850" cy="4440238"/>
            <a:chOff x="228" y="1044"/>
            <a:chExt cx="2604" cy="2797"/>
          </a:xfrm>
        </p:grpSpPr>
        <p:grpSp>
          <p:nvGrpSpPr>
            <p:cNvPr id="8199" name="Group 84"/>
            <p:cNvGrpSpPr/>
            <p:nvPr/>
          </p:nvGrpSpPr>
          <p:grpSpPr bwMode="auto">
            <a:xfrm>
              <a:off x="794" y="2262"/>
              <a:ext cx="1025" cy="384"/>
              <a:chOff x="1127" y="1638"/>
              <a:chExt cx="973" cy="384"/>
            </a:xfrm>
          </p:grpSpPr>
          <p:grpSp>
            <p:nvGrpSpPr>
              <p:cNvPr id="8226" name="Group 85"/>
              <p:cNvGrpSpPr/>
              <p:nvPr/>
            </p:nvGrpSpPr>
            <p:grpSpPr bwMode="auto">
              <a:xfrm>
                <a:off x="1236" y="1638"/>
                <a:ext cx="864" cy="384"/>
                <a:chOff x="1236" y="1638"/>
                <a:chExt cx="864" cy="384"/>
              </a:xfrm>
            </p:grpSpPr>
            <p:sp>
              <p:nvSpPr>
                <p:cNvPr id="8228" name="Line 86"/>
                <p:cNvSpPr>
                  <a:spLocks noChangeShapeType="1"/>
                </p:cNvSpPr>
                <p:nvPr/>
              </p:nvSpPr>
              <p:spPr bwMode="auto">
                <a:xfrm flipH="1">
                  <a:off x="1488" y="1638"/>
                  <a:ext cx="1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8229" name="AutoShape 87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1446" y="1698"/>
                  <a:ext cx="372" cy="264"/>
                </a:xfrm>
                <a:prstGeom prst="triangle">
                  <a:avLst>
                    <a:gd name="adj" fmla="val 50000"/>
                  </a:avLst>
                </a:prstGeom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8230" name="Line 88"/>
                <p:cNvSpPr>
                  <a:spLocks noChangeShapeType="1"/>
                </p:cNvSpPr>
                <p:nvPr/>
              </p:nvSpPr>
              <p:spPr bwMode="auto">
                <a:xfrm>
                  <a:off x="1236" y="1830"/>
                  <a:ext cx="86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27" name="Oval 89"/>
              <p:cNvSpPr>
                <a:spLocks noChangeArrowheads="1"/>
              </p:cNvSpPr>
              <p:nvPr/>
            </p:nvSpPr>
            <p:spPr bwMode="auto">
              <a:xfrm>
                <a:off x="1127" y="1769"/>
                <a:ext cx="109" cy="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pSp>
          <p:nvGrpSpPr>
            <p:cNvPr id="8200" name="Group 77"/>
            <p:cNvGrpSpPr/>
            <p:nvPr/>
          </p:nvGrpSpPr>
          <p:grpSpPr bwMode="auto">
            <a:xfrm>
              <a:off x="803" y="2965"/>
              <a:ext cx="1025" cy="384"/>
              <a:chOff x="1127" y="1638"/>
              <a:chExt cx="973" cy="384"/>
            </a:xfrm>
          </p:grpSpPr>
          <p:grpSp>
            <p:nvGrpSpPr>
              <p:cNvPr id="8221" name="Group 78"/>
              <p:cNvGrpSpPr/>
              <p:nvPr/>
            </p:nvGrpSpPr>
            <p:grpSpPr bwMode="auto">
              <a:xfrm>
                <a:off x="1236" y="1638"/>
                <a:ext cx="864" cy="384"/>
                <a:chOff x="1236" y="1638"/>
                <a:chExt cx="864" cy="384"/>
              </a:xfrm>
            </p:grpSpPr>
            <p:sp>
              <p:nvSpPr>
                <p:cNvPr id="8223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1488" y="1638"/>
                  <a:ext cx="1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24" name="AutoShape 80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1446" y="1698"/>
                  <a:ext cx="372" cy="264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8225" name="Line 81"/>
                <p:cNvSpPr>
                  <a:spLocks noChangeShapeType="1"/>
                </p:cNvSpPr>
                <p:nvPr/>
              </p:nvSpPr>
              <p:spPr bwMode="auto">
                <a:xfrm>
                  <a:off x="1236" y="1830"/>
                  <a:ext cx="864" cy="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22" name="Oval 82"/>
              <p:cNvSpPr>
                <a:spLocks noChangeArrowheads="1"/>
              </p:cNvSpPr>
              <p:nvPr/>
            </p:nvSpPr>
            <p:spPr bwMode="auto">
              <a:xfrm>
                <a:off x="1127" y="1769"/>
                <a:ext cx="109" cy="1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8201" name="Line 83"/>
            <p:cNvSpPr>
              <a:spLocks noChangeShapeType="1"/>
            </p:cNvSpPr>
            <p:nvPr/>
          </p:nvSpPr>
          <p:spPr bwMode="auto">
            <a:xfrm>
              <a:off x="1790" y="2448"/>
              <a:ext cx="82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" name="Line 90"/>
            <p:cNvSpPr>
              <a:spLocks noChangeShapeType="1"/>
            </p:cNvSpPr>
            <p:nvPr/>
          </p:nvSpPr>
          <p:spPr bwMode="auto">
            <a:xfrm flipV="1">
              <a:off x="1809" y="2133"/>
              <a:ext cx="0" cy="10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" name="Rectangle 91"/>
            <p:cNvSpPr>
              <a:spLocks noChangeArrowheads="1"/>
            </p:cNvSpPr>
            <p:nvPr/>
          </p:nvSpPr>
          <p:spPr bwMode="auto">
            <a:xfrm>
              <a:off x="1722" y="1636"/>
              <a:ext cx="173" cy="50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04" name="Line 92"/>
            <p:cNvSpPr>
              <a:spLocks noChangeShapeType="1"/>
            </p:cNvSpPr>
            <p:nvPr/>
          </p:nvSpPr>
          <p:spPr bwMode="auto">
            <a:xfrm flipH="1" flipV="1">
              <a:off x="1809" y="1360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Oval 93"/>
            <p:cNvSpPr>
              <a:spLocks noChangeArrowheads="1"/>
            </p:cNvSpPr>
            <p:nvPr/>
          </p:nvSpPr>
          <p:spPr bwMode="auto">
            <a:xfrm>
              <a:off x="1752" y="1236"/>
              <a:ext cx="106" cy="10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06" name="Oval 94"/>
            <p:cNvSpPr>
              <a:spLocks noChangeArrowheads="1"/>
            </p:cNvSpPr>
            <p:nvPr/>
          </p:nvSpPr>
          <p:spPr bwMode="auto">
            <a:xfrm>
              <a:off x="1780" y="2438"/>
              <a:ext cx="49" cy="47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07" name="Oval 95"/>
            <p:cNvSpPr>
              <a:spLocks noChangeArrowheads="1"/>
            </p:cNvSpPr>
            <p:nvPr/>
          </p:nvSpPr>
          <p:spPr bwMode="auto">
            <a:xfrm>
              <a:off x="2600" y="2395"/>
              <a:ext cx="106" cy="10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8208" name="Text Box 96"/>
            <p:cNvSpPr txBox="1">
              <a:spLocks noChangeArrowheads="1"/>
            </p:cNvSpPr>
            <p:nvPr/>
          </p:nvSpPr>
          <p:spPr bwMode="auto">
            <a:xfrm>
              <a:off x="2516" y="2034"/>
              <a:ext cx="3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Y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8209" name="Text Box 97"/>
            <p:cNvSpPr txBox="1">
              <a:spLocks noChangeArrowheads="1"/>
            </p:cNvSpPr>
            <p:nvPr/>
          </p:nvSpPr>
          <p:spPr bwMode="auto">
            <a:xfrm>
              <a:off x="1182" y="1904"/>
              <a:ext cx="42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D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8210" name="Text Box 98"/>
            <p:cNvSpPr txBox="1">
              <a:spLocks noChangeArrowheads="1"/>
            </p:cNvSpPr>
            <p:nvPr/>
          </p:nvSpPr>
          <p:spPr bwMode="auto">
            <a:xfrm>
              <a:off x="1174" y="2621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D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8211" name="Text Box 99"/>
            <p:cNvSpPr txBox="1">
              <a:spLocks noChangeArrowheads="1"/>
            </p:cNvSpPr>
            <p:nvPr/>
          </p:nvSpPr>
          <p:spPr bwMode="auto">
            <a:xfrm>
              <a:off x="424" y="2270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8212" name="Text Box 100"/>
            <p:cNvSpPr txBox="1">
              <a:spLocks noChangeArrowheads="1"/>
            </p:cNvSpPr>
            <p:nvPr/>
          </p:nvSpPr>
          <p:spPr bwMode="auto">
            <a:xfrm>
              <a:off x="439" y="2916"/>
              <a:ext cx="3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8213" name="Text Box 101"/>
            <p:cNvSpPr txBox="1">
              <a:spLocks noChangeArrowheads="1"/>
            </p:cNvSpPr>
            <p:nvPr/>
          </p:nvSpPr>
          <p:spPr bwMode="auto">
            <a:xfrm>
              <a:off x="1891" y="1044"/>
              <a:ext cx="8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V</a:t>
              </a:r>
              <a:r>
                <a:rPr lang="en-US" altLang="zh-CN" sz="2800" b="1" baseline="-25000">
                  <a:ea typeface="楷体_GB2312" pitchFamily="49" charset="-122"/>
                </a:rPr>
                <a:t>CC </a:t>
              </a:r>
              <a:r>
                <a:rPr lang="en-US" altLang="zh-CN" sz="2800" b="1">
                  <a:ea typeface="楷体_GB2312" pitchFamily="49" charset="-122"/>
                </a:rPr>
                <a:t>(5v)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8214" name="Text Box 102"/>
            <p:cNvSpPr txBox="1">
              <a:spLocks noChangeArrowheads="1"/>
            </p:cNvSpPr>
            <p:nvPr/>
          </p:nvSpPr>
          <p:spPr bwMode="auto">
            <a:xfrm>
              <a:off x="1991" y="1656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Rc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grpSp>
          <p:nvGrpSpPr>
            <p:cNvPr id="8215" name="Group 103"/>
            <p:cNvGrpSpPr/>
            <p:nvPr/>
          </p:nvGrpSpPr>
          <p:grpSpPr bwMode="auto">
            <a:xfrm>
              <a:off x="318" y="3516"/>
              <a:ext cx="2330" cy="325"/>
              <a:chOff x="366" y="3816"/>
              <a:chExt cx="2212" cy="325"/>
            </a:xfrm>
          </p:grpSpPr>
          <p:sp>
            <p:nvSpPr>
              <p:cNvPr id="8217" name="Line 104"/>
              <p:cNvSpPr>
                <a:spLocks noChangeShapeType="1"/>
              </p:cNvSpPr>
              <p:nvPr/>
            </p:nvSpPr>
            <p:spPr bwMode="auto">
              <a:xfrm>
                <a:off x="1788" y="3829"/>
                <a:ext cx="0" cy="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8" name="Line 105"/>
              <p:cNvSpPr>
                <a:spLocks noChangeShapeType="1"/>
              </p:cNvSpPr>
              <p:nvPr/>
            </p:nvSpPr>
            <p:spPr bwMode="auto">
              <a:xfrm flipV="1">
                <a:off x="1668" y="4117"/>
                <a:ext cx="228" cy="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9" name="Line 106"/>
              <p:cNvSpPr>
                <a:spLocks noChangeShapeType="1"/>
              </p:cNvSpPr>
              <p:nvPr/>
            </p:nvSpPr>
            <p:spPr bwMode="auto">
              <a:xfrm flipV="1">
                <a:off x="366" y="3859"/>
                <a:ext cx="2212" cy="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0" name="Oval 107"/>
              <p:cNvSpPr>
                <a:spLocks noChangeArrowheads="1"/>
              </p:cNvSpPr>
              <p:nvPr/>
            </p:nvSpPr>
            <p:spPr bwMode="auto">
              <a:xfrm>
                <a:off x="1752" y="3816"/>
                <a:ext cx="72" cy="84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8216" name="AutoShape 110"/>
            <p:cNvSpPr>
              <a:spLocks noChangeArrowheads="1"/>
            </p:cNvSpPr>
            <p:nvPr/>
          </p:nvSpPr>
          <p:spPr bwMode="auto">
            <a:xfrm rot="10800000" flipV="1">
              <a:off x="228" y="1415"/>
              <a:ext cx="959" cy="359"/>
            </a:xfrm>
            <a:prstGeom prst="wedgeRectCallout">
              <a:avLst>
                <a:gd name="adj1" fmla="val -54593"/>
                <a:gd name="adj2" fmla="val 209884"/>
              </a:avLst>
            </a:prstGeom>
            <a:noFill/>
            <a:ln w="38100">
              <a:solidFill>
                <a:srgbClr val="FF0000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ea typeface="长城楷体" pitchFamily="49" charset="-122"/>
                </a:rPr>
                <a:t>硅二极管</a:t>
              </a:r>
              <a:endParaRPr lang="zh-CN" altLang="en-US" sz="2400" b="1">
                <a:ea typeface="长城楷体" pitchFamily="49" charset="-122"/>
              </a:endParaRPr>
            </a:p>
          </p:txBody>
        </p:sp>
      </p:grpSp>
      <p:sp>
        <p:nvSpPr>
          <p:cNvPr id="8198" name="Text Box 112"/>
          <p:cNvSpPr txBox="1">
            <a:spLocks noChangeArrowheads="1"/>
          </p:cNvSpPr>
          <p:nvPr/>
        </p:nvSpPr>
        <p:spPr bwMode="auto">
          <a:xfrm>
            <a:off x="453708" y="447675"/>
            <a:ext cx="3933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4.3 </a:t>
            </a:r>
            <a:r>
              <a:rPr lang="zh-CN" altLang="en-US" sz="2800" b="1"/>
              <a:t>分离原件逻辑门电路</a:t>
            </a:r>
            <a:endParaRPr lang="zh-CN" altLang="en-US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210312" y="3028890"/>
            <a:ext cx="114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C000"/>
                </a:solidFill>
                <a:ea typeface="长城楷体" pitchFamily="49" charset="-122"/>
              </a:rPr>
              <a:t>0V</a:t>
            </a:r>
            <a:r>
              <a:rPr lang="zh-CN" altLang="en-US" sz="2000" dirty="0">
                <a:solidFill>
                  <a:srgbClr val="FFC000"/>
                </a:solidFill>
                <a:ea typeface="长城楷体" pitchFamily="49" charset="-122"/>
              </a:rPr>
              <a:t>或</a:t>
            </a:r>
            <a:r>
              <a:rPr lang="en-US" altLang="zh-CN" sz="2000" dirty="0">
                <a:solidFill>
                  <a:srgbClr val="FFC000"/>
                </a:solidFill>
                <a:ea typeface="长城楷体" pitchFamily="49" charset="-122"/>
              </a:rPr>
              <a:t>3V</a:t>
            </a:r>
            <a:endParaRPr lang="en-US" altLang="zh-CN" sz="2000" b="1" dirty="0">
              <a:solidFill>
                <a:srgbClr val="FFC000"/>
              </a:solidFill>
              <a:ea typeface="长城楷体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8775" y="6164550"/>
            <a:ext cx="8158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bg2">
                    <a:lumMod val="40000"/>
                    <a:lumOff val="60000"/>
                  </a:schemeClr>
                </a:solidFill>
                <a:ea typeface="长城楷体" pitchFamily="49" charset="-122"/>
              </a:rPr>
              <a:t>电流永远是走电势落差最大的支路和阻抗最小的支路。</a:t>
            </a:r>
            <a:endParaRPr lang="en-US" altLang="zh-CN" sz="2000" b="1" dirty="0">
              <a:solidFill>
                <a:schemeClr val="bg2">
                  <a:lumMod val="40000"/>
                  <a:lumOff val="60000"/>
                </a:schemeClr>
              </a:solidFill>
              <a:ea typeface="长城楷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821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738" name="Group 2"/>
          <p:cNvGrpSpPr/>
          <p:nvPr/>
        </p:nvGrpSpPr>
        <p:grpSpPr bwMode="auto">
          <a:xfrm>
            <a:off x="468313" y="836613"/>
            <a:ext cx="3825875" cy="3660775"/>
            <a:chOff x="514" y="756"/>
            <a:chExt cx="2410" cy="2306"/>
          </a:xfrm>
        </p:grpSpPr>
        <p:sp>
          <p:nvSpPr>
            <p:cNvPr id="9305" name="Rectangle 3"/>
            <p:cNvSpPr>
              <a:spLocks noChangeArrowheads="1"/>
            </p:cNvSpPr>
            <p:nvPr/>
          </p:nvSpPr>
          <p:spPr bwMode="auto">
            <a:xfrm>
              <a:off x="799" y="860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A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06" name="Rectangle 4"/>
            <p:cNvSpPr>
              <a:spLocks noChangeArrowheads="1"/>
            </p:cNvSpPr>
            <p:nvPr/>
          </p:nvSpPr>
          <p:spPr bwMode="auto">
            <a:xfrm>
              <a:off x="1605" y="860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B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07" name="Rectangle 5"/>
            <p:cNvSpPr>
              <a:spLocks noChangeArrowheads="1"/>
            </p:cNvSpPr>
            <p:nvPr/>
          </p:nvSpPr>
          <p:spPr bwMode="auto">
            <a:xfrm>
              <a:off x="2417" y="860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Y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08" name="Rectangle 6"/>
            <p:cNvSpPr>
              <a:spLocks noChangeArrowheads="1"/>
            </p:cNvSpPr>
            <p:nvPr/>
          </p:nvSpPr>
          <p:spPr bwMode="auto">
            <a:xfrm>
              <a:off x="514" y="756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09" name="Line 7"/>
            <p:cNvSpPr>
              <a:spLocks noChangeShapeType="1"/>
            </p:cNvSpPr>
            <p:nvPr/>
          </p:nvSpPr>
          <p:spPr bwMode="auto">
            <a:xfrm>
              <a:off x="514" y="756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0" name="Rectangle 8"/>
            <p:cNvSpPr>
              <a:spLocks noChangeArrowheads="1"/>
            </p:cNvSpPr>
            <p:nvPr/>
          </p:nvSpPr>
          <p:spPr bwMode="auto">
            <a:xfrm>
              <a:off x="1311" y="756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11" name="Line 9"/>
            <p:cNvSpPr>
              <a:spLocks noChangeShapeType="1"/>
            </p:cNvSpPr>
            <p:nvPr/>
          </p:nvSpPr>
          <p:spPr bwMode="auto">
            <a:xfrm>
              <a:off x="1311" y="756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2" name="Line 10"/>
            <p:cNvSpPr>
              <a:spLocks noChangeShapeType="1"/>
            </p:cNvSpPr>
            <p:nvPr/>
          </p:nvSpPr>
          <p:spPr bwMode="auto">
            <a:xfrm>
              <a:off x="1311" y="756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3" name="Rectangle 11"/>
            <p:cNvSpPr>
              <a:spLocks noChangeArrowheads="1"/>
            </p:cNvSpPr>
            <p:nvPr/>
          </p:nvSpPr>
          <p:spPr bwMode="auto">
            <a:xfrm>
              <a:off x="1334" y="756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14" name="Line 12"/>
            <p:cNvSpPr>
              <a:spLocks noChangeShapeType="1"/>
            </p:cNvSpPr>
            <p:nvPr/>
          </p:nvSpPr>
          <p:spPr bwMode="auto">
            <a:xfrm>
              <a:off x="1334" y="756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5" name="Rectangle 13"/>
            <p:cNvSpPr>
              <a:spLocks noChangeArrowheads="1"/>
            </p:cNvSpPr>
            <p:nvPr/>
          </p:nvSpPr>
          <p:spPr bwMode="auto">
            <a:xfrm>
              <a:off x="2115" y="756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16" name="Line 14"/>
            <p:cNvSpPr>
              <a:spLocks noChangeShapeType="1"/>
            </p:cNvSpPr>
            <p:nvPr/>
          </p:nvSpPr>
          <p:spPr bwMode="auto">
            <a:xfrm>
              <a:off x="2115" y="756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7" name="Line 15"/>
            <p:cNvSpPr>
              <a:spLocks noChangeShapeType="1"/>
            </p:cNvSpPr>
            <p:nvPr/>
          </p:nvSpPr>
          <p:spPr bwMode="auto">
            <a:xfrm>
              <a:off x="2115" y="756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8" name="Rectangle 16"/>
            <p:cNvSpPr>
              <a:spLocks noChangeArrowheads="1"/>
            </p:cNvSpPr>
            <p:nvPr/>
          </p:nvSpPr>
          <p:spPr bwMode="auto">
            <a:xfrm>
              <a:off x="2138" y="756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19" name="Line 17"/>
            <p:cNvSpPr>
              <a:spLocks noChangeShapeType="1"/>
            </p:cNvSpPr>
            <p:nvPr/>
          </p:nvSpPr>
          <p:spPr bwMode="auto">
            <a:xfrm>
              <a:off x="2138" y="756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" name="Rectangle 18"/>
            <p:cNvSpPr>
              <a:spLocks noChangeArrowheads="1"/>
            </p:cNvSpPr>
            <p:nvPr/>
          </p:nvSpPr>
          <p:spPr bwMode="auto">
            <a:xfrm>
              <a:off x="1311" y="779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21" name="Line 19"/>
            <p:cNvSpPr>
              <a:spLocks noChangeShapeType="1"/>
            </p:cNvSpPr>
            <p:nvPr/>
          </p:nvSpPr>
          <p:spPr bwMode="auto">
            <a:xfrm>
              <a:off x="1311" y="779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" name="Rectangle 20"/>
            <p:cNvSpPr>
              <a:spLocks noChangeArrowheads="1"/>
            </p:cNvSpPr>
            <p:nvPr/>
          </p:nvSpPr>
          <p:spPr bwMode="auto">
            <a:xfrm>
              <a:off x="2115" y="779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23" name="Line 21"/>
            <p:cNvSpPr>
              <a:spLocks noChangeShapeType="1"/>
            </p:cNvSpPr>
            <p:nvPr/>
          </p:nvSpPr>
          <p:spPr bwMode="auto">
            <a:xfrm>
              <a:off x="2115" y="779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4" name="Rectangle 22"/>
            <p:cNvSpPr>
              <a:spLocks noChangeArrowheads="1"/>
            </p:cNvSpPr>
            <p:nvPr/>
          </p:nvSpPr>
          <p:spPr bwMode="auto">
            <a:xfrm>
              <a:off x="761" y="132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25" name="Rectangle 23"/>
            <p:cNvSpPr>
              <a:spLocks noChangeArrowheads="1"/>
            </p:cNvSpPr>
            <p:nvPr/>
          </p:nvSpPr>
          <p:spPr bwMode="auto">
            <a:xfrm>
              <a:off x="1637" y="131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26" name="Rectangle 24"/>
            <p:cNvSpPr>
              <a:spLocks noChangeArrowheads="1"/>
            </p:cNvSpPr>
            <p:nvPr/>
          </p:nvSpPr>
          <p:spPr bwMode="auto">
            <a:xfrm>
              <a:off x="2366" y="132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27" name="Rectangle 25"/>
            <p:cNvSpPr>
              <a:spLocks noChangeArrowheads="1"/>
            </p:cNvSpPr>
            <p:nvPr/>
          </p:nvSpPr>
          <p:spPr bwMode="auto">
            <a:xfrm>
              <a:off x="514" y="1228"/>
              <a:ext cx="79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28" name="Line 26"/>
            <p:cNvSpPr>
              <a:spLocks noChangeShapeType="1"/>
            </p:cNvSpPr>
            <p:nvPr/>
          </p:nvSpPr>
          <p:spPr bwMode="auto">
            <a:xfrm>
              <a:off x="514" y="1228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" name="Rectangle 27"/>
            <p:cNvSpPr>
              <a:spLocks noChangeArrowheads="1"/>
            </p:cNvSpPr>
            <p:nvPr/>
          </p:nvSpPr>
          <p:spPr bwMode="auto">
            <a:xfrm>
              <a:off x="1311" y="1228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30" name="Line 28"/>
            <p:cNvSpPr>
              <a:spLocks noChangeShapeType="1"/>
            </p:cNvSpPr>
            <p:nvPr/>
          </p:nvSpPr>
          <p:spPr bwMode="auto">
            <a:xfrm>
              <a:off x="1311" y="1228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1" name="Line 29"/>
            <p:cNvSpPr>
              <a:spLocks noChangeShapeType="1"/>
            </p:cNvSpPr>
            <p:nvPr/>
          </p:nvSpPr>
          <p:spPr bwMode="auto">
            <a:xfrm>
              <a:off x="1311" y="1228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2" name="Rectangle 30"/>
            <p:cNvSpPr>
              <a:spLocks noChangeArrowheads="1"/>
            </p:cNvSpPr>
            <p:nvPr/>
          </p:nvSpPr>
          <p:spPr bwMode="auto">
            <a:xfrm>
              <a:off x="1328" y="1228"/>
              <a:ext cx="78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33" name="Line 31"/>
            <p:cNvSpPr>
              <a:spLocks noChangeShapeType="1"/>
            </p:cNvSpPr>
            <p:nvPr/>
          </p:nvSpPr>
          <p:spPr bwMode="auto">
            <a:xfrm>
              <a:off x="1328" y="1228"/>
              <a:ext cx="7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4" name="Rectangle 32"/>
            <p:cNvSpPr>
              <a:spLocks noChangeArrowheads="1"/>
            </p:cNvSpPr>
            <p:nvPr/>
          </p:nvSpPr>
          <p:spPr bwMode="auto">
            <a:xfrm>
              <a:off x="2115" y="1228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35" name="Line 33"/>
            <p:cNvSpPr>
              <a:spLocks noChangeShapeType="1"/>
            </p:cNvSpPr>
            <p:nvPr/>
          </p:nvSpPr>
          <p:spPr bwMode="auto">
            <a:xfrm>
              <a:off x="2115" y="1228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6" name="Line 34"/>
            <p:cNvSpPr>
              <a:spLocks noChangeShapeType="1"/>
            </p:cNvSpPr>
            <p:nvPr/>
          </p:nvSpPr>
          <p:spPr bwMode="auto">
            <a:xfrm>
              <a:off x="2115" y="1228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7" name="Rectangle 35"/>
            <p:cNvSpPr>
              <a:spLocks noChangeArrowheads="1"/>
            </p:cNvSpPr>
            <p:nvPr/>
          </p:nvSpPr>
          <p:spPr bwMode="auto">
            <a:xfrm>
              <a:off x="2132" y="1228"/>
              <a:ext cx="792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38" name="Line 36"/>
            <p:cNvSpPr>
              <a:spLocks noChangeShapeType="1"/>
            </p:cNvSpPr>
            <p:nvPr/>
          </p:nvSpPr>
          <p:spPr bwMode="auto">
            <a:xfrm>
              <a:off x="2132" y="1228"/>
              <a:ext cx="7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9" name="Rectangle 37"/>
            <p:cNvSpPr>
              <a:spLocks noChangeArrowheads="1"/>
            </p:cNvSpPr>
            <p:nvPr/>
          </p:nvSpPr>
          <p:spPr bwMode="auto">
            <a:xfrm>
              <a:off x="1311" y="1245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40" name="Line 38"/>
            <p:cNvSpPr>
              <a:spLocks noChangeShapeType="1"/>
            </p:cNvSpPr>
            <p:nvPr/>
          </p:nvSpPr>
          <p:spPr bwMode="auto">
            <a:xfrm>
              <a:off x="1311" y="1245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1" name="Rectangle 39"/>
            <p:cNvSpPr>
              <a:spLocks noChangeArrowheads="1"/>
            </p:cNvSpPr>
            <p:nvPr/>
          </p:nvSpPr>
          <p:spPr bwMode="auto">
            <a:xfrm>
              <a:off x="2115" y="1245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42" name="Line 40"/>
            <p:cNvSpPr>
              <a:spLocks noChangeShapeType="1"/>
            </p:cNvSpPr>
            <p:nvPr/>
          </p:nvSpPr>
          <p:spPr bwMode="auto">
            <a:xfrm>
              <a:off x="2115" y="1245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3" name="Rectangle 41"/>
            <p:cNvSpPr>
              <a:spLocks noChangeArrowheads="1"/>
            </p:cNvSpPr>
            <p:nvPr/>
          </p:nvSpPr>
          <p:spPr bwMode="auto">
            <a:xfrm>
              <a:off x="761" y="177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44" name="Rectangle 42"/>
            <p:cNvSpPr>
              <a:spLocks noChangeArrowheads="1"/>
            </p:cNvSpPr>
            <p:nvPr/>
          </p:nvSpPr>
          <p:spPr bwMode="auto">
            <a:xfrm>
              <a:off x="1565" y="1775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9345" name="Rectangle 43"/>
            <p:cNvSpPr>
              <a:spLocks noChangeArrowheads="1"/>
            </p:cNvSpPr>
            <p:nvPr/>
          </p:nvSpPr>
          <p:spPr bwMode="auto">
            <a:xfrm>
              <a:off x="2366" y="177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46" name="Rectangle 44"/>
            <p:cNvSpPr>
              <a:spLocks noChangeArrowheads="1"/>
            </p:cNvSpPr>
            <p:nvPr/>
          </p:nvSpPr>
          <p:spPr bwMode="auto">
            <a:xfrm>
              <a:off x="1311" y="1694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47" name="Line 45"/>
            <p:cNvSpPr>
              <a:spLocks noChangeShapeType="1"/>
            </p:cNvSpPr>
            <p:nvPr/>
          </p:nvSpPr>
          <p:spPr bwMode="auto">
            <a:xfrm>
              <a:off x="1311" y="1694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8" name="Rectangle 46"/>
            <p:cNvSpPr>
              <a:spLocks noChangeArrowheads="1"/>
            </p:cNvSpPr>
            <p:nvPr/>
          </p:nvSpPr>
          <p:spPr bwMode="auto">
            <a:xfrm>
              <a:off x="2115" y="1694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49" name="Line 47"/>
            <p:cNvSpPr>
              <a:spLocks noChangeShapeType="1"/>
            </p:cNvSpPr>
            <p:nvPr/>
          </p:nvSpPr>
          <p:spPr bwMode="auto">
            <a:xfrm>
              <a:off x="2115" y="1694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0" name="Rectangle 48"/>
            <p:cNvSpPr>
              <a:spLocks noChangeArrowheads="1"/>
            </p:cNvSpPr>
            <p:nvPr/>
          </p:nvSpPr>
          <p:spPr bwMode="auto">
            <a:xfrm>
              <a:off x="701" y="2224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9351" name="Rectangle 49"/>
            <p:cNvSpPr>
              <a:spLocks noChangeArrowheads="1"/>
            </p:cNvSpPr>
            <p:nvPr/>
          </p:nvSpPr>
          <p:spPr bwMode="auto">
            <a:xfrm>
              <a:off x="1625" y="223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52" name="Rectangle 50"/>
            <p:cNvSpPr>
              <a:spLocks noChangeArrowheads="1"/>
            </p:cNvSpPr>
            <p:nvPr/>
          </p:nvSpPr>
          <p:spPr bwMode="auto">
            <a:xfrm>
              <a:off x="2354" y="222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9353" name="Rectangle 51"/>
            <p:cNvSpPr>
              <a:spLocks noChangeArrowheads="1"/>
            </p:cNvSpPr>
            <p:nvPr/>
          </p:nvSpPr>
          <p:spPr bwMode="auto">
            <a:xfrm>
              <a:off x="1311" y="214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54" name="Line 52"/>
            <p:cNvSpPr>
              <a:spLocks noChangeShapeType="1"/>
            </p:cNvSpPr>
            <p:nvPr/>
          </p:nvSpPr>
          <p:spPr bwMode="auto">
            <a:xfrm>
              <a:off x="1311" y="214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5" name="Rectangle 53"/>
            <p:cNvSpPr>
              <a:spLocks noChangeArrowheads="1"/>
            </p:cNvSpPr>
            <p:nvPr/>
          </p:nvSpPr>
          <p:spPr bwMode="auto">
            <a:xfrm>
              <a:off x="2115" y="214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56" name="Line 54"/>
            <p:cNvSpPr>
              <a:spLocks noChangeShapeType="1"/>
            </p:cNvSpPr>
            <p:nvPr/>
          </p:nvSpPr>
          <p:spPr bwMode="auto">
            <a:xfrm>
              <a:off x="2115" y="214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7" name="Rectangle 55"/>
            <p:cNvSpPr>
              <a:spLocks noChangeArrowheads="1"/>
            </p:cNvSpPr>
            <p:nvPr/>
          </p:nvSpPr>
          <p:spPr bwMode="auto">
            <a:xfrm>
              <a:off x="689" y="2670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9358" name="Rectangle 56"/>
            <p:cNvSpPr>
              <a:spLocks noChangeArrowheads="1"/>
            </p:cNvSpPr>
            <p:nvPr/>
          </p:nvSpPr>
          <p:spPr bwMode="auto">
            <a:xfrm>
              <a:off x="1565" y="2670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9359" name="Rectangle 57"/>
            <p:cNvSpPr>
              <a:spLocks noChangeArrowheads="1"/>
            </p:cNvSpPr>
            <p:nvPr/>
          </p:nvSpPr>
          <p:spPr bwMode="auto">
            <a:xfrm>
              <a:off x="2270" y="2670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9360" name="Rectangle 58"/>
            <p:cNvSpPr>
              <a:spLocks noChangeArrowheads="1"/>
            </p:cNvSpPr>
            <p:nvPr/>
          </p:nvSpPr>
          <p:spPr bwMode="auto">
            <a:xfrm>
              <a:off x="514" y="3039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61" name="Line 59"/>
            <p:cNvSpPr>
              <a:spLocks noChangeShapeType="1"/>
            </p:cNvSpPr>
            <p:nvPr/>
          </p:nvSpPr>
          <p:spPr bwMode="auto">
            <a:xfrm>
              <a:off x="514" y="3039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2" name="Rectangle 60"/>
            <p:cNvSpPr>
              <a:spLocks noChangeArrowheads="1"/>
            </p:cNvSpPr>
            <p:nvPr/>
          </p:nvSpPr>
          <p:spPr bwMode="auto">
            <a:xfrm>
              <a:off x="1311" y="2590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63" name="Line 61"/>
            <p:cNvSpPr>
              <a:spLocks noChangeShapeType="1"/>
            </p:cNvSpPr>
            <p:nvPr/>
          </p:nvSpPr>
          <p:spPr bwMode="auto">
            <a:xfrm>
              <a:off x="1311" y="2590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4" name="Rectangle 62"/>
            <p:cNvSpPr>
              <a:spLocks noChangeArrowheads="1"/>
            </p:cNvSpPr>
            <p:nvPr/>
          </p:nvSpPr>
          <p:spPr bwMode="auto">
            <a:xfrm>
              <a:off x="1311" y="3039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65" name="Line 63"/>
            <p:cNvSpPr>
              <a:spLocks noChangeShapeType="1"/>
            </p:cNvSpPr>
            <p:nvPr/>
          </p:nvSpPr>
          <p:spPr bwMode="auto">
            <a:xfrm>
              <a:off x="1311" y="3039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6" name="Line 64"/>
            <p:cNvSpPr>
              <a:spLocks noChangeShapeType="1"/>
            </p:cNvSpPr>
            <p:nvPr/>
          </p:nvSpPr>
          <p:spPr bwMode="auto">
            <a:xfrm>
              <a:off x="1311" y="30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7" name="Rectangle 65"/>
            <p:cNvSpPr>
              <a:spLocks noChangeArrowheads="1"/>
            </p:cNvSpPr>
            <p:nvPr/>
          </p:nvSpPr>
          <p:spPr bwMode="auto">
            <a:xfrm>
              <a:off x="1334" y="3039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68" name="Line 66"/>
            <p:cNvSpPr>
              <a:spLocks noChangeShapeType="1"/>
            </p:cNvSpPr>
            <p:nvPr/>
          </p:nvSpPr>
          <p:spPr bwMode="auto">
            <a:xfrm>
              <a:off x="1334" y="3039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9" name="Rectangle 67"/>
            <p:cNvSpPr>
              <a:spLocks noChangeArrowheads="1"/>
            </p:cNvSpPr>
            <p:nvPr/>
          </p:nvSpPr>
          <p:spPr bwMode="auto">
            <a:xfrm>
              <a:off x="2115" y="2590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70" name="Line 68"/>
            <p:cNvSpPr>
              <a:spLocks noChangeShapeType="1"/>
            </p:cNvSpPr>
            <p:nvPr/>
          </p:nvSpPr>
          <p:spPr bwMode="auto">
            <a:xfrm>
              <a:off x="2115" y="2590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1" name="Rectangle 69"/>
            <p:cNvSpPr>
              <a:spLocks noChangeArrowheads="1"/>
            </p:cNvSpPr>
            <p:nvPr/>
          </p:nvSpPr>
          <p:spPr bwMode="auto">
            <a:xfrm>
              <a:off x="2115" y="3039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72" name="Line 70"/>
            <p:cNvSpPr>
              <a:spLocks noChangeShapeType="1"/>
            </p:cNvSpPr>
            <p:nvPr/>
          </p:nvSpPr>
          <p:spPr bwMode="auto">
            <a:xfrm>
              <a:off x="2115" y="3039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3" name="Line 71"/>
            <p:cNvSpPr>
              <a:spLocks noChangeShapeType="1"/>
            </p:cNvSpPr>
            <p:nvPr/>
          </p:nvSpPr>
          <p:spPr bwMode="auto">
            <a:xfrm>
              <a:off x="2115" y="30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4" name="Rectangle 72"/>
            <p:cNvSpPr>
              <a:spLocks noChangeArrowheads="1"/>
            </p:cNvSpPr>
            <p:nvPr/>
          </p:nvSpPr>
          <p:spPr bwMode="auto">
            <a:xfrm>
              <a:off x="2138" y="3039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375" name="Line 73"/>
            <p:cNvSpPr>
              <a:spLocks noChangeShapeType="1"/>
            </p:cNvSpPr>
            <p:nvPr/>
          </p:nvSpPr>
          <p:spPr bwMode="auto">
            <a:xfrm>
              <a:off x="2138" y="3039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4810" name="Text Box 74"/>
          <p:cNvSpPr txBox="1">
            <a:spLocks noChangeArrowheads="1"/>
          </p:cNvSpPr>
          <p:nvPr/>
        </p:nvSpPr>
        <p:spPr bwMode="auto">
          <a:xfrm>
            <a:off x="1547813" y="333375"/>
            <a:ext cx="1733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真值表</a:t>
            </a:r>
            <a:endParaRPr lang="zh-CN" altLang="en-US" sz="2800" b="1"/>
          </a:p>
        </p:txBody>
      </p:sp>
      <p:sp>
        <p:nvSpPr>
          <p:cNvPr id="244811" name="Text Box 75"/>
          <p:cNvSpPr txBox="1">
            <a:spLocks noChangeArrowheads="1"/>
          </p:cNvSpPr>
          <p:nvPr/>
        </p:nvSpPr>
        <p:spPr bwMode="auto">
          <a:xfrm>
            <a:off x="763730" y="4790205"/>
            <a:ext cx="314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 </a:t>
            </a:r>
            <a:r>
              <a:rPr lang="zh-CN" altLang="en-US" b="1"/>
              <a:t>优点：简单</a:t>
            </a:r>
            <a:endParaRPr lang="zh-CN" altLang="en-US" b="1"/>
          </a:p>
        </p:txBody>
      </p:sp>
      <p:sp>
        <p:nvSpPr>
          <p:cNvPr id="244812" name="Text Box 76"/>
          <p:cNvSpPr txBox="1">
            <a:spLocks noChangeArrowheads="1"/>
          </p:cNvSpPr>
          <p:nvPr/>
        </p:nvSpPr>
        <p:spPr bwMode="auto">
          <a:xfrm>
            <a:off x="838199" y="5136565"/>
            <a:ext cx="816725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缺点：（１）输出电平的偏移</a:t>
            </a:r>
            <a:endParaRPr lang="zh-CN" altLang="en-US" b="1" dirty="0"/>
          </a:p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　　　（２）当输出端对地接上负载电阻时，负载电阻的改变有时会影响输出的高电平。因此这种二极管与门电路仅用作集成电路内部的逻辑单元，而不用它直接去驱动负载电路。　　　　</a:t>
            </a:r>
            <a:endParaRPr lang="zh-CN" altLang="en-US" b="1" dirty="0"/>
          </a:p>
        </p:txBody>
      </p:sp>
      <p:grpSp>
        <p:nvGrpSpPr>
          <p:cNvPr id="244895" name="Group 159"/>
          <p:cNvGrpSpPr/>
          <p:nvPr/>
        </p:nvGrpSpPr>
        <p:grpSpPr bwMode="auto">
          <a:xfrm>
            <a:off x="5600700" y="4591050"/>
            <a:ext cx="2743200" cy="990600"/>
            <a:chOff x="3528" y="2892"/>
            <a:chExt cx="1728" cy="624"/>
          </a:xfrm>
        </p:grpSpPr>
        <p:sp>
          <p:nvSpPr>
            <p:cNvPr id="9296" name="Text Box 77"/>
            <p:cNvSpPr txBox="1">
              <a:spLocks noChangeArrowheads="1"/>
            </p:cNvSpPr>
            <p:nvPr/>
          </p:nvSpPr>
          <p:spPr bwMode="auto">
            <a:xfrm>
              <a:off x="3528" y="2892"/>
              <a:ext cx="2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A</a:t>
              </a:r>
              <a:endParaRPr lang="en-US" altLang="zh-CN" sz="2800" b="1"/>
            </a:p>
          </p:txBody>
        </p:sp>
        <p:sp>
          <p:nvSpPr>
            <p:cNvPr id="9297" name="Text Box 78"/>
            <p:cNvSpPr txBox="1">
              <a:spLocks noChangeArrowheads="1"/>
            </p:cNvSpPr>
            <p:nvPr/>
          </p:nvSpPr>
          <p:spPr bwMode="auto">
            <a:xfrm>
              <a:off x="3528" y="3189"/>
              <a:ext cx="2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B</a:t>
              </a:r>
              <a:endParaRPr lang="en-US" altLang="zh-CN" sz="2800" b="1"/>
            </a:p>
          </p:txBody>
        </p:sp>
        <p:grpSp>
          <p:nvGrpSpPr>
            <p:cNvPr id="9298" name="Group 79"/>
            <p:cNvGrpSpPr/>
            <p:nvPr/>
          </p:nvGrpSpPr>
          <p:grpSpPr bwMode="auto">
            <a:xfrm>
              <a:off x="3816" y="2923"/>
              <a:ext cx="1440" cy="564"/>
              <a:chOff x="3816" y="2923"/>
              <a:chExt cx="1440" cy="564"/>
            </a:xfrm>
          </p:grpSpPr>
          <p:sp>
            <p:nvSpPr>
              <p:cNvPr id="9299" name="Rectangle 80"/>
              <p:cNvSpPr>
                <a:spLocks noChangeArrowheads="1"/>
              </p:cNvSpPr>
              <p:nvPr/>
            </p:nvSpPr>
            <p:spPr bwMode="auto">
              <a:xfrm>
                <a:off x="4162" y="3005"/>
                <a:ext cx="601" cy="482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9300" name="Text Box 81"/>
              <p:cNvSpPr txBox="1">
                <a:spLocks noChangeArrowheads="1"/>
              </p:cNvSpPr>
              <p:nvPr/>
            </p:nvSpPr>
            <p:spPr bwMode="auto">
              <a:xfrm>
                <a:off x="4296" y="2992"/>
                <a:ext cx="36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&amp;</a:t>
                </a:r>
                <a:endParaRPr lang="en-US" altLang="zh-CN" sz="2800" b="1"/>
              </a:p>
            </p:txBody>
          </p:sp>
          <p:sp>
            <p:nvSpPr>
              <p:cNvPr id="9301" name="Line 82"/>
              <p:cNvSpPr>
                <a:spLocks noChangeShapeType="1"/>
              </p:cNvSpPr>
              <p:nvPr/>
            </p:nvSpPr>
            <p:spPr bwMode="auto">
              <a:xfrm>
                <a:off x="3816" y="3075"/>
                <a:ext cx="36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2" name="Line 83"/>
              <p:cNvSpPr>
                <a:spLocks noChangeShapeType="1"/>
              </p:cNvSpPr>
              <p:nvPr/>
            </p:nvSpPr>
            <p:spPr bwMode="auto">
              <a:xfrm>
                <a:off x="3816" y="3371"/>
                <a:ext cx="36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3" name="Line 84"/>
              <p:cNvSpPr>
                <a:spLocks noChangeShapeType="1"/>
              </p:cNvSpPr>
              <p:nvPr/>
            </p:nvSpPr>
            <p:spPr bwMode="auto">
              <a:xfrm>
                <a:off x="4776" y="3242"/>
                <a:ext cx="36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4" name="Text Box 85"/>
              <p:cNvSpPr txBox="1">
                <a:spLocks noChangeArrowheads="1"/>
              </p:cNvSpPr>
              <p:nvPr/>
            </p:nvSpPr>
            <p:spPr bwMode="auto">
              <a:xfrm>
                <a:off x="4956" y="2923"/>
                <a:ext cx="30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Y</a:t>
                </a:r>
                <a:endParaRPr lang="en-US" altLang="zh-CN" sz="2800" b="1"/>
              </a:p>
            </p:txBody>
          </p:sp>
        </p:grpSp>
      </p:grpSp>
      <p:grpSp>
        <p:nvGrpSpPr>
          <p:cNvPr id="9223" name="Group 86"/>
          <p:cNvGrpSpPr/>
          <p:nvPr/>
        </p:nvGrpSpPr>
        <p:grpSpPr bwMode="auto">
          <a:xfrm>
            <a:off x="4911725" y="800100"/>
            <a:ext cx="3825875" cy="3660775"/>
            <a:chOff x="2962" y="1464"/>
            <a:chExt cx="2410" cy="2306"/>
          </a:xfrm>
        </p:grpSpPr>
        <p:sp>
          <p:nvSpPr>
            <p:cNvPr id="9225" name="Rectangle 87"/>
            <p:cNvSpPr>
              <a:spLocks noChangeArrowheads="1"/>
            </p:cNvSpPr>
            <p:nvPr/>
          </p:nvSpPr>
          <p:spPr bwMode="auto">
            <a:xfrm>
              <a:off x="3247" y="1568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A</a:t>
              </a:r>
              <a:endParaRPr lang="en-US" altLang="zh-CN" sz="2800" b="1"/>
            </a:p>
          </p:txBody>
        </p:sp>
        <p:sp>
          <p:nvSpPr>
            <p:cNvPr id="9226" name="Rectangle 88"/>
            <p:cNvSpPr>
              <a:spLocks noChangeArrowheads="1"/>
            </p:cNvSpPr>
            <p:nvPr/>
          </p:nvSpPr>
          <p:spPr bwMode="auto">
            <a:xfrm>
              <a:off x="4053" y="1568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B</a:t>
              </a:r>
              <a:endParaRPr lang="en-US" altLang="zh-CN" sz="2800" b="1"/>
            </a:p>
          </p:txBody>
        </p:sp>
        <p:sp>
          <p:nvSpPr>
            <p:cNvPr id="9227" name="Rectangle 89"/>
            <p:cNvSpPr>
              <a:spLocks noChangeArrowheads="1"/>
            </p:cNvSpPr>
            <p:nvPr/>
          </p:nvSpPr>
          <p:spPr bwMode="auto">
            <a:xfrm>
              <a:off x="4865" y="1568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Y</a:t>
              </a:r>
              <a:endParaRPr lang="en-US" altLang="zh-CN" sz="2800" b="1"/>
            </a:p>
          </p:txBody>
        </p:sp>
        <p:sp>
          <p:nvSpPr>
            <p:cNvPr id="9228" name="Rectangle 90"/>
            <p:cNvSpPr>
              <a:spLocks noChangeArrowheads="1"/>
            </p:cNvSpPr>
            <p:nvPr/>
          </p:nvSpPr>
          <p:spPr bwMode="auto">
            <a:xfrm>
              <a:off x="2962" y="1464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29" name="Line 91"/>
            <p:cNvSpPr>
              <a:spLocks noChangeShapeType="1"/>
            </p:cNvSpPr>
            <p:nvPr/>
          </p:nvSpPr>
          <p:spPr bwMode="auto">
            <a:xfrm>
              <a:off x="2962" y="1464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0" name="Rectangle 92"/>
            <p:cNvSpPr>
              <a:spLocks noChangeArrowheads="1"/>
            </p:cNvSpPr>
            <p:nvPr/>
          </p:nvSpPr>
          <p:spPr bwMode="auto">
            <a:xfrm>
              <a:off x="3759" y="146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31" name="Line 93"/>
            <p:cNvSpPr>
              <a:spLocks noChangeShapeType="1"/>
            </p:cNvSpPr>
            <p:nvPr/>
          </p:nvSpPr>
          <p:spPr bwMode="auto">
            <a:xfrm>
              <a:off x="3759" y="146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Line 94"/>
            <p:cNvSpPr>
              <a:spLocks noChangeShapeType="1"/>
            </p:cNvSpPr>
            <p:nvPr/>
          </p:nvSpPr>
          <p:spPr bwMode="auto">
            <a:xfrm>
              <a:off x="3759" y="146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" name="Rectangle 95"/>
            <p:cNvSpPr>
              <a:spLocks noChangeArrowheads="1"/>
            </p:cNvSpPr>
            <p:nvPr/>
          </p:nvSpPr>
          <p:spPr bwMode="auto">
            <a:xfrm>
              <a:off x="3782" y="1464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34" name="Line 96"/>
            <p:cNvSpPr>
              <a:spLocks noChangeShapeType="1"/>
            </p:cNvSpPr>
            <p:nvPr/>
          </p:nvSpPr>
          <p:spPr bwMode="auto">
            <a:xfrm>
              <a:off x="3782" y="1464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" name="Rectangle 97"/>
            <p:cNvSpPr>
              <a:spLocks noChangeArrowheads="1"/>
            </p:cNvSpPr>
            <p:nvPr/>
          </p:nvSpPr>
          <p:spPr bwMode="auto">
            <a:xfrm>
              <a:off x="4563" y="146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36" name="Line 98"/>
            <p:cNvSpPr>
              <a:spLocks noChangeShapeType="1"/>
            </p:cNvSpPr>
            <p:nvPr/>
          </p:nvSpPr>
          <p:spPr bwMode="auto">
            <a:xfrm>
              <a:off x="4563" y="146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99"/>
            <p:cNvSpPr>
              <a:spLocks noChangeShapeType="1"/>
            </p:cNvSpPr>
            <p:nvPr/>
          </p:nvSpPr>
          <p:spPr bwMode="auto">
            <a:xfrm>
              <a:off x="4563" y="146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Rectangle 100"/>
            <p:cNvSpPr>
              <a:spLocks noChangeArrowheads="1"/>
            </p:cNvSpPr>
            <p:nvPr/>
          </p:nvSpPr>
          <p:spPr bwMode="auto">
            <a:xfrm>
              <a:off x="4586" y="1464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39" name="Line 101"/>
            <p:cNvSpPr>
              <a:spLocks noChangeShapeType="1"/>
            </p:cNvSpPr>
            <p:nvPr/>
          </p:nvSpPr>
          <p:spPr bwMode="auto">
            <a:xfrm>
              <a:off x="4586" y="1464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0" name="Rectangle 102"/>
            <p:cNvSpPr>
              <a:spLocks noChangeArrowheads="1"/>
            </p:cNvSpPr>
            <p:nvPr/>
          </p:nvSpPr>
          <p:spPr bwMode="auto">
            <a:xfrm>
              <a:off x="3759" y="148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41" name="Line 103"/>
            <p:cNvSpPr>
              <a:spLocks noChangeShapeType="1"/>
            </p:cNvSpPr>
            <p:nvPr/>
          </p:nvSpPr>
          <p:spPr bwMode="auto">
            <a:xfrm>
              <a:off x="3759" y="148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Rectangle 104"/>
            <p:cNvSpPr>
              <a:spLocks noChangeArrowheads="1"/>
            </p:cNvSpPr>
            <p:nvPr/>
          </p:nvSpPr>
          <p:spPr bwMode="auto">
            <a:xfrm>
              <a:off x="4563" y="148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43" name="Line 105"/>
            <p:cNvSpPr>
              <a:spLocks noChangeShapeType="1"/>
            </p:cNvSpPr>
            <p:nvPr/>
          </p:nvSpPr>
          <p:spPr bwMode="auto">
            <a:xfrm>
              <a:off x="4563" y="148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Rectangle 106"/>
            <p:cNvSpPr>
              <a:spLocks noChangeArrowheads="1"/>
            </p:cNvSpPr>
            <p:nvPr/>
          </p:nvSpPr>
          <p:spPr bwMode="auto">
            <a:xfrm>
              <a:off x="3209" y="2037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0V</a:t>
              </a:r>
              <a:endParaRPr lang="en-US" altLang="zh-CN" sz="2800" b="1"/>
            </a:p>
          </p:txBody>
        </p:sp>
        <p:sp>
          <p:nvSpPr>
            <p:cNvPr id="9245" name="Rectangle 107"/>
            <p:cNvSpPr>
              <a:spLocks noChangeArrowheads="1"/>
            </p:cNvSpPr>
            <p:nvPr/>
          </p:nvSpPr>
          <p:spPr bwMode="auto">
            <a:xfrm>
              <a:off x="4013" y="2037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0V</a:t>
              </a:r>
              <a:endParaRPr lang="en-US" altLang="zh-CN" sz="2800" b="1"/>
            </a:p>
          </p:txBody>
        </p:sp>
        <p:sp>
          <p:nvSpPr>
            <p:cNvPr id="9246" name="Rectangle 108"/>
            <p:cNvSpPr>
              <a:spLocks noChangeArrowheads="1"/>
            </p:cNvSpPr>
            <p:nvPr/>
          </p:nvSpPr>
          <p:spPr bwMode="auto">
            <a:xfrm>
              <a:off x="4718" y="2037"/>
              <a:ext cx="4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0.7V</a:t>
              </a:r>
              <a:endParaRPr lang="en-US" altLang="zh-CN" sz="2800" b="1"/>
            </a:p>
          </p:txBody>
        </p:sp>
        <p:sp>
          <p:nvSpPr>
            <p:cNvPr id="9247" name="Rectangle 109"/>
            <p:cNvSpPr>
              <a:spLocks noChangeArrowheads="1"/>
            </p:cNvSpPr>
            <p:nvPr/>
          </p:nvSpPr>
          <p:spPr bwMode="auto">
            <a:xfrm>
              <a:off x="2962" y="1936"/>
              <a:ext cx="79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48" name="Line 110"/>
            <p:cNvSpPr>
              <a:spLocks noChangeShapeType="1"/>
            </p:cNvSpPr>
            <p:nvPr/>
          </p:nvSpPr>
          <p:spPr bwMode="auto">
            <a:xfrm>
              <a:off x="2962" y="1936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Rectangle 111"/>
            <p:cNvSpPr>
              <a:spLocks noChangeArrowheads="1"/>
            </p:cNvSpPr>
            <p:nvPr/>
          </p:nvSpPr>
          <p:spPr bwMode="auto">
            <a:xfrm>
              <a:off x="3759" y="193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50" name="Line 112"/>
            <p:cNvSpPr>
              <a:spLocks noChangeShapeType="1"/>
            </p:cNvSpPr>
            <p:nvPr/>
          </p:nvSpPr>
          <p:spPr bwMode="auto">
            <a:xfrm>
              <a:off x="3759" y="193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113"/>
            <p:cNvSpPr>
              <a:spLocks noChangeShapeType="1"/>
            </p:cNvSpPr>
            <p:nvPr/>
          </p:nvSpPr>
          <p:spPr bwMode="auto">
            <a:xfrm>
              <a:off x="3759" y="193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Rectangle 114"/>
            <p:cNvSpPr>
              <a:spLocks noChangeArrowheads="1"/>
            </p:cNvSpPr>
            <p:nvPr/>
          </p:nvSpPr>
          <p:spPr bwMode="auto">
            <a:xfrm>
              <a:off x="3776" y="1936"/>
              <a:ext cx="78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53" name="Line 115"/>
            <p:cNvSpPr>
              <a:spLocks noChangeShapeType="1"/>
            </p:cNvSpPr>
            <p:nvPr/>
          </p:nvSpPr>
          <p:spPr bwMode="auto">
            <a:xfrm>
              <a:off x="3776" y="1936"/>
              <a:ext cx="7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Rectangle 116"/>
            <p:cNvSpPr>
              <a:spLocks noChangeArrowheads="1"/>
            </p:cNvSpPr>
            <p:nvPr/>
          </p:nvSpPr>
          <p:spPr bwMode="auto">
            <a:xfrm>
              <a:off x="4563" y="193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55" name="Line 117"/>
            <p:cNvSpPr>
              <a:spLocks noChangeShapeType="1"/>
            </p:cNvSpPr>
            <p:nvPr/>
          </p:nvSpPr>
          <p:spPr bwMode="auto">
            <a:xfrm>
              <a:off x="4563" y="193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118"/>
            <p:cNvSpPr>
              <a:spLocks noChangeShapeType="1"/>
            </p:cNvSpPr>
            <p:nvPr/>
          </p:nvSpPr>
          <p:spPr bwMode="auto">
            <a:xfrm>
              <a:off x="4563" y="193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Rectangle 119"/>
            <p:cNvSpPr>
              <a:spLocks noChangeArrowheads="1"/>
            </p:cNvSpPr>
            <p:nvPr/>
          </p:nvSpPr>
          <p:spPr bwMode="auto">
            <a:xfrm>
              <a:off x="4580" y="1936"/>
              <a:ext cx="792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58" name="Line 120"/>
            <p:cNvSpPr>
              <a:spLocks noChangeShapeType="1"/>
            </p:cNvSpPr>
            <p:nvPr/>
          </p:nvSpPr>
          <p:spPr bwMode="auto">
            <a:xfrm>
              <a:off x="4580" y="1936"/>
              <a:ext cx="7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Rectangle 121"/>
            <p:cNvSpPr>
              <a:spLocks noChangeArrowheads="1"/>
            </p:cNvSpPr>
            <p:nvPr/>
          </p:nvSpPr>
          <p:spPr bwMode="auto">
            <a:xfrm>
              <a:off x="3759" y="195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60" name="Line 122"/>
            <p:cNvSpPr>
              <a:spLocks noChangeShapeType="1"/>
            </p:cNvSpPr>
            <p:nvPr/>
          </p:nvSpPr>
          <p:spPr bwMode="auto">
            <a:xfrm>
              <a:off x="3759" y="195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1" name="Rectangle 123"/>
            <p:cNvSpPr>
              <a:spLocks noChangeArrowheads="1"/>
            </p:cNvSpPr>
            <p:nvPr/>
          </p:nvSpPr>
          <p:spPr bwMode="auto">
            <a:xfrm>
              <a:off x="4563" y="195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62" name="Line 124"/>
            <p:cNvSpPr>
              <a:spLocks noChangeShapeType="1"/>
            </p:cNvSpPr>
            <p:nvPr/>
          </p:nvSpPr>
          <p:spPr bwMode="auto">
            <a:xfrm>
              <a:off x="4563" y="195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3" name="Rectangle 125"/>
            <p:cNvSpPr>
              <a:spLocks noChangeArrowheads="1"/>
            </p:cNvSpPr>
            <p:nvPr/>
          </p:nvSpPr>
          <p:spPr bwMode="auto">
            <a:xfrm>
              <a:off x="3209" y="2483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0V</a:t>
              </a:r>
              <a:endParaRPr lang="en-US" altLang="zh-CN" sz="2800" b="1"/>
            </a:p>
          </p:txBody>
        </p:sp>
        <p:sp>
          <p:nvSpPr>
            <p:cNvPr id="9264" name="Rectangle 126"/>
            <p:cNvSpPr>
              <a:spLocks noChangeArrowheads="1"/>
            </p:cNvSpPr>
            <p:nvPr/>
          </p:nvSpPr>
          <p:spPr bwMode="auto">
            <a:xfrm>
              <a:off x="4013" y="2483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3V</a:t>
              </a:r>
              <a:endParaRPr lang="en-US" altLang="zh-CN" sz="2800" b="1"/>
            </a:p>
          </p:txBody>
        </p:sp>
        <p:sp>
          <p:nvSpPr>
            <p:cNvPr id="9265" name="Rectangle 127"/>
            <p:cNvSpPr>
              <a:spLocks noChangeArrowheads="1"/>
            </p:cNvSpPr>
            <p:nvPr/>
          </p:nvSpPr>
          <p:spPr bwMode="auto">
            <a:xfrm>
              <a:off x="4718" y="2483"/>
              <a:ext cx="4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0.7V</a:t>
              </a:r>
              <a:endParaRPr lang="en-US" altLang="zh-CN" sz="2800" b="1"/>
            </a:p>
          </p:txBody>
        </p:sp>
        <p:sp>
          <p:nvSpPr>
            <p:cNvPr id="9266" name="Rectangle 128"/>
            <p:cNvSpPr>
              <a:spLocks noChangeArrowheads="1"/>
            </p:cNvSpPr>
            <p:nvPr/>
          </p:nvSpPr>
          <p:spPr bwMode="auto">
            <a:xfrm>
              <a:off x="3759" y="240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67" name="Line 129"/>
            <p:cNvSpPr>
              <a:spLocks noChangeShapeType="1"/>
            </p:cNvSpPr>
            <p:nvPr/>
          </p:nvSpPr>
          <p:spPr bwMode="auto">
            <a:xfrm>
              <a:off x="3759" y="240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8" name="Rectangle 130"/>
            <p:cNvSpPr>
              <a:spLocks noChangeArrowheads="1"/>
            </p:cNvSpPr>
            <p:nvPr/>
          </p:nvSpPr>
          <p:spPr bwMode="auto">
            <a:xfrm>
              <a:off x="4563" y="240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69" name="Line 131"/>
            <p:cNvSpPr>
              <a:spLocks noChangeShapeType="1"/>
            </p:cNvSpPr>
            <p:nvPr/>
          </p:nvSpPr>
          <p:spPr bwMode="auto">
            <a:xfrm>
              <a:off x="4563" y="240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Rectangle 132"/>
            <p:cNvSpPr>
              <a:spLocks noChangeArrowheads="1"/>
            </p:cNvSpPr>
            <p:nvPr/>
          </p:nvSpPr>
          <p:spPr bwMode="auto">
            <a:xfrm>
              <a:off x="3209" y="2932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3V</a:t>
              </a:r>
              <a:endParaRPr lang="en-US" altLang="zh-CN" sz="2800" b="1"/>
            </a:p>
          </p:txBody>
        </p:sp>
        <p:sp>
          <p:nvSpPr>
            <p:cNvPr id="9271" name="Rectangle 133"/>
            <p:cNvSpPr>
              <a:spLocks noChangeArrowheads="1"/>
            </p:cNvSpPr>
            <p:nvPr/>
          </p:nvSpPr>
          <p:spPr bwMode="auto">
            <a:xfrm>
              <a:off x="4013" y="2932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0V</a:t>
              </a:r>
              <a:endParaRPr lang="en-US" altLang="zh-CN" sz="2800" b="1"/>
            </a:p>
          </p:txBody>
        </p:sp>
        <p:sp>
          <p:nvSpPr>
            <p:cNvPr id="9272" name="Rectangle 134"/>
            <p:cNvSpPr>
              <a:spLocks noChangeArrowheads="1"/>
            </p:cNvSpPr>
            <p:nvPr/>
          </p:nvSpPr>
          <p:spPr bwMode="auto">
            <a:xfrm>
              <a:off x="4718" y="2932"/>
              <a:ext cx="4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0.7V</a:t>
              </a:r>
              <a:endParaRPr lang="en-US" altLang="zh-CN" sz="2800" b="1"/>
            </a:p>
          </p:txBody>
        </p:sp>
        <p:sp>
          <p:nvSpPr>
            <p:cNvPr id="9273" name="Rectangle 135"/>
            <p:cNvSpPr>
              <a:spLocks noChangeArrowheads="1"/>
            </p:cNvSpPr>
            <p:nvPr/>
          </p:nvSpPr>
          <p:spPr bwMode="auto">
            <a:xfrm>
              <a:off x="3759" y="285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74" name="Line 136"/>
            <p:cNvSpPr>
              <a:spLocks noChangeShapeType="1"/>
            </p:cNvSpPr>
            <p:nvPr/>
          </p:nvSpPr>
          <p:spPr bwMode="auto">
            <a:xfrm>
              <a:off x="3759" y="285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Rectangle 137"/>
            <p:cNvSpPr>
              <a:spLocks noChangeArrowheads="1"/>
            </p:cNvSpPr>
            <p:nvPr/>
          </p:nvSpPr>
          <p:spPr bwMode="auto">
            <a:xfrm>
              <a:off x="4563" y="285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76" name="Line 138"/>
            <p:cNvSpPr>
              <a:spLocks noChangeShapeType="1"/>
            </p:cNvSpPr>
            <p:nvPr/>
          </p:nvSpPr>
          <p:spPr bwMode="auto">
            <a:xfrm>
              <a:off x="4563" y="285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7" name="Rectangle 139"/>
            <p:cNvSpPr>
              <a:spLocks noChangeArrowheads="1"/>
            </p:cNvSpPr>
            <p:nvPr/>
          </p:nvSpPr>
          <p:spPr bwMode="auto">
            <a:xfrm>
              <a:off x="3209" y="3378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3V</a:t>
              </a:r>
              <a:endParaRPr lang="en-US" altLang="zh-CN" sz="2800" b="1"/>
            </a:p>
          </p:txBody>
        </p:sp>
        <p:sp>
          <p:nvSpPr>
            <p:cNvPr id="9278" name="Rectangle 140"/>
            <p:cNvSpPr>
              <a:spLocks noChangeArrowheads="1"/>
            </p:cNvSpPr>
            <p:nvPr/>
          </p:nvSpPr>
          <p:spPr bwMode="auto">
            <a:xfrm>
              <a:off x="4013" y="3378"/>
              <a:ext cx="27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3V</a:t>
              </a:r>
              <a:endParaRPr lang="en-US" altLang="zh-CN" sz="2800" b="1"/>
            </a:p>
          </p:txBody>
        </p:sp>
        <p:sp>
          <p:nvSpPr>
            <p:cNvPr id="9279" name="Rectangle 141"/>
            <p:cNvSpPr>
              <a:spLocks noChangeArrowheads="1"/>
            </p:cNvSpPr>
            <p:nvPr/>
          </p:nvSpPr>
          <p:spPr bwMode="auto">
            <a:xfrm>
              <a:off x="4718" y="3378"/>
              <a:ext cx="44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3.7V</a:t>
              </a:r>
              <a:endParaRPr lang="en-US" altLang="zh-CN" sz="2800" b="1"/>
            </a:p>
          </p:txBody>
        </p:sp>
        <p:sp>
          <p:nvSpPr>
            <p:cNvPr id="9280" name="Rectangle 142"/>
            <p:cNvSpPr>
              <a:spLocks noChangeArrowheads="1"/>
            </p:cNvSpPr>
            <p:nvPr/>
          </p:nvSpPr>
          <p:spPr bwMode="auto">
            <a:xfrm>
              <a:off x="2962" y="3747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81" name="Line 143"/>
            <p:cNvSpPr>
              <a:spLocks noChangeShapeType="1"/>
            </p:cNvSpPr>
            <p:nvPr/>
          </p:nvSpPr>
          <p:spPr bwMode="auto">
            <a:xfrm>
              <a:off x="2962" y="3747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2" name="Rectangle 144"/>
            <p:cNvSpPr>
              <a:spLocks noChangeArrowheads="1"/>
            </p:cNvSpPr>
            <p:nvPr/>
          </p:nvSpPr>
          <p:spPr bwMode="auto">
            <a:xfrm>
              <a:off x="3759" y="329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83" name="Line 145"/>
            <p:cNvSpPr>
              <a:spLocks noChangeShapeType="1"/>
            </p:cNvSpPr>
            <p:nvPr/>
          </p:nvSpPr>
          <p:spPr bwMode="auto">
            <a:xfrm>
              <a:off x="3759" y="329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Rectangle 146"/>
            <p:cNvSpPr>
              <a:spLocks noChangeArrowheads="1"/>
            </p:cNvSpPr>
            <p:nvPr/>
          </p:nvSpPr>
          <p:spPr bwMode="auto">
            <a:xfrm>
              <a:off x="3759" y="374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85" name="Line 147"/>
            <p:cNvSpPr>
              <a:spLocks noChangeShapeType="1"/>
            </p:cNvSpPr>
            <p:nvPr/>
          </p:nvSpPr>
          <p:spPr bwMode="auto">
            <a:xfrm>
              <a:off x="3759" y="374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6" name="Line 148"/>
            <p:cNvSpPr>
              <a:spLocks noChangeShapeType="1"/>
            </p:cNvSpPr>
            <p:nvPr/>
          </p:nvSpPr>
          <p:spPr bwMode="auto">
            <a:xfrm>
              <a:off x="3759" y="374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Rectangle 149"/>
            <p:cNvSpPr>
              <a:spLocks noChangeArrowheads="1"/>
            </p:cNvSpPr>
            <p:nvPr/>
          </p:nvSpPr>
          <p:spPr bwMode="auto">
            <a:xfrm>
              <a:off x="3782" y="3747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88" name="Line 150"/>
            <p:cNvSpPr>
              <a:spLocks noChangeShapeType="1"/>
            </p:cNvSpPr>
            <p:nvPr/>
          </p:nvSpPr>
          <p:spPr bwMode="auto">
            <a:xfrm>
              <a:off x="3782" y="3747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9" name="Rectangle 151"/>
            <p:cNvSpPr>
              <a:spLocks noChangeArrowheads="1"/>
            </p:cNvSpPr>
            <p:nvPr/>
          </p:nvSpPr>
          <p:spPr bwMode="auto">
            <a:xfrm>
              <a:off x="4563" y="329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90" name="Line 152"/>
            <p:cNvSpPr>
              <a:spLocks noChangeShapeType="1"/>
            </p:cNvSpPr>
            <p:nvPr/>
          </p:nvSpPr>
          <p:spPr bwMode="auto">
            <a:xfrm>
              <a:off x="4563" y="329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1" name="Rectangle 153"/>
            <p:cNvSpPr>
              <a:spLocks noChangeArrowheads="1"/>
            </p:cNvSpPr>
            <p:nvPr/>
          </p:nvSpPr>
          <p:spPr bwMode="auto">
            <a:xfrm>
              <a:off x="4563" y="374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92" name="Line 154"/>
            <p:cNvSpPr>
              <a:spLocks noChangeShapeType="1"/>
            </p:cNvSpPr>
            <p:nvPr/>
          </p:nvSpPr>
          <p:spPr bwMode="auto">
            <a:xfrm>
              <a:off x="4563" y="374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3" name="Line 155"/>
            <p:cNvSpPr>
              <a:spLocks noChangeShapeType="1"/>
            </p:cNvSpPr>
            <p:nvPr/>
          </p:nvSpPr>
          <p:spPr bwMode="auto">
            <a:xfrm>
              <a:off x="4563" y="374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4" name="Rectangle 156"/>
            <p:cNvSpPr>
              <a:spLocks noChangeArrowheads="1"/>
            </p:cNvSpPr>
            <p:nvPr/>
          </p:nvSpPr>
          <p:spPr bwMode="auto">
            <a:xfrm>
              <a:off x="4586" y="3747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9295" name="Line 157"/>
            <p:cNvSpPr>
              <a:spLocks noChangeShapeType="1"/>
            </p:cNvSpPr>
            <p:nvPr/>
          </p:nvSpPr>
          <p:spPr bwMode="auto">
            <a:xfrm>
              <a:off x="4586" y="3747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224" name="Text Box 158"/>
          <p:cNvSpPr txBox="1">
            <a:spLocks noChangeArrowheads="1"/>
          </p:cNvSpPr>
          <p:nvPr/>
        </p:nvSpPr>
        <p:spPr bwMode="auto">
          <a:xfrm>
            <a:off x="5791200" y="323850"/>
            <a:ext cx="1733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功能表</a:t>
            </a:r>
            <a:endParaRPr lang="zh-CN" altLang="en-US" sz="2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4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4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810" grpId="0"/>
      <p:bldP spid="244811" grpId="0"/>
      <p:bldP spid="2448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09700" y="522288"/>
            <a:ext cx="4110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2.    </a:t>
            </a:r>
            <a:r>
              <a:rPr lang="zh-CN" altLang="en-US" sz="2800" b="1"/>
              <a:t>二极管或门</a:t>
            </a:r>
            <a:endParaRPr lang="zh-CN" altLang="en-US" sz="2800" b="1"/>
          </a:p>
        </p:txBody>
      </p:sp>
      <p:sp>
        <p:nvSpPr>
          <p:cNvPr id="245763" name="Text Box 3"/>
          <p:cNvSpPr txBox="1">
            <a:spLocks noChangeArrowheads="1"/>
          </p:cNvSpPr>
          <p:nvPr/>
        </p:nvSpPr>
        <p:spPr bwMode="auto">
          <a:xfrm>
            <a:off x="6176963" y="1393825"/>
            <a:ext cx="1733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 </a:t>
            </a:r>
            <a:r>
              <a:rPr lang="zh-CN" altLang="en-US" sz="2400" b="1"/>
              <a:t>功能表</a:t>
            </a:r>
            <a:endParaRPr lang="zh-CN" altLang="en-US" sz="2400" b="1"/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2628900" y="1555750"/>
            <a:ext cx="63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D</a:t>
            </a:r>
            <a:r>
              <a:rPr lang="en-US" altLang="zh-CN" sz="2800" b="1" baseline="-25000">
                <a:ea typeface="楷体_GB2312" pitchFamily="49" charset="-122"/>
              </a:rPr>
              <a:t>1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0245" name="Line 7"/>
          <p:cNvSpPr>
            <a:spLocks noChangeShapeType="1"/>
          </p:cNvSpPr>
          <p:nvPr/>
        </p:nvSpPr>
        <p:spPr bwMode="auto">
          <a:xfrm flipV="1">
            <a:off x="3581400" y="2343150"/>
            <a:ext cx="896938" cy="19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Rectangle 8"/>
          <p:cNvSpPr>
            <a:spLocks noChangeArrowheads="1"/>
          </p:cNvSpPr>
          <p:nvPr/>
        </p:nvSpPr>
        <p:spPr bwMode="auto">
          <a:xfrm>
            <a:off x="3421063" y="3911600"/>
            <a:ext cx="260350" cy="8032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0247" name="Text Box 9"/>
          <p:cNvSpPr txBox="1">
            <a:spLocks noChangeArrowheads="1"/>
          </p:cNvSpPr>
          <p:nvPr/>
        </p:nvSpPr>
        <p:spPr bwMode="auto">
          <a:xfrm>
            <a:off x="4427538" y="1838325"/>
            <a:ext cx="476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Y</a:t>
            </a:r>
            <a:endParaRPr lang="en-US" altLang="zh-CN" sz="3200" b="1">
              <a:ea typeface="楷体_GB2312" pitchFamily="49" charset="-122"/>
            </a:endParaRPr>
          </a:p>
        </p:txBody>
      </p:sp>
      <p:grpSp>
        <p:nvGrpSpPr>
          <p:cNvPr id="10248" name="Group 10"/>
          <p:cNvGrpSpPr/>
          <p:nvPr/>
        </p:nvGrpSpPr>
        <p:grpSpPr bwMode="auto">
          <a:xfrm flipH="1">
            <a:off x="2209800" y="3160713"/>
            <a:ext cx="1371600" cy="609600"/>
            <a:chOff x="1236" y="1638"/>
            <a:chExt cx="864" cy="384"/>
          </a:xfrm>
        </p:grpSpPr>
        <p:sp>
          <p:nvSpPr>
            <p:cNvPr id="10336" name="Line 11"/>
            <p:cNvSpPr>
              <a:spLocks noChangeShapeType="1"/>
            </p:cNvSpPr>
            <p:nvPr/>
          </p:nvSpPr>
          <p:spPr bwMode="auto">
            <a:xfrm flipH="1">
              <a:off x="1488" y="1638"/>
              <a:ext cx="1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7" name="AutoShape 12"/>
            <p:cNvSpPr>
              <a:spLocks noChangeArrowheads="1"/>
            </p:cNvSpPr>
            <p:nvPr/>
          </p:nvSpPr>
          <p:spPr bwMode="auto">
            <a:xfrm rot="16200000" flipH="1">
              <a:off x="1446" y="1698"/>
              <a:ext cx="372" cy="26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38" name="Line 13"/>
            <p:cNvSpPr>
              <a:spLocks noChangeShapeType="1"/>
            </p:cNvSpPr>
            <p:nvPr/>
          </p:nvSpPr>
          <p:spPr bwMode="auto">
            <a:xfrm>
              <a:off x="1236" y="1830"/>
              <a:ext cx="86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249" name="Group 14"/>
          <p:cNvGrpSpPr/>
          <p:nvPr/>
        </p:nvGrpSpPr>
        <p:grpSpPr bwMode="auto">
          <a:xfrm flipH="1">
            <a:off x="2174875" y="2063750"/>
            <a:ext cx="1371600" cy="609600"/>
            <a:chOff x="1236" y="1638"/>
            <a:chExt cx="864" cy="384"/>
          </a:xfrm>
        </p:grpSpPr>
        <p:sp>
          <p:nvSpPr>
            <p:cNvPr id="10333" name="Line 15"/>
            <p:cNvSpPr>
              <a:spLocks noChangeShapeType="1"/>
            </p:cNvSpPr>
            <p:nvPr/>
          </p:nvSpPr>
          <p:spPr bwMode="auto">
            <a:xfrm flipH="1">
              <a:off x="1488" y="1638"/>
              <a:ext cx="1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4" name="AutoShape 16"/>
            <p:cNvSpPr>
              <a:spLocks noChangeArrowheads="1"/>
            </p:cNvSpPr>
            <p:nvPr/>
          </p:nvSpPr>
          <p:spPr bwMode="auto">
            <a:xfrm rot="16200000" flipH="1">
              <a:off x="1446" y="1698"/>
              <a:ext cx="372" cy="26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35" name="Line 17"/>
            <p:cNvSpPr>
              <a:spLocks noChangeShapeType="1"/>
            </p:cNvSpPr>
            <p:nvPr/>
          </p:nvSpPr>
          <p:spPr bwMode="auto">
            <a:xfrm>
              <a:off x="1236" y="1830"/>
              <a:ext cx="864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50" name="Line 18"/>
          <p:cNvSpPr>
            <a:spLocks noChangeShapeType="1"/>
          </p:cNvSpPr>
          <p:nvPr/>
        </p:nvSpPr>
        <p:spPr bwMode="auto">
          <a:xfrm flipH="1" flipV="1">
            <a:off x="3552825" y="2354263"/>
            <a:ext cx="0" cy="11064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1" name="Oval 19"/>
          <p:cNvSpPr>
            <a:spLocks noChangeArrowheads="1"/>
          </p:cNvSpPr>
          <p:nvPr/>
        </p:nvSpPr>
        <p:spPr bwMode="auto">
          <a:xfrm>
            <a:off x="3508375" y="2324100"/>
            <a:ext cx="74613" cy="74613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round/>
            <a:tailEnd type="none" w="sm" len="lg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0252" name="Text Box 20"/>
          <p:cNvSpPr txBox="1">
            <a:spLocks noChangeArrowheads="1"/>
          </p:cNvSpPr>
          <p:nvPr/>
        </p:nvSpPr>
        <p:spPr bwMode="auto">
          <a:xfrm>
            <a:off x="2595563" y="2633663"/>
            <a:ext cx="63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D</a:t>
            </a:r>
            <a:r>
              <a:rPr lang="en-US" altLang="zh-CN" sz="2800" b="1" baseline="-25000">
                <a:ea typeface="楷体_GB2312" pitchFamily="49" charset="-122"/>
              </a:rPr>
              <a:t>2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0253" name="Text Box 21"/>
          <p:cNvSpPr txBox="1">
            <a:spLocks noChangeArrowheads="1"/>
          </p:cNvSpPr>
          <p:nvPr/>
        </p:nvSpPr>
        <p:spPr bwMode="auto">
          <a:xfrm>
            <a:off x="1731963" y="2057400"/>
            <a:ext cx="547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A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0254" name="Text Box 22"/>
          <p:cNvSpPr txBox="1">
            <a:spLocks noChangeArrowheads="1"/>
          </p:cNvSpPr>
          <p:nvPr/>
        </p:nvSpPr>
        <p:spPr bwMode="auto">
          <a:xfrm>
            <a:off x="1735138" y="3176588"/>
            <a:ext cx="547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B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10255" name="Oval 23"/>
          <p:cNvSpPr>
            <a:spLocks noChangeArrowheads="1"/>
          </p:cNvSpPr>
          <p:nvPr/>
        </p:nvSpPr>
        <p:spPr bwMode="auto">
          <a:xfrm>
            <a:off x="3508375" y="3429000"/>
            <a:ext cx="74613" cy="74613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tx1"/>
            </a:solidFill>
            <a:round/>
            <a:tailEnd type="none" w="sm" len="lg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0256" name="Line 24"/>
          <p:cNvSpPr>
            <a:spLocks noChangeShapeType="1"/>
          </p:cNvSpPr>
          <p:nvPr/>
        </p:nvSpPr>
        <p:spPr bwMode="auto">
          <a:xfrm>
            <a:off x="3543300" y="3314700"/>
            <a:ext cx="0" cy="5905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7" name="Line 25"/>
          <p:cNvSpPr>
            <a:spLocks noChangeShapeType="1"/>
          </p:cNvSpPr>
          <p:nvPr/>
        </p:nvSpPr>
        <p:spPr bwMode="auto">
          <a:xfrm>
            <a:off x="3543300" y="4724400"/>
            <a:ext cx="0" cy="438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8" name="Line 26"/>
          <p:cNvSpPr>
            <a:spLocks noChangeShapeType="1"/>
          </p:cNvSpPr>
          <p:nvPr/>
        </p:nvSpPr>
        <p:spPr bwMode="auto">
          <a:xfrm>
            <a:off x="3295650" y="5143500"/>
            <a:ext cx="552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59" name="Text Box 27"/>
          <p:cNvSpPr txBox="1">
            <a:spLocks noChangeArrowheads="1"/>
          </p:cNvSpPr>
          <p:nvPr/>
        </p:nvSpPr>
        <p:spPr bwMode="auto">
          <a:xfrm>
            <a:off x="3798888" y="4048125"/>
            <a:ext cx="476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0260" name="AutoShape 28"/>
          <p:cNvSpPr>
            <a:spLocks noChangeArrowheads="1"/>
          </p:cNvSpPr>
          <p:nvPr/>
        </p:nvSpPr>
        <p:spPr bwMode="auto">
          <a:xfrm rot="10800000" flipV="1">
            <a:off x="381000" y="1524000"/>
            <a:ext cx="1522413" cy="569913"/>
          </a:xfrm>
          <a:prstGeom prst="wedgeRectCallout">
            <a:avLst>
              <a:gd name="adj1" fmla="val -91606"/>
              <a:gd name="adj2" fmla="val 68102"/>
            </a:avLst>
          </a:prstGeom>
          <a:noFill/>
          <a:ln w="38100">
            <a:solidFill>
              <a:srgbClr val="FF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ea typeface="长城楷体" pitchFamily="49" charset="-122"/>
              </a:rPr>
              <a:t>硅二极管</a:t>
            </a:r>
            <a:endParaRPr lang="zh-CN" altLang="en-US" sz="2400" b="1">
              <a:ea typeface="长城楷体" pitchFamily="49" charset="-122"/>
            </a:endParaRPr>
          </a:p>
        </p:txBody>
      </p:sp>
      <p:grpSp>
        <p:nvGrpSpPr>
          <p:cNvPr id="245789" name="Group 29"/>
          <p:cNvGrpSpPr/>
          <p:nvPr/>
        </p:nvGrpSpPr>
        <p:grpSpPr bwMode="auto">
          <a:xfrm>
            <a:off x="5083175" y="2228850"/>
            <a:ext cx="3825875" cy="3660775"/>
            <a:chOff x="2974" y="504"/>
            <a:chExt cx="2410" cy="2306"/>
          </a:xfrm>
        </p:grpSpPr>
        <p:sp>
          <p:nvSpPr>
            <p:cNvPr id="10262" name="Rectangle 30"/>
            <p:cNvSpPr>
              <a:spLocks noChangeArrowheads="1"/>
            </p:cNvSpPr>
            <p:nvPr/>
          </p:nvSpPr>
          <p:spPr bwMode="auto">
            <a:xfrm>
              <a:off x="3043" y="596"/>
              <a:ext cx="569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A</a:t>
              </a:r>
              <a:r>
                <a:rPr lang="zh-CN" altLang="en-US" sz="3200">
                  <a:ea typeface="长城楷体" pitchFamily="49" charset="-122"/>
                </a:rPr>
                <a:t>／</a:t>
              </a:r>
              <a:r>
                <a:rPr lang="en-US" altLang="zh-CN" sz="3200">
                  <a:ea typeface="长城楷体" pitchFamily="49" charset="-122"/>
                </a:rPr>
                <a:t>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263" name="Rectangle 31"/>
            <p:cNvSpPr>
              <a:spLocks noChangeArrowheads="1"/>
            </p:cNvSpPr>
            <p:nvPr/>
          </p:nvSpPr>
          <p:spPr bwMode="auto">
            <a:xfrm>
              <a:off x="2974" y="504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64" name="Line 32"/>
            <p:cNvSpPr>
              <a:spLocks noChangeShapeType="1"/>
            </p:cNvSpPr>
            <p:nvPr/>
          </p:nvSpPr>
          <p:spPr bwMode="auto">
            <a:xfrm>
              <a:off x="2974" y="504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5" name="Rectangle 33"/>
            <p:cNvSpPr>
              <a:spLocks noChangeArrowheads="1"/>
            </p:cNvSpPr>
            <p:nvPr/>
          </p:nvSpPr>
          <p:spPr bwMode="auto">
            <a:xfrm>
              <a:off x="3771" y="50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66" name="Line 34"/>
            <p:cNvSpPr>
              <a:spLocks noChangeShapeType="1"/>
            </p:cNvSpPr>
            <p:nvPr/>
          </p:nvSpPr>
          <p:spPr bwMode="auto">
            <a:xfrm>
              <a:off x="3771" y="50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7" name="Line 35"/>
            <p:cNvSpPr>
              <a:spLocks noChangeShapeType="1"/>
            </p:cNvSpPr>
            <p:nvPr/>
          </p:nvSpPr>
          <p:spPr bwMode="auto">
            <a:xfrm>
              <a:off x="3771" y="50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68" name="Rectangle 36"/>
            <p:cNvSpPr>
              <a:spLocks noChangeArrowheads="1"/>
            </p:cNvSpPr>
            <p:nvPr/>
          </p:nvSpPr>
          <p:spPr bwMode="auto">
            <a:xfrm>
              <a:off x="3794" y="504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69" name="Line 37"/>
            <p:cNvSpPr>
              <a:spLocks noChangeShapeType="1"/>
            </p:cNvSpPr>
            <p:nvPr/>
          </p:nvSpPr>
          <p:spPr bwMode="auto">
            <a:xfrm>
              <a:off x="3794" y="504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0" name="Rectangle 38"/>
            <p:cNvSpPr>
              <a:spLocks noChangeArrowheads="1"/>
            </p:cNvSpPr>
            <p:nvPr/>
          </p:nvSpPr>
          <p:spPr bwMode="auto">
            <a:xfrm>
              <a:off x="4575" y="50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71" name="Line 39"/>
            <p:cNvSpPr>
              <a:spLocks noChangeShapeType="1"/>
            </p:cNvSpPr>
            <p:nvPr/>
          </p:nvSpPr>
          <p:spPr bwMode="auto">
            <a:xfrm>
              <a:off x="4575" y="50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2" name="Line 40"/>
            <p:cNvSpPr>
              <a:spLocks noChangeShapeType="1"/>
            </p:cNvSpPr>
            <p:nvPr/>
          </p:nvSpPr>
          <p:spPr bwMode="auto">
            <a:xfrm>
              <a:off x="4575" y="50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3" name="Rectangle 41"/>
            <p:cNvSpPr>
              <a:spLocks noChangeArrowheads="1"/>
            </p:cNvSpPr>
            <p:nvPr/>
          </p:nvSpPr>
          <p:spPr bwMode="auto">
            <a:xfrm>
              <a:off x="4598" y="504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74" name="Line 42"/>
            <p:cNvSpPr>
              <a:spLocks noChangeShapeType="1"/>
            </p:cNvSpPr>
            <p:nvPr/>
          </p:nvSpPr>
          <p:spPr bwMode="auto">
            <a:xfrm>
              <a:off x="4598" y="504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5" name="Rectangle 43"/>
            <p:cNvSpPr>
              <a:spLocks noChangeArrowheads="1"/>
            </p:cNvSpPr>
            <p:nvPr/>
          </p:nvSpPr>
          <p:spPr bwMode="auto">
            <a:xfrm>
              <a:off x="3771" y="52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76" name="Line 44"/>
            <p:cNvSpPr>
              <a:spLocks noChangeShapeType="1"/>
            </p:cNvSpPr>
            <p:nvPr/>
          </p:nvSpPr>
          <p:spPr bwMode="auto">
            <a:xfrm>
              <a:off x="3771" y="52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7" name="Rectangle 45"/>
            <p:cNvSpPr>
              <a:spLocks noChangeArrowheads="1"/>
            </p:cNvSpPr>
            <p:nvPr/>
          </p:nvSpPr>
          <p:spPr bwMode="auto">
            <a:xfrm>
              <a:off x="4575" y="52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78" name="Line 46"/>
            <p:cNvSpPr>
              <a:spLocks noChangeShapeType="1"/>
            </p:cNvSpPr>
            <p:nvPr/>
          </p:nvSpPr>
          <p:spPr bwMode="auto">
            <a:xfrm>
              <a:off x="4575" y="52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79" name="Rectangle 47"/>
            <p:cNvSpPr>
              <a:spLocks noChangeArrowheads="1"/>
            </p:cNvSpPr>
            <p:nvPr/>
          </p:nvSpPr>
          <p:spPr bwMode="auto">
            <a:xfrm>
              <a:off x="3221" y="1077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280" name="Rectangle 48"/>
            <p:cNvSpPr>
              <a:spLocks noChangeArrowheads="1"/>
            </p:cNvSpPr>
            <p:nvPr/>
          </p:nvSpPr>
          <p:spPr bwMode="auto">
            <a:xfrm>
              <a:off x="4025" y="1077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281" name="Rectangle 49"/>
            <p:cNvSpPr>
              <a:spLocks noChangeArrowheads="1"/>
            </p:cNvSpPr>
            <p:nvPr/>
          </p:nvSpPr>
          <p:spPr bwMode="auto">
            <a:xfrm>
              <a:off x="4730" y="1077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282" name="Rectangle 50"/>
            <p:cNvSpPr>
              <a:spLocks noChangeArrowheads="1"/>
            </p:cNvSpPr>
            <p:nvPr/>
          </p:nvSpPr>
          <p:spPr bwMode="auto">
            <a:xfrm>
              <a:off x="2974" y="976"/>
              <a:ext cx="79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83" name="Line 51"/>
            <p:cNvSpPr>
              <a:spLocks noChangeShapeType="1"/>
            </p:cNvSpPr>
            <p:nvPr/>
          </p:nvSpPr>
          <p:spPr bwMode="auto">
            <a:xfrm>
              <a:off x="2974" y="976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4" name="Rectangle 52"/>
            <p:cNvSpPr>
              <a:spLocks noChangeArrowheads="1"/>
            </p:cNvSpPr>
            <p:nvPr/>
          </p:nvSpPr>
          <p:spPr bwMode="auto">
            <a:xfrm>
              <a:off x="3771" y="97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85" name="Line 53"/>
            <p:cNvSpPr>
              <a:spLocks noChangeShapeType="1"/>
            </p:cNvSpPr>
            <p:nvPr/>
          </p:nvSpPr>
          <p:spPr bwMode="auto">
            <a:xfrm>
              <a:off x="3771" y="97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6" name="Line 54"/>
            <p:cNvSpPr>
              <a:spLocks noChangeShapeType="1"/>
            </p:cNvSpPr>
            <p:nvPr/>
          </p:nvSpPr>
          <p:spPr bwMode="auto">
            <a:xfrm>
              <a:off x="3771" y="97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7" name="Rectangle 55"/>
            <p:cNvSpPr>
              <a:spLocks noChangeArrowheads="1"/>
            </p:cNvSpPr>
            <p:nvPr/>
          </p:nvSpPr>
          <p:spPr bwMode="auto">
            <a:xfrm>
              <a:off x="3788" y="976"/>
              <a:ext cx="78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88" name="Line 56"/>
            <p:cNvSpPr>
              <a:spLocks noChangeShapeType="1"/>
            </p:cNvSpPr>
            <p:nvPr/>
          </p:nvSpPr>
          <p:spPr bwMode="auto">
            <a:xfrm>
              <a:off x="3788" y="976"/>
              <a:ext cx="7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9" name="Rectangle 57"/>
            <p:cNvSpPr>
              <a:spLocks noChangeArrowheads="1"/>
            </p:cNvSpPr>
            <p:nvPr/>
          </p:nvSpPr>
          <p:spPr bwMode="auto">
            <a:xfrm>
              <a:off x="4575" y="97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90" name="Line 58"/>
            <p:cNvSpPr>
              <a:spLocks noChangeShapeType="1"/>
            </p:cNvSpPr>
            <p:nvPr/>
          </p:nvSpPr>
          <p:spPr bwMode="auto">
            <a:xfrm>
              <a:off x="4575" y="97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1" name="Line 59"/>
            <p:cNvSpPr>
              <a:spLocks noChangeShapeType="1"/>
            </p:cNvSpPr>
            <p:nvPr/>
          </p:nvSpPr>
          <p:spPr bwMode="auto">
            <a:xfrm>
              <a:off x="4575" y="97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2" name="Rectangle 60"/>
            <p:cNvSpPr>
              <a:spLocks noChangeArrowheads="1"/>
            </p:cNvSpPr>
            <p:nvPr/>
          </p:nvSpPr>
          <p:spPr bwMode="auto">
            <a:xfrm>
              <a:off x="4592" y="976"/>
              <a:ext cx="792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93" name="Line 61"/>
            <p:cNvSpPr>
              <a:spLocks noChangeShapeType="1"/>
            </p:cNvSpPr>
            <p:nvPr/>
          </p:nvSpPr>
          <p:spPr bwMode="auto">
            <a:xfrm>
              <a:off x="4592" y="976"/>
              <a:ext cx="7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4" name="Rectangle 62"/>
            <p:cNvSpPr>
              <a:spLocks noChangeArrowheads="1"/>
            </p:cNvSpPr>
            <p:nvPr/>
          </p:nvSpPr>
          <p:spPr bwMode="auto">
            <a:xfrm>
              <a:off x="3771" y="99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95" name="Line 63"/>
            <p:cNvSpPr>
              <a:spLocks noChangeShapeType="1"/>
            </p:cNvSpPr>
            <p:nvPr/>
          </p:nvSpPr>
          <p:spPr bwMode="auto">
            <a:xfrm>
              <a:off x="3771" y="99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6" name="Rectangle 64"/>
            <p:cNvSpPr>
              <a:spLocks noChangeArrowheads="1"/>
            </p:cNvSpPr>
            <p:nvPr/>
          </p:nvSpPr>
          <p:spPr bwMode="auto">
            <a:xfrm>
              <a:off x="4575" y="99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97" name="Line 65"/>
            <p:cNvSpPr>
              <a:spLocks noChangeShapeType="1"/>
            </p:cNvSpPr>
            <p:nvPr/>
          </p:nvSpPr>
          <p:spPr bwMode="auto">
            <a:xfrm>
              <a:off x="4575" y="99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8" name="Rectangle 66"/>
            <p:cNvSpPr>
              <a:spLocks noChangeArrowheads="1"/>
            </p:cNvSpPr>
            <p:nvPr/>
          </p:nvSpPr>
          <p:spPr bwMode="auto">
            <a:xfrm>
              <a:off x="3221" y="1523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299" name="Rectangle 67"/>
            <p:cNvSpPr>
              <a:spLocks noChangeArrowheads="1"/>
            </p:cNvSpPr>
            <p:nvPr/>
          </p:nvSpPr>
          <p:spPr bwMode="auto">
            <a:xfrm>
              <a:off x="4025" y="1523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00" name="Rectangle 68"/>
            <p:cNvSpPr>
              <a:spLocks noChangeArrowheads="1"/>
            </p:cNvSpPr>
            <p:nvPr/>
          </p:nvSpPr>
          <p:spPr bwMode="auto">
            <a:xfrm>
              <a:off x="4730" y="1523"/>
              <a:ext cx="3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2.3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01" name="Rectangle 69"/>
            <p:cNvSpPr>
              <a:spLocks noChangeArrowheads="1"/>
            </p:cNvSpPr>
            <p:nvPr/>
          </p:nvSpPr>
          <p:spPr bwMode="auto">
            <a:xfrm>
              <a:off x="3771" y="144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02" name="Line 70"/>
            <p:cNvSpPr>
              <a:spLocks noChangeShapeType="1"/>
            </p:cNvSpPr>
            <p:nvPr/>
          </p:nvSpPr>
          <p:spPr bwMode="auto">
            <a:xfrm>
              <a:off x="3771" y="144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3" name="Rectangle 71"/>
            <p:cNvSpPr>
              <a:spLocks noChangeArrowheads="1"/>
            </p:cNvSpPr>
            <p:nvPr/>
          </p:nvSpPr>
          <p:spPr bwMode="auto">
            <a:xfrm>
              <a:off x="4575" y="144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04" name="Line 72"/>
            <p:cNvSpPr>
              <a:spLocks noChangeShapeType="1"/>
            </p:cNvSpPr>
            <p:nvPr/>
          </p:nvSpPr>
          <p:spPr bwMode="auto">
            <a:xfrm>
              <a:off x="4575" y="144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5" name="Rectangle 73"/>
            <p:cNvSpPr>
              <a:spLocks noChangeArrowheads="1"/>
            </p:cNvSpPr>
            <p:nvPr/>
          </p:nvSpPr>
          <p:spPr bwMode="auto">
            <a:xfrm>
              <a:off x="3221" y="1972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06" name="Rectangle 74"/>
            <p:cNvSpPr>
              <a:spLocks noChangeArrowheads="1"/>
            </p:cNvSpPr>
            <p:nvPr/>
          </p:nvSpPr>
          <p:spPr bwMode="auto">
            <a:xfrm>
              <a:off x="4025" y="1972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0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07" name="Rectangle 75"/>
            <p:cNvSpPr>
              <a:spLocks noChangeArrowheads="1"/>
            </p:cNvSpPr>
            <p:nvPr/>
          </p:nvSpPr>
          <p:spPr bwMode="auto">
            <a:xfrm>
              <a:off x="4730" y="1972"/>
              <a:ext cx="3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2.3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08" name="Rectangle 76"/>
            <p:cNvSpPr>
              <a:spLocks noChangeArrowheads="1"/>
            </p:cNvSpPr>
            <p:nvPr/>
          </p:nvSpPr>
          <p:spPr bwMode="auto">
            <a:xfrm>
              <a:off x="3771" y="189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09" name="Line 77"/>
            <p:cNvSpPr>
              <a:spLocks noChangeShapeType="1"/>
            </p:cNvSpPr>
            <p:nvPr/>
          </p:nvSpPr>
          <p:spPr bwMode="auto">
            <a:xfrm>
              <a:off x="3771" y="189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0" name="Rectangle 78"/>
            <p:cNvSpPr>
              <a:spLocks noChangeArrowheads="1"/>
            </p:cNvSpPr>
            <p:nvPr/>
          </p:nvSpPr>
          <p:spPr bwMode="auto">
            <a:xfrm>
              <a:off x="4575" y="189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11" name="Line 79"/>
            <p:cNvSpPr>
              <a:spLocks noChangeShapeType="1"/>
            </p:cNvSpPr>
            <p:nvPr/>
          </p:nvSpPr>
          <p:spPr bwMode="auto">
            <a:xfrm>
              <a:off x="4575" y="189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2" name="Rectangle 80"/>
            <p:cNvSpPr>
              <a:spLocks noChangeArrowheads="1"/>
            </p:cNvSpPr>
            <p:nvPr/>
          </p:nvSpPr>
          <p:spPr bwMode="auto">
            <a:xfrm>
              <a:off x="3221" y="2418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13" name="Rectangle 81"/>
            <p:cNvSpPr>
              <a:spLocks noChangeArrowheads="1"/>
            </p:cNvSpPr>
            <p:nvPr/>
          </p:nvSpPr>
          <p:spPr bwMode="auto">
            <a:xfrm>
              <a:off x="4025" y="2418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3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14" name="Rectangle 82"/>
            <p:cNvSpPr>
              <a:spLocks noChangeArrowheads="1"/>
            </p:cNvSpPr>
            <p:nvPr/>
          </p:nvSpPr>
          <p:spPr bwMode="auto">
            <a:xfrm>
              <a:off x="4730" y="2418"/>
              <a:ext cx="32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2.3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15" name="Rectangle 83"/>
            <p:cNvSpPr>
              <a:spLocks noChangeArrowheads="1"/>
            </p:cNvSpPr>
            <p:nvPr/>
          </p:nvSpPr>
          <p:spPr bwMode="auto">
            <a:xfrm>
              <a:off x="2974" y="2787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16" name="Line 84"/>
            <p:cNvSpPr>
              <a:spLocks noChangeShapeType="1"/>
            </p:cNvSpPr>
            <p:nvPr/>
          </p:nvSpPr>
          <p:spPr bwMode="auto">
            <a:xfrm>
              <a:off x="2974" y="2787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7" name="Rectangle 85"/>
            <p:cNvSpPr>
              <a:spLocks noChangeArrowheads="1"/>
            </p:cNvSpPr>
            <p:nvPr/>
          </p:nvSpPr>
          <p:spPr bwMode="auto">
            <a:xfrm>
              <a:off x="3771" y="233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18" name="Line 86"/>
            <p:cNvSpPr>
              <a:spLocks noChangeShapeType="1"/>
            </p:cNvSpPr>
            <p:nvPr/>
          </p:nvSpPr>
          <p:spPr bwMode="auto">
            <a:xfrm>
              <a:off x="3771" y="233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9" name="Rectangle 87"/>
            <p:cNvSpPr>
              <a:spLocks noChangeArrowheads="1"/>
            </p:cNvSpPr>
            <p:nvPr/>
          </p:nvSpPr>
          <p:spPr bwMode="auto">
            <a:xfrm>
              <a:off x="3771" y="278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20" name="Line 88"/>
            <p:cNvSpPr>
              <a:spLocks noChangeShapeType="1"/>
            </p:cNvSpPr>
            <p:nvPr/>
          </p:nvSpPr>
          <p:spPr bwMode="auto">
            <a:xfrm>
              <a:off x="3771" y="278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1" name="Line 89"/>
            <p:cNvSpPr>
              <a:spLocks noChangeShapeType="1"/>
            </p:cNvSpPr>
            <p:nvPr/>
          </p:nvSpPr>
          <p:spPr bwMode="auto">
            <a:xfrm>
              <a:off x="3771" y="278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2" name="Rectangle 90"/>
            <p:cNvSpPr>
              <a:spLocks noChangeArrowheads="1"/>
            </p:cNvSpPr>
            <p:nvPr/>
          </p:nvSpPr>
          <p:spPr bwMode="auto">
            <a:xfrm>
              <a:off x="3794" y="2787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23" name="Line 91"/>
            <p:cNvSpPr>
              <a:spLocks noChangeShapeType="1"/>
            </p:cNvSpPr>
            <p:nvPr/>
          </p:nvSpPr>
          <p:spPr bwMode="auto">
            <a:xfrm>
              <a:off x="3794" y="2787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4" name="Rectangle 92"/>
            <p:cNvSpPr>
              <a:spLocks noChangeArrowheads="1"/>
            </p:cNvSpPr>
            <p:nvPr/>
          </p:nvSpPr>
          <p:spPr bwMode="auto">
            <a:xfrm>
              <a:off x="4575" y="233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25" name="Line 93"/>
            <p:cNvSpPr>
              <a:spLocks noChangeShapeType="1"/>
            </p:cNvSpPr>
            <p:nvPr/>
          </p:nvSpPr>
          <p:spPr bwMode="auto">
            <a:xfrm>
              <a:off x="4575" y="233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6" name="Rectangle 94"/>
            <p:cNvSpPr>
              <a:spLocks noChangeArrowheads="1"/>
            </p:cNvSpPr>
            <p:nvPr/>
          </p:nvSpPr>
          <p:spPr bwMode="auto">
            <a:xfrm>
              <a:off x="4575" y="278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27" name="Line 95"/>
            <p:cNvSpPr>
              <a:spLocks noChangeShapeType="1"/>
            </p:cNvSpPr>
            <p:nvPr/>
          </p:nvSpPr>
          <p:spPr bwMode="auto">
            <a:xfrm>
              <a:off x="4575" y="278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8" name="Line 96"/>
            <p:cNvSpPr>
              <a:spLocks noChangeShapeType="1"/>
            </p:cNvSpPr>
            <p:nvPr/>
          </p:nvSpPr>
          <p:spPr bwMode="auto">
            <a:xfrm>
              <a:off x="4575" y="278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Rectangle 97"/>
            <p:cNvSpPr>
              <a:spLocks noChangeArrowheads="1"/>
            </p:cNvSpPr>
            <p:nvPr/>
          </p:nvSpPr>
          <p:spPr bwMode="auto">
            <a:xfrm>
              <a:off x="4598" y="2787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330" name="Line 98"/>
            <p:cNvSpPr>
              <a:spLocks noChangeShapeType="1"/>
            </p:cNvSpPr>
            <p:nvPr/>
          </p:nvSpPr>
          <p:spPr bwMode="auto">
            <a:xfrm>
              <a:off x="4598" y="2787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Rectangle 99"/>
            <p:cNvSpPr>
              <a:spLocks noChangeArrowheads="1"/>
            </p:cNvSpPr>
            <p:nvPr/>
          </p:nvSpPr>
          <p:spPr bwMode="auto">
            <a:xfrm>
              <a:off x="3955" y="584"/>
              <a:ext cx="55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B</a:t>
              </a:r>
              <a:r>
                <a:rPr lang="zh-CN" altLang="en-US" sz="3200">
                  <a:ea typeface="长城楷体" pitchFamily="49" charset="-122"/>
                </a:rPr>
                <a:t>／</a:t>
              </a:r>
              <a:r>
                <a:rPr lang="en-US" altLang="zh-CN" sz="3200">
                  <a:ea typeface="长城楷体" pitchFamily="49" charset="-122"/>
                </a:rPr>
                <a:t>v</a:t>
              </a:r>
              <a:endParaRPr lang="en-US" altLang="zh-CN" sz="3200" b="1">
                <a:ea typeface="长城楷体" pitchFamily="49" charset="-122"/>
              </a:endParaRPr>
            </a:p>
          </p:txBody>
        </p:sp>
        <p:sp>
          <p:nvSpPr>
            <p:cNvPr id="10332" name="Rectangle 100"/>
            <p:cNvSpPr>
              <a:spLocks noChangeArrowheads="1"/>
            </p:cNvSpPr>
            <p:nvPr/>
          </p:nvSpPr>
          <p:spPr bwMode="auto">
            <a:xfrm>
              <a:off x="4711" y="584"/>
              <a:ext cx="569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>
                  <a:ea typeface="长城楷体" pitchFamily="49" charset="-122"/>
                </a:rPr>
                <a:t>Y</a:t>
              </a:r>
              <a:r>
                <a:rPr lang="zh-CN" altLang="en-US" sz="3200">
                  <a:ea typeface="长城楷体" pitchFamily="49" charset="-122"/>
                </a:rPr>
                <a:t>／</a:t>
              </a:r>
              <a:r>
                <a:rPr lang="en-US" altLang="zh-CN" sz="3200">
                  <a:ea typeface="长城楷体" pitchFamily="49" charset="-122"/>
                </a:rPr>
                <a:t>v</a:t>
              </a:r>
              <a:endParaRPr lang="en-US" altLang="zh-CN" sz="3200" b="1">
                <a:ea typeface="长城楷体" pitchFamily="49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10312" y="3028890"/>
            <a:ext cx="114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C000"/>
                </a:solidFill>
                <a:ea typeface="长城楷体" pitchFamily="49" charset="-122"/>
              </a:rPr>
              <a:t>0V</a:t>
            </a:r>
            <a:r>
              <a:rPr lang="zh-CN" altLang="en-US" sz="2000" dirty="0">
                <a:solidFill>
                  <a:srgbClr val="FFC000"/>
                </a:solidFill>
                <a:ea typeface="长城楷体" pitchFamily="49" charset="-122"/>
              </a:rPr>
              <a:t>或</a:t>
            </a:r>
            <a:r>
              <a:rPr lang="en-US" altLang="zh-CN" sz="2000" dirty="0">
                <a:solidFill>
                  <a:srgbClr val="FFC000"/>
                </a:solidFill>
                <a:ea typeface="长城楷体" pitchFamily="49" charset="-122"/>
              </a:rPr>
              <a:t>3V</a:t>
            </a:r>
            <a:endParaRPr lang="en-US" altLang="zh-CN" sz="2000" b="1" dirty="0">
              <a:solidFill>
                <a:srgbClr val="FFC000"/>
              </a:solidFill>
              <a:ea typeface="长城楷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786" name="Group 2"/>
          <p:cNvGrpSpPr/>
          <p:nvPr/>
        </p:nvGrpSpPr>
        <p:grpSpPr bwMode="auto">
          <a:xfrm>
            <a:off x="468313" y="836613"/>
            <a:ext cx="3825875" cy="3660775"/>
            <a:chOff x="514" y="756"/>
            <a:chExt cx="2410" cy="2306"/>
          </a:xfrm>
        </p:grpSpPr>
        <p:sp>
          <p:nvSpPr>
            <p:cNvPr id="11355" name="Rectangle 3"/>
            <p:cNvSpPr>
              <a:spLocks noChangeArrowheads="1"/>
            </p:cNvSpPr>
            <p:nvPr/>
          </p:nvSpPr>
          <p:spPr bwMode="auto">
            <a:xfrm>
              <a:off x="799" y="860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A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56" name="Rectangle 4"/>
            <p:cNvSpPr>
              <a:spLocks noChangeArrowheads="1"/>
            </p:cNvSpPr>
            <p:nvPr/>
          </p:nvSpPr>
          <p:spPr bwMode="auto">
            <a:xfrm>
              <a:off x="1605" y="860"/>
              <a:ext cx="14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B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57" name="Rectangle 5"/>
            <p:cNvSpPr>
              <a:spLocks noChangeArrowheads="1"/>
            </p:cNvSpPr>
            <p:nvPr/>
          </p:nvSpPr>
          <p:spPr bwMode="auto">
            <a:xfrm>
              <a:off x="2417" y="860"/>
              <a:ext cx="1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Y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58" name="Rectangle 6"/>
            <p:cNvSpPr>
              <a:spLocks noChangeArrowheads="1"/>
            </p:cNvSpPr>
            <p:nvPr/>
          </p:nvSpPr>
          <p:spPr bwMode="auto">
            <a:xfrm>
              <a:off x="514" y="756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59" name="Line 7"/>
            <p:cNvSpPr>
              <a:spLocks noChangeShapeType="1"/>
            </p:cNvSpPr>
            <p:nvPr/>
          </p:nvSpPr>
          <p:spPr bwMode="auto">
            <a:xfrm>
              <a:off x="514" y="756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0" name="Rectangle 8"/>
            <p:cNvSpPr>
              <a:spLocks noChangeArrowheads="1"/>
            </p:cNvSpPr>
            <p:nvPr/>
          </p:nvSpPr>
          <p:spPr bwMode="auto">
            <a:xfrm>
              <a:off x="1311" y="756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61" name="Line 9"/>
            <p:cNvSpPr>
              <a:spLocks noChangeShapeType="1"/>
            </p:cNvSpPr>
            <p:nvPr/>
          </p:nvSpPr>
          <p:spPr bwMode="auto">
            <a:xfrm>
              <a:off x="1311" y="756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2" name="Line 10"/>
            <p:cNvSpPr>
              <a:spLocks noChangeShapeType="1"/>
            </p:cNvSpPr>
            <p:nvPr/>
          </p:nvSpPr>
          <p:spPr bwMode="auto">
            <a:xfrm>
              <a:off x="1311" y="756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3" name="Rectangle 11"/>
            <p:cNvSpPr>
              <a:spLocks noChangeArrowheads="1"/>
            </p:cNvSpPr>
            <p:nvPr/>
          </p:nvSpPr>
          <p:spPr bwMode="auto">
            <a:xfrm>
              <a:off x="1334" y="756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64" name="Line 12"/>
            <p:cNvSpPr>
              <a:spLocks noChangeShapeType="1"/>
            </p:cNvSpPr>
            <p:nvPr/>
          </p:nvSpPr>
          <p:spPr bwMode="auto">
            <a:xfrm>
              <a:off x="1334" y="756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5" name="Rectangle 13"/>
            <p:cNvSpPr>
              <a:spLocks noChangeArrowheads="1"/>
            </p:cNvSpPr>
            <p:nvPr/>
          </p:nvSpPr>
          <p:spPr bwMode="auto">
            <a:xfrm>
              <a:off x="2115" y="756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66" name="Line 14"/>
            <p:cNvSpPr>
              <a:spLocks noChangeShapeType="1"/>
            </p:cNvSpPr>
            <p:nvPr/>
          </p:nvSpPr>
          <p:spPr bwMode="auto">
            <a:xfrm>
              <a:off x="2115" y="756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" name="Line 15"/>
            <p:cNvSpPr>
              <a:spLocks noChangeShapeType="1"/>
            </p:cNvSpPr>
            <p:nvPr/>
          </p:nvSpPr>
          <p:spPr bwMode="auto">
            <a:xfrm>
              <a:off x="2115" y="756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" name="Rectangle 16"/>
            <p:cNvSpPr>
              <a:spLocks noChangeArrowheads="1"/>
            </p:cNvSpPr>
            <p:nvPr/>
          </p:nvSpPr>
          <p:spPr bwMode="auto">
            <a:xfrm>
              <a:off x="2138" y="756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69" name="Line 17"/>
            <p:cNvSpPr>
              <a:spLocks noChangeShapeType="1"/>
            </p:cNvSpPr>
            <p:nvPr/>
          </p:nvSpPr>
          <p:spPr bwMode="auto">
            <a:xfrm>
              <a:off x="2138" y="756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0" name="Rectangle 18"/>
            <p:cNvSpPr>
              <a:spLocks noChangeArrowheads="1"/>
            </p:cNvSpPr>
            <p:nvPr/>
          </p:nvSpPr>
          <p:spPr bwMode="auto">
            <a:xfrm>
              <a:off x="1311" y="779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71" name="Line 19"/>
            <p:cNvSpPr>
              <a:spLocks noChangeShapeType="1"/>
            </p:cNvSpPr>
            <p:nvPr/>
          </p:nvSpPr>
          <p:spPr bwMode="auto">
            <a:xfrm>
              <a:off x="1311" y="779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2" name="Rectangle 20"/>
            <p:cNvSpPr>
              <a:spLocks noChangeArrowheads="1"/>
            </p:cNvSpPr>
            <p:nvPr/>
          </p:nvSpPr>
          <p:spPr bwMode="auto">
            <a:xfrm>
              <a:off x="2115" y="779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73" name="Line 21"/>
            <p:cNvSpPr>
              <a:spLocks noChangeShapeType="1"/>
            </p:cNvSpPr>
            <p:nvPr/>
          </p:nvSpPr>
          <p:spPr bwMode="auto">
            <a:xfrm>
              <a:off x="2115" y="779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4" name="Rectangle 22"/>
            <p:cNvSpPr>
              <a:spLocks noChangeArrowheads="1"/>
            </p:cNvSpPr>
            <p:nvPr/>
          </p:nvSpPr>
          <p:spPr bwMode="auto">
            <a:xfrm>
              <a:off x="761" y="132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75" name="Rectangle 23"/>
            <p:cNvSpPr>
              <a:spLocks noChangeArrowheads="1"/>
            </p:cNvSpPr>
            <p:nvPr/>
          </p:nvSpPr>
          <p:spPr bwMode="auto">
            <a:xfrm>
              <a:off x="1637" y="131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76" name="Rectangle 24"/>
            <p:cNvSpPr>
              <a:spLocks noChangeArrowheads="1"/>
            </p:cNvSpPr>
            <p:nvPr/>
          </p:nvSpPr>
          <p:spPr bwMode="auto">
            <a:xfrm>
              <a:off x="2366" y="1329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77" name="Rectangle 25"/>
            <p:cNvSpPr>
              <a:spLocks noChangeArrowheads="1"/>
            </p:cNvSpPr>
            <p:nvPr/>
          </p:nvSpPr>
          <p:spPr bwMode="auto">
            <a:xfrm>
              <a:off x="514" y="1228"/>
              <a:ext cx="79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78" name="Line 26"/>
            <p:cNvSpPr>
              <a:spLocks noChangeShapeType="1"/>
            </p:cNvSpPr>
            <p:nvPr/>
          </p:nvSpPr>
          <p:spPr bwMode="auto">
            <a:xfrm>
              <a:off x="514" y="1228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9" name="Rectangle 27"/>
            <p:cNvSpPr>
              <a:spLocks noChangeArrowheads="1"/>
            </p:cNvSpPr>
            <p:nvPr/>
          </p:nvSpPr>
          <p:spPr bwMode="auto">
            <a:xfrm>
              <a:off x="1311" y="1228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80" name="Line 28"/>
            <p:cNvSpPr>
              <a:spLocks noChangeShapeType="1"/>
            </p:cNvSpPr>
            <p:nvPr/>
          </p:nvSpPr>
          <p:spPr bwMode="auto">
            <a:xfrm>
              <a:off x="1311" y="1228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1" name="Line 29"/>
            <p:cNvSpPr>
              <a:spLocks noChangeShapeType="1"/>
            </p:cNvSpPr>
            <p:nvPr/>
          </p:nvSpPr>
          <p:spPr bwMode="auto">
            <a:xfrm>
              <a:off x="1311" y="1228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2" name="Rectangle 30"/>
            <p:cNvSpPr>
              <a:spLocks noChangeArrowheads="1"/>
            </p:cNvSpPr>
            <p:nvPr/>
          </p:nvSpPr>
          <p:spPr bwMode="auto">
            <a:xfrm>
              <a:off x="1328" y="1228"/>
              <a:ext cx="78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83" name="Line 31"/>
            <p:cNvSpPr>
              <a:spLocks noChangeShapeType="1"/>
            </p:cNvSpPr>
            <p:nvPr/>
          </p:nvSpPr>
          <p:spPr bwMode="auto">
            <a:xfrm>
              <a:off x="1328" y="1228"/>
              <a:ext cx="7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4" name="Rectangle 32"/>
            <p:cNvSpPr>
              <a:spLocks noChangeArrowheads="1"/>
            </p:cNvSpPr>
            <p:nvPr/>
          </p:nvSpPr>
          <p:spPr bwMode="auto">
            <a:xfrm>
              <a:off x="2115" y="1228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85" name="Line 33"/>
            <p:cNvSpPr>
              <a:spLocks noChangeShapeType="1"/>
            </p:cNvSpPr>
            <p:nvPr/>
          </p:nvSpPr>
          <p:spPr bwMode="auto">
            <a:xfrm>
              <a:off x="2115" y="1228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6" name="Line 34"/>
            <p:cNvSpPr>
              <a:spLocks noChangeShapeType="1"/>
            </p:cNvSpPr>
            <p:nvPr/>
          </p:nvSpPr>
          <p:spPr bwMode="auto">
            <a:xfrm>
              <a:off x="2115" y="1228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7" name="Rectangle 35"/>
            <p:cNvSpPr>
              <a:spLocks noChangeArrowheads="1"/>
            </p:cNvSpPr>
            <p:nvPr/>
          </p:nvSpPr>
          <p:spPr bwMode="auto">
            <a:xfrm>
              <a:off x="2132" y="1228"/>
              <a:ext cx="792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88" name="Line 36"/>
            <p:cNvSpPr>
              <a:spLocks noChangeShapeType="1"/>
            </p:cNvSpPr>
            <p:nvPr/>
          </p:nvSpPr>
          <p:spPr bwMode="auto">
            <a:xfrm>
              <a:off x="2132" y="1228"/>
              <a:ext cx="7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9" name="Rectangle 37"/>
            <p:cNvSpPr>
              <a:spLocks noChangeArrowheads="1"/>
            </p:cNvSpPr>
            <p:nvPr/>
          </p:nvSpPr>
          <p:spPr bwMode="auto">
            <a:xfrm>
              <a:off x="1311" y="1245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90" name="Line 38"/>
            <p:cNvSpPr>
              <a:spLocks noChangeShapeType="1"/>
            </p:cNvSpPr>
            <p:nvPr/>
          </p:nvSpPr>
          <p:spPr bwMode="auto">
            <a:xfrm>
              <a:off x="1311" y="1245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1" name="Rectangle 39"/>
            <p:cNvSpPr>
              <a:spLocks noChangeArrowheads="1"/>
            </p:cNvSpPr>
            <p:nvPr/>
          </p:nvSpPr>
          <p:spPr bwMode="auto">
            <a:xfrm>
              <a:off x="2115" y="1245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92" name="Line 40"/>
            <p:cNvSpPr>
              <a:spLocks noChangeShapeType="1"/>
            </p:cNvSpPr>
            <p:nvPr/>
          </p:nvSpPr>
          <p:spPr bwMode="auto">
            <a:xfrm>
              <a:off x="2115" y="1245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3" name="Rectangle 41"/>
            <p:cNvSpPr>
              <a:spLocks noChangeArrowheads="1"/>
            </p:cNvSpPr>
            <p:nvPr/>
          </p:nvSpPr>
          <p:spPr bwMode="auto">
            <a:xfrm>
              <a:off x="761" y="177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94" name="Rectangle 42"/>
            <p:cNvSpPr>
              <a:spLocks noChangeArrowheads="1"/>
            </p:cNvSpPr>
            <p:nvPr/>
          </p:nvSpPr>
          <p:spPr bwMode="auto">
            <a:xfrm>
              <a:off x="1565" y="1775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11395" name="Rectangle 43"/>
            <p:cNvSpPr>
              <a:spLocks noChangeArrowheads="1"/>
            </p:cNvSpPr>
            <p:nvPr/>
          </p:nvSpPr>
          <p:spPr bwMode="auto">
            <a:xfrm>
              <a:off x="2366" y="1775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1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396" name="Rectangle 44"/>
            <p:cNvSpPr>
              <a:spLocks noChangeArrowheads="1"/>
            </p:cNvSpPr>
            <p:nvPr/>
          </p:nvSpPr>
          <p:spPr bwMode="auto">
            <a:xfrm>
              <a:off x="1311" y="1694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97" name="Line 45"/>
            <p:cNvSpPr>
              <a:spLocks noChangeShapeType="1"/>
            </p:cNvSpPr>
            <p:nvPr/>
          </p:nvSpPr>
          <p:spPr bwMode="auto">
            <a:xfrm>
              <a:off x="1311" y="1694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8" name="Rectangle 46"/>
            <p:cNvSpPr>
              <a:spLocks noChangeArrowheads="1"/>
            </p:cNvSpPr>
            <p:nvPr/>
          </p:nvSpPr>
          <p:spPr bwMode="auto">
            <a:xfrm>
              <a:off x="2115" y="1694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99" name="Line 47"/>
            <p:cNvSpPr>
              <a:spLocks noChangeShapeType="1"/>
            </p:cNvSpPr>
            <p:nvPr/>
          </p:nvSpPr>
          <p:spPr bwMode="auto">
            <a:xfrm>
              <a:off x="2115" y="1694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0" name="Rectangle 48"/>
            <p:cNvSpPr>
              <a:spLocks noChangeArrowheads="1"/>
            </p:cNvSpPr>
            <p:nvPr/>
          </p:nvSpPr>
          <p:spPr bwMode="auto">
            <a:xfrm>
              <a:off x="701" y="2224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11401" name="Rectangle 49"/>
            <p:cNvSpPr>
              <a:spLocks noChangeArrowheads="1"/>
            </p:cNvSpPr>
            <p:nvPr/>
          </p:nvSpPr>
          <p:spPr bwMode="auto">
            <a:xfrm>
              <a:off x="1625" y="2236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0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402" name="Rectangle 50"/>
            <p:cNvSpPr>
              <a:spLocks noChangeArrowheads="1"/>
            </p:cNvSpPr>
            <p:nvPr/>
          </p:nvSpPr>
          <p:spPr bwMode="auto">
            <a:xfrm>
              <a:off x="2354" y="2224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FF0000"/>
                  </a:solidFill>
                </a:rPr>
                <a:t>1</a:t>
              </a:r>
              <a:endParaRPr lang="en-US" altLang="zh-CN" sz="2800" b="1">
                <a:solidFill>
                  <a:srgbClr val="FF0000"/>
                </a:solidFill>
              </a:endParaRPr>
            </a:p>
          </p:txBody>
        </p:sp>
        <p:sp>
          <p:nvSpPr>
            <p:cNvPr id="11403" name="Rectangle 51"/>
            <p:cNvSpPr>
              <a:spLocks noChangeArrowheads="1"/>
            </p:cNvSpPr>
            <p:nvPr/>
          </p:nvSpPr>
          <p:spPr bwMode="auto">
            <a:xfrm>
              <a:off x="1311" y="214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04" name="Line 52"/>
            <p:cNvSpPr>
              <a:spLocks noChangeShapeType="1"/>
            </p:cNvSpPr>
            <p:nvPr/>
          </p:nvSpPr>
          <p:spPr bwMode="auto">
            <a:xfrm>
              <a:off x="1311" y="214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5" name="Rectangle 53"/>
            <p:cNvSpPr>
              <a:spLocks noChangeArrowheads="1"/>
            </p:cNvSpPr>
            <p:nvPr/>
          </p:nvSpPr>
          <p:spPr bwMode="auto">
            <a:xfrm>
              <a:off x="2115" y="214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06" name="Line 54"/>
            <p:cNvSpPr>
              <a:spLocks noChangeShapeType="1"/>
            </p:cNvSpPr>
            <p:nvPr/>
          </p:nvSpPr>
          <p:spPr bwMode="auto">
            <a:xfrm>
              <a:off x="2115" y="214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07" name="Rectangle 55"/>
            <p:cNvSpPr>
              <a:spLocks noChangeArrowheads="1"/>
            </p:cNvSpPr>
            <p:nvPr/>
          </p:nvSpPr>
          <p:spPr bwMode="auto">
            <a:xfrm>
              <a:off x="689" y="2670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11408" name="Rectangle 56"/>
            <p:cNvSpPr>
              <a:spLocks noChangeArrowheads="1"/>
            </p:cNvSpPr>
            <p:nvPr/>
          </p:nvSpPr>
          <p:spPr bwMode="auto">
            <a:xfrm>
              <a:off x="1565" y="2670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11409" name="Rectangle 57"/>
            <p:cNvSpPr>
              <a:spLocks noChangeArrowheads="1"/>
            </p:cNvSpPr>
            <p:nvPr/>
          </p:nvSpPr>
          <p:spPr bwMode="auto">
            <a:xfrm>
              <a:off x="2270" y="2670"/>
              <a:ext cx="22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>
                  <a:solidFill>
                    <a:srgbClr val="FF0000"/>
                  </a:solidFill>
                </a:rPr>
                <a:t>１</a:t>
              </a:r>
              <a:endParaRPr lang="zh-CN" altLang="en-US" sz="2800" b="1">
                <a:solidFill>
                  <a:srgbClr val="FF0000"/>
                </a:solidFill>
              </a:endParaRPr>
            </a:p>
          </p:txBody>
        </p:sp>
        <p:sp>
          <p:nvSpPr>
            <p:cNvPr id="11410" name="Rectangle 58"/>
            <p:cNvSpPr>
              <a:spLocks noChangeArrowheads="1"/>
            </p:cNvSpPr>
            <p:nvPr/>
          </p:nvSpPr>
          <p:spPr bwMode="auto">
            <a:xfrm>
              <a:off x="514" y="3039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11" name="Line 59"/>
            <p:cNvSpPr>
              <a:spLocks noChangeShapeType="1"/>
            </p:cNvSpPr>
            <p:nvPr/>
          </p:nvSpPr>
          <p:spPr bwMode="auto">
            <a:xfrm>
              <a:off x="514" y="3039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2" name="Rectangle 60"/>
            <p:cNvSpPr>
              <a:spLocks noChangeArrowheads="1"/>
            </p:cNvSpPr>
            <p:nvPr/>
          </p:nvSpPr>
          <p:spPr bwMode="auto">
            <a:xfrm>
              <a:off x="1311" y="2590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13" name="Line 61"/>
            <p:cNvSpPr>
              <a:spLocks noChangeShapeType="1"/>
            </p:cNvSpPr>
            <p:nvPr/>
          </p:nvSpPr>
          <p:spPr bwMode="auto">
            <a:xfrm>
              <a:off x="1311" y="2590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4" name="Rectangle 62"/>
            <p:cNvSpPr>
              <a:spLocks noChangeArrowheads="1"/>
            </p:cNvSpPr>
            <p:nvPr/>
          </p:nvSpPr>
          <p:spPr bwMode="auto">
            <a:xfrm>
              <a:off x="1311" y="3039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15" name="Line 63"/>
            <p:cNvSpPr>
              <a:spLocks noChangeShapeType="1"/>
            </p:cNvSpPr>
            <p:nvPr/>
          </p:nvSpPr>
          <p:spPr bwMode="auto">
            <a:xfrm>
              <a:off x="1311" y="3039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6" name="Line 64"/>
            <p:cNvSpPr>
              <a:spLocks noChangeShapeType="1"/>
            </p:cNvSpPr>
            <p:nvPr/>
          </p:nvSpPr>
          <p:spPr bwMode="auto">
            <a:xfrm>
              <a:off x="1311" y="30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7" name="Rectangle 65"/>
            <p:cNvSpPr>
              <a:spLocks noChangeArrowheads="1"/>
            </p:cNvSpPr>
            <p:nvPr/>
          </p:nvSpPr>
          <p:spPr bwMode="auto">
            <a:xfrm>
              <a:off x="1334" y="3039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18" name="Line 66"/>
            <p:cNvSpPr>
              <a:spLocks noChangeShapeType="1"/>
            </p:cNvSpPr>
            <p:nvPr/>
          </p:nvSpPr>
          <p:spPr bwMode="auto">
            <a:xfrm>
              <a:off x="1334" y="3039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19" name="Rectangle 67"/>
            <p:cNvSpPr>
              <a:spLocks noChangeArrowheads="1"/>
            </p:cNvSpPr>
            <p:nvPr/>
          </p:nvSpPr>
          <p:spPr bwMode="auto">
            <a:xfrm>
              <a:off x="2115" y="2590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20" name="Line 68"/>
            <p:cNvSpPr>
              <a:spLocks noChangeShapeType="1"/>
            </p:cNvSpPr>
            <p:nvPr/>
          </p:nvSpPr>
          <p:spPr bwMode="auto">
            <a:xfrm>
              <a:off x="2115" y="2590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1" name="Rectangle 69"/>
            <p:cNvSpPr>
              <a:spLocks noChangeArrowheads="1"/>
            </p:cNvSpPr>
            <p:nvPr/>
          </p:nvSpPr>
          <p:spPr bwMode="auto">
            <a:xfrm>
              <a:off x="2115" y="3039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22" name="Line 70"/>
            <p:cNvSpPr>
              <a:spLocks noChangeShapeType="1"/>
            </p:cNvSpPr>
            <p:nvPr/>
          </p:nvSpPr>
          <p:spPr bwMode="auto">
            <a:xfrm>
              <a:off x="2115" y="3039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3" name="Line 71"/>
            <p:cNvSpPr>
              <a:spLocks noChangeShapeType="1"/>
            </p:cNvSpPr>
            <p:nvPr/>
          </p:nvSpPr>
          <p:spPr bwMode="auto">
            <a:xfrm>
              <a:off x="2115" y="3039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24" name="Rectangle 72"/>
            <p:cNvSpPr>
              <a:spLocks noChangeArrowheads="1"/>
            </p:cNvSpPr>
            <p:nvPr/>
          </p:nvSpPr>
          <p:spPr bwMode="auto">
            <a:xfrm>
              <a:off x="2138" y="3039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425" name="Line 73"/>
            <p:cNvSpPr>
              <a:spLocks noChangeShapeType="1"/>
            </p:cNvSpPr>
            <p:nvPr/>
          </p:nvSpPr>
          <p:spPr bwMode="auto">
            <a:xfrm>
              <a:off x="2138" y="3039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6858" name="Text Box 74"/>
          <p:cNvSpPr txBox="1">
            <a:spLocks noChangeArrowheads="1"/>
          </p:cNvSpPr>
          <p:nvPr/>
        </p:nvSpPr>
        <p:spPr bwMode="auto">
          <a:xfrm>
            <a:off x="763730" y="5011885"/>
            <a:ext cx="3143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 </a:t>
            </a:r>
            <a:r>
              <a:rPr lang="zh-CN" altLang="en-US" b="1"/>
              <a:t>优点：简单</a:t>
            </a:r>
            <a:endParaRPr lang="zh-CN" altLang="en-US" b="1"/>
          </a:p>
        </p:txBody>
      </p:sp>
      <p:sp>
        <p:nvSpPr>
          <p:cNvPr id="246859" name="Text Box 75"/>
          <p:cNvSpPr txBox="1">
            <a:spLocks noChangeArrowheads="1"/>
          </p:cNvSpPr>
          <p:nvPr/>
        </p:nvSpPr>
        <p:spPr bwMode="auto">
          <a:xfrm>
            <a:off x="838199" y="5579925"/>
            <a:ext cx="782089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缺点：输出的高、低电平数值和输入的高、低电平数值不等，相差一个二极管的导通压降，如果把这个门的输出作为一级门的输入，将发生信号高、低电平的偏移　　　　</a:t>
            </a:r>
            <a:endParaRPr lang="zh-CN" altLang="en-US" b="1" dirty="0"/>
          </a:p>
        </p:txBody>
      </p:sp>
      <p:grpSp>
        <p:nvGrpSpPr>
          <p:cNvPr id="11269" name="Group 76"/>
          <p:cNvGrpSpPr/>
          <p:nvPr/>
        </p:nvGrpSpPr>
        <p:grpSpPr bwMode="auto">
          <a:xfrm>
            <a:off x="4721225" y="850900"/>
            <a:ext cx="3825875" cy="3660775"/>
            <a:chOff x="2974" y="504"/>
            <a:chExt cx="2410" cy="2306"/>
          </a:xfrm>
        </p:grpSpPr>
        <p:sp>
          <p:nvSpPr>
            <p:cNvPr id="11284" name="Rectangle 77"/>
            <p:cNvSpPr>
              <a:spLocks noChangeArrowheads="1"/>
            </p:cNvSpPr>
            <p:nvPr/>
          </p:nvSpPr>
          <p:spPr bwMode="auto">
            <a:xfrm>
              <a:off x="3043" y="596"/>
              <a:ext cx="4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A</a:t>
              </a:r>
              <a:r>
                <a:rPr lang="zh-CN" altLang="en-US" sz="2800"/>
                <a:t>／</a:t>
              </a:r>
              <a:r>
                <a:rPr lang="en-US" altLang="zh-CN" sz="2800"/>
                <a:t>v</a:t>
              </a:r>
              <a:endParaRPr lang="en-US" altLang="zh-CN" sz="2800" b="1"/>
            </a:p>
          </p:txBody>
        </p:sp>
        <p:sp>
          <p:nvSpPr>
            <p:cNvPr id="11285" name="Rectangle 78"/>
            <p:cNvSpPr>
              <a:spLocks noChangeArrowheads="1"/>
            </p:cNvSpPr>
            <p:nvPr/>
          </p:nvSpPr>
          <p:spPr bwMode="auto">
            <a:xfrm>
              <a:off x="2974" y="504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286" name="Line 79"/>
            <p:cNvSpPr>
              <a:spLocks noChangeShapeType="1"/>
            </p:cNvSpPr>
            <p:nvPr/>
          </p:nvSpPr>
          <p:spPr bwMode="auto">
            <a:xfrm>
              <a:off x="2974" y="504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Rectangle 80"/>
            <p:cNvSpPr>
              <a:spLocks noChangeArrowheads="1"/>
            </p:cNvSpPr>
            <p:nvPr/>
          </p:nvSpPr>
          <p:spPr bwMode="auto">
            <a:xfrm>
              <a:off x="3771" y="50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288" name="Line 81"/>
            <p:cNvSpPr>
              <a:spLocks noChangeShapeType="1"/>
            </p:cNvSpPr>
            <p:nvPr/>
          </p:nvSpPr>
          <p:spPr bwMode="auto">
            <a:xfrm>
              <a:off x="3771" y="50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Line 82"/>
            <p:cNvSpPr>
              <a:spLocks noChangeShapeType="1"/>
            </p:cNvSpPr>
            <p:nvPr/>
          </p:nvSpPr>
          <p:spPr bwMode="auto">
            <a:xfrm>
              <a:off x="3771" y="50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Rectangle 83"/>
            <p:cNvSpPr>
              <a:spLocks noChangeArrowheads="1"/>
            </p:cNvSpPr>
            <p:nvPr/>
          </p:nvSpPr>
          <p:spPr bwMode="auto">
            <a:xfrm>
              <a:off x="3794" y="504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291" name="Line 84"/>
            <p:cNvSpPr>
              <a:spLocks noChangeShapeType="1"/>
            </p:cNvSpPr>
            <p:nvPr/>
          </p:nvSpPr>
          <p:spPr bwMode="auto">
            <a:xfrm>
              <a:off x="3794" y="504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Rectangle 85"/>
            <p:cNvSpPr>
              <a:spLocks noChangeArrowheads="1"/>
            </p:cNvSpPr>
            <p:nvPr/>
          </p:nvSpPr>
          <p:spPr bwMode="auto">
            <a:xfrm>
              <a:off x="4575" y="504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293" name="Line 86"/>
            <p:cNvSpPr>
              <a:spLocks noChangeShapeType="1"/>
            </p:cNvSpPr>
            <p:nvPr/>
          </p:nvSpPr>
          <p:spPr bwMode="auto">
            <a:xfrm>
              <a:off x="4575" y="504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87"/>
            <p:cNvSpPr>
              <a:spLocks noChangeShapeType="1"/>
            </p:cNvSpPr>
            <p:nvPr/>
          </p:nvSpPr>
          <p:spPr bwMode="auto">
            <a:xfrm>
              <a:off x="4575" y="504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Rectangle 88"/>
            <p:cNvSpPr>
              <a:spLocks noChangeArrowheads="1"/>
            </p:cNvSpPr>
            <p:nvPr/>
          </p:nvSpPr>
          <p:spPr bwMode="auto">
            <a:xfrm>
              <a:off x="4598" y="504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296" name="Line 89"/>
            <p:cNvSpPr>
              <a:spLocks noChangeShapeType="1"/>
            </p:cNvSpPr>
            <p:nvPr/>
          </p:nvSpPr>
          <p:spPr bwMode="auto">
            <a:xfrm>
              <a:off x="4598" y="504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Rectangle 90"/>
            <p:cNvSpPr>
              <a:spLocks noChangeArrowheads="1"/>
            </p:cNvSpPr>
            <p:nvPr/>
          </p:nvSpPr>
          <p:spPr bwMode="auto">
            <a:xfrm>
              <a:off x="3771" y="52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298" name="Line 91"/>
            <p:cNvSpPr>
              <a:spLocks noChangeShapeType="1"/>
            </p:cNvSpPr>
            <p:nvPr/>
          </p:nvSpPr>
          <p:spPr bwMode="auto">
            <a:xfrm>
              <a:off x="3771" y="52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Rectangle 92"/>
            <p:cNvSpPr>
              <a:spLocks noChangeArrowheads="1"/>
            </p:cNvSpPr>
            <p:nvPr/>
          </p:nvSpPr>
          <p:spPr bwMode="auto">
            <a:xfrm>
              <a:off x="4575" y="527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00" name="Line 93"/>
            <p:cNvSpPr>
              <a:spLocks noChangeShapeType="1"/>
            </p:cNvSpPr>
            <p:nvPr/>
          </p:nvSpPr>
          <p:spPr bwMode="auto">
            <a:xfrm>
              <a:off x="4575" y="527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1" name="Rectangle 94"/>
            <p:cNvSpPr>
              <a:spLocks noChangeArrowheads="1"/>
            </p:cNvSpPr>
            <p:nvPr/>
          </p:nvSpPr>
          <p:spPr bwMode="auto">
            <a:xfrm>
              <a:off x="3221" y="107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</a:t>
              </a:r>
              <a:endParaRPr lang="en-US" altLang="zh-CN" sz="2800" b="1"/>
            </a:p>
          </p:txBody>
        </p:sp>
        <p:sp>
          <p:nvSpPr>
            <p:cNvPr id="11302" name="Rectangle 95"/>
            <p:cNvSpPr>
              <a:spLocks noChangeArrowheads="1"/>
            </p:cNvSpPr>
            <p:nvPr/>
          </p:nvSpPr>
          <p:spPr bwMode="auto">
            <a:xfrm>
              <a:off x="4025" y="107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</a:t>
              </a:r>
              <a:endParaRPr lang="en-US" altLang="zh-CN" sz="2800" b="1"/>
            </a:p>
          </p:txBody>
        </p:sp>
        <p:sp>
          <p:nvSpPr>
            <p:cNvPr id="11303" name="Rectangle 96"/>
            <p:cNvSpPr>
              <a:spLocks noChangeArrowheads="1"/>
            </p:cNvSpPr>
            <p:nvPr/>
          </p:nvSpPr>
          <p:spPr bwMode="auto">
            <a:xfrm>
              <a:off x="4730" y="1077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</a:t>
              </a:r>
              <a:endParaRPr lang="en-US" altLang="zh-CN" sz="2800" b="1"/>
            </a:p>
          </p:txBody>
        </p:sp>
        <p:sp>
          <p:nvSpPr>
            <p:cNvPr id="11304" name="Rectangle 97"/>
            <p:cNvSpPr>
              <a:spLocks noChangeArrowheads="1"/>
            </p:cNvSpPr>
            <p:nvPr/>
          </p:nvSpPr>
          <p:spPr bwMode="auto">
            <a:xfrm>
              <a:off x="2974" y="976"/>
              <a:ext cx="79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05" name="Line 98"/>
            <p:cNvSpPr>
              <a:spLocks noChangeShapeType="1"/>
            </p:cNvSpPr>
            <p:nvPr/>
          </p:nvSpPr>
          <p:spPr bwMode="auto">
            <a:xfrm>
              <a:off x="2974" y="976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Rectangle 99"/>
            <p:cNvSpPr>
              <a:spLocks noChangeArrowheads="1"/>
            </p:cNvSpPr>
            <p:nvPr/>
          </p:nvSpPr>
          <p:spPr bwMode="auto">
            <a:xfrm>
              <a:off x="3771" y="97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07" name="Line 100"/>
            <p:cNvSpPr>
              <a:spLocks noChangeShapeType="1"/>
            </p:cNvSpPr>
            <p:nvPr/>
          </p:nvSpPr>
          <p:spPr bwMode="auto">
            <a:xfrm>
              <a:off x="3771" y="97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8" name="Line 101"/>
            <p:cNvSpPr>
              <a:spLocks noChangeShapeType="1"/>
            </p:cNvSpPr>
            <p:nvPr/>
          </p:nvSpPr>
          <p:spPr bwMode="auto">
            <a:xfrm>
              <a:off x="3771" y="97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Rectangle 102"/>
            <p:cNvSpPr>
              <a:spLocks noChangeArrowheads="1"/>
            </p:cNvSpPr>
            <p:nvPr/>
          </p:nvSpPr>
          <p:spPr bwMode="auto">
            <a:xfrm>
              <a:off x="3788" y="976"/>
              <a:ext cx="78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10" name="Line 103"/>
            <p:cNvSpPr>
              <a:spLocks noChangeShapeType="1"/>
            </p:cNvSpPr>
            <p:nvPr/>
          </p:nvSpPr>
          <p:spPr bwMode="auto">
            <a:xfrm>
              <a:off x="3788" y="976"/>
              <a:ext cx="78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Rectangle 104"/>
            <p:cNvSpPr>
              <a:spLocks noChangeArrowheads="1"/>
            </p:cNvSpPr>
            <p:nvPr/>
          </p:nvSpPr>
          <p:spPr bwMode="auto">
            <a:xfrm>
              <a:off x="4575" y="976"/>
              <a:ext cx="17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12" name="Line 105"/>
            <p:cNvSpPr>
              <a:spLocks noChangeShapeType="1"/>
            </p:cNvSpPr>
            <p:nvPr/>
          </p:nvSpPr>
          <p:spPr bwMode="auto">
            <a:xfrm>
              <a:off x="4575" y="976"/>
              <a:ext cx="1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Line 106"/>
            <p:cNvSpPr>
              <a:spLocks noChangeShapeType="1"/>
            </p:cNvSpPr>
            <p:nvPr/>
          </p:nvSpPr>
          <p:spPr bwMode="auto">
            <a:xfrm>
              <a:off x="4575" y="976"/>
              <a:ext cx="1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Rectangle 107"/>
            <p:cNvSpPr>
              <a:spLocks noChangeArrowheads="1"/>
            </p:cNvSpPr>
            <p:nvPr/>
          </p:nvSpPr>
          <p:spPr bwMode="auto">
            <a:xfrm>
              <a:off x="4592" y="976"/>
              <a:ext cx="792" cy="1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15" name="Line 108"/>
            <p:cNvSpPr>
              <a:spLocks noChangeShapeType="1"/>
            </p:cNvSpPr>
            <p:nvPr/>
          </p:nvSpPr>
          <p:spPr bwMode="auto">
            <a:xfrm>
              <a:off x="4592" y="976"/>
              <a:ext cx="79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6" name="Rectangle 109"/>
            <p:cNvSpPr>
              <a:spLocks noChangeArrowheads="1"/>
            </p:cNvSpPr>
            <p:nvPr/>
          </p:nvSpPr>
          <p:spPr bwMode="auto">
            <a:xfrm>
              <a:off x="3771" y="99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17" name="Line 110"/>
            <p:cNvSpPr>
              <a:spLocks noChangeShapeType="1"/>
            </p:cNvSpPr>
            <p:nvPr/>
          </p:nvSpPr>
          <p:spPr bwMode="auto">
            <a:xfrm>
              <a:off x="3771" y="99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Rectangle 111"/>
            <p:cNvSpPr>
              <a:spLocks noChangeArrowheads="1"/>
            </p:cNvSpPr>
            <p:nvPr/>
          </p:nvSpPr>
          <p:spPr bwMode="auto">
            <a:xfrm>
              <a:off x="4575" y="993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19" name="Line 112"/>
            <p:cNvSpPr>
              <a:spLocks noChangeShapeType="1"/>
            </p:cNvSpPr>
            <p:nvPr/>
          </p:nvSpPr>
          <p:spPr bwMode="auto">
            <a:xfrm>
              <a:off x="4575" y="993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Rectangle 113"/>
            <p:cNvSpPr>
              <a:spLocks noChangeArrowheads="1"/>
            </p:cNvSpPr>
            <p:nvPr/>
          </p:nvSpPr>
          <p:spPr bwMode="auto">
            <a:xfrm>
              <a:off x="3221" y="152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</a:t>
              </a:r>
              <a:endParaRPr lang="en-US" altLang="zh-CN" sz="2800" b="1"/>
            </a:p>
          </p:txBody>
        </p:sp>
        <p:sp>
          <p:nvSpPr>
            <p:cNvPr id="11321" name="Rectangle 114"/>
            <p:cNvSpPr>
              <a:spLocks noChangeArrowheads="1"/>
            </p:cNvSpPr>
            <p:nvPr/>
          </p:nvSpPr>
          <p:spPr bwMode="auto">
            <a:xfrm>
              <a:off x="4025" y="1523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</a:t>
              </a:r>
              <a:endParaRPr lang="en-US" altLang="zh-CN" sz="2800" b="1"/>
            </a:p>
          </p:txBody>
        </p:sp>
        <p:sp>
          <p:nvSpPr>
            <p:cNvPr id="11322" name="Rectangle 115"/>
            <p:cNvSpPr>
              <a:spLocks noChangeArrowheads="1"/>
            </p:cNvSpPr>
            <p:nvPr/>
          </p:nvSpPr>
          <p:spPr bwMode="auto">
            <a:xfrm>
              <a:off x="4730" y="1523"/>
              <a:ext cx="28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2.3</a:t>
              </a:r>
              <a:endParaRPr lang="en-US" altLang="zh-CN" sz="2800" b="1"/>
            </a:p>
          </p:txBody>
        </p:sp>
        <p:sp>
          <p:nvSpPr>
            <p:cNvPr id="11323" name="Rectangle 116"/>
            <p:cNvSpPr>
              <a:spLocks noChangeArrowheads="1"/>
            </p:cNvSpPr>
            <p:nvPr/>
          </p:nvSpPr>
          <p:spPr bwMode="auto">
            <a:xfrm>
              <a:off x="3771" y="144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24" name="Line 117"/>
            <p:cNvSpPr>
              <a:spLocks noChangeShapeType="1"/>
            </p:cNvSpPr>
            <p:nvPr/>
          </p:nvSpPr>
          <p:spPr bwMode="auto">
            <a:xfrm>
              <a:off x="3771" y="144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Rectangle 118"/>
            <p:cNvSpPr>
              <a:spLocks noChangeArrowheads="1"/>
            </p:cNvSpPr>
            <p:nvPr/>
          </p:nvSpPr>
          <p:spPr bwMode="auto">
            <a:xfrm>
              <a:off x="4575" y="1442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26" name="Line 119"/>
            <p:cNvSpPr>
              <a:spLocks noChangeShapeType="1"/>
            </p:cNvSpPr>
            <p:nvPr/>
          </p:nvSpPr>
          <p:spPr bwMode="auto">
            <a:xfrm>
              <a:off x="4575" y="1442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7" name="Rectangle 120"/>
            <p:cNvSpPr>
              <a:spLocks noChangeArrowheads="1"/>
            </p:cNvSpPr>
            <p:nvPr/>
          </p:nvSpPr>
          <p:spPr bwMode="auto">
            <a:xfrm>
              <a:off x="3221" y="197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</a:t>
              </a:r>
              <a:endParaRPr lang="en-US" altLang="zh-CN" sz="2800" b="1"/>
            </a:p>
          </p:txBody>
        </p:sp>
        <p:sp>
          <p:nvSpPr>
            <p:cNvPr id="11328" name="Rectangle 121"/>
            <p:cNvSpPr>
              <a:spLocks noChangeArrowheads="1"/>
            </p:cNvSpPr>
            <p:nvPr/>
          </p:nvSpPr>
          <p:spPr bwMode="auto">
            <a:xfrm>
              <a:off x="4025" y="197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0</a:t>
              </a:r>
              <a:endParaRPr lang="en-US" altLang="zh-CN" sz="2800" b="1"/>
            </a:p>
          </p:txBody>
        </p:sp>
        <p:sp>
          <p:nvSpPr>
            <p:cNvPr id="11329" name="Rectangle 122"/>
            <p:cNvSpPr>
              <a:spLocks noChangeArrowheads="1"/>
            </p:cNvSpPr>
            <p:nvPr/>
          </p:nvSpPr>
          <p:spPr bwMode="auto">
            <a:xfrm>
              <a:off x="4730" y="1972"/>
              <a:ext cx="28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2.3</a:t>
              </a:r>
              <a:endParaRPr lang="en-US" altLang="zh-CN" sz="2800" b="1"/>
            </a:p>
          </p:txBody>
        </p:sp>
        <p:sp>
          <p:nvSpPr>
            <p:cNvPr id="11330" name="Rectangle 123"/>
            <p:cNvSpPr>
              <a:spLocks noChangeArrowheads="1"/>
            </p:cNvSpPr>
            <p:nvPr/>
          </p:nvSpPr>
          <p:spPr bwMode="auto">
            <a:xfrm>
              <a:off x="3771" y="189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31" name="Line 124"/>
            <p:cNvSpPr>
              <a:spLocks noChangeShapeType="1"/>
            </p:cNvSpPr>
            <p:nvPr/>
          </p:nvSpPr>
          <p:spPr bwMode="auto">
            <a:xfrm>
              <a:off x="3771" y="189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2" name="Rectangle 125"/>
            <p:cNvSpPr>
              <a:spLocks noChangeArrowheads="1"/>
            </p:cNvSpPr>
            <p:nvPr/>
          </p:nvSpPr>
          <p:spPr bwMode="auto">
            <a:xfrm>
              <a:off x="4575" y="1891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33" name="Line 126"/>
            <p:cNvSpPr>
              <a:spLocks noChangeShapeType="1"/>
            </p:cNvSpPr>
            <p:nvPr/>
          </p:nvSpPr>
          <p:spPr bwMode="auto">
            <a:xfrm>
              <a:off x="4575" y="1891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4" name="Rectangle 127"/>
            <p:cNvSpPr>
              <a:spLocks noChangeArrowheads="1"/>
            </p:cNvSpPr>
            <p:nvPr/>
          </p:nvSpPr>
          <p:spPr bwMode="auto">
            <a:xfrm>
              <a:off x="3221" y="241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</a:t>
              </a:r>
              <a:endParaRPr lang="en-US" altLang="zh-CN" sz="2800" b="1"/>
            </a:p>
          </p:txBody>
        </p:sp>
        <p:sp>
          <p:nvSpPr>
            <p:cNvPr id="11335" name="Rectangle 128"/>
            <p:cNvSpPr>
              <a:spLocks noChangeArrowheads="1"/>
            </p:cNvSpPr>
            <p:nvPr/>
          </p:nvSpPr>
          <p:spPr bwMode="auto">
            <a:xfrm>
              <a:off x="4025" y="241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3</a:t>
              </a:r>
              <a:endParaRPr lang="en-US" altLang="zh-CN" sz="2800" b="1"/>
            </a:p>
          </p:txBody>
        </p:sp>
        <p:sp>
          <p:nvSpPr>
            <p:cNvPr id="11336" name="Rectangle 129"/>
            <p:cNvSpPr>
              <a:spLocks noChangeArrowheads="1"/>
            </p:cNvSpPr>
            <p:nvPr/>
          </p:nvSpPr>
          <p:spPr bwMode="auto">
            <a:xfrm>
              <a:off x="4730" y="2418"/>
              <a:ext cx="28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2.3</a:t>
              </a:r>
              <a:endParaRPr lang="en-US" altLang="zh-CN" sz="2800" b="1"/>
            </a:p>
          </p:txBody>
        </p:sp>
        <p:sp>
          <p:nvSpPr>
            <p:cNvPr id="11337" name="Rectangle 130"/>
            <p:cNvSpPr>
              <a:spLocks noChangeArrowheads="1"/>
            </p:cNvSpPr>
            <p:nvPr/>
          </p:nvSpPr>
          <p:spPr bwMode="auto">
            <a:xfrm>
              <a:off x="2974" y="2787"/>
              <a:ext cx="797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38" name="Line 131"/>
            <p:cNvSpPr>
              <a:spLocks noChangeShapeType="1"/>
            </p:cNvSpPr>
            <p:nvPr/>
          </p:nvSpPr>
          <p:spPr bwMode="auto">
            <a:xfrm>
              <a:off x="2974" y="2787"/>
              <a:ext cx="797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9" name="Rectangle 132"/>
            <p:cNvSpPr>
              <a:spLocks noChangeArrowheads="1"/>
            </p:cNvSpPr>
            <p:nvPr/>
          </p:nvSpPr>
          <p:spPr bwMode="auto">
            <a:xfrm>
              <a:off x="3771" y="233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40" name="Line 133"/>
            <p:cNvSpPr>
              <a:spLocks noChangeShapeType="1"/>
            </p:cNvSpPr>
            <p:nvPr/>
          </p:nvSpPr>
          <p:spPr bwMode="auto">
            <a:xfrm>
              <a:off x="3771" y="233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Rectangle 134"/>
            <p:cNvSpPr>
              <a:spLocks noChangeArrowheads="1"/>
            </p:cNvSpPr>
            <p:nvPr/>
          </p:nvSpPr>
          <p:spPr bwMode="auto">
            <a:xfrm>
              <a:off x="3771" y="278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42" name="Line 135"/>
            <p:cNvSpPr>
              <a:spLocks noChangeShapeType="1"/>
            </p:cNvSpPr>
            <p:nvPr/>
          </p:nvSpPr>
          <p:spPr bwMode="auto">
            <a:xfrm>
              <a:off x="3771" y="278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Line 136"/>
            <p:cNvSpPr>
              <a:spLocks noChangeShapeType="1"/>
            </p:cNvSpPr>
            <p:nvPr/>
          </p:nvSpPr>
          <p:spPr bwMode="auto">
            <a:xfrm>
              <a:off x="3771" y="278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Rectangle 137"/>
            <p:cNvSpPr>
              <a:spLocks noChangeArrowheads="1"/>
            </p:cNvSpPr>
            <p:nvPr/>
          </p:nvSpPr>
          <p:spPr bwMode="auto">
            <a:xfrm>
              <a:off x="3794" y="2787"/>
              <a:ext cx="781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45" name="Line 138"/>
            <p:cNvSpPr>
              <a:spLocks noChangeShapeType="1"/>
            </p:cNvSpPr>
            <p:nvPr/>
          </p:nvSpPr>
          <p:spPr bwMode="auto">
            <a:xfrm>
              <a:off x="3794" y="2787"/>
              <a:ext cx="78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6" name="Rectangle 139"/>
            <p:cNvSpPr>
              <a:spLocks noChangeArrowheads="1"/>
            </p:cNvSpPr>
            <p:nvPr/>
          </p:nvSpPr>
          <p:spPr bwMode="auto">
            <a:xfrm>
              <a:off x="4575" y="2338"/>
              <a:ext cx="17" cy="44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47" name="Line 140"/>
            <p:cNvSpPr>
              <a:spLocks noChangeShapeType="1"/>
            </p:cNvSpPr>
            <p:nvPr/>
          </p:nvSpPr>
          <p:spPr bwMode="auto">
            <a:xfrm>
              <a:off x="4575" y="2338"/>
              <a:ext cx="1" cy="44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8" name="Rectangle 141"/>
            <p:cNvSpPr>
              <a:spLocks noChangeArrowheads="1"/>
            </p:cNvSpPr>
            <p:nvPr/>
          </p:nvSpPr>
          <p:spPr bwMode="auto">
            <a:xfrm>
              <a:off x="4575" y="2787"/>
              <a:ext cx="23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49" name="Line 142"/>
            <p:cNvSpPr>
              <a:spLocks noChangeShapeType="1"/>
            </p:cNvSpPr>
            <p:nvPr/>
          </p:nvSpPr>
          <p:spPr bwMode="auto">
            <a:xfrm>
              <a:off x="4575" y="2787"/>
              <a:ext cx="2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0" name="Line 143"/>
            <p:cNvSpPr>
              <a:spLocks noChangeShapeType="1"/>
            </p:cNvSpPr>
            <p:nvPr/>
          </p:nvSpPr>
          <p:spPr bwMode="auto">
            <a:xfrm>
              <a:off x="4575" y="2787"/>
              <a:ext cx="1" cy="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1" name="Rectangle 144"/>
            <p:cNvSpPr>
              <a:spLocks noChangeArrowheads="1"/>
            </p:cNvSpPr>
            <p:nvPr/>
          </p:nvSpPr>
          <p:spPr bwMode="auto">
            <a:xfrm>
              <a:off x="4598" y="2787"/>
              <a:ext cx="786" cy="2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1352" name="Line 145"/>
            <p:cNvSpPr>
              <a:spLocks noChangeShapeType="1"/>
            </p:cNvSpPr>
            <p:nvPr/>
          </p:nvSpPr>
          <p:spPr bwMode="auto">
            <a:xfrm>
              <a:off x="4598" y="2787"/>
              <a:ext cx="78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3" name="Rectangle 146"/>
            <p:cNvSpPr>
              <a:spLocks noChangeArrowheads="1"/>
            </p:cNvSpPr>
            <p:nvPr/>
          </p:nvSpPr>
          <p:spPr bwMode="auto">
            <a:xfrm>
              <a:off x="3955" y="584"/>
              <a:ext cx="48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B</a:t>
              </a:r>
              <a:r>
                <a:rPr lang="zh-CN" altLang="en-US" sz="2800"/>
                <a:t>／</a:t>
              </a:r>
              <a:r>
                <a:rPr lang="en-US" altLang="zh-CN" sz="2800"/>
                <a:t>v</a:t>
              </a:r>
              <a:endParaRPr lang="en-US" altLang="zh-CN" sz="2800" b="1"/>
            </a:p>
          </p:txBody>
        </p:sp>
        <p:sp>
          <p:nvSpPr>
            <p:cNvPr id="11354" name="Rectangle 147"/>
            <p:cNvSpPr>
              <a:spLocks noChangeArrowheads="1"/>
            </p:cNvSpPr>
            <p:nvPr/>
          </p:nvSpPr>
          <p:spPr bwMode="auto">
            <a:xfrm>
              <a:off x="4711" y="584"/>
              <a:ext cx="49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/>
                <a:t>Y</a:t>
              </a:r>
              <a:r>
                <a:rPr lang="zh-CN" altLang="en-US" sz="2800"/>
                <a:t>／</a:t>
              </a:r>
              <a:r>
                <a:rPr lang="en-US" altLang="zh-CN" sz="2800"/>
                <a:t>v</a:t>
              </a:r>
              <a:endParaRPr lang="en-US" altLang="zh-CN" sz="2800" b="1"/>
            </a:p>
          </p:txBody>
        </p:sp>
      </p:grpSp>
      <p:grpSp>
        <p:nvGrpSpPr>
          <p:cNvPr id="246932" name="Group 148"/>
          <p:cNvGrpSpPr/>
          <p:nvPr/>
        </p:nvGrpSpPr>
        <p:grpSpPr bwMode="auto">
          <a:xfrm>
            <a:off x="5600700" y="4591050"/>
            <a:ext cx="2743200" cy="990600"/>
            <a:chOff x="3528" y="2892"/>
            <a:chExt cx="1728" cy="624"/>
          </a:xfrm>
        </p:grpSpPr>
        <p:sp>
          <p:nvSpPr>
            <p:cNvPr id="11273" name="Text Box 149"/>
            <p:cNvSpPr txBox="1">
              <a:spLocks noChangeArrowheads="1"/>
            </p:cNvSpPr>
            <p:nvPr/>
          </p:nvSpPr>
          <p:spPr bwMode="auto">
            <a:xfrm>
              <a:off x="3528" y="2892"/>
              <a:ext cx="2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A</a:t>
              </a:r>
              <a:endParaRPr lang="en-US" altLang="zh-CN" sz="2800" b="1"/>
            </a:p>
          </p:txBody>
        </p:sp>
        <p:sp>
          <p:nvSpPr>
            <p:cNvPr id="11274" name="Text Box 150"/>
            <p:cNvSpPr txBox="1">
              <a:spLocks noChangeArrowheads="1"/>
            </p:cNvSpPr>
            <p:nvPr/>
          </p:nvSpPr>
          <p:spPr bwMode="auto">
            <a:xfrm>
              <a:off x="3528" y="3189"/>
              <a:ext cx="2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B</a:t>
              </a:r>
              <a:endParaRPr lang="en-US" altLang="zh-CN" sz="2800" b="1"/>
            </a:p>
          </p:txBody>
        </p:sp>
        <p:grpSp>
          <p:nvGrpSpPr>
            <p:cNvPr id="11275" name="Group 151"/>
            <p:cNvGrpSpPr/>
            <p:nvPr/>
          </p:nvGrpSpPr>
          <p:grpSpPr bwMode="auto">
            <a:xfrm>
              <a:off x="3816" y="2923"/>
              <a:ext cx="1440" cy="564"/>
              <a:chOff x="3816" y="2923"/>
              <a:chExt cx="1440" cy="564"/>
            </a:xfrm>
          </p:grpSpPr>
          <p:grpSp>
            <p:nvGrpSpPr>
              <p:cNvPr id="11276" name="Group 152"/>
              <p:cNvGrpSpPr/>
              <p:nvPr/>
            </p:nvGrpSpPr>
            <p:grpSpPr bwMode="auto">
              <a:xfrm>
                <a:off x="3816" y="2923"/>
                <a:ext cx="1440" cy="564"/>
                <a:chOff x="3816" y="2923"/>
                <a:chExt cx="1440" cy="564"/>
              </a:xfrm>
            </p:grpSpPr>
            <p:sp>
              <p:nvSpPr>
                <p:cNvPr id="11278" name="Rectangle 153"/>
                <p:cNvSpPr>
                  <a:spLocks noChangeArrowheads="1"/>
                </p:cNvSpPr>
                <p:nvPr/>
              </p:nvSpPr>
              <p:spPr bwMode="auto">
                <a:xfrm>
                  <a:off x="4162" y="3005"/>
                  <a:ext cx="601" cy="482"/>
                </a:xfrm>
                <a:prstGeom prst="rect">
                  <a:avLst/>
                </a:prstGeom>
                <a:noFill/>
                <a:ln w="5080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1279" name="Text Box 154"/>
                <p:cNvSpPr txBox="1">
                  <a:spLocks noChangeArrowheads="1"/>
                </p:cNvSpPr>
                <p:nvPr/>
              </p:nvSpPr>
              <p:spPr bwMode="auto">
                <a:xfrm>
                  <a:off x="4296" y="2992"/>
                  <a:ext cx="36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08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2800" b="1"/>
                </a:p>
              </p:txBody>
            </p:sp>
            <p:sp>
              <p:nvSpPr>
                <p:cNvPr id="11280" name="Line 155"/>
                <p:cNvSpPr>
                  <a:spLocks noChangeShapeType="1"/>
                </p:cNvSpPr>
                <p:nvPr/>
              </p:nvSpPr>
              <p:spPr bwMode="auto">
                <a:xfrm>
                  <a:off x="3816" y="3075"/>
                  <a:ext cx="360" cy="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1" name="Line 156"/>
                <p:cNvSpPr>
                  <a:spLocks noChangeShapeType="1"/>
                </p:cNvSpPr>
                <p:nvPr/>
              </p:nvSpPr>
              <p:spPr bwMode="auto">
                <a:xfrm>
                  <a:off x="3816" y="3371"/>
                  <a:ext cx="360" cy="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2" name="Line 157"/>
                <p:cNvSpPr>
                  <a:spLocks noChangeShapeType="1"/>
                </p:cNvSpPr>
                <p:nvPr/>
              </p:nvSpPr>
              <p:spPr bwMode="auto">
                <a:xfrm>
                  <a:off x="4776" y="3242"/>
                  <a:ext cx="360" cy="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3" name="Text Box 158"/>
                <p:cNvSpPr txBox="1">
                  <a:spLocks noChangeArrowheads="1"/>
                </p:cNvSpPr>
                <p:nvPr/>
              </p:nvSpPr>
              <p:spPr bwMode="auto">
                <a:xfrm>
                  <a:off x="4956" y="2923"/>
                  <a:ext cx="30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508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/>
                    <a:t>Y</a:t>
                  </a:r>
                  <a:endParaRPr lang="en-US" altLang="zh-CN" sz="2800" b="1"/>
                </a:p>
              </p:txBody>
            </p:sp>
          </p:grpSp>
          <p:sp>
            <p:nvSpPr>
              <p:cNvPr id="11277" name="Text Box 159"/>
              <p:cNvSpPr txBox="1">
                <a:spLocks noChangeArrowheads="1"/>
              </p:cNvSpPr>
              <p:nvPr/>
            </p:nvSpPr>
            <p:spPr bwMode="auto">
              <a:xfrm>
                <a:off x="4296" y="3049"/>
                <a:ext cx="36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08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sym typeface="Symbol" panose="05050102010706020507" pitchFamily="18" charset="2"/>
                  </a:rPr>
                  <a:t>1</a:t>
                </a:r>
                <a:endParaRPr lang="en-US" altLang="zh-CN" sz="2400" b="1"/>
              </a:p>
            </p:txBody>
          </p:sp>
        </p:grpSp>
      </p:grpSp>
      <p:sp>
        <p:nvSpPr>
          <p:cNvPr id="246944" name="Rectangle 160"/>
          <p:cNvSpPr>
            <a:spLocks noChangeArrowheads="1"/>
          </p:cNvSpPr>
          <p:nvPr/>
        </p:nvSpPr>
        <p:spPr bwMode="auto">
          <a:xfrm>
            <a:off x="1619250" y="298450"/>
            <a:ext cx="2389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真值表</a:t>
            </a:r>
            <a:endParaRPr lang="zh-CN" altLang="en-US" sz="2800" b="1"/>
          </a:p>
        </p:txBody>
      </p:sp>
      <p:sp>
        <p:nvSpPr>
          <p:cNvPr id="11272" name="Rectangle 161"/>
          <p:cNvSpPr>
            <a:spLocks noGrp="1" noChangeArrowheads="1"/>
          </p:cNvSpPr>
          <p:nvPr>
            <p:ph type="title" idx="4294967295"/>
          </p:nvPr>
        </p:nvSpPr>
        <p:spPr>
          <a:xfrm>
            <a:off x="5872163" y="301625"/>
            <a:ext cx="1947862" cy="504825"/>
          </a:xfrm>
        </p:spPr>
        <p:txBody>
          <a:bodyPr/>
          <a:lstStyle/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</a:rPr>
              <a:t>功能表</a:t>
            </a:r>
            <a:endParaRPr lang="zh-CN" altLang="en-US" sz="4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6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46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4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858" grpId="0"/>
      <p:bldP spid="246859" grpId="0"/>
      <p:bldP spid="24694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147763" y="579438"/>
            <a:ext cx="3303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/>
              <a:t>3.    </a:t>
            </a:r>
            <a:r>
              <a:rPr lang="zh-CN" altLang="en-US" sz="2800" b="1"/>
              <a:t>三极管非门电路</a:t>
            </a:r>
            <a:endParaRPr lang="zh-CN" altLang="en-US" sz="2800" b="1"/>
          </a:p>
        </p:txBody>
      </p:sp>
      <p:graphicFrame>
        <p:nvGraphicFramePr>
          <p:cNvPr id="247813" name="Object 5"/>
          <p:cNvGraphicFramePr>
            <a:graphicFrameLocks noChangeAspect="1"/>
          </p:cNvGraphicFramePr>
          <p:nvPr/>
        </p:nvGraphicFramePr>
        <p:xfrm>
          <a:off x="5207000" y="855663"/>
          <a:ext cx="2968625" cy="339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2221845" imgH="13872210" progId="Word.Document.8">
                  <p:embed/>
                </p:oleObj>
              </mc:Choice>
              <mc:Fallback>
                <p:oleObj name="" r:id="rId1" imgW="12221845" imgH="1387221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0" y="855663"/>
                        <a:ext cx="2968625" cy="339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292" name="Group 40"/>
          <p:cNvGrpSpPr/>
          <p:nvPr/>
        </p:nvGrpSpPr>
        <p:grpSpPr bwMode="auto">
          <a:xfrm>
            <a:off x="1116013" y="1158875"/>
            <a:ext cx="3762375" cy="3427413"/>
            <a:chOff x="703" y="730"/>
            <a:chExt cx="2370" cy="2159"/>
          </a:xfrm>
        </p:grpSpPr>
        <p:sp>
          <p:nvSpPr>
            <p:cNvPr id="12302" name="Line 7"/>
            <p:cNvSpPr>
              <a:spLocks noChangeShapeType="1"/>
            </p:cNvSpPr>
            <p:nvPr/>
          </p:nvSpPr>
          <p:spPr bwMode="auto">
            <a:xfrm>
              <a:off x="1754" y="1892"/>
              <a:ext cx="0" cy="3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3" name="Line 8"/>
            <p:cNvSpPr>
              <a:spLocks noChangeShapeType="1"/>
            </p:cNvSpPr>
            <p:nvPr/>
          </p:nvSpPr>
          <p:spPr bwMode="auto">
            <a:xfrm>
              <a:off x="1741" y="2069"/>
              <a:ext cx="325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4" name="Line 9"/>
            <p:cNvSpPr>
              <a:spLocks noChangeShapeType="1"/>
            </p:cNvSpPr>
            <p:nvPr/>
          </p:nvSpPr>
          <p:spPr bwMode="auto">
            <a:xfrm flipV="1">
              <a:off x="1741" y="1858"/>
              <a:ext cx="325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5" name="Oval 10"/>
            <p:cNvSpPr>
              <a:spLocks noChangeArrowheads="1"/>
            </p:cNvSpPr>
            <p:nvPr/>
          </p:nvSpPr>
          <p:spPr bwMode="auto">
            <a:xfrm>
              <a:off x="2000" y="1714"/>
              <a:ext cx="78" cy="78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12306" name="Line 11"/>
            <p:cNvSpPr>
              <a:spLocks noChangeShapeType="1"/>
            </p:cNvSpPr>
            <p:nvPr/>
          </p:nvSpPr>
          <p:spPr bwMode="auto">
            <a:xfrm flipH="1">
              <a:off x="1559" y="2069"/>
              <a:ext cx="1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Line 12"/>
            <p:cNvSpPr>
              <a:spLocks noChangeShapeType="1"/>
            </p:cNvSpPr>
            <p:nvPr/>
          </p:nvSpPr>
          <p:spPr bwMode="auto">
            <a:xfrm>
              <a:off x="2054" y="1770"/>
              <a:ext cx="4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Line 13"/>
            <p:cNvSpPr>
              <a:spLocks noChangeShapeType="1"/>
            </p:cNvSpPr>
            <p:nvPr/>
          </p:nvSpPr>
          <p:spPr bwMode="auto">
            <a:xfrm>
              <a:off x="2042" y="2263"/>
              <a:ext cx="0" cy="6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Line 14"/>
            <p:cNvSpPr>
              <a:spLocks noChangeShapeType="1"/>
            </p:cNvSpPr>
            <p:nvPr/>
          </p:nvSpPr>
          <p:spPr bwMode="auto">
            <a:xfrm>
              <a:off x="1861" y="2889"/>
              <a:ext cx="3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Line 15"/>
            <p:cNvSpPr>
              <a:spLocks noChangeShapeType="1"/>
            </p:cNvSpPr>
            <p:nvPr/>
          </p:nvSpPr>
          <p:spPr bwMode="auto">
            <a:xfrm flipH="1">
              <a:off x="886" y="2059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Rectangle 16"/>
            <p:cNvSpPr>
              <a:spLocks noChangeArrowheads="1"/>
            </p:cNvSpPr>
            <p:nvPr/>
          </p:nvSpPr>
          <p:spPr bwMode="auto">
            <a:xfrm>
              <a:off x="1975" y="1260"/>
              <a:ext cx="121" cy="3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12312" name="Line 17"/>
            <p:cNvSpPr>
              <a:spLocks noChangeShapeType="1"/>
            </p:cNvSpPr>
            <p:nvPr/>
          </p:nvSpPr>
          <p:spPr bwMode="auto">
            <a:xfrm>
              <a:off x="2048" y="1626"/>
              <a:ext cx="0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Line 18"/>
            <p:cNvSpPr>
              <a:spLocks noChangeShapeType="1"/>
            </p:cNvSpPr>
            <p:nvPr/>
          </p:nvSpPr>
          <p:spPr bwMode="auto">
            <a:xfrm flipV="1">
              <a:off x="2036" y="972"/>
              <a:ext cx="12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Text Box 19"/>
            <p:cNvSpPr txBox="1">
              <a:spLocks noChangeArrowheads="1"/>
            </p:cNvSpPr>
            <p:nvPr/>
          </p:nvSpPr>
          <p:spPr bwMode="auto">
            <a:xfrm>
              <a:off x="2151" y="1257"/>
              <a:ext cx="3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ea typeface="长城楷体" pitchFamily="49" charset="-122"/>
                </a:rPr>
                <a:t>R</a:t>
              </a:r>
              <a:r>
                <a:rPr lang="en-US" altLang="zh-CN" b="1" baseline="-25000">
                  <a:ea typeface="长城楷体" pitchFamily="49" charset="-122"/>
                </a:rPr>
                <a:t>c</a:t>
              </a:r>
              <a:endParaRPr lang="en-US" altLang="zh-CN" sz="2400" b="1">
                <a:ea typeface="长城楷体" pitchFamily="49" charset="-122"/>
              </a:endParaRPr>
            </a:p>
          </p:txBody>
        </p:sp>
        <p:sp>
          <p:nvSpPr>
            <p:cNvPr id="12315" name="Text Box 20"/>
            <p:cNvSpPr txBox="1">
              <a:spLocks noChangeArrowheads="1"/>
            </p:cNvSpPr>
            <p:nvPr/>
          </p:nvSpPr>
          <p:spPr bwMode="auto">
            <a:xfrm>
              <a:off x="2505" y="1727"/>
              <a:ext cx="5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长城楷体" pitchFamily="49" charset="-122"/>
                </a:rPr>
                <a:t>(v</a:t>
              </a:r>
              <a:r>
                <a:rPr lang="en-US" altLang="zh-CN" sz="1800" b="1" baseline="-25000">
                  <a:ea typeface="长城楷体" pitchFamily="49" charset="-122"/>
                </a:rPr>
                <a:t>o</a:t>
              </a:r>
              <a:r>
                <a:rPr lang="en-US" altLang="zh-CN" sz="1800" b="1">
                  <a:ea typeface="长城楷体" pitchFamily="49" charset="-122"/>
                </a:rPr>
                <a:t>)</a:t>
              </a:r>
              <a:endParaRPr lang="en-US" altLang="zh-CN" sz="1800" b="1">
                <a:ea typeface="长城楷体" pitchFamily="49" charset="-122"/>
              </a:endParaRPr>
            </a:p>
          </p:txBody>
        </p:sp>
        <p:sp>
          <p:nvSpPr>
            <p:cNvPr id="12316" name="Rectangle 21"/>
            <p:cNvSpPr>
              <a:spLocks noChangeArrowheads="1"/>
            </p:cNvSpPr>
            <p:nvPr/>
          </p:nvSpPr>
          <p:spPr bwMode="auto">
            <a:xfrm rot="5400000">
              <a:off x="1284" y="1856"/>
              <a:ext cx="111" cy="41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12317" name="Text Box 22"/>
            <p:cNvSpPr txBox="1">
              <a:spLocks noChangeArrowheads="1"/>
            </p:cNvSpPr>
            <p:nvPr/>
          </p:nvSpPr>
          <p:spPr bwMode="auto">
            <a:xfrm>
              <a:off x="1187" y="1663"/>
              <a:ext cx="3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ea typeface="长城楷体" pitchFamily="49" charset="-122"/>
                </a:rPr>
                <a:t>R</a:t>
              </a:r>
              <a:r>
                <a:rPr lang="en-US" altLang="zh-CN" b="1" baseline="-25000">
                  <a:ea typeface="长城楷体" pitchFamily="49" charset="-122"/>
                </a:rPr>
                <a:t>1</a:t>
              </a:r>
              <a:endParaRPr lang="en-US" altLang="zh-CN" sz="2400" b="1">
                <a:ea typeface="长城楷体" pitchFamily="49" charset="-122"/>
              </a:endParaRPr>
            </a:p>
          </p:txBody>
        </p:sp>
        <p:sp>
          <p:nvSpPr>
            <p:cNvPr id="12318" name="Text Box 23"/>
            <p:cNvSpPr txBox="1">
              <a:spLocks noChangeArrowheads="1"/>
            </p:cNvSpPr>
            <p:nvPr/>
          </p:nvSpPr>
          <p:spPr bwMode="auto">
            <a:xfrm>
              <a:off x="727" y="1772"/>
              <a:ext cx="2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长城楷体" pitchFamily="49" charset="-122"/>
                </a:rPr>
                <a:t>A</a:t>
              </a:r>
              <a:endParaRPr lang="en-US" altLang="zh-CN" sz="2400" b="1">
                <a:ea typeface="长城楷体" pitchFamily="49" charset="-122"/>
              </a:endParaRPr>
            </a:p>
          </p:txBody>
        </p:sp>
        <p:sp>
          <p:nvSpPr>
            <p:cNvPr id="12319" name="Text Box 24"/>
            <p:cNvSpPr txBox="1">
              <a:spLocks noChangeArrowheads="1"/>
            </p:cNvSpPr>
            <p:nvPr/>
          </p:nvSpPr>
          <p:spPr bwMode="auto">
            <a:xfrm>
              <a:off x="2505" y="150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长城楷体" pitchFamily="49" charset="-122"/>
                </a:rPr>
                <a:t>Y</a:t>
              </a:r>
              <a:endParaRPr lang="en-US" altLang="zh-CN" sz="2400" b="1">
                <a:ea typeface="长城楷体" pitchFamily="49" charset="-122"/>
              </a:endParaRPr>
            </a:p>
          </p:txBody>
        </p:sp>
        <p:sp>
          <p:nvSpPr>
            <p:cNvPr id="12320" name="Text Box 25"/>
            <p:cNvSpPr txBox="1">
              <a:spLocks noChangeArrowheads="1"/>
            </p:cNvSpPr>
            <p:nvPr/>
          </p:nvSpPr>
          <p:spPr bwMode="auto">
            <a:xfrm>
              <a:off x="2187" y="730"/>
              <a:ext cx="72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ea typeface="长城楷体" pitchFamily="49" charset="-122"/>
                </a:rPr>
                <a:t>V</a:t>
              </a:r>
              <a:r>
                <a:rPr lang="en-US" altLang="zh-CN" b="1" baseline="-25000">
                  <a:ea typeface="长城楷体" pitchFamily="49" charset="-122"/>
                </a:rPr>
                <a:t>CC</a:t>
              </a:r>
              <a:endParaRPr lang="en-US" altLang="zh-CN" b="1">
                <a:ea typeface="长城楷体" pitchFamily="49" charset="-122"/>
              </a:endParaRPr>
            </a:p>
          </p:txBody>
        </p:sp>
        <p:sp>
          <p:nvSpPr>
            <p:cNvPr id="12321" name="Rectangle 26"/>
            <p:cNvSpPr>
              <a:spLocks noChangeArrowheads="1"/>
            </p:cNvSpPr>
            <p:nvPr/>
          </p:nvSpPr>
          <p:spPr bwMode="auto">
            <a:xfrm>
              <a:off x="1558" y="2261"/>
              <a:ext cx="121" cy="3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12322" name="Line 27"/>
            <p:cNvSpPr>
              <a:spLocks noChangeShapeType="1"/>
            </p:cNvSpPr>
            <p:nvPr/>
          </p:nvSpPr>
          <p:spPr bwMode="auto">
            <a:xfrm>
              <a:off x="1620" y="2058"/>
              <a:ext cx="0" cy="1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3" name="Line 28"/>
            <p:cNvSpPr>
              <a:spLocks noChangeShapeType="1"/>
            </p:cNvSpPr>
            <p:nvPr/>
          </p:nvSpPr>
          <p:spPr bwMode="auto">
            <a:xfrm flipH="1">
              <a:off x="1620" y="2623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4" name="Text Box 29"/>
            <p:cNvSpPr txBox="1">
              <a:spLocks noChangeArrowheads="1"/>
            </p:cNvSpPr>
            <p:nvPr/>
          </p:nvSpPr>
          <p:spPr bwMode="auto">
            <a:xfrm>
              <a:off x="1137" y="2558"/>
              <a:ext cx="55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长城楷体" pitchFamily="49" charset="-122"/>
                </a:rPr>
                <a:t>-v</a:t>
              </a:r>
              <a:r>
                <a:rPr lang="en-US" altLang="zh-CN" sz="2400" b="1" baseline="-25000">
                  <a:ea typeface="长城楷体" pitchFamily="49" charset="-122"/>
                </a:rPr>
                <a:t>BB</a:t>
              </a:r>
              <a:endParaRPr lang="en-US" altLang="zh-CN" sz="2400" b="1">
                <a:ea typeface="长城楷体" pitchFamily="49" charset="-122"/>
              </a:endParaRPr>
            </a:p>
          </p:txBody>
        </p:sp>
        <p:sp>
          <p:nvSpPr>
            <p:cNvPr id="12325" name="Oval 30"/>
            <p:cNvSpPr>
              <a:spLocks noChangeArrowheads="1"/>
            </p:cNvSpPr>
            <p:nvPr/>
          </p:nvSpPr>
          <p:spPr bwMode="auto">
            <a:xfrm>
              <a:off x="1589" y="2026"/>
              <a:ext cx="79" cy="77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12326" name="Text Box 31"/>
            <p:cNvSpPr txBox="1">
              <a:spLocks noChangeArrowheads="1"/>
            </p:cNvSpPr>
            <p:nvPr/>
          </p:nvSpPr>
          <p:spPr bwMode="auto">
            <a:xfrm>
              <a:off x="703" y="2049"/>
              <a:ext cx="5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ea typeface="长城楷体" pitchFamily="49" charset="-122"/>
                </a:rPr>
                <a:t>(v</a:t>
              </a:r>
              <a:r>
                <a:rPr lang="en-US" altLang="zh-CN" sz="1800" b="1" baseline="-25000">
                  <a:ea typeface="长城楷体" pitchFamily="49" charset="-122"/>
                </a:rPr>
                <a:t>i</a:t>
              </a:r>
              <a:r>
                <a:rPr lang="en-US" altLang="zh-CN" sz="1800" b="1">
                  <a:ea typeface="长城楷体" pitchFamily="49" charset="-122"/>
                </a:rPr>
                <a:t>)</a:t>
              </a:r>
              <a:endParaRPr lang="en-US" altLang="zh-CN" sz="1800" b="1">
                <a:ea typeface="长城楷体" pitchFamily="49" charset="-122"/>
              </a:endParaRPr>
            </a:p>
          </p:txBody>
        </p:sp>
        <p:sp>
          <p:nvSpPr>
            <p:cNvPr id="12327" name="Text Box 32"/>
            <p:cNvSpPr txBox="1">
              <a:spLocks noChangeArrowheads="1"/>
            </p:cNvSpPr>
            <p:nvPr/>
          </p:nvSpPr>
          <p:spPr bwMode="auto">
            <a:xfrm>
              <a:off x="1670" y="2335"/>
              <a:ext cx="37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ea typeface="长城楷体" pitchFamily="49" charset="-122"/>
                </a:rPr>
                <a:t>R</a:t>
              </a:r>
              <a:r>
                <a:rPr lang="en-US" altLang="zh-CN" b="1" baseline="-25000">
                  <a:ea typeface="长城楷体" pitchFamily="49" charset="-122"/>
                </a:rPr>
                <a:t>2</a:t>
              </a:r>
              <a:endParaRPr lang="en-US" altLang="zh-CN" sz="2400" b="1">
                <a:ea typeface="长城楷体" pitchFamily="49" charset="-122"/>
              </a:endParaRPr>
            </a:p>
          </p:txBody>
        </p:sp>
      </p:grpSp>
      <p:grpSp>
        <p:nvGrpSpPr>
          <p:cNvPr id="247841" name="Group 33"/>
          <p:cNvGrpSpPr/>
          <p:nvPr/>
        </p:nvGrpSpPr>
        <p:grpSpPr bwMode="auto">
          <a:xfrm>
            <a:off x="5276850" y="3678238"/>
            <a:ext cx="2590800" cy="914400"/>
            <a:chOff x="3216" y="2455"/>
            <a:chExt cx="1632" cy="564"/>
          </a:xfrm>
        </p:grpSpPr>
        <p:sp>
          <p:nvSpPr>
            <p:cNvPr id="12296" name="Rectangle 34"/>
            <p:cNvSpPr>
              <a:spLocks noChangeArrowheads="1"/>
            </p:cNvSpPr>
            <p:nvPr/>
          </p:nvSpPr>
          <p:spPr bwMode="auto">
            <a:xfrm>
              <a:off x="3574" y="2537"/>
              <a:ext cx="601" cy="482"/>
            </a:xfrm>
            <a:prstGeom prst="rect">
              <a:avLst/>
            </a:prstGeom>
            <a:noFill/>
            <a:ln w="508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2297" name="Text Box 35"/>
            <p:cNvSpPr txBox="1">
              <a:spLocks noChangeArrowheads="1"/>
            </p:cNvSpPr>
            <p:nvPr/>
          </p:nvSpPr>
          <p:spPr bwMode="auto">
            <a:xfrm>
              <a:off x="3708" y="2524"/>
              <a:ext cx="36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12298" name="Line 36"/>
            <p:cNvSpPr>
              <a:spLocks noChangeShapeType="1"/>
            </p:cNvSpPr>
            <p:nvPr/>
          </p:nvSpPr>
          <p:spPr bwMode="auto">
            <a:xfrm>
              <a:off x="3216" y="2783"/>
              <a:ext cx="3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9" name="Line 37"/>
            <p:cNvSpPr>
              <a:spLocks noChangeShapeType="1"/>
            </p:cNvSpPr>
            <p:nvPr/>
          </p:nvSpPr>
          <p:spPr bwMode="auto">
            <a:xfrm>
              <a:off x="4296" y="2774"/>
              <a:ext cx="3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0" name="Text Box 38"/>
            <p:cNvSpPr txBox="1">
              <a:spLocks noChangeArrowheads="1"/>
            </p:cNvSpPr>
            <p:nvPr/>
          </p:nvSpPr>
          <p:spPr bwMode="auto">
            <a:xfrm>
              <a:off x="4548" y="2455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Y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12301" name="Oval 39"/>
            <p:cNvSpPr>
              <a:spLocks noChangeArrowheads="1"/>
            </p:cNvSpPr>
            <p:nvPr/>
          </p:nvSpPr>
          <p:spPr bwMode="auto">
            <a:xfrm>
              <a:off x="4191" y="2712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7849" name="Object 41"/>
              <p:cNvSpPr txBox="1"/>
              <p:nvPr/>
            </p:nvSpPr>
            <p:spPr bwMode="auto">
              <a:xfrm>
                <a:off x="581818" y="4916859"/>
                <a:ext cx="7739063" cy="9699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截止条件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𝑉𝐵𝐸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𝑉𝐼𝑙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𝑉𝐼𝑙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𝑉𝐵𝐵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7849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1818" y="4916859"/>
                <a:ext cx="7739063" cy="969963"/>
              </a:xfrm>
              <a:prstGeom prst="rect">
                <a:avLst/>
              </a:prstGeom>
              <a:blipFill rotWithShape="1">
                <a:blip r:embed="rId3"/>
                <a:stretch>
                  <a:fillRect l="-2" t="-6" r="6" b="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850" name="Object 42"/>
              <p:cNvSpPr txBox="1"/>
              <p:nvPr/>
            </p:nvSpPr>
            <p:spPr bwMode="auto">
              <a:xfrm>
                <a:off x="628650" y="5819775"/>
                <a:ext cx="851535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饱和导通条件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𝑉𝐼𝐻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𝑉𝐵𝐸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𝑉𝐵𝐸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𝑉𝐵𝐵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𝐼𝐵𝑆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𝑉𝐶𝐶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𝑉𝐶𝐸𝑆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𝑅𝐶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47850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650" y="5819775"/>
                <a:ext cx="8515350" cy="10541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762867" y="2086926"/>
            <a:ext cx="1143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rgbClr val="FFC000"/>
                </a:solidFill>
                <a:ea typeface="长城楷体" pitchFamily="49" charset="-122"/>
              </a:rPr>
              <a:t>0V</a:t>
            </a:r>
            <a:r>
              <a:rPr lang="zh-CN" altLang="en-US" sz="2000" dirty="0">
                <a:solidFill>
                  <a:srgbClr val="FFC000"/>
                </a:solidFill>
                <a:ea typeface="长城楷体" pitchFamily="49" charset="-122"/>
              </a:rPr>
              <a:t>或</a:t>
            </a:r>
            <a:r>
              <a:rPr lang="en-US" altLang="zh-CN" sz="2000" dirty="0">
                <a:solidFill>
                  <a:srgbClr val="FFC000"/>
                </a:solidFill>
                <a:ea typeface="长城楷体" pitchFamily="49" charset="-122"/>
              </a:rPr>
              <a:t>3V</a:t>
            </a:r>
            <a:endParaRPr lang="en-US" altLang="zh-CN" sz="2000" b="1" dirty="0">
              <a:solidFill>
                <a:srgbClr val="FFC000"/>
              </a:solidFill>
              <a:ea typeface="长城楷体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24908" y="2834754"/>
            <a:ext cx="463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000" dirty="0">
                <a:ea typeface="长城楷体" pitchFamily="49" charset="-122"/>
              </a:rPr>
              <a:t>B</a:t>
            </a:r>
            <a:endParaRPr lang="en-US" altLang="zh-CN" sz="2000" b="1" dirty="0">
              <a:ea typeface="长城楷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7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7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49" grpId="0"/>
      <p:bldP spid="2478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178" name="Group 2"/>
          <p:cNvGrpSpPr/>
          <p:nvPr/>
        </p:nvGrpSpPr>
        <p:grpSpPr bwMode="auto">
          <a:xfrm>
            <a:off x="2209800" y="1827213"/>
            <a:ext cx="3743325" cy="3730625"/>
            <a:chOff x="3096" y="386"/>
            <a:chExt cx="2358" cy="2350"/>
          </a:xfrm>
        </p:grpSpPr>
        <p:grpSp>
          <p:nvGrpSpPr>
            <p:cNvPr id="13316" name="Group 3"/>
            <p:cNvGrpSpPr/>
            <p:nvPr/>
          </p:nvGrpSpPr>
          <p:grpSpPr bwMode="auto">
            <a:xfrm>
              <a:off x="4362" y="386"/>
              <a:ext cx="1092" cy="1368"/>
              <a:chOff x="4362" y="386"/>
              <a:chExt cx="1092" cy="1368"/>
            </a:xfrm>
          </p:grpSpPr>
          <p:sp>
            <p:nvSpPr>
              <p:cNvPr id="13338" name="Rectangle 4"/>
              <p:cNvSpPr>
                <a:spLocks noChangeArrowheads="1"/>
              </p:cNvSpPr>
              <p:nvPr/>
            </p:nvSpPr>
            <p:spPr bwMode="auto">
              <a:xfrm>
                <a:off x="4362" y="960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39" name="Line 5"/>
              <p:cNvSpPr>
                <a:spLocks noChangeShapeType="1"/>
              </p:cNvSpPr>
              <p:nvPr/>
            </p:nvSpPr>
            <p:spPr bwMode="auto">
              <a:xfrm flipV="1">
                <a:off x="4422" y="648"/>
                <a:ext cx="12" cy="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" name="Text Box 6"/>
              <p:cNvSpPr txBox="1">
                <a:spLocks noChangeArrowheads="1"/>
              </p:cNvSpPr>
              <p:nvPr/>
            </p:nvSpPr>
            <p:spPr bwMode="auto">
              <a:xfrm>
                <a:off x="4538" y="888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c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3341" name="Text Box 7"/>
              <p:cNvSpPr txBox="1">
                <a:spLocks noChangeArrowheads="1"/>
              </p:cNvSpPr>
              <p:nvPr/>
            </p:nvSpPr>
            <p:spPr bwMode="auto">
              <a:xfrm>
                <a:off x="4889" y="1466"/>
                <a:ext cx="5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(v</a:t>
                </a:r>
                <a:r>
                  <a:rPr lang="en-US" altLang="zh-CN" sz="2400" b="1" baseline="-25000">
                    <a:ea typeface="长城楷体" pitchFamily="49" charset="-122"/>
                  </a:rPr>
                  <a:t>o</a:t>
                </a:r>
                <a:r>
                  <a:rPr lang="en-US" altLang="zh-CN" sz="2400" b="1">
                    <a:ea typeface="长城楷体" pitchFamily="49" charset="-122"/>
                  </a:rPr>
                  <a:t>)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3342" name="Text Box 8"/>
              <p:cNvSpPr txBox="1">
                <a:spLocks noChangeArrowheads="1"/>
              </p:cNvSpPr>
              <p:nvPr/>
            </p:nvSpPr>
            <p:spPr bwMode="auto">
              <a:xfrm>
                <a:off x="4889" y="1220"/>
                <a:ext cx="38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长城楷体" pitchFamily="49" charset="-122"/>
                  </a:rPr>
                  <a:t>Y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3343" name="Text Box 9"/>
              <p:cNvSpPr txBox="1">
                <a:spLocks noChangeArrowheads="1"/>
              </p:cNvSpPr>
              <p:nvPr/>
            </p:nvSpPr>
            <p:spPr bwMode="auto">
              <a:xfrm>
                <a:off x="4573" y="386"/>
                <a:ext cx="8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V</a:t>
                </a:r>
                <a:r>
                  <a:rPr lang="en-US" altLang="zh-CN" sz="2400" b="1" baseline="-25000">
                    <a:ea typeface="长城楷体" pitchFamily="49" charset="-122"/>
                  </a:rPr>
                  <a:t>CC</a:t>
                </a:r>
                <a:r>
                  <a:rPr lang="en-US" altLang="zh-CN" sz="2400" b="1">
                    <a:ea typeface="长城楷体" pitchFamily="49" charset="-122"/>
                  </a:rPr>
                  <a:t>=5v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</p:grpSp>
        <p:grpSp>
          <p:nvGrpSpPr>
            <p:cNvPr id="13317" name="Group 10"/>
            <p:cNvGrpSpPr/>
            <p:nvPr/>
          </p:nvGrpSpPr>
          <p:grpSpPr bwMode="auto">
            <a:xfrm>
              <a:off x="3096" y="1356"/>
              <a:ext cx="1752" cy="1380"/>
              <a:chOff x="3096" y="1356"/>
              <a:chExt cx="1752" cy="1380"/>
            </a:xfrm>
          </p:grpSpPr>
          <p:sp>
            <p:nvSpPr>
              <p:cNvPr id="13318" name="Line 11"/>
              <p:cNvSpPr>
                <a:spLocks noChangeShapeType="1"/>
              </p:cNvSpPr>
              <p:nvPr/>
            </p:nvSpPr>
            <p:spPr bwMode="auto">
              <a:xfrm>
                <a:off x="4142" y="1644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9" name="Line 12"/>
              <p:cNvSpPr>
                <a:spLocks noChangeShapeType="1"/>
              </p:cNvSpPr>
              <p:nvPr/>
            </p:nvSpPr>
            <p:spPr bwMode="auto">
              <a:xfrm>
                <a:off x="4129" y="1836"/>
                <a:ext cx="323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0" name="Line 13"/>
              <p:cNvSpPr>
                <a:spLocks noChangeShapeType="1"/>
              </p:cNvSpPr>
              <p:nvPr/>
            </p:nvSpPr>
            <p:spPr bwMode="auto">
              <a:xfrm flipV="1">
                <a:off x="4129" y="1608"/>
                <a:ext cx="323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1" name="Oval 14"/>
              <p:cNvSpPr>
                <a:spLocks noChangeArrowheads="1"/>
              </p:cNvSpPr>
              <p:nvPr/>
            </p:nvSpPr>
            <p:spPr bwMode="auto">
              <a:xfrm>
                <a:off x="4386" y="1452"/>
                <a:ext cx="78" cy="84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22" name="Line 15"/>
              <p:cNvSpPr>
                <a:spLocks noChangeShapeType="1"/>
              </p:cNvSpPr>
              <p:nvPr/>
            </p:nvSpPr>
            <p:spPr bwMode="auto">
              <a:xfrm flipH="1">
                <a:off x="3948" y="1836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3" name="Line 16"/>
              <p:cNvSpPr>
                <a:spLocks noChangeShapeType="1"/>
              </p:cNvSpPr>
              <p:nvPr/>
            </p:nvSpPr>
            <p:spPr bwMode="auto">
              <a:xfrm>
                <a:off x="4440" y="1512"/>
                <a:ext cx="4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4" name="Line 17"/>
              <p:cNvSpPr>
                <a:spLocks noChangeShapeType="1"/>
              </p:cNvSpPr>
              <p:nvPr/>
            </p:nvSpPr>
            <p:spPr bwMode="auto">
              <a:xfrm>
                <a:off x="4428" y="2058"/>
                <a:ext cx="0" cy="6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5" name="Line 18"/>
              <p:cNvSpPr>
                <a:spLocks noChangeShapeType="1"/>
              </p:cNvSpPr>
              <p:nvPr/>
            </p:nvSpPr>
            <p:spPr bwMode="auto">
              <a:xfrm>
                <a:off x="4248" y="2724"/>
                <a:ext cx="3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6" name="Line 19"/>
              <p:cNvSpPr>
                <a:spLocks noChangeShapeType="1"/>
              </p:cNvSpPr>
              <p:nvPr/>
            </p:nvSpPr>
            <p:spPr bwMode="auto">
              <a:xfrm flipH="1">
                <a:off x="3278" y="1825"/>
                <a:ext cx="2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7" name="Line 20"/>
              <p:cNvSpPr>
                <a:spLocks noChangeShapeType="1"/>
              </p:cNvSpPr>
              <p:nvPr/>
            </p:nvSpPr>
            <p:spPr bwMode="auto">
              <a:xfrm>
                <a:off x="4434" y="1356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8" name="Rectangle 21"/>
              <p:cNvSpPr>
                <a:spLocks noChangeArrowheads="1"/>
              </p:cNvSpPr>
              <p:nvPr/>
            </p:nvSpPr>
            <p:spPr bwMode="auto">
              <a:xfrm rot="5400000">
                <a:off x="3671" y="1624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29" name="Text Box 22"/>
              <p:cNvSpPr txBox="1">
                <a:spLocks noChangeArrowheads="1"/>
              </p:cNvSpPr>
              <p:nvPr/>
            </p:nvSpPr>
            <p:spPr bwMode="auto">
              <a:xfrm>
                <a:off x="3578" y="1396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1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3330" name="Text Box 23"/>
              <p:cNvSpPr txBox="1">
                <a:spLocks noChangeArrowheads="1"/>
              </p:cNvSpPr>
              <p:nvPr/>
            </p:nvSpPr>
            <p:spPr bwMode="auto">
              <a:xfrm>
                <a:off x="3120" y="1515"/>
                <a:ext cx="29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长城楷体" pitchFamily="49" charset="-122"/>
                  </a:rPr>
                  <a:t>A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3331" name="Rectangle 24"/>
              <p:cNvSpPr>
                <a:spLocks noChangeArrowheads="1"/>
              </p:cNvSpPr>
              <p:nvPr/>
            </p:nvSpPr>
            <p:spPr bwMode="auto">
              <a:xfrm>
                <a:off x="3947" y="2044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32" name="Line 25"/>
              <p:cNvSpPr>
                <a:spLocks noChangeShapeType="1"/>
              </p:cNvSpPr>
              <p:nvPr/>
            </p:nvSpPr>
            <p:spPr bwMode="auto">
              <a:xfrm>
                <a:off x="4008" y="1824"/>
                <a:ext cx="0" cy="2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" name="Line 26"/>
              <p:cNvSpPr>
                <a:spLocks noChangeShapeType="1"/>
              </p:cNvSpPr>
              <p:nvPr/>
            </p:nvSpPr>
            <p:spPr bwMode="auto">
              <a:xfrm flipH="1">
                <a:off x="4008" y="2436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" name="Text Box 27"/>
              <p:cNvSpPr txBox="1">
                <a:spLocks noChangeArrowheads="1"/>
              </p:cNvSpPr>
              <p:nvPr/>
            </p:nvSpPr>
            <p:spPr bwMode="auto">
              <a:xfrm>
                <a:off x="3180" y="2391"/>
                <a:ext cx="8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v</a:t>
                </a:r>
                <a:r>
                  <a:rPr lang="en-US" altLang="zh-CN" sz="2400" b="1" baseline="-25000">
                    <a:ea typeface="长城楷体" pitchFamily="49" charset="-122"/>
                  </a:rPr>
                  <a:t>EE</a:t>
                </a:r>
                <a:r>
                  <a:rPr lang="en-US" altLang="zh-CN" sz="2400" b="1">
                    <a:ea typeface="长城楷体" pitchFamily="49" charset="-122"/>
                  </a:rPr>
                  <a:t>=-8v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3335" name="Oval 28"/>
              <p:cNvSpPr>
                <a:spLocks noChangeArrowheads="1"/>
              </p:cNvSpPr>
              <p:nvPr/>
            </p:nvSpPr>
            <p:spPr bwMode="auto">
              <a:xfrm>
                <a:off x="3978" y="1824"/>
                <a:ext cx="78" cy="84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3336" name="Text Box 29"/>
              <p:cNvSpPr txBox="1">
                <a:spLocks noChangeArrowheads="1"/>
              </p:cNvSpPr>
              <p:nvPr/>
            </p:nvSpPr>
            <p:spPr bwMode="auto">
              <a:xfrm>
                <a:off x="3096" y="1814"/>
                <a:ext cx="5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(v</a:t>
                </a:r>
                <a:r>
                  <a:rPr lang="en-US" altLang="zh-CN" sz="2400" b="1" baseline="-25000">
                    <a:ea typeface="长城楷体" pitchFamily="49" charset="-122"/>
                  </a:rPr>
                  <a:t>i</a:t>
                </a:r>
                <a:r>
                  <a:rPr lang="en-US" altLang="zh-CN" sz="2400" b="1">
                    <a:ea typeface="长城楷体" pitchFamily="49" charset="-122"/>
                  </a:rPr>
                  <a:t>)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3337" name="Text Box 30"/>
              <p:cNvSpPr txBox="1">
                <a:spLocks noChangeArrowheads="1"/>
              </p:cNvSpPr>
              <p:nvPr/>
            </p:nvSpPr>
            <p:spPr bwMode="auto">
              <a:xfrm>
                <a:off x="4010" y="2176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2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</p:grpSp>
      </p:grpSp>
      <p:sp>
        <p:nvSpPr>
          <p:cNvPr id="306207" name="Text Box 31"/>
          <p:cNvSpPr txBox="1">
            <a:spLocks noChangeArrowheads="1"/>
          </p:cNvSpPr>
          <p:nvPr/>
        </p:nvSpPr>
        <p:spPr bwMode="auto">
          <a:xfrm>
            <a:off x="254000" y="671513"/>
            <a:ext cx="8502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400" b="1">
                <a:ea typeface="楷体_GB2312" pitchFamily="49" charset="-122"/>
              </a:rPr>
              <a:t>已知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C</a:t>
            </a:r>
            <a:r>
              <a:rPr lang="en-US" altLang="zh-CN" sz="2400" b="1">
                <a:ea typeface="楷体_GB2312" pitchFamily="49" charset="-122"/>
              </a:rPr>
              <a:t>=1K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1</a:t>
            </a:r>
            <a:r>
              <a:rPr lang="en-US" altLang="zh-CN" sz="2400" b="1">
                <a:ea typeface="楷体_GB2312" pitchFamily="49" charset="-122"/>
              </a:rPr>
              <a:t>=3.3K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2</a:t>
            </a:r>
            <a:r>
              <a:rPr lang="en-US" altLang="zh-CN" sz="2400" b="1">
                <a:ea typeface="楷体_GB2312" pitchFamily="49" charset="-122"/>
              </a:rPr>
              <a:t>=10K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 =2</a:t>
            </a:r>
            <a:r>
              <a:rPr lang="zh-CN" altLang="en-US" sz="2400" b="1"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CE(sat)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=0.1v,</a:t>
            </a:r>
            <a:r>
              <a:rPr lang="zh-CN" altLang="zh-CN" sz="2400" b="1">
                <a:ea typeface="楷体_GB2312" pitchFamily="49" charset="-122"/>
                <a:sym typeface="Symbol" panose="05050102010706020507" pitchFamily="18" charset="2"/>
              </a:rPr>
              <a:t>输入的高低电平分别为</a:t>
            </a:r>
            <a:r>
              <a:rPr lang="zh-CN" altLang="en-US" sz="2400" b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IH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=5v, 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IL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=0v,</a:t>
            </a:r>
            <a:r>
              <a:rPr lang="zh-CN" altLang="zh-CN" sz="2400" b="1">
                <a:ea typeface="楷体_GB2312" pitchFamily="49" charset="-122"/>
              </a:rPr>
              <a:t>求输出电平。</a:t>
            </a:r>
            <a:endParaRPr lang="zh-CN" altLang="en-US" sz="2400" b="1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6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06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20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07239" name="Object 39"/>
              <p:cNvSpPr txBox="1"/>
              <p:nvPr/>
            </p:nvSpPr>
            <p:spPr bwMode="auto">
              <a:xfrm>
                <a:off x="750888" y="1709420"/>
                <a:ext cx="492760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7239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0888" y="1709420"/>
                <a:ext cx="4927600" cy="914400"/>
              </a:xfrm>
              <a:prstGeom prst="rect">
                <a:avLst/>
              </a:prstGeom>
              <a:blipFill rotWithShape="1">
                <a:blip r:embed="rId1"/>
                <a:stretch>
                  <a:fillRect l="-6" r="6" b="-34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41" name="Text Box 41"/>
          <p:cNvSpPr txBox="1">
            <a:spLocks noChangeArrowheads="1"/>
          </p:cNvSpPr>
          <p:nvPr/>
        </p:nvSpPr>
        <p:spPr bwMode="auto">
          <a:xfrm>
            <a:off x="428625" y="3176270"/>
            <a:ext cx="385064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ea typeface="楷体_GB2312" pitchFamily="49" charset="-122"/>
              </a:rPr>
              <a:t> </a:t>
            </a:r>
            <a:r>
              <a:rPr lang="zh-CN" altLang="en-US" sz="2400" b="1">
                <a:ea typeface="楷体_GB2312" pitchFamily="49" charset="-122"/>
              </a:rPr>
              <a:t>当</a:t>
            </a:r>
            <a:r>
              <a:rPr lang="en-US" altLang="zh-CN" sz="2400" b="1">
                <a:ea typeface="楷体_GB2312" pitchFamily="49" charset="-122"/>
              </a:rPr>
              <a:t>V</a:t>
            </a:r>
            <a:r>
              <a:rPr lang="en-US" altLang="zh-CN" sz="2400" b="1" baseline="-25000">
                <a:ea typeface="楷体_GB2312" pitchFamily="49" charset="-122"/>
              </a:rPr>
              <a:t>I</a:t>
            </a:r>
            <a:r>
              <a:rPr lang="en-US" altLang="zh-CN" sz="2400" b="1">
                <a:ea typeface="楷体_GB2312" pitchFamily="49" charset="-122"/>
              </a:rPr>
              <a:t>=V</a:t>
            </a:r>
            <a:r>
              <a:rPr lang="en-US" altLang="zh-CN" sz="2400" b="1" baseline="-25000">
                <a:ea typeface="楷体_GB2312" pitchFamily="49" charset="-122"/>
              </a:rPr>
              <a:t>IL</a:t>
            </a:r>
            <a:r>
              <a:rPr lang="en-US" altLang="zh-CN" sz="2400" b="1">
                <a:ea typeface="楷体_GB2312" pitchFamily="49" charset="-122"/>
              </a:rPr>
              <a:t>=</a:t>
            </a:r>
            <a:r>
              <a:rPr lang="zh-CN" altLang="en-US" sz="2400" b="1">
                <a:ea typeface="楷体_GB2312" pitchFamily="49" charset="-122"/>
              </a:rPr>
              <a:t>０</a:t>
            </a:r>
            <a:r>
              <a:rPr lang="en-US" altLang="zh-CN" sz="2400" b="1">
                <a:ea typeface="楷体_GB2312" pitchFamily="49" charset="-122"/>
              </a:rPr>
              <a:t>V</a:t>
            </a:r>
            <a:r>
              <a:rPr lang="zh-CN" altLang="en-US" sz="2400" b="1">
                <a:ea typeface="楷体_GB2312" pitchFamily="49" charset="-122"/>
              </a:rPr>
              <a:t>时，</a:t>
            </a:r>
            <a:endParaRPr lang="zh-CN" altLang="en-US" sz="2400" b="1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242" name="Object 42"/>
              <p:cNvSpPr txBox="1"/>
              <p:nvPr/>
            </p:nvSpPr>
            <p:spPr bwMode="auto">
              <a:xfrm>
                <a:off x="627063" y="4021138"/>
                <a:ext cx="3589337" cy="8334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7242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7063" y="4021138"/>
                <a:ext cx="3589337" cy="833437"/>
              </a:xfrm>
              <a:prstGeom prst="rect">
                <a:avLst/>
              </a:prstGeom>
              <a:blipFill rotWithShape="1">
                <a:blip r:embed="rId2"/>
                <a:stretch>
                  <a:fillRect l="-9" t="-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243" name="Text Box 43"/>
          <p:cNvSpPr txBox="1">
            <a:spLocks noChangeArrowheads="1"/>
          </p:cNvSpPr>
          <p:nvPr/>
        </p:nvSpPr>
        <p:spPr bwMode="auto">
          <a:xfrm>
            <a:off x="428625" y="5216525"/>
            <a:ext cx="424370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ea typeface="楷体_GB2312" pitchFamily="49" charset="-122"/>
              </a:rPr>
              <a:t> </a:t>
            </a:r>
            <a:r>
              <a:rPr lang="zh-CN" altLang="en-US" sz="2400" b="1">
                <a:ea typeface="楷体_GB2312" pitchFamily="49" charset="-122"/>
              </a:rPr>
              <a:t>三极管截止，</a:t>
            </a:r>
            <a:r>
              <a:rPr lang="en-US" altLang="zh-CN" sz="2400" b="1">
                <a:ea typeface="楷体_GB2312" pitchFamily="49" charset="-122"/>
              </a:rPr>
              <a:t>V</a:t>
            </a:r>
            <a:r>
              <a:rPr lang="en-US" altLang="zh-CN" sz="2400" b="1" baseline="-25000">
                <a:ea typeface="楷体_GB2312" pitchFamily="49" charset="-122"/>
              </a:rPr>
              <a:t>0</a:t>
            </a:r>
            <a:r>
              <a:rPr lang="en-US" altLang="zh-CN" sz="2400" b="1">
                <a:ea typeface="楷体_GB2312" pitchFamily="49" charset="-122"/>
              </a:rPr>
              <a:t>=5V</a:t>
            </a:r>
            <a:endParaRPr lang="en-US" altLang="zh-CN" sz="2400" b="1">
              <a:ea typeface="楷体_GB2312" pitchFamily="49" charset="-122"/>
            </a:endParaRPr>
          </a:p>
        </p:txBody>
      </p:sp>
      <p:grpSp>
        <p:nvGrpSpPr>
          <p:cNvPr id="14342" name="Group 44"/>
          <p:cNvGrpSpPr/>
          <p:nvPr/>
        </p:nvGrpSpPr>
        <p:grpSpPr bwMode="auto">
          <a:xfrm>
            <a:off x="4838700" y="1816100"/>
            <a:ext cx="3743325" cy="3730625"/>
            <a:chOff x="3096" y="386"/>
            <a:chExt cx="2358" cy="2350"/>
          </a:xfrm>
        </p:grpSpPr>
        <p:grpSp>
          <p:nvGrpSpPr>
            <p:cNvPr id="14344" name="Group 45"/>
            <p:cNvGrpSpPr/>
            <p:nvPr/>
          </p:nvGrpSpPr>
          <p:grpSpPr bwMode="auto">
            <a:xfrm>
              <a:off x="4362" y="386"/>
              <a:ext cx="1092" cy="1368"/>
              <a:chOff x="4362" y="386"/>
              <a:chExt cx="1092" cy="1368"/>
            </a:xfrm>
          </p:grpSpPr>
          <p:sp>
            <p:nvSpPr>
              <p:cNvPr id="14366" name="Rectangle 46"/>
              <p:cNvSpPr>
                <a:spLocks noChangeArrowheads="1"/>
              </p:cNvSpPr>
              <p:nvPr/>
            </p:nvSpPr>
            <p:spPr bwMode="auto">
              <a:xfrm>
                <a:off x="4362" y="960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4367" name="Line 47"/>
              <p:cNvSpPr>
                <a:spLocks noChangeShapeType="1"/>
              </p:cNvSpPr>
              <p:nvPr/>
            </p:nvSpPr>
            <p:spPr bwMode="auto">
              <a:xfrm flipV="1">
                <a:off x="4422" y="648"/>
                <a:ext cx="12" cy="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8" name="Text Box 48"/>
              <p:cNvSpPr txBox="1">
                <a:spLocks noChangeArrowheads="1"/>
              </p:cNvSpPr>
              <p:nvPr/>
            </p:nvSpPr>
            <p:spPr bwMode="auto">
              <a:xfrm>
                <a:off x="4538" y="888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c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4369" name="Text Box 49"/>
              <p:cNvSpPr txBox="1">
                <a:spLocks noChangeArrowheads="1"/>
              </p:cNvSpPr>
              <p:nvPr/>
            </p:nvSpPr>
            <p:spPr bwMode="auto">
              <a:xfrm>
                <a:off x="4889" y="1466"/>
                <a:ext cx="5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(v</a:t>
                </a:r>
                <a:r>
                  <a:rPr lang="en-US" altLang="zh-CN" sz="2400" b="1" baseline="-25000">
                    <a:ea typeface="长城楷体" pitchFamily="49" charset="-122"/>
                  </a:rPr>
                  <a:t>o</a:t>
                </a:r>
                <a:r>
                  <a:rPr lang="en-US" altLang="zh-CN" sz="2400" b="1">
                    <a:ea typeface="长城楷体" pitchFamily="49" charset="-122"/>
                  </a:rPr>
                  <a:t>)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4370" name="Text Box 50"/>
              <p:cNvSpPr txBox="1">
                <a:spLocks noChangeArrowheads="1"/>
              </p:cNvSpPr>
              <p:nvPr/>
            </p:nvSpPr>
            <p:spPr bwMode="auto">
              <a:xfrm>
                <a:off x="4889" y="1220"/>
                <a:ext cx="38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长城楷体" pitchFamily="49" charset="-122"/>
                  </a:rPr>
                  <a:t>Y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4371" name="Text Box 51"/>
              <p:cNvSpPr txBox="1">
                <a:spLocks noChangeArrowheads="1"/>
              </p:cNvSpPr>
              <p:nvPr/>
            </p:nvSpPr>
            <p:spPr bwMode="auto">
              <a:xfrm>
                <a:off x="4573" y="386"/>
                <a:ext cx="8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V</a:t>
                </a:r>
                <a:r>
                  <a:rPr lang="en-US" altLang="zh-CN" sz="2400" b="1" baseline="-25000">
                    <a:ea typeface="长城楷体" pitchFamily="49" charset="-122"/>
                  </a:rPr>
                  <a:t>CC</a:t>
                </a:r>
                <a:r>
                  <a:rPr lang="en-US" altLang="zh-CN" sz="2400" b="1">
                    <a:ea typeface="长城楷体" pitchFamily="49" charset="-122"/>
                  </a:rPr>
                  <a:t>=5v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</p:grpSp>
        <p:grpSp>
          <p:nvGrpSpPr>
            <p:cNvPr id="14345" name="Group 52"/>
            <p:cNvGrpSpPr/>
            <p:nvPr/>
          </p:nvGrpSpPr>
          <p:grpSpPr bwMode="auto">
            <a:xfrm>
              <a:off x="3096" y="1356"/>
              <a:ext cx="1752" cy="1380"/>
              <a:chOff x="3096" y="1356"/>
              <a:chExt cx="1752" cy="1380"/>
            </a:xfrm>
          </p:grpSpPr>
          <p:sp>
            <p:nvSpPr>
              <p:cNvPr id="14346" name="Line 53"/>
              <p:cNvSpPr>
                <a:spLocks noChangeShapeType="1"/>
              </p:cNvSpPr>
              <p:nvPr/>
            </p:nvSpPr>
            <p:spPr bwMode="auto">
              <a:xfrm>
                <a:off x="4142" y="1644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7" name="Line 54"/>
              <p:cNvSpPr>
                <a:spLocks noChangeShapeType="1"/>
              </p:cNvSpPr>
              <p:nvPr/>
            </p:nvSpPr>
            <p:spPr bwMode="auto">
              <a:xfrm>
                <a:off x="4129" y="1836"/>
                <a:ext cx="323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8" name="Line 55"/>
              <p:cNvSpPr>
                <a:spLocks noChangeShapeType="1"/>
              </p:cNvSpPr>
              <p:nvPr/>
            </p:nvSpPr>
            <p:spPr bwMode="auto">
              <a:xfrm flipV="1">
                <a:off x="4129" y="1608"/>
                <a:ext cx="323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9" name="Oval 56"/>
              <p:cNvSpPr>
                <a:spLocks noChangeArrowheads="1"/>
              </p:cNvSpPr>
              <p:nvPr/>
            </p:nvSpPr>
            <p:spPr bwMode="auto">
              <a:xfrm>
                <a:off x="4386" y="1452"/>
                <a:ext cx="78" cy="84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4350" name="Line 57"/>
              <p:cNvSpPr>
                <a:spLocks noChangeShapeType="1"/>
              </p:cNvSpPr>
              <p:nvPr/>
            </p:nvSpPr>
            <p:spPr bwMode="auto">
              <a:xfrm flipH="1">
                <a:off x="3948" y="1836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1" name="Line 58"/>
              <p:cNvSpPr>
                <a:spLocks noChangeShapeType="1"/>
              </p:cNvSpPr>
              <p:nvPr/>
            </p:nvSpPr>
            <p:spPr bwMode="auto">
              <a:xfrm>
                <a:off x="4440" y="1512"/>
                <a:ext cx="4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2" name="Line 59"/>
              <p:cNvSpPr>
                <a:spLocks noChangeShapeType="1"/>
              </p:cNvSpPr>
              <p:nvPr/>
            </p:nvSpPr>
            <p:spPr bwMode="auto">
              <a:xfrm>
                <a:off x="4428" y="2058"/>
                <a:ext cx="0" cy="6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3" name="Line 60"/>
              <p:cNvSpPr>
                <a:spLocks noChangeShapeType="1"/>
              </p:cNvSpPr>
              <p:nvPr/>
            </p:nvSpPr>
            <p:spPr bwMode="auto">
              <a:xfrm>
                <a:off x="4248" y="2724"/>
                <a:ext cx="3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4" name="Line 61"/>
              <p:cNvSpPr>
                <a:spLocks noChangeShapeType="1"/>
              </p:cNvSpPr>
              <p:nvPr/>
            </p:nvSpPr>
            <p:spPr bwMode="auto">
              <a:xfrm flipH="1">
                <a:off x="3278" y="1825"/>
                <a:ext cx="2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5" name="Line 62"/>
              <p:cNvSpPr>
                <a:spLocks noChangeShapeType="1"/>
              </p:cNvSpPr>
              <p:nvPr/>
            </p:nvSpPr>
            <p:spPr bwMode="auto">
              <a:xfrm>
                <a:off x="4434" y="1356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6" name="Rectangle 63"/>
              <p:cNvSpPr>
                <a:spLocks noChangeArrowheads="1"/>
              </p:cNvSpPr>
              <p:nvPr/>
            </p:nvSpPr>
            <p:spPr bwMode="auto">
              <a:xfrm rot="5400000">
                <a:off x="3671" y="1624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4357" name="Text Box 64"/>
              <p:cNvSpPr txBox="1">
                <a:spLocks noChangeArrowheads="1"/>
              </p:cNvSpPr>
              <p:nvPr/>
            </p:nvSpPr>
            <p:spPr bwMode="auto">
              <a:xfrm>
                <a:off x="3578" y="1396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1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4358" name="Text Box 65"/>
              <p:cNvSpPr txBox="1">
                <a:spLocks noChangeArrowheads="1"/>
              </p:cNvSpPr>
              <p:nvPr/>
            </p:nvSpPr>
            <p:spPr bwMode="auto">
              <a:xfrm>
                <a:off x="3120" y="1515"/>
                <a:ext cx="29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长城楷体" pitchFamily="49" charset="-122"/>
                  </a:rPr>
                  <a:t>A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4359" name="Rectangle 66"/>
              <p:cNvSpPr>
                <a:spLocks noChangeArrowheads="1"/>
              </p:cNvSpPr>
              <p:nvPr/>
            </p:nvSpPr>
            <p:spPr bwMode="auto">
              <a:xfrm>
                <a:off x="3947" y="2044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4360" name="Line 67"/>
              <p:cNvSpPr>
                <a:spLocks noChangeShapeType="1"/>
              </p:cNvSpPr>
              <p:nvPr/>
            </p:nvSpPr>
            <p:spPr bwMode="auto">
              <a:xfrm>
                <a:off x="4008" y="1824"/>
                <a:ext cx="0" cy="2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1" name="Line 68"/>
              <p:cNvSpPr>
                <a:spLocks noChangeShapeType="1"/>
              </p:cNvSpPr>
              <p:nvPr/>
            </p:nvSpPr>
            <p:spPr bwMode="auto">
              <a:xfrm flipH="1">
                <a:off x="4008" y="2436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2" name="Text Box 69"/>
              <p:cNvSpPr txBox="1">
                <a:spLocks noChangeArrowheads="1"/>
              </p:cNvSpPr>
              <p:nvPr/>
            </p:nvSpPr>
            <p:spPr bwMode="auto">
              <a:xfrm>
                <a:off x="3180" y="2391"/>
                <a:ext cx="8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v</a:t>
                </a:r>
                <a:r>
                  <a:rPr lang="en-US" altLang="zh-CN" sz="2400" b="1" baseline="-25000">
                    <a:ea typeface="长城楷体" pitchFamily="49" charset="-122"/>
                  </a:rPr>
                  <a:t>EE</a:t>
                </a:r>
                <a:r>
                  <a:rPr lang="en-US" altLang="zh-CN" sz="2400" b="1">
                    <a:ea typeface="长城楷体" pitchFamily="49" charset="-122"/>
                  </a:rPr>
                  <a:t>=-8v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4363" name="Oval 70"/>
              <p:cNvSpPr>
                <a:spLocks noChangeArrowheads="1"/>
              </p:cNvSpPr>
              <p:nvPr/>
            </p:nvSpPr>
            <p:spPr bwMode="auto">
              <a:xfrm>
                <a:off x="3978" y="1824"/>
                <a:ext cx="78" cy="84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4364" name="Text Box 71"/>
              <p:cNvSpPr txBox="1">
                <a:spLocks noChangeArrowheads="1"/>
              </p:cNvSpPr>
              <p:nvPr/>
            </p:nvSpPr>
            <p:spPr bwMode="auto">
              <a:xfrm>
                <a:off x="3096" y="1814"/>
                <a:ext cx="5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(v</a:t>
                </a:r>
                <a:r>
                  <a:rPr lang="en-US" altLang="zh-CN" sz="2400" b="1" baseline="-25000">
                    <a:ea typeface="长城楷体" pitchFamily="49" charset="-122"/>
                  </a:rPr>
                  <a:t>i</a:t>
                </a:r>
                <a:r>
                  <a:rPr lang="en-US" altLang="zh-CN" sz="2400" b="1">
                    <a:ea typeface="长城楷体" pitchFamily="49" charset="-122"/>
                  </a:rPr>
                  <a:t>)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4365" name="Text Box 72"/>
              <p:cNvSpPr txBox="1">
                <a:spLocks noChangeArrowheads="1"/>
              </p:cNvSpPr>
              <p:nvPr/>
            </p:nvSpPr>
            <p:spPr bwMode="auto">
              <a:xfrm>
                <a:off x="4010" y="2176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2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</p:grpSp>
      </p:grpSp>
      <p:sp>
        <p:nvSpPr>
          <p:cNvPr id="14343" name="Text Box 160"/>
          <p:cNvSpPr txBox="1">
            <a:spLocks noChangeArrowheads="1"/>
          </p:cNvSpPr>
          <p:nvPr/>
        </p:nvSpPr>
        <p:spPr bwMode="auto">
          <a:xfrm>
            <a:off x="254000" y="671513"/>
            <a:ext cx="8502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400" b="1">
                <a:ea typeface="楷体_GB2312" pitchFamily="49" charset="-122"/>
              </a:rPr>
              <a:t>已知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C</a:t>
            </a:r>
            <a:r>
              <a:rPr lang="en-US" altLang="zh-CN" sz="2400" b="1">
                <a:ea typeface="楷体_GB2312" pitchFamily="49" charset="-122"/>
              </a:rPr>
              <a:t>=1K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1</a:t>
            </a:r>
            <a:r>
              <a:rPr lang="en-US" altLang="zh-CN" sz="2400" b="1">
                <a:ea typeface="楷体_GB2312" pitchFamily="49" charset="-122"/>
              </a:rPr>
              <a:t>=3.3K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2</a:t>
            </a:r>
            <a:r>
              <a:rPr lang="en-US" altLang="zh-CN" sz="2400" b="1">
                <a:ea typeface="楷体_GB2312" pitchFamily="49" charset="-122"/>
              </a:rPr>
              <a:t>=10K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 =2</a:t>
            </a:r>
            <a:r>
              <a:rPr lang="zh-CN" altLang="en-US" sz="2400" b="1"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CE(sat)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=0.1v,</a:t>
            </a:r>
            <a:r>
              <a:rPr lang="zh-CN" altLang="zh-CN" sz="2400" b="1">
                <a:ea typeface="楷体_GB2312" pitchFamily="49" charset="-122"/>
                <a:sym typeface="Symbol" panose="05050102010706020507" pitchFamily="18" charset="2"/>
              </a:rPr>
              <a:t>输入的高低电平分别为</a:t>
            </a:r>
            <a:r>
              <a:rPr lang="zh-CN" altLang="en-US" sz="2400" b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IH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=5v, 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IL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=0v,</a:t>
            </a:r>
            <a:r>
              <a:rPr lang="zh-CN" altLang="zh-CN" sz="2400" b="1">
                <a:ea typeface="楷体_GB2312" pitchFamily="49" charset="-122"/>
              </a:rPr>
              <a:t>求输出电平。</a:t>
            </a:r>
            <a:endParaRPr lang="zh-CN" altLang="en-US" sz="2400" b="1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07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9" grpId="0"/>
      <p:bldP spid="307241" grpId="0"/>
      <p:bldP spid="307242" grpId="0"/>
      <p:bldP spid="3072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8"/>
          <p:cNvSpPr txBox="1">
            <a:spLocks noChangeArrowheads="1"/>
          </p:cNvSpPr>
          <p:nvPr/>
        </p:nvSpPr>
        <p:spPr bwMode="auto">
          <a:xfrm>
            <a:off x="339725" y="1885950"/>
            <a:ext cx="687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ea typeface="楷体_GB2312" pitchFamily="49" charset="-122"/>
              </a:rPr>
              <a:t> </a:t>
            </a:r>
            <a:r>
              <a:rPr lang="zh-CN" altLang="en-US" sz="2400" b="1">
                <a:ea typeface="楷体_GB2312" pitchFamily="49" charset="-122"/>
              </a:rPr>
              <a:t>当</a:t>
            </a:r>
            <a:r>
              <a:rPr lang="en-US" altLang="zh-CN" sz="2400" b="1">
                <a:ea typeface="楷体_GB2312" pitchFamily="49" charset="-122"/>
              </a:rPr>
              <a:t>V</a:t>
            </a:r>
            <a:r>
              <a:rPr lang="en-US" altLang="zh-CN" sz="2400" b="1" baseline="-25000">
                <a:ea typeface="楷体_GB2312" pitchFamily="49" charset="-122"/>
              </a:rPr>
              <a:t>I</a:t>
            </a:r>
            <a:r>
              <a:rPr lang="en-US" altLang="zh-CN" sz="2400" b="1">
                <a:ea typeface="楷体_GB2312" pitchFamily="49" charset="-122"/>
              </a:rPr>
              <a:t>=V</a:t>
            </a:r>
            <a:r>
              <a:rPr lang="en-US" altLang="zh-CN" sz="2400" b="1" baseline="-25000">
                <a:ea typeface="楷体_GB2312" pitchFamily="49" charset="-122"/>
              </a:rPr>
              <a:t>IH</a:t>
            </a:r>
            <a:r>
              <a:rPr lang="en-US" altLang="zh-CN" sz="2400" b="1">
                <a:ea typeface="楷体_GB2312" pitchFamily="49" charset="-122"/>
              </a:rPr>
              <a:t>=5V</a:t>
            </a:r>
            <a:r>
              <a:rPr lang="zh-CN" altLang="en-US" sz="2400" b="1">
                <a:ea typeface="楷体_GB2312" pitchFamily="49" charset="-122"/>
              </a:rPr>
              <a:t>时，</a:t>
            </a:r>
            <a:endParaRPr lang="zh-CN" altLang="en-US" sz="2400" b="1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8264" name="Object 40"/>
              <p:cNvSpPr txBox="1"/>
              <p:nvPr/>
            </p:nvSpPr>
            <p:spPr bwMode="auto">
              <a:xfrm>
                <a:off x="484188" y="2651125"/>
                <a:ext cx="427355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𝐵𝐸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08264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4188" y="2651125"/>
                <a:ext cx="4273550" cy="914400"/>
              </a:xfrm>
              <a:prstGeom prst="rect">
                <a:avLst/>
              </a:prstGeom>
              <a:blipFill rotWithShape="1">
                <a:blip r:embed="rId1"/>
                <a:stretch>
                  <a:fillRect l="-7" r="7" b="-56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8265" name="Object 41"/>
              <p:cNvSpPr txBox="1"/>
              <p:nvPr/>
            </p:nvSpPr>
            <p:spPr bwMode="auto">
              <a:xfrm>
                <a:off x="623888" y="3703638"/>
                <a:ext cx="3516312" cy="971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𝐵𝑠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𝐶𝐶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𝐶𝐸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𝑠𝑎𝑡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08265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888" y="3703638"/>
                <a:ext cx="3516312" cy="971550"/>
              </a:xfrm>
              <a:prstGeom prst="rect">
                <a:avLst/>
              </a:prstGeom>
              <a:blipFill rotWithShape="1">
                <a:blip r:embed="rId2"/>
                <a:stretch>
                  <a:fillRect l="-9" t="-33" b="-8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8266" name="Group 42"/>
          <p:cNvGrpSpPr/>
          <p:nvPr/>
        </p:nvGrpSpPr>
        <p:grpSpPr bwMode="auto">
          <a:xfrm>
            <a:off x="0" y="5138749"/>
            <a:ext cx="6877050" cy="590551"/>
            <a:chOff x="492" y="3048"/>
            <a:chExt cx="4332" cy="372"/>
          </a:xfrm>
        </p:grpSpPr>
        <p:sp>
          <p:nvSpPr>
            <p:cNvPr id="15397" name="Text Box 43"/>
            <p:cNvSpPr txBox="1">
              <a:spLocks noChangeArrowheads="1"/>
            </p:cNvSpPr>
            <p:nvPr/>
          </p:nvSpPr>
          <p:spPr bwMode="auto">
            <a:xfrm>
              <a:off x="492" y="3060"/>
              <a:ext cx="43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b="1">
                  <a:ea typeface="楷体_GB2312" pitchFamily="49" charset="-122"/>
                </a:rPr>
                <a:t> </a:t>
              </a:r>
              <a:r>
                <a:rPr lang="zh-CN" altLang="en-US" sz="2400" b="1">
                  <a:ea typeface="楷体_GB2312" pitchFamily="49" charset="-122"/>
                </a:rPr>
                <a:t>满足　　　　　，三极管饱和，</a:t>
              </a:r>
              <a:r>
                <a:rPr lang="en-US" altLang="zh-CN" sz="2400" b="1">
                  <a:ea typeface="楷体_GB2312" pitchFamily="49" charset="-122"/>
                </a:rPr>
                <a:t>V</a:t>
              </a:r>
              <a:r>
                <a:rPr lang="en-US" altLang="zh-CN" sz="2400" b="1" baseline="-25000">
                  <a:ea typeface="楷体_GB2312" pitchFamily="49" charset="-122"/>
                </a:rPr>
                <a:t>0</a:t>
              </a:r>
              <a:r>
                <a:rPr lang="en-US" altLang="zh-CN" sz="2400" b="1">
                  <a:ea typeface="楷体_GB2312" pitchFamily="49" charset="-122"/>
                </a:rPr>
                <a:t>=V</a:t>
              </a:r>
              <a:r>
                <a:rPr lang="en-US" altLang="zh-CN" sz="2400" b="1" baseline="-25000">
                  <a:ea typeface="楷体_GB2312" pitchFamily="49" charset="-122"/>
                </a:rPr>
                <a:t>CE(sat)</a:t>
              </a:r>
              <a:r>
                <a:rPr lang="en-US" altLang="zh-CN" sz="2400" b="1">
                  <a:ea typeface="楷体_GB2312" pitchFamily="49" charset="-122"/>
                </a:rPr>
                <a:t>=0.1V</a:t>
              </a:r>
              <a:r>
                <a:rPr lang="zh-CN" altLang="en-US" sz="2400" b="1">
                  <a:ea typeface="楷体_GB2312" pitchFamily="49" charset="-122"/>
                </a:rPr>
                <a:t>。</a:t>
              </a:r>
              <a:endParaRPr lang="zh-CN" altLang="en-US" sz="2400" b="1">
                <a:ea typeface="楷体_GB2312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98" name="Object 44"/>
                <p:cNvSpPr txBox="1"/>
                <p:nvPr/>
              </p:nvSpPr>
              <p:spPr bwMode="auto">
                <a:xfrm>
                  <a:off x="1051" y="3048"/>
                  <a:ext cx="869" cy="37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𝐵𝑠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398" name="Object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1" y="3048"/>
                  <a:ext cx="869" cy="372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8269" name="Text Box 45"/>
          <p:cNvSpPr txBox="1">
            <a:spLocks noChangeArrowheads="1"/>
          </p:cNvSpPr>
          <p:nvPr/>
        </p:nvSpPr>
        <p:spPr bwMode="auto">
          <a:xfrm>
            <a:off x="301625" y="6021388"/>
            <a:ext cx="687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ea typeface="楷体_GB2312" pitchFamily="49" charset="-122"/>
              </a:rPr>
              <a:t> </a:t>
            </a:r>
            <a:r>
              <a:rPr lang="zh-CN" altLang="en-US" sz="2400" b="1" dirty="0">
                <a:ea typeface="楷体_GB2312" pitchFamily="49" charset="-122"/>
              </a:rPr>
              <a:t>因此，电路参数的设计是合理的。</a:t>
            </a:r>
            <a:endParaRPr lang="zh-CN" altLang="en-US" sz="2400" b="1" dirty="0">
              <a:ea typeface="楷体_GB2312" pitchFamily="49" charset="-122"/>
            </a:endParaRPr>
          </a:p>
        </p:txBody>
      </p:sp>
      <p:grpSp>
        <p:nvGrpSpPr>
          <p:cNvPr id="15367" name="Group 46"/>
          <p:cNvGrpSpPr/>
          <p:nvPr/>
        </p:nvGrpSpPr>
        <p:grpSpPr bwMode="auto">
          <a:xfrm>
            <a:off x="5153025" y="1201738"/>
            <a:ext cx="3743325" cy="3730625"/>
            <a:chOff x="3096" y="386"/>
            <a:chExt cx="2358" cy="2350"/>
          </a:xfrm>
        </p:grpSpPr>
        <p:grpSp>
          <p:nvGrpSpPr>
            <p:cNvPr id="15369" name="Group 47"/>
            <p:cNvGrpSpPr/>
            <p:nvPr/>
          </p:nvGrpSpPr>
          <p:grpSpPr bwMode="auto">
            <a:xfrm>
              <a:off x="4362" y="386"/>
              <a:ext cx="1092" cy="1368"/>
              <a:chOff x="4362" y="386"/>
              <a:chExt cx="1092" cy="1368"/>
            </a:xfrm>
          </p:grpSpPr>
          <p:sp>
            <p:nvSpPr>
              <p:cNvPr id="15391" name="Rectangle 48"/>
              <p:cNvSpPr>
                <a:spLocks noChangeArrowheads="1"/>
              </p:cNvSpPr>
              <p:nvPr/>
            </p:nvSpPr>
            <p:spPr bwMode="auto">
              <a:xfrm>
                <a:off x="4362" y="960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5392" name="Line 49"/>
              <p:cNvSpPr>
                <a:spLocks noChangeShapeType="1"/>
              </p:cNvSpPr>
              <p:nvPr/>
            </p:nvSpPr>
            <p:spPr bwMode="auto">
              <a:xfrm flipV="1">
                <a:off x="4422" y="648"/>
                <a:ext cx="12" cy="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3" name="Text Box 50"/>
              <p:cNvSpPr txBox="1">
                <a:spLocks noChangeArrowheads="1"/>
              </p:cNvSpPr>
              <p:nvPr/>
            </p:nvSpPr>
            <p:spPr bwMode="auto">
              <a:xfrm>
                <a:off x="4538" y="888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c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5394" name="Text Box 51"/>
              <p:cNvSpPr txBox="1">
                <a:spLocks noChangeArrowheads="1"/>
              </p:cNvSpPr>
              <p:nvPr/>
            </p:nvSpPr>
            <p:spPr bwMode="auto">
              <a:xfrm>
                <a:off x="4889" y="1466"/>
                <a:ext cx="5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(v</a:t>
                </a:r>
                <a:r>
                  <a:rPr lang="en-US" altLang="zh-CN" sz="2400" b="1" baseline="-25000">
                    <a:ea typeface="长城楷体" pitchFamily="49" charset="-122"/>
                  </a:rPr>
                  <a:t>o</a:t>
                </a:r>
                <a:r>
                  <a:rPr lang="en-US" altLang="zh-CN" sz="2400" b="1">
                    <a:ea typeface="长城楷体" pitchFamily="49" charset="-122"/>
                  </a:rPr>
                  <a:t>)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5395" name="Text Box 52"/>
              <p:cNvSpPr txBox="1">
                <a:spLocks noChangeArrowheads="1"/>
              </p:cNvSpPr>
              <p:nvPr/>
            </p:nvSpPr>
            <p:spPr bwMode="auto">
              <a:xfrm>
                <a:off x="4889" y="1220"/>
                <a:ext cx="38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长城楷体" pitchFamily="49" charset="-122"/>
                  </a:rPr>
                  <a:t>Y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5396" name="Text Box 53"/>
              <p:cNvSpPr txBox="1">
                <a:spLocks noChangeArrowheads="1"/>
              </p:cNvSpPr>
              <p:nvPr/>
            </p:nvSpPr>
            <p:spPr bwMode="auto">
              <a:xfrm>
                <a:off x="4573" y="386"/>
                <a:ext cx="83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V</a:t>
                </a:r>
                <a:r>
                  <a:rPr lang="en-US" altLang="zh-CN" sz="2400" b="1" baseline="-25000">
                    <a:ea typeface="长城楷体" pitchFamily="49" charset="-122"/>
                  </a:rPr>
                  <a:t>CC</a:t>
                </a:r>
                <a:r>
                  <a:rPr lang="en-US" altLang="zh-CN" sz="2400" b="1">
                    <a:ea typeface="长城楷体" pitchFamily="49" charset="-122"/>
                  </a:rPr>
                  <a:t>=5v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</p:grpSp>
        <p:grpSp>
          <p:nvGrpSpPr>
            <p:cNvPr id="15370" name="Group 54"/>
            <p:cNvGrpSpPr/>
            <p:nvPr/>
          </p:nvGrpSpPr>
          <p:grpSpPr bwMode="auto">
            <a:xfrm>
              <a:off x="3096" y="1356"/>
              <a:ext cx="1752" cy="1380"/>
              <a:chOff x="3096" y="1356"/>
              <a:chExt cx="1752" cy="1380"/>
            </a:xfrm>
          </p:grpSpPr>
          <p:sp>
            <p:nvSpPr>
              <p:cNvPr id="15371" name="Line 55"/>
              <p:cNvSpPr>
                <a:spLocks noChangeShapeType="1"/>
              </p:cNvSpPr>
              <p:nvPr/>
            </p:nvSpPr>
            <p:spPr bwMode="auto">
              <a:xfrm>
                <a:off x="4142" y="1644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2" name="Line 56"/>
              <p:cNvSpPr>
                <a:spLocks noChangeShapeType="1"/>
              </p:cNvSpPr>
              <p:nvPr/>
            </p:nvSpPr>
            <p:spPr bwMode="auto">
              <a:xfrm>
                <a:off x="4129" y="1836"/>
                <a:ext cx="323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3" name="Line 57"/>
              <p:cNvSpPr>
                <a:spLocks noChangeShapeType="1"/>
              </p:cNvSpPr>
              <p:nvPr/>
            </p:nvSpPr>
            <p:spPr bwMode="auto">
              <a:xfrm flipV="1">
                <a:off x="4129" y="1608"/>
                <a:ext cx="323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4" name="Oval 58"/>
              <p:cNvSpPr>
                <a:spLocks noChangeArrowheads="1"/>
              </p:cNvSpPr>
              <p:nvPr/>
            </p:nvSpPr>
            <p:spPr bwMode="auto">
              <a:xfrm>
                <a:off x="4386" y="1452"/>
                <a:ext cx="78" cy="84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5375" name="Line 59"/>
              <p:cNvSpPr>
                <a:spLocks noChangeShapeType="1"/>
              </p:cNvSpPr>
              <p:nvPr/>
            </p:nvSpPr>
            <p:spPr bwMode="auto">
              <a:xfrm flipH="1">
                <a:off x="3948" y="1836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6" name="Line 60"/>
              <p:cNvSpPr>
                <a:spLocks noChangeShapeType="1"/>
              </p:cNvSpPr>
              <p:nvPr/>
            </p:nvSpPr>
            <p:spPr bwMode="auto">
              <a:xfrm>
                <a:off x="4440" y="1512"/>
                <a:ext cx="4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7" name="Line 61"/>
              <p:cNvSpPr>
                <a:spLocks noChangeShapeType="1"/>
              </p:cNvSpPr>
              <p:nvPr/>
            </p:nvSpPr>
            <p:spPr bwMode="auto">
              <a:xfrm>
                <a:off x="4428" y="2058"/>
                <a:ext cx="0" cy="6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8" name="Line 62"/>
              <p:cNvSpPr>
                <a:spLocks noChangeShapeType="1"/>
              </p:cNvSpPr>
              <p:nvPr/>
            </p:nvSpPr>
            <p:spPr bwMode="auto">
              <a:xfrm>
                <a:off x="4248" y="2724"/>
                <a:ext cx="3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79" name="Line 63"/>
              <p:cNvSpPr>
                <a:spLocks noChangeShapeType="1"/>
              </p:cNvSpPr>
              <p:nvPr/>
            </p:nvSpPr>
            <p:spPr bwMode="auto">
              <a:xfrm flipH="1">
                <a:off x="3278" y="1825"/>
                <a:ext cx="2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0" name="Line 64"/>
              <p:cNvSpPr>
                <a:spLocks noChangeShapeType="1"/>
              </p:cNvSpPr>
              <p:nvPr/>
            </p:nvSpPr>
            <p:spPr bwMode="auto">
              <a:xfrm>
                <a:off x="4434" y="1356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1" name="Rectangle 65"/>
              <p:cNvSpPr>
                <a:spLocks noChangeArrowheads="1"/>
              </p:cNvSpPr>
              <p:nvPr/>
            </p:nvSpPr>
            <p:spPr bwMode="auto">
              <a:xfrm rot="5400000">
                <a:off x="3671" y="1624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5382" name="Text Box 66"/>
              <p:cNvSpPr txBox="1">
                <a:spLocks noChangeArrowheads="1"/>
              </p:cNvSpPr>
              <p:nvPr/>
            </p:nvSpPr>
            <p:spPr bwMode="auto">
              <a:xfrm>
                <a:off x="3578" y="1396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1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5383" name="Text Box 67"/>
              <p:cNvSpPr txBox="1">
                <a:spLocks noChangeArrowheads="1"/>
              </p:cNvSpPr>
              <p:nvPr/>
            </p:nvSpPr>
            <p:spPr bwMode="auto">
              <a:xfrm>
                <a:off x="3120" y="1515"/>
                <a:ext cx="29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长城楷体" pitchFamily="49" charset="-122"/>
                  </a:rPr>
                  <a:t>A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  <p:sp>
            <p:nvSpPr>
              <p:cNvPr id="15384" name="Rectangle 68"/>
              <p:cNvSpPr>
                <a:spLocks noChangeArrowheads="1"/>
              </p:cNvSpPr>
              <p:nvPr/>
            </p:nvSpPr>
            <p:spPr bwMode="auto">
              <a:xfrm>
                <a:off x="3947" y="2044"/>
                <a:ext cx="120" cy="40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5385" name="Line 69"/>
              <p:cNvSpPr>
                <a:spLocks noChangeShapeType="1"/>
              </p:cNvSpPr>
              <p:nvPr/>
            </p:nvSpPr>
            <p:spPr bwMode="auto">
              <a:xfrm>
                <a:off x="4008" y="1824"/>
                <a:ext cx="0" cy="2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6" name="Line 70"/>
              <p:cNvSpPr>
                <a:spLocks noChangeShapeType="1"/>
              </p:cNvSpPr>
              <p:nvPr/>
            </p:nvSpPr>
            <p:spPr bwMode="auto">
              <a:xfrm flipH="1">
                <a:off x="4008" y="2436"/>
                <a:ext cx="0" cy="2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87" name="Text Box 71"/>
              <p:cNvSpPr txBox="1">
                <a:spLocks noChangeArrowheads="1"/>
              </p:cNvSpPr>
              <p:nvPr/>
            </p:nvSpPr>
            <p:spPr bwMode="auto">
              <a:xfrm>
                <a:off x="3180" y="2391"/>
                <a:ext cx="8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v</a:t>
                </a:r>
                <a:r>
                  <a:rPr lang="en-US" altLang="zh-CN" sz="2400" b="1" baseline="-25000">
                    <a:ea typeface="长城楷体" pitchFamily="49" charset="-122"/>
                  </a:rPr>
                  <a:t>EE</a:t>
                </a:r>
                <a:r>
                  <a:rPr lang="en-US" altLang="zh-CN" sz="2400" b="1">
                    <a:ea typeface="长城楷体" pitchFamily="49" charset="-122"/>
                  </a:rPr>
                  <a:t>=-8v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5388" name="Oval 72"/>
              <p:cNvSpPr>
                <a:spLocks noChangeArrowheads="1"/>
              </p:cNvSpPr>
              <p:nvPr/>
            </p:nvSpPr>
            <p:spPr bwMode="auto">
              <a:xfrm>
                <a:off x="3978" y="1824"/>
                <a:ext cx="78" cy="84"/>
              </a:xfrm>
              <a:prstGeom prst="ellipse">
                <a:avLst/>
              </a:prstGeom>
              <a:solidFill>
                <a:schemeClr val="tx2"/>
              </a:solidFill>
              <a:ln w="38100">
                <a:solidFill>
                  <a:schemeClr val="tx1"/>
                </a:solidFill>
                <a:round/>
                <a:tailEnd type="none" w="sm" len="lg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5389" name="Text Box 73"/>
              <p:cNvSpPr txBox="1">
                <a:spLocks noChangeArrowheads="1"/>
              </p:cNvSpPr>
              <p:nvPr/>
            </p:nvSpPr>
            <p:spPr bwMode="auto">
              <a:xfrm>
                <a:off x="3096" y="1814"/>
                <a:ext cx="56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>
                    <a:ea typeface="长城楷体" pitchFamily="49" charset="-122"/>
                  </a:rPr>
                  <a:t>(v</a:t>
                </a:r>
                <a:r>
                  <a:rPr lang="en-US" altLang="zh-CN" sz="2400" b="1" baseline="-25000">
                    <a:ea typeface="长城楷体" pitchFamily="49" charset="-122"/>
                  </a:rPr>
                  <a:t>i</a:t>
                </a:r>
                <a:r>
                  <a:rPr lang="en-US" altLang="zh-CN" sz="2400" b="1">
                    <a:ea typeface="长城楷体" pitchFamily="49" charset="-122"/>
                  </a:rPr>
                  <a:t>)</a:t>
                </a:r>
                <a:endParaRPr lang="en-US" altLang="zh-CN" sz="2400" b="1">
                  <a:ea typeface="长城楷体" pitchFamily="49" charset="-122"/>
                </a:endParaRPr>
              </a:p>
            </p:txBody>
          </p:sp>
          <p:sp>
            <p:nvSpPr>
              <p:cNvPr id="15390" name="Text Box 74"/>
              <p:cNvSpPr txBox="1">
                <a:spLocks noChangeArrowheads="1"/>
              </p:cNvSpPr>
              <p:nvPr/>
            </p:nvSpPr>
            <p:spPr bwMode="auto">
              <a:xfrm>
                <a:off x="4010" y="2176"/>
                <a:ext cx="37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R</a:t>
                </a:r>
                <a:r>
                  <a:rPr lang="en-US" altLang="zh-CN" sz="2800" b="1" baseline="-25000">
                    <a:ea typeface="长城楷体" pitchFamily="49" charset="-122"/>
                  </a:rPr>
                  <a:t>2</a:t>
                </a:r>
                <a:endParaRPr lang="en-US" altLang="zh-CN" sz="3200" b="1">
                  <a:ea typeface="长城楷体" pitchFamily="49" charset="-122"/>
                </a:endParaRPr>
              </a:p>
            </p:txBody>
          </p:sp>
        </p:grpSp>
      </p:grpSp>
      <p:sp>
        <p:nvSpPr>
          <p:cNvPr id="15368" name="Text Box 76"/>
          <p:cNvSpPr txBox="1">
            <a:spLocks noChangeArrowheads="1"/>
          </p:cNvSpPr>
          <p:nvPr/>
        </p:nvSpPr>
        <p:spPr bwMode="auto">
          <a:xfrm>
            <a:off x="254000" y="671513"/>
            <a:ext cx="8502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zh-CN" altLang="en-US" sz="2400" b="1">
                <a:ea typeface="楷体_GB2312" pitchFamily="49" charset="-122"/>
              </a:rPr>
              <a:t>已知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C</a:t>
            </a:r>
            <a:r>
              <a:rPr lang="en-US" altLang="zh-CN" sz="2400" b="1">
                <a:ea typeface="楷体_GB2312" pitchFamily="49" charset="-122"/>
              </a:rPr>
              <a:t>=1K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1</a:t>
            </a:r>
            <a:r>
              <a:rPr lang="en-US" altLang="zh-CN" sz="2400" b="1">
                <a:ea typeface="楷体_GB2312" pitchFamily="49" charset="-122"/>
              </a:rPr>
              <a:t>=3.3K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</a:t>
            </a:r>
            <a:r>
              <a:rPr lang="en-US" altLang="zh-CN" sz="2400" b="1">
                <a:ea typeface="楷体_GB2312" pitchFamily="49" charset="-122"/>
              </a:rPr>
              <a:t>R</a:t>
            </a:r>
            <a:r>
              <a:rPr lang="en-US" altLang="zh-CN" sz="2400" b="1" baseline="-25000">
                <a:ea typeface="楷体_GB2312" pitchFamily="49" charset="-122"/>
              </a:rPr>
              <a:t>2</a:t>
            </a:r>
            <a:r>
              <a:rPr lang="en-US" altLang="zh-CN" sz="2400" b="1">
                <a:ea typeface="楷体_GB2312" pitchFamily="49" charset="-122"/>
              </a:rPr>
              <a:t>=10K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, =2</a:t>
            </a:r>
            <a:r>
              <a:rPr lang="zh-CN" altLang="en-US" sz="2400" b="1">
                <a:ea typeface="楷体_GB2312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CE(sat)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=0.1v,</a:t>
            </a:r>
            <a:r>
              <a:rPr lang="zh-CN" altLang="zh-CN" sz="2400" b="1">
                <a:ea typeface="楷体_GB2312" pitchFamily="49" charset="-122"/>
                <a:sym typeface="Symbol" panose="05050102010706020507" pitchFamily="18" charset="2"/>
              </a:rPr>
              <a:t>输入的高低电平分别为</a:t>
            </a:r>
            <a:r>
              <a:rPr lang="zh-CN" altLang="en-US" sz="2400" b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IH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=5v, V</a:t>
            </a:r>
            <a:r>
              <a:rPr lang="en-US" altLang="zh-CN" sz="2400" b="1" baseline="-25000">
                <a:ea typeface="楷体_GB2312" pitchFamily="49" charset="-122"/>
                <a:sym typeface="Symbol" panose="05050102010706020507" pitchFamily="18" charset="2"/>
              </a:rPr>
              <a:t>IL</a:t>
            </a:r>
            <a:r>
              <a:rPr lang="en-US" altLang="zh-CN" sz="2400" b="1">
                <a:ea typeface="楷体_GB2312" pitchFamily="49" charset="-122"/>
                <a:sym typeface="Symbol" panose="05050102010706020507" pitchFamily="18" charset="2"/>
              </a:rPr>
              <a:t>=0v,</a:t>
            </a:r>
            <a:r>
              <a:rPr lang="zh-CN" altLang="zh-CN" sz="2400" b="1">
                <a:ea typeface="楷体_GB2312" pitchFamily="49" charset="-122"/>
              </a:rPr>
              <a:t>求输出电平。</a:t>
            </a:r>
            <a:endParaRPr lang="zh-CN" altLang="en-US" sz="2400" b="1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/>
          <p:nvPr/>
        </p:nvGrpSpPr>
        <p:grpSpPr bwMode="auto">
          <a:xfrm>
            <a:off x="5365750" y="3344863"/>
            <a:ext cx="742950" cy="762000"/>
            <a:chOff x="1020" y="2412"/>
            <a:chExt cx="468" cy="480"/>
          </a:xfrm>
        </p:grpSpPr>
        <p:sp>
          <p:nvSpPr>
            <p:cNvPr id="16441" name="Line 3"/>
            <p:cNvSpPr>
              <a:spLocks noChangeShapeType="1"/>
            </p:cNvSpPr>
            <p:nvPr/>
          </p:nvSpPr>
          <p:spPr bwMode="auto">
            <a:xfrm>
              <a:off x="1200" y="2472"/>
              <a:ext cx="0" cy="3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2" name="Line 4"/>
            <p:cNvSpPr>
              <a:spLocks noChangeShapeType="1"/>
            </p:cNvSpPr>
            <p:nvPr/>
          </p:nvSpPr>
          <p:spPr bwMode="auto">
            <a:xfrm>
              <a:off x="1188" y="2664"/>
              <a:ext cx="30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3" name="Line 5"/>
            <p:cNvSpPr>
              <a:spLocks noChangeShapeType="1"/>
            </p:cNvSpPr>
            <p:nvPr/>
          </p:nvSpPr>
          <p:spPr bwMode="auto">
            <a:xfrm flipV="1">
              <a:off x="1188" y="2436"/>
              <a:ext cx="30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4" name="Oval 6"/>
            <p:cNvSpPr>
              <a:spLocks noChangeArrowheads="1"/>
            </p:cNvSpPr>
            <p:nvPr/>
          </p:nvSpPr>
          <p:spPr bwMode="auto">
            <a:xfrm>
              <a:off x="1416" y="2412"/>
              <a:ext cx="72" cy="84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45" name="Line 7"/>
            <p:cNvSpPr>
              <a:spLocks noChangeShapeType="1"/>
            </p:cNvSpPr>
            <p:nvPr/>
          </p:nvSpPr>
          <p:spPr bwMode="auto">
            <a:xfrm flipH="1">
              <a:off x="1020" y="2664"/>
              <a:ext cx="1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87" name="Line 8"/>
          <p:cNvSpPr>
            <a:spLocks noChangeShapeType="1"/>
          </p:cNvSpPr>
          <p:nvPr/>
        </p:nvSpPr>
        <p:spPr bwMode="auto">
          <a:xfrm>
            <a:off x="6051550" y="3402013"/>
            <a:ext cx="1962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6388" name="Group 9"/>
          <p:cNvGrpSpPr/>
          <p:nvPr/>
        </p:nvGrpSpPr>
        <p:grpSpPr bwMode="auto">
          <a:xfrm rot="5400000">
            <a:off x="6227763" y="2430463"/>
            <a:ext cx="1371600" cy="609600"/>
            <a:chOff x="1236" y="1638"/>
            <a:chExt cx="864" cy="384"/>
          </a:xfrm>
        </p:grpSpPr>
        <p:sp>
          <p:nvSpPr>
            <p:cNvPr id="16438" name="Line 10"/>
            <p:cNvSpPr>
              <a:spLocks noChangeShapeType="1"/>
            </p:cNvSpPr>
            <p:nvPr/>
          </p:nvSpPr>
          <p:spPr bwMode="auto">
            <a:xfrm flipH="1">
              <a:off x="1488" y="1638"/>
              <a:ext cx="1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9" name="AutoShape 11"/>
            <p:cNvSpPr>
              <a:spLocks noChangeArrowheads="1"/>
            </p:cNvSpPr>
            <p:nvPr/>
          </p:nvSpPr>
          <p:spPr bwMode="auto">
            <a:xfrm rot="16200000" flipH="1">
              <a:off x="1446" y="1698"/>
              <a:ext cx="372" cy="26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3300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40" name="Line 12"/>
            <p:cNvSpPr>
              <a:spLocks noChangeShapeType="1"/>
            </p:cNvSpPr>
            <p:nvPr/>
          </p:nvSpPr>
          <p:spPr bwMode="auto">
            <a:xfrm>
              <a:off x="1236" y="1830"/>
              <a:ext cx="864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89" name="Oval 13"/>
          <p:cNvSpPr>
            <a:spLocks noChangeArrowheads="1"/>
          </p:cNvSpPr>
          <p:nvPr/>
        </p:nvSpPr>
        <p:spPr bwMode="auto">
          <a:xfrm>
            <a:off x="6851650" y="3330575"/>
            <a:ext cx="114300" cy="133350"/>
          </a:xfrm>
          <a:prstGeom prst="ellipse">
            <a:avLst/>
          </a:prstGeom>
          <a:solidFill>
            <a:schemeClr val="tx2">
              <a:alpha val="0"/>
            </a:schemeClr>
          </a:solidFill>
          <a:ln w="38100">
            <a:solidFill>
              <a:srgbClr val="FF3300"/>
            </a:solidFill>
            <a:round/>
            <a:tailEnd type="none" w="sm" len="lg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6390" name="Oval 14"/>
          <p:cNvSpPr>
            <a:spLocks noChangeArrowheads="1"/>
          </p:cNvSpPr>
          <p:nvPr/>
        </p:nvSpPr>
        <p:spPr bwMode="auto">
          <a:xfrm>
            <a:off x="6818313" y="1858963"/>
            <a:ext cx="190500" cy="20955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6391" name="Line 15"/>
          <p:cNvSpPr>
            <a:spLocks noChangeShapeType="1"/>
          </p:cNvSpPr>
          <p:nvPr/>
        </p:nvSpPr>
        <p:spPr bwMode="auto">
          <a:xfrm>
            <a:off x="6070600" y="4078288"/>
            <a:ext cx="0" cy="10763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2" name="Line 16"/>
          <p:cNvSpPr>
            <a:spLocks noChangeShapeType="1"/>
          </p:cNvSpPr>
          <p:nvPr/>
        </p:nvSpPr>
        <p:spPr bwMode="auto">
          <a:xfrm>
            <a:off x="5784850" y="5154613"/>
            <a:ext cx="552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3" name="Line 17"/>
          <p:cNvSpPr>
            <a:spLocks noChangeShapeType="1"/>
          </p:cNvSpPr>
          <p:nvPr/>
        </p:nvSpPr>
        <p:spPr bwMode="auto">
          <a:xfrm flipH="1">
            <a:off x="4340225" y="3727450"/>
            <a:ext cx="37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4" name="Oval 18"/>
          <p:cNvSpPr>
            <a:spLocks noChangeArrowheads="1"/>
          </p:cNvSpPr>
          <p:nvPr/>
        </p:nvSpPr>
        <p:spPr bwMode="auto">
          <a:xfrm>
            <a:off x="4151313" y="3619500"/>
            <a:ext cx="190500" cy="2095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6395" name="Oval 19"/>
          <p:cNvSpPr>
            <a:spLocks noChangeArrowheads="1"/>
          </p:cNvSpPr>
          <p:nvPr/>
        </p:nvSpPr>
        <p:spPr bwMode="auto">
          <a:xfrm>
            <a:off x="8032750" y="3271838"/>
            <a:ext cx="190500" cy="2095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6396" name="Rectangle 20"/>
          <p:cNvSpPr>
            <a:spLocks noChangeArrowheads="1"/>
          </p:cNvSpPr>
          <p:nvPr/>
        </p:nvSpPr>
        <p:spPr bwMode="auto">
          <a:xfrm>
            <a:off x="5965825" y="2354263"/>
            <a:ext cx="190500" cy="6477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6397" name="Line 21"/>
          <p:cNvSpPr>
            <a:spLocks noChangeShapeType="1"/>
          </p:cNvSpPr>
          <p:nvPr/>
        </p:nvSpPr>
        <p:spPr bwMode="auto">
          <a:xfrm>
            <a:off x="6061075" y="3001963"/>
            <a:ext cx="0" cy="400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8" name="Line 22"/>
          <p:cNvSpPr>
            <a:spLocks noChangeShapeType="1"/>
          </p:cNvSpPr>
          <p:nvPr/>
        </p:nvSpPr>
        <p:spPr bwMode="auto">
          <a:xfrm flipV="1">
            <a:off x="6061075" y="2030413"/>
            <a:ext cx="0" cy="323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9" name="Oval 23"/>
          <p:cNvSpPr>
            <a:spLocks noChangeArrowheads="1"/>
          </p:cNvSpPr>
          <p:nvPr/>
        </p:nvSpPr>
        <p:spPr bwMode="auto">
          <a:xfrm>
            <a:off x="5965825" y="1820863"/>
            <a:ext cx="190500" cy="2095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6400" name="Text Box 24"/>
          <p:cNvSpPr txBox="1">
            <a:spLocks noChangeArrowheads="1"/>
          </p:cNvSpPr>
          <p:nvPr/>
        </p:nvSpPr>
        <p:spPr bwMode="auto">
          <a:xfrm>
            <a:off x="5426075" y="2487613"/>
            <a:ext cx="596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1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6401" name="Text Box 25"/>
          <p:cNvSpPr txBox="1">
            <a:spLocks noChangeArrowheads="1"/>
          </p:cNvSpPr>
          <p:nvPr/>
        </p:nvSpPr>
        <p:spPr bwMode="auto">
          <a:xfrm>
            <a:off x="7373938" y="2471738"/>
            <a:ext cx="477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  <a:ea typeface="楷体_GB2312" pitchFamily="49" charset="-122"/>
              </a:rPr>
              <a:t>D</a:t>
            </a:r>
            <a:endParaRPr lang="en-US" altLang="zh-CN" sz="32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6402" name="Rectangle 26"/>
          <p:cNvSpPr>
            <a:spLocks noChangeArrowheads="1"/>
          </p:cNvSpPr>
          <p:nvPr/>
        </p:nvSpPr>
        <p:spPr bwMode="auto">
          <a:xfrm rot="5400000">
            <a:off x="4945063" y="3408363"/>
            <a:ext cx="190500" cy="6477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6403" name="Text Box 27"/>
          <p:cNvSpPr txBox="1">
            <a:spLocks noChangeArrowheads="1"/>
          </p:cNvSpPr>
          <p:nvPr/>
        </p:nvSpPr>
        <p:spPr bwMode="auto">
          <a:xfrm>
            <a:off x="4835525" y="3122613"/>
            <a:ext cx="596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2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6404" name="Text Box 28"/>
          <p:cNvSpPr txBox="1">
            <a:spLocks noChangeArrowheads="1"/>
          </p:cNvSpPr>
          <p:nvPr/>
        </p:nvSpPr>
        <p:spPr bwMode="auto">
          <a:xfrm>
            <a:off x="4049713" y="3063875"/>
            <a:ext cx="4619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16405" name="Text Box 29"/>
          <p:cNvSpPr txBox="1">
            <a:spLocks noChangeArrowheads="1"/>
          </p:cNvSpPr>
          <p:nvPr/>
        </p:nvSpPr>
        <p:spPr bwMode="auto">
          <a:xfrm>
            <a:off x="7945438" y="2747963"/>
            <a:ext cx="606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F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6406" name="Text Box 30"/>
          <p:cNvSpPr txBox="1">
            <a:spLocks noChangeArrowheads="1"/>
          </p:cNvSpPr>
          <p:nvPr/>
        </p:nvSpPr>
        <p:spPr bwMode="auto">
          <a:xfrm>
            <a:off x="5348288" y="1290638"/>
            <a:ext cx="1139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+12V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16407" name="Text Box 31"/>
          <p:cNvSpPr txBox="1">
            <a:spLocks noChangeArrowheads="1"/>
          </p:cNvSpPr>
          <p:nvPr/>
        </p:nvSpPr>
        <p:spPr bwMode="auto">
          <a:xfrm>
            <a:off x="6429375" y="1276350"/>
            <a:ext cx="1139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  <a:ea typeface="楷体_GB2312" pitchFamily="49" charset="-122"/>
              </a:rPr>
              <a:t>+3V</a:t>
            </a:r>
            <a:endParaRPr lang="en-US" altLang="zh-CN" sz="28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6408" name="Text Box 32"/>
          <p:cNvSpPr txBox="1">
            <a:spLocks noChangeArrowheads="1"/>
          </p:cNvSpPr>
          <p:nvPr/>
        </p:nvSpPr>
        <p:spPr bwMode="auto">
          <a:xfrm>
            <a:off x="5381625" y="53609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三极管非门</a:t>
            </a:r>
            <a:endParaRPr lang="zh-CN" altLang="en-US" sz="2800" b="1"/>
          </a:p>
        </p:txBody>
      </p:sp>
      <p:grpSp>
        <p:nvGrpSpPr>
          <p:cNvPr id="16409" name="Group 33"/>
          <p:cNvGrpSpPr/>
          <p:nvPr/>
        </p:nvGrpSpPr>
        <p:grpSpPr bwMode="auto">
          <a:xfrm>
            <a:off x="908050" y="1622425"/>
            <a:ext cx="3606800" cy="3506788"/>
            <a:chOff x="613" y="492"/>
            <a:chExt cx="2272" cy="2209"/>
          </a:xfrm>
        </p:grpSpPr>
        <p:grpSp>
          <p:nvGrpSpPr>
            <p:cNvPr id="16413" name="Group 34"/>
            <p:cNvGrpSpPr/>
            <p:nvPr/>
          </p:nvGrpSpPr>
          <p:grpSpPr bwMode="auto">
            <a:xfrm>
              <a:off x="959" y="2317"/>
              <a:ext cx="973" cy="384"/>
              <a:chOff x="1127" y="1638"/>
              <a:chExt cx="973" cy="384"/>
            </a:xfrm>
          </p:grpSpPr>
          <p:grpSp>
            <p:nvGrpSpPr>
              <p:cNvPr id="16433" name="Group 35"/>
              <p:cNvGrpSpPr/>
              <p:nvPr/>
            </p:nvGrpSpPr>
            <p:grpSpPr bwMode="auto">
              <a:xfrm>
                <a:off x="1236" y="1638"/>
                <a:ext cx="864" cy="384"/>
                <a:chOff x="1236" y="1638"/>
                <a:chExt cx="864" cy="384"/>
              </a:xfrm>
            </p:grpSpPr>
            <p:sp>
              <p:nvSpPr>
                <p:cNvPr id="16435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488" y="1638"/>
                  <a:ext cx="1" cy="384"/>
                </a:xfrm>
                <a:prstGeom prst="line">
                  <a:avLst/>
                </a:prstGeom>
                <a:noFill/>
                <a:ln w="38100">
                  <a:solidFill>
                    <a:srgbClr val="3399FF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6" name="AutoShape 37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1446" y="1698"/>
                  <a:ext cx="372" cy="264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3399FF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6437" name="Line 38"/>
                <p:cNvSpPr>
                  <a:spLocks noChangeShapeType="1"/>
                </p:cNvSpPr>
                <p:nvPr/>
              </p:nvSpPr>
              <p:spPr bwMode="auto">
                <a:xfrm>
                  <a:off x="1236" y="1830"/>
                  <a:ext cx="864" cy="1"/>
                </a:xfrm>
                <a:prstGeom prst="line">
                  <a:avLst/>
                </a:prstGeom>
                <a:noFill/>
                <a:ln w="38100">
                  <a:solidFill>
                    <a:srgbClr val="3399FF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434" name="Oval 39"/>
              <p:cNvSpPr>
                <a:spLocks noChangeArrowheads="1"/>
              </p:cNvSpPr>
              <p:nvPr/>
            </p:nvSpPr>
            <p:spPr bwMode="auto">
              <a:xfrm>
                <a:off x="1127" y="1769"/>
                <a:ext cx="109" cy="100"/>
              </a:xfrm>
              <a:prstGeom prst="ellipse">
                <a:avLst/>
              </a:prstGeom>
              <a:noFill/>
              <a:ln w="38100">
                <a:solidFill>
                  <a:srgbClr val="3399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16414" name="Line 40"/>
            <p:cNvSpPr>
              <a:spLocks noChangeShapeType="1"/>
            </p:cNvSpPr>
            <p:nvPr/>
          </p:nvSpPr>
          <p:spPr bwMode="auto">
            <a:xfrm>
              <a:off x="1896" y="1812"/>
              <a:ext cx="781" cy="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15" name="Group 41"/>
            <p:cNvGrpSpPr/>
            <p:nvPr/>
          </p:nvGrpSpPr>
          <p:grpSpPr bwMode="auto">
            <a:xfrm>
              <a:off x="950" y="1626"/>
              <a:ext cx="973" cy="384"/>
              <a:chOff x="1127" y="1638"/>
              <a:chExt cx="973" cy="384"/>
            </a:xfrm>
          </p:grpSpPr>
          <p:grpSp>
            <p:nvGrpSpPr>
              <p:cNvPr id="16428" name="Group 42"/>
              <p:cNvGrpSpPr/>
              <p:nvPr/>
            </p:nvGrpSpPr>
            <p:grpSpPr bwMode="auto">
              <a:xfrm>
                <a:off x="1236" y="1638"/>
                <a:ext cx="864" cy="384"/>
                <a:chOff x="1236" y="1638"/>
                <a:chExt cx="864" cy="384"/>
              </a:xfrm>
            </p:grpSpPr>
            <p:sp>
              <p:nvSpPr>
                <p:cNvPr id="16430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1488" y="1638"/>
                  <a:ext cx="1" cy="384"/>
                </a:xfrm>
                <a:prstGeom prst="line">
                  <a:avLst/>
                </a:prstGeom>
                <a:noFill/>
                <a:ln w="38100">
                  <a:solidFill>
                    <a:srgbClr val="3399FF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431" name="AutoShape 44"/>
                <p:cNvSpPr>
                  <a:spLocks noChangeArrowheads="1"/>
                </p:cNvSpPr>
                <p:nvPr/>
              </p:nvSpPr>
              <p:spPr bwMode="auto">
                <a:xfrm rot="16200000" flipH="1">
                  <a:off x="1446" y="1698"/>
                  <a:ext cx="372" cy="264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rgbClr val="3399FF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6432" name="Line 45"/>
                <p:cNvSpPr>
                  <a:spLocks noChangeShapeType="1"/>
                </p:cNvSpPr>
                <p:nvPr/>
              </p:nvSpPr>
              <p:spPr bwMode="auto">
                <a:xfrm>
                  <a:off x="1236" y="1830"/>
                  <a:ext cx="864" cy="1"/>
                </a:xfrm>
                <a:prstGeom prst="line">
                  <a:avLst/>
                </a:prstGeom>
                <a:noFill/>
                <a:ln w="38100">
                  <a:solidFill>
                    <a:srgbClr val="3399FF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6429" name="Oval 46"/>
              <p:cNvSpPr>
                <a:spLocks noChangeArrowheads="1"/>
              </p:cNvSpPr>
              <p:nvPr/>
            </p:nvSpPr>
            <p:spPr bwMode="auto">
              <a:xfrm>
                <a:off x="1127" y="1769"/>
                <a:ext cx="109" cy="100"/>
              </a:xfrm>
              <a:prstGeom prst="ellipse">
                <a:avLst/>
              </a:prstGeom>
              <a:noFill/>
              <a:ln w="38100">
                <a:solidFill>
                  <a:srgbClr val="3399FF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16416" name="Line 47"/>
            <p:cNvSpPr>
              <a:spLocks noChangeShapeType="1"/>
            </p:cNvSpPr>
            <p:nvPr/>
          </p:nvSpPr>
          <p:spPr bwMode="auto">
            <a:xfrm flipV="1">
              <a:off x="1914" y="1497"/>
              <a:ext cx="0" cy="1009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7" name="Rectangle 48"/>
            <p:cNvSpPr>
              <a:spLocks noChangeArrowheads="1"/>
            </p:cNvSpPr>
            <p:nvPr/>
          </p:nvSpPr>
          <p:spPr bwMode="auto">
            <a:xfrm>
              <a:off x="1831" y="988"/>
              <a:ext cx="164" cy="506"/>
            </a:xfrm>
            <a:prstGeom prst="rect">
              <a:avLst/>
            </a:prstGeom>
            <a:noFill/>
            <a:ln w="38100">
              <a:solidFill>
                <a:srgbClr val="3399FF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18" name="Line 49"/>
            <p:cNvSpPr>
              <a:spLocks noChangeShapeType="1"/>
            </p:cNvSpPr>
            <p:nvPr/>
          </p:nvSpPr>
          <p:spPr bwMode="auto">
            <a:xfrm flipV="1">
              <a:off x="1914" y="700"/>
              <a:ext cx="0" cy="30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9" name="Oval 50"/>
            <p:cNvSpPr>
              <a:spLocks noChangeArrowheads="1"/>
            </p:cNvSpPr>
            <p:nvPr/>
          </p:nvSpPr>
          <p:spPr bwMode="auto">
            <a:xfrm>
              <a:off x="1860" y="600"/>
              <a:ext cx="100" cy="109"/>
            </a:xfrm>
            <a:prstGeom prst="ellipse">
              <a:avLst/>
            </a:prstGeom>
            <a:noFill/>
            <a:ln w="38100">
              <a:solidFill>
                <a:srgbClr val="3399FF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20" name="Oval 51"/>
            <p:cNvSpPr>
              <a:spLocks noChangeArrowheads="1"/>
            </p:cNvSpPr>
            <p:nvPr/>
          </p:nvSpPr>
          <p:spPr bwMode="auto">
            <a:xfrm>
              <a:off x="1886" y="1790"/>
              <a:ext cx="47" cy="47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rgbClr val="3399FF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21" name="Oval 52"/>
            <p:cNvSpPr>
              <a:spLocks noChangeArrowheads="1"/>
            </p:cNvSpPr>
            <p:nvPr/>
          </p:nvSpPr>
          <p:spPr bwMode="auto">
            <a:xfrm>
              <a:off x="2665" y="1759"/>
              <a:ext cx="100" cy="109"/>
            </a:xfrm>
            <a:prstGeom prst="ellipse">
              <a:avLst/>
            </a:prstGeom>
            <a:noFill/>
            <a:ln w="38100">
              <a:solidFill>
                <a:srgbClr val="3399FF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22" name="Text Box 53"/>
            <p:cNvSpPr txBox="1">
              <a:spLocks noChangeArrowheads="1"/>
            </p:cNvSpPr>
            <p:nvPr/>
          </p:nvSpPr>
          <p:spPr bwMode="auto">
            <a:xfrm>
              <a:off x="2585" y="1398"/>
              <a:ext cx="3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sz="3200" b="1">
                <a:ea typeface="楷体_GB2312" pitchFamily="49" charset="-122"/>
              </a:endParaRPr>
            </a:p>
          </p:txBody>
        </p:sp>
        <p:sp>
          <p:nvSpPr>
            <p:cNvPr id="16423" name="Text Box 54"/>
            <p:cNvSpPr txBox="1">
              <a:spLocks noChangeArrowheads="1"/>
            </p:cNvSpPr>
            <p:nvPr/>
          </p:nvSpPr>
          <p:spPr bwMode="auto">
            <a:xfrm>
              <a:off x="1320" y="1268"/>
              <a:ext cx="4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D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16424" name="Text Box 55"/>
            <p:cNvSpPr txBox="1">
              <a:spLocks noChangeArrowheads="1"/>
            </p:cNvSpPr>
            <p:nvPr/>
          </p:nvSpPr>
          <p:spPr bwMode="auto">
            <a:xfrm>
              <a:off x="1311" y="1985"/>
              <a:ext cx="4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D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16425" name="Text Box 56"/>
            <p:cNvSpPr txBox="1">
              <a:spLocks noChangeArrowheads="1"/>
            </p:cNvSpPr>
            <p:nvPr/>
          </p:nvSpPr>
          <p:spPr bwMode="auto">
            <a:xfrm>
              <a:off x="623" y="1382"/>
              <a:ext cx="3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16426" name="Text Box 57"/>
            <p:cNvSpPr txBox="1">
              <a:spLocks noChangeArrowheads="1"/>
            </p:cNvSpPr>
            <p:nvPr/>
          </p:nvSpPr>
          <p:spPr bwMode="auto">
            <a:xfrm>
              <a:off x="613" y="2100"/>
              <a:ext cx="3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16427" name="Text Box 58"/>
            <p:cNvSpPr txBox="1">
              <a:spLocks noChangeArrowheads="1"/>
            </p:cNvSpPr>
            <p:nvPr/>
          </p:nvSpPr>
          <p:spPr bwMode="auto">
            <a:xfrm>
              <a:off x="1164" y="492"/>
              <a:ext cx="8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+12V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sp>
        <p:nvSpPr>
          <p:cNvPr id="16410" name="Text Box 59"/>
          <p:cNvSpPr txBox="1">
            <a:spLocks noChangeArrowheads="1"/>
          </p:cNvSpPr>
          <p:nvPr/>
        </p:nvSpPr>
        <p:spPr bwMode="auto">
          <a:xfrm>
            <a:off x="1338263" y="5383213"/>
            <a:ext cx="2400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3399FF"/>
                </a:solidFill>
              </a:rPr>
              <a:t>二极管与门</a:t>
            </a:r>
            <a:endParaRPr lang="zh-CN" altLang="en-US" sz="2800" b="1">
              <a:solidFill>
                <a:srgbClr val="3399FF"/>
              </a:solidFill>
            </a:endParaRPr>
          </a:p>
        </p:txBody>
      </p:sp>
      <p:sp>
        <p:nvSpPr>
          <p:cNvPr id="16411" name="Text Box 60"/>
          <p:cNvSpPr txBox="1">
            <a:spLocks noChangeArrowheads="1"/>
          </p:cNvSpPr>
          <p:nvPr/>
        </p:nvSpPr>
        <p:spPr bwMode="auto">
          <a:xfrm>
            <a:off x="1092200" y="650875"/>
            <a:ext cx="3694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4</a:t>
            </a:r>
            <a:r>
              <a:rPr lang="zh-CN" altLang="en-US" sz="2800" b="1" dirty="0"/>
              <a:t>、与非门</a:t>
            </a:r>
            <a:endParaRPr lang="zh-CN" altLang="en-US" sz="2800" b="1" dirty="0"/>
          </a:p>
        </p:txBody>
      </p:sp>
      <p:sp>
        <p:nvSpPr>
          <p:cNvPr id="16412" name="Line 61"/>
          <p:cNvSpPr>
            <a:spLocks noChangeShapeType="1"/>
          </p:cNvSpPr>
          <p:nvPr/>
        </p:nvSpPr>
        <p:spPr bwMode="auto">
          <a:xfrm>
            <a:off x="2995613" y="2179638"/>
            <a:ext cx="3097212" cy="0"/>
          </a:xfrm>
          <a:prstGeom prst="line">
            <a:avLst/>
          </a:prstGeom>
          <a:noFill/>
          <a:ln w="38100">
            <a:pattFill prst="wdDnDiag">
              <a:fgClr>
                <a:srgbClr val="FF3300"/>
              </a:fgClr>
              <a:bgClr>
                <a:srgbClr val="FFFFFF"/>
              </a:bgClr>
            </a:patt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/>
          <p:cNvGrpSpPr/>
          <p:nvPr/>
        </p:nvGrpSpPr>
        <p:grpSpPr bwMode="auto">
          <a:xfrm>
            <a:off x="5429250" y="3344863"/>
            <a:ext cx="742950" cy="762000"/>
            <a:chOff x="1020" y="2412"/>
            <a:chExt cx="468" cy="480"/>
          </a:xfrm>
        </p:grpSpPr>
        <p:sp>
          <p:nvSpPr>
            <p:cNvPr id="17462" name="Line 3"/>
            <p:cNvSpPr>
              <a:spLocks noChangeShapeType="1"/>
            </p:cNvSpPr>
            <p:nvPr/>
          </p:nvSpPr>
          <p:spPr bwMode="auto">
            <a:xfrm>
              <a:off x="1200" y="2472"/>
              <a:ext cx="0" cy="3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3" name="Line 4"/>
            <p:cNvSpPr>
              <a:spLocks noChangeShapeType="1"/>
            </p:cNvSpPr>
            <p:nvPr/>
          </p:nvSpPr>
          <p:spPr bwMode="auto">
            <a:xfrm>
              <a:off x="1188" y="2664"/>
              <a:ext cx="30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4" name="Line 5"/>
            <p:cNvSpPr>
              <a:spLocks noChangeShapeType="1"/>
            </p:cNvSpPr>
            <p:nvPr/>
          </p:nvSpPr>
          <p:spPr bwMode="auto">
            <a:xfrm flipV="1">
              <a:off x="1188" y="2436"/>
              <a:ext cx="30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5" name="Oval 6"/>
            <p:cNvSpPr>
              <a:spLocks noChangeArrowheads="1"/>
            </p:cNvSpPr>
            <p:nvPr/>
          </p:nvSpPr>
          <p:spPr bwMode="auto">
            <a:xfrm>
              <a:off x="1416" y="2412"/>
              <a:ext cx="72" cy="84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466" name="Line 7"/>
            <p:cNvSpPr>
              <a:spLocks noChangeShapeType="1"/>
            </p:cNvSpPr>
            <p:nvPr/>
          </p:nvSpPr>
          <p:spPr bwMode="auto">
            <a:xfrm flipH="1">
              <a:off x="1020" y="2664"/>
              <a:ext cx="1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1" name="Line 8"/>
          <p:cNvSpPr>
            <a:spLocks noChangeShapeType="1"/>
          </p:cNvSpPr>
          <p:nvPr/>
        </p:nvSpPr>
        <p:spPr bwMode="auto">
          <a:xfrm>
            <a:off x="6115050" y="3402013"/>
            <a:ext cx="1962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7412" name="Group 9"/>
          <p:cNvGrpSpPr/>
          <p:nvPr/>
        </p:nvGrpSpPr>
        <p:grpSpPr bwMode="auto">
          <a:xfrm rot="5400000">
            <a:off x="6291263" y="2430463"/>
            <a:ext cx="1371600" cy="609600"/>
            <a:chOff x="1236" y="1638"/>
            <a:chExt cx="864" cy="384"/>
          </a:xfrm>
        </p:grpSpPr>
        <p:sp>
          <p:nvSpPr>
            <p:cNvPr id="17459" name="Line 10"/>
            <p:cNvSpPr>
              <a:spLocks noChangeShapeType="1"/>
            </p:cNvSpPr>
            <p:nvPr/>
          </p:nvSpPr>
          <p:spPr bwMode="auto">
            <a:xfrm flipH="1">
              <a:off x="1488" y="1638"/>
              <a:ext cx="1" cy="38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0" name="AutoShape 11"/>
            <p:cNvSpPr>
              <a:spLocks noChangeArrowheads="1"/>
            </p:cNvSpPr>
            <p:nvPr/>
          </p:nvSpPr>
          <p:spPr bwMode="auto">
            <a:xfrm rot="16200000" flipH="1">
              <a:off x="1446" y="1698"/>
              <a:ext cx="372" cy="264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FF3300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461" name="Line 12"/>
            <p:cNvSpPr>
              <a:spLocks noChangeShapeType="1"/>
            </p:cNvSpPr>
            <p:nvPr/>
          </p:nvSpPr>
          <p:spPr bwMode="auto">
            <a:xfrm>
              <a:off x="1236" y="1830"/>
              <a:ext cx="864" cy="1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13" name="Oval 13"/>
          <p:cNvSpPr>
            <a:spLocks noChangeArrowheads="1"/>
          </p:cNvSpPr>
          <p:nvPr/>
        </p:nvSpPr>
        <p:spPr bwMode="auto">
          <a:xfrm>
            <a:off x="6915150" y="3330575"/>
            <a:ext cx="114300" cy="133350"/>
          </a:xfrm>
          <a:prstGeom prst="ellipse">
            <a:avLst/>
          </a:prstGeom>
          <a:solidFill>
            <a:schemeClr val="tx2">
              <a:alpha val="0"/>
            </a:schemeClr>
          </a:solidFill>
          <a:ln w="38100">
            <a:solidFill>
              <a:srgbClr val="FF3300"/>
            </a:solidFill>
            <a:round/>
            <a:tailEnd type="none" w="sm" len="lg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14" name="Oval 14"/>
          <p:cNvSpPr>
            <a:spLocks noChangeArrowheads="1"/>
          </p:cNvSpPr>
          <p:nvPr/>
        </p:nvSpPr>
        <p:spPr bwMode="auto">
          <a:xfrm>
            <a:off x="6881813" y="1858963"/>
            <a:ext cx="190500" cy="20955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15" name="Line 15"/>
          <p:cNvSpPr>
            <a:spLocks noChangeShapeType="1"/>
          </p:cNvSpPr>
          <p:nvPr/>
        </p:nvSpPr>
        <p:spPr bwMode="auto">
          <a:xfrm>
            <a:off x="5867400" y="5419725"/>
            <a:ext cx="5524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6" name="Line 16"/>
          <p:cNvSpPr>
            <a:spLocks noChangeShapeType="1"/>
          </p:cNvSpPr>
          <p:nvPr/>
        </p:nvSpPr>
        <p:spPr bwMode="auto">
          <a:xfrm flipH="1">
            <a:off x="4403725" y="3727450"/>
            <a:ext cx="3730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7" name="Oval 17"/>
          <p:cNvSpPr>
            <a:spLocks noChangeArrowheads="1"/>
          </p:cNvSpPr>
          <p:nvPr/>
        </p:nvSpPr>
        <p:spPr bwMode="auto">
          <a:xfrm>
            <a:off x="4214813" y="3619500"/>
            <a:ext cx="190500" cy="2095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18" name="Oval 18"/>
          <p:cNvSpPr>
            <a:spLocks noChangeArrowheads="1"/>
          </p:cNvSpPr>
          <p:nvPr/>
        </p:nvSpPr>
        <p:spPr bwMode="auto">
          <a:xfrm>
            <a:off x="8096250" y="3271838"/>
            <a:ext cx="190500" cy="2095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19" name="Rectangle 19"/>
          <p:cNvSpPr>
            <a:spLocks noChangeArrowheads="1"/>
          </p:cNvSpPr>
          <p:nvPr/>
        </p:nvSpPr>
        <p:spPr bwMode="auto">
          <a:xfrm>
            <a:off x="6029325" y="2354263"/>
            <a:ext cx="190500" cy="6477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20" name="Line 20"/>
          <p:cNvSpPr>
            <a:spLocks noChangeShapeType="1"/>
          </p:cNvSpPr>
          <p:nvPr/>
        </p:nvSpPr>
        <p:spPr bwMode="auto">
          <a:xfrm>
            <a:off x="6124575" y="3001963"/>
            <a:ext cx="0" cy="400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1" name="Line 21"/>
          <p:cNvSpPr>
            <a:spLocks noChangeShapeType="1"/>
          </p:cNvSpPr>
          <p:nvPr/>
        </p:nvSpPr>
        <p:spPr bwMode="auto">
          <a:xfrm flipV="1">
            <a:off x="6124575" y="2030413"/>
            <a:ext cx="0" cy="323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2" name="Oval 22"/>
          <p:cNvSpPr>
            <a:spLocks noChangeArrowheads="1"/>
          </p:cNvSpPr>
          <p:nvPr/>
        </p:nvSpPr>
        <p:spPr bwMode="auto">
          <a:xfrm>
            <a:off x="6029325" y="1820863"/>
            <a:ext cx="190500" cy="2095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23" name="Text Box 23"/>
          <p:cNvSpPr txBox="1">
            <a:spLocks noChangeArrowheads="1"/>
          </p:cNvSpPr>
          <p:nvPr/>
        </p:nvSpPr>
        <p:spPr bwMode="auto">
          <a:xfrm>
            <a:off x="5489575" y="2487613"/>
            <a:ext cx="596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1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7424" name="Text Box 24"/>
          <p:cNvSpPr txBox="1">
            <a:spLocks noChangeArrowheads="1"/>
          </p:cNvSpPr>
          <p:nvPr/>
        </p:nvSpPr>
        <p:spPr bwMode="auto">
          <a:xfrm>
            <a:off x="7437438" y="2471738"/>
            <a:ext cx="477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  <a:ea typeface="楷体_GB2312" pitchFamily="49" charset="-122"/>
              </a:rPr>
              <a:t>D</a:t>
            </a:r>
            <a:endParaRPr lang="en-US" altLang="zh-CN" sz="32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7425" name="Rectangle 25"/>
          <p:cNvSpPr>
            <a:spLocks noChangeArrowheads="1"/>
          </p:cNvSpPr>
          <p:nvPr/>
        </p:nvSpPr>
        <p:spPr bwMode="auto">
          <a:xfrm rot="5400000">
            <a:off x="5008563" y="3408363"/>
            <a:ext cx="190500" cy="6477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10800000" vert="eaVert"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26" name="Text Box 26"/>
          <p:cNvSpPr txBox="1">
            <a:spLocks noChangeArrowheads="1"/>
          </p:cNvSpPr>
          <p:nvPr/>
        </p:nvSpPr>
        <p:spPr bwMode="auto">
          <a:xfrm>
            <a:off x="4899025" y="3122613"/>
            <a:ext cx="596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2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7427" name="Text Box 27"/>
          <p:cNvSpPr txBox="1">
            <a:spLocks noChangeArrowheads="1"/>
          </p:cNvSpPr>
          <p:nvPr/>
        </p:nvSpPr>
        <p:spPr bwMode="auto">
          <a:xfrm>
            <a:off x="4113213" y="3063875"/>
            <a:ext cx="4619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17428" name="Text Box 28"/>
          <p:cNvSpPr txBox="1">
            <a:spLocks noChangeArrowheads="1"/>
          </p:cNvSpPr>
          <p:nvPr/>
        </p:nvSpPr>
        <p:spPr bwMode="auto">
          <a:xfrm>
            <a:off x="8008938" y="2747963"/>
            <a:ext cx="606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F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7429" name="Text Box 29"/>
          <p:cNvSpPr txBox="1">
            <a:spLocks noChangeArrowheads="1"/>
          </p:cNvSpPr>
          <p:nvPr/>
        </p:nvSpPr>
        <p:spPr bwMode="auto">
          <a:xfrm>
            <a:off x="5411788" y="1290638"/>
            <a:ext cx="1139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+12V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17430" name="Text Box 30"/>
          <p:cNvSpPr txBox="1">
            <a:spLocks noChangeArrowheads="1"/>
          </p:cNvSpPr>
          <p:nvPr/>
        </p:nvSpPr>
        <p:spPr bwMode="auto">
          <a:xfrm>
            <a:off x="6492875" y="1276350"/>
            <a:ext cx="1139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3300"/>
                </a:solidFill>
                <a:ea typeface="楷体_GB2312" pitchFamily="49" charset="-122"/>
              </a:rPr>
              <a:t>+3V</a:t>
            </a:r>
            <a:endParaRPr lang="en-US" altLang="zh-CN" sz="2800" b="1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7431" name="Text Box 31"/>
          <p:cNvSpPr txBox="1">
            <a:spLocks noChangeArrowheads="1"/>
          </p:cNvSpPr>
          <p:nvPr/>
        </p:nvSpPr>
        <p:spPr bwMode="auto">
          <a:xfrm>
            <a:off x="5619750" y="54864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三极管非门</a:t>
            </a:r>
            <a:endParaRPr lang="zh-CN" altLang="en-US" sz="2800" b="1"/>
          </a:p>
        </p:txBody>
      </p:sp>
      <p:sp>
        <p:nvSpPr>
          <p:cNvPr id="17432" name="Line 36"/>
          <p:cNvSpPr>
            <a:spLocks noChangeShapeType="1"/>
          </p:cNvSpPr>
          <p:nvPr/>
        </p:nvSpPr>
        <p:spPr bwMode="auto">
          <a:xfrm>
            <a:off x="1720850" y="2627313"/>
            <a:ext cx="1371600" cy="1587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3" name="Oval 37"/>
          <p:cNvSpPr>
            <a:spLocks noChangeArrowheads="1"/>
          </p:cNvSpPr>
          <p:nvPr/>
        </p:nvSpPr>
        <p:spPr bwMode="auto">
          <a:xfrm>
            <a:off x="1547813" y="2530475"/>
            <a:ext cx="173037" cy="158750"/>
          </a:xfrm>
          <a:prstGeom prst="ellips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434" name="Line 38"/>
          <p:cNvSpPr>
            <a:spLocks noChangeShapeType="1"/>
          </p:cNvSpPr>
          <p:nvPr/>
        </p:nvSpPr>
        <p:spPr bwMode="auto">
          <a:xfrm>
            <a:off x="3008313" y="3717925"/>
            <a:ext cx="1239837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5" name="Line 43"/>
          <p:cNvSpPr>
            <a:spLocks noChangeShapeType="1"/>
          </p:cNvSpPr>
          <p:nvPr/>
        </p:nvSpPr>
        <p:spPr bwMode="auto">
          <a:xfrm>
            <a:off x="1679575" y="3727450"/>
            <a:ext cx="1371600" cy="1588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6" name="Oval 44"/>
          <p:cNvSpPr>
            <a:spLocks noChangeArrowheads="1"/>
          </p:cNvSpPr>
          <p:nvPr/>
        </p:nvSpPr>
        <p:spPr bwMode="auto">
          <a:xfrm>
            <a:off x="1506538" y="3630613"/>
            <a:ext cx="173037" cy="158750"/>
          </a:xfrm>
          <a:prstGeom prst="ellips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7437" name="Line 45"/>
          <p:cNvSpPr>
            <a:spLocks noChangeShapeType="1"/>
          </p:cNvSpPr>
          <p:nvPr/>
        </p:nvSpPr>
        <p:spPr bwMode="auto">
          <a:xfrm flipV="1">
            <a:off x="3059113" y="2611438"/>
            <a:ext cx="0" cy="151130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8" name="Rectangle 46"/>
          <p:cNvSpPr>
            <a:spLocks noChangeArrowheads="1"/>
          </p:cNvSpPr>
          <p:nvPr/>
        </p:nvSpPr>
        <p:spPr bwMode="auto">
          <a:xfrm>
            <a:off x="2916238" y="4122738"/>
            <a:ext cx="260350" cy="803275"/>
          </a:xfrm>
          <a:prstGeom prst="rect">
            <a:avLst/>
          </a:prstGeom>
          <a:noFill/>
          <a:ln w="38100">
            <a:solidFill>
              <a:srgbClr val="3399FF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39" name="Line 47"/>
          <p:cNvSpPr>
            <a:spLocks noChangeShapeType="1"/>
          </p:cNvSpPr>
          <p:nvPr/>
        </p:nvSpPr>
        <p:spPr bwMode="auto">
          <a:xfrm flipV="1">
            <a:off x="3059113" y="4914900"/>
            <a:ext cx="0" cy="144463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40" name="Oval 48"/>
          <p:cNvSpPr>
            <a:spLocks noChangeArrowheads="1"/>
          </p:cNvSpPr>
          <p:nvPr/>
        </p:nvSpPr>
        <p:spPr bwMode="auto">
          <a:xfrm>
            <a:off x="3011488" y="3683000"/>
            <a:ext cx="74612" cy="74613"/>
          </a:xfrm>
          <a:prstGeom prst="ellipse">
            <a:avLst/>
          </a:prstGeom>
          <a:solidFill>
            <a:schemeClr val="tx2"/>
          </a:solidFill>
          <a:ln w="38100">
            <a:solidFill>
              <a:srgbClr val="3399FF"/>
            </a:solidFill>
            <a:round/>
            <a:tailEnd type="none" w="sm" len="lg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41" name="Oval 49"/>
          <p:cNvSpPr>
            <a:spLocks noChangeArrowheads="1"/>
          </p:cNvSpPr>
          <p:nvPr/>
        </p:nvSpPr>
        <p:spPr bwMode="auto">
          <a:xfrm>
            <a:off x="4229100" y="3633788"/>
            <a:ext cx="158750" cy="173037"/>
          </a:xfrm>
          <a:prstGeom prst="ellipse">
            <a:avLst/>
          </a:prstGeom>
          <a:noFill/>
          <a:ln w="38100">
            <a:solidFill>
              <a:srgbClr val="3399FF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42" name="Text Box 50"/>
          <p:cNvSpPr txBox="1">
            <a:spLocks noChangeArrowheads="1"/>
          </p:cNvSpPr>
          <p:nvPr/>
        </p:nvSpPr>
        <p:spPr bwMode="auto">
          <a:xfrm>
            <a:off x="4102100" y="3060700"/>
            <a:ext cx="476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3200" b="1">
              <a:ea typeface="楷体_GB2312" pitchFamily="49" charset="-122"/>
            </a:endParaRPr>
          </a:p>
        </p:txBody>
      </p:sp>
      <p:grpSp>
        <p:nvGrpSpPr>
          <p:cNvPr id="17443" name="组合 1"/>
          <p:cNvGrpSpPr/>
          <p:nvPr/>
        </p:nvGrpSpPr>
        <p:grpSpPr bwMode="auto">
          <a:xfrm>
            <a:off x="2093913" y="2322513"/>
            <a:ext cx="635000" cy="1050925"/>
            <a:chOff x="2093913" y="2322513"/>
            <a:chExt cx="635000" cy="1050925"/>
          </a:xfrm>
        </p:grpSpPr>
        <p:sp>
          <p:nvSpPr>
            <p:cNvPr id="17456" name="Line 34"/>
            <p:cNvSpPr>
              <a:spLocks noChangeShapeType="1"/>
            </p:cNvSpPr>
            <p:nvPr/>
          </p:nvSpPr>
          <p:spPr bwMode="auto">
            <a:xfrm flipH="1">
              <a:off x="2550668" y="2322513"/>
              <a:ext cx="1588" cy="60960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7" name="AutoShape 35"/>
            <p:cNvSpPr>
              <a:spLocks noChangeArrowheads="1"/>
            </p:cNvSpPr>
            <p:nvPr/>
          </p:nvSpPr>
          <p:spPr bwMode="auto">
            <a:xfrm rot="5400000" flipH="1">
              <a:off x="2054225" y="2417763"/>
              <a:ext cx="590550" cy="41910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3399FF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458" name="Text Box 51"/>
            <p:cNvSpPr txBox="1">
              <a:spLocks noChangeArrowheads="1"/>
            </p:cNvSpPr>
            <p:nvPr/>
          </p:nvSpPr>
          <p:spPr bwMode="auto">
            <a:xfrm>
              <a:off x="2093913" y="2854325"/>
              <a:ext cx="635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D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grpSp>
        <p:nvGrpSpPr>
          <p:cNvPr id="17444" name="组合 2"/>
          <p:cNvGrpSpPr/>
          <p:nvPr/>
        </p:nvGrpSpPr>
        <p:grpSpPr bwMode="auto">
          <a:xfrm>
            <a:off x="2079625" y="3422650"/>
            <a:ext cx="635000" cy="1089025"/>
            <a:chOff x="2079625" y="3422650"/>
            <a:chExt cx="635000" cy="1089025"/>
          </a:xfrm>
        </p:grpSpPr>
        <p:sp>
          <p:nvSpPr>
            <p:cNvPr id="17453" name="Line 41"/>
            <p:cNvSpPr>
              <a:spLocks noChangeShapeType="1"/>
            </p:cNvSpPr>
            <p:nvPr/>
          </p:nvSpPr>
          <p:spPr bwMode="auto">
            <a:xfrm flipH="1">
              <a:off x="2518537" y="3422650"/>
              <a:ext cx="1588" cy="609600"/>
            </a:xfrm>
            <a:prstGeom prst="line">
              <a:avLst/>
            </a:prstGeom>
            <a:noFill/>
            <a:ln w="38100">
              <a:solidFill>
                <a:srgbClr val="3399FF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4" name="AutoShape 42"/>
            <p:cNvSpPr>
              <a:spLocks noChangeArrowheads="1"/>
            </p:cNvSpPr>
            <p:nvPr/>
          </p:nvSpPr>
          <p:spPr bwMode="auto">
            <a:xfrm rot="5400000" flipH="1">
              <a:off x="2012950" y="3517900"/>
              <a:ext cx="590550" cy="41910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3399FF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7455" name="Text Box 52"/>
            <p:cNvSpPr txBox="1">
              <a:spLocks noChangeArrowheads="1"/>
            </p:cNvSpPr>
            <p:nvPr/>
          </p:nvSpPr>
          <p:spPr bwMode="auto">
            <a:xfrm>
              <a:off x="2079625" y="3992563"/>
              <a:ext cx="6350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D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sp>
        <p:nvSpPr>
          <p:cNvPr id="17445" name="Text Box 53"/>
          <p:cNvSpPr txBox="1">
            <a:spLocks noChangeArrowheads="1"/>
          </p:cNvSpPr>
          <p:nvPr/>
        </p:nvSpPr>
        <p:spPr bwMode="auto">
          <a:xfrm>
            <a:off x="971550" y="2322513"/>
            <a:ext cx="5476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A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17446" name="Text Box 54"/>
          <p:cNvSpPr txBox="1">
            <a:spLocks noChangeArrowheads="1"/>
          </p:cNvSpPr>
          <p:nvPr/>
        </p:nvSpPr>
        <p:spPr bwMode="auto">
          <a:xfrm>
            <a:off x="971550" y="3403600"/>
            <a:ext cx="5476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B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17447" name="Text Box 55"/>
          <p:cNvSpPr txBox="1">
            <a:spLocks noChangeArrowheads="1"/>
          </p:cNvSpPr>
          <p:nvPr/>
        </p:nvSpPr>
        <p:spPr bwMode="auto">
          <a:xfrm>
            <a:off x="3203575" y="4195763"/>
            <a:ext cx="576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17448" name="Text Box 56"/>
          <p:cNvSpPr txBox="1">
            <a:spLocks noChangeArrowheads="1"/>
          </p:cNvSpPr>
          <p:nvPr/>
        </p:nvSpPr>
        <p:spPr bwMode="auto">
          <a:xfrm>
            <a:off x="1476375" y="5491163"/>
            <a:ext cx="2400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3399FF"/>
                </a:solidFill>
              </a:rPr>
              <a:t>二极管或门</a:t>
            </a:r>
            <a:endParaRPr lang="zh-CN" altLang="en-US" sz="2800" b="1">
              <a:solidFill>
                <a:srgbClr val="3399FF"/>
              </a:solidFill>
            </a:endParaRPr>
          </a:p>
        </p:txBody>
      </p:sp>
      <p:sp>
        <p:nvSpPr>
          <p:cNvPr id="17449" name="Text Box 57"/>
          <p:cNvSpPr txBox="1">
            <a:spLocks noChangeArrowheads="1"/>
          </p:cNvSpPr>
          <p:nvPr/>
        </p:nvSpPr>
        <p:spPr bwMode="auto">
          <a:xfrm>
            <a:off x="766763" y="650875"/>
            <a:ext cx="3306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5</a:t>
            </a:r>
            <a:r>
              <a:rPr lang="zh-CN" altLang="en-US" sz="2800" b="1"/>
              <a:t>、或非门</a:t>
            </a:r>
            <a:endParaRPr lang="zh-CN" altLang="en-US" sz="2800" b="1"/>
          </a:p>
        </p:txBody>
      </p:sp>
      <p:sp>
        <p:nvSpPr>
          <p:cNvPr id="17450" name="Line 58"/>
          <p:cNvSpPr>
            <a:spLocks noChangeShapeType="1"/>
          </p:cNvSpPr>
          <p:nvPr/>
        </p:nvSpPr>
        <p:spPr bwMode="auto">
          <a:xfrm>
            <a:off x="3059113" y="5059363"/>
            <a:ext cx="3097212" cy="0"/>
          </a:xfrm>
          <a:prstGeom prst="line">
            <a:avLst/>
          </a:prstGeom>
          <a:noFill/>
          <a:ln w="38100">
            <a:solidFill>
              <a:srgbClr val="3399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51" name="Oval 59"/>
          <p:cNvSpPr>
            <a:spLocks noChangeArrowheads="1"/>
          </p:cNvSpPr>
          <p:nvPr/>
        </p:nvSpPr>
        <p:spPr bwMode="auto">
          <a:xfrm>
            <a:off x="6065838" y="4972050"/>
            <a:ext cx="114300" cy="133350"/>
          </a:xfrm>
          <a:prstGeom prst="ellipse">
            <a:avLst/>
          </a:prstGeom>
          <a:solidFill>
            <a:schemeClr val="tx2">
              <a:alpha val="0"/>
            </a:schemeClr>
          </a:solidFill>
          <a:ln w="38100">
            <a:solidFill>
              <a:srgbClr val="3399FF"/>
            </a:solidFill>
            <a:round/>
            <a:tailEnd type="none" w="sm" len="lg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i="1"/>
          </a:p>
        </p:txBody>
      </p:sp>
      <p:sp>
        <p:nvSpPr>
          <p:cNvPr id="17452" name="Line 60"/>
          <p:cNvSpPr>
            <a:spLocks noChangeShapeType="1"/>
          </p:cNvSpPr>
          <p:nvPr/>
        </p:nvSpPr>
        <p:spPr bwMode="auto">
          <a:xfrm>
            <a:off x="6118225" y="4051300"/>
            <a:ext cx="0" cy="1368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792163" y="1753325"/>
            <a:ext cx="7415212" cy="3927475"/>
            <a:chOff x="792163" y="1462374"/>
            <a:chExt cx="7415212" cy="3927475"/>
          </a:xfrm>
        </p:grpSpPr>
        <p:sp>
          <p:nvSpPr>
            <p:cNvPr id="18434" name="Text Box 2"/>
            <p:cNvSpPr txBox="1">
              <a:spLocks noChangeArrowheads="1"/>
            </p:cNvSpPr>
            <p:nvPr/>
          </p:nvSpPr>
          <p:spPr bwMode="auto">
            <a:xfrm>
              <a:off x="6753225" y="4351624"/>
              <a:ext cx="385763" cy="420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R</a:t>
              </a:r>
              <a:endParaRPr lang="en-US" altLang="zh-CN" sz="4800" i="1"/>
            </a:p>
          </p:txBody>
        </p:sp>
        <p:sp>
          <p:nvSpPr>
            <p:cNvPr id="18435" name="Text Box 6"/>
            <p:cNvSpPr txBox="1">
              <a:spLocks noChangeArrowheads="1"/>
            </p:cNvSpPr>
            <p:nvPr/>
          </p:nvSpPr>
          <p:spPr bwMode="auto">
            <a:xfrm>
              <a:off x="2044700" y="2008474"/>
              <a:ext cx="385763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R</a:t>
              </a:r>
              <a:endParaRPr lang="en-US" altLang="zh-CN" sz="4800" i="1"/>
            </a:p>
          </p:txBody>
        </p:sp>
        <p:sp>
          <p:nvSpPr>
            <p:cNvPr id="18436" name="Text Box 7"/>
            <p:cNvSpPr txBox="1">
              <a:spLocks noChangeArrowheads="1"/>
            </p:cNvSpPr>
            <p:nvPr/>
          </p:nvSpPr>
          <p:spPr bwMode="auto">
            <a:xfrm>
              <a:off x="5818188" y="2037049"/>
              <a:ext cx="385762" cy="420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R</a:t>
              </a:r>
              <a:endParaRPr lang="en-US" altLang="zh-CN" sz="4800" i="1"/>
            </a:p>
          </p:txBody>
        </p:sp>
        <p:sp>
          <p:nvSpPr>
            <p:cNvPr id="18437" name="Text Box 8"/>
            <p:cNvSpPr txBox="1">
              <a:spLocks noChangeArrowheads="1"/>
            </p:cNvSpPr>
            <p:nvPr/>
          </p:nvSpPr>
          <p:spPr bwMode="auto">
            <a:xfrm>
              <a:off x="5373688" y="2029111"/>
              <a:ext cx="385762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R</a:t>
              </a:r>
              <a:endParaRPr lang="en-US" altLang="zh-CN" sz="4800" i="1"/>
            </a:p>
          </p:txBody>
        </p:sp>
        <p:sp>
          <p:nvSpPr>
            <p:cNvPr id="18438" name="Line 9"/>
            <p:cNvSpPr>
              <a:spLocks noChangeShapeType="1"/>
            </p:cNvSpPr>
            <p:nvPr/>
          </p:nvSpPr>
          <p:spPr bwMode="auto">
            <a:xfrm>
              <a:off x="1001713" y="3896011"/>
              <a:ext cx="57785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39" name="AutoShape 10"/>
            <p:cNvSpPr>
              <a:spLocks noChangeArrowheads="1"/>
            </p:cNvSpPr>
            <p:nvPr/>
          </p:nvSpPr>
          <p:spPr bwMode="auto">
            <a:xfrm rot="16200000">
              <a:off x="1603375" y="3794411"/>
              <a:ext cx="296863" cy="182563"/>
            </a:xfrm>
            <a:prstGeom prst="triangle">
              <a:avLst>
                <a:gd name="adj" fmla="val 50000"/>
              </a:avLst>
            </a:prstGeom>
            <a:solidFill>
              <a:srgbClr val="000000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40" name="Line 11"/>
            <p:cNvSpPr>
              <a:spLocks noChangeShapeType="1"/>
            </p:cNvSpPr>
            <p:nvPr/>
          </p:nvSpPr>
          <p:spPr bwMode="auto">
            <a:xfrm rot="10800000" flipH="1">
              <a:off x="1830388" y="3894424"/>
              <a:ext cx="95091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1" name="Line 12"/>
            <p:cNvSpPr>
              <a:spLocks noChangeShapeType="1"/>
            </p:cNvSpPr>
            <p:nvPr/>
          </p:nvSpPr>
          <p:spPr bwMode="auto">
            <a:xfrm rot="10800000">
              <a:off x="1579563" y="3894424"/>
              <a:ext cx="682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2" name="Line 13"/>
            <p:cNvSpPr>
              <a:spLocks noChangeShapeType="1"/>
            </p:cNvSpPr>
            <p:nvPr/>
          </p:nvSpPr>
          <p:spPr bwMode="auto">
            <a:xfrm rot="10800000">
              <a:off x="1647825" y="3737261"/>
              <a:ext cx="0" cy="3063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3" name="Line 14"/>
            <p:cNvSpPr>
              <a:spLocks noChangeShapeType="1"/>
            </p:cNvSpPr>
            <p:nvPr/>
          </p:nvSpPr>
          <p:spPr bwMode="auto">
            <a:xfrm>
              <a:off x="1014413" y="4507199"/>
              <a:ext cx="57785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44" name="Group 15"/>
            <p:cNvGrpSpPr/>
            <p:nvPr/>
          </p:nvGrpSpPr>
          <p:grpSpPr bwMode="auto">
            <a:xfrm>
              <a:off x="1592263" y="4351624"/>
              <a:ext cx="365125" cy="306387"/>
              <a:chOff x="8999" y="11735"/>
              <a:chExt cx="340" cy="227"/>
            </a:xfrm>
          </p:grpSpPr>
          <p:sp>
            <p:nvSpPr>
              <p:cNvPr id="18553" name="AutoShape 16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54" name="Line 17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5" name="Line 18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6" name="Line 19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45" name="Line 20"/>
            <p:cNvSpPr>
              <a:spLocks noChangeShapeType="1"/>
            </p:cNvSpPr>
            <p:nvPr/>
          </p:nvSpPr>
          <p:spPr bwMode="auto">
            <a:xfrm>
              <a:off x="1965325" y="4507199"/>
              <a:ext cx="3857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21"/>
            <p:cNvSpPr>
              <a:spLocks noChangeShapeType="1"/>
            </p:cNvSpPr>
            <p:nvPr/>
          </p:nvSpPr>
          <p:spPr bwMode="auto">
            <a:xfrm flipV="1">
              <a:off x="2351088" y="3664236"/>
              <a:ext cx="0" cy="84296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7" name="Oval 22"/>
            <p:cNvSpPr>
              <a:spLocks noChangeArrowheads="1"/>
            </p:cNvSpPr>
            <p:nvPr/>
          </p:nvSpPr>
          <p:spPr bwMode="auto">
            <a:xfrm>
              <a:off x="2319338" y="3854736"/>
              <a:ext cx="47625" cy="61913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48" name="Text Box 23"/>
            <p:cNvSpPr txBox="1">
              <a:spLocks noChangeArrowheads="1"/>
            </p:cNvSpPr>
            <p:nvPr/>
          </p:nvSpPr>
          <p:spPr bwMode="auto">
            <a:xfrm>
              <a:off x="792163" y="3664236"/>
              <a:ext cx="193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A </a:t>
              </a:r>
              <a:endParaRPr lang="en-US" altLang="zh-CN" sz="2400" i="1"/>
            </a:p>
          </p:txBody>
        </p:sp>
        <p:sp>
          <p:nvSpPr>
            <p:cNvPr id="18449" name="Text Box 24"/>
            <p:cNvSpPr txBox="1">
              <a:spLocks noChangeArrowheads="1"/>
            </p:cNvSpPr>
            <p:nvPr/>
          </p:nvSpPr>
          <p:spPr bwMode="auto">
            <a:xfrm>
              <a:off x="809625" y="4296061"/>
              <a:ext cx="192088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B</a:t>
              </a:r>
              <a:endParaRPr lang="en-US" altLang="zh-CN" sz="4800" i="1"/>
            </a:p>
          </p:txBody>
        </p:sp>
        <p:sp>
          <p:nvSpPr>
            <p:cNvPr id="18450" name="Rectangle 25"/>
            <p:cNvSpPr>
              <a:spLocks noChangeAspect="1" noChangeArrowheads="1"/>
            </p:cNvSpPr>
            <p:nvPr/>
          </p:nvSpPr>
          <p:spPr bwMode="auto">
            <a:xfrm rot="5400000" flipH="1">
              <a:off x="2878138" y="3708686"/>
              <a:ext cx="152400" cy="36512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51" name="Line 26"/>
            <p:cNvSpPr>
              <a:spLocks noChangeShapeType="1"/>
            </p:cNvSpPr>
            <p:nvPr/>
          </p:nvSpPr>
          <p:spPr bwMode="auto">
            <a:xfrm>
              <a:off x="3154363" y="3873786"/>
              <a:ext cx="820737" cy="15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2" name="Line 27"/>
            <p:cNvSpPr>
              <a:spLocks noChangeShapeType="1"/>
            </p:cNvSpPr>
            <p:nvPr/>
          </p:nvSpPr>
          <p:spPr bwMode="auto">
            <a:xfrm flipV="1">
              <a:off x="3981450" y="3645186"/>
              <a:ext cx="182563" cy="2270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3" name="Line 28"/>
            <p:cNvSpPr>
              <a:spLocks noChangeShapeType="1"/>
            </p:cNvSpPr>
            <p:nvPr/>
          </p:nvSpPr>
          <p:spPr bwMode="auto">
            <a:xfrm>
              <a:off x="3981450" y="3875374"/>
              <a:ext cx="182563" cy="2286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4" name="Line 29"/>
            <p:cNvSpPr>
              <a:spLocks noChangeShapeType="1"/>
            </p:cNvSpPr>
            <p:nvPr/>
          </p:nvSpPr>
          <p:spPr bwMode="auto">
            <a:xfrm>
              <a:off x="3981450" y="3645186"/>
              <a:ext cx="0" cy="4556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5" name="Line 30"/>
            <p:cNvSpPr>
              <a:spLocks noChangeShapeType="1"/>
            </p:cNvSpPr>
            <p:nvPr/>
          </p:nvSpPr>
          <p:spPr bwMode="auto">
            <a:xfrm>
              <a:off x="4138613" y="4086511"/>
              <a:ext cx="0" cy="8413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6" name="Line 31"/>
            <p:cNvSpPr>
              <a:spLocks noChangeShapeType="1"/>
            </p:cNvSpPr>
            <p:nvPr/>
          </p:nvSpPr>
          <p:spPr bwMode="auto">
            <a:xfrm>
              <a:off x="4054475" y="4927886"/>
              <a:ext cx="1936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7" name="Line 32"/>
            <p:cNvSpPr>
              <a:spLocks noChangeShapeType="1"/>
            </p:cNvSpPr>
            <p:nvPr/>
          </p:nvSpPr>
          <p:spPr bwMode="auto">
            <a:xfrm>
              <a:off x="3268663" y="3889661"/>
              <a:ext cx="1587" cy="2698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8" name="Rectangle 33"/>
            <p:cNvSpPr>
              <a:spLocks noChangeAspect="1" noChangeArrowheads="1"/>
            </p:cNvSpPr>
            <p:nvPr/>
          </p:nvSpPr>
          <p:spPr bwMode="auto">
            <a:xfrm flipH="1">
              <a:off x="3219450" y="4178586"/>
              <a:ext cx="120650" cy="45878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59" name="Line 34"/>
            <p:cNvSpPr>
              <a:spLocks noChangeAspect="1" noChangeShapeType="1"/>
            </p:cNvSpPr>
            <p:nvPr/>
          </p:nvSpPr>
          <p:spPr bwMode="auto">
            <a:xfrm flipH="1">
              <a:off x="3279775" y="4637374"/>
              <a:ext cx="0" cy="1539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0" name="Line 35"/>
            <p:cNvSpPr>
              <a:spLocks noChangeShapeType="1"/>
            </p:cNvSpPr>
            <p:nvPr/>
          </p:nvSpPr>
          <p:spPr bwMode="auto">
            <a:xfrm>
              <a:off x="3282950" y="4718336"/>
              <a:ext cx="0" cy="4206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1" name="Line 36"/>
            <p:cNvSpPr>
              <a:spLocks noChangeShapeType="1"/>
            </p:cNvSpPr>
            <p:nvPr/>
          </p:nvSpPr>
          <p:spPr bwMode="auto">
            <a:xfrm flipV="1">
              <a:off x="4167188" y="3121311"/>
              <a:ext cx="0" cy="5238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2" name="Line 37"/>
            <p:cNvSpPr>
              <a:spLocks noChangeShapeType="1"/>
            </p:cNvSpPr>
            <p:nvPr/>
          </p:nvSpPr>
          <p:spPr bwMode="auto">
            <a:xfrm flipV="1">
              <a:off x="4171950" y="1640174"/>
              <a:ext cx="0" cy="15748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Line 38"/>
            <p:cNvSpPr>
              <a:spLocks noChangeShapeType="1"/>
            </p:cNvSpPr>
            <p:nvPr/>
          </p:nvSpPr>
          <p:spPr bwMode="auto">
            <a:xfrm>
              <a:off x="4167188" y="3413411"/>
              <a:ext cx="7715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Text Box 39"/>
            <p:cNvSpPr txBox="1">
              <a:spLocks noChangeArrowheads="1"/>
            </p:cNvSpPr>
            <p:nvPr/>
          </p:nvSpPr>
          <p:spPr bwMode="auto">
            <a:xfrm>
              <a:off x="2833688" y="3345149"/>
              <a:ext cx="385762" cy="420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R</a:t>
              </a:r>
              <a:r>
                <a:rPr lang="en-US" altLang="zh-CN" sz="2400" baseline="-25000">
                  <a:ea typeface="华文细黑" panose="02010600040101010101" pitchFamily="2" charset="-122"/>
                </a:rPr>
                <a:t>1</a:t>
              </a:r>
              <a:endParaRPr lang="en-US" altLang="zh-CN" sz="4800" i="1"/>
            </a:p>
          </p:txBody>
        </p:sp>
        <p:sp>
          <p:nvSpPr>
            <p:cNvPr id="18465" name="Text Box 40"/>
            <p:cNvSpPr txBox="1">
              <a:spLocks noChangeArrowheads="1"/>
            </p:cNvSpPr>
            <p:nvPr/>
          </p:nvSpPr>
          <p:spPr bwMode="auto">
            <a:xfrm>
              <a:off x="3411538" y="4215099"/>
              <a:ext cx="385762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R</a:t>
              </a:r>
              <a:r>
                <a:rPr lang="en-US" altLang="zh-CN" sz="2400" baseline="-25000">
                  <a:ea typeface="华文细黑" panose="02010600040101010101" pitchFamily="2" charset="-122"/>
                </a:rPr>
                <a:t>2</a:t>
              </a:r>
              <a:endParaRPr lang="en-US" altLang="zh-CN" sz="4800" i="1"/>
            </a:p>
          </p:txBody>
        </p:sp>
        <p:sp>
          <p:nvSpPr>
            <p:cNvPr id="18466" name="Oval 41"/>
            <p:cNvSpPr>
              <a:spLocks noChangeArrowheads="1"/>
            </p:cNvSpPr>
            <p:nvPr/>
          </p:nvSpPr>
          <p:spPr bwMode="auto">
            <a:xfrm>
              <a:off x="3251200" y="3854736"/>
              <a:ext cx="49213" cy="61913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67" name="Oval 42"/>
            <p:cNvSpPr>
              <a:spLocks noChangeArrowheads="1"/>
            </p:cNvSpPr>
            <p:nvPr/>
          </p:nvSpPr>
          <p:spPr bwMode="auto">
            <a:xfrm>
              <a:off x="4151313" y="3394361"/>
              <a:ext cx="49212" cy="6032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68" name="Text Box 43"/>
            <p:cNvSpPr txBox="1">
              <a:spLocks noChangeArrowheads="1"/>
            </p:cNvSpPr>
            <p:nvPr/>
          </p:nvSpPr>
          <p:spPr bwMode="auto">
            <a:xfrm>
              <a:off x="3348038" y="4969161"/>
              <a:ext cx="939800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V</a:t>
              </a:r>
              <a:r>
                <a:rPr lang="en-US" altLang="zh-CN" sz="2400" i="1" baseline="-25000"/>
                <a:t>EE</a:t>
              </a:r>
              <a:endParaRPr lang="en-US" altLang="zh-CN" sz="4800" i="1"/>
            </a:p>
          </p:txBody>
        </p:sp>
        <p:sp>
          <p:nvSpPr>
            <p:cNvPr id="18469" name="Text Box 44"/>
            <p:cNvSpPr txBox="1">
              <a:spLocks noChangeArrowheads="1"/>
            </p:cNvSpPr>
            <p:nvPr/>
          </p:nvSpPr>
          <p:spPr bwMode="auto">
            <a:xfrm>
              <a:off x="4248150" y="3697574"/>
              <a:ext cx="192088" cy="420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/>
                <a:t>T</a:t>
              </a:r>
              <a:endParaRPr lang="en-US" altLang="zh-CN" sz="4800" i="1"/>
            </a:p>
          </p:txBody>
        </p:sp>
        <p:sp>
          <p:nvSpPr>
            <p:cNvPr id="18470" name="Line 45"/>
            <p:cNvSpPr>
              <a:spLocks noChangeShapeType="1"/>
            </p:cNvSpPr>
            <p:nvPr/>
          </p:nvSpPr>
          <p:spPr bwMode="auto">
            <a:xfrm flipH="1" flipV="1">
              <a:off x="2347913" y="1660811"/>
              <a:ext cx="0" cy="20685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46"/>
            <p:cNvSpPr>
              <a:spLocks noChangeShapeType="1"/>
            </p:cNvSpPr>
            <p:nvPr/>
          </p:nvSpPr>
          <p:spPr bwMode="auto">
            <a:xfrm flipV="1">
              <a:off x="2352675" y="1684624"/>
              <a:ext cx="41751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Oval 47"/>
            <p:cNvSpPr>
              <a:spLocks noChangeArrowheads="1"/>
            </p:cNvSpPr>
            <p:nvPr/>
          </p:nvSpPr>
          <p:spPr bwMode="auto">
            <a:xfrm>
              <a:off x="4135438" y="1656049"/>
              <a:ext cx="47625" cy="61912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73" name="Line 48"/>
            <p:cNvSpPr>
              <a:spLocks noChangeShapeType="1"/>
            </p:cNvSpPr>
            <p:nvPr/>
          </p:nvSpPr>
          <p:spPr bwMode="auto">
            <a:xfrm flipV="1">
              <a:off x="1406525" y="2781586"/>
              <a:ext cx="35687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4" name="Group 49"/>
            <p:cNvGrpSpPr/>
            <p:nvPr/>
          </p:nvGrpSpPr>
          <p:grpSpPr bwMode="auto">
            <a:xfrm>
              <a:off x="4975225" y="2621249"/>
              <a:ext cx="365125" cy="306387"/>
              <a:chOff x="8999" y="11735"/>
              <a:chExt cx="340" cy="227"/>
            </a:xfrm>
          </p:grpSpPr>
          <p:sp>
            <p:nvSpPr>
              <p:cNvPr id="18549" name="AutoShape 50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50" name="Line 51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1" name="Line 52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52" name="Line 53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75" name="Line 54"/>
            <p:cNvSpPr>
              <a:spLocks noChangeShapeType="1"/>
            </p:cNvSpPr>
            <p:nvPr/>
          </p:nvSpPr>
          <p:spPr bwMode="auto">
            <a:xfrm>
              <a:off x="4397375" y="3413411"/>
              <a:ext cx="57785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6" name="Group 55"/>
            <p:cNvGrpSpPr/>
            <p:nvPr/>
          </p:nvGrpSpPr>
          <p:grpSpPr bwMode="auto">
            <a:xfrm>
              <a:off x="4975225" y="3264186"/>
              <a:ext cx="365125" cy="306388"/>
              <a:chOff x="8999" y="11735"/>
              <a:chExt cx="340" cy="227"/>
            </a:xfrm>
          </p:grpSpPr>
          <p:sp>
            <p:nvSpPr>
              <p:cNvPr id="18545" name="AutoShape 56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46" name="Line 57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7" name="Line 58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8" name="Line 59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77" name="Line 60"/>
            <p:cNvSpPr>
              <a:spLocks noChangeShapeType="1"/>
            </p:cNvSpPr>
            <p:nvPr/>
          </p:nvSpPr>
          <p:spPr bwMode="auto">
            <a:xfrm>
              <a:off x="5335588" y="2781586"/>
              <a:ext cx="11572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Line 61"/>
            <p:cNvSpPr>
              <a:spLocks noChangeShapeType="1"/>
            </p:cNvSpPr>
            <p:nvPr/>
          </p:nvSpPr>
          <p:spPr bwMode="auto">
            <a:xfrm>
              <a:off x="5335588" y="3413411"/>
              <a:ext cx="3857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Line 62"/>
            <p:cNvSpPr>
              <a:spLocks noChangeShapeType="1"/>
            </p:cNvSpPr>
            <p:nvPr/>
          </p:nvSpPr>
          <p:spPr bwMode="auto">
            <a:xfrm flipV="1">
              <a:off x="5721350" y="2441861"/>
              <a:ext cx="1588" cy="9715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Oval 63"/>
            <p:cNvSpPr>
              <a:spLocks noChangeArrowheads="1"/>
            </p:cNvSpPr>
            <p:nvPr/>
          </p:nvSpPr>
          <p:spPr bwMode="auto">
            <a:xfrm>
              <a:off x="5697538" y="2762536"/>
              <a:ext cx="49212" cy="6032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1" name="Rectangle 64"/>
            <p:cNvSpPr>
              <a:spLocks noChangeAspect="1" noChangeArrowheads="1"/>
            </p:cNvSpPr>
            <p:nvPr/>
          </p:nvSpPr>
          <p:spPr bwMode="auto">
            <a:xfrm flipH="1">
              <a:off x="5649913" y="2016411"/>
              <a:ext cx="120650" cy="458788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82" name="Line 65"/>
            <p:cNvSpPr>
              <a:spLocks noChangeAspect="1" noChangeShapeType="1"/>
            </p:cNvSpPr>
            <p:nvPr/>
          </p:nvSpPr>
          <p:spPr bwMode="auto">
            <a:xfrm flipH="1" flipV="1">
              <a:off x="5710238" y="1700499"/>
              <a:ext cx="0" cy="3159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Text Box 66"/>
            <p:cNvSpPr txBox="1">
              <a:spLocks noChangeArrowheads="1"/>
            </p:cNvSpPr>
            <p:nvPr/>
          </p:nvSpPr>
          <p:spPr bwMode="auto">
            <a:xfrm>
              <a:off x="6678613" y="1462374"/>
              <a:ext cx="731837" cy="420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V</a:t>
              </a:r>
              <a:r>
                <a:rPr lang="en-US" altLang="zh-CN" sz="2400" i="1" baseline="-25000"/>
                <a:t>CC</a:t>
              </a:r>
              <a:endParaRPr lang="en-US" altLang="zh-CN" sz="4800" i="1"/>
            </a:p>
          </p:txBody>
        </p:sp>
        <p:sp>
          <p:nvSpPr>
            <p:cNvPr id="18484" name="Line 67"/>
            <p:cNvSpPr>
              <a:spLocks noChangeShapeType="1"/>
            </p:cNvSpPr>
            <p:nvPr/>
          </p:nvSpPr>
          <p:spPr bwMode="auto">
            <a:xfrm>
              <a:off x="4672013" y="4138899"/>
              <a:ext cx="2889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85" name="Group 68"/>
            <p:cNvGrpSpPr/>
            <p:nvPr/>
          </p:nvGrpSpPr>
          <p:grpSpPr bwMode="auto">
            <a:xfrm>
              <a:off x="4967288" y="3978561"/>
              <a:ext cx="363537" cy="306388"/>
              <a:chOff x="8999" y="11735"/>
              <a:chExt cx="340" cy="227"/>
            </a:xfrm>
          </p:grpSpPr>
          <p:sp>
            <p:nvSpPr>
              <p:cNvPr id="18541" name="AutoShape 69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42" name="Line 70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3" name="Line 71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4" name="Line 72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86" name="Line 73"/>
            <p:cNvSpPr>
              <a:spLocks noChangeShapeType="1"/>
            </p:cNvSpPr>
            <p:nvPr/>
          </p:nvSpPr>
          <p:spPr bwMode="auto">
            <a:xfrm flipV="1">
              <a:off x="1392238" y="4770724"/>
              <a:ext cx="356870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87" name="Group 74"/>
            <p:cNvGrpSpPr/>
            <p:nvPr/>
          </p:nvGrpSpPr>
          <p:grpSpPr bwMode="auto">
            <a:xfrm>
              <a:off x="4964113" y="4619911"/>
              <a:ext cx="365125" cy="306388"/>
              <a:chOff x="8999" y="11735"/>
              <a:chExt cx="340" cy="227"/>
            </a:xfrm>
          </p:grpSpPr>
          <p:sp>
            <p:nvSpPr>
              <p:cNvPr id="18537" name="AutoShape 75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38" name="Line 76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9" name="Line 77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0" name="Line 78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88" name="Line 79"/>
            <p:cNvSpPr>
              <a:spLocks noChangeShapeType="1"/>
            </p:cNvSpPr>
            <p:nvPr/>
          </p:nvSpPr>
          <p:spPr bwMode="auto">
            <a:xfrm>
              <a:off x="5335588" y="4138899"/>
              <a:ext cx="115728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Line 80"/>
            <p:cNvSpPr>
              <a:spLocks noChangeShapeType="1"/>
            </p:cNvSpPr>
            <p:nvPr/>
          </p:nvSpPr>
          <p:spPr bwMode="auto">
            <a:xfrm flipV="1">
              <a:off x="5321300" y="4770724"/>
              <a:ext cx="80327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Line 81"/>
            <p:cNvSpPr>
              <a:spLocks noChangeShapeType="1"/>
            </p:cNvSpPr>
            <p:nvPr/>
          </p:nvSpPr>
          <p:spPr bwMode="auto">
            <a:xfrm flipH="1" flipV="1">
              <a:off x="6124575" y="2441861"/>
              <a:ext cx="14288" cy="236855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Oval 82"/>
            <p:cNvSpPr>
              <a:spLocks noChangeArrowheads="1"/>
            </p:cNvSpPr>
            <p:nvPr/>
          </p:nvSpPr>
          <p:spPr bwMode="auto">
            <a:xfrm>
              <a:off x="6115050" y="4089686"/>
              <a:ext cx="49213" cy="61913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2" name="Rectangle 83"/>
            <p:cNvSpPr>
              <a:spLocks noChangeAspect="1" noChangeArrowheads="1"/>
            </p:cNvSpPr>
            <p:nvPr/>
          </p:nvSpPr>
          <p:spPr bwMode="auto">
            <a:xfrm flipH="1">
              <a:off x="6053138" y="2008474"/>
              <a:ext cx="122237" cy="46037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3" name="Line 84"/>
            <p:cNvSpPr>
              <a:spLocks noChangeAspect="1" noChangeShapeType="1"/>
            </p:cNvSpPr>
            <p:nvPr/>
          </p:nvSpPr>
          <p:spPr bwMode="auto">
            <a:xfrm flipH="1" flipV="1">
              <a:off x="6108700" y="1686211"/>
              <a:ext cx="0" cy="3143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Line 85"/>
            <p:cNvSpPr>
              <a:spLocks noChangeShapeType="1"/>
            </p:cNvSpPr>
            <p:nvPr/>
          </p:nvSpPr>
          <p:spPr bwMode="auto">
            <a:xfrm flipH="1">
              <a:off x="4651375" y="3394361"/>
              <a:ext cx="3175" cy="74771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Oval 86"/>
            <p:cNvSpPr>
              <a:spLocks noChangeArrowheads="1"/>
            </p:cNvSpPr>
            <p:nvPr/>
          </p:nvSpPr>
          <p:spPr bwMode="auto">
            <a:xfrm>
              <a:off x="4629150" y="3389599"/>
              <a:ext cx="49213" cy="6032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6" name="Oval 87"/>
            <p:cNvSpPr>
              <a:spLocks noChangeArrowheads="1"/>
            </p:cNvSpPr>
            <p:nvPr/>
          </p:nvSpPr>
          <p:spPr bwMode="auto">
            <a:xfrm>
              <a:off x="5680075" y="1656049"/>
              <a:ext cx="47625" cy="61912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7" name="Oval 88"/>
            <p:cNvSpPr>
              <a:spLocks noChangeArrowheads="1"/>
            </p:cNvSpPr>
            <p:nvPr/>
          </p:nvSpPr>
          <p:spPr bwMode="auto">
            <a:xfrm>
              <a:off x="6096000" y="1656049"/>
              <a:ext cx="47625" cy="61912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498" name="Oval 89"/>
            <p:cNvSpPr>
              <a:spLocks noChangeArrowheads="1"/>
            </p:cNvSpPr>
            <p:nvPr/>
          </p:nvSpPr>
          <p:spPr bwMode="auto">
            <a:xfrm>
              <a:off x="6529388" y="1629061"/>
              <a:ext cx="95250" cy="122238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18499" name="Group 90"/>
            <p:cNvGrpSpPr/>
            <p:nvPr/>
          </p:nvGrpSpPr>
          <p:grpSpPr bwMode="auto">
            <a:xfrm rot="10800000">
              <a:off x="6503988" y="2621249"/>
              <a:ext cx="363537" cy="306387"/>
              <a:chOff x="8999" y="11735"/>
              <a:chExt cx="340" cy="227"/>
            </a:xfrm>
          </p:grpSpPr>
          <p:sp>
            <p:nvSpPr>
              <p:cNvPr id="18533" name="AutoShape 91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34" name="Line 92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5" name="Line 93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6" name="Line 94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500" name="Group 95"/>
            <p:cNvGrpSpPr/>
            <p:nvPr/>
          </p:nvGrpSpPr>
          <p:grpSpPr bwMode="auto">
            <a:xfrm rot="10800000">
              <a:off x="6478588" y="3978561"/>
              <a:ext cx="365125" cy="306388"/>
              <a:chOff x="8999" y="11735"/>
              <a:chExt cx="340" cy="227"/>
            </a:xfrm>
          </p:grpSpPr>
          <p:sp>
            <p:nvSpPr>
              <p:cNvPr id="18529" name="AutoShape 96"/>
              <p:cNvSpPr>
                <a:spLocks noChangeArrowheads="1"/>
              </p:cNvSpPr>
              <p:nvPr/>
            </p:nvSpPr>
            <p:spPr bwMode="auto">
              <a:xfrm rot="-5400000">
                <a:off x="9050" y="11761"/>
                <a:ext cx="220" cy="170"/>
              </a:xfrm>
              <a:prstGeom prst="triangle">
                <a:avLst>
                  <a:gd name="adj" fmla="val 50000"/>
                </a:avLst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30" name="Line 97"/>
              <p:cNvSpPr>
                <a:spLocks noChangeShapeType="1"/>
              </p:cNvSpPr>
              <p:nvPr/>
            </p:nvSpPr>
            <p:spPr bwMode="auto">
              <a:xfrm rot="10800000" flipH="1">
                <a:off x="9233" y="11852"/>
                <a:ext cx="10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1" name="Line 98"/>
              <p:cNvSpPr>
                <a:spLocks noChangeShapeType="1"/>
              </p:cNvSpPr>
              <p:nvPr/>
            </p:nvSpPr>
            <p:spPr bwMode="auto">
              <a:xfrm rot="10800000">
                <a:off x="8999" y="11852"/>
                <a:ext cx="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2" name="Line 99"/>
              <p:cNvSpPr>
                <a:spLocks noChangeShapeType="1"/>
              </p:cNvSpPr>
              <p:nvPr/>
            </p:nvSpPr>
            <p:spPr bwMode="auto">
              <a:xfrm rot="10800000">
                <a:off x="9063" y="11735"/>
                <a:ext cx="0" cy="2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01" name="Line 100"/>
            <p:cNvSpPr>
              <a:spLocks noChangeShapeType="1"/>
            </p:cNvSpPr>
            <p:nvPr/>
          </p:nvSpPr>
          <p:spPr bwMode="auto">
            <a:xfrm>
              <a:off x="6873875" y="2773649"/>
              <a:ext cx="3857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Line 101"/>
            <p:cNvSpPr>
              <a:spLocks noChangeShapeType="1"/>
            </p:cNvSpPr>
            <p:nvPr/>
          </p:nvSpPr>
          <p:spPr bwMode="auto">
            <a:xfrm>
              <a:off x="6831013" y="4130961"/>
              <a:ext cx="3857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Line 102"/>
            <p:cNvSpPr>
              <a:spLocks noChangeShapeType="1"/>
            </p:cNvSpPr>
            <p:nvPr/>
          </p:nvSpPr>
          <p:spPr bwMode="auto">
            <a:xfrm>
              <a:off x="7216775" y="4138899"/>
              <a:ext cx="57943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Line 103"/>
            <p:cNvSpPr>
              <a:spLocks noChangeShapeType="1"/>
            </p:cNvSpPr>
            <p:nvPr/>
          </p:nvSpPr>
          <p:spPr bwMode="auto">
            <a:xfrm>
              <a:off x="7259638" y="2773649"/>
              <a:ext cx="0" cy="13081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505" name="Group 104"/>
            <p:cNvGrpSpPr>
              <a:grpSpLocks noChangeAspect="1"/>
            </p:cNvGrpSpPr>
            <p:nvPr/>
          </p:nvGrpSpPr>
          <p:grpSpPr bwMode="auto">
            <a:xfrm flipH="1">
              <a:off x="7196138" y="4164299"/>
              <a:ext cx="120650" cy="765175"/>
              <a:chOff x="4860" y="8928"/>
              <a:chExt cx="360" cy="1560"/>
            </a:xfrm>
          </p:grpSpPr>
          <p:sp>
            <p:nvSpPr>
              <p:cNvPr id="18526" name="Rectangle 105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27" name="Line 106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8" name="Line 107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06" name="Line 108"/>
            <p:cNvSpPr>
              <a:spLocks noChangeShapeType="1"/>
            </p:cNvSpPr>
            <p:nvPr/>
          </p:nvSpPr>
          <p:spPr bwMode="auto">
            <a:xfrm>
              <a:off x="7165975" y="4961224"/>
              <a:ext cx="19208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Oval 109"/>
            <p:cNvSpPr>
              <a:spLocks noChangeArrowheads="1"/>
            </p:cNvSpPr>
            <p:nvPr/>
          </p:nvSpPr>
          <p:spPr bwMode="auto">
            <a:xfrm>
              <a:off x="7227888" y="4086511"/>
              <a:ext cx="47625" cy="60325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08" name="Text Box 110"/>
            <p:cNvSpPr txBox="1">
              <a:spLocks noChangeArrowheads="1"/>
            </p:cNvSpPr>
            <p:nvPr/>
          </p:nvSpPr>
          <p:spPr bwMode="auto">
            <a:xfrm>
              <a:off x="7839075" y="3927761"/>
              <a:ext cx="368300" cy="422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Y</a:t>
              </a:r>
              <a:endParaRPr lang="en-US" altLang="zh-CN" sz="4800" i="1"/>
            </a:p>
          </p:txBody>
        </p:sp>
        <p:sp>
          <p:nvSpPr>
            <p:cNvPr id="18509" name="Text Box 111"/>
            <p:cNvSpPr txBox="1">
              <a:spLocks noChangeArrowheads="1"/>
            </p:cNvSpPr>
            <p:nvPr/>
          </p:nvSpPr>
          <p:spPr bwMode="auto">
            <a:xfrm>
              <a:off x="3863975" y="2000536"/>
              <a:ext cx="385763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R</a:t>
              </a:r>
              <a:endParaRPr lang="en-US" altLang="zh-CN" sz="4800" i="1"/>
            </a:p>
          </p:txBody>
        </p:sp>
        <p:grpSp>
          <p:nvGrpSpPr>
            <p:cNvPr id="18510" name="Group 112"/>
            <p:cNvGrpSpPr>
              <a:grpSpLocks noChangeAspect="1"/>
            </p:cNvGrpSpPr>
            <p:nvPr/>
          </p:nvGrpSpPr>
          <p:grpSpPr bwMode="auto">
            <a:xfrm flipH="1">
              <a:off x="2293938" y="1838611"/>
              <a:ext cx="122237" cy="765175"/>
              <a:chOff x="4860" y="8928"/>
              <a:chExt cx="360" cy="1560"/>
            </a:xfrm>
          </p:grpSpPr>
          <p:sp>
            <p:nvSpPr>
              <p:cNvPr id="18523" name="Rectangle 113"/>
              <p:cNvSpPr>
                <a:spLocks noChangeAspect="1" noChangeArrowheads="1"/>
              </p:cNvSpPr>
              <p:nvPr/>
            </p:nvSpPr>
            <p:spPr bwMode="auto">
              <a:xfrm>
                <a:off x="4860" y="9240"/>
                <a:ext cx="360" cy="936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8524" name="Line 114"/>
              <p:cNvSpPr>
                <a:spLocks noChangeAspect="1" noChangeShapeType="1"/>
              </p:cNvSpPr>
              <p:nvPr/>
            </p:nvSpPr>
            <p:spPr bwMode="auto">
              <a:xfrm>
                <a:off x="5040" y="10176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5" name="Line 115"/>
              <p:cNvSpPr>
                <a:spLocks noChangeAspect="1" noChangeShapeType="1"/>
              </p:cNvSpPr>
              <p:nvPr/>
            </p:nvSpPr>
            <p:spPr bwMode="auto">
              <a:xfrm flipV="1">
                <a:off x="5040" y="8928"/>
                <a:ext cx="0" cy="31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11" name="Rectangle 116"/>
            <p:cNvSpPr>
              <a:spLocks noChangeAspect="1" noChangeArrowheads="1"/>
            </p:cNvSpPr>
            <p:nvPr/>
          </p:nvSpPr>
          <p:spPr bwMode="auto">
            <a:xfrm flipH="1">
              <a:off x="4102100" y="1976724"/>
              <a:ext cx="120650" cy="46037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12" name="Line 117"/>
            <p:cNvSpPr>
              <a:spLocks noChangeShapeType="1"/>
            </p:cNvSpPr>
            <p:nvPr/>
          </p:nvSpPr>
          <p:spPr bwMode="auto">
            <a:xfrm flipH="1">
              <a:off x="1414463" y="4507199"/>
              <a:ext cx="0" cy="24288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3" name="Line 118"/>
            <p:cNvSpPr>
              <a:spLocks noChangeShapeType="1"/>
            </p:cNvSpPr>
            <p:nvPr/>
          </p:nvSpPr>
          <p:spPr bwMode="auto">
            <a:xfrm flipH="1">
              <a:off x="1406525" y="2749836"/>
              <a:ext cx="0" cy="11334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14" name="Oval 119"/>
            <p:cNvSpPr>
              <a:spLocks noChangeArrowheads="1"/>
            </p:cNvSpPr>
            <p:nvPr/>
          </p:nvSpPr>
          <p:spPr bwMode="auto">
            <a:xfrm>
              <a:off x="1384300" y="4494499"/>
              <a:ext cx="47625" cy="61912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15" name="Oval 120"/>
            <p:cNvSpPr>
              <a:spLocks noChangeArrowheads="1"/>
            </p:cNvSpPr>
            <p:nvPr/>
          </p:nvSpPr>
          <p:spPr bwMode="auto">
            <a:xfrm>
              <a:off x="1387475" y="3854736"/>
              <a:ext cx="49213" cy="61913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8516" name="Text Box 121"/>
            <p:cNvSpPr txBox="1">
              <a:spLocks noChangeArrowheads="1"/>
            </p:cNvSpPr>
            <p:nvPr/>
          </p:nvSpPr>
          <p:spPr bwMode="auto">
            <a:xfrm>
              <a:off x="792163" y="3664236"/>
              <a:ext cx="193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A </a:t>
              </a:r>
              <a:endParaRPr lang="en-US" altLang="zh-CN" sz="2400" i="1"/>
            </a:p>
          </p:txBody>
        </p:sp>
        <p:sp>
          <p:nvSpPr>
            <p:cNvPr id="18517" name="Text Box 122"/>
            <p:cNvSpPr txBox="1">
              <a:spLocks noChangeArrowheads="1"/>
            </p:cNvSpPr>
            <p:nvPr/>
          </p:nvSpPr>
          <p:spPr bwMode="auto">
            <a:xfrm>
              <a:off x="792163" y="3664236"/>
              <a:ext cx="193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A </a:t>
              </a:r>
              <a:endParaRPr lang="en-US" altLang="zh-CN" sz="2400" i="1"/>
            </a:p>
          </p:txBody>
        </p:sp>
        <p:sp>
          <p:nvSpPr>
            <p:cNvPr id="18518" name="Text Box 123"/>
            <p:cNvSpPr txBox="1">
              <a:spLocks noChangeArrowheads="1"/>
            </p:cNvSpPr>
            <p:nvPr/>
          </p:nvSpPr>
          <p:spPr bwMode="auto">
            <a:xfrm>
              <a:off x="792163" y="3664236"/>
              <a:ext cx="193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A </a:t>
              </a:r>
              <a:endParaRPr lang="en-US" altLang="zh-CN" sz="2400" i="1"/>
            </a:p>
          </p:txBody>
        </p:sp>
        <p:sp>
          <p:nvSpPr>
            <p:cNvPr id="18519" name="Text Box 124"/>
            <p:cNvSpPr txBox="1">
              <a:spLocks noChangeArrowheads="1"/>
            </p:cNvSpPr>
            <p:nvPr/>
          </p:nvSpPr>
          <p:spPr bwMode="auto">
            <a:xfrm>
              <a:off x="792163" y="3676936"/>
              <a:ext cx="193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A </a:t>
              </a:r>
              <a:endParaRPr lang="en-US" altLang="zh-CN" sz="2400" i="1"/>
            </a:p>
          </p:txBody>
        </p:sp>
        <p:sp>
          <p:nvSpPr>
            <p:cNvPr id="18520" name="Text Box 125"/>
            <p:cNvSpPr txBox="1">
              <a:spLocks noChangeArrowheads="1"/>
            </p:cNvSpPr>
            <p:nvPr/>
          </p:nvSpPr>
          <p:spPr bwMode="auto">
            <a:xfrm>
              <a:off x="792163" y="3676936"/>
              <a:ext cx="193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A </a:t>
              </a:r>
              <a:endParaRPr lang="en-US" altLang="zh-CN" sz="2400" i="1"/>
            </a:p>
          </p:txBody>
        </p:sp>
        <p:sp>
          <p:nvSpPr>
            <p:cNvPr id="18521" name="Text Box 126"/>
            <p:cNvSpPr txBox="1">
              <a:spLocks noChangeArrowheads="1"/>
            </p:cNvSpPr>
            <p:nvPr/>
          </p:nvSpPr>
          <p:spPr bwMode="auto">
            <a:xfrm>
              <a:off x="3348038" y="4969161"/>
              <a:ext cx="939800" cy="420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V</a:t>
              </a:r>
              <a:r>
                <a:rPr lang="en-US" altLang="zh-CN" sz="2400" i="1" baseline="-25000"/>
                <a:t>EE</a:t>
              </a:r>
              <a:endParaRPr lang="en-US" altLang="zh-CN" sz="4800" i="1"/>
            </a:p>
          </p:txBody>
        </p:sp>
        <p:sp>
          <p:nvSpPr>
            <p:cNvPr id="18522" name="Text Box 127"/>
            <p:cNvSpPr txBox="1">
              <a:spLocks noChangeArrowheads="1"/>
            </p:cNvSpPr>
            <p:nvPr/>
          </p:nvSpPr>
          <p:spPr bwMode="auto">
            <a:xfrm>
              <a:off x="792163" y="3676936"/>
              <a:ext cx="193675" cy="373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400" i="1"/>
                <a:t>A </a:t>
              </a:r>
              <a:endParaRPr lang="en-US" altLang="zh-CN" sz="2400" i="1"/>
            </a:p>
          </p:txBody>
        </p:sp>
      </p:grpSp>
      <p:sp>
        <p:nvSpPr>
          <p:cNvPr id="3" name="Text Box 60"/>
          <p:cNvSpPr txBox="1">
            <a:spLocks noChangeArrowheads="1"/>
          </p:cNvSpPr>
          <p:nvPr/>
        </p:nvSpPr>
        <p:spPr bwMode="auto">
          <a:xfrm>
            <a:off x="565728" y="595457"/>
            <a:ext cx="3694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6</a:t>
            </a:r>
            <a:r>
              <a:rPr lang="zh-CN" altLang="en-US" sz="2800" b="1" dirty="0"/>
              <a:t>、异或门</a:t>
            </a:r>
            <a:endParaRPr lang="zh-CN" altLang="en-US" sz="2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124311" y="1357860"/>
            <a:ext cx="5264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i="1" dirty="0">
                <a:solidFill>
                  <a:srgbClr val="FF0000"/>
                </a:solidFill>
              </a:rPr>
              <a:t>Y</a:t>
            </a:r>
            <a:r>
              <a:rPr lang="en-US" altLang="zh-CN" sz="3600" b="1" dirty="0">
                <a:solidFill>
                  <a:srgbClr val="FF0000"/>
                </a:solidFill>
              </a:rPr>
              <a:t>=?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WordArt 2" descr="白色大理石"/>
          <p:cNvSpPr>
            <a:spLocks noChangeArrowheads="1" noChangeShapeType="1" noTextEdit="1"/>
          </p:cNvSpPr>
          <p:nvPr/>
        </p:nvSpPr>
        <p:spPr bwMode="auto">
          <a:xfrm>
            <a:off x="1403350" y="908050"/>
            <a:ext cx="6338888" cy="4667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zh-CN" altLang="en-US" sz="2800" kern="10">
                <a:ln w="9525">
                  <a:round/>
                </a:ln>
                <a:blipFill dpi="0" rotWithShape="0">
                  <a:blip r:embed="rId1"/>
                  <a:srcRect/>
                  <a:tile tx="0" ty="0" sx="100000" sy="100000" flip="none" algn="tl"/>
                </a:blipFill>
                <a:latin typeface="宋体" panose="02010600030101010101" pitchFamily="2" charset="-122"/>
              </a:rPr>
              <a:t>分 立 元 件 门 电 路 缺 点</a:t>
            </a:r>
            <a:endParaRPr lang="zh-CN" altLang="en-US" sz="2800" kern="10">
              <a:ln w="9525">
                <a:round/>
              </a:ln>
              <a:blipFill dpi="0" rotWithShape="0">
                <a:blip r:embed="rId1"/>
                <a:srcRect/>
                <a:tile tx="0" ty="0" sx="100000" sy="100000" flip="none" algn="tl"/>
              </a:blipFill>
              <a:latin typeface="宋体" panose="02010600030101010101" pitchFamily="2" charset="-122"/>
            </a:endParaRPr>
          </a:p>
        </p:txBody>
      </p:sp>
      <p:sp>
        <p:nvSpPr>
          <p:cNvPr id="259075" name="Text Box 3"/>
          <p:cNvSpPr txBox="1">
            <a:spLocks noChangeArrowheads="1"/>
          </p:cNvSpPr>
          <p:nvPr/>
        </p:nvSpPr>
        <p:spPr bwMode="auto">
          <a:xfrm>
            <a:off x="1403350" y="1844675"/>
            <a:ext cx="6877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1</a:t>
            </a:r>
            <a:r>
              <a:rPr lang="zh-CN" altLang="en-US" sz="3200" b="1">
                <a:ea typeface="楷体_GB2312" pitchFamily="49" charset="-122"/>
              </a:rPr>
              <a:t>、体积大、工作不可靠。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259076" name="Text Box 4"/>
          <p:cNvSpPr txBox="1">
            <a:spLocks noChangeArrowheads="1"/>
          </p:cNvSpPr>
          <p:nvPr/>
        </p:nvSpPr>
        <p:spPr bwMode="auto">
          <a:xfrm>
            <a:off x="1408113" y="2924175"/>
            <a:ext cx="6877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2</a:t>
            </a:r>
            <a:r>
              <a:rPr lang="zh-CN" altLang="en-US" sz="3200" b="1">
                <a:ea typeface="楷体_GB2312" pitchFamily="49" charset="-122"/>
              </a:rPr>
              <a:t>、需要不同电源。 </a:t>
            </a:r>
            <a:endParaRPr lang="zh-CN" altLang="en-US" sz="3200" b="1">
              <a:ea typeface="楷体_GB2312" pitchFamily="49" charset="-122"/>
            </a:endParaRPr>
          </a:p>
        </p:txBody>
      </p:sp>
      <p:sp>
        <p:nvSpPr>
          <p:cNvPr id="259077" name="Text Box 5"/>
          <p:cNvSpPr txBox="1">
            <a:spLocks noChangeArrowheads="1"/>
          </p:cNvSpPr>
          <p:nvPr/>
        </p:nvSpPr>
        <p:spPr bwMode="auto">
          <a:xfrm>
            <a:off x="1403350" y="4005263"/>
            <a:ext cx="74866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3</a:t>
            </a:r>
            <a:r>
              <a:rPr lang="zh-CN" altLang="en-US" sz="3200" b="1">
                <a:ea typeface="楷体_GB2312" pitchFamily="49" charset="-122"/>
              </a:rPr>
              <a:t>、各种门的输入、输出电平不匹配。</a:t>
            </a:r>
            <a:endParaRPr lang="zh-CN" altLang="en-US" sz="3200" b="1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/>
      <p:bldP spid="259076" grpId="0"/>
      <p:bldP spid="25907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2019300" y="398463"/>
            <a:ext cx="44196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latin typeface="宋体" panose="02010600030101010101" pitchFamily="2" charset="-122"/>
              </a:rPr>
              <a:t>4.4   TTL</a:t>
            </a:r>
            <a:r>
              <a:rPr lang="zh-CN" altLang="en-US" sz="3200" b="1">
                <a:latin typeface="宋体" panose="02010600030101010101" pitchFamily="2" charset="-122"/>
              </a:rPr>
              <a:t>逻辑门电路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grpSp>
        <p:nvGrpSpPr>
          <p:cNvPr id="20483" name="Group 3"/>
          <p:cNvGrpSpPr/>
          <p:nvPr/>
        </p:nvGrpSpPr>
        <p:grpSpPr bwMode="auto">
          <a:xfrm>
            <a:off x="996950" y="1700213"/>
            <a:ext cx="8147050" cy="4886325"/>
            <a:chOff x="436" y="660"/>
            <a:chExt cx="5132" cy="3366"/>
          </a:xfrm>
        </p:grpSpPr>
        <p:grpSp>
          <p:nvGrpSpPr>
            <p:cNvPr id="20538" name="Group 4"/>
            <p:cNvGrpSpPr/>
            <p:nvPr/>
          </p:nvGrpSpPr>
          <p:grpSpPr bwMode="auto">
            <a:xfrm>
              <a:off x="1236" y="1524"/>
              <a:ext cx="1392" cy="612"/>
              <a:chOff x="984" y="1260"/>
              <a:chExt cx="1392" cy="612"/>
            </a:xfrm>
          </p:grpSpPr>
          <p:sp>
            <p:nvSpPr>
              <p:cNvPr id="20611" name="Line 5"/>
              <p:cNvSpPr>
                <a:spLocks noChangeShapeType="1"/>
              </p:cNvSpPr>
              <p:nvPr/>
            </p:nvSpPr>
            <p:spPr bwMode="auto">
              <a:xfrm>
                <a:off x="1140" y="1632"/>
                <a:ext cx="6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12" name="Line 6"/>
              <p:cNvSpPr>
                <a:spLocks noChangeShapeType="1"/>
              </p:cNvSpPr>
              <p:nvPr/>
            </p:nvSpPr>
            <p:spPr bwMode="auto">
              <a:xfrm flipV="1">
                <a:off x="1524" y="1260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13" name="Line 7"/>
              <p:cNvSpPr>
                <a:spLocks noChangeShapeType="1"/>
              </p:cNvSpPr>
              <p:nvPr/>
            </p:nvSpPr>
            <p:spPr bwMode="auto">
              <a:xfrm flipH="1">
                <a:off x="1272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14" name="Line 8"/>
              <p:cNvSpPr>
                <a:spLocks noChangeShapeType="1"/>
              </p:cNvSpPr>
              <p:nvPr/>
            </p:nvSpPr>
            <p:spPr bwMode="auto">
              <a:xfrm flipH="1">
                <a:off x="1128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15" name="Line 9"/>
              <p:cNvSpPr>
                <a:spLocks noChangeShapeType="1"/>
              </p:cNvSpPr>
              <p:nvPr/>
            </p:nvSpPr>
            <p:spPr bwMode="auto">
              <a:xfrm flipH="1">
                <a:off x="984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16" name="Line 10"/>
              <p:cNvSpPr>
                <a:spLocks noChangeShapeType="1"/>
              </p:cNvSpPr>
              <p:nvPr/>
            </p:nvSpPr>
            <p:spPr bwMode="auto">
              <a:xfrm>
                <a:off x="1524" y="1632"/>
                <a:ext cx="312" cy="22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17" name="Line 11"/>
              <p:cNvSpPr>
                <a:spLocks noChangeShapeType="1"/>
              </p:cNvSpPr>
              <p:nvPr/>
            </p:nvSpPr>
            <p:spPr bwMode="auto">
              <a:xfrm>
                <a:off x="1812" y="1855"/>
                <a:ext cx="56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39" name="Group 12"/>
            <p:cNvGrpSpPr/>
            <p:nvPr/>
          </p:nvGrpSpPr>
          <p:grpSpPr bwMode="auto">
            <a:xfrm>
              <a:off x="2628" y="1908"/>
              <a:ext cx="240" cy="456"/>
              <a:chOff x="2376" y="1644"/>
              <a:chExt cx="240" cy="456"/>
            </a:xfrm>
          </p:grpSpPr>
          <p:sp>
            <p:nvSpPr>
              <p:cNvPr id="20608" name="Line 13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09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10" name="Line 15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40" name="Group 16"/>
            <p:cNvGrpSpPr/>
            <p:nvPr/>
          </p:nvGrpSpPr>
          <p:grpSpPr bwMode="auto">
            <a:xfrm>
              <a:off x="3312" y="1704"/>
              <a:ext cx="240" cy="456"/>
              <a:chOff x="2376" y="1644"/>
              <a:chExt cx="240" cy="456"/>
            </a:xfrm>
          </p:grpSpPr>
          <p:sp>
            <p:nvSpPr>
              <p:cNvPr id="20605" name="Line 17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06" name="Line 18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07" name="Line 19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41" name="Line 20"/>
            <p:cNvSpPr>
              <a:spLocks noChangeShapeType="1"/>
            </p:cNvSpPr>
            <p:nvPr/>
          </p:nvSpPr>
          <p:spPr bwMode="auto">
            <a:xfrm flipV="1">
              <a:off x="2842" y="1536"/>
              <a:ext cx="0" cy="3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Rectangle 21"/>
            <p:cNvSpPr>
              <a:spLocks noChangeArrowheads="1"/>
            </p:cNvSpPr>
            <p:nvPr/>
          </p:nvSpPr>
          <p:spPr bwMode="auto">
            <a:xfrm>
              <a:off x="2788" y="3186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43" name="Rectangle 22"/>
            <p:cNvSpPr>
              <a:spLocks noChangeArrowheads="1"/>
            </p:cNvSpPr>
            <p:nvPr/>
          </p:nvSpPr>
          <p:spPr bwMode="auto">
            <a:xfrm>
              <a:off x="1716" y="1099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44" name="Rectangle 23"/>
            <p:cNvSpPr>
              <a:spLocks noChangeArrowheads="1"/>
            </p:cNvSpPr>
            <p:nvPr/>
          </p:nvSpPr>
          <p:spPr bwMode="auto">
            <a:xfrm>
              <a:off x="2782" y="1116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45" name="Line 24"/>
            <p:cNvSpPr>
              <a:spLocks noChangeShapeType="1"/>
            </p:cNvSpPr>
            <p:nvPr/>
          </p:nvSpPr>
          <p:spPr bwMode="auto">
            <a:xfrm>
              <a:off x="1776" y="1092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6" name="Line 25"/>
            <p:cNvSpPr>
              <a:spLocks noChangeShapeType="1"/>
            </p:cNvSpPr>
            <p:nvPr/>
          </p:nvSpPr>
          <p:spPr bwMode="auto">
            <a:xfrm flipV="1">
              <a:off x="1776" y="847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7" name="Line 26"/>
            <p:cNvSpPr>
              <a:spLocks noChangeShapeType="1"/>
            </p:cNvSpPr>
            <p:nvPr/>
          </p:nvSpPr>
          <p:spPr bwMode="auto">
            <a:xfrm flipV="1">
              <a:off x="2842" y="847"/>
              <a:ext cx="0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8" name="Line 27"/>
            <p:cNvSpPr>
              <a:spLocks noChangeShapeType="1"/>
            </p:cNvSpPr>
            <p:nvPr/>
          </p:nvSpPr>
          <p:spPr bwMode="auto">
            <a:xfrm>
              <a:off x="1776" y="84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9" name="Line 28"/>
            <p:cNvSpPr>
              <a:spLocks noChangeShapeType="1"/>
            </p:cNvSpPr>
            <p:nvPr/>
          </p:nvSpPr>
          <p:spPr bwMode="auto">
            <a:xfrm>
              <a:off x="1770" y="853"/>
              <a:ext cx="28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0" name="Line 29"/>
            <p:cNvSpPr>
              <a:spLocks noChangeShapeType="1"/>
            </p:cNvSpPr>
            <p:nvPr/>
          </p:nvSpPr>
          <p:spPr bwMode="auto">
            <a:xfrm flipH="1">
              <a:off x="2842" y="1908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51" name="Group 30"/>
            <p:cNvGrpSpPr/>
            <p:nvPr/>
          </p:nvGrpSpPr>
          <p:grpSpPr bwMode="auto">
            <a:xfrm>
              <a:off x="3816" y="1920"/>
              <a:ext cx="240" cy="456"/>
              <a:chOff x="2376" y="1644"/>
              <a:chExt cx="240" cy="456"/>
            </a:xfrm>
          </p:grpSpPr>
          <p:sp>
            <p:nvSpPr>
              <p:cNvPr id="20602" name="Line 31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03" name="Line 32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04" name="Line 33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52" name="Line 34"/>
            <p:cNvSpPr>
              <a:spLocks noChangeShapeType="1"/>
            </p:cNvSpPr>
            <p:nvPr/>
          </p:nvSpPr>
          <p:spPr bwMode="auto">
            <a:xfrm>
              <a:off x="3516" y="2136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3" name="Line 35"/>
            <p:cNvSpPr>
              <a:spLocks noChangeShapeType="1"/>
            </p:cNvSpPr>
            <p:nvPr/>
          </p:nvSpPr>
          <p:spPr bwMode="auto">
            <a:xfrm>
              <a:off x="3516" y="1711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4" name="Line 36"/>
            <p:cNvSpPr>
              <a:spLocks noChangeShapeType="1"/>
            </p:cNvSpPr>
            <p:nvPr/>
          </p:nvSpPr>
          <p:spPr bwMode="auto">
            <a:xfrm flipV="1">
              <a:off x="4018" y="1711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5" name="Rectangle 37"/>
            <p:cNvSpPr>
              <a:spLocks noChangeArrowheads="1"/>
            </p:cNvSpPr>
            <p:nvPr/>
          </p:nvSpPr>
          <p:spPr bwMode="auto">
            <a:xfrm>
              <a:off x="3958" y="1123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56" name="Line 38"/>
            <p:cNvSpPr>
              <a:spLocks noChangeShapeType="1"/>
            </p:cNvSpPr>
            <p:nvPr/>
          </p:nvSpPr>
          <p:spPr bwMode="auto">
            <a:xfrm flipV="1">
              <a:off x="4018" y="1543"/>
              <a:ext cx="0" cy="2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7" name="Line 39"/>
            <p:cNvSpPr>
              <a:spLocks noChangeShapeType="1"/>
            </p:cNvSpPr>
            <p:nvPr/>
          </p:nvSpPr>
          <p:spPr bwMode="auto">
            <a:xfrm flipV="1">
              <a:off x="4018" y="8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58" name="Group 40"/>
            <p:cNvGrpSpPr/>
            <p:nvPr/>
          </p:nvGrpSpPr>
          <p:grpSpPr bwMode="auto">
            <a:xfrm>
              <a:off x="3816" y="2772"/>
              <a:ext cx="240" cy="456"/>
              <a:chOff x="2376" y="1644"/>
              <a:chExt cx="240" cy="456"/>
            </a:xfrm>
          </p:grpSpPr>
          <p:sp>
            <p:nvSpPr>
              <p:cNvPr id="20599" name="Line 41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00" name="Line 42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01" name="Line 43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559" name="Rectangle 44"/>
            <p:cNvSpPr>
              <a:spLocks noChangeArrowheads="1"/>
            </p:cNvSpPr>
            <p:nvPr/>
          </p:nvSpPr>
          <p:spPr bwMode="auto">
            <a:xfrm>
              <a:off x="3468" y="2256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60" name="Line 45"/>
            <p:cNvSpPr>
              <a:spLocks noChangeShapeType="1"/>
            </p:cNvSpPr>
            <p:nvPr/>
          </p:nvSpPr>
          <p:spPr bwMode="auto">
            <a:xfrm>
              <a:off x="3528" y="2124"/>
              <a:ext cx="0" cy="1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1" name="Line 46"/>
            <p:cNvSpPr>
              <a:spLocks noChangeShapeType="1"/>
            </p:cNvSpPr>
            <p:nvPr/>
          </p:nvSpPr>
          <p:spPr bwMode="auto">
            <a:xfrm>
              <a:off x="3522" y="2670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2" name="Line 47"/>
            <p:cNvSpPr>
              <a:spLocks noChangeShapeType="1"/>
            </p:cNvSpPr>
            <p:nvPr/>
          </p:nvSpPr>
          <p:spPr bwMode="auto">
            <a:xfrm>
              <a:off x="3402" y="276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3" name="Line 48"/>
            <p:cNvSpPr>
              <a:spLocks noChangeShapeType="1"/>
            </p:cNvSpPr>
            <p:nvPr/>
          </p:nvSpPr>
          <p:spPr bwMode="auto">
            <a:xfrm>
              <a:off x="2848" y="2346"/>
              <a:ext cx="0" cy="8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4" name="Line 49"/>
            <p:cNvSpPr>
              <a:spLocks noChangeShapeType="1"/>
            </p:cNvSpPr>
            <p:nvPr/>
          </p:nvSpPr>
          <p:spPr bwMode="auto">
            <a:xfrm flipH="1">
              <a:off x="2848" y="2989"/>
              <a:ext cx="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5" name="Line 50"/>
            <p:cNvSpPr>
              <a:spLocks noChangeShapeType="1"/>
            </p:cNvSpPr>
            <p:nvPr/>
          </p:nvSpPr>
          <p:spPr bwMode="auto">
            <a:xfrm>
              <a:off x="2848" y="3600"/>
              <a:ext cx="0" cy="2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6" name="Line 51"/>
            <p:cNvSpPr>
              <a:spLocks noChangeShapeType="1"/>
            </p:cNvSpPr>
            <p:nvPr/>
          </p:nvSpPr>
          <p:spPr bwMode="auto">
            <a:xfrm flipV="1">
              <a:off x="2850" y="3858"/>
              <a:ext cx="118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7" name="Line 52"/>
            <p:cNvSpPr>
              <a:spLocks noChangeShapeType="1"/>
            </p:cNvSpPr>
            <p:nvPr/>
          </p:nvSpPr>
          <p:spPr bwMode="auto">
            <a:xfrm>
              <a:off x="4036" y="2364"/>
              <a:ext cx="0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8" name="Line 53"/>
            <p:cNvSpPr>
              <a:spLocks noChangeShapeType="1"/>
            </p:cNvSpPr>
            <p:nvPr/>
          </p:nvSpPr>
          <p:spPr bwMode="auto">
            <a:xfrm>
              <a:off x="4036" y="3216"/>
              <a:ext cx="0" cy="8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9" name="Line 54"/>
            <p:cNvSpPr>
              <a:spLocks noChangeShapeType="1"/>
            </p:cNvSpPr>
            <p:nvPr/>
          </p:nvSpPr>
          <p:spPr bwMode="auto">
            <a:xfrm>
              <a:off x="3906" y="4020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0" name="Line 55"/>
            <p:cNvSpPr>
              <a:spLocks noChangeShapeType="1"/>
            </p:cNvSpPr>
            <p:nvPr/>
          </p:nvSpPr>
          <p:spPr bwMode="auto">
            <a:xfrm>
              <a:off x="4036" y="2544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1" name="Line 56"/>
            <p:cNvSpPr>
              <a:spLocks noChangeShapeType="1"/>
            </p:cNvSpPr>
            <p:nvPr/>
          </p:nvSpPr>
          <p:spPr bwMode="auto">
            <a:xfrm flipH="1" flipV="1">
              <a:off x="868" y="2106"/>
              <a:ext cx="40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2" name="Line 57"/>
            <p:cNvSpPr>
              <a:spLocks noChangeShapeType="1"/>
            </p:cNvSpPr>
            <p:nvPr/>
          </p:nvSpPr>
          <p:spPr bwMode="auto">
            <a:xfrm>
              <a:off x="1392" y="2112"/>
              <a:ext cx="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3" name="Line 58"/>
            <p:cNvSpPr>
              <a:spLocks noChangeShapeType="1"/>
            </p:cNvSpPr>
            <p:nvPr/>
          </p:nvSpPr>
          <p:spPr bwMode="auto">
            <a:xfrm flipH="1">
              <a:off x="880" y="2328"/>
              <a:ext cx="5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4" name="Line 59"/>
            <p:cNvSpPr>
              <a:spLocks noChangeShapeType="1"/>
            </p:cNvSpPr>
            <p:nvPr/>
          </p:nvSpPr>
          <p:spPr bwMode="auto">
            <a:xfrm flipH="1">
              <a:off x="1536" y="2124"/>
              <a:ext cx="0" cy="4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5" name="Line 60"/>
            <p:cNvSpPr>
              <a:spLocks noChangeShapeType="1"/>
            </p:cNvSpPr>
            <p:nvPr/>
          </p:nvSpPr>
          <p:spPr bwMode="auto">
            <a:xfrm flipH="1">
              <a:off x="892" y="2532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6" name="Oval 61"/>
            <p:cNvSpPr>
              <a:spLocks noChangeArrowheads="1"/>
            </p:cNvSpPr>
            <p:nvPr/>
          </p:nvSpPr>
          <p:spPr bwMode="auto">
            <a:xfrm>
              <a:off x="4632" y="780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77" name="Oval 62"/>
            <p:cNvSpPr>
              <a:spLocks noChangeArrowheads="1"/>
            </p:cNvSpPr>
            <p:nvPr/>
          </p:nvSpPr>
          <p:spPr bwMode="auto">
            <a:xfrm>
              <a:off x="4632" y="2472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78" name="Oval 63"/>
            <p:cNvSpPr>
              <a:spLocks noChangeArrowheads="1"/>
            </p:cNvSpPr>
            <p:nvPr/>
          </p:nvSpPr>
          <p:spPr bwMode="auto">
            <a:xfrm>
              <a:off x="748" y="2040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79" name="Oval 64"/>
            <p:cNvSpPr>
              <a:spLocks noChangeArrowheads="1"/>
            </p:cNvSpPr>
            <p:nvPr/>
          </p:nvSpPr>
          <p:spPr bwMode="auto">
            <a:xfrm>
              <a:off x="760" y="2256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80" name="Oval 65"/>
            <p:cNvSpPr>
              <a:spLocks noChangeArrowheads="1"/>
            </p:cNvSpPr>
            <p:nvPr/>
          </p:nvSpPr>
          <p:spPr bwMode="auto">
            <a:xfrm>
              <a:off x="766" y="2466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81" name="Text Box 66"/>
            <p:cNvSpPr txBox="1">
              <a:spLocks noChangeArrowheads="1"/>
            </p:cNvSpPr>
            <p:nvPr/>
          </p:nvSpPr>
          <p:spPr bwMode="auto">
            <a:xfrm>
              <a:off x="4776" y="660"/>
              <a:ext cx="792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82" name="Text Box 67"/>
            <p:cNvSpPr txBox="1">
              <a:spLocks noChangeArrowheads="1"/>
            </p:cNvSpPr>
            <p:nvPr/>
          </p:nvSpPr>
          <p:spPr bwMode="auto">
            <a:xfrm>
              <a:off x="4824" y="2400"/>
              <a:ext cx="468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83" name="Text Box 68"/>
            <p:cNvSpPr txBox="1">
              <a:spLocks noChangeArrowheads="1"/>
            </p:cNvSpPr>
            <p:nvPr/>
          </p:nvSpPr>
          <p:spPr bwMode="auto">
            <a:xfrm>
              <a:off x="4104" y="1128"/>
              <a:ext cx="66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0584" name="Text Box 69"/>
            <p:cNvSpPr txBox="1">
              <a:spLocks noChangeArrowheads="1"/>
            </p:cNvSpPr>
            <p:nvPr/>
          </p:nvSpPr>
          <p:spPr bwMode="auto">
            <a:xfrm>
              <a:off x="2928" y="1116"/>
              <a:ext cx="66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85" name="Text Box 70"/>
            <p:cNvSpPr txBox="1">
              <a:spLocks noChangeArrowheads="1"/>
            </p:cNvSpPr>
            <p:nvPr/>
          </p:nvSpPr>
          <p:spPr bwMode="auto">
            <a:xfrm>
              <a:off x="1848" y="899"/>
              <a:ext cx="66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86" name="Text Box 71"/>
            <p:cNvSpPr txBox="1">
              <a:spLocks noChangeArrowheads="1"/>
            </p:cNvSpPr>
            <p:nvPr/>
          </p:nvSpPr>
          <p:spPr bwMode="auto">
            <a:xfrm>
              <a:off x="1848" y="1260"/>
              <a:ext cx="78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3k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87" name="Text Box 72"/>
            <p:cNvSpPr txBox="1">
              <a:spLocks noChangeArrowheads="1"/>
            </p:cNvSpPr>
            <p:nvPr/>
          </p:nvSpPr>
          <p:spPr bwMode="auto">
            <a:xfrm>
              <a:off x="2820" y="1956"/>
              <a:ext cx="38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0588" name="Text Box 73"/>
            <p:cNvSpPr txBox="1">
              <a:spLocks noChangeArrowheads="1"/>
            </p:cNvSpPr>
            <p:nvPr/>
          </p:nvSpPr>
          <p:spPr bwMode="auto">
            <a:xfrm>
              <a:off x="3084" y="2340"/>
              <a:ext cx="39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89" name="Text Box 74"/>
            <p:cNvSpPr txBox="1">
              <a:spLocks noChangeArrowheads="1"/>
            </p:cNvSpPr>
            <p:nvPr/>
          </p:nvSpPr>
          <p:spPr bwMode="auto">
            <a:xfrm>
              <a:off x="2976" y="3252"/>
              <a:ext cx="64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90" name="Text Box 75"/>
            <p:cNvSpPr txBox="1">
              <a:spLocks noChangeArrowheads="1"/>
            </p:cNvSpPr>
            <p:nvPr/>
          </p:nvSpPr>
          <p:spPr bwMode="auto">
            <a:xfrm>
              <a:off x="3420" y="1728"/>
              <a:ext cx="624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0591" name="Text Box 76"/>
            <p:cNvSpPr txBox="1">
              <a:spLocks noChangeArrowheads="1"/>
            </p:cNvSpPr>
            <p:nvPr/>
          </p:nvSpPr>
          <p:spPr bwMode="auto">
            <a:xfrm>
              <a:off x="4068" y="1968"/>
              <a:ext cx="42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92" name="Text Box 77"/>
            <p:cNvSpPr txBox="1">
              <a:spLocks noChangeArrowheads="1"/>
            </p:cNvSpPr>
            <p:nvPr/>
          </p:nvSpPr>
          <p:spPr bwMode="auto">
            <a:xfrm>
              <a:off x="1620" y="2112"/>
              <a:ext cx="456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93" name="Text Box 78"/>
            <p:cNvSpPr txBox="1">
              <a:spLocks noChangeArrowheads="1"/>
            </p:cNvSpPr>
            <p:nvPr/>
          </p:nvSpPr>
          <p:spPr bwMode="auto">
            <a:xfrm>
              <a:off x="4080" y="2844"/>
              <a:ext cx="4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94" name="Text Box 79"/>
            <p:cNvSpPr txBox="1">
              <a:spLocks noChangeArrowheads="1"/>
            </p:cNvSpPr>
            <p:nvPr/>
          </p:nvSpPr>
          <p:spPr bwMode="auto">
            <a:xfrm>
              <a:off x="1788" y="1572"/>
              <a:ext cx="504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95" name="Text Box 80"/>
            <p:cNvSpPr txBox="1">
              <a:spLocks noChangeArrowheads="1"/>
            </p:cNvSpPr>
            <p:nvPr/>
          </p:nvSpPr>
          <p:spPr bwMode="auto">
            <a:xfrm>
              <a:off x="2064" y="1752"/>
              <a:ext cx="636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c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0596" name="Text Box 81"/>
            <p:cNvSpPr txBox="1">
              <a:spLocks noChangeArrowheads="1"/>
            </p:cNvSpPr>
            <p:nvPr/>
          </p:nvSpPr>
          <p:spPr bwMode="auto">
            <a:xfrm>
              <a:off x="436" y="1897"/>
              <a:ext cx="44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0597" name="Text Box 82"/>
            <p:cNvSpPr txBox="1">
              <a:spLocks noChangeArrowheads="1"/>
            </p:cNvSpPr>
            <p:nvPr/>
          </p:nvSpPr>
          <p:spPr bwMode="auto">
            <a:xfrm>
              <a:off x="436" y="2149"/>
              <a:ext cx="444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0598" name="Text Box 83"/>
            <p:cNvSpPr txBox="1">
              <a:spLocks noChangeArrowheads="1"/>
            </p:cNvSpPr>
            <p:nvPr/>
          </p:nvSpPr>
          <p:spPr bwMode="auto">
            <a:xfrm>
              <a:off x="436" y="2377"/>
              <a:ext cx="44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C</a:t>
              </a:r>
              <a:endParaRPr lang="en-US" altLang="zh-CN" sz="2800" b="1">
                <a:ea typeface="楷体_GB2312" pitchFamily="49" charset="-122"/>
              </a:endParaRPr>
            </a:p>
          </p:txBody>
        </p:sp>
      </p:grpSp>
      <p:grpSp>
        <p:nvGrpSpPr>
          <p:cNvPr id="260183" name="Group 87"/>
          <p:cNvGrpSpPr/>
          <p:nvPr/>
        </p:nvGrpSpPr>
        <p:grpSpPr bwMode="auto">
          <a:xfrm>
            <a:off x="2362200" y="4419600"/>
            <a:ext cx="3886200" cy="762000"/>
            <a:chOff x="1440" y="2566"/>
            <a:chExt cx="2548" cy="986"/>
          </a:xfrm>
        </p:grpSpPr>
        <p:sp>
          <p:nvSpPr>
            <p:cNvPr id="20534" name="AutoShape 88"/>
            <p:cNvSpPr/>
            <p:nvPr/>
          </p:nvSpPr>
          <p:spPr bwMode="auto">
            <a:xfrm rot="-3612983">
              <a:off x="2450" y="1571"/>
              <a:ext cx="544" cy="2531"/>
            </a:xfrm>
            <a:prstGeom prst="leftBrace">
              <a:avLst>
                <a:gd name="adj1" fmla="val 52945"/>
                <a:gd name="adj2" fmla="val 49389"/>
              </a:avLst>
            </a:prstGeom>
            <a:noFill/>
            <a:ln w="3810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35" name="Oval 89"/>
            <p:cNvSpPr>
              <a:spLocks noChangeArrowheads="1"/>
            </p:cNvSpPr>
            <p:nvPr/>
          </p:nvSpPr>
          <p:spPr bwMode="auto">
            <a:xfrm>
              <a:off x="1440" y="2916"/>
              <a:ext cx="1212" cy="63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>
                  <a:solidFill>
                    <a:srgbClr val="FF0000"/>
                  </a:solidFill>
                  <a:ea typeface="楷体_GB2312" pitchFamily="49" charset="-122"/>
                </a:rPr>
                <a:t>全导通</a:t>
              </a:r>
              <a:endParaRPr lang="zh-CN" altLang="en-US" sz="24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60186" name="AutoShape 90"/>
          <p:cNvSpPr>
            <a:spLocks noChangeArrowheads="1"/>
          </p:cNvSpPr>
          <p:nvPr/>
        </p:nvSpPr>
        <p:spPr bwMode="auto">
          <a:xfrm>
            <a:off x="1066800" y="1524000"/>
            <a:ext cx="1847850" cy="933450"/>
          </a:xfrm>
          <a:prstGeom prst="wedgeRoundRectCallout">
            <a:avLst>
              <a:gd name="adj1" fmla="val 58505"/>
              <a:gd name="adj2" fmla="val 128569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电位被嵌</a:t>
            </a:r>
            <a:endParaRPr lang="zh-CN" altLang="en-US" sz="2400" b="1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/>
            <a:r>
              <a:rPr lang="zh-CN" altLang="en-US" sz="2400" b="1">
                <a:solidFill>
                  <a:srgbClr val="FF0000"/>
                </a:solidFill>
                <a:ea typeface="楷体_GB2312" pitchFamily="49" charset="-122"/>
              </a:rPr>
              <a:t>在</a:t>
            </a: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2.1V</a:t>
            </a:r>
            <a:endParaRPr lang="en-US" altLang="zh-CN" sz="24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60187" name="AutoShape 91"/>
          <p:cNvSpPr>
            <a:spLocks noChangeArrowheads="1"/>
          </p:cNvSpPr>
          <p:nvPr/>
        </p:nvSpPr>
        <p:spPr bwMode="auto">
          <a:xfrm>
            <a:off x="457200" y="2590800"/>
            <a:ext cx="1562100" cy="438150"/>
          </a:xfrm>
          <a:prstGeom prst="wedgeRectCallout">
            <a:avLst>
              <a:gd name="adj1" fmla="val 72458"/>
              <a:gd name="adj2" fmla="val 150000"/>
            </a:avLst>
          </a:prstGeom>
          <a:noFill/>
          <a:ln w="38100">
            <a:solidFill>
              <a:srgbClr val="FF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全反偏</a:t>
            </a:r>
            <a:endParaRPr lang="zh-CN" altLang="en-US" sz="28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60188" name="Text Box 92"/>
          <p:cNvSpPr txBox="1">
            <a:spLocks noChangeArrowheads="1"/>
          </p:cNvSpPr>
          <p:nvPr/>
        </p:nvSpPr>
        <p:spPr bwMode="auto">
          <a:xfrm>
            <a:off x="4876800" y="2819400"/>
            <a:ext cx="1009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1V</a:t>
            </a:r>
            <a:endParaRPr lang="en-US" altLang="zh-CN" sz="2800" b="1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260189" name="Group 93"/>
          <p:cNvGrpSpPr/>
          <p:nvPr/>
        </p:nvGrpSpPr>
        <p:grpSpPr bwMode="auto">
          <a:xfrm>
            <a:off x="5334000" y="2895600"/>
            <a:ext cx="3429000" cy="1352550"/>
            <a:chOff x="3480" y="1536"/>
            <a:chExt cx="2160" cy="852"/>
          </a:xfrm>
        </p:grpSpPr>
        <p:sp>
          <p:nvSpPr>
            <p:cNvPr id="20532" name="Oval 94"/>
            <p:cNvSpPr>
              <a:spLocks noChangeArrowheads="1"/>
            </p:cNvSpPr>
            <p:nvPr/>
          </p:nvSpPr>
          <p:spPr bwMode="auto">
            <a:xfrm>
              <a:off x="3480" y="1536"/>
              <a:ext cx="1200" cy="85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33" name="Oval 95"/>
            <p:cNvSpPr>
              <a:spLocks noChangeArrowheads="1"/>
            </p:cNvSpPr>
            <p:nvPr/>
          </p:nvSpPr>
          <p:spPr bwMode="auto">
            <a:xfrm>
              <a:off x="4680" y="1668"/>
              <a:ext cx="960" cy="5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截止</a:t>
              </a:r>
              <a:endParaRPr lang="zh-CN" altLang="en-US" sz="28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0490" name="Text Box 96"/>
          <p:cNvSpPr txBox="1">
            <a:spLocks noChangeArrowheads="1"/>
          </p:cNvSpPr>
          <p:nvPr/>
        </p:nvSpPr>
        <p:spPr bwMode="auto">
          <a:xfrm>
            <a:off x="228600" y="1003300"/>
            <a:ext cx="7073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latin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</a:rPr>
              <a:t>、</a:t>
            </a:r>
            <a:r>
              <a:rPr lang="en-US" altLang="zh-CN" sz="2800" b="1">
                <a:latin typeface="宋体" panose="02010600030101010101" pitchFamily="2" charset="-122"/>
              </a:rPr>
              <a:t>TTL</a:t>
            </a:r>
            <a:r>
              <a:rPr lang="zh-CN" altLang="en-US" sz="2800" b="1">
                <a:latin typeface="宋体" panose="02010600030101010101" pitchFamily="2" charset="-122"/>
              </a:rPr>
              <a:t>与非门的电路结构及工作原理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0193" name="Object 97"/>
              <p:cNvSpPr txBox="1"/>
              <p:nvPr/>
            </p:nvSpPr>
            <p:spPr bwMode="auto">
              <a:xfrm>
                <a:off x="219941" y="5139888"/>
                <a:ext cx="4474297" cy="10181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𝑉𝑒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𝑉𝑐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管处于倒置状态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60193" name="Object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9941" y="5139888"/>
                <a:ext cx="4474297" cy="1018167"/>
              </a:xfrm>
              <a:prstGeom prst="rect">
                <a:avLst/>
              </a:prstGeom>
              <a:blipFill rotWithShape="1">
                <a:blip r:embed="rId1"/>
                <a:stretch>
                  <a:fillRect l="-5" t="-19" r="7" b="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0194" name="Text Box 98"/>
          <p:cNvSpPr txBox="1">
            <a:spLocks noChangeArrowheads="1"/>
          </p:cNvSpPr>
          <p:nvPr/>
        </p:nvSpPr>
        <p:spPr bwMode="auto">
          <a:xfrm>
            <a:off x="219941" y="6116490"/>
            <a:ext cx="4230688" cy="710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结论：输入端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中全为高电平时，输出端为低电平</a:t>
            </a:r>
            <a:endParaRPr lang="zh-CN" altLang="en-US" b="1" dirty="0">
              <a:ea typeface="楷体_GB2312" pitchFamily="49" charset="-122"/>
            </a:endParaRPr>
          </a:p>
        </p:txBody>
      </p:sp>
      <p:grpSp>
        <p:nvGrpSpPr>
          <p:cNvPr id="260244" name="Group 148"/>
          <p:cNvGrpSpPr/>
          <p:nvPr/>
        </p:nvGrpSpPr>
        <p:grpSpPr bwMode="auto">
          <a:xfrm>
            <a:off x="6245225" y="314325"/>
            <a:ext cx="2022475" cy="1541463"/>
            <a:chOff x="4126" y="0"/>
            <a:chExt cx="1274" cy="971"/>
          </a:xfrm>
        </p:grpSpPr>
        <p:grpSp>
          <p:nvGrpSpPr>
            <p:cNvPr id="20496" name="Group 111"/>
            <p:cNvGrpSpPr/>
            <p:nvPr/>
          </p:nvGrpSpPr>
          <p:grpSpPr bwMode="auto">
            <a:xfrm>
              <a:off x="4416" y="352"/>
              <a:ext cx="208" cy="392"/>
              <a:chOff x="4416" y="352"/>
              <a:chExt cx="208" cy="392"/>
            </a:xfrm>
          </p:grpSpPr>
          <p:sp>
            <p:nvSpPr>
              <p:cNvPr id="20526" name="Line 103"/>
              <p:cNvSpPr>
                <a:spLocks noChangeShapeType="1"/>
              </p:cNvSpPr>
              <p:nvPr/>
            </p:nvSpPr>
            <p:spPr bwMode="auto">
              <a:xfrm>
                <a:off x="4536" y="456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7" name="Line 104"/>
              <p:cNvSpPr>
                <a:spLocks noChangeShapeType="1"/>
              </p:cNvSpPr>
              <p:nvPr/>
            </p:nvSpPr>
            <p:spPr bwMode="auto">
              <a:xfrm flipH="1">
                <a:off x="4520" y="480"/>
                <a:ext cx="88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8" name="Line 105"/>
              <p:cNvSpPr>
                <a:spLocks noChangeShapeType="1"/>
              </p:cNvSpPr>
              <p:nvPr/>
            </p:nvSpPr>
            <p:spPr bwMode="auto">
              <a:xfrm>
                <a:off x="4536" y="536"/>
                <a:ext cx="88" cy="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9" name="Line 108"/>
              <p:cNvSpPr>
                <a:spLocks noChangeShapeType="1"/>
              </p:cNvSpPr>
              <p:nvPr/>
            </p:nvSpPr>
            <p:spPr bwMode="auto">
              <a:xfrm flipH="1">
                <a:off x="4416" y="520"/>
                <a:ext cx="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0" name="Line 109"/>
              <p:cNvSpPr>
                <a:spLocks noChangeShapeType="1"/>
              </p:cNvSpPr>
              <p:nvPr/>
            </p:nvSpPr>
            <p:spPr bwMode="auto">
              <a:xfrm>
                <a:off x="4608" y="592"/>
                <a:ext cx="8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31" name="Line 110"/>
              <p:cNvSpPr>
                <a:spLocks noChangeShapeType="1"/>
              </p:cNvSpPr>
              <p:nvPr/>
            </p:nvSpPr>
            <p:spPr bwMode="auto">
              <a:xfrm>
                <a:off x="4608" y="352"/>
                <a:ext cx="0" cy="1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7" name="Group 112"/>
            <p:cNvGrpSpPr/>
            <p:nvPr/>
          </p:nvGrpSpPr>
          <p:grpSpPr bwMode="auto">
            <a:xfrm>
              <a:off x="4712" y="336"/>
              <a:ext cx="208" cy="392"/>
              <a:chOff x="4416" y="352"/>
              <a:chExt cx="208" cy="392"/>
            </a:xfrm>
          </p:grpSpPr>
          <p:sp>
            <p:nvSpPr>
              <p:cNvPr id="20520" name="Line 113"/>
              <p:cNvSpPr>
                <a:spLocks noChangeShapeType="1"/>
              </p:cNvSpPr>
              <p:nvPr/>
            </p:nvSpPr>
            <p:spPr bwMode="auto">
              <a:xfrm>
                <a:off x="4536" y="456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1" name="Line 114"/>
              <p:cNvSpPr>
                <a:spLocks noChangeShapeType="1"/>
              </p:cNvSpPr>
              <p:nvPr/>
            </p:nvSpPr>
            <p:spPr bwMode="auto">
              <a:xfrm flipH="1">
                <a:off x="4520" y="480"/>
                <a:ext cx="88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2" name="Line 115"/>
              <p:cNvSpPr>
                <a:spLocks noChangeShapeType="1"/>
              </p:cNvSpPr>
              <p:nvPr/>
            </p:nvSpPr>
            <p:spPr bwMode="auto">
              <a:xfrm>
                <a:off x="4536" y="536"/>
                <a:ext cx="88" cy="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3" name="Line 116"/>
              <p:cNvSpPr>
                <a:spLocks noChangeShapeType="1"/>
              </p:cNvSpPr>
              <p:nvPr/>
            </p:nvSpPr>
            <p:spPr bwMode="auto">
              <a:xfrm flipH="1">
                <a:off x="4416" y="520"/>
                <a:ext cx="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4" name="Line 117"/>
              <p:cNvSpPr>
                <a:spLocks noChangeShapeType="1"/>
              </p:cNvSpPr>
              <p:nvPr/>
            </p:nvSpPr>
            <p:spPr bwMode="auto">
              <a:xfrm>
                <a:off x="4608" y="592"/>
                <a:ext cx="8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25" name="Line 118"/>
              <p:cNvSpPr>
                <a:spLocks noChangeShapeType="1"/>
              </p:cNvSpPr>
              <p:nvPr/>
            </p:nvSpPr>
            <p:spPr bwMode="auto">
              <a:xfrm>
                <a:off x="4608" y="352"/>
                <a:ext cx="0" cy="1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8" name="Group 119"/>
            <p:cNvGrpSpPr/>
            <p:nvPr/>
          </p:nvGrpSpPr>
          <p:grpSpPr bwMode="auto">
            <a:xfrm>
              <a:off x="5064" y="328"/>
              <a:ext cx="208" cy="392"/>
              <a:chOff x="4416" y="352"/>
              <a:chExt cx="208" cy="392"/>
            </a:xfrm>
          </p:grpSpPr>
          <p:sp>
            <p:nvSpPr>
              <p:cNvPr id="20514" name="Line 120"/>
              <p:cNvSpPr>
                <a:spLocks noChangeShapeType="1"/>
              </p:cNvSpPr>
              <p:nvPr/>
            </p:nvSpPr>
            <p:spPr bwMode="auto">
              <a:xfrm>
                <a:off x="4536" y="456"/>
                <a:ext cx="0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5" name="Line 121"/>
              <p:cNvSpPr>
                <a:spLocks noChangeShapeType="1"/>
              </p:cNvSpPr>
              <p:nvPr/>
            </p:nvSpPr>
            <p:spPr bwMode="auto">
              <a:xfrm flipH="1">
                <a:off x="4520" y="480"/>
                <a:ext cx="88" cy="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6" name="Line 122"/>
              <p:cNvSpPr>
                <a:spLocks noChangeShapeType="1"/>
              </p:cNvSpPr>
              <p:nvPr/>
            </p:nvSpPr>
            <p:spPr bwMode="auto">
              <a:xfrm>
                <a:off x="4536" y="536"/>
                <a:ext cx="88" cy="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7" name="Line 123"/>
              <p:cNvSpPr>
                <a:spLocks noChangeShapeType="1"/>
              </p:cNvSpPr>
              <p:nvPr/>
            </p:nvSpPr>
            <p:spPr bwMode="auto">
              <a:xfrm flipH="1">
                <a:off x="4416" y="520"/>
                <a:ext cx="12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8" name="Line 124"/>
              <p:cNvSpPr>
                <a:spLocks noChangeShapeType="1"/>
              </p:cNvSpPr>
              <p:nvPr/>
            </p:nvSpPr>
            <p:spPr bwMode="auto">
              <a:xfrm>
                <a:off x="4608" y="592"/>
                <a:ext cx="8" cy="15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9" name="Line 125"/>
              <p:cNvSpPr>
                <a:spLocks noChangeShapeType="1"/>
              </p:cNvSpPr>
              <p:nvPr/>
            </p:nvSpPr>
            <p:spPr bwMode="auto">
              <a:xfrm>
                <a:off x="4608" y="352"/>
                <a:ext cx="0" cy="1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499" name="Line 127"/>
            <p:cNvSpPr>
              <a:spLocks noChangeShapeType="1"/>
            </p:cNvSpPr>
            <p:nvPr/>
          </p:nvSpPr>
          <p:spPr bwMode="auto">
            <a:xfrm flipV="1">
              <a:off x="4408" y="408"/>
              <a:ext cx="0" cy="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0" name="Line 128"/>
            <p:cNvSpPr>
              <a:spLocks noChangeShapeType="1"/>
            </p:cNvSpPr>
            <p:nvPr/>
          </p:nvSpPr>
          <p:spPr bwMode="auto">
            <a:xfrm>
              <a:off x="4400" y="408"/>
              <a:ext cx="6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Line 129"/>
            <p:cNvSpPr>
              <a:spLocks noChangeShapeType="1"/>
            </p:cNvSpPr>
            <p:nvPr/>
          </p:nvSpPr>
          <p:spPr bwMode="auto">
            <a:xfrm flipH="1">
              <a:off x="4712" y="400"/>
              <a:ext cx="0" cy="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2" name="Line 130"/>
            <p:cNvSpPr>
              <a:spLocks noChangeShapeType="1"/>
            </p:cNvSpPr>
            <p:nvPr/>
          </p:nvSpPr>
          <p:spPr bwMode="auto">
            <a:xfrm>
              <a:off x="5064" y="416"/>
              <a:ext cx="0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3" name="Line 131"/>
            <p:cNvSpPr>
              <a:spLocks noChangeShapeType="1"/>
            </p:cNvSpPr>
            <p:nvPr/>
          </p:nvSpPr>
          <p:spPr bwMode="auto">
            <a:xfrm>
              <a:off x="4224" y="520"/>
              <a:ext cx="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Line 132"/>
            <p:cNvSpPr>
              <a:spLocks noChangeShapeType="1"/>
            </p:cNvSpPr>
            <p:nvPr/>
          </p:nvSpPr>
          <p:spPr bwMode="auto">
            <a:xfrm>
              <a:off x="4600" y="336"/>
              <a:ext cx="6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5" name="Line 133"/>
            <p:cNvSpPr>
              <a:spLocks noChangeShapeType="1"/>
            </p:cNvSpPr>
            <p:nvPr/>
          </p:nvSpPr>
          <p:spPr bwMode="auto">
            <a:xfrm>
              <a:off x="4904" y="19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6" name="Oval 134"/>
            <p:cNvSpPr>
              <a:spLocks noChangeArrowheads="1"/>
            </p:cNvSpPr>
            <p:nvPr/>
          </p:nvSpPr>
          <p:spPr bwMode="auto">
            <a:xfrm>
              <a:off x="4394" y="512"/>
              <a:ext cx="27" cy="27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20507" name="Oval 137"/>
            <p:cNvSpPr>
              <a:spLocks noChangeArrowheads="1"/>
            </p:cNvSpPr>
            <p:nvPr/>
          </p:nvSpPr>
          <p:spPr bwMode="auto">
            <a:xfrm>
              <a:off x="4890" y="320"/>
              <a:ext cx="27" cy="27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20508" name="Oval 138"/>
            <p:cNvSpPr>
              <a:spLocks noChangeArrowheads="1"/>
            </p:cNvSpPr>
            <p:nvPr/>
          </p:nvSpPr>
          <p:spPr bwMode="auto">
            <a:xfrm>
              <a:off x="4698" y="408"/>
              <a:ext cx="27" cy="27"/>
            </a:xfrm>
            <a:prstGeom prst="ellipse">
              <a:avLst/>
            </a:prstGeom>
            <a:solidFill>
              <a:schemeClr val="tx2"/>
            </a:solidFill>
            <a:ln w="38100">
              <a:solidFill>
                <a:schemeClr val="tx1"/>
              </a:solidFill>
              <a:round/>
              <a:tailEnd type="none" w="sm" len="lg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i="1"/>
            </a:p>
          </p:txBody>
        </p:sp>
        <p:sp>
          <p:nvSpPr>
            <p:cNvPr id="20509" name="Text Box 140"/>
            <p:cNvSpPr txBox="1">
              <a:spLocks noChangeArrowheads="1"/>
            </p:cNvSpPr>
            <p:nvPr/>
          </p:nvSpPr>
          <p:spPr bwMode="auto">
            <a:xfrm>
              <a:off x="4126" y="273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/>
                <a:t>b</a:t>
              </a:r>
              <a:endParaRPr lang="en-US" altLang="zh-CN" i="1"/>
            </a:p>
          </p:txBody>
        </p:sp>
        <p:sp>
          <p:nvSpPr>
            <p:cNvPr id="20510" name="Text Box 141"/>
            <p:cNvSpPr txBox="1">
              <a:spLocks noChangeArrowheads="1"/>
            </p:cNvSpPr>
            <p:nvPr/>
          </p:nvSpPr>
          <p:spPr bwMode="auto">
            <a:xfrm>
              <a:off x="4931" y="0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/>
                <a:t>c</a:t>
              </a:r>
              <a:endParaRPr lang="en-US" altLang="zh-CN" i="1"/>
            </a:p>
          </p:txBody>
        </p:sp>
        <p:sp>
          <p:nvSpPr>
            <p:cNvPr id="20511" name="Text Box 142"/>
            <p:cNvSpPr txBox="1">
              <a:spLocks noChangeArrowheads="1"/>
            </p:cNvSpPr>
            <p:nvPr/>
          </p:nvSpPr>
          <p:spPr bwMode="auto">
            <a:xfrm>
              <a:off x="4473" y="721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/>
                <a:t>e</a:t>
              </a:r>
              <a:r>
                <a:rPr lang="en-US" altLang="zh-CN" i="1" baseline="-25000"/>
                <a:t>1</a:t>
              </a:r>
              <a:endParaRPr lang="en-US" altLang="zh-CN" i="1" baseline="-25000"/>
            </a:p>
          </p:txBody>
        </p:sp>
        <p:sp>
          <p:nvSpPr>
            <p:cNvPr id="20512" name="Text Box 143"/>
            <p:cNvSpPr txBox="1">
              <a:spLocks noChangeArrowheads="1"/>
            </p:cNvSpPr>
            <p:nvPr/>
          </p:nvSpPr>
          <p:spPr bwMode="auto">
            <a:xfrm>
              <a:off x="4817" y="721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/>
                <a:t>e</a:t>
              </a:r>
              <a:r>
                <a:rPr lang="en-US" altLang="zh-CN" i="1" baseline="-25000"/>
                <a:t>2</a:t>
              </a:r>
              <a:endParaRPr lang="en-US" altLang="zh-CN" i="1" baseline="-25000"/>
            </a:p>
          </p:txBody>
        </p:sp>
        <p:sp>
          <p:nvSpPr>
            <p:cNvPr id="20513" name="Text Box 144"/>
            <p:cNvSpPr txBox="1">
              <a:spLocks noChangeArrowheads="1"/>
            </p:cNvSpPr>
            <p:nvPr/>
          </p:nvSpPr>
          <p:spPr bwMode="auto">
            <a:xfrm>
              <a:off x="5161" y="721"/>
              <a:ext cx="2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/>
                <a:t>e</a:t>
              </a:r>
              <a:r>
                <a:rPr lang="en-US" altLang="zh-CN" i="1" baseline="-25000"/>
                <a:t>3</a:t>
              </a:r>
              <a:endParaRPr lang="en-US" altLang="zh-CN" i="1" baseline="-25000"/>
            </a:p>
          </p:txBody>
        </p:sp>
      </p:grpSp>
      <p:sp>
        <p:nvSpPr>
          <p:cNvPr id="20494" name="Line 146"/>
          <p:cNvSpPr>
            <a:spLocks noChangeShapeType="1"/>
          </p:cNvSpPr>
          <p:nvPr/>
        </p:nvSpPr>
        <p:spPr bwMode="auto">
          <a:xfrm flipH="1">
            <a:off x="4051300" y="1562100"/>
            <a:ext cx="0" cy="4927600"/>
          </a:xfrm>
          <a:prstGeom prst="line">
            <a:avLst/>
          </a:prstGeom>
          <a:noFill/>
          <a:ln w="12700" cap="rnd">
            <a:solidFill>
              <a:srgbClr val="0000FF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Line 147"/>
          <p:cNvSpPr>
            <a:spLocks noChangeShapeType="1"/>
          </p:cNvSpPr>
          <p:nvPr/>
        </p:nvSpPr>
        <p:spPr bwMode="auto">
          <a:xfrm>
            <a:off x="5257800" y="1485900"/>
            <a:ext cx="12700" cy="4991100"/>
          </a:xfrm>
          <a:prstGeom prst="line">
            <a:avLst/>
          </a:prstGeom>
          <a:noFill/>
          <a:ln w="12700" cap="rnd">
            <a:solidFill>
              <a:srgbClr val="0000FF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0" y="3297382"/>
            <a:ext cx="1173452" cy="1255568"/>
            <a:chOff x="0" y="3297382"/>
            <a:chExt cx="1173452" cy="1255568"/>
          </a:xfrm>
        </p:grpSpPr>
        <p:grpSp>
          <p:nvGrpSpPr>
            <p:cNvPr id="260180" name="Group 84"/>
            <p:cNvGrpSpPr/>
            <p:nvPr/>
          </p:nvGrpSpPr>
          <p:grpSpPr bwMode="auto">
            <a:xfrm>
              <a:off x="0" y="3657600"/>
              <a:ext cx="1104900" cy="895350"/>
              <a:chOff x="0" y="1944"/>
              <a:chExt cx="696" cy="660"/>
            </a:xfrm>
          </p:grpSpPr>
          <p:sp>
            <p:nvSpPr>
              <p:cNvPr id="20536" name="AutoShape 85"/>
              <p:cNvSpPr/>
              <p:nvPr/>
            </p:nvSpPr>
            <p:spPr bwMode="auto">
              <a:xfrm>
                <a:off x="348" y="2016"/>
                <a:ext cx="348" cy="588"/>
              </a:xfrm>
              <a:prstGeom prst="leftBrace">
                <a:avLst>
                  <a:gd name="adj1" fmla="val 14073"/>
                  <a:gd name="adj2" fmla="val 50000"/>
                </a:avLst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20537" name="Text Box 86"/>
              <p:cNvSpPr txBox="1">
                <a:spLocks noChangeArrowheads="1"/>
              </p:cNvSpPr>
              <p:nvPr/>
            </p:nvSpPr>
            <p:spPr bwMode="auto">
              <a:xfrm>
                <a:off x="0" y="1944"/>
                <a:ext cx="516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solidFill>
                      <a:srgbClr val="FF0000"/>
                    </a:solidFill>
                    <a:ea typeface="楷体_GB2312" pitchFamily="49" charset="-122"/>
                  </a:rPr>
                  <a:t>“</a:t>
                </a:r>
                <a:r>
                  <a:rPr lang="zh-CN" altLang="en-US" sz="1600" b="1">
                    <a:solidFill>
                      <a:srgbClr val="FF0000"/>
                    </a:solidFill>
                    <a:ea typeface="楷体_GB2312" pitchFamily="49" charset="-122"/>
                  </a:rPr>
                  <a:t>全高</a:t>
                </a:r>
                <a:r>
                  <a:rPr lang="zh-CN" altLang="en-US" sz="2800" b="1">
                    <a:solidFill>
                      <a:srgbClr val="FF0000"/>
                    </a:solidFill>
                    <a:ea typeface="楷体_GB2312" pitchFamily="49" charset="-122"/>
                  </a:rPr>
                  <a:t>”</a:t>
                </a:r>
                <a:endParaRPr lang="zh-CN" altLang="en-US" sz="2800" b="1">
                  <a:ea typeface="楷体_GB2312" pitchFamily="49" charset="-122"/>
                </a:endParaRPr>
              </a:p>
            </p:txBody>
          </p:sp>
        </p:grpSp>
        <p:sp>
          <p:nvSpPr>
            <p:cNvPr id="5" name="文本框 4"/>
            <p:cNvSpPr txBox="1"/>
            <p:nvPr/>
          </p:nvSpPr>
          <p:spPr>
            <a:xfrm>
              <a:off x="446955" y="3297382"/>
              <a:ext cx="72649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3.6</a:t>
              </a:r>
              <a:r>
                <a:rPr lang="zh-CN" altLang="en-US" dirty="0"/>
                <a:t>𝑉</a:t>
              </a:r>
              <a:endParaRPr lang="zh-CN" altLang="en-US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6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0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0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0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0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0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0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86" grpId="0" animBg="1"/>
      <p:bldP spid="260187" grpId="0" animBg="1"/>
      <p:bldP spid="260188" grpId="0"/>
      <p:bldP spid="260193" grpId="0"/>
      <p:bldP spid="26019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6" name="Group 3"/>
          <p:cNvGrpSpPr/>
          <p:nvPr/>
        </p:nvGrpSpPr>
        <p:grpSpPr bwMode="auto">
          <a:xfrm>
            <a:off x="996950" y="622300"/>
            <a:ext cx="8147050" cy="4886325"/>
            <a:chOff x="436" y="660"/>
            <a:chExt cx="5132" cy="3366"/>
          </a:xfrm>
        </p:grpSpPr>
        <p:grpSp>
          <p:nvGrpSpPr>
            <p:cNvPr id="21520" name="Group 4"/>
            <p:cNvGrpSpPr/>
            <p:nvPr/>
          </p:nvGrpSpPr>
          <p:grpSpPr bwMode="auto">
            <a:xfrm>
              <a:off x="1236" y="1524"/>
              <a:ext cx="1392" cy="612"/>
              <a:chOff x="984" y="1260"/>
              <a:chExt cx="1392" cy="612"/>
            </a:xfrm>
          </p:grpSpPr>
          <p:sp>
            <p:nvSpPr>
              <p:cNvPr id="21593" name="Line 5"/>
              <p:cNvSpPr>
                <a:spLocks noChangeShapeType="1"/>
              </p:cNvSpPr>
              <p:nvPr/>
            </p:nvSpPr>
            <p:spPr bwMode="auto">
              <a:xfrm>
                <a:off x="1140" y="1632"/>
                <a:ext cx="6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4" name="Line 6"/>
              <p:cNvSpPr>
                <a:spLocks noChangeShapeType="1"/>
              </p:cNvSpPr>
              <p:nvPr/>
            </p:nvSpPr>
            <p:spPr bwMode="auto">
              <a:xfrm flipV="1">
                <a:off x="1524" y="1260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5" name="Line 7"/>
              <p:cNvSpPr>
                <a:spLocks noChangeShapeType="1"/>
              </p:cNvSpPr>
              <p:nvPr/>
            </p:nvSpPr>
            <p:spPr bwMode="auto">
              <a:xfrm flipH="1">
                <a:off x="1272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6" name="Line 8"/>
              <p:cNvSpPr>
                <a:spLocks noChangeShapeType="1"/>
              </p:cNvSpPr>
              <p:nvPr/>
            </p:nvSpPr>
            <p:spPr bwMode="auto">
              <a:xfrm flipH="1">
                <a:off x="1128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7" name="Line 9"/>
              <p:cNvSpPr>
                <a:spLocks noChangeShapeType="1"/>
              </p:cNvSpPr>
              <p:nvPr/>
            </p:nvSpPr>
            <p:spPr bwMode="auto">
              <a:xfrm flipH="1">
                <a:off x="984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8" name="Line 10"/>
              <p:cNvSpPr>
                <a:spLocks noChangeShapeType="1"/>
              </p:cNvSpPr>
              <p:nvPr/>
            </p:nvSpPr>
            <p:spPr bwMode="auto">
              <a:xfrm>
                <a:off x="1524" y="1632"/>
                <a:ext cx="312" cy="22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9" name="Line 11"/>
              <p:cNvSpPr>
                <a:spLocks noChangeShapeType="1"/>
              </p:cNvSpPr>
              <p:nvPr/>
            </p:nvSpPr>
            <p:spPr bwMode="auto">
              <a:xfrm>
                <a:off x="1812" y="1855"/>
                <a:ext cx="56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21" name="Group 12"/>
            <p:cNvGrpSpPr/>
            <p:nvPr/>
          </p:nvGrpSpPr>
          <p:grpSpPr bwMode="auto">
            <a:xfrm>
              <a:off x="2628" y="1908"/>
              <a:ext cx="240" cy="456"/>
              <a:chOff x="2376" y="1644"/>
              <a:chExt cx="240" cy="456"/>
            </a:xfrm>
          </p:grpSpPr>
          <p:sp>
            <p:nvSpPr>
              <p:cNvPr id="21590" name="Line 13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1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92" name="Line 15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22" name="Group 16"/>
            <p:cNvGrpSpPr/>
            <p:nvPr/>
          </p:nvGrpSpPr>
          <p:grpSpPr bwMode="auto">
            <a:xfrm>
              <a:off x="3312" y="1704"/>
              <a:ext cx="240" cy="456"/>
              <a:chOff x="2376" y="1644"/>
              <a:chExt cx="240" cy="456"/>
            </a:xfrm>
          </p:grpSpPr>
          <p:sp>
            <p:nvSpPr>
              <p:cNvPr id="21587" name="Line 17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88" name="Line 18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89" name="Line 19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23" name="Line 20"/>
            <p:cNvSpPr>
              <a:spLocks noChangeShapeType="1"/>
            </p:cNvSpPr>
            <p:nvPr/>
          </p:nvSpPr>
          <p:spPr bwMode="auto">
            <a:xfrm flipV="1">
              <a:off x="2842" y="1536"/>
              <a:ext cx="0" cy="3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4" name="Rectangle 21"/>
            <p:cNvSpPr>
              <a:spLocks noChangeArrowheads="1"/>
            </p:cNvSpPr>
            <p:nvPr/>
          </p:nvSpPr>
          <p:spPr bwMode="auto">
            <a:xfrm>
              <a:off x="2788" y="3186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25" name="Rectangle 22"/>
            <p:cNvSpPr>
              <a:spLocks noChangeArrowheads="1"/>
            </p:cNvSpPr>
            <p:nvPr/>
          </p:nvSpPr>
          <p:spPr bwMode="auto">
            <a:xfrm>
              <a:off x="1716" y="1099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26" name="Rectangle 23"/>
            <p:cNvSpPr>
              <a:spLocks noChangeArrowheads="1"/>
            </p:cNvSpPr>
            <p:nvPr/>
          </p:nvSpPr>
          <p:spPr bwMode="auto">
            <a:xfrm>
              <a:off x="2782" y="1116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27" name="Line 24"/>
            <p:cNvSpPr>
              <a:spLocks noChangeShapeType="1"/>
            </p:cNvSpPr>
            <p:nvPr/>
          </p:nvSpPr>
          <p:spPr bwMode="auto">
            <a:xfrm>
              <a:off x="1776" y="1092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8" name="Line 25"/>
            <p:cNvSpPr>
              <a:spLocks noChangeShapeType="1"/>
            </p:cNvSpPr>
            <p:nvPr/>
          </p:nvSpPr>
          <p:spPr bwMode="auto">
            <a:xfrm flipV="1">
              <a:off x="1776" y="847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9" name="Line 26"/>
            <p:cNvSpPr>
              <a:spLocks noChangeShapeType="1"/>
            </p:cNvSpPr>
            <p:nvPr/>
          </p:nvSpPr>
          <p:spPr bwMode="auto">
            <a:xfrm flipV="1">
              <a:off x="2842" y="847"/>
              <a:ext cx="0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0" name="Line 27"/>
            <p:cNvSpPr>
              <a:spLocks noChangeShapeType="1"/>
            </p:cNvSpPr>
            <p:nvPr/>
          </p:nvSpPr>
          <p:spPr bwMode="auto">
            <a:xfrm>
              <a:off x="1776" y="84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1" name="Line 28"/>
            <p:cNvSpPr>
              <a:spLocks noChangeShapeType="1"/>
            </p:cNvSpPr>
            <p:nvPr/>
          </p:nvSpPr>
          <p:spPr bwMode="auto">
            <a:xfrm>
              <a:off x="1770" y="853"/>
              <a:ext cx="28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2" name="Line 29"/>
            <p:cNvSpPr>
              <a:spLocks noChangeShapeType="1"/>
            </p:cNvSpPr>
            <p:nvPr/>
          </p:nvSpPr>
          <p:spPr bwMode="auto">
            <a:xfrm flipH="1">
              <a:off x="2842" y="1908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33" name="Group 30"/>
            <p:cNvGrpSpPr/>
            <p:nvPr/>
          </p:nvGrpSpPr>
          <p:grpSpPr bwMode="auto">
            <a:xfrm>
              <a:off x="3816" y="1920"/>
              <a:ext cx="240" cy="456"/>
              <a:chOff x="2376" y="1644"/>
              <a:chExt cx="240" cy="456"/>
            </a:xfrm>
          </p:grpSpPr>
          <p:sp>
            <p:nvSpPr>
              <p:cNvPr id="21584" name="Line 31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85" name="Line 32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86" name="Line 33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34" name="Line 34"/>
            <p:cNvSpPr>
              <a:spLocks noChangeShapeType="1"/>
            </p:cNvSpPr>
            <p:nvPr/>
          </p:nvSpPr>
          <p:spPr bwMode="auto">
            <a:xfrm>
              <a:off x="3516" y="2136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Line 35"/>
            <p:cNvSpPr>
              <a:spLocks noChangeShapeType="1"/>
            </p:cNvSpPr>
            <p:nvPr/>
          </p:nvSpPr>
          <p:spPr bwMode="auto">
            <a:xfrm>
              <a:off x="3516" y="1711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36"/>
            <p:cNvSpPr>
              <a:spLocks noChangeShapeType="1"/>
            </p:cNvSpPr>
            <p:nvPr/>
          </p:nvSpPr>
          <p:spPr bwMode="auto">
            <a:xfrm flipV="1">
              <a:off x="4018" y="1711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Rectangle 37"/>
            <p:cNvSpPr>
              <a:spLocks noChangeArrowheads="1"/>
            </p:cNvSpPr>
            <p:nvPr/>
          </p:nvSpPr>
          <p:spPr bwMode="auto">
            <a:xfrm>
              <a:off x="3958" y="1123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38" name="Line 38"/>
            <p:cNvSpPr>
              <a:spLocks noChangeShapeType="1"/>
            </p:cNvSpPr>
            <p:nvPr/>
          </p:nvSpPr>
          <p:spPr bwMode="auto">
            <a:xfrm flipV="1">
              <a:off x="4018" y="1543"/>
              <a:ext cx="0" cy="2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9" name="Line 39"/>
            <p:cNvSpPr>
              <a:spLocks noChangeShapeType="1"/>
            </p:cNvSpPr>
            <p:nvPr/>
          </p:nvSpPr>
          <p:spPr bwMode="auto">
            <a:xfrm flipV="1">
              <a:off x="4018" y="852"/>
              <a:ext cx="0" cy="2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40" name="Group 40"/>
            <p:cNvGrpSpPr/>
            <p:nvPr/>
          </p:nvGrpSpPr>
          <p:grpSpPr bwMode="auto">
            <a:xfrm>
              <a:off x="3816" y="2772"/>
              <a:ext cx="240" cy="456"/>
              <a:chOff x="2376" y="1644"/>
              <a:chExt cx="240" cy="456"/>
            </a:xfrm>
          </p:grpSpPr>
          <p:sp>
            <p:nvSpPr>
              <p:cNvPr id="21581" name="Line 41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82" name="Line 42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83" name="Line 43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41" name="Rectangle 44"/>
            <p:cNvSpPr>
              <a:spLocks noChangeArrowheads="1"/>
            </p:cNvSpPr>
            <p:nvPr/>
          </p:nvSpPr>
          <p:spPr bwMode="auto">
            <a:xfrm>
              <a:off x="3468" y="2256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42" name="Line 45"/>
            <p:cNvSpPr>
              <a:spLocks noChangeShapeType="1"/>
            </p:cNvSpPr>
            <p:nvPr/>
          </p:nvSpPr>
          <p:spPr bwMode="auto">
            <a:xfrm>
              <a:off x="3528" y="2124"/>
              <a:ext cx="0" cy="1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3" name="Line 46"/>
            <p:cNvSpPr>
              <a:spLocks noChangeShapeType="1"/>
            </p:cNvSpPr>
            <p:nvPr/>
          </p:nvSpPr>
          <p:spPr bwMode="auto">
            <a:xfrm>
              <a:off x="3522" y="2670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4" name="Line 47"/>
            <p:cNvSpPr>
              <a:spLocks noChangeShapeType="1"/>
            </p:cNvSpPr>
            <p:nvPr/>
          </p:nvSpPr>
          <p:spPr bwMode="auto">
            <a:xfrm>
              <a:off x="3402" y="276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5" name="Line 48"/>
            <p:cNvSpPr>
              <a:spLocks noChangeShapeType="1"/>
            </p:cNvSpPr>
            <p:nvPr/>
          </p:nvSpPr>
          <p:spPr bwMode="auto">
            <a:xfrm>
              <a:off x="2848" y="2346"/>
              <a:ext cx="0" cy="8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6" name="Line 49"/>
            <p:cNvSpPr>
              <a:spLocks noChangeShapeType="1"/>
            </p:cNvSpPr>
            <p:nvPr/>
          </p:nvSpPr>
          <p:spPr bwMode="auto">
            <a:xfrm flipH="1">
              <a:off x="2848" y="2989"/>
              <a:ext cx="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7" name="Line 50"/>
            <p:cNvSpPr>
              <a:spLocks noChangeShapeType="1"/>
            </p:cNvSpPr>
            <p:nvPr/>
          </p:nvSpPr>
          <p:spPr bwMode="auto">
            <a:xfrm>
              <a:off x="2848" y="3600"/>
              <a:ext cx="0" cy="2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8" name="Line 51"/>
            <p:cNvSpPr>
              <a:spLocks noChangeShapeType="1"/>
            </p:cNvSpPr>
            <p:nvPr/>
          </p:nvSpPr>
          <p:spPr bwMode="auto">
            <a:xfrm flipV="1">
              <a:off x="2850" y="3858"/>
              <a:ext cx="118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9" name="Line 52"/>
            <p:cNvSpPr>
              <a:spLocks noChangeShapeType="1"/>
            </p:cNvSpPr>
            <p:nvPr/>
          </p:nvSpPr>
          <p:spPr bwMode="auto">
            <a:xfrm>
              <a:off x="4036" y="2364"/>
              <a:ext cx="0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0" name="Line 53"/>
            <p:cNvSpPr>
              <a:spLocks noChangeShapeType="1"/>
            </p:cNvSpPr>
            <p:nvPr/>
          </p:nvSpPr>
          <p:spPr bwMode="auto">
            <a:xfrm>
              <a:off x="4036" y="3216"/>
              <a:ext cx="0" cy="8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1" name="Line 54"/>
            <p:cNvSpPr>
              <a:spLocks noChangeShapeType="1"/>
            </p:cNvSpPr>
            <p:nvPr/>
          </p:nvSpPr>
          <p:spPr bwMode="auto">
            <a:xfrm>
              <a:off x="3906" y="4020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2" name="Line 55"/>
            <p:cNvSpPr>
              <a:spLocks noChangeShapeType="1"/>
            </p:cNvSpPr>
            <p:nvPr/>
          </p:nvSpPr>
          <p:spPr bwMode="auto">
            <a:xfrm>
              <a:off x="4036" y="2544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3" name="Line 56"/>
            <p:cNvSpPr>
              <a:spLocks noChangeShapeType="1"/>
            </p:cNvSpPr>
            <p:nvPr/>
          </p:nvSpPr>
          <p:spPr bwMode="auto">
            <a:xfrm flipH="1" flipV="1">
              <a:off x="868" y="2106"/>
              <a:ext cx="40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4" name="Line 57"/>
            <p:cNvSpPr>
              <a:spLocks noChangeShapeType="1"/>
            </p:cNvSpPr>
            <p:nvPr/>
          </p:nvSpPr>
          <p:spPr bwMode="auto">
            <a:xfrm>
              <a:off x="1392" y="2112"/>
              <a:ext cx="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5" name="Line 58"/>
            <p:cNvSpPr>
              <a:spLocks noChangeShapeType="1"/>
            </p:cNvSpPr>
            <p:nvPr/>
          </p:nvSpPr>
          <p:spPr bwMode="auto">
            <a:xfrm flipH="1">
              <a:off x="880" y="2328"/>
              <a:ext cx="5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6" name="Line 59"/>
            <p:cNvSpPr>
              <a:spLocks noChangeShapeType="1"/>
            </p:cNvSpPr>
            <p:nvPr/>
          </p:nvSpPr>
          <p:spPr bwMode="auto">
            <a:xfrm flipH="1">
              <a:off x="1536" y="2124"/>
              <a:ext cx="0" cy="4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7" name="Line 60"/>
            <p:cNvSpPr>
              <a:spLocks noChangeShapeType="1"/>
            </p:cNvSpPr>
            <p:nvPr/>
          </p:nvSpPr>
          <p:spPr bwMode="auto">
            <a:xfrm flipH="1">
              <a:off x="892" y="2532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58" name="Oval 61"/>
            <p:cNvSpPr>
              <a:spLocks noChangeArrowheads="1"/>
            </p:cNvSpPr>
            <p:nvPr/>
          </p:nvSpPr>
          <p:spPr bwMode="auto">
            <a:xfrm>
              <a:off x="4632" y="780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59" name="Oval 62"/>
            <p:cNvSpPr>
              <a:spLocks noChangeArrowheads="1"/>
            </p:cNvSpPr>
            <p:nvPr/>
          </p:nvSpPr>
          <p:spPr bwMode="auto">
            <a:xfrm>
              <a:off x="4632" y="2472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0" name="Oval 63"/>
            <p:cNvSpPr>
              <a:spLocks noChangeArrowheads="1"/>
            </p:cNvSpPr>
            <p:nvPr/>
          </p:nvSpPr>
          <p:spPr bwMode="auto">
            <a:xfrm>
              <a:off x="748" y="2040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1" name="Oval 64"/>
            <p:cNvSpPr>
              <a:spLocks noChangeArrowheads="1"/>
            </p:cNvSpPr>
            <p:nvPr/>
          </p:nvSpPr>
          <p:spPr bwMode="auto">
            <a:xfrm>
              <a:off x="760" y="2256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2" name="Oval 65"/>
            <p:cNvSpPr>
              <a:spLocks noChangeArrowheads="1"/>
            </p:cNvSpPr>
            <p:nvPr/>
          </p:nvSpPr>
          <p:spPr bwMode="auto">
            <a:xfrm>
              <a:off x="766" y="2466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63" name="Text Box 66"/>
            <p:cNvSpPr txBox="1">
              <a:spLocks noChangeArrowheads="1"/>
            </p:cNvSpPr>
            <p:nvPr/>
          </p:nvSpPr>
          <p:spPr bwMode="auto">
            <a:xfrm>
              <a:off x="4776" y="660"/>
              <a:ext cx="792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64" name="Text Box 67"/>
            <p:cNvSpPr txBox="1">
              <a:spLocks noChangeArrowheads="1"/>
            </p:cNvSpPr>
            <p:nvPr/>
          </p:nvSpPr>
          <p:spPr bwMode="auto">
            <a:xfrm>
              <a:off x="4824" y="2400"/>
              <a:ext cx="468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65" name="Text Box 68"/>
            <p:cNvSpPr txBox="1">
              <a:spLocks noChangeArrowheads="1"/>
            </p:cNvSpPr>
            <p:nvPr/>
          </p:nvSpPr>
          <p:spPr bwMode="auto">
            <a:xfrm>
              <a:off x="4104" y="1128"/>
              <a:ext cx="66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1566" name="Text Box 69"/>
            <p:cNvSpPr txBox="1">
              <a:spLocks noChangeArrowheads="1"/>
            </p:cNvSpPr>
            <p:nvPr/>
          </p:nvSpPr>
          <p:spPr bwMode="auto">
            <a:xfrm>
              <a:off x="2928" y="1116"/>
              <a:ext cx="66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67" name="Text Box 70"/>
            <p:cNvSpPr txBox="1">
              <a:spLocks noChangeArrowheads="1"/>
            </p:cNvSpPr>
            <p:nvPr/>
          </p:nvSpPr>
          <p:spPr bwMode="auto">
            <a:xfrm>
              <a:off x="1848" y="899"/>
              <a:ext cx="66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68" name="Text Box 71"/>
            <p:cNvSpPr txBox="1">
              <a:spLocks noChangeArrowheads="1"/>
            </p:cNvSpPr>
            <p:nvPr/>
          </p:nvSpPr>
          <p:spPr bwMode="auto">
            <a:xfrm>
              <a:off x="1848" y="1260"/>
              <a:ext cx="78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3k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69" name="Text Box 72"/>
            <p:cNvSpPr txBox="1">
              <a:spLocks noChangeArrowheads="1"/>
            </p:cNvSpPr>
            <p:nvPr/>
          </p:nvSpPr>
          <p:spPr bwMode="auto">
            <a:xfrm>
              <a:off x="2820" y="1956"/>
              <a:ext cx="38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1570" name="Text Box 73"/>
            <p:cNvSpPr txBox="1">
              <a:spLocks noChangeArrowheads="1"/>
            </p:cNvSpPr>
            <p:nvPr/>
          </p:nvSpPr>
          <p:spPr bwMode="auto">
            <a:xfrm>
              <a:off x="3084" y="2340"/>
              <a:ext cx="39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71" name="Text Box 74"/>
            <p:cNvSpPr txBox="1">
              <a:spLocks noChangeArrowheads="1"/>
            </p:cNvSpPr>
            <p:nvPr/>
          </p:nvSpPr>
          <p:spPr bwMode="auto">
            <a:xfrm>
              <a:off x="2976" y="3252"/>
              <a:ext cx="648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72" name="Text Box 75"/>
            <p:cNvSpPr txBox="1">
              <a:spLocks noChangeArrowheads="1"/>
            </p:cNvSpPr>
            <p:nvPr/>
          </p:nvSpPr>
          <p:spPr bwMode="auto">
            <a:xfrm>
              <a:off x="3420" y="1728"/>
              <a:ext cx="624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1573" name="Text Box 76"/>
            <p:cNvSpPr txBox="1">
              <a:spLocks noChangeArrowheads="1"/>
            </p:cNvSpPr>
            <p:nvPr/>
          </p:nvSpPr>
          <p:spPr bwMode="auto">
            <a:xfrm>
              <a:off x="4068" y="1968"/>
              <a:ext cx="420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74" name="Text Box 77"/>
            <p:cNvSpPr txBox="1">
              <a:spLocks noChangeArrowheads="1"/>
            </p:cNvSpPr>
            <p:nvPr/>
          </p:nvSpPr>
          <p:spPr bwMode="auto">
            <a:xfrm>
              <a:off x="1620" y="2112"/>
              <a:ext cx="456" cy="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75" name="Text Box 78"/>
            <p:cNvSpPr txBox="1">
              <a:spLocks noChangeArrowheads="1"/>
            </p:cNvSpPr>
            <p:nvPr/>
          </p:nvSpPr>
          <p:spPr bwMode="auto">
            <a:xfrm>
              <a:off x="4080" y="2844"/>
              <a:ext cx="4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76" name="Text Box 79"/>
            <p:cNvSpPr txBox="1">
              <a:spLocks noChangeArrowheads="1"/>
            </p:cNvSpPr>
            <p:nvPr/>
          </p:nvSpPr>
          <p:spPr bwMode="auto">
            <a:xfrm>
              <a:off x="1788" y="1572"/>
              <a:ext cx="504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77" name="Text Box 80"/>
            <p:cNvSpPr txBox="1">
              <a:spLocks noChangeArrowheads="1"/>
            </p:cNvSpPr>
            <p:nvPr/>
          </p:nvSpPr>
          <p:spPr bwMode="auto">
            <a:xfrm>
              <a:off x="2064" y="1752"/>
              <a:ext cx="636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c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1578" name="Text Box 81"/>
            <p:cNvSpPr txBox="1">
              <a:spLocks noChangeArrowheads="1"/>
            </p:cNvSpPr>
            <p:nvPr/>
          </p:nvSpPr>
          <p:spPr bwMode="auto">
            <a:xfrm>
              <a:off x="436" y="1897"/>
              <a:ext cx="44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1579" name="Text Box 82"/>
            <p:cNvSpPr txBox="1">
              <a:spLocks noChangeArrowheads="1"/>
            </p:cNvSpPr>
            <p:nvPr/>
          </p:nvSpPr>
          <p:spPr bwMode="auto">
            <a:xfrm>
              <a:off x="436" y="2149"/>
              <a:ext cx="444" cy="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1580" name="Text Box 83"/>
            <p:cNvSpPr txBox="1">
              <a:spLocks noChangeArrowheads="1"/>
            </p:cNvSpPr>
            <p:nvPr/>
          </p:nvSpPr>
          <p:spPr bwMode="auto">
            <a:xfrm>
              <a:off x="436" y="2377"/>
              <a:ext cx="44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C</a:t>
              </a:r>
              <a:endParaRPr lang="en-US" altLang="zh-CN" sz="2800" b="1">
                <a:ea typeface="楷体_GB2312" pitchFamily="49" charset="-122"/>
              </a:endParaRPr>
            </a:p>
          </p:txBody>
        </p:sp>
      </p:grpSp>
      <p:grpSp>
        <p:nvGrpSpPr>
          <p:cNvPr id="309332" name="Group 84"/>
          <p:cNvGrpSpPr/>
          <p:nvPr/>
        </p:nvGrpSpPr>
        <p:grpSpPr bwMode="auto">
          <a:xfrm>
            <a:off x="0" y="2590800"/>
            <a:ext cx="1104900" cy="895350"/>
            <a:chOff x="0" y="1944"/>
            <a:chExt cx="696" cy="660"/>
          </a:xfrm>
        </p:grpSpPr>
        <p:sp>
          <p:nvSpPr>
            <p:cNvPr id="21518" name="AutoShape 85"/>
            <p:cNvSpPr/>
            <p:nvPr/>
          </p:nvSpPr>
          <p:spPr bwMode="auto">
            <a:xfrm>
              <a:off x="348" y="2016"/>
              <a:ext cx="348" cy="588"/>
            </a:xfrm>
            <a:prstGeom prst="leftBrace">
              <a:avLst>
                <a:gd name="adj1" fmla="val 14073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19" name="Text Box 86"/>
            <p:cNvSpPr txBox="1">
              <a:spLocks noChangeArrowheads="1"/>
            </p:cNvSpPr>
            <p:nvPr/>
          </p:nvSpPr>
          <p:spPr bwMode="auto">
            <a:xfrm>
              <a:off x="0" y="1944"/>
              <a:ext cx="516" cy="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0000"/>
                  </a:solidFill>
                  <a:ea typeface="楷体_GB2312" pitchFamily="49" charset="-122"/>
                </a:rPr>
                <a:t>“0.3v”</a:t>
              </a:r>
              <a:endParaRPr lang="en-US" altLang="zh-CN" b="1">
                <a:ea typeface="楷体_GB2312" pitchFamily="49" charset="-122"/>
              </a:endParaRPr>
            </a:p>
          </p:txBody>
        </p:sp>
      </p:grpSp>
      <p:grpSp>
        <p:nvGrpSpPr>
          <p:cNvPr id="309335" name="Group 87"/>
          <p:cNvGrpSpPr/>
          <p:nvPr/>
        </p:nvGrpSpPr>
        <p:grpSpPr bwMode="auto">
          <a:xfrm>
            <a:off x="2697163" y="3652838"/>
            <a:ext cx="3886200" cy="762000"/>
            <a:chOff x="1440" y="2566"/>
            <a:chExt cx="2548" cy="986"/>
          </a:xfrm>
        </p:grpSpPr>
        <p:sp>
          <p:nvSpPr>
            <p:cNvPr id="21516" name="AutoShape 88"/>
            <p:cNvSpPr/>
            <p:nvPr/>
          </p:nvSpPr>
          <p:spPr bwMode="auto">
            <a:xfrm rot="-3612983">
              <a:off x="2450" y="1571"/>
              <a:ext cx="544" cy="2531"/>
            </a:xfrm>
            <a:prstGeom prst="leftBrace">
              <a:avLst>
                <a:gd name="adj1" fmla="val 52945"/>
                <a:gd name="adj2" fmla="val 49389"/>
              </a:avLst>
            </a:prstGeom>
            <a:noFill/>
            <a:ln w="3810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17" name="Oval 89"/>
            <p:cNvSpPr>
              <a:spLocks noChangeArrowheads="1"/>
            </p:cNvSpPr>
            <p:nvPr/>
          </p:nvSpPr>
          <p:spPr bwMode="auto">
            <a:xfrm>
              <a:off x="1440" y="2916"/>
              <a:ext cx="1212" cy="63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400" b="1">
                  <a:solidFill>
                    <a:srgbClr val="FF0000"/>
                  </a:solidFill>
                  <a:ea typeface="楷体_GB2312" pitchFamily="49" charset="-122"/>
                </a:rPr>
                <a:t>截止</a:t>
              </a:r>
              <a:endParaRPr lang="zh-CN" altLang="en-US" sz="24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sp>
        <p:nvSpPr>
          <p:cNvPr id="309338" name="AutoShape 90"/>
          <p:cNvSpPr>
            <a:spLocks noChangeArrowheads="1"/>
          </p:cNvSpPr>
          <p:nvPr/>
        </p:nvSpPr>
        <p:spPr bwMode="auto">
          <a:xfrm>
            <a:off x="1028700" y="584200"/>
            <a:ext cx="1847850" cy="933450"/>
          </a:xfrm>
          <a:prstGeom prst="wedgeRoundRectCallout">
            <a:avLst>
              <a:gd name="adj1" fmla="val 59880"/>
              <a:gd name="adj2" fmla="val 123130"/>
              <a:gd name="adj3" fmla="val 16667"/>
            </a:avLst>
          </a:prstGeom>
          <a:noFill/>
          <a:ln w="38100">
            <a:solidFill>
              <a:srgbClr val="FF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b1</a:t>
            </a:r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点电位</a:t>
            </a: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</a:rPr>
              <a:t>1V</a:t>
            </a:r>
            <a:endParaRPr lang="en-US" altLang="zh-CN" sz="24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309340" name="Text Box 92"/>
          <p:cNvSpPr txBox="1">
            <a:spLocks noChangeArrowheads="1"/>
          </p:cNvSpPr>
          <p:nvPr/>
        </p:nvSpPr>
        <p:spPr bwMode="auto">
          <a:xfrm>
            <a:off x="4813300" y="1917700"/>
            <a:ext cx="1009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5V</a:t>
            </a:r>
            <a:endParaRPr lang="en-US" altLang="zh-CN" sz="2800" b="1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309341" name="Group 93"/>
          <p:cNvGrpSpPr/>
          <p:nvPr/>
        </p:nvGrpSpPr>
        <p:grpSpPr bwMode="auto">
          <a:xfrm>
            <a:off x="5359400" y="1739900"/>
            <a:ext cx="3429000" cy="1352550"/>
            <a:chOff x="3480" y="1536"/>
            <a:chExt cx="2160" cy="852"/>
          </a:xfrm>
        </p:grpSpPr>
        <p:sp>
          <p:nvSpPr>
            <p:cNvPr id="21514" name="Oval 94"/>
            <p:cNvSpPr>
              <a:spLocks noChangeArrowheads="1"/>
            </p:cNvSpPr>
            <p:nvPr/>
          </p:nvSpPr>
          <p:spPr bwMode="auto">
            <a:xfrm>
              <a:off x="3480" y="1536"/>
              <a:ext cx="1200" cy="85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15" name="Oval 95"/>
            <p:cNvSpPr>
              <a:spLocks noChangeArrowheads="1"/>
            </p:cNvSpPr>
            <p:nvPr/>
          </p:nvSpPr>
          <p:spPr bwMode="auto">
            <a:xfrm>
              <a:off x="4680" y="1668"/>
              <a:ext cx="960" cy="54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导通</a:t>
              </a:r>
              <a:endParaRPr lang="zh-CN" altLang="en-US" sz="28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9346" name="Object 98"/>
              <p:cNvSpPr txBox="1"/>
              <p:nvPr/>
            </p:nvSpPr>
            <p:spPr bwMode="auto">
              <a:xfrm>
                <a:off x="371100" y="4699921"/>
                <a:ext cx="3832471" cy="125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𝑉𝑏𝑒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𝑉𝑏𝑒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09346" name="Object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100" y="4699921"/>
                <a:ext cx="3832471" cy="1257300"/>
              </a:xfrm>
              <a:prstGeom prst="rect">
                <a:avLst/>
              </a:prstGeom>
              <a:blipFill rotWithShape="1">
                <a:blip r:embed="rId1"/>
                <a:stretch>
                  <a:fillRect l="-7" t="-23" r="13" b="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347" name="Text Box 99"/>
          <p:cNvSpPr txBox="1">
            <a:spLocks noChangeArrowheads="1"/>
          </p:cNvSpPr>
          <p:nvPr/>
        </p:nvSpPr>
        <p:spPr bwMode="auto">
          <a:xfrm>
            <a:off x="461175" y="5848183"/>
            <a:ext cx="7650149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结论：输入端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中至少有一个为低电平时，输出端为高电平</a:t>
            </a:r>
            <a:endParaRPr lang="zh-CN" altLang="en-US" b="1" dirty="0"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9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9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09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0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09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9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338" grpId="0" animBg="1"/>
      <p:bldP spid="309340" grpId="0"/>
      <p:bldP spid="309346" grpId="0"/>
      <p:bldP spid="3093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96"/>
          <p:cNvGrpSpPr/>
          <p:nvPr/>
        </p:nvGrpSpPr>
        <p:grpSpPr bwMode="auto">
          <a:xfrm>
            <a:off x="392113" y="869950"/>
            <a:ext cx="8532812" cy="4886325"/>
            <a:chOff x="385" y="392"/>
            <a:chExt cx="5375" cy="3078"/>
          </a:xfrm>
        </p:grpSpPr>
        <p:sp>
          <p:nvSpPr>
            <p:cNvPr id="22531" name="Line 4"/>
            <p:cNvSpPr>
              <a:spLocks noChangeShapeType="1"/>
            </p:cNvSpPr>
            <p:nvPr/>
          </p:nvSpPr>
          <p:spPr bwMode="auto">
            <a:xfrm>
              <a:off x="1724" y="152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2" name="Line 5"/>
            <p:cNvSpPr>
              <a:spLocks noChangeShapeType="1"/>
            </p:cNvSpPr>
            <p:nvPr/>
          </p:nvSpPr>
          <p:spPr bwMode="auto">
            <a:xfrm flipV="1">
              <a:off x="1968" y="1182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3" name="Line 6"/>
            <p:cNvSpPr>
              <a:spLocks noChangeShapeType="1"/>
            </p:cNvSpPr>
            <p:nvPr/>
          </p:nvSpPr>
          <p:spPr bwMode="auto">
            <a:xfrm flipH="1">
              <a:off x="1716" y="1522"/>
              <a:ext cx="240" cy="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4" name="Line 9"/>
            <p:cNvSpPr>
              <a:spLocks noChangeShapeType="1"/>
            </p:cNvSpPr>
            <p:nvPr/>
          </p:nvSpPr>
          <p:spPr bwMode="auto">
            <a:xfrm>
              <a:off x="1968" y="1522"/>
              <a:ext cx="312" cy="2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5" name="Line 10"/>
            <p:cNvSpPr>
              <a:spLocks noChangeShapeType="1"/>
            </p:cNvSpPr>
            <p:nvPr/>
          </p:nvSpPr>
          <p:spPr bwMode="auto">
            <a:xfrm>
              <a:off x="2256" y="1726"/>
              <a:ext cx="5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36" name="Group 11"/>
            <p:cNvGrpSpPr/>
            <p:nvPr/>
          </p:nvGrpSpPr>
          <p:grpSpPr bwMode="auto">
            <a:xfrm>
              <a:off x="2820" y="1533"/>
              <a:ext cx="240" cy="417"/>
              <a:chOff x="2376" y="1644"/>
              <a:chExt cx="240" cy="456"/>
            </a:xfrm>
          </p:grpSpPr>
          <p:sp>
            <p:nvSpPr>
              <p:cNvPr id="22599" name="Line 12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0" name="Line 13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1" name="Line 14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2537" name="Group 15"/>
            <p:cNvGrpSpPr/>
            <p:nvPr/>
          </p:nvGrpSpPr>
          <p:grpSpPr bwMode="auto">
            <a:xfrm>
              <a:off x="3504" y="1347"/>
              <a:ext cx="240" cy="417"/>
              <a:chOff x="2376" y="1644"/>
              <a:chExt cx="240" cy="456"/>
            </a:xfrm>
          </p:grpSpPr>
          <p:sp>
            <p:nvSpPr>
              <p:cNvPr id="22596" name="Line 16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7" name="Line 17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8" name="Line 18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38" name="Line 19"/>
            <p:cNvSpPr>
              <a:spLocks noChangeShapeType="1"/>
            </p:cNvSpPr>
            <p:nvPr/>
          </p:nvSpPr>
          <p:spPr bwMode="auto">
            <a:xfrm flipV="1">
              <a:off x="3034" y="1193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39" name="Rectangle 20"/>
            <p:cNvSpPr>
              <a:spLocks noChangeArrowheads="1"/>
            </p:cNvSpPr>
            <p:nvPr/>
          </p:nvSpPr>
          <p:spPr bwMode="auto">
            <a:xfrm>
              <a:off x="2980" y="2702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40" name="Rectangle 21"/>
            <p:cNvSpPr>
              <a:spLocks noChangeArrowheads="1"/>
            </p:cNvSpPr>
            <p:nvPr/>
          </p:nvSpPr>
          <p:spPr bwMode="auto">
            <a:xfrm>
              <a:off x="1908" y="793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41" name="Rectangle 22"/>
            <p:cNvSpPr>
              <a:spLocks noChangeArrowheads="1"/>
            </p:cNvSpPr>
            <p:nvPr/>
          </p:nvSpPr>
          <p:spPr bwMode="auto">
            <a:xfrm>
              <a:off x="2974" y="809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42" name="Line 23"/>
            <p:cNvSpPr>
              <a:spLocks noChangeShapeType="1"/>
            </p:cNvSpPr>
            <p:nvPr/>
          </p:nvSpPr>
          <p:spPr bwMode="auto">
            <a:xfrm>
              <a:off x="1968" y="78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3" name="Line 24"/>
            <p:cNvSpPr>
              <a:spLocks noChangeShapeType="1"/>
            </p:cNvSpPr>
            <p:nvPr/>
          </p:nvSpPr>
          <p:spPr bwMode="auto">
            <a:xfrm flipV="1">
              <a:off x="1968" y="563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4" name="Line 25"/>
            <p:cNvSpPr>
              <a:spLocks noChangeShapeType="1"/>
            </p:cNvSpPr>
            <p:nvPr/>
          </p:nvSpPr>
          <p:spPr bwMode="auto">
            <a:xfrm flipV="1">
              <a:off x="3034" y="563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Line 26"/>
            <p:cNvSpPr>
              <a:spLocks noChangeShapeType="1"/>
            </p:cNvSpPr>
            <p:nvPr/>
          </p:nvSpPr>
          <p:spPr bwMode="auto">
            <a:xfrm>
              <a:off x="1968" y="56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27"/>
            <p:cNvSpPr>
              <a:spLocks noChangeShapeType="1"/>
            </p:cNvSpPr>
            <p:nvPr/>
          </p:nvSpPr>
          <p:spPr bwMode="auto">
            <a:xfrm>
              <a:off x="1962" y="568"/>
              <a:ext cx="28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28"/>
            <p:cNvSpPr>
              <a:spLocks noChangeShapeType="1"/>
            </p:cNvSpPr>
            <p:nvPr/>
          </p:nvSpPr>
          <p:spPr bwMode="auto">
            <a:xfrm flipH="1">
              <a:off x="3034" y="1533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48" name="Group 29"/>
            <p:cNvGrpSpPr/>
            <p:nvPr/>
          </p:nvGrpSpPr>
          <p:grpSpPr bwMode="auto">
            <a:xfrm>
              <a:off x="4008" y="1544"/>
              <a:ext cx="240" cy="417"/>
              <a:chOff x="2376" y="1644"/>
              <a:chExt cx="240" cy="456"/>
            </a:xfrm>
          </p:grpSpPr>
          <p:sp>
            <p:nvSpPr>
              <p:cNvPr id="22593" name="Line 30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4" name="Line 31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5" name="Line 32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49" name="Line 33"/>
            <p:cNvSpPr>
              <a:spLocks noChangeShapeType="1"/>
            </p:cNvSpPr>
            <p:nvPr/>
          </p:nvSpPr>
          <p:spPr bwMode="auto">
            <a:xfrm>
              <a:off x="3708" y="1742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34"/>
            <p:cNvSpPr>
              <a:spLocks noChangeShapeType="1"/>
            </p:cNvSpPr>
            <p:nvPr/>
          </p:nvSpPr>
          <p:spPr bwMode="auto">
            <a:xfrm>
              <a:off x="3708" y="1353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35"/>
            <p:cNvSpPr>
              <a:spLocks noChangeShapeType="1"/>
            </p:cNvSpPr>
            <p:nvPr/>
          </p:nvSpPr>
          <p:spPr bwMode="auto">
            <a:xfrm flipV="1">
              <a:off x="4210" y="1353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Rectangle 36"/>
            <p:cNvSpPr>
              <a:spLocks noChangeArrowheads="1"/>
            </p:cNvSpPr>
            <p:nvPr/>
          </p:nvSpPr>
          <p:spPr bwMode="auto">
            <a:xfrm>
              <a:off x="4150" y="815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53" name="Line 37"/>
            <p:cNvSpPr>
              <a:spLocks noChangeShapeType="1"/>
            </p:cNvSpPr>
            <p:nvPr/>
          </p:nvSpPr>
          <p:spPr bwMode="auto">
            <a:xfrm flipV="1">
              <a:off x="4210" y="1199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38"/>
            <p:cNvSpPr>
              <a:spLocks noChangeShapeType="1"/>
            </p:cNvSpPr>
            <p:nvPr/>
          </p:nvSpPr>
          <p:spPr bwMode="auto">
            <a:xfrm flipV="1">
              <a:off x="4210" y="568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55" name="Group 39"/>
            <p:cNvGrpSpPr/>
            <p:nvPr/>
          </p:nvGrpSpPr>
          <p:grpSpPr bwMode="auto">
            <a:xfrm>
              <a:off x="4008" y="2323"/>
              <a:ext cx="240" cy="417"/>
              <a:chOff x="2376" y="1644"/>
              <a:chExt cx="240" cy="456"/>
            </a:xfrm>
          </p:grpSpPr>
          <p:sp>
            <p:nvSpPr>
              <p:cNvPr id="22590" name="Line 40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1" name="Line 41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2" name="Line 42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56" name="Rectangle 43"/>
            <p:cNvSpPr>
              <a:spLocks noChangeArrowheads="1"/>
            </p:cNvSpPr>
            <p:nvPr/>
          </p:nvSpPr>
          <p:spPr bwMode="auto">
            <a:xfrm>
              <a:off x="3660" y="1851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57" name="Line 44"/>
            <p:cNvSpPr>
              <a:spLocks noChangeShapeType="1"/>
            </p:cNvSpPr>
            <p:nvPr/>
          </p:nvSpPr>
          <p:spPr bwMode="auto">
            <a:xfrm>
              <a:off x="3720" y="1731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45"/>
            <p:cNvSpPr>
              <a:spLocks noChangeShapeType="1"/>
            </p:cNvSpPr>
            <p:nvPr/>
          </p:nvSpPr>
          <p:spPr bwMode="auto">
            <a:xfrm>
              <a:off x="3714" y="2230"/>
              <a:ext cx="0" cy="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Line 46"/>
            <p:cNvSpPr>
              <a:spLocks noChangeShapeType="1"/>
            </p:cNvSpPr>
            <p:nvPr/>
          </p:nvSpPr>
          <p:spPr bwMode="auto">
            <a:xfrm>
              <a:off x="3594" y="231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Line 47"/>
            <p:cNvSpPr>
              <a:spLocks noChangeShapeType="1"/>
            </p:cNvSpPr>
            <p:nvPr/>
          </p:nvSpPr>
          <p:spPr bwMode="auto">
            <a:xfrm>
              <a:off x="3040" y="1934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1" name="Line 48"/>
            <p:cNvSpPr>
              <a:spLocks noChangeShapeType="1"/>
            </p:cNvSpPr>
            <p:nvPr/>
          </p:nvSpPr>
          <p:spPr bwMode="auto">
            <a:xfrm flipH="1">
              <a:off x="3040" y="2522"/>
              <a:ext cx="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49"/>
            <p:cNvSpPr>
              <a:spLocks noChangeShapeType="1"/>
            </p:cNvSpPr>
            <p:nvPr/>
          </p:nvSpPr>
          <p:spPr bwMode="auto">
            <a:xfrm>
              <a:off x="3040" y="3080"/>
              <a:ext cx="0" cy="2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Line 50"/>
            <p:cNvSpPr>
              <a:spLocks noChangeShapeType="1"/>
            </p:cNvSpPr>
            <p:nvPr/>
          </p:nvSpPr>
          <p:spPr bwMode="auto">
            <a:xfrm flipV="1">
              <a:off x="3042" y="3316"/>
              <a:ext cx="118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4" name="Line 51"/>
            <p:cNvSpPr>
              <a:spLocks noChangeShapeType="1"/>
            </p:cNvSpPr>
            <p:nvPr/>
          </p:nvSpPr>
          <p:spPr bwMode="auto">
            <a:xfrm>
              <a:off x="4228" y="1950"/>
              <a:ext cx="0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5" name="Line 52"/>
            <p:cNvSpPr>
              <a:spLocks noChangeShapeType="1"/>
            </p:cNvSpPr>
            <p:nvPr/>
          </p:nvSpPr>
          <p:spPr bwMode="auto">
            <a:xfrm>
              <a:off x="4228" y="2729"/>
              <a:ext cx="0" cy="7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6" name="Line 53"/>
            <p:cNvSpPr>
              <a:spLocks noChangeShapeType="1"/>
            </p:cNvSpPr>
            <p:nvPr/>
          </p:nvSpPr>
          <p:spPr bwMode="auto">
            <a:xfrm>
              <a:off x="4098" y="3465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7" name="Line 54"/>
            <p:cNvSpPr>
              <a:spLocks noChangeShapeType="1"/>
            </p:cNvSpPr>
            <p:nvPr/>
          </p:nvSpPr>
          <p:spPr bwMode="auto">
            <a:xfrm>
              <a:off x="4228" y="2115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8" name="Line 58"/>
            <p:cNvSpPr>
              <a:spLocks noChangeShapeType="1"/>
            </p:cNvSpPr>
            <p:nvPr/>
          </p:nvSpPr>
          <p:spPr bwMode="auto">
            <a:xfrm flipH="1">
              <a:off x="1728" y="173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9" name="Line 59"/>
            <p:cNvSpPr>
              <a:spLocks noChangeShapeType="1"/>
            </p:cNvSpPr>
            <p:nvPr/>
          </p:nvSpPr>
          <p:spPr bwMode="auto">
            <a:xfrm flipH="1">
              <a:off x="1084" y="210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0" name="Oval 60"/>
            <p:cNvSpPr>
              <a:spLocks noChangeArrowheads="1"/>
            </p:cNvSpPr>
            <p:nvPr/>
          </p:nvSpPr>
          <p:spPr bwMode="auto">
            <a:xfrm>
              <a:off x="4824" y="502"/>
              <a:ext cx="120" cy="1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71" name="Oval 61"/>
            <p:cNvSpPr>
              <a:spLocks noChangeArrowheads="1"/>
            </p:cNvSpPr>
            <p:nvPr/>
          </p:nvSpPr>
          <p:spPr bwMode="auto">
            <a:xfrm>
              <a:off x="4824" y="2049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72" name="Oval 64"/>
            <p:cNvSpPr>
              <a:spLocks noChangeArrowheads="1"/>
            </p:cNvSpPr>
            <p:nvPr/>
          </p:nvSpPr>
          <p:spPr bwMode="auto">
            <a:xfrm>
              <a:off x="958" y="2043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73" name="Text Box 65"/>
            <p:cNvSpPr txBox="1">
              <a:spLocks noChangeArrowheads="1"/>
            </p:cNvSpPr>
            <p:nvPr/>
          </p:nvSpPr>
          <p:spPr bwMode="auto">
            <a:xfrm>
              <a:off x="4968" y="392"/>
              <a:ext cx="7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74" name="Text Box 66"/>
            <p:cNvSpPr txBox="1">
              <a:spLocks noChangeArrowheads="1"/>
            </p:cNvSpPr>
            <p:nvPr/>
          </p:nvSpPr>
          <p:spPr bwMode="auto">
            <a:xfrm>
              <a:off x="5016" y="1983"/>
              <a:ext cx="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75" name="Text Box 67"/>
            <p:cNvSpPr txBox="1">
              <a:spLocks noChangeArrowheads="1"/>
            </p:cNvSpPr>
            <p:nvPr/>
          </p:nvSpPr>
          <p:spPr bwMode="auto">
            <a:xfrm>
              <a:off x="4296" y="820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2576" name="Text Box 68"/>
            <p:cNvSpPr txBox="1">
              <a:spLocks noChangeArrowheads="1"/>
            </p:cNvSpPr>
            <p:nvPr/>
          </p:nvSpPr>
          <p:spPr bwMode="auto">
            <a:xfrm>
              <a:off x="3120" y="809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77" name="Text Box 69"/>
            <p:cNvSpPr txBox="1">
              <a:spLocks noChangeArrowheads="1"/>
            </p:cNvSpPr>
            <p:nvPr/>
          </p:nvSpPr>
          <p:spPr bwMode="auto">
            <a:xfrm>
              <a:off x="2040" y="611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78" name="Text Box 70"/>
            <p:cNvSpPr txBox="1">
              <a:spLocks noChangeArrowheads="1"/>
            </p:cNvSpPr>
            <p:nvPr/>
          </p:nvSpPr>
          <p:spPr bwMode="auto">
            <a:xfrm>
              <a:off x="2040" y="941"/>
              <a:ext cx="7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3k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79" name="Text Box 71"/>
            <p:cNvSpPr txBox="1">
              <a:spLocks noChangeArrowheads="1"/>
            </p:cNvSpPr>
            <p:nvPr/>
          </p:nvSpPr>
          <p:spPr bwMode="auto">
            <a:xfrm>
              <a:off x="3012" y="1577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2580" name="Text Box 72"/>
            <p:cNvSpPr txBox="1">
              <a:spLocks noChangeArrowheads="1"/>
            </p:cNvSpPr>
            <p:nvPr/>
          </p:nvSpPr>
          <p:spPr bwMode="auto">
            <a:xfrm>
              <a:off x="3276" y="1928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81" name="Text Box 73"/>
            <p:cNvSpPr txBox="1">
              <a:spLocks noChangeArrowheads="1"/>
            </p:cNvSpPr>
            <p:nvPr/>
          </p:nvSpPr>
          <p:spPr bwMode="auto">
            <a:xfrm>
              <a:off x="3168" y="2762"/>
              <a:ext cx="6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82" name="Text Box 74"/>
            <p:cNvSpPr txBox="1">
              <a:spLocks noChangeArrowheads="1"/>
            </p:cNvSpPr>
            <p:nvPr/>
          </p:nvSpPr>
          <p:spPr bwMode="auto">
            <a:xfrm>
              <a:off x="3612" y="1369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2583" name="Text Box 75"/>
            <p:cNvSpPr txBox="1">
              <a:spLocks noChangeArrowheads="1"/>
            </p:cNvSpPr>
            <p:nvPr/>
          </p:nvSpPr>
          <p:spPr bwMode="auto">
            <a:xfrm>
              <a:off x="4260" y="1588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84" name="Text Box 76"/>
            <p:cNvSpPr txBox="1">
              <a:spLocks noChangeArrowheads="1"/>
            </p:cNvSpPr>
            <p:nvPr/>
          </p:nvSpPr>
          <p:spPr bwMode="auto">
            <a:xfrm>
              <a:off x="1812" y="1720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85" name="Text Box 77"/>
            <p:cNvSpPr txBox="1">
              <a:spLocks noChangeArrowheads="1"/>
            </p:cNvSpPr>
            <p:nvPr/>
          </p:nvSpPr>
          <p:spPr bwMode="auto">
            <a:xfrm>
              <a:off x="4272" y="2389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86" name="Text Box 78"/>
            <p:cNvSpPr txBox="1">
              <a:spLocks noChangeArrowheads="1"/>
            </p:cNvSpPr>
            <p:nvPr/>
          </p:nvSpPr>
          <p:spPr bwMode="auto">
            <a:xfrm>
              <a:off x="1980" y="1226"/>
              <a:ext cx="5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87" name="Text Box 79"/>
            <p:cNvSpPr txBox="1">
              <a:spLocks noChangeArrowheads="1"/>
            </p:cNvSpPr>
            <p:nvPr/>
          </p:nvSpPr>
          <p:spPr bwMode="auto">
            <a:xfrm>
              <a:off x="2256" y="1391"/>
              <a:ext cx="6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c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2588" name="Text Box 82"/>
            <p:cNvSpPr txBox="1">
              <a:spLocks noChangeArrowheads="1"/>
            </p:cNvSpPr>
            <p:nvPr/>
          </p:nvSpPr>
          <p:spPr bwMode="auto">
            <a:xfrm>
              <a:off x="628" y="1962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2589" name="Text Box 95"/>
            <p:cNvSpPr txBox="1">
              <a:spLocks noChangeArrowheads="1"/>
            </p:cNvSpPr>
            <p:nvPr/>
          </p:nvSpPr>
          <p:spPr bwMode="auto">
            <a:xfrm>
              <a:off x="385" y="440"/>
              <a:ext cx="5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>
                  <a:ea typeface="楷体_GB2312" pitchFamily="49" charset="-122"/>
                </a:rPr>
                <a:t>非门</a:t>
              </a:r>
              <a:r>
                <a:rPr lang="en-US" altLang="zh-CN" b="1">
                  <a:ea typeface="楷体_GB2312" pitchFamily="49" charset="-122"/>
                </a:rPr>
                <a:t>:</a:t>
              </a:r>
              <a:r>
                <a:rPr lang="en-US" altLang="zh-CN" b="1">
                  <a:solidFill>
                    <a:srgbClr val="FF0000"/>
                  </a:solidFill>
                  <a:ea typeface="楷体_GB2312" pitchFamily="49" charset="-122"/>
                </a:rPr>
                <a:t> </a:t>
              </a:r>
              <a:endParaRPr lang="en-US" altLang="zh-CN" b="1"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4" name="Group 183"/>
          <p:cNvGrpSpPr/>
          <p:nvPr/>
        </p:nvGrpSpPr>
        <p:grpSpPr bwMode="auto">
          <a:xfrm>
            <a:off x="145472" y="963468"/>
            <a:ext cx="8853055" cy="5268913"/>
            <a:chOff x="0" y="151"/>
            <a:chExt cx="5760" cy="3319"/>
          </a:xfrm>
        </p:grpSpPr>
        <p:sp>
          <p:nvSpPr>
            <p:cNvPr id="23555" name="Line 2"/>
            <p:cNvSpPr>
              <a:spLocks noChangeShapeType="1"/>
            </p:cNvSpPr>
            <p:nvPr/>
          </p:nvSpPr>
          <p:spPr bwMode="auto">
            <a:xfrm>
              <a:off x="1121" y="152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6" name="Line 3"/>
            <p:cNvSpPr>
              <a:spLocks noChangeShapeType="1"/>
            </p:cNvSpPr>
            <p:nvPr/>
          </p:nvSpPr>
          <p:spPr bwMode="auto">
            <a:xfrm flipV="1">
              <a:off x="1365" y="1182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7" name="Line 4"/>
            <p:cNvSpPr>
              <a:spLocks noChangeShapeType="1"/>
            </p:cNvSpPr>
            <p:nvPr/>
          </p:nvSpPr>
          <p:spPr bwMode="auto">
            <a:xfrm flipH="1">
              <a:off x="1113" y="1522"/>
              <a:ext cx="240" cy="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8" name="Line 5"/>
            <p:cNvSpPr>
              <a:spLocks noChangeShapeType="1"/>
            </p:cNvSpPr>
            <p:nvPr/>
          </p:nvSpPr>
          <p:spPr bwMode="auto">
            <a:xfrm>
              <a:off x="1365" y="1522"/>
              <a:ext cx="312" cy="2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59" name="Line 6"/>
            <p:cNvSpPr>
              <a:spLocks noChangeShapeType="1"/>
            </p:cNvSpPr>
            <p:nvPr/>
          </p:nvSpPr>
          <p:spPr bwMode="auto">
            <a:xfrm>
              <a:off x="1653" y="1726"/>
              <a:ext cx="5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60" name="Group 7"/>
            <p:cNvGrpSpPr/>
            <p:nvPr/>
          </p:nvGrpSpPr>
          <p:grpSpPr bwMode="auto">
            <a:xfrm>
              <a:off x="2217" y="1533"/>
              <a:ext cx="240" cy="417"/>
              <a:chOff x="2376" y="1644"/>
              <a:chExt cx="240" cy="456"/>
            </a:xfrm>
          </p:grpSpPr>
          <p:sp>
            <p:nvSpPr>
              <p:cNvPr id="23683" name="Line 8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4" name="Line 9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5" name="Line 10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561" name="Group 11"/>
            <p:cNvGrpSpPr/>
            <p:nvPr/>
          </p:nvGrpSpPr>
          <p:grpSpPr bwMode="auto">
            <a:xfrm>
              <a:off x="3504" y="1347"/>
              <a:ext cx="240" cy="417"/>
              <a:chOff x="2376" y="1644"/>
              <a:chExt cx="240" cy="456"/>
            </a:xfrm>
          </p:grpSpPr>
          <p:sp>
            <p:nvSpPr>
              <p:cNvPr id="23680" name="Line 12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1" name="Line 13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82" name="Line 14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62" name="Line 15"/>
            <p:cNvSpPr>
              <a:spLocks noChangeShapeType="1"/>
            </p:cNvSpPr>
            <p:nvPr/>
          </p:nvSpPr>
          <p:spPr bwMode="auto">
            <a:xfrm flipV="1">
              <a:off x="2431" y="1193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3" name="Rectangle 16"/>
            <p:cNvSpPr>
              <a:spLocks noChangeArrowheads="1"/>
            </p:cNvSpPr>
            <p:nvPr/>
          </p:nvSpPr>
          <p:spPr bwMode="auto">
            <a:xfrm>
              <a:off x="2377" y="2702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64" name="Rectangle 17"/>
            <p:cNvSpPr>
              <a:spLocks noChangeArrowheads="1"/>
            </p:cNvSpPr>
            <p:nvPr/>
          </p:nvSpPr>
          <p:spPr bwMode="auto">
            <a:xfrm>
              <a:off x="1305" y="793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65" name="Rectangle 18"/>
            <p:cNvSpPr>
              <a:spLocks noChangeArrowheads="1"/>
            </p:cNvSpPr>
            <p:nvPr/>
          </p:nvSpPr>
          <p:spPr bwMode="auto">
            <a:xfrm>
              <a:off x="2371" y="809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66" name="Line 19"/>
            <p:cNvSpPr>
              <a:spLocks noChangeShapeType="1"/>
            </p:cNvSpPr>
            <p:nvPr/>
          </p:nvSpPr>
          <p:spPr bwMode="auto">
            <a:xfrm>
              <a:off x="1365" y="78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7" name="Line 20"/>
            <p:cNvSpPr>
              <a:spLocks noChangeShapeType="1"/>
            </p:cNvSpPr>
            <p:nvPr/>
          </p:nvSpPr>
          <p:spPr bwMode="auto">
            <a:xfrm flipV="1">
              <a:off x="1365" y="563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8" name="Line 21"/>
            <p:cNvSpPr>
              <a:spLocks noChangeShapeType="1"/>
            </p:cNvSpPr>
            <p:nvPr/>
          </p:nvSpPr>
          <p:spPr bwMode="auto">
            <a:xfrm flipV="1">
              <a:off x="2431" y="563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9" name="Line 22"/>
            <p:cNvSpPr>
              <a:spLocks noChangeShapeType="1"/>
            </p:cNvSpPr>
            <p:nvPr/>
          </p:nvSpPr>
          <p:spPr bwMode="auto">
            <a:xfrm>
              <a:off x="1365" y="56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0" name="Line 23"/>
            <p:cNvSpPr>
              <a:spLocks noChangeShapeType="1"/>
            </p:cNvSpPr>
            <p:nvPr/>
          </p:nvSpPr>
          <p:spPr bwMode="auto">
            <a:xfrm>
              <a:off x="1368" y="568"/>
              <a:ext cx="34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Line 24"/>
            <p:cNvSpPr>
              <a:spLocks noChangeShapeType="1"/>
            </p:cNvSpPr>
            <p:nvPr/>
          </p:nvSpPr>
          <p:spPr bwMode="auto">
            <a:xfrm flipH="1">
              <a:off x="3033" y="1533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72" name="Group 25"/>
            <p:cNvGrpSpPr/>
            <p:nvPr/>
          </p:nvGrpSpPr>
          <p:grpSpPr bwMode="auto">
            <a:xfrm>
              <a:off x="4008" y="1544"/>
              <a:ext cx="240" cy="417"/>
              <a:chOff x="2376" y="1644"/>
              <a:chExt cx="240" cy="456"/>
            </a:xfrm>
          </p:grpSpPr>
          <p:sp>
            <p:nvSpPr>
              <p:cNvPr id="23677" name="Line 26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78" name="Line 27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79" name="Line 28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73" name="Line 29"/>
            <p:cNvSpPr>
              <a:spLocks noChangeShapeType="1"/>
            </p:cNvSpPr>
            <p:nvPr/>
          </p:nvSpPr>
          <p:spPr bwMode="auto">
            <a:xfrm>
              <a:off x="3708" y="1742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4" name="Line 30"/>
            <p:cNvSpPr>
              <a:spLocks noChangeShapeType="1"/>
            </p:cNvSpPr>
            <p:nvPr/>
          </p:nvSpPr>
          <p:spPr bwMode="auto">
            <a:xfrm>
              <a:off x="3708" y="1353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Line 31"/>
            <p:cNvSpPr>
              <a:spLocks noChangeShapeType="1"/>
            </p:cNvSpPr>
            <p:nvPr/>
          </p:nvSpPr>
          <p:spPr bwMode="auto">
            <a:xfrm flipV="1">
              <a:off x="4210" y="1353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Rectangle 32"/>
            <p:cNvSpPr>
              <a:spLocks noChangeArrowheads="1"/>
            </p:cNvSpPr>
            <p:nvPr/>
          </p:nvSpPr>
          <p:spPr bwMode="auto">
            <a:xfrm>
              <a:off x="4150" y="815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77" name="Line 33"/>
            <p:cNvSpPr>
              <a:spLocks noChangeShapeType="1"/>
            </p:cNvSpPr>
            <p:nvPr/>
          </p:nvSpPr>
          <p:spPr bwMode="auto">
            <a:xfrm flipV="1">
              <a:off x="4210" y="1199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Line 34"/>
            <p:cNvSpPr>
              <a:spLocks noChangeShapeType="1"/>
            </p:cNvSpPr>
            <p:nvPr/>
          </p:nvSpPr>
          <p:spPr bwMode="auto">
            <a:xfrm flipV="1">
              <a:off x="4210" y="568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79" name="Group 35"/>
            <p:cNvGrpSpPr/>
            <p:nvPr/>
          </p:nvGrpSpPr>
          <p:grpSpPr bwMode="auto">
            <a:xfrm>
              <a:off x="4008" y="2323"/>
              <a:ext cx="240" cy="417"/>
              <a:chOff x="2376" y="1644"/>
              <a:chExt cx="240" cy="456"/>
            </a:xfrm>
          </p:grpSpPr>
          <p:sp>
            <p:nvSpPr>
              <p:cNvPr id="23674" name="Line 36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75" name="Line 37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76" name="Line 38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80" name="Rectangle 39"/>
            <p:cNvSpPr>
              <a:spLocks noChangeArrowheads="1"/>
            </p:cNvSpPr>
            <p:nvPr/>
          </p:nvSpPr>
          <p:spPr bwMode="auto">
            <a:xfrm>
              <a:off x="3660" y="1851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81" name="Line 40"/>
            <p:cNvSpPr>
              <a:spLocks noChangeShapeType="1"/>
            </p:cNvSpPr>
            <p:nvPr/>
          </p:nvSpPr>
          <p:spPr bwMode="auto">
            <a:xfrm>
              <a:off x="3720" y="1731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41"/>
            <p:cNvSpPr>
              <a:spLocks noChangeShapeType="1"/>
            </p:cNvSpPr>
            <p:nvPr/>
          </p:nvSpPr>
          <p:spPr bwMode="auto">
            <a:xfrm>
              <a:off x="3714" y="2230"/>
              <a:ext cx="0" cy="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42"/>
            <p:cNvSpPr>
              <a:spLocks noChangeShapeType="1"/>
            </p:cNvSpPr>
            <p:nvPr/>
          </p:nvSpPr>
          <p:spPr bwMode="auto">
            <a:xfrm>
              <a:off x="3594" y="231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43"/>
            <p:cNvSpPr>
              <a:spLocks noChangeShapeType="1"/>
            </p:cNvSpPr>
            <p:nvPr/>
          </p:nvSpPr>
          <p:spPr bwMode="auto">
            <a:xfrm>
              <a:off x="2437" y="1934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44"/>
            <p:cNvSpPr>
              <a:spLocks noChangeShapeType="1"/>
            </p:cNvSpPr>
            <p:nvPr/>
          </p:nvSpPr>
          <p:spPr bwMode="auto">
            <a:xfrm flipH="1">
              <a:off x="2455" y="2522"/>
              <a:ext cx="15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Line 45"/>
            <p:cNvSpPr>
              <a:spLocks noChangeShapeType="1"/>
            </p:cNvSpPr>
            <p:nvPr/>
          </p:nvSpPr>
          <p:spPr bwMode="auto">
            <a:xfrm>
              <a:off x="2437" y="3080"/>
              <a:ext cx="0" cy="2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46"/>
            <p:cNvSpPr>
              <a:spLocks noChangeShapeType="1"/>
            </p:cNvSpPr>
            <p:nvPr/>
          </p:nvSpPr>
          <p:spPr bwMode="auto">
            <a:xfrm flipV="1">
              <a:off x="2422" y="3316"/>
              <a:ext cx="1849" cy="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47"/>
            <p:cNvSpPr>
              <a:spLocks noChangeShapeType="1"/>
            </p:cNvSpPr>
            <p:nvPr/>
          </p:nvSpPr>
          <p:spPr bwMode="auto">
            <a:xfrm>
              <a:off x="4228" y="1950"/>
              <a:ext cx="0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48"/>
            <p:cNvSpPr>
              <a:spLocks noChangeShapeType="1"/>
            </p:cNvSpPr>
            <p:nvPr/>
          </p:nvSpPr>
          <p:spPr bwMode="auto">
            <a:xfrm>
              <a:off x="4228" y="2729"/>
              <a:ext cx="0" cy="7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49"/>
            <p:cNvSpPr>
              <a:spLocks noChangeShapeType="1"/>
            </p:cNvSpPr>
            <p:nvPr/>
          </p:nvSpPr>
          <p:spPr bwMode="auto">
            <a:xfrm>
              <a:off x="4098" y="3465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50"/>
            <p:cNvSpPr>
              <a:spLocks noChangeShapeType="1"/>
            </p:cNvSpPr>
            <p:nvPr/>
          </p:nvSpPr>
          <p:spPr bwMode="auto">
            <a:xfrm>
              <a:off x="4228" y="2115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Line 51"/>
            <p:cNvSpPr>
              <a:spLocks noChangeShapeType="1"/>
            </p:cNvSpPr>
            <p:nvPr/>
          </p:nvSpPr>
          <p:spPr bwMode="auto">
            <a:xfrm flipH="1">
              <a:off x="1125" y="173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3" name="Line 52"/>
            <p:cNvSpPr>
              <a:spLocks noChangeShapeType="1"/>
            </p:cNvSpPr>
            <p:nvPr/>
          </p:nvSpPr>
          <p:spPr bwMode="auto">
            <a:xfrm flipH="1">
              <a:off x="481" y="210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4" name="Oval 53"/>
            <p:cNvSpPr>
              <a:spLocks noChangeArrowheads="1"/>
            </p:cNvSpPr>
            <p:nvPr/>
          </p:nvSpPr>
          <p:spPr bwMode="auto">
            <a:xfrm>
              <a:off x="4824" y="502"/>
              <a:ext cx="120" cy="1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95" name="Oval 54"/>
            <p:cNvSpPr>
              <a:spLocks noChangeArrowheads="1"/>
            </p:cNvSpPr>
            <p:nvPr/>
          </p:nvSpPr>
          <p:spPr bwMode="auto">
            <a:xfrm>
              <a:off x="4824" y="2049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96" name="Oval 55"/>
            <p:cNvSpPr>
              <a:spLocks noChangeArrowheads="1"/>
            </p:cNvSpPr>
            <p:nvPr/>
          </p:nvSpPr>
          <p:spPr bwMode="auto">
            <a:xfrm>
              <a:off x="355" y="2043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597" name="Text Box 56"/>
            <p:cNvSpPr txBox="1">
              <a:spLocks noChangeArrowheads="1"/>
            </p:cNvSpPr>
            <p:nvPr/>
          </p:nvSpPr>
          <p:spPr bwMode="auto">
            <a:xfrm>
              <a:off x="4968" y="392"/>
              <a:ext cx="7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598" name="Text Box 57"/>
            <p:cNvSpPr txBox="1">
              <a:spLocks noChangeArrowheads="1"/>
            </p:cNvSpPr>
            <p:nvPr/>
          </p:nvSpPr>
          <p:spPr bwMode="auto">
            <a:xfrm>
              <a:off x="5016" y="1983"/>
              <a:ext cx="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599" name="Text Box 58"/>
            <p:cNvSpPr txBox="1">
              <a:spLocks noChangeArrowheads="1"/>
            </p:cNvSpPr>
            <p:nvPr/>
          </p:nvSpPr>
          <p:spPr bwMode="auto">
            <a:xfrm>
              <a:off x="4296" y="820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3600" name="Text Box 59"/>
            <p:cNvSpPr txBox="1">
              <a:spLocks noChangeArrowheads="1"/>
            </p:cNvSpPr>
            <p:nvPr/>
          </p:nvSpPr>
          <p:spPr bwMode="auto">
            <a:xfrm>
              <a:off x="2718" y="626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ea typeface="楷体_GB2312" pitchFamily="49" charset="-122"/>
                </a:rPr>
                <a:t>R</a:t>
              </a:r>
              <a:r>
                <a:rPr lang="en-US" altLang="zh-CN" sz="2800" b="1" baseline="-25000" dirty="0">
                  <a:ea typeface="楷体_GB2312" pitchFamily="49" charset="-122"/>
                </a:rPr>
                <a:t>22</a:t>
              </a:r>
              <a:endParaRPr lang="en-US" altLang="zh-CN" sz="3200" b="1" dirty="0">
                <a:ea typeface="楷体_GB2312" pitchFamily="49" charset="-122"/>
              </a:endParaRPr>
            </a:p>
          </p:txBody>
        </p:sp>
        <p:sp>
          <p:nvSpPr>
            <p:cNvPr id="23601" name="Text Box 60"/>
            <p:cNvSpPr txBox="1">
              <a:spLocks noChangeArrowheads="1"/>
            </p:cNvSpPr>
            <p:nvPr/>
          </p:nvSpPr>
          <p:spPr bwMode="auto">
            <a:xfrm>
              <a:off x="1411" y="838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02" name="Text Box 62"/>
            <p:cNvSpPr txBox="1">
              <a:spLocks noChangeArrowheads="1"/>
            </p:cNvSpPr>
            <p:nvPr/>
          </p:nvSpPr>
          <p:spPr bwMode="auto">
            <a:xfrm>
              <a:off x="2270" y="1541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20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3603" name="Text Box 63"/>
            <p:cNvSpPr txBox="1">
              <a:spLocks noChangeArrowheads="1"/>
            </p:cNvSpPr>
            <p:nvPr/>
          </p:nvSpPr>
          <p:spPr bwMode="auto">
            <a:xfrm>
              <a:off x="3276" y="1945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04" name="Text Box 64"/>
            <p:cNvSpPr txBox="1">
              <a:spLocks noChangeArrowheads="1"/>
            </p:cNvSpPr>
            <p:nvPr/>
          </p:nvSpPr>
          <p:spPr bwMode="auto">
            <a:xfrm>
              <a:off x="2714" y="2745"/>
              <a:ext cx="6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05" name="Text Box 65"/>
            <p:cNvSpPr txBox="1">
              <a:spLocks noChangeArrowheads="1"/>
            </p:cNvSpPr>
            <p:nvPr/>
          </p:nvSpPr>
          <p:spPr bwMode="auto">
            <a:xfrm>
              <a:off x="3612" y="1369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3606" name="Text Box 66"/>
            <p:cNvSpPr txBox="1">
              <a:spLocks noChangeArrowheads="1"/>
            </p:cNvSpPr>
            <p:nvPr/>
          </p:nvSpPr>
          <p:spPr bwMode="auto">
            <a:xfrm>
              <a:off x="4260" y="1588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07" name="Text Box 67"/>
            <p:cNvSpPr txBox="1">
              <a:spLocks noChangeArrowheads="1"/>
            </p:cNvSpPr>
            <p:nvPr/>
          </p:nvSpPr>
          <p:spPr bwMode="auto">
            <a:xfrm>
              <a:off x="1235" y="1589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08" name="Text Box 68"/>
            <p:cNvSpPr txBox="1">
              <a:spLocks noChangeArrowheads="1"/>
            </p:cNvSpPr>
            <p:nvPr/>
          </p:nvSpPr>
          <p:spPr bwMode="auto">
            <a:xfrm>
              <a:off x="4272" y="2389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09" name="Text Box 71"/>
            <p:cNvSpPr txBox="1">
              <a:spLocks noChangeArrowheads="1"/>
            </p:cNvSpPr>
            <p:nvPr/>
          </p:nvSpPr>
          <p:spPr bwMode="auto">
            <a:xfrm>
              <a:off x="25" y="1962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3610" name="Text Box 72"/>
            <p:cNvSpPr txBox="1">
              <a:spLocks noChangeArrowheads="1"/>
            </p:cNvSpPr>
            <p:nvPr/>
          </p:nvSpPr>
          <p:spPr bwMode="auto">
            <a:xfrm>
              <a:off x="324" y="151"/>
              <a:ext cx="7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>
                  <a:ea typeface="楷体_GB2312" pitchFamily="49" charset="-122"/>
                </a:rPr>
                <a:t>或非门：</a:t>
              </a:r>
              <a:endParaRPr lang="zh-CN" altLang="en-US" b="1" dirty="0">
                <a:ea typeface="楷体_GB2312" pitchFamily="49" charset="-122"/>
              </a:endParaRPr>
            </a:p>
          </p:txBody>
        </p:sp>
        <p:grpSp>
          <p:nvGrpSpPr>
            <p:cNvPr id="23611" name="Group 73"/>
            <p:cNvGrpSpPr/>
            <p:nvPr/>
          </p:nvGrpSpPr>
          <p:grpSpPr bwMode="auto">
            <a:xfrm>
              <a:off x="2611" y="569"/>
              <a:ext cx="275" cy="2775"/>
              <a:chOff x="2507" y="699"/>
              <a:chExt cx="275" cy="2775"/>
            </a:xfrm>
          </p:grpSpPr>
          <p:grpSp>
            <p:nvGrpSpPr>
              <p:cNvPr id="23664" name="Group 74"/>
              <p:cNvGrpSpPr/>
              <p:nvPr/>
            </p:nvGrpSpPr>
            <p:grpSpPr bwMode="auto">
              <a:xfrm flipH="1">
                <a:off x="2542" y="1669"/>
                <a:ext cx="240" cy="417"/>
                <a:chOff x="2376" y="1644"/>
                <a:chExt cx="240" cy="456"/>
              </a:xfrm>
            </p:grpSpPr>
            <p:sp>
              <p:nvSpPr>
                <p:cNvPr id="23671" name="Line 75"/>
                <p:cNvSpPr>
                  <a:spLocks noChangeShapeType="1"/>
                </p:cNvSpPr>
                <p:nvPr/>
              </p:nvSpPr>
              <p:spPr bwMode="auto">
                <a:xfrm>
                  <a:off x="2376" y="1692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2" name="Line 76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2376" y="1860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73" name="Line 77"/>
                <p:cNvSpPr>
                  <a:spLocks noChangeShapeType="1"/>
                </p:cNvSpPr>
                <p:nvPr/>
              </p:nvSpPr>
              <p:spPr bwMode="auto">
                <a:xfrm flipV="1">
                  <a:off x="2376" y="1644"/>
                  <a:ext cx="216" cy="211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665" name="Line 78"/>
              <p:cNvSpPr>
                <a:spLocks noChangeShapeType="1"/>
              </p:cNvSpPr>
              <p:nvPr/>
            </p:nvSpPr>
            <p:spPr bwMode="auto">
              <a:xfrm flipH="1" flipV="1">
                <a:off x="2567" y="1329"/>
                <a:ext cx="0" cy="3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66" name="Rectangle 79"/>
              <p:cNvSpPr>
                <a:spLocks noChangeArrowheads="1"/>
              </p:cNvSpPr>
              <p:nvPr/>
            </p:nvSpPr>
            <p:spPr bwMode="auto">
              <a:xfrm flipH="1">
                <a:off x="2513" y="2838"/>
                <a:ext cx="120" cy="38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23667" name="Rectangle 80"/>
              <p:cNvSpPr>
                <a:spLocks noChangeArrowheads="1"/>
              </p:cNvSpPr>
              <p:nvPr/>
            </p:nvSpPr>
            <p:spPr bwMode="auto">
              <a:xfrm flipH="1">
                <a:off x="2507" y="945"/>
                <a:ext cx="120" cy="38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23668" name="Line 81"/>
              <p:cNvSpPr>
                <a:spLocks noChangeShapeType="1"/>
              </p:cNvSpPr>
              <p:nvPr/>
            </p:nvSpPr>
            <p:spPr bwMode="auto">
              <a:xfrm flipH="1" flipV="1">
                <a:off x="2567" y="699"/>
                <a:ext cx="0" cy="24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69" name="Line 82"/>
              <p:cNvSpPr>
                <a:spLocks noChangeShapeType="1"/>
              </p:cNvSpPr>
              <p:nvPr/>
            </p:nvSpPr>
            <p:spPr bwMode="auto">
              <a:xfrm flipH="1">
                <a:off x="2573" y="2070"/>
                <a:ext cx="0" cy="76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70" name="Line 83"/>
              <p:cNvSpPr>
                <a:spLocks noChangeShapeType="1"/>
              </p:cNvSpPr>
              <p:nvPr/>
            </p:nvSpPr>
            <p:spPr bwMode="auto">
              <a:xfrm flipH="1">
                <a:off x="2573" y="3216"/>
                <a:ext cx="0" cy="25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12" name="Text Box 84"/>
            <p:cNvSpPr txBox="1">
              <a:spLocks noChangeArrowheads="1"/>
            </p:cNvSpPr>
            <p:nvPr/>
          </p:nvSpPr>
          <p:spPr bwMode="auto">
            <a:xfrm flipH="1">
              <a:off x="2500" y="1500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21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3613" name="Line 85"/>
            <p:cNvSpPr>
              <a:spLocks noChangeShapeType="1"/>
            </p:cNvSpPr>
            <p:nvPr/>
          </p:nvSpPr>
          <p:spPr bwMode="auto">
            <a:xfrm>
              <a:off x="1606" y="1972"/>
              <a:ext cx="46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4" name="Line 86"/>
            <p:cNvSpPr>
              <a:spLocks noChangeShapeType="1"/>
            </p:cNvSpPr>
            <p:nvPr/>
          </p:nvSpPr>
          <p:spPr bwMode="auto">
            <a:xfrm flipH="1" flipV="1">
              <a:off x="1842" y="1196"/>
              <a:ext cx="8" cy="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5" name="Line 87"/>
            <p:cNvSpPr>
              <a:spLocks noChangeShapeType="1"/>
            </p:cNvSpPr>
            <p:nvPr/>
          </p:nvSpPr>
          <p:spPr bwMode="auto">
            <a:xfrm flipH="1">
              <a:off x="1598" y="1972"/>
              <a:ext cx="240" cy="2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6" name="Line 88"/>
            <p:cNvSpPr>
              <a:spLocks noChangeShapeType="1"/>
            </p:cNvSpPr>
            <p:nvPr/>
          </p:nvSpPr>
          <p:spPr bwMode="auto">
            <a:xfrm>
              <a:off x="1850" y="1972"/>
              <a:ext cx="312" cy="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7" name="Rectangle 89"/>
            <p:cNvSpPr>
              <a:spLocks noChangeArrowheads="1"/>
            </p:cNvSpPr>
            <p:nvPr/>
          </p:nvSpPr>
          <p:spPr bwMode="auto">
            <a:xfrm>
              <a:off x="1780" y="807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18" name="Line 90"/>
            <p:cNvSpPr>
              <a:spLocks noChangeShapeType="1"/>
            </p:cNvSpPr>
            <p:nvPr/>
          </p:nvSpPr>
          <p:spPr bwMode="auto">
            <a:xfrm>
              <a:off x="1850" y="123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19" name="Line 91"/>
            <p:cNvSpPr>
              <a:spLocks noChangeShapeType="1"/>
            </p:cNvSpPr>
            <p:nvPr/>
          </p:nvSpPr>
          <p:spPr bwMode="auto">
            <a:xfrm flipV="1">
              <a:off x="1840" y="568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0" name="Line 92"/>
            <p:cNvSpPr>
              <a:spLocks noChangeShapeType="1"/>
            </p:cNvSpPr>
            <p:nvPr/>
          </p:nvSpPr>
          <p:spPr bwMode="auto">
            <a:xfrm>
              <a:off x="1850" y="101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1" name="Line 93"/>
            <p:cNvSpPr>
              <a:spLocks noChangeShapeType="1"/>
            </p:cNvSpPr>
            <p:nvPr/>
          </p:nvSpPr>
          <p:spPr bwMode="auto">
            <a:xfrm flipH="1">
              <a:off x="1610" y="2181"/>
              <a:ext cx="0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2" name="Line 94"/>
            <p:cNvSpPr>
              <a:spLocks noChangeShapeType="1"/>
            </p:cNvSpPr>
            <p:nvPr/>
          </p:nvSpPr>
          <p:spPr bwMode="auto">
            <a:xfrm flipH="1">
              <a:off x="451" y="2554"/>
              <a:ext cx="1171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3" name="Oval 95"/>
            <p:cNvSpPr>
              <a:spLocks noChangeArrowheads="1"/>
            </p:cNvSpPr>
            <p:nvPr/>
          </p:nvSpPr>
          <p:spPr bwMode="auto">
            <a:xfrm>
              <a:off x="354" y="2493"/>
              <a:ext cx="120" cy="121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24" name="Text Box 96"/>
            <p:cNvSpPr txBox="1">
              <a:spLocks noChangeArrowheads="1"/>
            </p:cNvSpPr>
            <p:nvPr/>
          </p:nvSpPr>
          <p:spPr bwMode="auto">
            <a:xfrm>
              <a:off x="1869" y="826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25" name="Text Box 97"/>
            <p:cNvSpPr txBox="1">
              <a:spLocks noChangeArrowheads="1"/>
            </p:cNvSpPr>
            <p:nvPr/>
          </p:nvSpPr>
          <p:spPr bwMode="auto">
            <a:xfrm>
              <a:off x="1686" y="2230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26" name="Text Box 99"/>
            <p:cNvSpPr txBox="1">
              <a:spLocks noChangeArrowheads="1"/>
            </p:cNvSpPr>
            <p:nvPr/>
          </p:nvSpPr>
          <p:spPr bwMode="auto">
            <a:xfrm>
              <a:off x="0" y="2412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3627" name="Oval 100"/>
            <p:cNvSpPr>
              <a:spLocks noChangeArrowheads="1"/>
            </p:cNvSpPr>
            <p:nvPr/>
          </p:nvSpPr>
          <p:spPr bwMode="auto">
            <a:xfrm>
              <a:off x="2628" y="531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rgbClr val="FF00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28" name="Oval 101"/>
            <p:cNvSpPr>
              <a:spLocks noChangeArrowheads="1"/>
            </p:cNvSpPr>
            <p:nvPr/>
          </p:nvSpPr>
          <p:spPr bwMode="auto">
            <a:xfrm>
              <a:off x="2379" y="53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29" name="Oval 102"/>
            <p:cNvSpPr>
              <a:spLocks noChangeArrowheads="1"/>
            </p:cNvSpPr>
            <p:nvPr/>
          </p:nvSpPr>
          <p:spPr bwMode="auto">
            <a:xfrm>
              <a:off x="1790" y="533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30" name="Oval 103"/>
            <p:cNvSpPr>
              <a:spLocks noChangeArrowheads="1"/>
            </p:cNvSpPr>
            <p:nvPr/>
          </p:nvSpPr>
          <p:spPr bwMode="auto">
            <a:xfrm>
              <a:off x="4170" y="544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31" name="Oval 104"/>
            <p:cNvSpPr>
              <a:spLocks noChangeArrowheads="1"/>
            </p:cNvSpPr>
            <p:nvPr/>
          </p:nvSpPr>
          <p:spPr bwMode="auto">
            <a:xfrm>
              <a:off x="2629" y="248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rgbClr val="FF00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32" name="Oval 105"/>
            <p:cNvSpPr>
              <a:spLocks noChangeArrowheads="1"/>
            </p:cNvSpPr>
            <p:nvPr/>
          </p:nvSpPr>
          <p:spPr bwMode="auto">
            <a:xfrm>
              <a:off x="4188" y="3269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33" name="Oval 106"/>
            <p:cNvSpPr>
              <a:spLocks noChangeArrowheads="1"/>
            </p:cNvSpPr>
            <p:nvPr/>
          </p:nvSpPr>
          <p:spPr bwMode="auto">
            <a:xfrm>
              <a:off x="2631" y="3292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rgbClr val="FF00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34" name="Line 112"/>
            <p:cNvSpPr>
              <a:spLocks noChangeShapeType="1"/>
            </p:cNvSpPr>
            <p:nvPr/>
          </p:nvSpPr>
          <p:spPr bwMode="auto">
            <a:xfrm>
              <a:off x="2164" y="2173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5" name="Line 114"/>
            <p:cNvSpPr>
              <a:spLocks noChangeShapeType="1"/>
            </p:cNvSpPr>
            <p:nvPr/>
          </p:nvSpPr>
          <p:spPr bwMode="auto">
            <a:xfrm>
              <a:off x="2897" y="1719"/>
              <a:ext cx="149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6" name="Line 115"/>
            <p:cNvSpPr>
              <a:spLocks noChangeShapeType="1"/>
            </p:cNvSpPr>
            <p:nvPr/>
          </p:nvSpPr>
          <p:spPr bwMode="auto">
            <a:xfrm>
              <a:off x="3055" y="1719"/>
              <a:ext cx="0" cy="44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7" name="Line 116"/>
            <p:cNvSpPr>
              <a:spLocks noChangeShapeType="1"/>
            </p:cNvSpPr>
            <p:nvPr/>
          </p:nvSpPr>
          <p:spPr bwMode="auto">
            <a:xfrm>
              <a:off x="2164" y="2173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38" name="Line 117"/>
            <p:cNvSpPr>
              <a:spLocks noChangeShapeType="1"/>
            </p:cNvSpPr>
            <p:nvPr/>
          </p:nvSpPr>
          <p:spPr bwMode="auto">
            <a:xfrm>
              <a:off x="3055" y="1719"/>
              <a:ext cx="0" cy="44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639" name="Group 121"/>
            <p:cNvGrpSpPr/>
            <p:nvPr/>
          </p:nvGrpSpPr>
          <p:grpSpPr bwMode="auto">
            <a:xfrm>
              <a:off x="2164" y="1719"/>
              <a:ext cx="891" cy="454"/>
              <a:chOff x="2164" y="1719"/>
              <a:chExt cx="891" cy="454"/>
            </a:xfrm>
          </p:grpSpPr>
          <p:sp>
            <p:nvSpPr>
              <p:cNvPr id="23661" name="Line 118"/>
              <p:cNvSpPr>
                <a:spLocks noChangeShapeType="1"/>
              </p:cNvSpPr>
              <p:nvPr/>
            </p:nvSpPr>
            <p:spPr bwMode="auto">
              <a:xfrm>
                <a:off x="2897" y="1719"/>
                <a:ext cx="14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62" name="Line 119"/>
              <p:cNvSpPr>
                <a:spLocks noChangeShapeType="1"/>
              </p:cNvSpPr>
              <p:nvPr/>
            </p:nvSpPr>
            <p:spPr bwMode="auto">
              <a:xfrm>
                <a:off x="2164" y="2173"/>
                <a:ext cx="883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63" name="Line 120"/>
              <p:cNvSpPr>
                <a:spLocks noChangeShapeType="1"/>
              </p:cNvSpPr>
              <p:nvPr/>
            </p:nvSpPr>
            <p:spPr bwMode="auto">
              <a:xfrm>
                <a:off x="3055" y="1719"/>
                <a:ext cx="0" cy="44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40" name="Line 122"/>
            <p:cNvSpPr>
              <a:spLocks noChangeShapeType="1"/>
            </p:cNvSpPr>
            <p:nvPr/>
          </p:nvSpPr>
          <p:spPr bwMode="auto">
            <a:xfrm>
              <a:off x="2435" y="1370"/>
              <a:ext cx="60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1" name="Line 123"/>
            <p:cNvSpPr>
              <a:spLocks noChangeShapeType="1"/>
            </p:cNvSpPr>
            <p:nvPr/>
          </p:nvSpPr>
          <p:spPr bwMode="auto">
            <a:xfrm>
              <a:off x="3037" y="1370"/>
              <a:ext cx="0" cy="14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2" name="Line 124"/>
            <p:cNvSpPr>
              <a:spLocks noChangeShapeType="1"/>
            </p:cNvSpPr>
            <p:nvPr/>
          </p:nvSpPr>
          <p:spPr bwMode="auto">
            <a:xfrm>
              <a:off x="2435" y="1370"/>
              <a:ext cx="6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3" name="Line 125"/>
            <p:cNvSpPr>
              <a:spLocks noChangeShapeType="1"/>
            </p:cNvSpPr>
            <p:nvPr/>
          </p:nvSpPr>
          <p:spPr bwMode="auto">
            <a:xfrm>
              <a:off x="3037" y="1370"/>
              <a:ext cx="0" cy="1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44" name="Oval 126"/>
            <p:cNvSpPr>
              <a:spLocks noChangeArrowheads="1"/>
            </p:cNvSpPr>
            <p:nvPr/>
          </p:nvSpPr>
          <p:spPr bwMode="auto">
            <a:xfrm>
              <a:off x="2390" y="2483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45" name="Oval 127"/>
            <p:cNvSpPr>
              <a:spLocks noChangeArrowheads="1"/>
            </p:cNvSpPr>
            <p:nvPr/>
          </p:nvSpPr>
          <p:spPr bwMode="auto">
            <a:xfrm>
              <a:off x="2623" y="1329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rgbClr val="FF0000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46" name="Oval 128"/>
            <p:cNvSpPr>
              <a:spLocks noChangeArrowheads="1"/>
            </p:cNvSpPr>
            <p:nvPr/>
          </p:nvSpPr>
          <p:spPr bwMode="auto">
            <a:xfrm>
              <a:off x="2383" y="1325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47" name="Oval 129"/>
            <p:cNvSpPr>
              <a:spLocks noChangeArrowheads="1"/>
            </p:cNvSpPr>
            <p:nvPr/>
          </p:nvSpPr>
          <p:spPr bwMode="auto">
            <a:xfrm>
              <a:off x="4174" y="131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48" name="Oval 130"/>
            <p:cNvSpPr>
              <a:spLocks noChangeArrowheads="1"/>
            </p:cNvSpPr>
            <p:nvPr/>
          </p:nvSpPr>
          <p:spPr bwMode="auto">
            <a:xfrm>
              <a:off x="3686" y="1702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49" name="Oval 131"/>
            <p:cNvSpPr>
              <a:spLocks noChangeArrowheads="1"/>
            </p:cNvSpPr>
            <p:nvPr/>
          </p:nvSpPr>
          <p:spPr bwMode="auto">
            <a:xfrm>
              <a:off x="4184" y="207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50" name="Text Box 132"/>
            <p:cNvSpPr txBox="1">
              <a:spLocks noChangeArrowheads="1"/>
            </p:cNvSpPr>
            <p:nvPr/>
          </p:nvSpPr>
          <p:spPr bwMode="auto">
            <a:xfrm>
              <a:off x="1982" y="623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51" name="Text Box 133"/>
            <p:cNvSpPr txBox="1">
              <a:spLocks noChangeArrowheads="1"/>
            </p:cNvSpPr>
            <p:nvPr/>
          </p:nvSpPr>
          <p:spPr bwMode="auto">
            <a:xfrm>
              <a:off x="1986" y="2732"/>
              <a:ext cx="6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3652" name="Line 169"/>
            <p:cNvSpPr>
              <a:spLocks noChangeShapeType="1"/>
            </p:cNvSpPr>
            <p:nvPr/>
          </p:nvSpPr>
          <p:spPr bwMode="auto">
            <a:xfrm>
              <a:off x="1606" y="1972"/>
              <a:ext cx="46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3" name="Line 170"/>
            <p:cNvSpPr>
              <a:spLocks noChangeShapeType="1"/>
            </p:cNvSpPr>
            <p:nvPr/>
          </p:nvSpPr>
          <p:spPr bwMode="auto">
            <a:xfrm flipH="1">
              <a:off x="1610" y="2181"/>
              <a:ext cx="0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4" name="Line 172"/>
            <p:cNvSpPr>
              <a:spLocks noChangeShapeType="1"/>
            </p:cNvSpPr>
            <p:nvPr/>
          </p:nvSpPr>
          <p:spPr bwMode="auto">
            <a:xfrm>
              <a:off x="1606" y="1972"/>
              <a:ext cx="46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5" name="Line 173"/>
            <p:cNvSpPr>
              <a:spLocks noChangeShapeType="1"/>
            </p:cNvSpPr>
            <p:nvPr/>
          </p:nvSpPr>
          <p:spPr bwMode="auto">
            <a:xfrm flipH="1">
              <a:off x="1610" y="2181"/>
              <a:ext cx="0" cy="38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6" name="Line 178"/>
            <p:cNvSpPr>
              <a:spLocks noChangeShapeType="1"/>
            </p:cNvSpPr>
            <p:nvPr/>
          </p:nvSpPr>
          <p:spPr bwMode="auto">
            <a:xfrm flipH="1" flipV="1">
              <a:off x="1842" y="1196"/>
              <a:ext cx="8" cy="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7" name="Rectangle 179"/>
            <p:cNvSpPr>
              <a:spLocks noChangeArrowheads="1"/>
            </p:cNvSpPr>
            <p:nvPr/>
          </p:nvSpPr>
          <p:spPr bwMode="auto">
            <a:xfrm>
              <a:off x="1780" y="807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3658" name="Line 180"/>
            <p:cNvSpPr>
              <a:spLocks noChangeShapeType="1"/>
            </p:cNvSpPr>
            <p:nvPr/>
          </p:nvSpPr>
          <p:spPr bwMode="auto">
            <a:xfrm flipV="1">
              <a:off x="1840" y="568"/>
              <a:ext cx="0" cy="2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59" name="Line 181"/>
            <p:cNvSpPr>
              <a:spLocks noChangeShapeType="1"/>
            </p:cNvSpPr>
            <p:nvPr/>
          </p:nvSpPr>
          <p:spPr bwMode="auto">
            <a:xfrm flipH="1" flipV="1">
              <a:off x="1842" y="1196"/>
              <a:ext cx="8" cy="7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60" name="Rectangle 182"/>
            <p:cNvSpPr>
              <a:spLocks noChangeArrowheads="1"/>
            </p:cNvSpPr>
            <p:nvPr/>
          </p:nvSpPr>
          <p:spPr bwMode="auto">
            <a:xfrm>
              <a:off x="1780" y="807"/>
              <a:ext cx="120" cy="385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136"/>
          <p:cNvGrpSpPr/>
          <p:nvPr/>
        </p:nvGrpSpPr>
        <p:grpSpPr bwMode="auto">
          <a:xfrm>
            <a:off x="328584" y="805585"/>
            <a:ext cx="8584507" cy="5246688"/>
            <a:chOff x="223" y="165"/>
            <a:chExt cx="5537" cy="3305"/>
          </a:xfrm>
        </p:grpSpPr>
        <p:sp>
          <p:nvSpPr>
            <p:cNvPr id="24579" name="Text Box 56"/>
            <p:cNvSpPr txBox="1">
              <a:spLocks noChangeArrowheads="1"/>
            </p:cNvSpPr>
            <p:nvPr/>
          </p:nvSpPr>
          <p:spPr bwMode="auto">
            <a:xfrm>
              <a:off x="4968" y="392"/>
              <a:ext cx="7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580" name="Line 2"/>
            <p:cNvSpPr>
              <a:spLocks noChangeShapeType="1"/>
            </p:cNvSpPr>
            <p:nvPr/>
          </p:nvSpPr>
          <p:spPr bwMode="auto">
            <a:xfrm>
              <a:off x="1043" y="152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1" name="Line 3"/>
            <p:cNvSpPr>
              <a:spLocks noChangeShapeType="1"/>
            </p:cNvSpPr>
            <p:nvPr/>
          </p:nvSpPr>
          <p:spPr bwMode="auto">
            <a:xfrm flipV="1">
              <a:off x="1287" y="1182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2" name="Line 4"/>
            <p:cNvSpPr>
              <a:spLocks noChangeShapeType="1"/>
            </p:cNvSpPr>
            <p:nvPr/>
          </p:nvSpPr>
          <p:spPr bwMode="auto">
            <a:xfrm flipH="1">
              <a:off x="1035" y="1522"/>
              <a:ext cx="240" cy="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3" name="Line 5"/>
            <p:cNvSpPr>
              <a:spLocks noChangeShapeType="1"/>
            </p:cNvSpPr>
            <p:nvPr/>
          </p:nvSpPr>
          <p:spPr bwMode="auto">
            <a:xfrm>
              <a:off x="1287" y="1522"/>
              <a:ext cx="312" cy="2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4" name="Line 6"/>
            <p:cNvSpPr>
              <a:spLocks noChangeShapeType="1"/>
            </p:cNvSpPr>
            <p:nvPr/>
          </p:nvSpPr>
          <p:spPr bwMode="auto">
            <a:xfrm>
              <a:off x="1575" y="1726"/>
              <a:ext cx="5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585" name="Group 7"/>
            <p:cNvGrpSpPr/>
            <p:nvPr/>
          </p:nvGrpSpPr>
          <p:grpSpPr bwMode="auto">
            <a:xfrm>
              <a:off x="2139" y="1533"/>
              <a:ext cx="240" cy="417"/>
              <a:chOff x="2376" y="1644"/>
              <a:chExt cx="240" cy="456"/>
            </a:xfrm>
          </p:grpSpPr>
          <p:sp>
            <p:nvSpPr>
              <p:cNvPr id="24683" name="Line 8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4" name="Line 9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5" name="Line 10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4586" name="Group 11"/>
            <p:cNvGrpSpPr/>
            <p:nvPr/>
          </p:nvGrpSpPr>
          <p:grpSpPr bwMode="auto">
            <a:xfrm>
              <a:off x="3426" y="1347"/>
              <a:ext cx="240" cy="417"/>
              <a:chOff x="2376" y="1644"/>
              <a:chExt cx="240" cy="456"/>
            </a:xfrm>
          </p:grpSpPr>
          <p:sp>
            <p:nvSpPr>
              <p:cNvPr id="24680" name="Line 12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1" name="Line 13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82" name="Line 14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87" name="Line 15"/>
            <p:cNvSpPr>
              <a:spLocks noChangeShapeType="1"/>
            </p:cNvSpPr>
            <p:nvPr/>
          </p:nvSpPr>
          <p:spPr bwMode="auto">
            <a:xfrm flipV="1">
              <a:off x="2353" y="1193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Rectangle 16"/>
            <p:cNvSpPr>
              <a:spLocks noChangeArrowheads="1"/>
            </p:cNvSpPr>
            <p:nvPr/>
          </p:nvSpPr>
          <p:spPr bwMode="auto">
            <a:xfrm>
              <a:off x="2299" y="2702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589" name="Rectangle 17"/>
            <p:cNvSpPr>
              <a:spLocks noChangeArrowheads="1"/>
            </p:cNvSpPr>
            <p:nvPr/>
          </p:nvSpPr>
          <p:spPr bwMode="auto">
            <a:xfrm>
              <a:off x="1227" y="793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590" name="Rectangle 18"/>
            <p:cNvSpPr>
              <a:spLocks noChangeArrowheads="1"/>
            </p:cNvSpPr>
            <p:nvPr/>
          </p:nvSpPr>
          <p:spPr bwMode="auto">
            <a:xfrm>
              <a:off x="2293" y="809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591" name="Line 19"/>
            <p:cNvSpPr>
              <a:spLocks noChangeShapeType="1"/>
            </p:cNvSpPr>
            <p:nvPr/>
          </p:nvSpPr>
          <p:spPr bwMode="auto">
            <a:xfrm>
              <a:off x="1287" y="78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20"/>
            <p:cNvSpPr>
              <a:spLocks noChangeShapeType="1"/>
            </p:cNvSpPr>
            <p:nvPr/>
          </p:nvSpPr>
          <p:spPr bwMode="auto">
            <a:xfrm flipV="1">
              <a:off x="1287" y="563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21"/>
            <p:cNvSpPr>
              <a:spLocks noChangeShapeType="1"/>
            </p:cNvSpPr>
            <p:nvPr/>
          </p:nvSpPr>
          <p:spPr bwMode="auto">
            <a:xfrm flipV="1">
              <a:off x="2353" y="563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22"/>
            <p:cNvSpPr>
              <a:spLocks noChangeShapeType="1"/>
            </p:cNvSpPr>
            <p:nvPr/>
          </p:nvSpPr>
          <p:spPr bwMode="auto">
            <a:xfrm>
              <a:off x="1287" y="56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23"/>
            <p:cNvSpPr>
              <a:spLocks noChangeShapeType="1"/>
            </p:cNvSpPr>
            <p:nvPr/>
          </p:nvSpPr>
          <p:spPr bwMode="auto">
            <a:xfrm>
              <a:off x="1290" y="568"/>
              <a:ext cx="34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Line 24"/>
            <p:cNvSpPr>
              <a:spLocks noChangeShapeType="1"/>
            </p:cNvSpPr>
            <p:nvPr/>
          </p:nvSpPr>
          <p:spPr bwMode="auto">
            <a:xfrm flipH="1">
              <a:off x="2955" y="1533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597" name="Group 25"/>
            <p:cNvGrpSpPr/>
            <p:nvPr/>
          </p:nvGrpSpPr>
          <p:grpSpPr bwMode="auto">
            <a:xfrm>
              <a:off x="3930" y="1544"/>
              <a:ext cx="240" cy="417"/>
              <a:chOff x="2376" y="1644"/>
              <a:chExt cx="240" cy="456"/>
            </a:xfrm>
          </p:grpSpPr>
          <p:sp>
            <p:nvSpPr>
              <p:cNvPr id="24677" name="Line 26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8" name="Line 27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9" name="Line 28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598" name="Line 29"/>
            <p:cNvSpPr>
              <a:spLocks noChangeShapeType="1"/>
            </p:cNvSpPr>
            <p:nvPr/>
          </p:nvSpPr>
          <p:spPr bwMode="auto">
            <a:xfrm>
              <a:off x="3630" y="1742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9" name="Line 30"/>
            <p:cNvSpPr>
              <a:spLocks noChangeShapeType="1"/>
            </p:cNvSpPr>
            <p:nvPr/>
          </p:nvSpPr>
          <p:spPr bwMode="auto">
            <a:xfrm>
              <a:off x="3630" y="1353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Line 31"/>
            <p:cNvSpPr>
              <a:spLocks noChangeShapeType="1"/>
            </p:cNvSpPr>
            <p:nvPr/>
          </p:nvSpPr>
          <p:spPr bwMode="auto">
            <a:xfrm flipV="1">
              <a:off x="4132" y="1353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Rectangle 32"/>
            <p:cNvSpPr>
              <a:spLocks noChangeArrowheads="1"/>
            </p:cNvSpPr>
            <p:nvPr/>
          </p:nvSpPr>
          <p:spPr bwMode="auto">
            <a:xfrm>
              <a:off x="4072" y="815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02" name="Line 33"/>
            <p:cNvSpPr>
              <a:spLocks noChangeShapeType="1"/>
            </p:cNvSpPr>
            <p:nvPr/>
          </p:nvSpPr>
          <p:spPr bwMode="auto">
            <a:xfrm flipV="1">
              <a:off x="4132" y="1199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Line 34"/>
            <p:cNvSpPr>
              <a:spLocks noChangeShapeType="1"/>
            </p:cNvSpPr>
            <p:nvPr/>
          </p:nvSpPr>
          <p:spPr bwMode="auto">
            <a:xfrm flipV="1">
              <a:off x="4132" y="568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4604" name="Group 35"/>
            <p:cNvGrpSpPr/>
            <p:nvPr/>
          </p:nvGrpSpPr>
          <p:grpSpPr bwMode="auto">
            <a:xfrm>
              <a:off x="3930" y="2323"/>
              <a:ext cx="240" cy="417"/>
              <a:chOff x="2376" y="1644"/>
              <a:chExt cx="240" cy="456"/>
            </a:xfrm>
          </p:grpSpPr>
          <p:sp>
            <p:nvSpPr>
              <p:cNvPr id="24674" name="Line 36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5" name="Line 37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6" name="Line 38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05" name="Rectangle 39"/>
            <p:cNvSpPr>
              <a:spLocks noChangeArrowheads="1"/>
            </p:cNvSpPr>
            <p:nvPr/>
          </p:nvSpPr>
          <p:spPr bwMode="auto">
            <a:xfrm>
              <a:off x="3582" y="1851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06" name="Line 40"/>
            <p:cNvSpPr>
              <a:spLocks noChangeShapeType="1"/>
            </p:cNvSpPr>
            <p:nvPr/>
          </p:nvSpPr>
          <p:spPr bwMode="auto">
            <a:xfrm>
              <a:off x="3642" y="1731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7" name="Line 41"/>
            <p:cNvSpPr>
              <a:spLocks noChangeShapeType="1"/>
            </p:cNvSpPr>
            <p:nvPr/>
          </p:nvSpPr>
          <p:spPr bwMode="auto">
            <a:xfrm>
              <a:off x="3636" y="2230"/>
              <a:ext cx="0" cy="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Line 42"/>
            <p:cNvSpPr>
              <a:spLocks noChangeShapeType="1"/>
            </p:cNvSpPr>
            <p:nvPr/>
          </p:nvSpPr>
          <p:spPr bwMode="auto">
            <a:xfrm>
              <a:off x="3516" y="231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9" name="Line 43"/>
            <p:cNvSpPr>
              <a:spLocks noChangeShapeType="1"/>
            </p:cNvSpPr>
            <p:nvPr/>
          </p:nvSpPr>
          <p:spPr bwMode="auto">
            <a:xfrm>
              <a:off x="2359" y="1934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Line 44"/>
            <p:cNvSpPr>
              <a:spLocks noChangeShapeType="1"/>
            </p:cNvSpPr>
            <p:nvPr/>
          </p:nvSpPr>
          <p:spPr bwMode="auto">
            <a:xfrm flipH="1">
              <a:off x="2377" y="2522"/>
              <a:ext cx="15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45"/>
            <p:cNvSpPr>
              <a:spLocks noChangeShapeType="1"/>
            </p:cNvSpPr>
            <p:nvPr/>
          </p:nvSpPr>
          <p:spPr bwMode="auto">
            <a:xfrm>
              <a:off x="2359" y="3080"/>
              <a:ext cx="0" cy="2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Line 46"/>
            <p:cNvSpPr>
              <a:spLocks noChangeShapeType="1"/>
            </p:cNvSpPr>
            <p:nvPr/>
          </p:nvSpPr>
          <p:spPr bwMode="auto">
            <a:xfrm flipV="1">
              <a:off x="2344" y="3316"/>
              <a:ext cx="1849" cy="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3" name="Line 47"/>
            <p:cNvSpPr>
              <a:spLocks noChangeShapeType="1"/>
            </p:cNvSpPr>
            <p:nvPr/>
          </p:nvSpPr>
          <p:spPr bwMode="auto">
            <a:xfrm>
              <a:off x="4150" y="1950"/>
              <a:ext cx="0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Line 48"/>
            <p:cNvSpPr>
              <a:spLocks noChangeShapeType="1"/>
            </p:cNvSpPr>
            <p:nvPr/>
          </p:nvSpPr>
          <p:spPr bwMode="auto">
            <a:xfrm>
              <a:off x="4150" y="2729"/>
              <a:ext cx="0" cy="7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5" name="Line 49"/>
            <p:cNvSpPr>
              <a:spLocks noChangeShapeType="1"/>
            </p:cNvSpPr>
            <p:nvPr/>
          </p:nvSpPr>
          <p:spPr bwMode="auto">
            <a:xfrm>
              <a:off x="4020" y="3465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6" name="Line 50"/>
            <p:cNvSpPr>
              <a:spLocks noChangeShapeType="1"/>
            </p:cNvSpPr>
            <p:nvPr/>
          </p:nvSpPr>
          <p:spPr bwMode="auto">
            <a:xfrm>
              <a:off x="4150" y="2115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7" name="Line 51"/>
            <p:cNvSpPr>
              <a:spLocks noChangeShapeType="1"/>
            </p:cNvSpPr>
            <p:nvPr/>
          </p:nvSpPr>
          <p:spPr bwMode="auto">
            <a:xfrm flipH="1">
              <a:off x="1047" y="173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8" name="Line 52"/>
            <p:cNvSpPr>
              <a:spLocks noChangeShapeType="1"/>
            </p:cNvSpPr>
            <p:nvPr/>
          </p:nvSpPr>
          <p:spPr bwMode="auto">
            <a:xfrm flipH="1">
              <a:off x="411" y="210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9" name="Oval 53"/>
            <p:cNvSpPr>
              <a:spLocks noChangeArrowheads="1"/>
            </p:cNvSpPr>
            <p:nvPr/>
          </p:nvSpPr>
          <p:spPr bwMode="auto">
            <a:xfrm>
              <a:off x="4746" y="502"/>
              <a:ext cx="120" cy="1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20" name="Oval 54"/>
            <p:cNvSpPr>
              <a:spLocks noChangeArrowheads="1"/>
            </p:cNvSpPr>
            <p:nvPr/>
          </p:nvSpPr>
          <p:spPr bwMode="auto">
            <a:xfrm>
              <a:off x="4746" y="2049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21" name="Text Box 57"/>
            <p:cNvSpPr txBox="1">
              <a:spLocks noChangeArrowheads="1"/>
            </p:cNvSpPr>
            <p:nvPr/>
          </p:nvSpPr>
          <p:spPr bwMode="auto">
            <a:xfrm>
              <a:off x="4938" y="1983"/>
              <a:ext cx="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22" name="Text Box 58"/>
            <p:cNvSpPr txBox="1">
              <a:spLocks noChangeArrowheads="1"/>
            </p:cNvSpPr>
            <p:nvPr/>
          </p:nvSpPr>
          <p:spPr bwMode="auto">
            <a:xfrm>
              <a:off x="4218" y="820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4623" name="Text Box 60"/>
            <p:cNvSpPr txBox="1">
              <a:spLocks noChangeArrowheads="1"/>
            </p:cNvSpPr>
            <p:nvPr/>
          </p:nvSpPr>
          <p:spPr bwMode="auto">
            <a:xfrm>
              <a:off x="1333" y="838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24" name="Text Box 61"/>
            <p:cNvSpPr txBox="1">
              <a:spLocks noChangeArrowheads="1"/>
            </p:cNvSpPr>
            <p:nvPr/>
          </p:nvSpPr>
          <p:spPr bwMode="auto">
            <a:xfrm>
              <a:off x="1887" y="1271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20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4625" name="Text Box 62"/>
            <p:cNvSpPr txBox="1">
              <a:spLocks noChangeArrowheads="1"/>
            </p:cNvSpPr>
            <p:nvPr/>
          </p:nvSpPr>
          <p:spPr bwMode="auto">
            <a:xfrm>
              <a:off x="3198" y="1945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26" name="Text Box 64"/>
            <p:cNvSpPr txBox="1">
              <a:spLocks noChangeArrowheads="1"/>
            </p:cNvSpPr>
            <p:nvPr/>
          </p:nvSpPr>
          <p:spPr bwMode="auto">
            <a:xfrm>
              <a:off x="3534" y="1369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4627" name="Text Box 65"/>
            <p:cNvSpPr txBox="1">
              <a:spLocks noChangeArrowheads="1"/>
            </p:cNvSpPr>
            <p:nvPr/>
          </p:nvSpPr>
          <p:spPr bwMode="auto">
            <a:xfrm>
              <a:off x="4182" y="1588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28" name="Text Box 66"/>
            <p:cNvSpPr txBox="1">
              <a:spLocks noChangeArrowheads="1"/>
            </p:cNvSpPr>
            <p:nvPr/>
          </p:nvSpPr>
          <p:spPr bwMode="auto">
            <a:xfrm>
              <a:off x="1127" y="1546"/>
              <a:ext cx="5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29" name="Text Box 67"/>
            <p:cNvSpPr txBox="1">
              <a:spLocks noChangeArrowheads="1"/>
            </p:cNvSpPr>
            <p:nvPr/>
          </p:nvSpPr>
          <p:spPr bwMode="auto">
            <a:xfrm>
              <a:off x="4194" y="2389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30" name="Text Box 68"/>
            <p:cNvSpPr txBox="1">
              <a:spLocks noChangeArrowheads="1"/>
            </p:cNvSpPr>
            <p:nvPr/>
          </p:nvSpPr>
          <p:spPr bwMode="auto">
            <a:xfrm>
              <a:off x="353" y="1703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4631" name="Text Box 69"/>
            <p:cNvSpPr txBox="1">
              <a:spLocks noChangeArrowheads="1"/>
            </p:cNvSpPr>
            <p:nvPr/>
          </p:nvSpPr>
          <p:spPr bwMode="auto">
            <a:xfrm>
              <a:off x="223" y="165"/>
              <a:ext cx="1092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dirty="0"/>
                <a:t>TTL</a:t>
              </a:r>
              <a:r>
                <a:rPr lang="zh-CN" altLang="en-US" b="1" dirty="0">
                  <a:ea typeface="楷体_GB2312" pitchFamily="49" charset="-122"/>
                </a:rPr>
                <a:t>或非门：</a:t>
              </a:r>
              <a:endParaRPr lang="zh-CN" altLang="en-US" b="1" dirty="0">
                <a:ea typeface="楷体_GB2312" pitchFamily="49" charset="-122"/>
              </a:endParaRPr>
            </a:p>
          </p:txBody>
        </p:sp>
        <p:grpSp>
          <p:nvGrpSpPr>
            <p:cNvPr id="24632" name="Group 71"/>
            <p:cNvGrpSpPr/>
            <p:nvPr/>
          </p:nvGrpSpPr>
          <p:grpSpPr bwMode="auto">
            <a:xfrm flipH="1">
              <a:off x="2343" y="1539"/>
              <a:ext cx="240" cy="417"/>
              <a:chOff x="2376" y="1644"/>
              <a:chExt cx="240" cy="456"/>
            </a:xfrm>
          </p:grpSpPr>
          <p:sp>
            <p:nvSpPr>
              <p:cNvPr id="24671" name="Line 72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2" name="Line 73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73" name="Line 74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33" name="Text Box 81"/>
            <p:cNvSpPr txBox="1">
              <a:spLocks noChangeArrowheads="1"/>
            </p:cNvSpPr>
            <p:nvPr/>
          </p:nvSpPr>
          <p:spPr bwMode="auto">
            <a:xfrm flipH="1">
              <a:off x="3121" y="723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21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4634" name="Line 82"/>
            <p:cNvSpPr>
              <a:spLocks noChangeShapeType="1"/>
            </p:cNvSpPr>
            <p:nvPr/>
          </p:nvSpPr>
          <p:spPr bwMode="auto">
            <a:xfrm>
              <a:off x="1528" y="197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5" name="Line 83"/>
            <p:cNvSpPr>
              <a:spLocks noChangeShapeType="1"/>
            </p:cNvSpPr>
            <p:nvPr/>
          </p:nvSpPr>
          <p:spPr bwMode="auto">
            <a:xfrm flipH="1" flipV="1">
              <a:off x="1764" y="1196"/>
              <a:ext cx="8" cy="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6" name="Line 84"/>
            <p:cNvSpPr>
              <a:spLocks noChangeShapeType="1"/>
            </p:cNvSpPr>
            <p:nvPr/>
          </p:nvSpPr>
          <p:spPr bwMode="auto">
            <a:xfrm flipH="1">
              <a:off x="1520" y="1972"/>
              <a:ext cx="240" cy="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7" name="Line 85"/>
            <p:cNvSpPr>
              <a:spLocks noChangeShapeType="1"/>
            </p:cNvSpPr>
            <p:nvPr/>
          </p:nvSpPr>
          <p:spPr bwMode="auto">
            <a:xfrm>
              <a:off x="1772" y="1972"/>
              <a:ext cx="312" cy="2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Rectangle 86"/>
            <p:cNvSpPr>
              <a:spLocks noChangeArrowheads="1"/>
            </p:cNvSpPr>
            <p:nvPr/>
          </p:nvSpPr>
          <p:spPr bwMode="auto">
            <a:xfrm>
              <a:off x="1702" y="807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39" name="Line 87"/>
            <p:cNvSpPr>
              <a:spLocks noChangeShapeType="1"/>
            </p:cNvSpPr>
            <p:nvPr/>
          </p:nvSpPr>
          <p:spPr bwMode="auto">
            <a:xfrm>
              <a:off x="1772" y="123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0" name="Line 88"/>
            <p:cNvSpPr>
              <a:spLocks noChangeShapeType="1"/>
            </p:cNvSpPr>
            <p:nvPr/>
          </p:nvSpPr>
          <p:spPr bwMode="auto">
            <a:xfrm flipV="1">
              <a:off x="1762" y="568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1" name="Line 89"/>
            <p:cNvSpPr>
              <a:spLocks noChangeShapeType="1"/>
            </p:cNvSpPr>
            <p:nvPr/>
          </p:nvSpPr>
          <p:spPr bwMode="auto">
            <a:xfrm>
              <a:off x="1772" y="101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2" name="Line 90"/>
            <p:cNvSpPr>
              <a:spLocks noChangeShapeType="1"/>
            </p:cNvSpPr>
            <p:nvPr/>
          </p:nvSpPr>
          <p:spPr bwMode="auto">
            <a:xfrm flipH="1">
              <a:off x="1532" y="218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3" name="Line 91"/>
            <p:cNvSpPr>
              <a:spLocks noChangeShapeType="1"/>
            </p:cNvSpPr>
            <p:nvPr/>
          </p:nvSpPr>
          <p:spPr bwMode="auto">
            <a:xfrm flipH="1">
              <a:off x="373" y="2554"/>
              <a:ext cx="117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4" name="Text Box 93"/>
            <p:cNvSpPr txBox="1">
              <a:spLocks noChangeArrowheads="1"/>
            </p:cNvSpPr>
            <p:nvPr/>
          </p:nvSpPr>
          <p:spPr bwMode="auto">
            <a:xfrm>
              <a:off x="1791" y="826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45" name="Text Box 94"/>
            <p:cNvSpPr txBox="1">
              <a:spLocks noChangeArrowheads="1"/>
            </p:cNvSpPr>
            <p:nvPr/>
          </p:nvSpPr>
          <p:spPr bwMode="auto">
            <a:xfrm>
              <a:off x="1624" y="2030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46" name="Text Box 95"/>
            <p:cNvSpPr txBox="1">
              <a:spLocks noChangeArrowheads="1"/>
            </p:cNvSpPr>
            <p:nvPr/>
          </p:nvSpPr>
          <p:spPr bwMode="auto">
            <a:xfrm>
              <a:off x="363" y="2251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4647" name="Oval 97"/>
            <p:cNvSpPr>
              <a:spLocks noChangeArrowheads="1"/>
            </p:cNvSpPr>
            <p:nvPr/>
          </p:nvSpPr>
          <p:spPr bwMode="auto">
            <a:xfrm>
              <a:off x="2301" y="53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48" name="Oval 98"/>
            <p:cNvSpPr>
              <a:spLocks noChangeArrowheads="1"/>
            </p:cNvSpPr>
            <p:nvPr/>
          </p:nvSpPr>
          <p:spPr bwMode="auto">
            <a:xfrm>
              <a:off x="1712" y="533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49" name="Oval 99"/>
            <p:cNvSpPr>
              <a:spLocks noChangeArrowheads="1"/>
            </p:cNvSpPr>
            <p:nvPr/>
          </p:nvSpPr>
          <p:spPr bwMode="auto">
            <a:xfrm>
              <a:off x="4092" y="544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50" name="Oval 101"/>
            <p:cNvSpPr>
              <a:spLocks noChangeArrowheads="1"/>
            </p:cNvSpPr>
            <p:nvPr/>
          </p:nvSpPr>
          <p:spPr bwMode="auto">
            <a:xfrm>
              <a:off x="4110" y="3269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51" name="Line 103"/>
            <p:cNvSpPr>
              <a:spLocks noChangeShapeType="1"/>
            </p:cNvSpPr>
            <p:nvPr/>
          </p:nvSpPr>
          <p:spPr bwMode="auto">
            <a:xfrm>
              <a:off x="2086" y="2173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2" name="Line 104"/>
            <p:cNvSpPr>
              <a:spLocks noChangeShapeType="1"/>
            </p:cNvSpPr>
            <p:nvPr/>
          </p:nvSpPr>
          <p:spPr bwMode="auto">
            <a:xfrm>
              <a:off x="2575" y="1719"/>
              <a:ext cx="39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Line 105"/>
            <p:cNvSpPr>
              <a:spLocks noChangeShapeType="1"/>
            </p:cNvSpPr>
            <p:nvPr/>
          </p:nvSpPr>
          <p:spPr bwMode="auto">
            <a:xfrm>
              <a:off x="2977" y="1719"/>
              <a:ext cx="0" cy="44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4" name="Line 106"/>
            <p:cNvSpPr>
              <a:spLocks noChangeShapeType="1"/>
            </p:cNvSpPr>
            <p:nvPr/>
          </p:nvSpPr>
          <p:spPr bwMode="auto">
            <a:xfrm>
              <a:off x="2086" y="2165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Line 112"/>
            <p:cNvSpPr>
              <a:spLocks noChangeShapeType="1"/>
            </p:cNvSpPr>
            <p:nvPr/>
          </p:nvSpPr>
          <p:spPr bwMode="auto">
            <a:xfrm>
              <a:off x="2357" y="1370"/>
              <a:ext cx="60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6" name="Line 113"/>
            <p:cNvSpPr>
              <a:spLocks noChangeShapeType="1"/>
            </p:cNvSpPr>
            <p:nvPr/>
          </p:nvSpPr>
          <p:spPr bwMode="auto">
            <a:xfrm>
              <a:off x="2959" y="1370"/>
              <a:ext cx="0" cy="14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7" name="Line 114"/>
            <p:cNvSpPr>
              <a:spLocks noChangeShapeType="1"/>
            </p:cNvSpPr>
            <p:nvPr/>
          </p:nvSpPr>
          <p:spPr bwMode="auto">
            <a:xfrm>
              <a:off x="2357" y="1370"/>
              <a:ext cx="6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8" name="Line 115"/>
            <p:cNvSpPr>
              <a:spLocks noChangeShapeType="1"/>
            </p:cNvSpPr>
            <p:nvPr/>
          </p:nvSpPr>
          <p:spPr bwMode="auto">
            <a:xfrm>
              <a:off x="2959" y="1370"/>
              <a:ext cx="0" cy="1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9" name="Oval 116"/>
            <p:cNvSpPr>
              <a:spLocks noChangeArrowheads="1"/>
            </p:cNvSpPr>
            <p:nvPr/>
          </p:nvSpPr>
          <p:spPr bwMode="auto">
            <a:xfrm>
              <a:off x="2312" y="2483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60" name="Oval 118"/>
            <p:cNvSpPr>
              <a:spLocks noChangeArrowheads="1"/>
            </p:cNvSpPr>
            <p:nvPr/>
          </p:nvSpPr>
          <p:spPr bwMode="auto">
            <a:xfrm>
              <a:off x="2305" y="1325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61" name="Oval 119"/>
            <p:cNvSpPr>
              <a:spLocks noChangeArrowheads="1"/>
            </p:cNvSpPr>
            <p:nvPr/>
          </p:nvSpPr>
          <p:spPr bwMode="auto">
            <a:xfrm>
              <a:off x="4096" y="131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62" name="Oval 120"/>
            <p:cNvSpPr>
              <a:spLocks noChangeArrowheads="1"/>
            </p:cNvSpPr>
            <p:nvPr/>
          </p:nvSpPr>
          <p:spPr bwMode="auto">
            <a:xfrm>
              <a:off x="3608" y="1702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63" name="Oval 121"/>
            <p:cNvSpPr>
              <a:spLocks noChangeArrowheads="1"/>
            </p:cNvSpPr>
            <p:nvPr/>
          </p:nvSpPr>
          <p:spPr bwMode="auto">
            <a:xfrm>
              <a:off x="4106" y="207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4664" name="Text Box 122"/>
            <p:cNvSpPr txBox="1">
              <a:spLocks noChangeArrowheads="1"/>
            </p:cNvSpPr>
            <p:nvPr/>
          </p:nvSpPr>
          <p:spPr bwMode="auto">
            <a:xfrm>
              <a:off x="1904" y="623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65" name="Text Box 123"/>
            <p:cNvSpPr txBox="1">
              <a:spLocks noChangeArrowheads="1"/>
            </p:cNvSpPr>
            <p:nvPr/>
          </p:nvSpPr>
          <p:spPr bwMode="auto">
            <a:xfrm>
              <a:off x="1908" y="2732"/>
              <a:ext cx="6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4666" name="Line 131"/>
            <p:cNvSpPr>
              <a:spLocks noChangeShapeType="1"/>
            </p:cNvSpPr>
            <p:nvPr/>
          </p:nvSpPr>
          <p:spPr bwMode="auto">
            <a:xfrm>
              <a:off x="2977" y="1719"/>
              <a:ext cx="0" cy="44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7" name="Line 132"/>
            <p:cNvSpPr>
              <a:spLocks noChangeShapeType="1"/>
            </p:cNvSpPr>
            <p:nvPr/>
          </p:nvSpPr>
          <p:spPr bwMode="auto">
            <a:xfrm>
              <a:off x="2086" y="2165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8" name="Line 133"/>
            <p:cNvSpPr>
              <a:spLocks noChangeShapeType="1"/>
            </p:cNvSpPr>
            <p:nvPr/>
          </p:nvSpPr>
          <p:spPr bwMode="auto">
            <a:xfrm>
              <a:off x="2575" y="1719"/>
              <a:ext cx="3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9" name="Line 134"/>
            <p:cNvSpPr>
              <a:spLocks noChangeShapeType="1"/>
            </p:cNvSpPr>
            <p:nvPr/>
          </p:nvSpPr>
          <p:spPr bwMode="auto">
            <a:xfrm>
              <a:off x="2977" y="1719"/>
              <a:ext cx="0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70" name="Line 135"/>
            <p:cNvSpPr>
              <a:spLocks noChangeShapeType="1"/>
            </p:cNvSpPr>
            <p:nvPr/>
          </p:nvSpPr>
          <p:spPr bwMode="auto">
            <a:xfrm>
              <a:off x="2086" y="2165"/>
              <a:ext cx="8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136"/>
          <p:cNvGrpSpPr/>
          <p:nvPr/>
        </p:nvGrpSpPr>
        <p:grpSpPr bwMode="auto">
          <a:xfrm>
            <a:off x="498476" y="985837"/>
            <a:ext cx="8520833" cy="4886325"/>
            <a:chOff x="314" y="392"/>
            <a:chExt cx="5446" cy="3078"/>
          </a:xfrm>
        </p:grpSpPr>
        <p:sp>
          <p:nvSpPr>
            <p:cNvPr id="25603" name="Text Box 56"/>
            <p:cNvSpPr txBox="1">
              <a:spLocks noChangeArrowheads="1"/>
            </p:cNvSpPr>
            <p:nvPr/>
          </p:nvSpPr>
          <p:spPr bwMode="auto">
            <a:xfrm>
              <a:off x="4968" y="392"/>
              <a:ext cx="7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04" name="Line 2"/>
            <p:cNvSpPr>
              <a:spLocks noChangeShapeType="1"/>
            </p:cNvSpPr>
            <p:nvPr/>
          </p:nvSpPr>
          <p:spPr bwMode="auto">
            <a:xfrm>
              <a:off x="1043" y="152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5" name="Line 3"/>
            <p:cNvSpPr>
              <a:spLocks noChangeShapeType="1"/>
            </p:cNvSpPr>
            <p:nvPr/>
          </p:nvSpPr>
          <p:spPr bwMode="auto">
            <a:xfrm flipV="1">
              <a:off x="1287" y="1182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6" name="Line 4"/>
            <p:cNvSpPr>
              <a:spLocks noChangeShapeType="1"/>
            </p:cNvSpPr>
            <p:nvPr/>
          </p:nvSpPr>
          <p:spPr bwMode="auto">
            <a:xfrm flipH="1">
              <a:off x="1035" y="1522"/>
              <a:ext cx="240" cy="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7" name="Line 5"/>
            <p:cNvSpPr>
              <a:spLocks noChangeShapeType="1"/>
            </p:cNvSpPr>
            <p:nvPr/>
          </p:nvSpPr>
          <p:spPr bwMode="auto">
            <a:xfrm>
              <a:off x="1287" y="1522"/>
              <a:ext cx="312" cy="2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Line 6"/>
            <p:cNvSpPr>
              <a:spLocks noChangeShapeType="1"/>
            </p:cNvSpPr>
            <p:nvPr/>
          </p:nvSpPr>
          <p:spPr bwMode="auto">
            <a:xfrm>
              <a:off x="1575" y="1726"/>
              <a:ext cx="5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09" name="Group 7"/>
            <p:cNvGrpSpPr/>
            <p:nvPr/>
          </p:nvGrpSpPr>
          <p:grpSpPr bwMode="auto">
            <a:xfrm>
              <a:off x="2139" y="1533"/>
              <a:ext cx="240" cy="417"/>
              <a:chOff x="2376" y="1644"/>
              <a:chExt cx="240" cy="456"/>
            </a:xfrm>
          </p:grpSpPr>
          <p:sp>
            <p:nvSpPr>
              <p:cNvPr id="25713" name="Line 8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4" name="Line 9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5" name="Line 10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5610" name="Group 11"/>
            <p:cNvGrpSpPr/>
            <p:nvPr/>
          </p:nvGrpSpPr>
          <p:grpSpPr bwMode="auto">
            <a:xfrm>
              <a:off x="3426" y="1347"/>
              <a:ext cx="240" cy="417"/>
              <a:chOff x="2376" y="1644"/>
              <a:chExt cx="240" cy="456"/>
            </a:xfrm>
          </p:grpSpPr>
          <p:sp>
            <p:nvSpPr>
              <p:cNvPr id="25710" name="Line 12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1" name="Line 13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2" name="Line 14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11" name="Line 15"/>
            <p:cNvSpPr>
              <a:spLocks noChangeShapeType="1"/>
            </p:cNvSpPr>
            <p:nvPr/>
          </p:nvSpPr>
          <p:spPr bwMode="auto">
            <a:xfrm flipV="1">
              <a:off x="2353" y="1193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Rectangle 16"/>
            <p:cNvSpPr>
              <a:spLocks noChangeArrowheads="1"/>
            </p:cNvSpPr>
            <p:nvPr/>
          </p:nvSpPr>
          <p:spPr bwMode="auto">
            <a:xfrm>
              <a:off x="2299" y="2702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13" name="Rectangle 17"/>
            <p:cNvSpPr>
              <a:spLocks noChangeArrowheads="1"/>
            </p:cNvSpPr>
            <p:nvPr/>
          </p:nvSpPr>
          <p:spPr bwMode="auto">
            <a:xfrm>
              <a:off x="1227" y="793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14" name="Rectangle 18"/>
            <p:cNvSpPr>
              <a:spLocks noChangeArrowheads="1"/>
            </p:cNvSpPr>
            <p:nvPr/>
          </p:nvSpPr>
          <p:spPr bwMode="auto">
            <a:xfrm>
              <a:off x="2293" y="809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15" name="Line 19"/>
            <p:cNvSpPr>
              <a:spLocks noChangeShapeType="1"/>
            </p:cNvSpPr>
            <p:nvPr/>
          </p:nvSpPr>
          <p:spPr bwMode="auto">
            <a:xfrm>
              <a:off x="1287" y="78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6" name="Line 20"/>
            <p:cNvSpPr>
              <a:spLocks noChangeShapeType="1"/>
            </p:cNvSpPr>
            <p:nvPr/>
          </p:nvSpPr>
          <p:spPr bwMode="auto">
            <a:xfrm flipV="1">
              <a:off x="1287" y="563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21"/>
            <p:cNvSpPr>
              <a:spLocks noChangeShapeType="1"/>
            </p:cNvSpPr>
            <p:nvPr/>
          </p:nvSpPr>
          <p:spPr bwMode="auto">
            <a:xfrm flipV="1">
              <a:off x="2353" y="563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22"/>
            <p:cNvSpPr>
              <a:spLocks noChangeShapeType="1"/>
            </p:cNvSpPr>
            <p:nvPr/>
          </p:nvSpPr>
          <p:spPr bwMode="auto">
            <a:xfrm>
              <a:off x="1287" y="56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23"/>
            <p:cNvSpPr>
              <a:spLocks noChangeShapeType="1"/>
            </p:cNvSpPr>
            <p:nvPr/>
          </p:nvSpPr>
          <p:spPr bwMode="auto">
            <a:xfrm>
              <a:off x="1290" y="568"/>
              <a:ext cx="34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24"/>
            <p:cNvSpPr>
              <a:spLocks noChangeShapeType="1"/>
            </p:cNvSpPr>
            <p:nvPr/>
          </p:nvSpPr>
          <p:spPr bwMode="auto">
            <a:xfrm flipH="1">
              <a:off x="2955" y="1533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21" name="Group 25"/>
            <p:cNvGrpSpPr/>
            <p:nvPr/>
          </p:nvGrpSpPr>
          <p:grpSpPr bwMode="auto">
            <a:xfrm>
              <a:off x="3930" y="1544"/>
              <a:ext cx="240" cy="417"/>
              <a:chOff x="2376" y="1644"/>
              <a:chExt cx="240" cy="456"/>
            </a:xfrm>
          </p:grpSpPr>
          <p:sp>
            <p:nvSpPr>
              <p:cNvPr id="25707" name="Line 26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8" name="Line 27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9" name="Line 28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22" name="Line 29"/>
            <p:cNvSpPr>
              <a:spLocks noChangeShapeType="1"/>
            </p:cNvSpPr>
            <p:nvPr/>
          </p:nvSpPr>
          <p:spPr bwMode="auto">
            <a:xfrm>
              <a:off x="3630" y="1742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Line 30"/>
            <p:cNvSpPr>
              <a:spLocks noChangeShapeType="1"/>
            </p:cNvSpPr>
            <p:nvPr/>
          </p:nvSpPr>
          <p:spPr bwMode="auto">
            <a:xfrm>
              <a:off x="3630" y="1353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31"/>
            <p:cNvSpPr>
              <a:spLocks noChangeShapeType="1"/>
            </p:cNvSpPr>
            <p:nvPr/>
          </p:nvSpPr>
          <p:spPr bwMode="auto">
            <a:xfrm flipV="1">
              <a:off x="4132" y="1353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Rectangle 32"/>
            <p:cNvSpPr>
              <a:spLocks noChangeArrowheads="1"/>
            </p:cNvSpPr>
            <p:nvPr/>
          </p:nvSpPr>
          <p:spPr bwMode="auto">
            <a:xfrm>
              <a:off x="4072" y="815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26" name="Line 33"/>
            <p:cNvSpPr>
              <a:spLocks noChangeShapeType="1"/>
            </p:cNvSpPr>
            <p:nvPr/>
          </p:nvSpPr>
          <p:spPr bwMode="auto">
            <a:xfrm flipV="1">
              <a:off x="4132" y="1199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34"/>
            <p:cNvSpPr>
              <a:spLocks noChangeShapeType="1"/>
            </p:cNvSpPr>
            <p:nvPr/>
          </p:nvSpPr>
          <p:spPr bwMode="auto">
            <a:xfrm flipV="1">
              <a:off x="4132" y="568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28" name="Group 35"/>
            <p:cNvGrpSpPr/>
            <p:nvPr/>
          </p:nvGrpSpPr>
          <p:grpSpPr bwMode="auto">
            <a:xfrm>
              <a:off x="3930" y="2323"/>
              <a:ext cx="240" cy="417"/>
              <a:chOff x="2376" y="1644"/>
              <a:chExt cx="240" cy="456"/>
            </a:xfrm>
          </p:grpSpPr>
          <p:sp>
            <p:nvSpPr>
              <p:cNvPr id="25704" name="Line 36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5" name="Line 37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6" name="Line 38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29" name="Rectangle 39"/>
            <p:cNvSpPr>
              <a:spLocks noChangeArrowheads="1"/>
            </p:cNvSpPr>
            <p:nvPr/>
          </p:nvSpPr>
          <p:spPr bwMode="auto">
            <a:xfrm>
              <a:off x="3582" y="1851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30" name="Line 40"/>
            <p:cNvSpPr>
              <a:spLocks noChangeShapeType="1"/>
            </p:cNvSpPr>
            <p:nvPr/>
          </p:nvSpPr>
          <p:spPr bwMode="auto">
            <a:xfrm>
              <a:off x="3642" y="1731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41"/>
            <p:cNvSpPr>
              <a:spLocks noChangeShapeType="1"/>
            </p:cNvSpPr>
            <p:nvPr/>
          </p:nvSpPr>
          <p:spPr bwMode="auto">
            <a:xfrm>
              <a:off x="3636" y="2230"/>
              <a:ext cx="0" cy="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2" name="Line 42"/>
            <p:cNvSpPr>
              <a:spLocks noChangeShapeType="1"/>
            </p:cNvSpPr>
            <p:nvPr/>
          </p:nvSpPr>
          <p:spPr bwMode="auto">
            <a:xfrm>
              <a:off x="3516" y="231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43"/>
            <p:cNvSpPr>
              <a:spLocks noChangeShapeType="1"/>
            </p:cNvSpPr>
            <p:nvPr/>
          </p:nvSpPr>
          <p:spPr bwMode="auto">
            <a:xfrm>
              <a:off x="2359" y="1934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44"/>
            <p:cNvSpPr>
              <a:spLocks noChangeShapeType="1"/>
            </p:cNvSpPr>
            <p:nvPr/>
          </p:nvSpPr>
          <p:spPr bwMode="auto">
            <a:xfrm flipH="1">
              <a:off x="2377" y="2522"/>
              <a:ext cx="15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45"/>
            <p:cNvSpPr>
              <a:spLocks noChangeShapeType="1"/>
            </p:cNvSpPr>
            <p:nvPr/>
          </p:nvSpPr>
          <p:spPr bwMode="auto">
            <a:xfrm>
              <a:off x="2359" y="3080"/>
              <a:ext cx="0" cy="2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46"/>
            <p:cNvSpPr>
              <a:spLocks noChangeShapeType="1"/>
            </p:cNvSpPr>
            <p:nvPr/>
          </p:nvSpPr>
          <p:spPr bwMode="auto">
            <a:xfrm flipV="1">
              <a:off x="2344" y="3316"/>
              <a:ext cx="1849" cy="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Line 47"/>
            <p:cNvSpPr>
              <a:spLocks noChangeShapeType="1"/>
            </p:cNvSpPr>
            <p:nvPr/>
          </p:nvSpPr>
          <p:spPr bwMode="auto">
            <a:xfrm>
              <a:off x="4150" y="1950"/>
              <a:ext cx="0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48"/>
            <p:cNvSpPr>
              <a:spLocks noChangeShapeType="1"/>
            </p:cNvSpPr>
            <p:nvPr/>
          </p:nvSpPr>
          <p:spPr bwMode="auto">
            <a:xfrm>
              <a:off x="4150" y="2729"/>
              <a:ext cx="0" cy="7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49"/>
            <p:cNvSpPr>
              <a:spLocks noChangeShapeType="1"/>
            </p:cNvSpPr>
            <p:nvPr/>
          </p:nvSpPr>
          <p:spPr bwMode="auto">
            <a:xfrm>
              <a:off x="4020" y="3465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50"/>
            <p:cNvSpPr>
              <a:spLocks noChangeShapeType="1"/>
            </p:cNvSpPr>
            <p:nvPr/>
          </p:nvSpPr>
          <p:spPr bwMode="auto">
            <a:xfrm>
              <a:off x="4150" y="2115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Line 51"/>
            <p:cNvSpPr>
              <a:spLocks noChangeShapeType="1"/>
            </p:cNvSpPr>
            <p:nvPr/>
          </p:nvSpPr>
          <p:spPr bwMode="auto">
            <a:xfrm flipH="1">
              <a:off x="1047" y="173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52"/>
            <p:cNvSpPr>
              <a:spLocks noChangeShapeType="1"/>
            </p:cNvSpPr>
            <p:nvPr/>
          </p:nvSpPr>
          <p:spPr bwMode="auto">
            <a:xfrm flipH="1">
              <a:off x="411" y="210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3" name="Oval 53"/>
            <p:cNvSpPr>
              <a:spLocks noChangeArrowheads="1"/>
            </p:cNvSpPr>
            <p:nvPr/>
          </p:nvSpPr>
          <p:spPr bwMode="auto">
            <a:xfrm>
              <a:off x="4746" y="502"/>
              <a:ext cx="120" cy="1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44" name="Oval 54"/>
            <p:cNvSpPr>
              <a:spLocks noChangeArrowheads="1"/>
            </p:cNvSpPr>
            <p:nvPr/>
          </p:nvSpPr>
          <p:spPr bwMode="auto">
            <a:xfrm>
              <a:off x="4746" y="2049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45" name="Text Box 57"/>
            <p:cNvSpPr txBox="1">
              <a:spLocks noChangeArrowheads="1"/>
            </p:cNvSpPr>
            <p:nvPr/>
          </p:nvSpPr>
          <p:spPr bwMode="auto">
            <a:xfrm>
              <a:off x="4938" y="1983"/>
              <a:ext cx="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46" name="Text Box 58"/>
            <p:cNvSpPr txBox="1">
              <a:spLocks noChangeArrowheads="1"/>
            </p:cNvSpPr>
            <p:nvPr/>
          </p:nvSpPr>
          <p:spPr bwMode="auto">
            <a:xfrm>
              <a:off x="4218" y="820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47" name="Text Box 60"/>
            <p:cNvSpPr txBox="1">
              <a:spLocks noChangeArrowheads="1"/>
            </p:cNvSpPr>
            <p:nvPr/>
          </p:nvSpPr>
          <p:spPr bwMode="auto">
            <a:xfrm>
              <a:off x="1333" y="838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48" name="Text Box 61"/>
            <p:cNvSpPr txBox="1">
              <a:spLocks noChangeArrowheads="1"/>
            </p:cNvSpPr>
            <p:nvPr/>
          </p:nvSpPr>
          <p:spPr bwMode="auto">
            <a:xfrm>
              <a:off x="1887" y="1271"/>
              <a:ext cx="4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20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49" name="Text Box 62"/>
            <p:cNvSpPr txBox="1">
              <a:spLocks noChangeArrowheads="1"/>
            </p:cNvSpPr>
            <p:nvPr/>
          </p:nvSpPr>
          <p:spPr bwMode="auto">
            <a:xfrm>
              <a:off x="3198" y="1945"/>
              <a:ext cx="3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50" name="Text Box 64"/>
            <p:cNvSpPr txBox="1">
              <a:spLocks noChangeArrowheads="1"/>
            </p:cNvSpPr>
            <p:nvPr/>
          </p:nvSpPr>
          <p:spPr bwMode="auto">
            <a:xfrm>
              <a:off x="3534" y="1369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51" name="Text Box 65"/>
            <p:cNvSpPr txBox="1">
              <a:spLocks noChangeArrowheads="1"/>
            </p:cNvSpPr>
            <p:nvPr/>
          </p:nvSpPr>
          <p:spPr bwMode="auto">
            <a:xfrm>
              <a:off x="4182" y="1588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52" name="Text Box 66"/>
            <p:cNvSpPr txBox="1">
              <a:spLocks noChangeArrowheads="1"/>
            </p:cNvSpPr>
            <p:nvPr/>
          </p:nvSpPr>
          <p:spPr bwMode="auto">
            <a:xfrm>
              <a:off x="1157" y="1589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10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53" name="Text Box 67"/>
            <p:cNvSpPr txBox="1">
              <a:spLocks noChangeArrowheads="1"/>
            </p:cNvSpPr>
            <p:nvPr/>
          </p:nvSpPr>
          <p:spPr bwMode="auto">
            <a:xfrm>
              <a:off x="4194" y="2389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54" name="Text Box 68"/>
            <p:cNvSpPr txBox="1">
              <a:spLocks noChangeArrowheads="1"/>
            </p:cNvSpPr>
            <p:nvPr/>
          </p:nvSpPr>
          <p:spPr bwMode="auto">
            <a:xfrm>
              <a:off x="314" y="1282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55" name="Text Box 69"/>
            <p:cNvSpPr txBox="1">
              <a:spLocks noChangeArrowheads="1"/>
            </p:cNvSpPr>
            <p:nvPr/>
          </p:nvSpPr>
          <p:spPr bwMode="auto">
            <a:xfrm>
              <a:off x="340" y="413"/>
              <a:ext cx="9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>
                  <a:ea typeface="楷体_GB2312" pitchFamily="49" charset="-122"/>
                </a:rPr>
                <a:t>与或非门：</a:t>
              </a:r>
              <a:endParaRPr lang="zh-CN" altLang="en-US" b="1" dirty="0">
                <a:ea typeface="楷体_GB2312" pitchFamily="49" charset="-122"/>
              </a:endParaRPr>
            </a:p>
          </p:txBody>
        </p:sp>
        <p:grpSp>
          <p:nvGrpSpPr>
            <p:cNvPr id="25656" name="Group 71"/>
            <p:cNvGrpSpPr/>
            <p:nvPr/>
          </p:nvGrpSpPr>
          <p:grpSpPr bwMode="auto">
            <a:xfrm flipH="1">
              <a:off x="2343" y="1539"/>
              <a:ext cx="240" cy="417"/>
              <a:chOff x="2376" y="1644"/>
              <a:chExt cx="240" cy="456"/>
            </a:xfrm>
          </p:grpSpPr>
          <p:sp>
            <p:nvSpPr>
              <p:cNvPr id="25701" name="Line 72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2" name="Line 73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3" name="Line 74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57" name="Text Box 81"/>
            <p:cNvSpPr txBox="1">
              <a:spLocks noChangeArrowheads="1"/>
            </p:cNvSpPr>
            <p:nvPr/>
          </p:nvSpPr>
          <p:spPr bwMode="auto">
            <a:xfrm flipH="1">
              <a:off x="3121" y="723"/>
              <a:ext cx="5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21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58" name="Line 82"/>
            <p:cNvSpPr>
              <a:spLocks noChangeShapeType="1"/>
            </p:cNvSpPr>
            <p:nvPr/>
          </p:nvSpPr>
          <p:spPr bwMode="auto">
            <a:xfrm>
              <a:off x="1528" y="197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9" name="Line 83"/>
            <p:cNvSpPr>
              <a:spLocks noChangeShapeType="1"/>
            </p:cNvSpPr>
            <p:nvPr/>
          </p:nvSpPr>
          <p:spPr bwMode="auto">
            <a:xfrm flipH="1" flipV="1">
              <a:off x="1764" y="1196"/>
              <a:ext cx="8" cy="7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0" name="Line 84"/>
            <p:cNvSpPr>
              <a:spLocks noChangeShapeType="1"/>
            </p:cNvSpPr>
            <p:nvPr/>
          </p:nvSpPr>
          <p:spPr bwMode="auto">
            <a:xfrm flipH="1">
              <a:off x="1520" y="1972"/>
              <a:ext cx="240" cy="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1" name="Line 85"/>
            <p:cNvSpPr>
              <a:spLocks noChangeShapeType="1"/>
            </p:cNvSpPr>
            <p:nvPr/>
          </p:nvSpPr>
          <p:spPr bwMode="auto">
            <a:xfrm>
              <a:off x="1772" y="1972"/>
              <a:ext cx="312" cy="2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2" name="Rectangle 86"/>
            <p:cNvSpPr>
              <a:spLocks noChangeArrowheads="1"/>
            </p:cNvSpPr>
            <p:nvPr/>
          </p:nvSpPr>
          <p:spPr bwMode="auto">
            <a:xfrm>
              <a:off x="1702" y="807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63" name="Line 87"/>
            <p:cNvSpPr>
              <a:spLocks noChangeShapeType="1"/>
            </p:cNvSpPr>
            <p:nvPr/>
          </p:nvSpPr>
          <p:spPr bwMode="auto">
            <a:xfrm>
              <a:off x="1772" y="123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4" name="Line 88"/>
            <p:cNvSpPr>
              <a:spLocks noChangeShapeType="1"/>
            </p:cNvSpPr>
            <p:nvPr/>
          </p:nvSpPr>
          <p:spPr bwMode="auto">
            <a:xfrm flipV="1">
              <a:off x="1762" y="568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5" name="Line 89"/>
            <p:cNvSpPr>
              <a:spLocks noChangeShapeType="1"/>
            </p:cNvSpPr>
            <p:nvPr/>
          </p:nvSpPr>
          <p:spPr bwMode="auto">
            <a:xfrm>
              <a:off x="1772" y="101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6" name="Line 90"/>
            <p:cNvSpPr>
              <a:spLocks noChangeShapeType="1"/>
            </p:cNvSpPr>
            <p:nvPr/>
          </p:nvSpPr>
          <p:spPr bwMode="auto">
            <a:xfrm flipH="1">
              <a:off x="1532" y="218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7" name="Line 91"/>
            <p:cNvSpPr>
              <a:spLocks noChangeShapeType="1"/>
            </p:cNvSpPr>
            <p:nvPr/>
          </p:nvSpPr>
          <p:spPr bwMode="auto">
            <a:xfrm flipH="1">
              <a:off x="373" y="2554"/>
              <a:ext cx="1171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68" name="Text Box 93"/>
            <p:cNvSpPr txBox="1">
              <a:spLocks noChangeArrowheads="1"/>
            </p:cNvSpPr>
            <p:nvPr/>
          </p:nvSpPr>
          <p:spPr bwMode="auto">
            <a:xfrm>
              <a:off x="1791" y="826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69" name="Text Box 94"/>
            <p:cNvSpPr txBox="1">
              <a:spLocks noChangeArrowheads="1"/>
            </p:cNvSpPr>
            <p:nvPr/>
          </p:nvSpPr>
          <p:spPr bwMode="auto">
            <a:xfrm>
              <a:off x="1624" y="2030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70" name="Text Box 95"/>
            <p:cNvSpPr txBox="1">
              <a:spLocks noChangeArrowheads="1"/>
            </p:cNvSpPr>
            <p:nvPr/>
          </p:nvSpPr>
          <p:spPr bwMode="auto">
            <a:xfrm>
              <a:off x="333" y="1723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71" name="Oval 97"/>
            <p:cNvSpPr>
              <a:spLocks noChangeArrowheads="1"/>
            </p:cNvSpPr>
            <p:nvPr/>
          </p:nvSpPr>
          <p:spPr bwMode="auto">
            <a:xfrm>
              <a:off x="2301" y="53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72" name="Oval 98"/>
            <p:cNvSpPr>
              <a:spLocks noChangeArrowheads="1"/>
            </p:cNvSpPr>
            <p:nvPr/>
          </p:nvSpPr>
          <p:spPr bwMode="auto">
            <a:xfrm>
              <a:off x="1712" y="533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73" name="Oval 99"/>
            <p:cNvSpPr>
              <a:spLocks noChangeArrowheads="1"/>
            </p:cNvSpPr>
            <p:nvPr/>
          </p:nvSpPr>
          <p:spPr bwMode="auto">
            <a:xfrm>
              <a:off x="4092" y="544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74" name="Oval 101"/>
            <p:cNvSpPr>
              <a:spLocks noChangeArrowheads="1"/>
            </p:cNvSpPr>
            <p:nvPr/>
          </p:nvSpPr>
          <p:spPr bwMode="auto">
            <a:xfrm>
              <a:off x="4110" y="3269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75" name="Line 103"/>
            <p:cNvSpPr>
              <a:spLocks noChangeShapeType="1"/>
            </p:cNvSpPr>
            <p:nvPr/>
          </p:nvSpPr>
          <p:spPr bwMode="auto">
            <a:xfrm>
              <a:off x="2086" y="2173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6" name="Line 104"/>
            <p:cNvSpPr>
              <a:spLocks noChangeShapeType="1"/>
            </p:cNvSpPr>
            <p:nvPr/>
          </p:nvSpPr>
          <p:spPr bwMode="auto">
            <a:xfrm>
              <a:off x="2575" y="1719"/>
              <a:ext cx="39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7" name="Line 105"/>
            <p:cNvSpPr>
              <a:spLocks noChangeShapeType="1"/>
            </p:cNvSpPr>
            <p:nvPr/>
          </p:nvSpPr>
          <p:spPr bwMode="auto">
            <a:xfrm>
              <a:off x="2977" y="1719"/>
              <a:ext cx="0" cy="44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8" name="Line 106"/>
            <p:cNvSpPr>
              <a:spLocks noChangeShapeType="1"/>
            </p:cNvSpPr>
            <p:nvPr/>
          </p:nvSpPr>
          <p:spPr bwMode="auto">
            <a:xfrm>
              <a:off x="2086" y="2165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9" name="Line 112"/>
            <p:cNvSpPr>
              <a:spLocks noChangeShapeType="1"/>
            </p:cNvSpPr>
            <p:nvPr/>
          </p:nvSpPr>
          <p:spPr bwMode="auto">
            <a:xfrm>
              <a:off x="2357" y="1370"/>
              <a:ext cx="602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0" name="Line 113"/>
            <p:cNvSpPr>
              <a:spLocks noChangeShapeType="1"/>
            </p:cNvSpPr>
            <p:nvPr/>
          </p:nvSpPr>
          <p:spPr bwMode="auto">
            <a:xfrm>
              <a:off x="2959" y="1370"/>
              <a:ext cx="0" cy="149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1" name="Line 114"/>
            <p:cNvSpPr>
              <a:spLocks noChangeShapeType="1"/>
            </p:cNvSpPr>
            <p:nvPr/>
          </p:nvSpPr>
          <p:spPr bwMode="auto">
            <a:xfrm>
              <a:off x="2357" y="1370"/>
              <a:ext cx="6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2" name="Line 115"/>
            <p:cNvSpPr>
              <a:spLocks noChangeShapeType="1"/>
            </p:cNvSpPr>
            <p:nvPr/>
          </p:nvSpPr>
          <p:spPr bwMode="auto">
            <a:xfrm>
              <a:off x="2959" y="1370"/>
              <a:ext cx="0" cy="1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3" name="Oval 116"/>
            <p:cNvSpPr>
              <a:spLocks noChangeArrowheads="1"/>
            </p:cNvSpPr>
            <p:nvPr/>
          </p:nvSpPr>
          <p:spPr bwMode="auto">
            <a:xfrm>
              <a:off x="2312" y="2483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84" name="Oval 118"/>
            <p:cNvSpPr>
              <a:spLocks noChangeArrowheads="1"/>
            </p:cNvSpPr>
            <p:nvPr/>
          </p:nvSpPr>
          <p:spPr bwMode="auto">
            <a:xfrm>
              <a:off x="2305" y="1325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85" name="Oval 119"/>
            <p:cNvSpPr>
              <a:spLocks noChangeArrowheads="1"/>
            </p:cNvSpPr>
            <p:nvPr/>
          </p:nvSpPr>
          <p:spPr bwMode="auto">
            <a:xfrm>
              <a:off x="4096" y="131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86" name="Oval 120"/>
            <p:cNvSpPr>
              <a:spLocks noChangeArrowheads="1"/>
            </p:cNvSpPr>
            <p:nvPr/>
          </p:nvSpPr>
          <p:spPr bwMode="auto">
            <a:xfrm>
              <a:off x="3608" y="1702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87" name="Oval 121"/>
            <p:cNvSpPr>
              <a:spLocks noChangeArrowheads="1"/>
            </p:cNvSpPr>
            <p:nvPr/>
          </p:nvSpPr>
          <p:spPr bwMode="auto">
            <a:xfrm>
              <a:off x="4106" y="2077"/>
              <a:ext cx="79" cy="7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</a:ln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5688" name="Text Box 122"/>
            <p:cNvSpPr txBox="1">
              <a:spLocks noChangeArrowheads="1"/>
            </p:cNvSpPr>
            <p:nvPr/>
          </p:nvSpPr>
          <p:spPr bwMode="auto">
            <a:xfrm>
              <a:off x="1904" y="623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89" name="Text Box 123"/>
            <p:cNvSpPr txBox="1">
              <a:spLocks noChangeArrowheads="1"/>
            </p:cNvSpPr>
            <p:nvPr/>
          </p:nvSpPr>
          <p:spPr bwMode="auto">
            <a:xfrm>
              <a:off x="1908" y="2732"/>
              <a:ext cx="6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5690" name="Line 124"/>
            <p:cNvSpPr>
              <a:spLocks noChangeShapeType="1"/>
            </p:cNvSpPr>
            <p:nvPr/>
          </p:nvSpPr>
          <p:spPr bwMode="auto">
            <a:xfrm flipH="1">
              <a:off x="952" y="1527"/>
              <a:ext cx="192" cy="16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1" name="Line 125"/>
            <p:cNvSpPr>
              <a:spLocks noChangeShapeType="1"/>
            </p:cNvSpPr>
            <p:nvPr/>
          </p:nvSpPr>
          <p:spPr bwMode="auto">
            <a:xfrm flipH="1">
              <a:off x="385" y="1667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2" name="Line 126"/>
            <p:cNvSpPr>
              <a:spLocks noChangeShapeType="1"/>
            </p:cNvSpPr>
            <p:nvPr/>
          </p:nvSpPr>
          <p:spPr bwMode="auto">
            <a:xfrm flipH="1">
              <a:off x="1371" y="1990"/>
              <a:ext cx="236" cy="2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3" name="Line 127"/>
            <p:cNvSpPr>
              <a:spLocks noChangeShapeType="1"/>
            </p:cNvSpPr>
            <p:nvPr/>
          </p:nvSpPr>
          <p:spPr bwMode="auto">
            <a:xfrm>
              <a:off x="367" y="2190"/>
              <a:ext cx="1030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4" name="Text Box 128"/>
            <p:cNvSpPr txBox="1">
              <a:spLocks noChangeArrowheads="1"/>
            </p:cNvSpPr>
            <p:nvPr/>
          </p:nvSpPr>
          <p:spPr bwMode="auto">
            <a:xfrm>
              <a:off x="373" y="2645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D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95" name="Text Box 129"/>
            <p:cNvSpPr txBox="1">
              <a:spLocks noChangeArrowheads="1"/>
            </p:cNvSpPr>
            <p:nvPr/>
          </p:nvSpPr>
          <p:spPr bwMode="auto">
            <a:xfrm>
              <a:off x="353" y="2170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C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5696" name="Line 131"/>
            <p:cNvSpPr>
              <a:spLocks noChangeShapeType="1"/>
            </p:cNvSpPr>
            <p:nvPr/>
          </p:nvSpPr>
          <p:spPr bwMode="auto">
            <a:xfrm>
              <a:off x="2977" y="1719"/>
              <a:ext cx="0" cy="44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7" name="Line 132"/>
            <p:cNvSpPr>
              <a:spLocks noChangeShapeType="1"/>
            </p:cNvSpPr>
            <p:nvPr/>
          </p:nvSpPr>
          <p:spPr bwMode="auto">
            <a:xfrm>
              <a:off x="2086" y="2165"/>
              <a:ext cx="883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8" name="Line 133"/>
            <p:cNvSpPr>
              <a:spLocks noChangeShapeType="1"/>
            </p:cNvSpPr>
            <p:nvPr/>
          </p:nvSpPr>
          <p:spPr bwMode="auto">
            <a:xfrm>
              <a:off x="2575" y="1719"/>
              <a:ext cx="3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9" name="Line 134"/>
            <p:cNvSpPr>
              <a:spLocks noChangeShapeType="1"/>
            </p:cNvSpPr>
            <p:nvPr/>
          </p:nvSpPr>
          <p:spPr bwMode="auto">
            <a:xfrm>
              <a:off x="2977" y="1719"/>
              <a:ext cx="0" cy="4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0" name="Line 135"/>
            <p:cNvSpPr>
              <a:spLocks noChangeShapeType="1"/>
            </p:cNvSpPr>
            <p:nvPr/>
          </p:nvSpPr>
          <p:spPr bwMode="auto">
            <a:xfrm>
              <a:off x="2086" y="2165"/>
              <a:ext cx="8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66"/>
          <p:cNvSpPr txBox="1">
            <a:spLocks noChangeArrowheads="1"/>
          </p:cNvSpPr>
          <p:nvPr/>
        </p:nvSpPr>
        <p:spPr bwMode="auto">
          <a:xfrm>
            <a:off x="7602538" y="1430338"/>
            <a:ext cx="12573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+5V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6627" name="Text Box 60"/>
          <p:cNvSpPr txBox="1">
            <a:spLocks noChangeArrowheads="1"/>
          </p:cNvSpPr>
          <p:nvPr/>
        </p:nvSpPr>
        <p:spPr bwMode="auto">
          <a:xfrm>
            <a:off x="60325" y="673100"/>
            <a:ext cx="3695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TTL</a:t>
            </a:r>
            <a:r>
              <a:rPr lang="zh-CN" altLang="en-US" sz="2800" b="1"/>
              <a:t>与门：</a:t>
            </a:r>
            <a:endParaRPr lang="zh-CN" altLang="en-US" sz="2800" b="1"/>
          </a:p>
        </p:txBody>
      </p:sp>
      <p:grpSp>
        <p:nvGrpSpPr>
          <p:cNvPr id="26628" name="组合 5"/>
          <p:cNvGrpSpPr/>
          <p:nvPr/>
        </p:nvGrpSpPr>
        <p:grpSpPr bwMode="auto">
          <a:xfrm>
            <a:off x="717550" y="1088969"/>
            <a:ext cx="7708900" cy="4711700"/>
            <a:chOff x="712788" y="1604539"/>
            <a:chExt cx="7708900" cy="4712124"/>
          </a:xfrm>
        </p:grpSpPr>
        <p:sp>
          <p:nvSpPr>
            <p:cNvPr id="26629" name="Line 5"/>
            <p:cNvSpPr>
              <a:spLocks noChangeShapeType="1"/>
            </p:cNvSpPr>
            <p:nvPr/>
          </p:nvSpPr>
          <p:spPr bwMode="auto">
            <a:xfrm>
              <a:off x="2239963" y="3233314"/>
              <a:ext cx="9525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0" name="Line 6"/>
            <p:cNvSpPr>
              <a:spLocks noChangeShapeType="1"/>
            </p:cNvSpPr>
            <p:nvPr/>
          </p:nvSpPr>
          <p:spPr bwMode="auto">
            <a:xfrm flipV="1">
              <a:off x="2849563" y="2693292"/>
              <a:ext cx="0" cy="5400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1" name="Line 7"/>
            <p:cNvSpPr>
              <a:spLocks noChangeShapeType="1"/>
            </p:cNvSpPr>
            <p:nvPr/>
          </p:nvSpPr>
          <p:spPr bwMode="auto">
            <a:xfrm flipH="1">
              <a:off x="2449513" y="3233314"/>
              <a:ext cx="381000" cy="3484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2" name="Line 8"/>
            <p:cNvSpPr>
              <a:spLocks noChangeShapeType="1"/>
            </p:cNvSpPr>
            <p:nvPr/>
          </p:nvSpPr>
          <p:spPr bwMode="auto">
            <a:xfrm flipH="1">
              <a:off x="2220913" y="3233314"/>
              <a:ext cx="381000" cy="3484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Line 9"/>
            <p:cNvSpPr>
              <a:spLocks noChangeShapeType="1"/>
            </p:cNvSpPr>
            <p:nvPr/>
          </p:nvSpPr>
          <p:spPr bwMode="auto">
            <a:xfrm flipH="1">
              <a:off x="1992313" y="3233314"/>
              <a:ext cx="381000" cy="3484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4" name="Line 10"/>
            <p:cNvSpPr>
              <a:spLocks noChangeShapeType="1"/>
            </p:cNvSpPr>
            <p:nvPr/>
          </p:nvSpPr>
          <p:spPr bwMode="auto">
            <a:xfrm>
              <a:off x="2849563" y="3233314"/>
              <a:ext cx="495300" cy="32372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5" name="Line 11"/>
            <p:cNvSpPr>
              <a:spLocks noChangeShapeType="1"/>
            </p:cNvSpPr>
            <p:nvPr/>
          </p:nvSpPr>
          <p:spPr bwMode="auto">
            <a:xfrm>
              <a:off x="3326329" y="3554135"/>
              <a:ext cx="10212" cy="68954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36" name="Group 12"/>
            <p:cNvGrpSpPr/>
            <p:nvPr/>
          </p:nvGrpSpPr>
          <p:grpSpPr bwMode="auto">
            <a:xfrm>
              <a:off x="4192588" y="3242024"/>
              <a:ext cx="381000" cy="661962"/>
              <a:chOff x="2376" y="1644"/>
              <a:chExt cx="240" cy="456"/>
            </a:xfrm>
          </p:grpSpPr>
          <p:sp>
            <p:nvSpPr>
              <p:cNvPr id="26728" name="Line 13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29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30" name="Line 15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637" name="Group 16"/>
            <p:cNvGrpSpPr/>
            <p:nvPr/>
          </p:nvGrpSpPr>
          <p:grpSpPr bwMode="auto">
            <a:xfrm>
              <a:off x="5278438" y="2945883"/>
              <a:ext cx="381000" cy="661962"/>
              <a:chOff x="2376" y="1644"/>
              <a:chExt cx="240" cy="456"/>
            </a:xfrm>
          </p:grpSpPr>
          <p:sp>
            <p:nvSpPr>
              <p:cNvPr id="26725" name="Line 17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26" name="Line 18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27" name="Line 19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38" name="Line 20"/>
            <p:cNvSpPr>
              <a:spLocks noChangeShapeType="1"/>
            </p:cNvSpPr>
            <p:nvPr/>
          </p:nvSpPr>
          <p:spPr bwMode="auto">
            <a:xfrm flipV="1">
              <a:off x="4532313" y="2702002"/>
              <a:ext cx="0" cy="5400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Rectangle 21"/>
            <p:cNvSpPr>
              <a:spLocks noChangeArrowheads="1"/>
            </p:cNvSpPr>
            <p:nvPr/>
          </p:nvSpPr>
          <p:spPr bwMode="auto">
            <a:xfrm>
              <a:off x="4446588" y="5097259"/>
              <a:ext cx="190500" cy="609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40" name="Rectangle 22"/>
            <p:cNvSpPr>
              <a:spLocks noChangeArrowheads="1"/>
            </p:cNvSpPr>
            <p:nvPr/>
          </p:nvSpPr>
          <p:spPr bwMode="auto">
            <a:xfrm>
              <a:off x="2744788" y="2067622"/>
              <a:ext cx="190500" cy="609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41" name="Rectangle 23"/>
            <p:cNvSpPr>
              <a:spLocks noChangeArrowheads="1"/>
            </p:cNvSpPr>
            <p:nvPr/>
          </p:nvSpPr>
          <p:spPr bwMode="auto">
            <a:xfrm>
              <a:off x="4437063" y="2092300"/>
              <a:ext cx="190500" cy="609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42" name="Line 24"/>
            <p:cNvSpPr>
              <a:spLocks noChangeShapeType="1"/>
            </p:cNvSpPr>
            <p:nvPr/>
          </p:nvSpPr>
          <p:spPr bwMode="auto">
            <a:xfrm>
              <a:off x="2840038" y="2057460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Line 25"/>
            <p:cNvSpPr>
              <a:spLocks noChangeShapeType="1"/>
            </p:cNvSpPr>
            <p:nvPr/>
          </p:nvSpPr>
          <p:spPr bwMode="auto">
            <a:xfrm flipV="1">
              <a:off x="2840038" y="1701801"/>
              <a:ext cx="0" cy="35565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Line 26"/>
            <p:cNvSpPr>
              <a:spLocks noChangeShapeType="1"/>
            </p:cNvSpPr>
            <p:nvPr/>
          </p:nvSpPr>
          <p:spPr bwMode="auto">
            <a:xfrm flipV="1">
              <a:off x="4532313" y="1701801"/>
              <a:ext cx="0" cy="3905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Line 27"/>
            <p:cNvSpPr>
              <a:spLocks noChangeShapeType="1"/>
            </p:cNvSpPr>
            <p:nvPr/>
          </p:nvSpPr>
          <p:spPr bwMode="auto">
            <a:xfrm>
              <a:off x="2840038" y="1701801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Line 28"/>
            <p:cNvSpPr>
              <a:spLocks noChangeShapeType="1"/>
            </p:cNvSpPr>
            <p:nvPr/>
          </p:nvSpPr>
          <p:spPr bwMode="auto">
            <a:xfrm>
              <a:off x="2830513" y="1710511"/>
              <a:ext cx="45529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Line 29"/>
            <p:cNvSpPr>
              <a:spLocks noChangeShapeType="1"/>
            </p:cNvSpPr>
            <p:nvPr/>
          </p:nvSpPr>
          <p:spPr bwMode="auto">
            <a:xfrm flipH="1">
              <a:off x="4532313" y="3242024"/>
              <a:ext cx="7461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8" name="Group 30"/>
            <p:cNvGrpSpPr/>
            <p:nvPr/>
          </p:nvGrpSpPr>
          <p:grpSpPr bwMode="auto">
            <a:xfrm>
              <a:off x="6078538" y="3259444"/>
              <a:ext cx="381000" cy="661962"/>
              <a:chOff x="2376" y="1644"/>
              <a:chExt cx="240" cy="456"/>
            </a:xfrm>
          </p:grpSpPr>
          <p:sp>
            <p:nvSpPr>
              <p:cNvPr id="26722" name="Line 31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23" name="Line 32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24" name="Line 33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49" name="Line 34"/>
            <p:cNvSpPr>
              <a:spLocks noChangeShapeType="1"/>
            </p:cNvSpPr>
            <p:nvPr/>
          </p:nvSpPr>
          <p:spPr bwMode="auto">
            <a:xfrm>
              <a:off x="5602288" y="3573005"/>
              <a:ext cx="4762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0" name="Line 35"/>
            <p:cNvSpPr>
              <a:spLocks noChangeShapeType="1"/>
            </p:cNvSpPr>
            <p:nvPr/>
          </p:nvSpPr>
          <p:spPr bwMode="auto">
            <a:xfrm>
              <a:off x="5602288" y="2956044"/>
              <a:ext cx="79692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Line 36"/>
            <p:cNvSpPr>
              <a:spLocks noChangeShapeType="1"/>
            </p:cNvSpPr>
            <p:nvPr/>
          </p:nvSpPr>
          <p:spPr bwMode="auto">
            <a:xfrm flipV="1">
              <a:off x="6399213" y="2956044"/>
              <a:ext cx="0" cy="3382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Rectangle 37"/>
            <p:cNvSpPr>
              <a:spLocks noChangeArrowheads="1"/>
            </p:cNvSpPr>
            <p:nvPr/>
          </p:nvSpPr>
          <p:spPr bwMode="auto">
            <a:xfrm>
              <a:off x="6303963" y="2102462"/>
              <a:ext cx="190500" cy="609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53" name="Line 38"/>
            <p:cNvSpPr>
              <a:spLocks noChangeShapeType="1"/>
            </p:cNvSpPr>
            <p:nvPr/>
          </p:nvSpPr>
          <p:spPr bwMode="auto">
            <a:xfrm flipV="1">
              <a:off x="6399213" y="2712164"/>
              <a:ext cx="0" cy="30339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Line 39"/>
            <p:cNvSpPr>
              <a:spLocks noChangeShapeType="1"/>
            </p:cNvSpPr>
            <p:nvPr/>
          </p:nvSpPr>
          <p:spPr bwMode="auto">
            <a:xfrm flipV="1">
              <a:off x="6399213" y="1709059"/>
              <a:ext cx="0" cy="4006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55" name="Group 40"/>
            <p:cNvGrpSpPr/>
            <p:nvPr/>
          </p:nvGrpSpPr>
          <p:grpSpPr bwMode="auto">
            <a:xfrm>
              <a:off x="6078538" y="4496267"/>
              <a:ext cx="381000" cy="661962"/>
              <a:chOff x="2376" y="1644"/>
              <a:chExt cx="240" cy="456"/>
            </a:xfrm>
          </p:grpSpPr>
          <p:sp>
            <p:nvSpPr>
              <p:cNvPr id="26719" name="Line 41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20" name="Line 42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21" name="Line 43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56" name="Rectangle 44"/>
            <p:cNvSpPr>
              <a:spLocks noChangeArrowheads="1"/>
            </p:cNvSpPr>
            <p:nvPr/>
          </p:nvSpPr>
          <p:spPr bwMode="auto">
            <a:xfrm>
              <a:off x="5526088" y="3747205"/>
              <a:ext cx="190500" cy="60970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57" name="Line 45"/>
            <p:cNvSpPr>
              <a:spLocks noChangeShapeType="1"/>
            </p:cNvSpPr>
            <p:nvPr/>
          </p:nvSpPr>
          <p:spPr bwMode="auto">
            <a:xfrm>
              <a:off x="5621338" y="3555585"/>
              <a:ext cx="0" cy="19162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Line 46"/>
            <p:cNvSpPr>
              <a:spLocks noChangeShapeType="1"/>
            </p:cNvSpPr>
            <p:nvPr/>
          </p:nvSpPr>
          <p:spPr bwMode="auto">
            <a:xfrm>
              <a:off x="5611813" y="4348197"/>
              <a:ext cx="0" cy="1393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Line 47"/>
            <p:cNvSpPr>
              <a:spLocks noChangeShapeType="1"/>
            </p:cNvSpPr>
            <p:nvPr/>
          </p:nvSpPr>
          <p:spPr bwMode="auto">
            <a:xfrm>
              <a:off x="5421313" y="4478847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0" name="Line 48"/>
            <p:cNvSpPr>
              <a:spLocks noChangeShapeType="1"/>
            </p:cNvSpPr>
            <p:nvPr/>
          </p:nvSpPr>
          <p:spPr bwMode="auto">
            <a:xfrm>
              <a:off x="4541838" y="3877856"/>
              <a:ext cx="0" cy="12194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Line 49"/>
            <p:cNvSpPr>
              <a:spLocks noChangeShapeType="1"/>
            </p:cNvSpPr>
            <p:nvPr/>
          </p:nvSpPr>
          <p:spPr bwMode="auto">
            <a:xfrm flipH="1">
              <a:off x="4541838" y="4811280"/>
              <a:ext cx="15271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2" name="Line 50"/>
            <p:cNvSpPr>
              <a:spLocks noChangeShapeType="1"/>
            </p:cNvSpPr>
            <p:nvPr/>
          </p:nvSpPr>
          <p:spPr bwMode="auto">
            <a:xfrm>
              <a:off x="4541838" y="5698251"/>
              <a:ext cx="0" cy="4093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3" name="Line 51"/>
            <p:cNvSpPr>
              <a:spLocks noChangeShapeType="1"/>
            </p:cNvSpPr>
            <p:nvPr/>
          </p:nvSpPr>
          <p:spPr bwMode="auto">
            <a:xfrm flipV="1">
              <a:off x="3837203" y="6072782"/>
              <a:ext cx="2590585" cy="28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4" name="Line 52"/>
            <p:cNvSpPr>
              <a:spLocks noChangeShapeType="1"/>
            </p:cNvSpPr>
            <p:nvPr/>
          </p:nvSpPr>
          <p:spPr bwMode="auto">
            <a:xfrm>
              <a:off x="6427788" y="3903986"/>
              <a:ext cx="0" cy="6184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5" name="Line 53"/>
            <p:cNvSpPr>
              <a:spLocks noChangeShapeType="1"/>
            </p:cNvSpPr>
            <p:nvPr/>
          </p:nvSpPr>
          <p:spPr bwMode="auto">
            <a:xfrm>
              <a:off x="6427788" y="5140809"/>
              <a:ext cx="0" cy="11758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6" name="Line 54"/>
            <p:cNvSpPr>
              <a:spLocks noChangeShapeType="1"/>
            </p:cNvSpPr>
            <p:nvPr/>
          </p:nvSpPr>
          <p:spPr bwMode="auto">
            <a:xfrm>
              <a:off x="6221413" y="6307953"/>
              <a:ext cx="4095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7" name="Line 55"/>
            <p:cNvSpPr>
              <a:spLocks noChangeShapeType="1"/>
            </p:cNvSpPr>
            <p:nvPr/>
          </p:nvSpPr>
          <p:spPr bwMode="auto">
            <a:xfrm>
              <a:off x="6427788" y="4165286"/>
              <a:ext cx="9525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8" name="Line 56"/>
            <p:cNvSpPr>
              <a:spLocks noChangeShapeType="1"/>
            </p:cNvSpPr>
            <p:nvPr/>
          </p:nvSpPr>
          <p:spPr bwMode="auto">
            <a:xfrm flipH="1" flipV="1">
              <a:off x="1398588" y="3529454"/>
              <a:ext cx="641350" cy="87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9" name="Line 57"/>
            <p:cNvSpPr>
              <a:spLocks noChangeShapeType="1"/>
            </p:cNvSpPr>
            <p:nvPr/>
          </p:nvSpPr>
          <p:spPr bwMode="auto">
            <a:xfrm>
              <a:off x="2230438" y="3538164"/>
              <a:ext cx="0" cy="3309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0" name="Line 58"/>
            <p:cNvSpPr>
              <a:spLocks noChangeShapeType="1"/>
            </p:cNvSpPr>
            <p:nvPr/>
          </p:nvSpPr>
          <p:spPr bwMode="auto">
            <a:xfrm flipH="1">
              <a:off x="1417638" y="3851725"/>
              <a:ext cx="81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1" name="Line 59"/>
            <p:cNvSpPr>
              <a:spLocks noChangeShapeType="1"/>
            </p:cNvSpPr>
            <p:nvPr/>
          </p:nvSpPr>
          <p:spPr bwMode="auto">
            <a:xfrm flipH="1">
              <a:off x="2459038" y="3555585"/>
              <a:ext cx="0" cy="6097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2" name="Line 60"/>
            <p:cNvSpPr>
              <a:spLocks noChangeShapeType="1"/>
            </p:cNvSpPr>
            <p:nvPr/>
          </p:nvSpPr>
          <p:spPr bwMode="auto">
            <a:xfrm flipH="1">
              <a:off x="1436688" y="4147866"/>
              <a:ext cx="1041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3" name="Oval 61"/>
            <p:cNvSpPr>
              <a:spLocks noChangeArrowheads="1"/>
            </p:cNvSpPr>
            <p:nvPr/>
          </p:nvSpPr>
          <p:spPr bwMode="auto">
            <a:xfrm>
              <a:off x="7373938" y="1604539"/>
              <a:ext cx="190500" cy="1916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74" name="Oval 62"/>
            <p:cNvSpPr>
              <a:spLocks noChangeArrowheads="1"/>
            </p:cNvSpPr>
            <p:nvPr/>
          </p:nvSpPr>
          <p:spPr bwMode="auto">
            <a:xfrm>
              <a:off x="7373938" y="4060766"/>
              <a:ext cx="190500" cy="1916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75" name="Oval 63"/>
            <p:cNvSpPr>
              <a:spLocks noChangeArrowheads="1"/>
            </p:cNvSpPr>
            <p:nvPr/>
          </p:nvSpPr>
          <p:spPr bwMode="auto">
            <a:xfrm>
              <a:off x="1208088" y="3433644"/>
              <a:ext cx="190500" cy="1916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76" name="Oval 64"/>
            <p:cNvSpPr>
              <a:spLocks noChangeArrowheads="1"/>
            </p:cNvSpPr>
            <p:nvPr/>
          </p:nvSpPr>
          <p:spPr bwMode="auto">
            <a:xfrm>
              <a:off x="1227138" y="3747205"/>
              <a:ext cx="190500" cy="1916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77" name="Oval 65"/>
            <p:cNvSpPr>
              <a:spLocks noChangeArrowheads="1"/>
            </p:cNvSpPr>
            <p:nvPr/>
          </p:nvSpPr>
          <p:spPr bwMode="auto">
            <a:xfrm>
              <a:off x="1236663" y="4052056"/>
              <a:ext cx="190500" cy="1916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78" name="Text Box 67"/>
            <p:cNvSpPr txBox="1">
              <a:spLocks noChangeArrowheads="1"/>
            </p:cNvSpPr>
            <p:nvPr/>
          </p:nvSpPr>
          <p:spPr bwMode="auto">
            <a:xfrm>
              <a:off x="7678738" y="3956246"/>
              <a:ext cx="742950" cy="579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79" name="Text Box 68"/>
            <p:cNvSpPr txBox="1">
              <a:spLocks noChangeArrowheads="1"/>
            </p:cNvSpPr>
            <p:nvPr/>
          </p:nvSpPr>
          <p:spPr bwMode="auto">
            <a:xfrm>
              <a:off x="6535738" y="2109720"/>
              <a:ext cx="104775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6680" name="Text Box 69"/>
            <p:cNvSpPr txBox="1">
              <a:spLocks noChangeArrowheads="1"/>
            </p:cNvSpPr>
            <p:nvPr/>
          </p:nvSpPr>
          <p:spPr bwMode="auto">
            <a:xfrm>
              <a:off x="4668838" y="2092300"/>
              <a:ext cx="104775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81" name="Text Box 70"/>
            <p:cNvSpPr txBox="1">
              <a:spLocks noChangeArrowheads="1"/>
            </p:cNvSpPr>
            <p:nvPr/>
          </p:nvSpPr>
          <p:spPr bwMode="auto">
            <a:xfrm>
              <a:off x="2980639" y="2076333"/>
              <a:ext cx="104775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82" name="Text Box 72"/>
            <p:cNvSpPr txBox="1">
              <a:spLocks noChangeArrowheads="1"/>
            </p:cNvSpPr>
            <p:nvPr/>
          </p:nvSpPr>
          <p:spPr bwMode="auto">
            <a:xfrm>
              <a:off x="4497388" y="3311704"/>
              <a:ext cx="609600" cy="518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6683" name="Text Box 73"/>
            <p:cNvSpPr txBox="1">
              <a:spLocks noChangeArrowheads="1"/>
            </p:cNvSpPr>
            <p:nvPr/>
          </p:nvSpPr>
          <p:spPr bwMode="auto">
            <a:xfrm>
              <a:off x="4916488" y="3869145"/>
              <a:ext cx="628650" cy="518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84" name="Text Box 74"/>
            <p:cNvSpPr txBox="1">
              <a:spLocks noChangeArrowheads="1"/>
            </p:cNvSpPr>
            <p:nvPr/>
          </p:nvSpPr>
          <p:spPr bwMode="auto">
            <a:xfrm>
              <a:off x="4745038" y="5193070"/>
              <a:ext cx="1028700" cy="518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85" name="Text Box 75"/>
            <p:cNvSpPr txBox="1">
              <a:spLocks noChangeArrowheads="1"/>
            </p:cNvSpPr>
            <p:nvPr/>
          </p:nvSpPr>
          <p:spPr bwMode="auto">
            <a:xfrm>
              <a:off x="5449888" y="2980723"/>
              <a:ext cx="99060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6686" name="Text Box 76"/>
            <p:cNvSpPr txBox="1">
              <a:spLocks noChangeArrowheads="1"/>
            </p:cNvSpPr>
            <p:nvPr/>
          </p:nvSpPr>
          <p:spPr bwMode="auto">
            <a:xfrm>
              <a:off x="6478588" y="3329124"/>
              <a:ext cx="66675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87" name="Text Box 77"/>
            <p:cNvSpPr txBox="1">
              <a:spLocks noChangeArrowheads="1"/>
            </p:cNvSpPr>
            <p:nvPr/>
          </p:nvSpPr>
          <p:spPr bwMode="auto">
            <a:xfrm>
              <a:off x="2592388" y="3538164"/>
              <a:ext cx="723900" cy="579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88" name="Text Box 78"/>
            <p:cNvSpPr txBox="1">
              <a:spLocks noChangeArrowheads="1"/>
            </p:cNvSpPr>
            <p:nvPr/>
          </p:nvSpPr>
          <p:spPr bwMode="auto">
            <a:xfrm>
              <a:off x="6497638" y="4600788"/>
              <a:ext cx="666750" cy="518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6689" name="Text Box 81"/>
            <p:cNvSpPr txBox="1">
              <a:spLocks noChangeArrowheads="1"/>
            </p:cNvSpPr>
            <p:nvPr/>
          </p:nvSpPr>
          <p:spPr bwMode="auto">
            <a:xfrm>
              <a:off x="712788" y="3226055"/>
              <a:ext cx="704850" cy="518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6690" name="Text Box 82"/>
            <p:cNvSpPr txBox="1">
              <a:spLocks noChangeArrowheads="1"/>
            </p:cNvSpPr>
            <p:nvPr/>
          </p:nvSpPr>
          <p:spPr bwMode="auto">
            <a:xfrm>
              <a:off x="712788" y="3591876"/>
              <a:ext cx="70485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6691" name="Text Box 83"/>
            <p:cNvSpPr txBox="1">
              <a:spLocks noChangeArrowheads="1"/>
            </p:cNvSpPr>
            <p:nvPr/>
          </p:nvSpPr>
          <p:spPr bwMode="auto">
            <a:xfrm>
              <a:off x="712788" y="3922857"/>
              <a:ext cx="704850" cy="518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C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grpSp>
          <p:nvGrpSpPr>
            <p:cNvPr id="26692" name="Group 12"/>
            <p:cNvGrpSpPr/>
            <p:nvPr/>
          </p:nvGrpSpPr>
          <p:grpSpPr bwMode="auto">
            <a:xfrm>
              <a:off x="3504515" y="3921406"/>
              <a:ext cx="381000" cy="661962"/>
              <a:chOff x="2376" y="1644"/>
              <a:chExt cx="240" cy="456"/>
            </a:xfrm>
          </p:grpSpPr>
          <p:sp>
            <p:nvSpPr>
              <p:cNvPr id="26716" name="Line 13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rgbClr val="C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17" name="Line 14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18" name="Line 15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93" name="Line 20"/>
            <p:cNvSpPr>
              <a:spLocks noChangeShapeType="1"/>
            </p:cNvSpPr>
            <p:nvPr/>
          </p:nvSpPr>
          <p:spPr bwMode="auto">
            <a:xfrm flipH="1" flipV="1">
              <a:off x="3820130" y="2744098"/>
              <a:ext cx="17073" cy="1194725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4" name="Rectangle 23"/>
            <p:cNvSpPr>
              <a:spLocks noChangeArrowheads="1"/>
            </p:cNvSpPr>
            <p:nvPr/>
          </p:nvSpPr>
          <p:spPr bwMode="auto">
            <a:xfrm>
              <a:off x="3735388" y="2113418"/>
              <a:ext cx="190500" cy="609702"/>
            </a:xfrm>
            <a:prstGeom prst="rect">
              <a:avLst/>
            </a:prstGeom>
            <a:noFill/>
            <a:ln w="38100">
              <a:solidFill>
                <a:srgbClr val="C00000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695" name="Line 26"/>
            <p:cNvSpPr>
              <a:spLocks noChangeShapeType="1"/>
            </p:cNvSpPr>
            <p:nvPr/>
          </p:nvSpPr>
          <p:spPr bwMode="auto">
            <a:xfrm flipV="1">
              <a:off x="3806485" y="1728604"/>
              <a:ext cx="0" cy="3905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6" name="Line 29"/>
            <p:cNvSpPr>
              <a:spLocks noChangeShapeType="1"/>
            </p:cNvSpPr>
            <p:nvPr/>
          </p:nvSpPr>
          <p:spPr bwMode="auto">
            <a:xfrm flipH="1">
              <a:off x="3325343" y="4227707"/>
              <a:ext cx="17917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7" name="Line 48"/>
            <p:cNvSpPr>
              <a:spLocks noChangeShapeType="1"/>
            </p:cNvSpPr>
            <p:nvPr/>
          </p:nvSpPr>
          <p:spPr bwMode="auto">
            <a:xfrm>
              <a:off x="3853764" y="4557238"/>
              <a:ext cx="2243" cy="420204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8" name="Line 50"/>
            <p:cNvSpPr>
              <a:spLocks noChangeShapeType="1"/>
            </p:cNvSpPr>
            <p:nvPr/>
          </p:nvSpPr>
          <p:spPr bwMode="auto">
            <a:xfrm>
              <a:off x="3856006" y="5308391"/>
              <a:ext cx="1" cy="80794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9" name="Text Box 72"/>
            <p:cNvSpPr txBox="1">
              <a:spLocks noChangeArrowheads="1"/>
            </p:cNvSpPr>
            <p:nvPr/>
          </p:nvSpPr>
          <p:spPr bwMode="auto">
            <a:xfrm>
              <a:off x="3809315" y="3991086"/>
              <a:ext cx="609600" cy="518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solidFill>
                    <a:srgbClr val="FF0000"/>
                  </a:solidFill>
                  <a:ea typeface="楷体_GB2312" pitchFamily="49" charset="-122"/>
                </a:rPr>
                <a:t>2</a:t>
              </a:r>
              <a:r>
                <a:rPr lang="en-US" altLang="zh-CN" sz="2800" b="1" baseline="30000">
                  <a:solidFill>
                    <a:srgbClr val="FF0000"/>
                  </a:solidFill>
                  <a:ea typeface="楷体_GB2312" pitchFamily="49" charset="-122"/>
                </a:rPr>
                <a:t>’</a:t>
              </a:r>
              <a:endParaRPr lang="en-US" altLang="zh-CN" sz="2800" b="1" baseline="30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26700" name="Line 29"/>
            <p:cNvSpPr>
              <a:spLocks noChangeShapeType="1"/>
            </p:cNvSpPr>
            <p:nvPr/>
          </p:nvSpPr>
          <p:spPr bwMode="auto">
            <a:xfrm flipH="1">
              <a:off x="3828451" y="3548326"/>
              <a:ext cx="345085" cy="725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01" name="椭圆 101"/>
            <p:cNvSpPr>
              <a:spLocks noChangeArrowheads="1"/>
            </p:cNvSpPr>
            <p:nvPr/>
          </p:nvSpPr>
          <p:spPr bwMode="auto">
            <a:xfrm flipH="1" flipV="1">
              <a:off x="6345871" y="6011813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2" name="椭圆 102"/>
            <p:cNvSpPr>
              <a:spLocks noChangeArrowheads="1"/>
            </p:cNvSpPr>
            <p:nvPr/>
          </p:nvSpPr>
          <p:spPr bwMode="auto">
            <a:xfrm flipH="1" flipV="1">
              <a:off x="6380330" y="4116372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3" name="椭圆 103"/>
            <p:cNvSpPr>
              <a:spLocks noChangeArrowheads="1"/>
            </p:cNvSpPr>
            <p:nvPr/>
          </p:nvSpPr>
          <p:spPr bwMode="auto">
            <a:xfrm flipH="1" flipV="1">
              <a:off x="6333805" y="1658471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4" name="椭圆 104"/>
            <p:cNvSpPr>
              <a:spLocks noChangeArrowheads="1"/>
            </p:cNvSpPr>
            <p:nvPr/>
          </p:nvSpPr>
          <p:spPr bwMode="auto">
            <a:xfrm flipH="1" flipV="1">
              <a:off x="3761421" y="1660497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5" name="椭圆 105"/>
            <p:cNvSpPr>
              <a:spLocks noChangeArrowheads="1"/>
            </p:cNvSpPr>
            <p:nvPr/>
          </p:nvSpPr>
          <p:spPr bwMode="auto">
            <a:xfrm flipH="1" flipV="1">
              <a:off x="6321105" y="2910222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6" name="椭圆 106"/>
            <p:cNvSpPr>
              <a:spLocks noChangeArrowheads="1"/>
            </p:cNvSpPr>
            <p:nvPr/>
          </p:nvSpPr>
          <p:spPr bwMode="auto">
            <a:xfrm flipH="1" flipV="1">
              <a:off x="4467051" y="1654914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7" name="椭圆 107"/>
            <p:cNvSpPr>
              <a:spLocks noChangeArrowheads="1"/>
            </p:cNvSpPr>
            <p:nvPr/>
          </p:nvSpPr>
          <p:spPr bwMode="auto">
            <a:xfrm flipH="1" flipV="1">
              <a:off x="3788426" y="3499292"/>
              <a:ext cx="106683" cy="101174"/>
            </a:xfrm>
            <a:prstGeom prst="ellipse">
              <a:avLst/>
            </a:prstGeom>
            <a:solidFill>
              <a:srgbClr val="C00000"/>
            </a:solidFill>
            <a:ln w="9525">
              <a:solidFill>
                <a:srgbClr val="C00000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8" name="椭圆 108"/>
            <p:cNvSpPr>
              <a:spLocks noChangeArrowheads="1"/>
            </p:cNvSpPr>
            <p:nvPr/>
          </p:nvSpPr>
          <p:spPr bwMode="auto">
            <a:xfrm flipH="1" flipV="1">
              <a:off x="4470295" y="3184400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09" name="椭圆 109"/>
            <p:cNvSpPr>
              <a:spLocks noChangeArrowheads="1"/>
            </p:cNvSpPr>
            <p:nvPr/>
          </p:nvSpPr>
          <p:spPr bwMode="auto">
            <a:xfrm flipH="1" flipV="1">
              <a:off x="4506936" y="4751835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10" name="椭圆 110"/>
            <p:cNvSpPr>
              <a:spLocks noChangeArrowheads="1"/>
            </p:cNvSpPr>
            <p:nvPr/>
          </p:nvSpPr>
          <p:spPr bwMode="auto">
            <a:xfrm flipH="1" flipV="1">
              <a:off x="5581330" y="3506671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11" name="椭圆 111"/>
            <p:cNvSpPr>
              <a:spLocks noChangeArrowheads="1"/>
            </p:cNvSpPr>
            <p:nvPr/>
          </p:nvSpPr>
          <p:spPr bwMode="auto">
            <a:xfrm flipH="1" flipV="1">
              <a:off x="4497388" y="6027081"/>
              <a:ext cx="106683" cy="10117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12" name="等腰三角形 4"/>
            <p:cNvSpPr>
              <a:spLocks noChangeArrowheads="1"/>
            </p:cNvSpPr>
            <p:nvPr/>
          </p:nvSpPr>
          <p:spPr bwMode="auto">
            <a:xfrm rot="10800000">
              <a:off x="3665836" y="4958029"/>
              <a:ext cx="378097" cy="350695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rgbClr val="C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6713" name="Line 29"/>
            <p:cNvSpPr>
              <a:spLocks noChangeShapeType="1"/>
            </p:cNvSpPr>
            <p:nvPr/>
          </p:nvSpPr>
          <p:spPr bwMode="auto">
            <a:xfrm flipH="1">
              <a:off x="3698848" y="5308391"/>
              <a:ext cx="345085" cy="725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14" name="Text Box 70"/>
            <p:cNvSpPr txBox="1">
              <a:spLocks noChangeArrowheads="1"/>
            </p:cNvSpPr>
            <p:nvPr/>
          </p:nvSpPr>
          <p:spPr bwMode="auto">
            <a:xfrm>
              <a:off x="3859212" y="2079811"/>
              <a:ext cx="104775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solidFill>
                    <a:srgbClr val="FF0000"/>
                  </a:solidFill>
                  <a:ea typeface="楷体_GB2312" pitchFamily="49" charset="-122"/>
                </a:rPr>
                <a:t>2</a:t>
              </a:r>
              <a:r>
                <a:rPr lang="en-US" altLang="zh-CN" sz="2800" b="1" baseline="30000">
                  <a:solidFill>
                    <a:srgbClr val="FF0000"/>
                  </a:solidFill>
                  <a:ea typeface="楷体_GB2312" pitchFamily="49" charset="-122"/>
                </a:rPr>
                <a:t>’</a:t>
              </a:r>
              <a:endParaRPr lang="en-US" altLang="zh-CN" sz="3200" b="1" baseline="30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26715" name="Text Box 70"/>
            <p:cNvSpPr txBox="1">
              <a:spLocks noChangeArrowheads="1"/>
            </p:cNvSpPr>
            <p:nvPr/>
          </p:nvSpPr>
          <p:spPr bwMode="auto">
            <a:xfrm>
              <a:off x="3817524" y="4505044"/>
              <a:ext cx="1047750" cy="51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rgbClr val="FF0000"/>
                  </a:solidFill>
                  <a:ea typeface="楷体_GB2312" pitchFamily="49" charset="-122"/>
                </a:rPr>
                <a:t>D</a:t>
              </a:r>
              <a:r>
                <a:rPr lang="en-US" altLang="zh-CN" sz="2800" b="1" baseline="-25000">
                  <a:solidFill>
                    <a:srgbClr val="FF0000"/>
                  </a:solidFill>
                  <a:ea typeface="楷体_GB2312" pitchFamily="49" charset="-122"/>
                </a:rPr>
                <a:t>2</a:t>
              </a:r>
              <a:r>
                <a:rPr lang="en-US" altLang="zh-CN" sz="2800" b="1" baseline="30000">
                  <a:solidFill>
                    <a:srgbClr val="FF0000"/>
                  </a:solidFill>
                  <a:ea typeface="楷体_GB2312" pitchFamily="49" charset="-122"/>
                </a:rPr>
                <a:t>’</a:t>
              </a:r>
              <a:endParaRPr lang="en-US" altLang="zh-CN" sz="3200" b="1" baseline="3000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sp>
        <p:nvSpPr>
          <p:cNvPr id="2" name="Text Box 99"/>
          <p:cNvSpPr txBox="1">
            <a:spLocks noChangeArrowheads="1"/>
          </p:cNvSpPr>
          <p:nvPr/>
        </p:nvSpPr>
        <p:spPr bwMode="auto">
          <a:xfrm>
            <a:off x="309934" y="5532380"/>
            <a:ext cx="5938466" cy="1325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     1. 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输入端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B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有一个为低电平时，</a:t>
            </a: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Vb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2’=1V,</a:t>
            </a: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T2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’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和</a:t>
            </a: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D2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’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截止，</a:t>
            </a:r>
            <a:r>
              <a:rPr lang="en-US" altLang="zh-CN" b="1" i="1" dirty="0">
                <a:solidFill>
                  <a:srgbClr val="FF0000"/>
                </a:solidFill>
                <a:ea typeface="楷体_GB2312" pitchFamily="49" charset="-122"/>
              </a:rPr>
              <a:t> Vb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2=5V,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输出端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为低电平</a:t>
            </a:r>
            <a:endParaRPr lang="en-US" altLang="zh-CN" b="1" dirty="0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/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     2. 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输入端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B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、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C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全为高电平时，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Vb2’=1V,T2’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和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D2’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导通，</a:t>
            </a:r>
            <a:r>
              <a:rPr lang="en-US" altLang="zh-CN" b="1" i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Vb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2=1V, 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输出端</a:t>
            </a:r>
            <a:r>
              <a:rPr lang="en-US" altLang="zh-CN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F</a:t>
            </a:r>
            <a:r>
              <a:rPr lang="zh-CN" altLang="en-US" b="1" dirty="0">
                <a:solidFill>
                  <a:schemeClr val="bg2">
                    <a:lumMod val="40000"/>
                    <a:lumOff val="60000"/>
                  </a:schemeClr>
                </a:solidFill>
                <a:ea typeface="楷体_GB2312" pitchFamily="49" charset="-122"/>
              </a:rPr>
              <a:t>为低电平</a:t>
            </a:r>
            <a:endParaRPr lang="zh-CN" altLang="en-US" b="1" dirty="0">
              <a:solidFill>
                <a:schemeClr val="bg2">
                  <a:lumMod val="40000"/>
                  <a:lumOff val="60000"/>
                </a:schemeClr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56"/>
          <p:cNvSpPr txBox="1">
            <a:spLocks noChangeArrowheads="1"/>
          </p:cNvSpPr>
          <p:nvPr/>
        </p:nvSpPr>
        <p:spPr bwMode="auto">
          <a:xfrm>
            <a:off x="7862888" y="549275"/>
            <a:ext cx="12493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+5V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651" name="Line 2"/>
          <p:cNvSpPr>
            <a:spLocks noChangeShapeType="1"/>
          </p:cNvSpPr>
          <p:nvPr/>
        </p:nvSpPr>
        <p:spPr bwMode="auto">
          <a:xfrm>
            <a:off x="1646238" y="2779713"/>
            <a:ext cx="7254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2" name="Line 3"/>
          <p:cNvSpPr>
            <a:spLocks noChangeShapeType="1"/>
          </p:cNvSpPr>
          <p:nvPr/>
        </p:nvSpPr>
        <p:spPr bwMode="auto">
          <a:xfrm flipV="1">
            <a:off x="2030413" y="2239963"/>
            <a:ext cx="0" cy="539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3" name="Line 4"/>
          <p:cNvSpPr>
            <a:spLocks noChangeShapeType="1"/>
          </p:cNvSpPr>
          <p:nvPr/>
        </p:nvSpPr>
        <p:spPr bwMode="auto">
          <a:xfrm flipH="1">
            <a:off x="1633538" y="2779713"/>
            <a:ext cx="377825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>
            <a:off x="2030413" y="2779713"/>
            <a:ext cx="492125" cy="323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5" name="Line 6"/>
          <p:cNvSpPr>
            <a:spLocks noChangeShapeType="1"/>
          </p:cNvSpPr>
          <p:nvPr/>
        </p:nvSpPr>
        <p:spPr bwMode="auto">
          <a:xfrm>
            <a:off x="2486025" y="3103563"/>
            <a:ext cx="889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56" name="Group 7"/>
          <p:cNvGrpSpPr/>
          <p:nvPr/>
        </p:nvGrpSpPr>
        <p:grpSpPr bwMode="auto">
          <a:xfrm>
            <a:off x="3375025" y="2797175"/>
            <a:ext cx="377825" cy="661988"/>
            <a:chOff x="2376" y="1644"/>
            <a:chExt cx="240" cy="456"/>
          </a:xfrm>
        </p:grpSpPr>
        <p:sp>
          <p:nvSpPr>
            <p:cNvPr id="27772" name="Line 8"/>
            <p:cNvSpPr>
              <a:spLocks noChangeShapeType="1"/>
            </p:cNvSpPr>
            <p:nvPr/>
          </p:nvSpPr>
          <p:spPr bwMode="auto">
            <a:xfrm>
              <a:off x="2376" y="169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73" name="Line 9"/>
            <p:cNvSpPr>
              <a:spLocks noChangeShapeType="1"/>
            </p:cNvSpPr>
            <p:nvPr/>
          </p:nvSpPr>
          <p:spPr bwMode="auto">
            <a:xfrm rot="16200000" flipH="1">
              <a:off x="2376" y="18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74" name="Line 10"/>
            <p:cNvSpPr>
              <a:spLocks noChangeShapeType="1"/>
            </p:cNvSpPr>
            <p:nvPr/>
          </p:nvSpPr>
          <p:spPr bwMode="auto">
            <a:xfrm flipV="1">
              <a:off x="2376" y="1644"/>
              <a:ext cx="216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657" name="Group 11"/>
          <p:cNvGrpSpPr/>
          <p:nvPr/>
        </p:nvGrpSpPr>
        <p:grpSpPr bwMode="auto">
          <a:xfrm>
            <a:off x="6216650" y="2501900"/>
            <a:ext cx="377825" cy="661988"/>
            <a:chOff x="2376" y="1644"/>
            <a:chExt cx="240" cy="456"/>
          </a:xfrm>
        </p:grpSpPr>
        <p:sp>
          <p:nvSpPr>
            <p:cNvPr id="27769" name="Line 12"/>
            <p:cNvSpPr>
              <a:spLocks noChangeShapeType="1"/>
            </p:cNvSpPr>
            <p:nvPr/>
          </p:nvSpPr>
          <p:spPr bwMode="auto">
            <a:xfrm>
              <a:off x="2376" y="169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70" name="Line 13"/>
            <p:cNvSpPr>
              <a:spLocks noChangeShapeType="1"/>
            </p:cNvSpPr>
            <p:nvPr/>
          </p:nvSpPr>
          <p:spPr bwMode="auto">
            <a:xfrm rot="16200000" flipH="1">
              <a:off x="2376" y="18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71" name="Line 14"/>
            <p:cNvSpPr>
              <a:spLocks noChangeShapeType="1"/>
            </p:cNvSpPr>
            <p:nvPr/>
          </p:nvSpPr>
          <p:spPr bwMode="auto">
            <a:xfrm flipV="1">
              <a:off x="2376" y="1644"/>
              <a:ext cx="216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58" name="Line 15"/>
          <p:cNvSpPr>
            <a:spLocks noChangeShapeType="1"/>
          </p:cNvSpPr>
          <p:nvPr/>
        </p:nvSpPr>
        <p:spPr bwMode="auto">
          <a:xfrm flipV="1">
            <a:off x="3713163" y="2257425"/>
            <a:ext cx="0" cy="539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Rectangle 16"/>
          <p:cNvSpPr>
            <a:spLocks noChangeArrowheads="1"/>
          </p:cNvSpPr>
          <p:nvPr/>
        </p:nvSpPr>
        <p:spPr bwMode="auto">
          <a:xfrm>
            <a:off x="5734050" y="4603750"/>
            <a:ext cx="188913" cy="6096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660" name="Rectangle 17"/>
          <p:cNvSpPr>
            <a:spLocks noChangeArrowheads="1"/>
          </p:cNvSpPr>
          <p:nvPr/>
        </p:nvSpPr>
        <p:spPr bwMode="auto">
          <a:xfrm>
            <a:off x="1936750" y="1622425"/>
            <a:ext cx="188913" cy="6111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661" name="Rectangle 18"/>
          <p:cNvSpPr>
            <a:spLocks noChangeArrowheads="1"/>
          </p:cNvSpPr>
          <p:nvPr/>
        </p:nvSpPr>
        <p:spPr bwMode="auto">
          <a:xfrm>
            <a:off x="3617913" y="1647825"/>
            <a:ext cx="188912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662" name="Line 19"/>
          <p:cNvSpPr>
            <a:spLocks noChangeShapeType="1"/>
          </p:cNvSpPr>
          <p:nvPr/>
        </p:nvSpPr>
        <p:spPr bwMode="auto">
          <a:xfrm>
            <a:off x="2030413" y="1612900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Line 20"/>
          <p:cNvSpPr>
            <a:spLocks noChangeShapeType="1"/>
          </p:cNvSpPr>
          <p:nvPr/>
        </p:nvSpPr>
        <p:spPr bwMode="auto">
          <a:xfrm flipV="1">
            <a:off x="2030413" y="1257300"/>
            <a:ext cx="0" cy="35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4" name="Line 21"/>
          <p:cNvSpPr>
            <a:spLocks noChangeShapeType="1"/>
          </p:cNvSpPr>
          <p:nvPr/>
        </p:nvSpPr>
        <p:spPr bwMode="auto">
          <a:xfrm flipV="1">
            <a:off x="3713163" y="1257300"/>
            <a:ext cx="0" cy="390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5" name="Line 22"/>
          <p:cNvSpPr>
            <a:spLocks noChangeShapeType="1"/>
          </p:cNvSpPr>
          <p:nvPr/>
        </p:nvSpPr>
        <p:spPr bwMode="auto">
          <a:xfrm>
            <a:off x="2030413" y="1257300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6" name="Line 23"/>
          <p:cNvSpPr>
            <a:spLocks noChangeShapeType="1"/>
          </p:cNvSpPr>
          <p:nvPr/>
        </p:nvSpPr>
        <p:spPr bwMode="auto">
          <a:xfrm>
            <a:off x="2035175" y="1265238"/>
            <a:ext cx="6262688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7" name="Line 24"/>
          <p:cNvSpPr>
            <a:spLocks noChangeShapeType="1"/>
          </p:cNvSpPr>
          <p:nvPr/>
        </p:nvSpPr>
        <p:spPr bwMode="auto">
          <a:xfrm flipH="1">
            <a:off x="5848350" y="2792413"/>
            <a:ext cx="3873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68" name="Group 25"/>
          <p:cNvGrpSpPr/>
          <p:nvPr/>
        </p:nvGrpSpPr>
        <p:grpSpPr bwMode="auto">
          <a:xfrm>
            <a:off x="7010400" y="2814638"/>
            <a:ext cx="379413" cy="661987"/>
            <a:chOff x="2376" y="1644"/>
            <a:chExt cx="240" cy="456"/>
          </a:xfrm>
        </p:grpSpPr>
        <p:sp>
          <p:nvSpPr>
            <p:cNvPr id="27766" name="Line 26"/>
            <p:cNvSpPr>
              <a:spLocks noChangeShapeType="1"/>
            </p:cNvSpPr>
            <p:nvPr/>
          </p:nvSpPr>
          <p:spPr bwMode="auto">
            <a:xfrm>
              <a:off x="2376" y="169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7" name="Line 27"/>
            <p:cNvSpPr>
              <a:spLocks noChangeShapeType="1"/>
            </p:cNvSpPr>
            <p:nvPr/>
          </p:nvSpPr>
          <p:spPr bwMode="auto">
            <a:xfrm rot="16200000" flipH="1">
              <a:off x="2376" y="18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8" name="Line 28"/>
            <p:cNvSpPr>
              <a:spLocks noChangeShapeType="1"/>
            </p:cNvSpPr>
            <p:nvPr/>
          </p:nvSpPr>
          <p:spPr bwMode="auto">
            <a:xfrm flipV="1">
              <a:off x="2376" y="1644"/>
              <a:ext cx="216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69" name="Line 29"/>
          <p:cNvSpPr>
            <a:spLocks noChangeShapeType="1"/>
          </p:cNvSpPr>
          <p:nvPr/>
        </p:nvSpPr>
        <p:spPr bwMode="auto">
          <a:xfrm>
            <a:off x="6537325" y="3128963"/>
            <a:ext cx="473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0" name="Line 30"/>
          <p:cNvSpPr>
            <a:spLocks noChangeShapeType="1"/>
          </p:cNvSpPr>
          <p:nvPr/>
        </p:nvSpPr>
        <p:spPr bwMode="auto">
          <a:xfrm>
            <a:off x="6537325" y="2511425"/>
            <a:ext cx="7921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1" name="Line 31"/>
          <p:cNvSpPr>
            <a:spLocks noChangeShapeType="1"/>
          </p:cNvSpPr>
          <p:nvPr/>
        </p:nvSpPr>
        <p:spPr bwMode="auto">
          <a:xfrm flipV="1">
            <a:off x="7329488" y="2511425"/>
            <a:ext cx="0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2" name="Rectangle 32"/>
          <p:cNvSpPr>
            <a:spLocks noChangeArrowheads="1"/>
          </p:cNvSpPr>
          <p:nvPr/>
        </p:nvSpPr>
        <p:spPr bwMode="auto">
          <a:xfrm>
            <a:off x="7234238" y="1657350"/>
            <a:ext cx="190500" cy="609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673" name="Line 33"/>
          <p:cNvSpPr>
            <a:spLocks noChangeShapeType="1"/>
          </p:cNvSpPr>
          <p:nvPr/>
        </p:nvSpPr>
        <p:spPr bwMode="auto">
          <a:xfrm flipV="1">
            <a:off x="7329488" y="226695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4" name="Line 34"/>
          <p:cNvSpPr>
            <a:spLocks noChangeShapeType="1"/>
          </p:cNvSpPr>
          <p:nvPr/>
        </p:nvSpPr>
        <p:spPr bwMode="auto">
          <a:xfrm flipV="1">
            <a:off x="7329488" y="1265238"/>
            <a:ext cx="0" cy="400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675" name="Group 35"/>
          <p:cNvGrpSpPr/>
          <p:nvPr/>
        </p:nvGrpSpPr>
        <p:grpSpPr bwMode="auto">
          <a:xfrm>
            <a:off x="7010400" y="4051300"/>
            <a:ext cx="379413" cy="661988"/>
            <a:chOff x="2376" y="1644"/>
            <a:chExt cx="240" cy="456"/>
          </a:xfrm>
        </p:grpSpPr>
        <p:sp>
          <p:nvSpPr>
            <p:cNvPr id="27763" name="Line 36"/>
            <p:cNvSpPr>
              <a:spLocks noChangeShapeType="1"/>
            </p:cNvSpPr>
            <p:nvPr/>
          </p:nvSpPr>
          <p:spPr bwMode="auto">
            <a:xfrm>
              <a:off x="2376" y="169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4" name="Line 37"/>
            <p:cNvSpPr>
              <a:spLocks noChangeShapeType="1"/>
            </p:cNvSpPr>
            <p:nvPr/>
          </p:nvSpPr>
          <p:spPr bwMode="auto">
            <a:xfrm rot="16200000" flipH="1">
              <a:off x="2376" y="18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5" name="Line 38"/>
            <p:cNvSpPr>
              <a:spLocks noChangeShapeType="1"/>
            </p:cNvSpPr>
            <p:nvPr/>
          </p:nvSpPr>
          <p:spPr bwMode="auto">
            <a:xfrm flipV="1">
              <a:off x="2376" y="1644"/>
              <a:ext cx="216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676" name="Rectangle 39"/>
          <p:cNvSpPr>
            <a:spLocks noChangeArrowheads="1"/>
          </p:cNvSpPr>
          <p:nvPr/>
        </p:nvSpPr>
        <p:spPr bwMode="auto">
          <a:xfrm>
            <a:off x="6462713" y="3302000"/>
            <a:ext cx="188912" cy="6111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677" name="Line 40"/>
          <p:cNvSpPr>
            <a:spLocks noChangeShapeType="1"/>
          </p:cNvSpPr>
          <p:nvPr/>
        </p:nvSpPr>
        <p:spPr bwMode="auto">
          <a:xfrm>
            <a:off x="6556375" y="3111500"/>
            <a:ext cx="0" cy="190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8" name="Line 41"/>
          <p:cNvSpPr>
            <a:spLocks noChangeShapeType="1"/>
          </p:cNvSpPr>
          <p:nvPr/>
        </p:nvSpPr>
        <p:spPr bwMode="auto">
          <a:xfrm>
            <a:off x="6546850" y="3903663"/>
            <a:ext cx="0" cy="13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9" name="Line 42"/>
          <p:cNvSpPr>
            <a:spLocks noChangeShapeType="1"/>
          </p:cNvSpPr>
          <p:nvPr/>
        </p:nvSpPr>
        <p:spPr bwMode="auto">
          <a:xfrm>
            <a:off x="6357938" y="4033838"/>
            <a:ext cx="377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0" name="Line 43"/>
          <p:cNvSpPr>
            <a:spLocks noChangeShapeType="1"/>
          </p:cNvSpPr>
          <p:nvPr/>
        </p:nvSpPr>
        <p:spPr bwMode="auto">
          <a:xfrm>
            <a:off x="3722688" y="3433763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1" name="Line 44"/>
          <p:cNvSpPr>
            <a:spLocks noChangeShapeType="1"/>
          </p:cNvSpPr>
          <p:nvPr/>
        </p:nvSpPr>
        <p:spPr bwMode="auto">
          <a:xfrm flipH="1" flipV="1">
            <a:off x="5811838" y="4352925"/>
            <a:ext cx="1227137" cy="4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2" name="Line 45"/>
          <p:cNvSpPr>
            <a:spLocks noChangeShapeType="1"/>
          </p:cNvSpPr>
          <p:nvPr/>
        </p:nvSpPr>
        <p:spPr bwMode="auto">
          <a:xfrm>
            <a:off x="3722688" y="5018088"/>
            <a:ext cx="0" cy="644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3" name="Line 46"/>
          <p:cNvSpPr>
            <a:spLocks noChangeShapeType="1"/>
          </p:cNvSpPr>
          <p:nvPr/>
        </p:nvSpPr>
        <p:spPr bwMode="auto">
          <a:xfrm flipV="1">
            <a:off x="3698875" y="5645150"/>
            <a:ext cx="3652838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4" name="Line 47"/>
          <p:cNvSpPr>
            <a:spLocks noChangeShapeType="1"/>
          </p:cNvSpPr>
          <p:nvPr/>
        </p:nvSpPr>
        <p:spPr bwMode="auto">
          <a:xfrm>
            <a:off x="7358063" y="3459163"/>
            <a:ext cx="0" cy="6191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5" name="Line 48"/>
          <p:cNvSpPr>
            <a:spLocks noChangeShapeType="1"/>
          </p:cNvSpPr>
          <p:nvPr/>
        </p:nvSpPr>
        <p:spPr bwMode="auto">
          <a:xfrm>
            <a:off x="7358063" y="4695825"/>
            <a:ext cx="0" cy="11763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6" name="Line 49"/>
          <p:cNvSpPr>
            <a:spLocks noChangeShapeType="1"/>
          </p:cNvSpPr>
          <p:nvPr/>
        </p:nvSpPr>
        <p:spPr bwMode="auto">
          <a:xfrm>
            <a:off x="7153275" y="5864225"/>
            <a:ext cx="406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7" name="Line 50"/>
          <p:cNvSpPr>
            <a:spLocks noChangeShapeType="1"/>
          </p:cNvSpPr>
          <p:nvPr/>
        </p:nvSpPr>
        <p:spPr bwMode="auto">
          <a:xfrm>
            <a:off x="7358063" y="3721100"/>
            <a:ext cx="946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8" name="Line 51"/>
          <p:cNvSpPr>
            <a:spLocks noChangeShapeType="1"/>
          </p:cNvSpPr>
          <p:nvPr/>
        </p:nvSpPr>
        <p:spPr bwMode="auto">
          <a:xfrm flipH="1">
            <a:off x="1652588" y="31115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9" name="Line 52"/>
          <p:cNvSpPr>
            <a:spLocks noChangeShapeType="1"/>
          </p:cNvSpPr>
          <p:nvPr/>
        </p:nvSpPr>
        <p:spPr bwMode="auto">
          <a:xfrm flipH="1">
            <a:off x="649288" y="3703638"/>
            <a:ext cx="10350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0" name="Oval 53"/>
          <p:cNvSpPr>
            <a:spLocks noChangeArrowheads="1"/>
          </p:cNvSpPr>
          <p:nvPr/>
        </p:nvSpPr>
        <p:spPr bwMode="auto">
          <a:xfrm>
            <a:off x="8297863" y="1160463"/>
            <a:ext cx="188912" cy="1905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691" name="Oval 54"/>
          <p:cNvSpPr>
            <a:spLocks noChangeArrowheads="1"/>
          </p:cNvSpPr>
          <p:nvPr/>
        </p:nvSpPr>
        <p:spPr bwMode="auto">
          <a:xfrm>
            <a:off x="8297863" y="3616325"/>
            <a:ext cx="188912" cy="19208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692" name="Text Box 57"/>
          <p:cNvSpPr txBox="1">
            <a:spLocks noChangeArrowheads="1"/>
          </p:cNvSpPr>
          <p:nvPr/>
        </p:nvSpPr>
        <p:spPr bwMode="auto">
          <a:xfrm>
            <a:off x="8601075" y="3511550"/>
            <a:ext cx="738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F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693" name="Text Box 58"/>
          <p:cNvSpPr txBox="1">
            <a:spLocks noChangeArrowheads="1"/>
          </p:cNvSpPr>
          <p:nvPr/>
        </p:nvSpPr>
        <p:spPr bwMode="auto">
          <a:xfrm>
            <a:off x="7569200" y="1674813"/>
            <a:ext cx="104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4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7694" name="Text Box 60"/>
          <p:cNvSpPr txBox="1">
            <a:spLocks noChangeArrowheads="1"/>
          </p:cNvSpPr>
          <p:nvPr/>
        </p:nvSpPr>
        <p:spPr bwMode="auto">
          <a:xfrm>
            <a:off x="2071688" y="1660525"/>
            <a:ext cx="1041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10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695" name="Text Box 61"/>
          <p:cNvSpPr txBox="1">
            <a:spLocks noChangeArrowheads="1"/>
          </p:cNvSpPr>
          <p:nvPr/>
        </p:nvSpPr>
        <p:spPr bwMode="auto">
          <a:xfrm>
            <a:off x="2978150" y="2381250"/>
            <a:ext cx="757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T</a:t>
            </a:r>
            <a:r>
              <a:rPr lang="en-US" altLang="zh-CN" sz="2800" b="1" baseline="-25000">
                <a:ea typeface="楷体_GB2312" pitchFamily="49" charset="-122"/>
              </a:rPr>
              <a:t>20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7696" name="Text Box 62"/>
          <p:cNvSpPr txBox="1">
            <a:spLocks noChangeArrowheads="1"/>
          </p:cNvSpPr>
          <p:nvPr/>
        </p:nvSpPr>
        <p:spPr bwMode="auto">
          <a:xfrm>
            <a:off x="5856288" y="3451225"/>
            <a:ext cx="625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5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697" name="Text Box 64"/>
          <p:cNvSpPr txBox="1">
            <a:spLocks noChangeArrowheads="1"/>
          </p:cNvSpPr>
          <p:nvPr/>
        </p:nvSpPr>
        <p:spPr bwMode="auto">
          <a:xfrm>
            <a:off x="6443663" y="2471738"/>
            <a:ext cx="984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T</a:t>
            </a:r>
            <a:r>
              <a:rPr lang="en-US" altLang="zh-CN" sz="2800" b="1" baseline="-25000">
                <a:ea typeface="楷体_GB2312" pitchFamily="49" charset="-122"/>
              </a:rPr>
              <a:t>3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7698" name="Text Box 65"/>
          <p:cNvSpPr txBox="1">
            <a:spLocks noChangeArrowheads="1"/>
          </p:cNvSpPr>
          <p:nvPr/>
        </p:nvSpPr>
        <p:spPr bwMode="auto">
          <a:xfrm>
            <a:off x="7408863" y="2884488"/>
            <a:ext cx="6619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T</a:t>
            </a:r>
            <a:r>
              <a:rPr lang="en-US" altLang="zh-CN" sz="2800" b="1" baseline="-25000">
                <a:ea typeface="楷体_GB2312" pitchFamily="49" charset="-122"/>
              </a:rPr>
              <a:t>4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699" name="Text Box 66"/>
          <p:cNvSpPr txBox="1">
            <a:spLocks noChangeArrowheads="1"/>
          </p:cNvSpPr>
          <p:nvPr/>
        </p:nvSpPr>
        <p:spPr bwMode="auto">
          <a:xfrm>
            <a:off x="1825625" y="2886075"/>
            <a:ext cx="7191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T</a:t>
            </a:r>
            <a:r>
              <a:rPr lang="en-US" altLang="zh-CN" sz="3200" b="1" baseline="-25000">
                <a:ea typeface="楷体_GB2312" pitchFamily="49" charset="-122"/>
              </a:rPr>
              <a:t>1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700" name="Text Box 67"/>
          <p:cNvSpPr txBox="1">
            <a:spLocks noChangeArrowheads="1"/>
          </p:cNvSpPr>
          <p:nvPr/>
        </p:nvSpPr>
        <p:spPr bwMode="auto">
          <a:xfrm>
            <a:off x="7427913" y="4156075"/>
            <a:ext cx="661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T</a:t>
            </a:r>
            <a:r>
              <a:rPr lang="en-US" altLang="zh-CN" sz="2800" b="1" baseline="-25000">
                <a:ea typeface="楷体_GB2312" pitchFamily="49" charset="-122"/>
              </a:rPr>
              <a:t>5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701" name="Text Box 68"/>
          <p:cNvSpPr txBox="1">
            <a:spLocks noChangeArrowheads="1"/>
          </p:cNvSpPr>
          <p:nvPr/>
        </p:nvSpPr>
        <p:spPr bwMode="auto">
          <a:xfrm>
            <a:off x="481013" y="3167063"/>
            <a:ext cx="70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A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7702" name="Text Box 69"/>
          <p:cNvSpPr txBox="1">
            <a:spLocks noChangeArrowheads="1"/>
          </p:cNvSpPr>
          <p:nvPr/>
        </p:nvSpPr>
        <p:spPr bwMode="auto">
          <a:xfrm>
            <a:off x="381000" y="1027113"/>
            <a:ext cx="146526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TTL</a:t>
            </a:r>
            <a:r>
              <a:rPr lang="zh-CN" altLang="en-US" b="1">
                <a:ea typeface="楷体_GB2312" pitchFamily="49" charset="-122"/>
              </a:rPr>
              <a:t>或门：</a:t>
            </a:r>
            <a:endParaRPr lang="zh-CN" altLang="en-US" b="1">
              <a:ea typeface="楷体_GB2312" pitchFamily="49" charset="-122"/>
            </a:endParaRPr>
          </a:p>
        </p:txBody>
      </p:sp>
      <p:grpSp>
        <p:nvGrpSpPr>
          <p:cNvPr id="27703" name="Group 71"/>
          <p:cNvGrpSpPr/>
          <p:nvPr/>
        </p:nvGrpSpPr>
        <p:grpSpPr bwMode="auto">
          <a:xfrm flipH="1">
            <a:off x="3697288" y="2806700"/>
            <a:ext cx="377825" cy="661988"/>
            <a:chOff x="2376" y="1644"/>
            <a:chExt cx="240" cy="456"/>
          </a:xfrm>
        </p:grpSpPr>
        <p:sp>
          <p:nvSpPr>
            <p:cNvPr id="27760" name="Line 72"/>
            <p:cNvSpPr>
              <a:spLocks noChangeShapeType="1"/>
            </p:cNvSpPr>
            <p:nvPr/>
          </p:nvSpPr>
          <p:spPr bwMode="auto">
            <a:xfrm>
              <a:off x="2376" y="169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1" name="Line 73"/>
            <p:cNvSpPr>
              <a:spLocks noChangeShapeType="1"/>
            </p:cNvSpPr>
            <p:nvPr/>
          </p:nvSpPr>
          <p:spPr bwMode="auto">
            <a:xfrm rot="16200000" flipH="1">
              <a:off x="2376" y="1860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2" name="Line 74"/>
            <p:cNvSpPr>
              <a:spLocks noChangeShapeType="1"/>
            </p:cNvSpPr>
            <p:nvPr/>
          </p:nvSpPr>
          <p:spPr bwMode="auto">
            <a:xfrm flipV="1">
              <a:off x="2376" y="1644"/>
              <a:ext cx="216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704" name="Text Box 81"/>
          <p:cNvSpPr txBox="1">
            <a:spLocks noChangeArrowheads="1"/>
          </p:cNvSpPr>
          <p:nvPr/>
        </p:nvSpPr>
        <p:spPr bwMode="auto">
          <a:xfrm flipH="1">
            <a:off x="3848100" y="2430463"/>
            <a:ext cx="90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T</a:t>
            </a:r>
            <a:r>
              <a:rPr lang="en-US" altLang="zh-CN" sz="2800" b="1" baseline="-25000">
                <a:ea typeface="楷体_GB2312" pitchFamily="49" charset="-122"/>
              </a:rPr>
              <a:t>21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7705" name="Line 82"/>
          <p:cNvSpPr>
            <a:spLocks noChangeShapeType="1"/>
          </p:cNvSpPr>
          <p:nvPr/>
        </p:nvSpPr>
        <p:spPr bwMode="auto">
          <a:xfrm>
            <a:off x="2411413" y="3494088"/>
            <a:ext cx="7254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6" name="Line 83"/>
          <p:cNvSpPr>
            <a:spLocks noChangeShapeType="1"/>
          </p:cNvSpPr>
          <p:nvPr/>
        </p:nvSpPr>
        <p:spPr bwMode="auto">
          <a:xfrm flipH="1" flipV="1">
            <a:off x="2782888" y="2262188"/>
            <a:ext cx="12700" cy="1231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7" name="Line 84"/>
          <p:cNvSpPr>
            <a:spLocks noChangeShapeType="1"/>
          </p:cNvSpPr>
          <p:nvPr/>
        </p:nvSpPr>
        <p:spPr bwMode="auto">
          <a:xfrm flipH="1">
            <a:off x="2398713" y="3494088"/>
            <a:ext cx="377825" cy="3492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8" name="Line 85"/>
          <p:cNvSpPr>
            <a:spLocks noChangeShapeType="1"/>
          </p:cNvSpPr>
          <p:nvPr/>
        </p:nvSpPr>
        <p:spPr bwMode="auto">
          <a:xfrm>
            <a:off x="2795588" y="3494088"/>
            <a:ext cx="492125" cy="323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9" name="Rectangle 86"/>
          <p:cNvSpPr>
            <a:spLocks noChangeArrowheads="1"/>
          </p:cNvSpPr>
          <p:nvPr/>
        </p:nvSpPr>
        <p:spPr bwMode="auto">
          <a:xfrm>
            <a:off x="2686050" y="1644650"/>
            <a:ext cx="188913" cy="6111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10" name="Line 87"/>
          <p:cNvSpPr>
            <a:spLocks noChangeShapeType="1"/>
          </p:cNvSpPr>
          <p:nvPr/>
        </p:nvSpPr>
        <p:spPr bwMode="auto">
          <a:xfrm>
            <a:off x="2795588" y="2327275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1" name="Line 88"/>
          <p:cNvSpPr>
            <a:spLocks noChangeShapeType="1"/>
          </p:cNvSpPr>
          <p:nvPr/>
        </p:nvSpPr>
        <p:spPr bwMode="auto">
          <a:xfrm flipV="1">
            <a:off x="2779713" y="1265238"/>
            <a:ext cx="0" cy="35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2" name="Line 89"/>
          <p:cNvSpPr>
            <a:spLocks noChangeShapeType="1"/>
          </p:cNvSpPr>
          <p:nvPr/>
        </p:nvSpPr>
        <p:spPr bwMode="auto">
          <a:xfrm>
            <a:off x="2795588" y="1971675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3" name="Line 90"/>
          <p:cNvSpPr>
            <a:spLocks noChangeShapeType="1"/>
          </p:cNvSpPr>
          <p:nvPr/>
        </p:nvSpPr>
        <p:spPr bwMode="auto">
          <a:xfrm flipH="1">
            <a:off x="2417763" y="3825875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4" name="Line 91"/>
          <p:cNvSpPr>
            <a:spLocks noChangeShapeType="1"/>
          </p:cNvSpPr>
          <p:nvPr/>
        </p:nvSpPr>
        <p:spPr bwMode="auto">
          <a:xfrm flipH="1">
            <a:off x="588963" y="4418013"/>
            <a:ext cx="1847850" cy="15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15" name="Text Box 93"/>
          <p:cNvSpPr txBox="1">
            <a:spLocks noChangeArrowheads="1"/>
          </p:cNvSpPr>
          <p:nvPr/>
        </p:nvSpPr>
        <p:spPr bwMode="auto">
          <a:xfrm>
            <a:off x="2825750" y="1674813"/>
            <a:ext cx="104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11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716" name="Text Box 94"/>
          <p:cNvSpPr txBox="1">
            <a:spLocks noChangeArrowheads="1"/>
          </p:cNvSpPr>
          <p:nvPr/>
        </p:nvSpPr>
        <p:spPr bwMode="auto">
          <a:xfrm>
            <a:off x="2562225" y="3586163"/>
            <a:ext cx="7191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T</a:t>
            </a:r>
            <a:r>
              <a:rPr lang="en-US" altLang="zh-CN" sz="3200" b="1" baseline="-25000">
                <a:ea typeface="楷体_GB2312" pitchFamily="49" charset="-122"/>
              </a:rPr>
              <a:t>11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717" name="Text Box 95"/>
          <p:cNvSpPr txBox="1">
            <a:spLocks noChangeArrowheads="1"/>
          </p:cNvSpPr>
          <p:nvPr/>
        </p:nvSpPr>
        <p:spPr bwMode="auto">
          <a:xfrm>
            <a:off x="508000" y="3940175"/>
            <a:ext cx="70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B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7718" name="Oval 97"/>
          <p:cNvSpPr>
            <a:spLocks noChangeArrowheads="1"/>
          </p:cNvSpPr>
          <p:nvPr/>
        </p:nvSpPr>
        <p:spPr bwMode="auto">
          <a:xfrm>
            <a:off x="3630613" y="1216025"/>
            <a:ext cx="123825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19" name="Oval 98"/>
          <p:cNvSpPr>
            <a:spLocks noChangeArrowheads="1"/>
          </p:cNvSpPr>
          <p:nvPr/>
        </p:nvSpPr>
        <p:spPr bwMode="auto">
          <a:xfrm>
            <a:off x="2701925" y="1209675"/>
            <a:ext cx="123825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20" name="Oval 99"/>
          <p:cNvSpPr>
            <a:spLocks noChangeArrowheads="1"/>
          </p:cNvSpPr>
          <p:nvPr/>
        </p:nvSpPr>
        <p:spPr bwMode="auto">
          <a:xfrm>
            <a:off x="7265988" y="1227138"/>
            <a:ext cx="125412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21" name="Oval 101"/>
          <p:cNvSpPr>
            <a:spLocks noChangeArrowheads="1"/>
          </p:cNvSpPr>
          <p:nvPr/>
        </p:nvSpPr>
        <p:spPr bwMode="auto">
          <a:xfrm>
            <a:off x="7294563" y="5553075"/>
            <a:ext cx="125412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22" name="Line 103"/>
          <p:cNvSpPr>
            <a:spLocks noChangeShapeType="1"/>
          </p:cNvSpPr>
          <p:nvPr/>
        </p:nvSpPr>
        <p:spPr bwMode="auto">
          <a:xfrm>
            <a:off x="3290888" y="3813175"/>
            <a:ext cx="139382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3" name="Line 104"/>
          <p:cNvSpPr>
            <a:spLocks noChangeShapeType="1"/>
          </p:cNvSpPr>
          <p:nvPr/>
        </p:nvSpPr>
        <p:spPr bwMode="auto">
          <a:xfrm>
            <a:off x="4062413" y="3092450"/>
            <a:ext cx="620712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4" name="Line 105"/>
          <p:cNvSpPr>
            <a:spLocks noChangeShapeType="1"/>
          </p:cNvSpPr>
          <p:nvPr/>
        </p:nvSpPr>
        <p:spPr bwMode="auto">
          <a:xfrm>
            <a:off x="4697413" y="3092450"/>
            <a:ext cx="0" cy="70643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5" name="Line 106"/>
          <p:cNvSpPr>
            <a:spLocks noChangeShapeType="1"/>
          </p:cNvSpPr>
          <p:nvPr/>
        </p:nvSpPr>
        <p:spPr bwMode="auto">
          <a:xfrm>
            <a:off x="3290888" y="3800475"/>
            <a:ext cx="139382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6" name="Line 112"/>
          <p:cNvSpPr>
            <a:spLocks noChangeShapeType="1"/>
          </p:cNvSpPr>
          <p:nvPr/>
        </p:nvSpPr>
        <p:spPr bwMode="auto">
          <a:xfrm>
            <a:off x="3719513" y="2538413"/>
            <a:ext cx="94932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7" name="Line 113"/>
          <p:cNvSpPr>
            <a:spLocks noChangeShapeType="1"/>
          </p:cNvSpPr>
          <p:nvPr/>
        </p:nvSpPr>
        <p:spPr bwMode="auto">
          <a:xfrm>
            <a:off x="4668838" y="2538413"/>
            <a:ext cx="0" cy="236537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8" name="Line 114"/>
          <p:cNvSpPr>
            <a:spLocks noChangeShapeType="1"/>
          </p:cNvSpPr>
          <p:nvPr/>
        </p:nvSpPr>
        <p:spPr bwMode="auto">
          <a:xfrm>
            <a:off x="3719513" y="2538413"/>
            <a:ext cx="1385887" cy="6350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29" name="Line 115"/>
          <p:cNvSpPr>
            <a:spLocks noChangeShapeType="1"/>
          </p:cNvSpPr>
          <p:nvPr/>
        </p:nvSpPr>
        <p:spPr bwMode="auto">
          <a:xfrm flipH="1">
            <a:off x="5811838" y="2332038"/>
            <a:ext cx="6350" cy="8794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30" name="Oval 116"/>
          <p:cNvSpPr>
            <a:spLocks noChangeArrowheads="1"/>
          </p:cNvSpPr>
          <p:nvPr/>
        </p:nvSpPr>
        <p:spPr bwMode="auto">
          <a:xfrm>
            <a:off x="5765800" y="4305300"/>
            <a:ext cx="123825" cy="111125"/>
          </a:xfrm>
          <a:prstGeom prst="ellipse">
            <a:avLst/>
          </a:prstGeom>
          <a:solidFill>
            <a:schemeClr val="tx2"/>
          </a:solidFill>
          <a:ln w="12700">
            <a:solidFill>
              <a:srgbClr val="C00000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31" name="Oval 118"/>
          <p:cNvSpPr>
            <a:spLocks noChangeArrowheads="1"/>
          </p:cNvSpPr>
          <p:nvPr/>
        </p:nvSpPr>
        <p:spPr bwMode="auto">
          <a:xfrm>
            <a:off x="3636963" y="2466975"/>
            <a:ext cx="123825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32" name="Oval 119"/>
          <p:cNvSpPr>
            <a:spLocks noChangeArrowheads="1"/>
          </p:cNvSpPr>
          <p:nvPr/>
        </p:nvSpPr>
        <p:spPr bwMode="auto">
          <a:xfrm>
            <a:off x="7272338" y="2454275"/>
            <a:ext cx="125412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33" name="Oval 120"/>
          <p:cNvSpPr>
            <a:spLocks noChangeArrowheads="1"/>
          </p:cNvSpPr>
          <p:nvPr/>
        </p:nvSpPr>
        <p:spPr bwMode="auto">
          <a:xfrm>
            <a:off x="6502400" y="3065463"/>
            <a:ext cx="125413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34" name="Oval 121"/>
          <p:cNvSpPr>
            <a:spLocks noChangeArrowheads="1"/>
          </p:cNvSpPr>
          <p:nvPr/>
        </p:nvSpPr>
        <p:spPr bwMode="auto">
          <a:xfrm>
            <a:off x="7288213" y="3660775"/>
            <a:ext cx="125412" cy="111125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35" name="Text Box 122"/>
          <p:cNvSpPr txBox="1">
            <a:spLocks noChangeArrowheads="1"/>
          </p:cNvSpPr>
          <p:nvPr/>
        </p:nvSpPr>
        <p:spPr bwMode="auto">
          <a:xfrm>
            <a:off x="3867150" y="1722438"/>
            <a:ext cx="104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R</a:t>
            </a:r>
            <a:r>
              <a:rPr lang="en-US" altLang="zh-CN" sz="2800" b="1" baseline="-25000">
                <a:ea typeface="楷体_GB2312" pitchFamily="49" charset="-122"/>
              </a:rPr>
              <a:t>2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736" name="Text Box 123"/>
          <p:cNvSpPr txBox="1">
            <a:spLocks noChangeArrowheads="1"/>
          </p:cNvSpPr>
          <p:nvPr/>
        </p:nvSpPr>
        <p:spPr bwMode="auto">
          <a:xfrm>
            <a:off x="6016625" y="4675188"/>
            <a:ext cx="1022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en-US" altLang="zh-CN" sz="2800" b="1" baseline="-2500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en-US" altLang="zh-CN" sz="2800" b="1" baseline="30000">
                <a:solidFill>
                  <a:srgbClr val="FF0000"/>
                </a:solidFill>
                <a:ea typeface="楷体_GB2312" pitchFamily="49" charset="-122"/>
              </a:rPr>
              <a:t>’’</a:t>
            </a:r>
            <a:endParaRPr lang="en-US" altLang="zh-CN" sz="3200" b="1" baseline="300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7737" name="Line 131"/>
          <p:cNvSpPr>
            <a:spLocks noChangeShapeType="1"/>
          </p:cNvSpPr>
          <p:nvPr/>
        </p:nvSpPr>
        <p:spPr bwMode="auto">
          <a:xfrm>
            <a:off x="4697413" y="3092450"/>
            <a:ext cx="0" cy="706438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38" name="Line 132"/>
          <p:cNvSpPr>
            <a:spLocks noChangeShapeType="1"/>
          </p:cNvSpPr>
          <p:nvPr/>
        </p:nvSpPr>
        <p:spPr bwMode="auto">
          <a:xfrm>
            <a:off x="3290888" y="3800475"/>
            <a:ext cx="1393825" cy="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39" name="Line 133"/>
          <p:cNvSpPr>
            <a:spLocks noChangeShapeType="1"/>
          </p:cNvSpPr>
          <p:nvPr/>
        </p:nvSpPr>
        <p:spPr bwMode="auto">
          <a:xfrm>
            <a:off x="4062413" y="3092450"/>
            <a:ext cx="6207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40" name="Line 134"/>
          <p:cNvSpPr>
            <a:spLocks noChangeShapeType="1"/>
          </p:cNvSpPr>
          <p:nvPr/>
        </p:nvSpPr>
        <p:spPr bwMode="auto">
          <a:xfrm>
            <a:off x="4697413" y="3092450"/>
            <a:ext cx="0" cy="7064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41" name="Line 135"/>
          <p:cNvSpPr>
            <a:spLocks noChangeShapeType="1"/>
          </p:cNvSpPr>
          <p:nvPr/>
        </p:nvSpPr>
        <p:spPr bwMode="auto">
          <a:xfrm>
            <a:off x="3290888" y="3800475"/>
            <a:ext cx="13938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42" name="Rectangle 32"/>
          <p:cNvSpPr>
            <a:spLocks noChangeArrowheads="1"/>
          </p:cNvSpPr>
          <p:nvPr/>
        </p:nvSpPr>
        <p:spPr bwMode="auto">
          <a:xfrm>
            <a:off x="5721350" y="1722438"/>
            <a:ext cx="188913" cy="6096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7743" name="Group 11"/>
          <p:cNvGrpSpPr/>
          <p:nvPr/>
        </p:nvGrpSpPr>
        <p:grpSpPr bwMode="auto">
          <a:xfrm>
            <a:off x="5470525" y="3197225"/>
            <a:ext cx="379413" cy="661988"/>
            <a:chOff x="2376" y="1644"/>
            <a:chExt cx="240" cy="456"/>
          </a:xfrm>
        </p:grpSpPr>
        <p:sp>
          <p:nvSpPr>
            <p:cNvPr id="27757" name="Line 12"/>
            <p:cNvSpPr>
              <a:spLocks noChangeShapeType="1"/>
            </p:cNvSpPr>
            <p:nvPr/>
          </p:nvSpPr>
          <p:spPr bwMode="auto">
            <a:xfrm>
              <a:off x="2376" y="1692"/>
              <a:ext cx="0" cy="336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8" name="Line 13"/>
            <p:cNvSpPr>
              <a:spLocks noChangeShapeType="1"/>
            </p:cNvSpPr>
            <p:nvPr/>
          </p:nvSpPr>
          <p:spPr bwMode="auto">
            <a:xfrm rot="16200000" flipH="1">
              <a:off x="2376" y="1860"/>
              <a:ext cx="240" cy="240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9" name="Line 14"/>
            <p:cNvSpPr>
              <a:spLocks noChangeShapeType="1"/>
            </p:cNvSpPr>
            <p:nvPr/>
          </p:nvSpPr>
          <p:spPr bwMode="auto">
            <a:xfrm flipV="1">
              <a:off x="2376" y="1644"/>
              <a:ext cx="216" cy="211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744" name="Oval 120"/>
          <p:cNvSpPr>
            <a:spLocks noChangeArrowheads="1"/>
          </p:cNvSpPr>
          <p:nvPr/>
        </p:nvSpPr>
        <p:spPr bwMode="auto">
          <a:xfrm>
            <a:off x="5765800" y="2741613"/>
            <a:ext cx="123825" cy="111125"/>
          </a:xfrm>
          <a:prstGeom prst="ellipse">
            <a:avLst/>
          </a:prstGeom>
          <a:solidFill>
            <a:schemeClr val="tx2"/>
          </a:solidFill>
          <a:ln w="12700">
            <a:solidFill>
              <a:srgbClr val="C00000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45" name="等腰三角形 127"/>
          <p:cNvSpPr>
            <a:spLocks noChangeArrowheads="1"/>
          </p:cNvSpPr>
          <p:nvPr/>
        </p:nvSpPr>
        <p:spPr bwMode="auto">
          <a:xfrm rot="10800000">
            <a:off x="3517900" y="4648200"/>
            <a:ext cx="379413" cy="350838"/>
          </a:xfrm>
          <a:prstGeom prst="triangle">
            <a:avLst>
              <a:gd name="adj" fmla="val 50000"/>
            </a:avLst>
          </a:prstGeom>
          <a:noFill/>
          <a:ln w="381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46" name="Line 24"/>
          <p:cNvSpPr>
            <a:spLocks noChangeShapeType="1"/>
          </p:cNvSpPr>
          <p:nvPr/>
        </p:nvSpPr>
        <p:spPr bwMode="auto">
          <a:xfrm flipH="1">
            <a:off x="3517900" y="5018088"/>
            <a:ext cx="396875" cy="14287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47" name="Line 115"/>
          <p:cNvSpPr>
            <a:spLocks noChangeShapeType="1"/>
          </p:cNvSpPr>
          <p:nvPr/>
        </p:nvSpPr>
        <p:spPr bwMode="auto">
          <a:xfrm>
            <a:off x="5102225" y="2524125"/>
            <a:ext cx="3175" cy="1006475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48" name="Line 24"/>
          <p:cNvSpPr>
            <a:spLocks noChangeShapeType="1"/>
          </p:cNvSpPr>
          <p:nvPr/>
        </p:nvSpPr>
        <p:spPr bwMode="auto">
          <a:xfrm flipH="1">
            <a:off x="5097463" y="3505200"/>
            <a:ext cx="393700" cy="4763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49" name="Line 48"/>
          <p:cNvSpPr>
            <a:spLocks noChangeShapeType="1"/>
          </p:cNvSpPr>
          <p:nvPr/>
        </p:nvSpPr>
        <p:spPr bwMode="auto">
          <a:xfrm flipH="1">
            <a:off x="5811838" y="3825875"/>
            <a:ext cx="0" cy="801688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50" name="Line 47"/>
          <p:cNvSpPr>
            <a:spLocks noChangeShapeType="1"/>
          </p:cNvSpPr>
          <p:nvPr/>
        </p:nvSpPr>
        <p:spPr bwMode="auto">
          <a:xfrm>
            <a:off x="5827713" y="5213350"/>
            <a:ext cx="0" cy="449263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51" name="Oval 101"/>
          <p:cNvSpPr>
            <a:spLocks noChangeArrowheads="1"/>
          </p:cNvSpPr>
          <p:nvPr/>
        </p:nvSpPr>
        <p:spPr bwMode="auto">
          <a:xfrm>
            <a:off x="5756275" y="5576888"/>
            <a:ext cx="123825" cy="111125"/>
          </a:xfrm>
          <a:prstGeom prst="ellipse">
            <a:avLst/>
          </a:prstGeom>
          <a:solidFill>
            <a:schemeClr val="tx2"/>
          </a:solidFill>
          <a:ln w="12700">
            <a:solidFill>
              <a:srgbClr val="C00000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52" name="Oval 101"/>
          <p:cNvSpPr>
            <a:spLocks noChangeArrowheads="1"/>
          </p:cNvSpPr>
          <p:nvPr/>
        </p:nvSpPr>
        <p:spPr bwMode="auto">
          <a:xfrm>
            <a:off x="5732463" y="1209675"/>
            <a:ext cx="123825" cy="111125"/>
          </a:xfrm>
          <a:prstGeom prst="ellipse">
            <a:avLst/>
          </a:prstGeom>
          <a:solidFill>
            <a:schemeClr val="tx2"/>
          </a:solidFill>
          <a:ln w="12700">
            <a:solidFill>
              <a:srgbClr val="C00000"/>
            </a:solidFill>
            <a:round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53" name="Line 31"/>
          <p:cNvSpPr>
            <a:spLocks noChangeShapeType="1"/>
          </p:cNvSpPr>
          <p:nvPr/>
        </p:nvSpPr>
        <p:spPr bwMode="auto">
          <a:xfrm flipV="1">
            <a:off x="5805488" y="1276350"/>
            <a:ext cx="0" cy="446088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54" name="Text Box 123"/>
          <p:cNvSpPr txBox="1">
            <a:spLocks noChangeArrowheads="1"/>
          </p:cNvSpPr>
          <p:nvPr/>
        </p:nvSpPr>
        <p:spPr bwMode="auto">
          <a:xfrm>
            <a:off x="5938838" y="1643063"/>
            <a:ext cx="1022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楷体_GB2312" pitchFamily="49" charset="-122"/>
              </a:rPr>
              <a:t>R</a:t>
            </a:r>
            <a:r>
              <a:rPr lang="en-US" altLang="zh-CN" sz="2800" b="1" baseline="-2500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en-US" altLang="zh-CN" sz="2800" b="1" baseline="30000">
                <a:solidFill>
                  <a:srgbClr val="FF0000"/>
                </a:solidFill>
                <a:ea typeface="楷体_GB2312" pitchFamily="49" charset="-122"/>
              </a:rPr>
              <a:t>’</a:t>
            </a:r>
            <a:endParaRPr lang="en-US" altLang="zh-CN" sz="3200" b="1" baseline="300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7755" name="Text Box 94"/>
          <p:cNvSpPr txBox="1">
            <a:spLocks noChangeArrowheads="1"/>
          </p:cNvSpPr>
          <p:nvPr/>
        </p:nvSpPr>
        <p:spPr bwMode="auto">
          <a:xfrm>
            <a:off x="3930650" y="4513263"/>
            <a:ext cx="7191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D</a:t>
            </a:r>
            <a:endParaRPr lang="en-US" altLang="zh-CN" sz="3200" b="1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7756" name="Text Box 94"/>
          <p:cNvSpPr txBox="1">
            <a:spLocks noChangeArrowheads="1"/>
          </p:cNvSpPr>
          <p:nvPr/>
        </p:nvSpPr>
        <p:spPr bwMode="auto">
          <a:xfrm>
            <a:off x="5105400" y="2697163"/>
            <a:ext cx="719138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T</a:t>
            </a:r>
            <a:r>
              <a:rPr lang="en-US" altLang="zh-CN" sz="3200" b="1" baseline="-25000">
                <a:solidFill>
                  <a:srgbClr val="FF0000"/>
                </a:solidFill>
                <a:ea typeface="楷体_GB2312" pitchFamily="49" charset="-122"/>
              </a:rPr>
              <a:t>3</a:t>
            </a:r>
            <a:r>
              <a:rPr lang="en-US" altLang="zh-CN" sz="3200" b="1" baseline="30000">
                <a:solidFill>
                  <a:srgbClr val="FF0000"/>
                </a:solidFill>
                <a:ea typeface="楷体_GB2312" pitchFamily="49" charset="-122"/>
              </a:rPr>
              <a:t>’</a:t>
            </a:r>
            <a:endParaRPr lang="en-US" altLang="zh-CN" sz="3200" b="1" baseline="3000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28676" name="Picture 4" descr="2011012612191554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75" y="757238"/>
            <a:ext cx="8274050" cy="582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矩形: 圆角 1"/>
          <p:cNvSpPr>
            <a:spLocks noChangeArrowheads="1"/>
          </p:cNvSpPr>
          <p:nvPr/>
        </p:nvSpPr>
        <p:spPr bwMode="auto">
          <a:xfrm>
            <a:off x="6884988" y="6016625"/>
            <a:ext cx="1865312" cy="530225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1987550" y="412750"/>
            <a:ext cx="6153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latin typeface="宋体" panose="02010600030101010101" pitchFamily="2" charset="-122"/>
              </a:rPr>
              <a:t>4.5 </a:t>
            </a:r>
            <a:r>
              <a:rPr lang="zh-CN" altLang="en-US" sz="3200" b="1">
                <a:latin typeface="宋体" panose="02010600030101010101" pitchFamily="2" charset="-122"/>
              </a:rPr>
              <a:t>其它类型的</a:t>
            </a:r>
            <a:r>
              <a:rPr lang="en-US" altLang="zh-CN" sz="3200" b="1">
                <a:latin typeface="宋体" panose="02010600030101010101" pitchFamily="2" charset="-122"/>
              </a:rPr>
              <a:t>TTL</a:t>
            </a:r>
            <a:r>
              <a:rPr lang="zh-CN" altLang="en-US" sz="3200" b="1">
                <a:latin typeface="宋体" panose="02010600030101010101" pitchFamily="2" charset="-122"/>
              </a:rPr>
              <a:t>门电路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600" y="1066800"/>
            <a:ext cx="731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latin typeface="宋体" panose="02010600030101010101" pitchFamily="2" charset="-122"/>
              </a:rPr>
              <a:t>1</a:t>
            </a:r>
            <a:r>
              <a:rPr lang="zh-CN" altLang="en-US" sz="3200" b="1">
                <a:latin typeface="宋体" panose="02010600030101010101" pitchFamily="2" charset="-122"/>
              </a:rPr>
              <a:t>、 集电极开路的与非门（</a:t>
            </a:r>
            <a:r>
              <a:rPr lang="en-US" altLang="zh-CN" sz="3200" b="1">
                <a:latin typeface="宋体" panose="02010600030101010101" pitchFamily="2" charset="-122"/>
              </a:rPr>
              <a:t>OC</a:t>
            </a:r>
            <a:r>
              <a:rPr lang="zh-CN" altLang="en-US" sz="3200" b="1">
                <a:latin typeface="宋体" panose="02010600030101010101" pitchFamily="2" charset="-122"/>
              </a:rPr>
              <a:t>门）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grpSp>
        <p:nvGrpSpPr>
          <p:cNvPr id="269316" name="Group 4"/>
          <p:cNvGrpSpPr/>
          <p:nvPr/>
        </p:nvGrpSpPr>
        <p:grpSpPr bwMode="auto">
          <a:xfrm>
            <a:off x="711200" y="1819275"/>
            <a:ext cx="7708900" cy="4791075"/>
            <a:chOff x="628" y="1050"/>
            <a:chExt cx="4856" cy="3018"/>
          </a:xfrm>
        </p:grpSpPr>
        <p:grpSp>
          <p:nvGrpSpPr>
            <p:cNvPr id="29725" name="Group 5"/>
            <p:cNvGrpSpPr/>
            <p:nvPr/>
          </p:nvGrpSpPr>
          <p:grpSpPr bwMode="auto">
            <a:xfrm>
              <a:off x="1428" y="1818"/>
              <a:ext cx="1392" cy="612"/>
              <a:chOff x="984" y="1260"/>
              <a:chExt cx="1392" cy="612"/>
            </a:xfrm>
          </p:grpSpPr>
          <p:sp>
            <p:nvSpPr>
              <p:cNvPr id="29777" name="Line 6"/>
              <p:cNvSpPr>
                <a:spLocks noChangeShapeType="1"/>
              </p:cNvSpPr>
              <p:nvPr/>
            </p:nvSpPr>
            <p:spPr bwMode="auto">
              <a:xfrm>
                <a:off x="1140" y="1632"/>
                <a:ext cx="6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8" name="Line 7"/>
              <p:cNvSpPr>
                <a:spLocks noChangeShapeType="1"/>
              </p:cNvSpPr>
              <p:nvPr/>
            </p:nvSpPr>
            <p:spPr bwMode="auto">
              <a:xfrm flipV="1">
                <a:off x="1524" y="1260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9" name="Line 8"/>
              <p:cNvSpPr>
                <a:spLocks noChangeShapeType="1"/>
              </p:cNvSpPr>
              <p:nvPr/>
            </p:nvSpPr>
            <p:spPr bwMode="auto">
              <a:xfrm flipH="1">
                <a:off x="1272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0" name="Line 9"/>
              <p:cNvSpPr>
                <a:spLocks noChangeShapeType="1"/>
              </p:cNvSpPr>
              <p:nvPr/>
            </p:nvSpPr>
            <p:spPr bwMode="auto">
              <a:xfrm flipH="1">
                <a:off x="1128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1" name="Line 10"/>
              <p:cNvSpPr>
                <a:spLocks noChangeShapeType="1"/>
              </p:cNvSpPr>
              <p:nvPr/>
            </p:nvSpPr>
            <p:spPr bwMode="auto">
              <a:xfrm flipH="1">
                <a:off x="984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2" name="Line 11"/>
              <p:cNvSpPr>
                <a:spLocks noChangeShapeType="1"/>
              </p:cNvSpPr>
              <p:nvPr/>
            </p:nvSpPr>
            <p:spPr bwMode="auto">
              <a:xfrm>
                <a:off x="1524" y="1632"/>
                <a:ext cx="312" cy="22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83" name="Line 12"/>
              <p:cNvSpPr>
                <a:spLocks noChangeShapeType="1"/>
              </p:cNvSpPr>
              <p:nvPr/>
            </p:nvSpPr>
            <p:spPr bwMode="auto">
              <a:xfrm>
                <a:off x="1812" y="1855"/>
                <a:ext cx="56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726" name="Group 13"/>
            <p:cNvGrpSpPr/>
            <p:nvPr/>
          </p:nvGrpSpPr>
          <p:grpSpPr bwMode="auto">
            <a:xfrm>
              <a:off x="2820" y="2202"/>
              <a:ext cx="240" cy="456"/>
              <a:chOff x="2376" y="1644"/>
              <a:chExt cx="240" cy="456"/>
            </a:xfrm>
          </p:grpSpPr>
          <p:sp>
            <p:nvSpPr>
              <p:cNvPr id="29774" name="Line 14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5" name="Line 15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6" name="Line 16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27" name="Line 17"/>
            <p:cNvSpPr>
              <a:spLocks noChangeShapeType="1"/>
            </p:cNvSpPr>
            <p:nvPr/>
          </p:nvSpPr>
          <p:spPr bwMode="auto">
            <a:xfrm flipV="1">
              <a:off x="3034" y="1830"/>
              <a:ext cx="0" cy="3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8" name="Rectangle 18"/>
            <p:cNvSpPr>
              <a:spLocks noChangeArrowheads="1"/>
            </p:cNvSpPr>
            <p:nvPr/>
          </p:nvSpPr>
          <p:spPr bwMode="auto">
            <a:xfrm>
              <a:off x="2980" y="3228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29" name="Rectangle 19"/>
            <p:cNvSpPr>
              <a:spLocks noChangeArrowheads="1"/>
            </p:cNvSpPr>
            <p:nvPr/>
          </p:nvSpPr>
          <p:spPr bwMode="auto">
            <a:xfrm>
              <a:off x="1908" y="1393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30" name="Rectangle 20"/>
            <p:cNvSpPr>
              <a:spLocks noChangeArrowheads="1"/>
            </p:cNvSpPr>
            <p:nvPr/>
          </p:nvSpPr>
          <p:spPr bwMode="auto">
            <a:xfrm>
              <a:off x="2974" y="1410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31" name="Line 21"/>
            <p:cNvSpPr>
              <a:spLocks noChangeShapeType="1"/>
            </p:cNvSpPr>
            <p:nvPr/>
          </p:nvSpPr>
          <p:spPr bwMode="auto">
            <a:xfrm>
              <a:off x="1968" y="1386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2" name="Line 22"/>
            <p:cNvSpPr>
              <a:spLocks noChangeShapeType="1"/>
            </p:cNvSpPr>
            <p:nvPr/>
          </p:nvSpPr>
          <p:spPr bwMode="auto">
            <a:xfrm flipV="1">
              <a:off x="1968" y="1141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3" name="Line 23"/>
            <p:cNvSpPr>
              <a:spLocks noChangeShapeType="1"/>
            </p:cNvSpPr>
            <p:nvPr/>
          </p:nvSpPr>
          <p:spPr bwMode="auto">
            <a:xfrm flipV="1">
              <a:off x="3034" y="1141"/>
              <a:ext cx="0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24"/>
            <p:cNvSpPr>
              <a:spLocks noChangeShapeType="1"/>
            </p:cNvSpPr>
            <p:nvPr/>
          </p:nvSpPr>
          <p:spPr bwMode="auto">
            <a:xfrm>
              <a:off x="1968" y="1141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25"/>
            <p:cNvSpPr>
              <a:spLocks noChangeShapeType="1"/>
            </p:cNvSpPr>
            <p:nvPr/>
          </p:nvSpPr>
          <p:spPr bwMode="auto">
            <a:xfrm>
              <a:off x="1962" y="1147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36" name="Group 26"/>
            <p:cNvGrpSpPr/>
            <p:nvPr/>
          </p:nvGrpSpPr>
          <p:grpSpPr bwMode="auto">
            <a:xfrm>
              <a:off x="4008" y="2814"/>
              <a:ext cx="240" cy="456"/>
              <a:chOff x="2376" y="1644"/>
              <a:chExt cx="240" cy="456"/>
            </a:xfrm>
          </p:grpSpPr>
          <p:sp>
            <p:nvSpPr>
              <p:cNvPr id="29771" name="Line 27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2" name="Line 28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3" name="Line 29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37" name="Line 30"/>
            <p:cNvSpPr>
              <a:spLocks noChangeShapeType="1"/>
            </p:cNvSpPr>
            <p:nvPr/>
          </p:nvSpPr>
          <p:spPr bwMode="auto">
            <a:xfrm>
              <a:off x="3040" y="2640"/>
              <a:ext cx="0" cy="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8" name="Line 31"/>
            <p:cNvSpPr>
              <a:spLocks noChangeShapeType="1"/>
            </p:cNvSpPr>
            <p:nvPr/>
          </p:nvSpPr>
          <p:spPr bwMode="auto">
            <a:xfrm flipH="1">
              <a:off x="3040" y="3031"/>
              <a:ext cx="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9" name="Line 32"/>
            <p:cNvSpPr>
              <a:spLocks noChangeShapeType="1"/>
            </p:cNvSpPr>
            <p:nvPr/>
          </p:nvSpPr>
          <p:spPr bwMode="auto">
            <a:xfrm>
              <a:off x="3040" y="3642"/>
              <a:ext cx="0" cy="2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Line 33"/>
            <p:cNvSpPr>
              <a:spLocks noChangeShapeType="1"/>
            </p:cNvSpPr>
            <p:nvPr/>
          </p:nvSpPr>
          <p:spPr bwMode="auto">
            <a:xfrm flipV="1">
              <a:off x="3042" y="3900"/>
              <a:ext cx="118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1" name="Line 34"/>
            <p:cNvSpPr>
              <a:spLocks noChangeShapeType="1"/>
            </p:cNvSpPr>
            <p:nvPr/>
          </p:nvSpPr>
          <p:spPr bwMode="auto">
            <a:xfrm>
              <a:off x="4228" y="3258"/>
              <a:ext cx="0" cy="8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Line 35"/>
            <p:cNvSpPr>
              <a:spLocks noChangeShapeType="1"/>
            </p:cNvSpPr>
            <p:nvPr/>
          </p:nvSpPr>
          <p:spPr bwMode="auto">
            <a:xfrm>
              <a:off x="4098" y="4062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Line 36"/>
            <p:cNvSpPr>
              <a:spLocks noChangeShapeType="1"/>
            </p:cNvSpPr>
            <p:nvPr/>
          </p:nvSpPr>
          <p:spPr bwMode="auto">
            <a:xfrm>
              <a:off x="4228" y="2586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4" name="Line 37"/>
            <p:cNvSpPr>
              <a:spLocks noChangeShapeType="1"/>
            </p:cNvSpPr>
            <p:nvPr/>
          </p:nvSpPr>
          <p:spPr bwMode="auto">
            <a:xfrm flipH="1" flipV="1">
              <a:off x="1060" y="2400"/>
              <a:ext cx="40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5" name="Line 38"/>
            <p:cNvSpPr>
              <a:spLocks noChangeShapeType="1"/>
            </p:cNvSpPr>
            <p:nvPr/>
          </p:nvSpPr>
          <p:spPr bwMode="auto">
            <a:xfrm>
              <a:off x="1584" y="2406"/>
              <a:ext cx="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6" name="Line 39"/>
            <p:cNvSpPr>
              <a:spLocks noChangeShapeType="1"/>
            </p:cNvSpPr>
            <p:nvPr/>
          </p:nvSpPr>
          <p:spPr bwMode="auto">
            <a:xfrm flipH="1">
              <a:off x="1072" y="2622"/>
              <a:ext cx="5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7" name="Line 40"/>
            <p:cNvSpPr>
              <a:spLocks noChangeShapeType="1"/>
            </p:cNvSpPr>
            <p:nvPr/>
          </p:nvSpPr>
          <p:spPr bwMode="auto">
            <a:xfrm flipH="1">
              <a:off x="1728" y="2418"/>
              <a:ext cx="0" cy="4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41"/>
            <p:cNvSpPr>
              <a:spLocks noChangeShapeType="1"/>
            </p:cNvSpPr>
            <p:nvPr/>
          </p:nvSpPr>
          <p:spPr bwMode="auto">
            <a:xfrm flipH="1">
              <a:off x="1084" y="2826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Oval 42"/>
            <p:cNvSpPr>
              <a:spLocks noChangeArrowheads="1"/>
            </p:cNvSpPr>
            <p:nvPr/>
          </p:nvSpPr>
          <p:spPr bwMode="auto">
            <a:xfrm>
              <a:off x="3444" y="1086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50" name="Oval 43"/>
            <p:cNvSpPr>
              <a:spLocks noChangeArrowheads="1"/>
            </p:cNvSpPr>
            <p:nvPr/>
          </p:nvSpPr>
          <p:spPr bwMode="auto">
            <a:xfrm>
              <a:off x="4824" y="2514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51" name="Oval 44"/>
            <p:cNvSpPr>
              <a:spLocks noChangeArrowheads="1"/>
            </p:cNvSpPr>
            <p:nvPr/>
          </p:nvSpPr>
          <p:spPr bwMode="auto">
            <a:xfrm>
              <a:off x="940" y="2334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52" name="Oval 45"/>
            <p:cNvSpPr>
              <a:spLocks noChangeArrowheads="1"/>
            </p:cNvSpPr>
            <p:nvPr/>
          </p:nvSpPr>
          <p:spPr bwMode="auto">
            <a:xfrm>
              <a:off x="952" y="2550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53" name="Oval 46"/>
            <p:cNvSpPr>
              <a:spLocks noChangeArrowheads="1"/>
            </p:cNvSpPr>
            <p:nvPr/>
          </p:nvSpPr>
          <p:spPr bwMode="auto">
            <a:xfrm>
              <a:off x="958" y="2760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54" name="Text Box 47"/>
            <p:cNvSpPr txBox="1">
              <a:spLocks noChangeArrowheads="1"/>
            </p:cNvSpPr>
            <p:nvPr/>
          </p:nvSpPr>
          <p:spPr bwMode="auto">
            <a:xfrm>
              <a:off x="3552" y="1050"/>
              <a:ext cx="7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55" name="Text Box 48"/>
            <p:cNvSpPr txBox="1">
              <a:spLocks noChangeArrowheads="1"/>
            </p:cNvSpPr>
            <p:nvPr/>
          </p:nvSpPr>
          <p:spPr bwMode="auto">
            <a:xfrm>
              <a:off x="5016" y="2442"/>
              <a:ext cx="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56" name="Text Box 49"/>
            <p:cNvSpPr txBox="1">
              <a:spLocks noChangeArrowheads="1"/>
            </p:cNvSpPr>
            <p:nvPr/>
          </p:nvSpPr>
          <p:spPr bwMode="auto">
            <a:xfrm>
              <a:off x="3120" y="1410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57" name="Text Box 50"/>
            <p:cNvSpPr txBox="1">
              <a:spLocks noChangeArrowheads="1"/>
            </p:cNvSpPr>
            <p:nvPr/>
          </p:nvSpPr>
          <p:spPr bwMode="auto">
            <a:xfrm>
              <a:off x="2040" y="1194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58" name="Text Box 51"/>
            <p:cNvSpPr txBox="1">
              <a:spLocks noChangeArrowheads="1"/>
            </p:cNvSpPr>
            <p:nvPr/>
          </p:nvSpPr>
          <p:spPr bwMode="auto">
            <a:xfrm>
              <a:off x="2040" y="1554"/>
              <a:ext cx="7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3k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59" name="Text Box 52"/>
            <p:cNvSpPr txBox="1">
              <a:spLocks noChangeArrowheads="1"/>
            </p:cNvSpPr>
            <p:nvPr/>
          </p:nvSpPr>
          <p:spPr bwMode="auto">
            <a:xfrm>
              <a:off x="3012" y="225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9760" name="Text Box 53"/>
            <p:cNvSpPr txBox="1">
              <a:spLocks noChangeArrowheads="1"/>
            </p:cNvSpPr>
            <p:nvPr/>
          </p:nvSpPr>
          <p:spPr bwMode="auto">
            <a:xfrm>
              <a:off x="3168" y="3294"/>
              <a:ext cx="6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61" name="Text Box 54"/>
            <p:cNvSpPr txBox="1">
              <a:spLocks noChangeArrowheads="1"/>
            </p:cNvSpPr>
            <p:nvPr/>
          </p:nvSpPr>
          <p:spPr bwMode="auto">
            <a:xfrm>
              <a:off x="1812" y="2406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62" name="Text Box 55"/>
            <p:cNvSpPr txBox="1">
              <a:spLocks noChangeArrowheads="1"/>
            </p:cNvSpPr>
            <p:nvPr/>
          </p:nvSpPr>
          <p:spPr bwMode="auto">
            <a:xfrm>
              <a:off x="4272" y="2886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63" name="Text Box 56"/>
            <p:cNvSpPr txBox="1">
              <a:spLocks noChangeArrowheads="1"/>
            </p:cNvSpPr>
            <p:nvPr/>
          </p:nvSpPr>
          <p:spPr bwMode="auto">
            <a:xfrm>
              <a:off x="1980" y="1866"/>
              <a:ext cx="5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64" name="Text Box 57"/>
            <p:cNvSpPr txBox="1">
              <a:spLocks noChangeArrowheads="1"/>
            </p:cNvSpPr>
            <p:nvPr/>
          </p:nvSpPr>
          <p:spPr bwMode="auto">
            <a:xfrm>
              <a:off x="2256" y="2047"/>
              <a:ext cx="6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c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29765" name="Text Box 58"/>
            <p:cNvSpPr txBox="1">
              <a:spLocks noChangeArrowheads="1"/>
            </p:cNvSpPr>
            <p:nvPr/>
          </p:nvSpPr>
          <p:spPr bwMode="auto">
            <a:xfrm>
              <a:off x="628" y="2191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9766" name="Text Box 59"/>
            <p:cNvSpPr txBox="1">
              <a:spLocks noChangeArrowheads="1"/>
            </p:cNvSpPr>
            <p:nvPr/>
          </p:nvSpPr>
          <p:spPr bwMode="auto">
            <a:xfrm>
              <a:off x="628" y="2443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29767" name="Text Box 60"/>
            <p:cNvSpPr txBox="1">
              <a:spLocks noChangeArrowheads="1"/>
            </p:cNvSpPr>
            <p:nvPr/>
          </p:nvSpPr>
          <p:spPr bwMode="auto">
            <a:xfrm>
              <a:off x="628" y="2671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C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grpSp>
          <p:nvGrpSpPr>
            <p:cNvPr id="29768" name="Group 61"/>
            <p:cNvGrpSpPr/>
            <p:nvPr/>
          </p:nvGrpSpPr>
          <p:grpSpPr bwMode="auto">
            <a:xfrm>
              <a:off x="4230" y="2580"/>
              <a:ext cx="0" cy="253"/>
              <a:chOff x="4230" y="2538"/>
              <a:chExt cx="0" cy="253"/>
            </a:xfrm>
          </p:grpSpPr>
          <p:sp>
            <p:nvSpPr>
              <p:cNvPr id="29769" name="Line 62"/>
              <p:cNvSpPr>
                <a:spLocks noChangeShapeType="1"/>
              </p:cNvSpPr>
              <p:nvPr/>
            </p:nvSpPr>
            <p:spPr bwMode="auto">
              <a:xfrm flipH="1">
                <a:off x="4230" y="2538"/>
                <a:ext cx="0" cy="1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70" name="Line 63"/>
              <p:cNvSpPr>
                <a:spLocks noChangeShapeType="1"/>
              </p:cNvSpPr>
              <p:nvPr/>
            </p:nvSpPr>
            <p:spPr bwMode="auto">
              <a:xfrm>
                <a:off x="4230" y="2706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69376" name="Group 64"/>
          <p:cNvGrpSpPr/>
          <p:nvPr/>
        </p:nvGrpSpPr>
        <p:grpSpPr bwMode="auto">
          <a:xfrm>
            <a:off x="6648450" y="3829050"/>
            <a:ext cx="2228850" cy="2419350"/>
            <a:chOff x="4188" y="2412"/>
            <a:chExt cx="1404" cy="1524"/>
          </a:xfrm>
        </p:grpSpPr>
        <p:sp>
          <p:nvSpPr>
            <p:cNvPr id="29722" name="Oval 65"/>
            <p:cNvSpPr>
              <a:spLocks noChangeArrowheads="1"/>
            </p:cNvSpPr>
            <p:nvPr/>
          </p:nvSpPr>
          <p:spPr bwMode="auto">
            <a:xfrm>
              <a:off x="4356" y="2412"/>
              <a:ext cx="948" cy="6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23" name="Oval 66"/>
            <p:cNvSpPr>
              <a:spLocks noChangeArrowheads="1"/>
            </p:cNvSpPr>
            <p:nvPr/>
          </p:nvSpPr>
          <p:spPr bwMode="auto">
            <a:xfrm>
              <a:off x="4188" y="3432"/>
              <a:ext cx="1404" cy="50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solidFill>
                    <a:srgbClr val="FF0000"/>
                  </a:solidFill>
                  <a:ea typeface="楷体_GB2312" pitchFamily="49" charset="-122"/>
                </a:rPr>
                <a:t>集电极悬空</a:t>
              </a:r>
              <a:endParaRPr lang="zh-CN" altLang="en-US" sz="28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29724" name="Line 67"/>
            <p:cNvSpPr>
              <a:spLocks noChangeShapeType="1"/>
            </p:cNvSpPr>
            <p:nvPr/>
          </p:nvSpPr>
          <p:spPr bwMode="auto">
            <a:xfrm>
              <a:off x="4812" y="3048"/>
              <a:ext cx="24" cy="3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9380" name="Group 68"/>
          <p:cNvGrpSpPr/>
          <p:nvPr/>
        </p:nvGrpSpPr>
        <p:grpSpPr bwMode="auto">
          <a:xfrm>
            <a:off x="5295900" y="2574925"/>
            <a:ext cx="1181100" cy="1979613"/>
            <a:chOff x="3696" y="1382"/>
            <a:chExt cx="744" cy="1247"/>
          </a:xfrm>
        </p:grpSpPr>
        <p:sp>
          <p:nvSpPr>
            <p:cNvPr id="29706" name="Line 69"/>
            <p:cNvSpPr>
              <a:spLocks noChangeShapeType="1"/>
            </p:cNvSpPr>
            <p:nvPr/>
          </p:nvSpPr>
          <p:spPr bwMode="auto">
            <a:xfrm>
              <a:off x="3696" y="1591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Line 70"/>
            <p:cNvSpPr>
              <a:spLocks noChangeShapeType="1"/>
            </p:cNvSpPr>
            <p:nvPr/>
          </p:nvSpPr>
          <p:spPr bwMode="auto">
            <a:xfrm rot="16200000" flipH="1">
              <a:off x="3696" y="1759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Line 71"/>
            <p:cNvSpPr>
              <a:spLocks noChangeShapeType="1"/>
            </p:cNvSpPr>
            <p:nvPr/>
          </p:nvSpPr>
          <p:spPr bwMode="auto">
            <a:xfrm flipV="1">
              <a:off x="3696" y="1543"/>
              <a:ext cx="216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Line 72"/>
            <p:cNvSpPr>
              <a:spLocks noChangeShapeType="1"/>
            </p:cNvSpPr>
            <p:nvPr/>
          </p:nvSpPr>
          <p:spPr bwMode="auto">
            <a:xfrm>
              <a:off x="4200" y="1807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Line 73"/>
            <p:cNvSpPr>
              <a:spLocks noChangeShapeType="1"/>
            </p:cNvSpPr>
            <p:nvPr/>
          </p:nvSpPr>
          <p:spPr bwMode="auto">
            <a:xfrm rot="16200000" flipH="1">
              <a:off x="4200" y="1975"/>
              <a:ext cx="24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Line 74"/>
            <p:cNvSpPr>
              <a:spLocks noChangeShapeType="1"/>
            </p:cNvSpPr>
            <p:nvPr/>
          </p:nvSpPr>
          <p:spPr bwMode="auto">
            <a:xfrm flipV="1">
              <a:off x="4200" y="1759"/>
              <a:ext cx="216" cy="21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Line 75"/>
            <p:cNvSpPr>
              <a:spLocks noChangeShapeType="1"/>
            </p:cNvSpPr>
            <p:nvPr/>
          </p:nvSpPr>
          <p:spPr bwMode="auto">
            <a:xfrm>
              <a:off x="3900" y="1975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Line 76"/>
            <p:cNvSpPr>
              <a:spLocks noChangeShapeType="1"/>
            </p:cNvSpPr>
            <p:nvPr/>
          </p:nvSpPr>
          <p:spPr bwMode="auto">
            <a:xfrm>
              <a:off x="3900" y="1550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Line 77"/>
            <p:cNvSpPr>
              <a:spLocks noChangeShapeType="1"/>
            </p:cNvSpPr>
            <p:nvPr/>
          </p:nvSpPr>
          <p:spPr bwMode="auto">
            <a:xfrm flipV="1">
              <a:off x="4402" y="1550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78"/>
            <p:cNvSpPr>
              <a:spLocks noChangeShapeType="1"/>
            </p:cNvSpPr>
            <p:nvPr/>
          </p:nvSpPr>
          <p:spPr bwMode="auto">
            <a:xfrm flipV="1">
              <a:off x="4402" y="1382"/>
              <a:ext cx="0" cy="20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Rectangle 79"/>
            <p:cNvSpPr>
              <a:spLocks noChangeArrowheads="1"/>
            </p:cNvSpPr>
            <p:nvPr/>
          </p:nvSpPr>
          <p:spPr bwMode="auto">
            <a:xfrm>
              <a:off x="3852" y="2095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17" name="Line 80"/>
            <p:cNvSpPr>
              <a:spLocks noChangeShapeType="1"/>
            </p:cNvSpPr>
            <p:nvPr/>
          </p:nvSpPr>
          <p:spPr bwMode="auto">
            <a:xfrm>
              <a:off x="3912" y="1963"/>
              <a:ext cx="0" cy="1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Line 81"/>
            <p:cNvSpPr>
              <a:spLocks noChangeShapeType="1"/>
            </p:cNvSpPr>
            <p:nvPr/>
          </p:nvSpPr>
          <p:spPr bwMode="auto">
            <a:xfrm>
              <a:off x="3906" y="2509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9" name="Line 82"/>
            <p:cNvSpPr>
              <a:spLocks noChangeShapeType="1"/>
            </p:cNvSpPr>
            <p:nvPr/>
          </p:nvSpPr>
          <p:spPr bwMode="auto">
            <a:xfrm>
              <a:off x="3786" y="2599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0" name="Line 83"/>
            <p:cNvSpPr>
              <a:spLocks noChangeShapeType="1"/>
            </p:cNvSpPr>
            <p:nvPr/>
          </p:nvSpPr>
          <p:spPr bwMode="auto">
            <a:xfrm>
              <a:off x="4420" y="2203"/>
              <a:ext cx="0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Text Box 84"/>
            <p:cNvSpPr txBox="1">
              <a:spLocks noChangeArrowheads="1"/>
            </p:cNvSpPr>
            <p:nvPr/>
          </p:nvSpPr>
          <p:spPr bwMode="auto">
            <a:xfrm>
              <a:off x="3804" y="1567"/>
              <a:ext cx="6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2800" b="1">
                <a:ea typeface="楷体_GB2312" pitchFamily="49" charset="-122"/>
              </a:endParaRPr>
            </a:p>
          </p:txBody>
        </p:sp>
      </p:grpSp>
      <p:grpSp>
        <p:nvGrpSpPr>
          <p:cNvPr id="269397" name="Group 85"/>
          <p:cNvGrpSpPr/>
          <p:nvPr/>
        </p:nvGrpSpPr>
        <p:grpSpPr bwMode="auto">
          <a:xfrm>
            <a:off x="5181600" y="2324100"/>
            <a:ext cx="3657600" cy="1695450"/>
            <a:chOff x="3264" y="1464"/>
            <a:chExt cx="2304" cy="1068"/>
          </a:xfrm>
        </p:grpSpPr>
        <p:sp>
          <p:nvSpPr>
            <p:cNvPr id="29704" name="Oval 86"/>
            <p:cNvSpPr>
              <a:spLocks noChangeArrowheads="1"/>
            </p:cNvSpPr>
            <p:nvPr/>
          </p:nvSpPr>
          <p:spPr bwMode="auto">
            <a:xfrm>
              <a:off x="3264" y="1500"/>
              <a:ext cx="1008" cy="10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9705" name="Oval 87"/>
            <p:cNvSpPr>
              <a:spLocks noChangeArrowheads="1"/>
            </p:cNvSpPr>
            <p:nvPr/>
          </p:nvSpPr>
          <p:spPr bwMode="auto">
            <a:xfrm>
              <a:off x="4236" y="1464"/>
              <a:ext cx="1332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无</a:t>
              </a: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r>
                <a:rPr lang="en-US" altLang="zh-CN" sz="2800" b="1">
                  <a:ea typeface="楷体_GB2312" pitchFamily="49" charset="-122"/>
                </a:rPr>
                <a:t>,T</a:t>
              </a:r>
              <a:r>
                <a:rPr lang="en-US" altLang="zh-CN" sz="2800" b="1" baseline="-25000">
                  <a:ea typeface="楷体_GB2312" pitchFamily="49" charset="-122"/>
                </a:rPr>
                <a:t>4</a:t>
              </a:r>
              <a:endParaRPr lang="en-US" altLang="zh-CN" sz="2800" b="1"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9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9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69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roup 2"/>
          <p:cNvGrpSpPr/>
          <p:nvPr/>
        </p:nvGrpSpPr>
        <p:grpSpPr bwMode="auto">
          <a:xfrm>
            <a:off x="654050" y="1277938"/>
            <a:ext cx="7613650" cy="4791075"/>
            <a:chOff x="412" y="805"/>
            <a:chExt cx="4796" cy="3018"/>
          </a:xfrm>
        </p:grpSpPr>
        <p:grpSp>
          <p:nvGrpSpPr>
            <p:cNvPr id="30733" name="Group 3"/>
            <p:cNvGrpSpPr/>
            <p:nvPr/>
          </p:nvGrpSpPr>
          <p:grpSpPr bwMode="auto">
            <a:xfrm>
              <a:off x="1212" y="1573"/>
              <a:ext cx="1392" cy="612"/>
              <a:chOff x="984" y="1260"/>
              <a:chExt cx="1392" cy="612"/>
            </a:xfrm>
          </p:grpSpPr>
          <p:sp>
            <p:nvSpPr>
              <p:cNvPr id="30785" name="Line 4"/>
              <p:cNvSpPr>
                <a:spLocks noChangeShapeType="1"/>
              </p:cNvSpPr>
              <p:nvPr/>
            </p:nvSpPr>
            <p:spPr bwMode="auto">
              <a:xfrm>
                <a:off x="1140" y="1632"/>
                <a:ext cx="600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6" name="Line 5"/>
              <p:cNvSpPr>
                <a:spLocks noChangeShapeType="1"/>
              </p:cNvSpPr>
              <p:nvPr/>
            </p:nvSpPr>
            <p:spPr bwMode="auto">
              <a:xfrm flipV="1">
                <a:off x="1524" y="1260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7" name="Line 6"/>
              <p:cNvSpPr>
                <a:spLocks noChangeShapeType="1"/>
              </p:cNvSpPr>
              <p:nvPr/>
            </p:nvSpPr>
            <p:spPr bwMode="auto">
              <a:xfrm flipH="1">
                <a:off x="1272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8" name="Line 7"/>
              <p:cNvSpPr>
                <a:spLocks noChangeShapeType="1"/>
              </p:cNvSpPr>
              <p:nvPr/>
            </p:nvSpPr>
            <p:spPr bwMode="auto">
              <a:xfrm flipH="1">
                <a:off x="1128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9" name="Line 8"/>
              <p:cNvSpPr>
                <a:spLocks noChangeShapeType="1"/>
              </p:cNvSpPr>
              <p:nvPr/>
            </p:nvSpPr>
            <p:spPr bwMode="auto">
              <a:xfrm flipH="1">
                <a:off x="984" y="1632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90" name="Line 9"/>
              <p:cNvSpPr>
                <a:spLocks noChangeShapeType="1"/>
              </p:cNvSpPr>
              <p:nvPr/>
            </p:nvSpPr>
            <p:spPr bwMode="auto">
              <a:xfrm>
                <a:off x="1524" y="1632"/>
                <a:ext cx="312" cy="22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91" name="Line 10"/>
              <p:cNvSpPr>
                <a:spLocks noChangeShapeType="1"/>
              </p:cNvSpPr>
              <p:nvPr/>
            </p:nvSpPr>
            <p:spPr bwMode="auto">
              <a:xfrm>
                <a:off x="1812" y="1855"/>
                <a:ext cx="56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734" name="Group 11"/>
            <p:cNvGrpSpPr/>
            <p:nvPr/>
          </p:nvGrpSpPr>
          <p:grpSpPr bwMode="auto">
            <a:xfrm>
              <a:off x="2604" y="1957"/>
              <a:ext cx="240" cy="456"/>
              <a:chOff x="2376" y="1644"/>
              <a:chExt cx="240" cy="456"/>
            </a:xfrm>
          </p:grpSpPr>
          <p:sp>
            <p:nvSpPr>
              <p:cNvPr id="30782" name="Line 12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3" name="Line 13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4" name="Line 14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35" name="Line 15"/>
            <p:cNvSpPr>
              <a:spLocks noChangeShapeType="1"/>
            </p:cNvSpPr>
            <p:nvPr/>
          </p:nvSpPr>
          <p:spPr bwMode="auto">
            <a:xfrm flipV="1">
              <a:off x="2818" y="1585"/>
              <a:ext cx="0" cy="3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Rectangle 16"/>
            <p:cNvSpPr>
              <a:spLocks noChangeArrowheads="1"/>
            </p:cNvSpPr>
            <p:nvPr/>
          </p:nvSpPr>
          <p:spPr bwMode="auto">
            <a:xfrm>
              <a:off x="2764" y="2983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37" name="Rectangle 17"/>
            <p:cNvSpPr>
              <a:spLocks noChangeArrowheads="1"/>
            </p:cNvSpPr>
            <p:nvPr/>
          </p:nvSpPr>
          <p:spPr bwMode="auto">
            <a:xfrm>
              <a:off x="1692" y="1148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38" name="Rectangle 18"/>
            <p:cNvSpPr>
              <a:spLocks noChangeArrowheads="1"/>
            </p:cNvSpPr>
            <p:nvPr/>
          </p:nvSpPr>
          <p:spPr bwMode="auto">
            <a:xfrm>
              <a:off x="2758" y="1165"/>
              <a:ext cx="120" cy="42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39" name="Line 19"/>
            <p:cNvSpPr>
              <a:spLocks noChangeShapeType="1"/>
            </p:cNvSpPr>
            <p:nvPr/>
          </p:nvSpPr>
          <p:spPr bwMode="auto">
            <a:xfrm>
              <a:off x="1752" y="1141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Line 20"/>
            <p:cNvSpPr>
              <a:spLocks noChangeShapeType="1"/>
            </p:cNvSpPr>
            <p:nvPr/>
          </p:nvSpPr>
          <p:spPr bwMode="auto">
            <a:xfrm flipV="1">
              <a:off x="1752" y="896"/>
              <a:ext cx="0" cy="2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Line 21"/>
            <p:cNvSpPr>
              <a:spLocks noChangeShapeType="1"/>
            </p:cNvSpPr>
            <p:nvPr/>
          </p:nvSpPr>
          <p:spPr bwMode="auto">
            <a:xfrm flipV="1">
              <a:off x="2818" y="896"/>
              <a:ext cx="0" cy="2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2" name="Line 22"/>
            <p:cNvSpPr>
              <a:spLocks noChangeShapeType="1"/>
            </p:cNvSpPr>
            <p:nvPr/>
          </p:nvSpPr>
          <p:spPr bwMode="auto">
            <a:xfrm>
              <a:off x="1752" y="896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Line 23"/>
            <p:cNvSpPr>
              <a:spLocks noChangeShapeType="1"/>
            </p:cNvSpPr>
            <p:nvPr/>
          </p:nvSpPr>
          <p:spPr bwMode="auto">
            <a:xfrm>
              <a:off x="1746" y="902"/>
              <a:ext cx="1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0744" name="Group 24"/>
            <p:cNvGrpSpPr/>
            <p:nvPr/>
          </p:nvGrpSpPr>
          <p:grpSpPr bwMode="auto">
            <a:xfrm>
              <a:off x="3792" y="2569"/>
              <a:ext cx="240" cy="456"/>
              <a:chOff x="2376" y="1644"/>
              <a:chExt cx="240" cy="456"/>
            </a:xfrm>
          </p:grpSpPr>
          <p:sp>
            <p:nvSpPr>
              <p:cNvPr id="30779" name="Line 25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0" name="Line 26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81" name="Line 27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745" name="Line 28"/>
            <p:cNvSpPr>
              <a:spLocks noChangeShapeType="1"/>
            </p:cNvSpPr>
            <p:nvPr/>
          </p:nvSpPr>
          <p:spPr bwMode="auto">
            <a:xfrm>
              <a:off x="2824" y="2395"/>
              <a:ext cx="0" cy="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29"/>
            <p:cNvSpPr>
              <a:spLocks noChangeShapeType="1"/>
            </p:cNvSpPr>
            <p:nvPr/>
          </p:nvSpPr>
          <p:spPr bwMode="auto">
            <a:xfrm flipH="1">
              <a:off x="2824" y="2786"/>
              <a:ext cx="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Line 30"/>
            <p:cNvSpPr>
              <a:spLocks noChangeShapeType="1"/>
            </p:cNvSpPr>
            <p:nvPr/>
          </p:nvSpPr>
          <p:spPr bwMode="auto">
            <a:xfrm>
              <a:off x="2824" y="3397"/>
              <a:ext cx="0" cy="2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Line 31"/>
            <p:cNvSpPr>
              <a:spLocks noChangeShapeType="1"/>
            </p:cNvSpPr>
            <p:nvPr/>
          </p:nvSpPr>
          <p:spPr bwMode="auto">
            <a:xfrm flipV="1">
              <a:off x="2826" y="3655"/>
              <a:ext cx="118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Line 32"/>
            <p:cNvSpPr>
              <a:spLocks noChangeShapeType="1"/>
            </p:cNvSpPr>
            <p:nvPr/>
          </p:nvSpPr>
          <p:spPr bwMode="auto">
            <a:xfrm>
              <a:off x="4012" y="3013"/>
              <a:ext cx="0" cy="8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Line 33"/>
            <p:cNvSpPr>
              <a:spLocks noChangeShapeType="1"/>
            </p:cNvSpPr>
            <p:nvPr/>
          </p:nvSpPr>
          <p:spPr bwMode="auto">
            <a:xfrm>
              <a:off x="3882" y="3817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Line 34"/>
            <p:cNvSpPr>
              <a:spLocks noChangeShapeType="1"/>
            </p:cNvSpPr>
            <p:nvPr/>
          </p:nvSpPr>
          <p:spPr bwMode="auto">
            <a:xfrm>
              <a:off x="4012" y="2341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2" name="Line 35"/>
            <p:cNvSpPr>
              <a:spLocks noChangeShapeType="1"/>
            </p:cNvSpPr>
            <p:nvPr/>
          </p:nvSpPr>
          <p:spPr bwMode="auto">
            <a:xfrm flipH="1" flipV="1">
              <a:off x="844" y="2155"/>
              <a:ext cx="404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Line 36"/>
            <p:cNvSpPr>
              <a:spLocks noChangeShapeType="1"/>
            </p:cNvSpPr>
            <p:nvPr/>
          </p:nvSpPr>
          <p:spPr bwMode="auto">
            <a:xfrm>
              <a:off x="1368" y="2161"/>
              <a:ext cx="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37"/>
            <p:cNvSpPr>
              <a:spLocks noChangeShapeType="1"/>
            </p:cNvSpPr>
            <p:nvPr/>
          </p:nvSpPr>
          <p:spPr bwMode="auto">
            <a:xfrm flipH="1">
              <a:off x="856" y="2377"/>
              <a:ext cx="5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Line 38"/>
            <p:cNvSpPr>
              <a:spLocks noChangeShapeType="1"/>
            </p:cNvSpPr>
            <p:nvPr/>
          </p:nvSpPr>
          <p:spPr bwMode="auto">
            <a:xfrm flipH="1">
              <a:off x="1512" y="2173"/>
              <a:ext cx="0" cy="4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Line 39"/>
            <p:cNvSpPr>
              <a:spLocks noChangeShapeType="1"/>
            </p:cNvSpPr>
            <p:nvPr/>
          </p:nvSpPr>
          <p:spPr bwMode="auto">
            <a:xfrm flipH="1">
              <a:off x="868" y="2581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7" name="Oval 40"/>
            <p:cNvSpPr>
              <a:spLocks noChangeArrowheads="1"/>
            </p:cNvSpPr>
            <p:nvPr/>
          </p:nvSpPr>
          <p:spPr bwMode="auto">
            <a:xfrm>
              <a:off x="3228" y="841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58" name="Oval 41"/>
            <p:cNvSpPr>
              <a:spLocks noChangeArrowheads="1"/>
            </p:cNvSpPr>
            <p:nvPr/>
          </p:nvSpPr>
          <p:spPr bwMode="auto">
            <a:xfrm>
              <a:off x="4608" y="2269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59" name="Oval 42"/>
            <p:cNvSpPr>
              <a:spLocks noChangeArrowheads="1"/>
            </p:cNvSpPr>
            <p:nvPr/>
          </p:nvSpPr>
          <p:spPr bwMode="auto">
            <a:xfrm>
              <a:off x="724" y="2089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60" name="Oval 43"/>
            <p:cNvSpPr>
              <a:spLocks noChangeArrowheads="1"/>
            </p:cNvSpPr>
            <p:nvPr/>
          </p:nvSpPr>
          <p:spPr bwMode="auto">
            <a:xfrm>
              <a:off x="736" y="2305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61" name="Oval 44"/>
            <p:cNvSpPr>
              <a:spLocks noChangeArrowheads="1"/>
            </p:cNvSpPr>
            <p:nvPr/>
          </p:nvSpPr>
          <p:spPr bwMode="auto">
            <a:xfrm>
              <a:off x="742" y="2515"/>
              <a:ext cx="120" cy="1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0762" name="Text Box 45"/>
            <p:cNvSpPr txBox="1">
              <a:spLocks noChangeArrowheads="1"/>
            </p:cNvSpPr>
            <p:nvPr/>
          </p:nvSpPr>
          <p:spPr bwMode="auto">
            <a:xfrm>
              <a:off x="3336" y="805"/>
              <a:ext cx="79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+5V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63" name="Text Box 46"/>
            <p:cNvSpPr txBox="1">
              <a:spLocks noChangeArrowheads="1"/>
            </p:cNvSpPr>
            <p:nvPr/>
          </p:nvSpPr>
          <p:spPr bwMode="auto">
            <a:xfrm>
              <a:off x="4740" y="2461"/>
              <a:ext cx="46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64" name="Text Box 47"/>
            <p:cNvSpPr txBox="1">
              <a:spLocks noChangeArrowheads="1"/>
            </p:cNvSpPr>
            <p:nvPr/>
          </p:nvSpPr>
          <p:spPr bwMode="auto">
            <a:xfrm>
              <a:off x="2904" y="1165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65" name="Text Box 48"/>
            <p:cNvSpPr txBox="1">
              <a:spLocks noChangeArrowheads="1"/>
            </p:cNvSpPr>
            <p:nvPr/>
          </p:nvSpPr>
          <p:spPr bwMode="auto">
            <a:xfrm>
              <a:off x="1824" y="949"/>
              <a:ext cx="6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66" name="Text Box 49"/>
            <p:cNvSpPr txBox="1">
              <a:spLocks noChangeArrowheads="1"/>
            </p:cNvSpPr>
            <p:nvPr/>
          </p:nvSpPr>
          <p:spPr bwMode="auto">
            <a:xfrm>
              <a:off x="1824" y="1309"/>
              <a:ext cx="7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3k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67" name="Text Box 50"/>
            <p:cNvSpPr txBox="1">
              <a:spLocks noChangeArrowheads="1"/>
            </p:cNvSpPr>
            <p:nvPr/>
          </p:nvSpPr>
          <p:spPr bwMode="auto">
            <a:xfrm>
              <a:off x="2796" y="2005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30768" name="Text Box 51"/>
            <p:cNvSpPr txBox="1">
              <a:spLocks noChangeArrowheads="1"/>
            </p:cNvSpPr>
            <p:nvPr/>
          </p:nvSpPr>
          <p:spPr bwMode="auto">
            <a:xfrm>
              <a:off x="2952" y="3049"/>
              <a:ext cx="6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69" name="Text Box 52"/>
            <p:cNvSpPr txBox="1">
              <a:spLocks noChangeArrowheads="1"/>
            </p:cNvSpPr>
            <p:nvPr/>
          </p:nvSpPr>
          <p:spPr bwMode="auto">
            <a:xfrm>
              <a:off x="1596" y="2161"/>
              <a:ext cx="45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T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70" name="Text Box 53"/>
            <p:cNvSpPr txBox="1">
              <a:spLocks noChangeArrowheads="1"/>
            </p:cNvSpPr>
            <p:nvPr/>
          </p:nvSpPr>
          <p:spPr bwMode="auto">
            <a:xfrm>
              <a:off x="4056" y="2641"/>
              <a:ext cx="4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T</a:t>
              </a:r>
              <a:r>
                <a:rPr lang="en-US" altLang="zh-CN" sz="2800" b="1" baseline="-25000">
                  <a:ea typeface="楷体_GB2312" pitchFamily="49" charset="-122"/>
                </a:rPr>
                <a:t>5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71" name="Text Box 54"/>
            <p:cNvSpPr txBox="1">
              <a:spLocks noChangeArrowheads="1"/>
            </p:cNvSpPr>
            <p:nvPr/>
          </p:nvSpPr>
          <p:spPr bwMode="auto">
            <a:xfrm>
              <a:off x="1764" y="1621"/>
              <a:ext cx="50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72" name="Text Box 55"/>
            <p:cNvSpPr txBox="1">
              <a:spLocks noChangeArrowheads="1"/>
            </p:cNvSpPr>
            <p:nvPr/>
          </p:nvSpPr>
          <p:spPr bwMode="auto">
            <a:xfrm>
              <a:off x="2040" y="1802"/>
              <a:ext cx="6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c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0773" name="Text Box 56"/>
            <p:cNvSpPr txBox="1">
              <a:spLocks noChangeArrowheads="1"/>
            </p:cNvSpPr>
            <p:nvPr/>
          </p:nvSpPr>
          <p:spPr bwMode="auto">
            <a:xfrm>
              <a:off x="412" y="1946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A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30774" name="Text Box 57"/>
            <p:cNvSpPr txBox="1">
              <a:spLocks noChangeArrowheads="1"/>
            </p:cNvSpPr>
            <p:nvPr/>
          </p:nvSpPr>
          <p:spPr bwMode="auto">
            <a:xfrm>
              <a:off x="412" y="2198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30775" name="Text Box 58"/>
            <p:cNvSpPr txBox="1">
              <a:spLocks noChangeArrowheads="1"/>
            </p:cNvSpPr>
            <p:nvPr/>
          </p:nvSpPr>
          <p:spPr bwMode="auto">
            <a:xfrm>
              <a:off x="412" y="2426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C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grpSp>
          <p:nvGrpSpPr>
            <p:cNvPr id="30776" name="Group 59"/>
            <p:cNvGrpSpPr/>
            <p:nvPr/>
          </p:nvGrpSpPr>
          <p:grpSpPr bwMode="auto">
            <a:xfrm>
              <a:off x="4014" y="2335"/>
              <a:ext cx="0" cy="253"/>
              <a:chOff x="4230" y="2538"/>
              <a:chExt cx="0" cy="253"/>
            </a:xfrm>
          </p:grpSpPr>
          <p:sp>
            <p:nvSpPr>
              <p:cNvPr id="30777" name="Line 60"/>
              <p:cNvSpPr>
                <a:spLocks noChangeShapeType="1"/>
              </p:cNvSpPr>
              <p:nvPr/>
            </p:nvSpPr>
            <p:spPr bwMode="auto">
              <a:xfrm flipH="1">
                <a:off x="4230" y="2538"/>
                <a:ext cx="0" cy="19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78" name="Line 61"/>
              <p:cNvSpPr>
                <a:spLocks noChangeShapeType="1"/>
              </p:cNvSpPr>
              <p:nvPr/>
            </p:nvSpPr>
            <p:spPr bwMode="auto">
              <a:xfrm>
                <a:off x="4230" y="2706"/>
                <a:ext cx="0" cy="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0723" name="Text Box 62"/>
          <p:cNvSpPr txBox="1">
            <a:spLocks noChangeArrowheads="1"/>
          </p:cNvSpPr>
          <p:nvPr/>
        </p:nvSpPr>
        <p:spPr bwMode="auto">
          <a:xfrm>
            <a:off x="977900" y="457200"/>
            <a:ext cx="6813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宋体" panose="02010600030101010101" pitchFamily="2" charset="-122"/>
              </a:rPr>
              <a:t>应用时输出端要接一上拉负载电阻</a:t>
            </a:r>
            <a:r>
              <a:rPr lang="en-US" altLang="zh-CN" sz="3200" b="1">
                <a:latin typeface="宋体" panose="02010600030101010101" pitchFamily="2" charset="-122"/>
              </a:rPr>
              <a:t>R</a:t>
            </a:r>
            <a:r>
              <a:rPr lang="en-US" altLang="zh-CN" sz="3200" b="1" baseline="-25000">
                <a:latin typeface="宋体" panose="02010600030101010101" pitchFamily="2" charset="-122"/>
              </a:rPr>
              <a:t>L</a:t>
            </a:r>
            <a:endParaRPr lang="en-US" altLang="zh-CN" sz="3200" b="1">
              <a:latin typeface="宋体" panose="02010600030101010101" pitchFamily="2" charset="-122"/>
            </a:endParaRPr>
          </a:p>
        </p:txBody>
      </p:sp>
      <p:grpSp>
        <p:nvGrpSpPr>
          <p:cNvPr id="271423" name="Group 63"/>
          <p:cNvGrpSpPr/>
          <p:nvPr/>
        </p:nvGrpSpPr>
        <p:grpSpPr bwMode="auto">
          <a:xfrm>
            <a:off x="6934200" y="1258888"/>
            <a:ext cx="1123950" cy="2455862"/>
            <a:chOff x="4368" y="793"/>
            <a:chExt cx="708" cy="1547"/>
          </a:xfrm>
        </p:grpSpPr>
        <p:grpSp>
          <p:nvGrpSpPr>
            <p:cNvPr id="30725" name="Group 64"/>
            <p:cNvGrpSpPr/>
            <p:nvPr/>
          </p:nvGrpSpPr>
          <p:grpSpPr bwMode="auto">
            <a:xfrm>
              <a:off x="4488" y="1009"/>
              <a:ext cx="576" cy="1331"/>
              <a:chOff x="4488" y="1009"/>
              <a:chExt cx="576" cy="1331"/>
            </a:xfrm>
          </p:grpSpPr>
          <p:sp>
            <p:nvSpPr>
              <p:cNvPr id="30727" name="Line 65"/>
              <p:cNvSpPr>
                <a:spLocks noChangeShapeType="1"/>
              </p:cNvSpPr>
              <p:nvPr/>
            </p:nvSpPr>
            <p:spPr bwMode="auto">
              <a:xfrm>
                <a:off x="4728" y="2328"/>
                <a:ext cx="252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28" name="Line 66"/>
              <p:cNvSpPr>
                <a:spLocks noChangeShapeType="1"/>
              </p:cNvSpPr>
              <p:nvPr/>
            </p:nvSpPr>
            <p:spPr bwMode="auto">
              <a:xfrm flipV="1">
                <a:off x="4980" y="1884"/>
                <a:ext cx="0" cy="45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29" name="Rectangle 67"/>
              <p:cNvSpPr>
                <a:spLocks noChangeArrowheads="1"/>
              </p:cNvSpPr>
              <p:nvPr/>
            </p:nvSpPr>
            <p:spPr bwMode="auto">
              <a:xfrm>
                <a:off x="4896" y="1392"/>
                <a:ext cx="168" cy="49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0730" name="Line 68"/>
              <p:cNvSpPr>
                <a:spLocks noChangeShapeType="1"/>
              </p:cNvSpPr>
              <p:nvPr/>
            </p:nvSpPr>
            <p:spPr bwMode="auto">
              <a:xfrm flipV="1">
                <a:off x="4980" y="1128"/>
                <a:ext cx="0" cy="26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31" name="Oval 69"/>
              <p:cNvSpPr>
                <a:spLocks noChangeArrowheads="1"/>
              </p:cNvSpPr>
              <p:nvPr/>
            </p:nvSpPr>
            <p:spPr bwMode="auto">
              <a:xfrm>
                <a:off x="4932" y="1009"/>
                <a:ext cx="96" cy="119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0732" name="Text Box 70"/>
              <p:cNvSpPr txBox="1">
                <a:spLocks noChangeArrowheads="1"/>
              </p:cNvSpPr>
              <p:nvPr/>
            </p:nvSpPr>
            <p:spPr bwMode="auto">
              <a:xfrm>
                <a:off x="4488" y="1464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solidFill>
                      <a:srgbClr val="FF0000"/>
                    </a:solidFill>
                    <a:ea typeface="楷体_GB2312" pitchFamily="49" charset="-122"/>
                  </a:rPr>
                  <a:t>R</a:t>
                </a:r>
                <a:r>
                  <a:rPr lang="en-US" altLang="zh-CN" sz="3200" b="1" baseline="-25000">
                    <a:solidFill>
                      <a:srgbClr val="FF0000"/>
                    </a:solidFill>
                    <a:ea typeface="楷体_GB2312" pitchFamily="49" charset="-122"/>
                  </a:rPr>
                  <a:t>L</a:t>
                </a:r>
                <a:endParaRPr lang="en-US" altLang="zh-CN" sz="3200" b="1">
                  <a:solidFill>
                    <a:srgbClr val="FF0000"/>
                  </a:solidFill>
                  <a:ea typeface="楷体_GB2312" pitchFamily="49" charset="-122"/>
                </a:endParaRPr>
              </a:p>
            </p:txBody>
          </p:sp>
        </p:grpSp>
        <p:sp>
          <p:nvSpPr>
            <p:cNvPr id="30726" name="Text Box 71"/>
            <p:cNvSpPr txBox="1">
              <a:spLocks noChangeArrowheads="1"/>
            </p:cNvSpPr>
            <p:nvPr/>
          </p:nvSpPr>
          <p:spPr bwMode="auto">
            <a:xfrm>
              <a:off x="4368" y="793"/>
              <a:ext cx="7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solidFill>
                    <a:srgbClr val="FF0000"/>
                  </a:solidFill>
                  <a:ea typeface="楷体_GB2312" pitchFamily="49" charset="-122"/>
                </a:rPr>
                <a:t>U</a:t>
              </a:r>
              <a:r>
                <a:rPr lang="en-US" altLang="zh-CN" sz="3200" b="1" baseline="-25000">
                  <a:solidFill>
                    <a:srgbClr val="FF0000"/>
                  </a:solidFill>
                  <a:ea typeface="楷体_GB2312" pitchFamily="49" charset="-122"/>
                </a:rPr>
                <a:t>CC</a:t>
              </a:r>
              <a:endParaRPr lang="en-US" altLang="zh-CN" sz="32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481013" y="630238"/>
            <a:ext cx="7804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 b="1">
                <a:latin typeface="宋体" panose="02010600030101010101" pitchFamily="2" charset="-122"/>
              </a:rPr>
              <a:t>1</a:t>
            </a:r>
            <a:r>
              <a:rPr lang="zh-CN" altLang="en-US" sz="3200" b="1">
                <a:latin typeface="宋体" panose="02010600030101010101" pitchFamily="2" charset="-122"/>
              </a:rPr>
              <a:t>）、</a:t>
            </a:r>
            <a:r>
              <a:rPr lang="en-US" altLang="zh-CN" sz="3200" b="1">
                <a:latin typeface="宋体" panose="02010600030101010101" pitchFamily="2" charset="-122"/>
              </a:rPr>
              <a:t>OC</a:t>
            </a:r>
            <a:r>
              <a:rPr lang="zh-CN" altLang="en-US" sz="3200" b="1">
                <a:latin typeface="宋体" panose="02010600030101010101" pitchFamily="2" charset="-122"/>
              </a:rPr>
              <a:t>门可以实现“线与”功能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sp>
        <p:nvSpPr>
          <p:cNvPr id="31747" name="Text Box 39"/>
          <p:cNvSpPr txBox="1">
            <a:spLocks noChangeArrowheads="1"/>
          </p:cNvSpPr>
          <p:nvPr/>
        </p:nvSpPr>
        <p:spPr bwMode="auto">
          <a:xfrm>
            <a:off x="5734050" y="2609850"/>
            <a:ext cx="1104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F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272426" name="Text Box 42"/>
          <p:cNvSpPr txBox="1">
            <a:spLocks noChangeArrowheads="1"/>
          </p:cNvSpPr>
          <p:nvPr/>
        </p:nvSpPr>
        <p:spPr bwMode="auto">
          <a:xfrm>
            <a:off x="5143500" y="5859463"/>
            <a:ext cx="1962150" cy="6175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F=F</a:t>
            </a:r>
            <a:r>
              <a:rPr lang="en-US" altLang="zh-CN" sz="3200" b="1" baseline="-25000">
                <a:solidFill>
                  <a:srgbClr val="FF0000"/>
                </a:solidFill>
                <a:ea typeface="楷体_GB2312" pitchFamily="49" charset="-122"/>
              </a:rPr>
              <a:t>1</a:t>
            </a: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en-US" altLang="zh-CN" sz="3200" b="1" baseline="-25000">
                <a:solidFill>
                  <a:srgbClr val="FF0000"/>
                </a:solidFill>
                <a:ea typeface="楷体_GB2312" pitchFamily="49" charset="-122"/>
              </a:rPr>
              <a:t>2</a:t>
            </a:r>
            <a:r>
              <a:rPr lang="en-US" altLang="zh-CN" sz="3200" b="1">
                <a:solidFill>
                  <a:srgbClr val="FF0000"/>
                </a:solidFill>
                <a:ea typeface="楷体_GB2312" pitchFamily="49" charset="-122"/>
              </a:rPr>
              <a:t>F</a:t>
            </a:r>
            <a:r>
              <a:rPr lang="en-US" altLang="zh-CN" sz="3200" b="1" baseline="-25000">
                <a:solidFill>
                  <a:srgbClr val="FF0000"/>
                </a:solidFill>
                <a:ea typeface="楷体_GB2312" pitchFamily="49" charset="-122"/>
              </a:rPr>
              <a:t>3</a:t>
            </a:r>
            <a:endParaRPr lang="en-US" altLang="zh-CN" sz="3200" b="1">
              <a:solidFill>
                <a:srgbClr val="FF0000"/>
              </a:solidFill>
              <a:ea typeface="楷体_GB2312" pitchFamily="49" charset="-122"/>
            </a:endParaRPr>
          </a:p>
        </p:txBody>
      </p:sp>
      <p:grpSp>
        <p:nvGrpSpPr>
          <p:cNvPr id="272428" name="Group 44"/>
          <p:cNvGrpSpPr/>
          <p:nvPr/>
        </p:nvGrpSpPr>
        <p:grpSpPr bwMode="auto">
          <a:xfrm>
            <a:off x="5238750" y="3467100"/>
            <a:ext cx="1847850" cy="647700"/>
            <a:chOff x="2772" y="2196"/>
            <a:chExt cx="1164" cy="408"/>
          </a:xfrm>
        </p:grpSpPr>
        <p:sp>
          <p:nvSpPr>
            <p:cNvPr id="31837" name="Line 45"/>
            <p:cNvSpPr>
              <a:spLocks noChangeShapeType="1"/>
            </p:cNvSpPr>
            <p:nvPr/>
          </p:nvSpPr>
          <p:spPr bwMode="auto">
            <a:xfrm>
              <a:off x="2832" y="2604"/>
              <a:ext cx="8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38" name="Text Box 46"/>
            <p:cNvSpPr txBox="1">
              <a:spLocks noChangeArrowheads="1"/>
            </p:cNvSpPr>
            <p:nvPr/>
          </p:nvSpPr>
          <p:spPr bwMode="auto">
            <a:xfrm>
              <a:off x="2772" y="2196"/>
              <a:ext cx="116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solidFill>
                    <a:srgbClr val="FF0000"/>
                  </a:solidFill>
                  <a:ea typeface="楷体_GB2312" pitchFamily="49" charset="-122"/>
                </a:rPr>
                <a:t>输出级</a:t>
              </a:r>
              <a:endParaRPr lang="zh-CN" altLang="en-US" sz="3200" b="1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</p:grpSp>
      <p:sp>
        <p:nvSpPr>
          <p:cNvPr id="31750" name="Text Box 84"/>
          <p:cNvSpPr txBox="1">
            <a:spLocks noChangeArrowheads="1"/>
          </p:cNvSpPr>
          <p:nvPr/>
        </p:nvSpPr>
        <p:spPr bwMode="auto">
          <a:xfrm>
            <a:off x="-38100" y="1898650"/>
            <a:ext cx="2767013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ea typeface="楷体_GB2312" pitchFamily="49" charset="-122"/>
              </a:rPr>
              <a:t>N</a:t>
            </a:r>
            <a:r>
              <a:rPr lang="zh-CN" altLang="en-US" sz="2800" b="1">
                <a:ea typeface="楷体_GB2312" pitchFamily="49" charset="-122"/>
              </a:rPr>
              <a:t>个</a:t>
            </a:r>
            <a:r>
              <a:rPr lang="en-US" altLang="zh-CN" sz="2800" b="1">
                <a:ea typeface="楷体_GB2312" pitchFamily="49" charset="-122"/>
              </a:rPr>
              <a:t>oc</a:t>
            </a:r>
            <a:r>
              <a:rPr lang="zh-CN" altLang="en-US" sz="2800" b="1">
                <a:ea typeface="楷体_GB2312" pitchFamily="49" charset="-122"/>
              </a:rPr>
              <a:t>门的输出</a:t>
            </a:r>
            <a:endParaRPr lang="zh-CN" altLang="en-US" sz="2800" b="1">
              <a:ea typeface="楷体_GB2312" pitchFamily="49" charset="-122"/>
            </a:endParaRPr>
          </a:p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端直接并联后可</a:t>
            </a:r>
            <a:endParaRPr lang="zh-CN" altLang="en-US" sz="2800" b="1">
              <a:ea typeface="楷体_GB2312" pitchFamily="49" charset="-122"/>
            </a:endParaRPr>
          </a:p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共用一个集电极</a:t>
            </a:r>
            <a:endParaRPr lang="zh-CN" altLang="en-US" sz="2800" b="1">
              <a:ea typeface="楷体_GB2312" pitchFamily="49" charset="-122"/>
            </a:endParaRPr>
          </a:p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负载电阻         和</a:t>
            </a:r>
            <a:endParaRPr lang="zh-CN" altLang="en-US" sz="2800" b="1">
              <a:ea typeface="楷体_GB2312" pitchFamily="49" charset="-122"/>
            </a:endParaRPr>
          </a:p>
          <a:p>
            <a:pPr algn="ctr" eaLnBrk="1" hangingPunct="1"/>
            <a:r>
              <a:rPr lang="zh-CN" altLang="en-US" sz="2800" b="1">
                <a:ea typeface="楷体_GB2312" pitchFamily="49" charset="-122"/>
              </a:rPr>
              <a:t>电源</a:t>
            </a:r>
            <a:r>
              <a:rPr lang="zh-CN" altLang="en-US" sz="2800" b="1">
                <a:solidFill>
                  <a:srgbClr val="0099FF"/>
                </a:solidFill>
                <a:ea typeface="楷体_GB2312" pitchFamily="49" charset="-122"/>
              </a:rPr>
              <a:t>                    </a:t>
            </a:r>
            <a:endParaRPr lang="zh-CN" altLang="en-US" sz="2800" b="1">
              <a:solidFill>
                <a:srgbClr val="0099FF"/>
              </a:solidFill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51" name="Object 85"/>
              <p:cNvSpPr txBox="1"/>
              <p:nvPr/>
            </p:nvSpPr>
            <p:spPr bwMode="auto">
              <a:xfrm>
                <a:off x="863600" y="3644900"/>
                <a:ext cx="649288" cy="454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𝑉𝐶𝐶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1751" name="Object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3600" y="3644900"/>
                <a:ext cx="649288" cy="454025"/>
              </a:xfrm>
              <a:prstGeom prst="rect">
                <a:avLst/>
              </a:prstGeom>
              <a:blipFill rotWithShape="1">
                <a:blip r:embed="rId1"/>
                <a:stretch>
                  <a:fillRect r="4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752" name="Group 99"/>
          <p:cNvGrpSpPr/>
          <p:nvPr/>
        </p:nvGrpSpPr>
        <p:grpSpPr bwMode="auto">
          <a:xfrm>
            <a:off x="1631950" y="1106488"/>
            <a:ext cx="4025900" cy="5468937"/>
            <a:chOff x="1028" y="697"/>
            <a:chExt cx="2536" cy="3445"/>
          </a:xfrm>
        </p:grpSpPr>
        <p:sp>
          <p:nvSpPr>
            <p:cNvPr id="31795" name="Rectangle 5"/>
            <p:cNvSpPr>
              <a:spLocks noChangeArrowheads="1"/>
            </p:cNvSpPr>
            <p:nvPr/>
          </p:nvSpPr>
          <p:spPr bwMode="auto">
            <a:xfrm>
              <a:off x="2088" y="3337"/>
              <a:ext cx="504" cy="8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796" name="Oval 6"/>
            <p:cNvSpPr>
              <a:spLocks noChangeArrowheads="1"/>
            </p:cNvSpPr>
            <p:nvPr/>
          </p:nvSpPr>
          <p:spPr bwMode="auto">
            <a:xfrm>
              <a:off x="2604" y="3685"/>
              <a:ext cx="96" cy="1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797" name="Text Box 7"/>
            <p:cNvSpPr txBox="1">
              <a:spLocks noChangeArrowheads="1"/>
            </p:cNvSpPr>
            <p:nvPr/>
          </p:nvSpPr>
          <p:spPr bwMode="auto">
            <a:xfrm>
              <a:off x="2088" y="3313"/>
              <a:ext cx="3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&amp;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1798" name="Line 8"/>
            <p:cNvSpPr>
              <a:spLocks noChangeShapeType="1"/>
            </p:cNvSpPr>
            <p:nvPr/>
          </p:nvSpPr>
          <p:spPr bwMode="auto">
            <a:xfrm>
              <a:off x="1896" y="3481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99" name="Line 9"/>
            <p:cNvSpPr>
              <a:spLocks noChangeShapeType="1"/>
            </p:cNvSpPr>
            <p:nvPr/>
          </p:nvSpPr>
          <p:spPr bwMode="auto">
            <a:xfrm>
              <a:off x="1896" y="374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0" name="Line 10"/>
            <p:cNvSpPr>
              <a:spLocks noChangeShapeType="1"/>
            </p:cNvSpPr>
            <p:nvPr/>
          </p:nvSpPr>
          <p:spPr bwMode="auto">
            <a:xfrm>
              <a:off x="1896" y="3973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1" name="Line 11"/>
            <p:cNvSpPr>
              <a:spLocks noChangeShapeType="1"/>
            </p:cNvSpPr>
            <p:nvPr/>
          </p:nvSpPr>
          <p:spPr bwMode="auto">
            <a:xfrm>
              <a:off x="2688" y="3733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2" name="Rectangle 14"/>
            <p:cNvSpPr>
              <a:spLocks noChangeArrowheads="1"/>
            </p:cNvSpPr>
            <p:nvPr/>
          </p:nvSpPr>
          <p:spPr bwMode="auto">
            <a:xfrm>
              <a:off x="2088" y="2377"/>
              <a:ext cx="504" cy="8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803" name="Oval 15"/>
            <p:cNvSpPr>
              <a:spLocks noChangeArrowheads="1"/>
            </p:cNvSpPr>
            <p:nvPr/>
          </p:nvSpPr>
          <p:spPr bwMode="auto">
            <a:xfrm>
              <a:off x="2604" y="2725"/>
              <a:ext cx="96" cy="1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804" name="Text Box 16"/>
            <p:cNvSpPr txBox="1">
              <a:spLocks noChangeArrowheads="1"/>
            </p:cNvSpPr>
            <p:nvPr/>
          </p:nvSpPr>
          <p:spPr bwMode="auto">
            <a:xfrm>
              <a:off x="2088" y="2353"/>
              <a:ext cx="3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&amp;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1805" name="Line 17"/>
            <p:cNvSpPr>
              <a:spLocks noChangeShapeType="1"/>
            </p:cNvSpPr>
            <p:nvPr/>
          </p:nvSpPr>
          <p:spPr bwMode="auto">
            <a:xfrm>
              <a:off x="1896" y="2521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6" name="Line 18"/>
            <p:cNvSpPr>
              <a:spLocks noChangeShapeType="1"/>
            </p:cNvSpPr>
            <p:nvPr/>
          </p:nvSpPr>
          <p:spPr bwMode="auto">
            <a:xfrm>
              <a:off x="1896" y="278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7" name="Line 19"/>
            <p:cNvSpPr>
              <a:spLocks noChangeShapeType="1"/>
            </p:cNvSpPr>
            <p:nvPr/>
          </p:nvSpPr>
          <p:spPr bwMode="auto">
            <a:xfrm>
              <a:off x="1896" y="3013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8" name="Line 20"/>
            <p:cNvSpPr>
              <a:spLocks noChangeShapeType="1"/>
            </p:cNvSpPr>
            <p:nvPr/>
          </p:nvSpPr>
          <p:spPr bwMode="auto">
            <a:xfrm>
              <a:off x="2688" y="2773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09" name="Rectangle 23"/>
            <p:cNvSpPr>
              <a:spLocks noChangeArrowheads="1"/>
            </p:cNvSpPr>
            <p:nvPr/>
          </p:nvSpPr>
          <p:spPr bwMode="auto">
            <a:xfrm>
              <a:off x="2087" y="1409"/>
              <a:ext cx="504" cy="8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810" name="Oval 24"/>
            <p:cNvSpPr>
              <a:spLocks noChangeArrowheads="1"/>
            </p:cNvSpPr>
            <p:nvPr/>
          </p:nvSpPr>
          <p:spPr bwMode="auto">
            <a:xfrm>
              <a:off x="2603" y="1757"/>
              <a:ext cx="96" cy="1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811" name="Text Box 25"/>
            <p:cNvSpPr txBox="1">
              <a:spLocks noChangeArrowheads="1"/>
            </p:cNvSpPr>
            <p:nvPr/>
          </p:nvSpPr>
          <p:spPr bwMode="auto">
            <a:xfrm>
              <a:off x="2087" y="1385"/>
              <a:ext cx="3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&amp;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1812" name="Line 26"/>
            <p:cNvSpPr>
              <a:spLocks noChangeShapeType="1"/>
            </p:cNvSpPr>
            <p:nvPr/>
          </p:nvSpPr>
          <p:spPr bwMode="auto">
            <a:xfrm>
              <a:off x="1895" y="1553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3" name="Line 27"/>
            <p:cNvSpPr>
              <a:spLocks noChangeShapeType="1"/>
            </p:cNvSpPr>
            <p:nvPr/>
          </p:nvSpPr>
          <p:spPr bwMode="auto">
            <a:xfrm>
              <a:off x="1895" y="1817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4" name="Line 28"/>
            <p:cNvSpPr>
              <a:spLocks noChangeShapeType="1"/>
            </p:cNvSpPr>
            <p:nvPr/>
          </p:nvSpPr>
          <p:spPr bwMode="auto">
            <a:xfrm>
              <a:off x="1895" y="204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5" name="Line 29"/>
            <p:cNvSpPr>
              <a:spLocks noChangeShapeType="1"/>
            </p:cNvSpPr>
            <p:nvPr/>
          </p:nvSpPr>
          <p:spPr bwMode="auto">
            <a:xfrm>
              <a:off x="2687" y="1805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6" name="Line 31"/>
            <p:cNvSpPr>
              <a:spLocks noChangeShapeType="1"/>
            </p:cNvSpPr>
            <p:nvPr/>
          </p:nvSpPr>
          <p:spPr bwMode="auto">
            <a:xfrm flipV="1">
              <a:off x="3108" y="1584"/>
              <a:ext cx="0" cy="21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7" name="Rectangle 32"/>
            <p:cNvSpPr>
              <a:spLocks noChangeArrowheads="1"/>
            </p:cNvSpPr>
            <p:nvPr/>
          </p:nvSpPr>
          <p:spPr bwMode="auto">
            <a:xfrm>
              <a:off x="3024" y="1116"/>
              <a:ext cx="180" cy="46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818" name="Line 33"/>
            <p:cNvSpPr>
              <a:spLocks noChangeShapeType="1"/>
            </p:cNvSpPr>
            <p:nvPr/>
          </p:nvSpPr>
          <p:spPr bwMode="auto">
            <a:xfrm flipV="1">
              <a:off x="3108" y="888"/>
              <a:ext cx="0" cy="22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19" name="Oval 34"/>
            <p:cNvSpPr>
              <a:spLocks noChangeArrowheads="1"/>
            </p:cNvSpPr>
            <p:nvPr/>
          </p:nvSpPr>
          <p:spPr bwMode="auto">
            <a:xfrm>
              <a:off x="3060" y="805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820" name="Text Box 35"/>
            <p:cNvSpPr txBox="1">
              <a:spLocks noChangeArrowheads="1"/>
            </p:cNvSpPr>
            <p:nvPr/>
          </p:nvSpPr>
          <p:spPr bwMode="auto">
            <a:xfrm>
              <a:off x="2544" y="697"/>
              <a:ext cx="60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U</a:t>
              </a:r>
              <a:r>
                <a:rPr lang="en-US" altLang="zh-CN" sz="2800" b="1" baseline="-25000">
                  <a:ea typeface="楷体_GB2312" pitchFamily="49" charset="-122"/>
                </a:rPr>
                <a:t>CC</a:t>
              </a:r>
              <a:endParaRPr lang="en-US" altLang="zh-CN" sz="2800" b="1">
                <a:ea typeface="楷体_GB2312" pitchFamily="49" charset="-122"/>
              </a:endParaRPr>
            </a:p>
          </p:txBody>
        </p:sp>
        <p:sp>
          <p:nvSpPr>
            <p:cNvPr id="31821" name="Text Box 36"/>
            <p:cNvSpPr txBox="1">
              <a:spLocks noChangeArrowheads="1"/>
            </p:cNvSpPr>
            <p:nvPr/>
          </p:nvSpPr>
          <p:spPr bwMode="auto">
            <a:xfrm>
              <a:off x="2688" y="1932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F</a:t>
              </a:r>
              <a:r>
                <a:rPr lang="en-US" altLang="zh-CN" sz="28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1822" name="Text Box 37"/>
            <p:cNvSpPr txBox="1">
              <a:spLocks noChangeArrowheads="1"/>
            </p:cNvSpPr>
            <p:nvPr/>
          </p:nvSpPr>
          <p:spPr bwMode="auto">
            <a:xfrm>
              <a:off x="2712" y="2796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F</a:t>
              </a:r>
              <a:r>
                <a:rPr lang="en-US" altLang="zh-CN" sz="28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1823" name="Text Box 38"/>
            <p:cNvSpPr txBox="1">
              <a:spLocks noChangeArrowheads="1"/>
            </p:cNvSpPr>
            <p:nvPr/>
          </p:nvSpPr>
          <p:spPr bwMode="auto">
            <a:xfrm>
              <a:off x="2736" y="3744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F</a:t>
              </a:r>
              <a:r>
                <a:rPr lang="en-US" altLang="zh-CN" sz="28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1824" name="Line 40"/>
            <p:cNvSpPr>
              <a:spLocks noChangeShapeType="1"/>
            </p:cNvSpPr>
            <p:nvPr/>
          </p:nvSpPr>
          <p:spPr bwMode="auto">
            <a:xfrm>
              <a:off x="3096" y="1800"/>
              <a:ext cx="3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25" name="Oval 41"/>
            <p:cNvSpPr>
              <a:spLocks noChangeArrowheads="1"/>
            </p:cNvSpPr>
            <p:nvPr/>
          </p:nvSpPr>
          <p:spPr bwMode="auto">
            <a:xfrm>
              <a:off x="3468" y="1753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826" name="Text Box 43"/>
            <p:cNvSpPr txBox="1">
              <a:spLocks noChangeArrowheads="1"/>
            </p:cNvSpPr>
            <p:nvPr/>
          </p:nvSpPr>
          <p:spPr bwMode="auto">
            <a:xfrm>
              <a:off x="2400" y="1080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R</a:t>
              </a:r>
              <a:r>
                <a:rPr lang="en-US" altLang="zh-CN" sz="2800" b="1" baseline="-25000">
                  <a:ea typeface="楷体_GB2312" pitchFamily="49" charset="-122"/>
                </a:rPr>
                <a:t>L</a:t>
              </a:r>
              <a:endParaRPr lang="en-US" altLang="zh-CN" sz="2800" b="1">
                <a:ea typeface="楷体_GB2312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827" name="Object 86"/>
                <p:cNvSpPr txBox="1"/>
                <p:nvPr/>
              </p:nvSpPr>
              <p:spPr bwMode="auto">
                <a:xfrm>
                  <a:off x="1028" y="2012"/>
                  <a:ext cx="369" cy="2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𝑅𝐿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1827" name="Object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8" y="2012"/>
                  <a:ext cx="369" cy="299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828" name="Group 91"/>
            <p:cNvGrpSpPr/>
            <p:nvPr/>
          </p:nvGrpSpPr>
          <p:grpSpPr bwMode="auto">
            <a:xfrm>
              <a:off x="2288" y="3719"/>
              <a:ext cx="196" cy="206"/>
              <a:chOff x="634" y="2633"/>
              <a:chExt cx="196" cy="206"/>
            </a:xfrm>
          </p:grpSpPr>
          <p:sp useBgFill="1">
            <p:nvSpPr>
              <p:cNvPr id="31835" name="AutoShape 88"/>
              <p:cNvSpPr>
                <a:spLocks noChangeArrowheads="1"/>
              </p:cNvSpPr>
              <p:nvPr/>
            </p:nvSpPr>
            <p:spPr bwMode="auto">
              <a:xfrm>
                <a:off x="634" y="2633"/>
                <a:ext cx="188" cy="198"/>
              </a:xfrm>
              <a:prstGeom prst="diamond">
                <a:avLst/>
              </a:prstGeom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1836" name="Line 90"/>
              <p:cNvSpPr>
                <a:spLocks noChangeShapeType="1"/>
              </p:cNvSpPr>
              <p:nvPr/>
            </p:nvSpPr>
            <p:spPr bwMode="auto">
              <a:xfrm>
                <a:off x="641" y="2839"/>
                <a:ext cx="1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829" name="Group 92"/>
            <p:cNvGrpSpPr/>
            <p:nvPr/>
          </p:nvGrpSpPr>
          <p:grpSpPr bwMode="auto">
            <a:xfrm>
              <a:off x="2325" y="2793"/>
              <a:ext cx="196" cy="206"/>
              <a:chOff x="634" y="2633"/>
              <a:chExt cx="196" cy="206"/>
            </a:xfrm>
          </p:grpSpPr>
          <p:sp useBgFill="1">
            <p:nvSpPr>
              <p:cNvPr id="31833" name="AutoShape 93"/>
              <p:cNvSpPr>
                <a:spLocks noChangeArrowheads="1"/>
              </p:cNvSpPr>
              <p:nvPr/>
            </p:nvSpPr>
            <p:spPr bwMode="auto">
              <a:xfrm>
                <a:off x="634" y="2633"/>
                <a:ext cx="188" cy="198"/>
              </a:xfrm>
              <a:prstGeom prst="diamond">
                <a:avLst/>
              </a:prstGeom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1834" name="Line 94"/>
              <p:cNvSpPr>
                <a:spLocks noChangeShapeType="1"/>
              </p:cNvSpPr>
              <p:nvPr/>
            </p:nvSpPr>
            <p:spPr bwMode="auto">
              <a:xfrm>
                <a:off x="641" y="2839"/>
                <a:ext cx="1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830" name="Group 95"/>
            <p:cNvGrpSpPr/>
            <p:nvPr/>
          </p:nvGrpSpPr>
          <p:grpSpPr bwMode="auto">
            <a:xfrm>
              <a:off x="2247" y="1884"/>
              <a:ext cx="196" cy="206"/>
              <a:chOff x="634" y="2633"/>
              <a:chExt cx="196" cy="206"/>
            </a:xfrm>
          </p:grpSpPr>
          <p:sp useBgFill="1">
            <p:nvSpPr>
              <p:cNvPr id="31831" name="AutoShape 96"/>
              <p:cNvSpPr>
                <a:spLocks noChangeArrowheads="1"/>
              </p:cNvSpPr>
              <p:nvPr/>
            </p:nvSpPr>
            <p:spPr bwMode="auto">
              <a:xfrm>
                <a:off x="634" y="2633"/>
                <a:ext cx="188" cy="198"/>
              </a:xfrm>
              <a:prstGeom prst="diamond">
                <a:avLst/>
              </a:prstGeom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1832" name="Line 97"/>
              <p:cNvSpPr>
                <a:spLocks noChangeShapeType="1"/>
              </p:cNvSpPr>
              <p:nvPr/>
            </p:nvSpPr>
            <p:spPr bwMode="auto">
              <a:xfrm>
                <a:off x="641" y="2839"/>
                <a:ext cx="1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72489" name="Group 105"/>
          <p:cNvGrpSpPr/>
          <p:nvPr/>
        </p:nvGrpSpPr>
        <p:grpSpPr bwMode="auto">
          <a:xfrm>
            <a:off x="7080250" y="1316038"/>
            <a:ext cx="2063750" cy="4913312"/>
            <a:chOff x="4460" y="829"/>
            <a:chExt cx="1300" cy="3095"/>
          </a:xfrm>
        </p:grpSpPr>
        <p:grpSp>
          <p:nvGrpSpPr>
            <p:cNvPr id="31756" name="Group 47"/>
            <p:cNvGrpSpPr/>
            <p:nvPr/>
          </p:nvGrpSpPr>
          <p:grpSpPr bwMode="auto">
            <a:xfrm>
              <a:off x="4460" y="829"/>
              <a:ext cx="1300" cy="3095"/>
              <a:chOff x="4044" y="673"/>
              <a:chExt cx="1300" cy="3095"/>
            </a:xfrm>
          </p:grpSpPr>
          <p:grpSp>
            <p:nvGrpSpPr>
              <p:cNvPr id="31759" name="Group 48"/>
              <p:cNvGrpSpPr/>
              <p:nvPr/>
            </p:nvGrpSpPr>
            <p:grpSpPr bwMode="auto">
              <a:xfrm>
                <a:off x="4044" y="673"/>
                <a:ext cx="1300" cy="3095"/>
                <a:chOff x="4044" y="673"/>
                <a:chExt cx="1300" cy="3095"/>
              </a:xfrm>
            </p:grpSpPr>
            <p:grpSp>
              <p:nvGrpSpPr>
                <p:cNvPr id="31763" name="Group 49"/>
                <p:cNvGrpSpPr/>
                <p:nvPr/>
              </p:nvGrpSpPr>
              <p:grpSpPr bwMode="auto">
                <a:xfrm>
                  <a:off x="4044" y="1812"/>
                  <a:ext cx="840" cy="576"/>
                  <a:chOff x="3864" y="1272"/>
                  <a:chExt cx="840" cy="576"/>
                </a:xfrm>
              </p:grpSpPr>
              <p:sp>
                <p:nvSpPr>
                  <p:cNvPr id="31788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4044" y="1308"/>
                    <a:ext cx="0" cy="3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9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032" y="1500"/>
                    <a:ext cx="300" cy="22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0" name="Line 5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32" y="1272"/>
                    <a:ext cx="300" cy="22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1" name="Line 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64" y="1500"/>
                    <a:ext cx="16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2" name="Line 54"/>
                  <p:cNvSpPr>
                    <a:spLocks noChangeShapeType="1"/>
                  </p:cNvSpPr>
                  <p:nvPr/>
                </p:nvSpPr>
                <p:spPr bwMode="auto">
                  <a:xfrm>
                    <a:off x="4296" y="1716"/>
                    <a:ext cx="0" cy="13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3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848"/>
                    <a:ext cx="22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94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4308" y="1284"/>
                    <a:ext cx="3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64" name="Group 57"/>
                <p:cNvGrpSpPr/>
                <p:nvPr/>
              </p:nvGrpSpPr>
              <p:grpSpPr bwMode="auto">
                <a:xfrm>
                  <a:off x="4044" y="2496"/>
                  <a:ext cx="840" cy="576"/>
                  <a:chOff x="3864" y="1272"/>
                  <a:chExt cx="840" cy="576"/>
                </a:xfrm>
              </p:grpSpPr>
              <p:sp>
                <p:nvSpPr>
                  <p:cNvPr id="31781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044" y="1308"/>
                    <a:ext cx="0" cy="3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2" name="Line 59"/>
                  <p:cNvSpPr>
                    <a:spLocks noChangeShapeType="1"/>
                  </p:cNvSpPr>
                  <p:nvPr/>
                </p:nvSpPr>
                <p:spPr bwMode="auto">
                  <a:xfrm>
                    <a:off x="4032" y="1500"/>
                    <a:ext cx="300" cy="22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3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32" y="1272"/>
                    <a:ext cx="300" cy="22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4" name="Line 6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64" y="1500"/>
                    <a:ext cx="16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5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4296" y="1716"/>
                    <a:ext cx="0" cy="13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6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848"/>
                    <a:ext cx="22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7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4308" y="1284"/>
                    <a:ext cx="3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65" name="Group 65"/>
                <p:cNvGrpSpPr/>
                <p:nvPr/>
              </p:nvGrpSpPr>
              <p:grpSpPr bwMode="auto">
                <a:xfrm>
                  <a:off x="4044" y="3192"/>
                  <a:ext cx="840" cy="576"/>
                  <a:chOff x="3864" y="1272"/>
                  <a:chExt cx="840" cy="576"/>
                </a:xfrm>
              </p:grpSpPr>
              <p:sp>
                <p:nvSpPr>
                  <p:cNvPr id="31774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4044" y="1308"/>
                    <a:ext cx="0" cy="3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5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4032" y="1500"/>
                    <a:ext cx="300" cy="22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6" name="Line 6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32" y="1272"/>
                    <a:ext cx="300" cy="228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7" name="Line 6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864" y="1500"/>
                    <a:ext cx="16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8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4296" y="1716"/>
                    <a:ext cx="0" cy="13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79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4176" y="1848"/>
                    <a:ext cx="228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80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4308" y="1284"/>
                    <a:ext cx="39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766" name="Rectangle 73"/>
                <p:cNvSpPr>
                  <a:spLocks noChangeArrowheads="1"/>
                </p:cNvSpPr>
                <p:nvPr/>
              </p:nvSpPr>
              <p:spPr bwMode="auto">
                <a:xfrm>
                  <a:off x="4792" y="1092"/>
                  <a:ext cx="180" cy="468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1767" name="Line 74"/>
                <p:cNvSpPr>
                  <a:spLocks noChangeShapeType="1"/>
                </p:cNvSpPr>
                <p:nvPr/>
              </p:nvSpPr>
              <p:spPr bwMode="auto">
                <a:xfrm flipV="1">
                  <a:off x="4876" y="864"/>
                  <a:ext cx="0" cy="2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8" name="Oval 75"/>
                <p:cNvSpPr>
                  <a:spLocks noChangeArrowheads="1"/>
                </p:cNvSpPr>
                <p:nvPr/>
              </p:nvSpPr>
              <p:spPr bwMode="auto">
                <a:xfrm>
                  <a:off x="4828" y="781"/>
                  <a:ext cx="96" cy="9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1769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312" y="673"/>
                  <a:ext cx="60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U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CC</a:t>
                  </a:r>
                  <a:endParaRPr lang="en-US" altLang="zh-CN" sz="2800" b="1">
                    <a:ea typeface="楷体_GB2312" pitchFamily="49" charset="-122"/>
                  </a:endParaRPr>
                </a:p>
              </p:txBody>
            </p:sp>
            <p:sp>
              <p:nvSpPr>
                <p:cNvPr id="31770" name="Line 77"/>
                <p:cNvSpPr>
                  <a:spLocks noChangeShapeType="1"/>
                </p:cNvSpPr>
                <p:nvPr/>
              </p:nvSpPr>
              <p:spPr bwMode="auto">
                <a:xfrm>
                  <a:off x="4876" y="1560"/>
                  <a:ext cx="0" cy="165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1" name="Line 78"/>
                <p:cNvSpPr>
                  <a:spLocks noChangeShapeType="1"/>
                </p:cNvSpPr>
                <p:nvPr/>
              </p:nvSpPr>
              <p:spPr bwMode="auto">
                <a:xfrm>
                  <a:off x="4876" y="1824"/>
                  <a:ext cx="37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2" name="Oval 79"/>
                <p:cNvSpPr>
                  <a:spLocks noChangeArrowheads="1"/>
                </p:cNvSpPr>
                <p:nvPr/>
              </p:nvSpPr>
              <p:spPr bwMode="auto">
                <a:xfrm>
                  <a:off x="5248" y="1777"/>
                  <a:ext cx="96" cy="96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1773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4360" y="1152"/>
                  <a:ext cx="67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R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L</a:t>
                  </a:r>
                  <a:endParaRPr lang="en-US" altLang="zh-CN" sz="2800" b="1">
                    <a:ea typeface="楷体_GB2312" pitchFamily="49" charset="-122"/>
                  </a:endParaRPr>
                </a:p>
              </p:txBody>
            </p:sp>
          </p:grpSp>
          <p:sp>
            <p:nvSpPr>
              <p:cNvPr id="31760" name="Text Box 81"/>
              <p:cNvSpPr txBox="1">
                <a:spLocks noChangeArrowheads="1"/>
              </p:cNvSpPr>
              <p:nvPr/>
            </p:nvSpPr>
            <p:spPr bwMode="auto">
              <a:xfrm>
                <a:off x="4524" y="1932"/>
                <a:ext cx="35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T</a:t>
                </a:r>
                <a:r>
                  <a:rPr lang="en-US" altLang="zh-CN" sz="2800" b="1" baseline="-25000">
                    <a:ea typeface="楷体_GB2312" pitchFamily="49" charset="-122"/>
                  </a:rPr>
                  <a:t>5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  <p:sp>
            <p:nvSpPr>
              <p:cNvPr id="31761" name="Text Box 82"/>
              <p:cNvSpPr txBox="1">
                <a:spLocks noChangeArrowheads="1"/>
              </p:cNvSpPr>
              <p:nvPr/>
            </p:nvSpPr>
            <p:spPr bwMode="auto">
              <a:xfrm>
                <a:off x="4524" y="2556"/>
                <a:ext cx="35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T</a:t>
                </a:r>
                <a:r>
                  <a:rPr lang="en-US" altLang="zh-CN" sz="2800" b="1" baseline="-25000">
                    <a:ea typeface="楷体_GB2312" pitchFamily="49" charset="-122"/>
                  </a:rPr>
                  <a:t>5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  <p:sp>
            <p:nvSpPr>
              <p:cNvPr id="31762" name="Text Box 83"/>
              <p:cNvSpPr txBox="1">
                <a:spLocks noChangeArrowheads="1"/>
              </p:cNvSpPr>
              <p:nvPr/>
            </p:nvSpPr>
            <p:spPr bwMode="auto">
              <a:xfrm>
                <a:off x="4548" y="3240"/>
                <a:ext cx="35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T</a:t>
                </a:r>
                <a:r>
                  <a:rPr lang="en-US" altLang="zh-CN" sz="2800" b="1" baseline="-25000">
                    <a:ea typeface="楷体_GB2312" pitchFamily="49" charset="-122"/>
                  </a:rPr>
                  <a:t>5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</p:grpSp>
        <p:sp>
          <p:nvSpPr>
            <p:cNvPr id="31757" name="Oval 101"/>
            <p:cNvSpPr>
              <a:spLocks noChangeArrowheads="1"/>
            </p:cNvSpPr>
            <p:nvPr/>
          </p:nvSpPr>
          <p:spPr bwMode="auto">
            <a:xfrm>
              <a:off x="5270" y="2637"/>
              <a:ext cx="50" cy="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1758" name="Oval 102"/>
            <p:cNvSpPr>
              <a:spLocks noChangeArrowheads="1"/>
            </p:cNvSpPr>
            <p:nvPr/>
          </p:nvSpPr>
          <p:spPr bwMode="auto">
            <a:xfrm>
              <a:off x="5266" y="1950"/>
              <a:ext cx="50" cy="5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31754" name="Oval 103"/>
          <p:cNvSpPr>
            <a:spLocks noChangeArrowheads="1"/>
          </p:cNvSpPr>
          <p:nvPr/>
        </p:nvSpPr>
        <p:spPr bwMode="auto">
          <a:xfrm>
            <a:off x="4884738" y="4348163"/>
            <a:ext cx="79375" cy="793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1755" name="Oval 104"/>
          <p:cNvSpPr>
            <a:spLocks noChangeArrowheads="1"/>
          </p:cNvSpPr>
          <p:nvPr/>
        </p:nvSpPr>
        <p:spPr bwMode="auto">
          <a:xfrm>
            <a:off x="4891088" y="2828925"/>
            <a:ext cx="79375" cy="793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2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2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2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4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07975" y="495300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666750" indent="-66675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1">
                <a:latin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</a:rPr>
              <a:t>）、负载电阻</a:t>
            </a:r>
            <a:r>
              <a:rPr lang="en-US" altLang="zh-CN" b="1">
                <a:latin typeface="宋体" panose="02010600030101010101" pitchFamily="2" charset="-122"/>
              </a:rPr>
              <a:t>R</a:t>
            </a:r>
            <a:r>
              <a:rPr lang="en-US" altLang="zh-CN" b="1" baseline="-25000">
                <a:latin typeface="宋体" panose="02010600030101010101" pitchFamily="2" charset="-122"/>
              </a:rPr>
              <a:t>L</a:t>
            </a:r>
            <a:r>
              <a:rPr lang="zh-CN" altLang="en-US" b="1">
                <a:latin typeface="宋体" panose="02010600030101010101" pitchFamily="2" charset="-122"/>
              </a:rPr>
              <a:t>和电源 </a:t>
            </a:r>
            <a:r>
              <a:rPr lang="en-US" altLang="zh-CN" b="1">
                <a:latin typeface="宋体" panose="02010600030101010101" pitchFamily="2" charset="-122"/>
              </a:rPr>
              <a:t>U</a:t>
            </a:r>
            <a:r>
              <a:rPr lang="en-US" altLang="zh-CN" b="1" baseline="-25000">
                <a:latin typeface="宋体" panose="02010600030101010101" pitchFamily="2" charset="-122"/>
              </a:rPr>
              <a:t>CC</a:t>
            </a:r>
            <a:r>
              <a:rPr lang="zh-CN" altLang="zh-CN" b="1">
                <a:latin typeface="宋体" panose="02010600030101010101" pitchFamily="2" charset="-122"/>
              </a:rPr>
              <a:t>可以根据情况选择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sp>
        <p:nvSpPr>
          <p:cNvPr id="32771" name="Text Box 20"/>
          <p:cNvSpPr txBox="1">
            <a:spLocks noChangeArrowheads="1"/>
          </p:cNvSpPr>
          <p:nvPr/>
        </p:nvSpPr>
        <p:spPr bwMode="auto">
          <a:xfrm>
            <a:off x="3816350" y="2076450"/>
            <a:ext cx="1498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+30V</a:t>
            </a:r>
            <a:endParaRPr lang="en-US" altLang="zh-CN" sz="3200" b="1">
              <a:ea typeface="楷体_GB2312" pitchFamily="49" charset="-122"/>
            </a:endParaRPr>
          </a:p>
        </p:txBody>
      </p:sp>
      <p:grpSp>
        <p:nvGrpSpPr>
          <p:cNvPr id="32772" name="Group 21"/>
          <p:cNvGrpSpPr/>
          <p:nvPr/>
        </p:nvGrpSpPr>
        <p:grpSpPr bwMode="auto">
          <a:xfrm>
            <a:off x="5429250" y="1962150"/>
            <a:ext cx="2006600" cy="2476500"/>
            <a:chOff x="2808" y="1140"/>
            <a:chExt cx="1264" cy="1560"/>
          </a:xfrm>
        </p:grpSpPr>
        <p:grpSp>
          <p:nvGrpSpPr>
            <p:cNvPr id="32791" name="Group 22"/>
            <p:cNvGrpSpPr/>
            <p:nvPr/>
          </p:nvGrpSpPr>
          <p:grpSpPr bwMode="auto">
            <a:xfrm>
              <a:off x="2808" y="1140"/>
              <a:ext cx="1264" cy="1560"/>
              <a:chOff x="2808" y="1200"/>
              <a:chExt cx="1264" cy="1560"/>
            </a:xfrm>
          </p:grpSpPr>
          <p:sp>
            <p:nvSpPr>
              <p:cNvPr id="32793" name="Line 23"/>
              <p:cNvSpPr>
                <a:spLocks noChangeShapeType="1"/>
              </p:cNvSpPr>
              <p:nvPr/>
            </p:nvSpPr>
            <p:spPr bwMode="auto">
              <a:xfrm>
                <a:off x="2976" y="2292"/>
                <a:ext cx="0" cy="46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Line 24"/>
              <p:cNvSpPr>
                <a:spLocks noChangeShapeType="1"/>
              </p:cNvSpPr>
              <p:nvPr/>
            </p:nvSpPr>
            <p:spPr bwMode="auto">
              <a:xfrm>
                <a:off x="2976" y="2748"/>
                <a:ext cx="8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Line 25"/>
              <p:cNvSpPr>
                <a:spLocks noChangeShapeType="1"/>
              </p:cNvSpPr>
              <p:nvPr/>
            </p:nvSpPr>
            <p:spPr bwMode="auto">
              <a:xfrm flipH="1" flipV="1">
                <a:off x="2808" y="1980"/>
                <a:ext cx="168" cy="3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6" name="Line 26"/>
              <p:cNvSpPr>
                <a:spLocks noChangeShapeType="1"/>
              </p:cNvSpPr>
              <p:nvPr/>
            </p:nvSpPr>
            <p:spPr bwMode="auto">
              <a:xfrm flipV="1">
                <a:off x="2980" y="1620"/>
                <a:ext cx="0" cy="34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7" name="Oval 27"/>
              <p:cNvSpPr>
                <a:spLocks noChangeArrowheads="1"/>
              </p:cNvSpPr>
              <p:nvPr/>
            </p:nvSpPr>
            <p:spPr bwMode="auto">
              <a:xfrm>
                <a:off x="2941" y="1512"/>
                <a:ext cx="87" cy="11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2798" name="Oval 28"/>
              <p:cNvSpPr>
                <a:spLocks noChangeArrowheads="1"/>
              </p:cNvSpPr>
              <p:nvPr/>
            </p:nvSpPr>
            <p:spPr bwMode="auto">
              <a:xfrm>
                <a:off x="3684" y="2076"/>
                <a:ext cx="300" cy="3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2799" name="Line 29"/>
              <p:cNvSpPr>
                <a:spLocks noChangeShapeType="1"/>
              </p:cNvSpPr>
              <p:nvPr/>
            </p:nvSpPr>
            <p:spPr bwMode="auto">
              <a:xfrm flipV="1">
                <a:off x="3832" y="2376"/>
                <a:ext cx="0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Line 30"/>
              <p:cNvSpPr>
                <a:spLocks noChangeShapeType="1"/>
              </p:cNvSpPr>
              <p:nvPr/>
            </p:nvSpPr>
            <p:spPr bwMode="auto">
              <a:xfrm flipV="1">
                <a:off x="3844" y="1632"/>
                <a:ext cx="0" cy="4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1" name="Oval 31"/>
              <p:cNvSpPr>
                <a:spLocks noChangeArrowheads="1"/>
              </p:cNvSpPr>
              <p:nvPr/>
            </p:nvSpPr>
            <p:spPr bwMode="auto">
              <a:xfrm>
                <a:off x="3805" y="1524"/>
                <a:ext cx="87" cy="11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2802" name="Text Box 32"/>
              <p:cNvSpPr txBox="1">
                <a:spLocks noChangeArrowheads="1"/>
              </p:cNvSpPr>
              <p:nvPr/>
            </p:nvSpPr>
            <p:spPr bwMode="auto">
              <a:xfrm>
                <a:off x="3024" y="1200"/>
                <a:ext cx="104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楷体_GB2312" pitchFamily="49" charset="-122"/>
                    <a:sym typeface="Symbol" panose="05050102010706020507" pitchFamily="18" charset="2"/>
                  </a:rPr>
                  <a:t>220V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</p:grpSp>
        <p:sp>
          <p:nvSpPr>
            <p:cNvPr id="32792" name="Text Box 33"/>
            <p:cNvSpPr txBox="1">
              <a:spLocks noChangeArrowheads="1"/>
            </p:cNvSpPr>
            <p:nvPr/>
          </p:nvSpPr>
          <p:spPr bwMode="auto">
            <a:xfrm>
              <a:off x="3000" y="1872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J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grpSp>
        <p:nvGrpSpPr>
          <p:cNvPr id="32773" name="Group 37"/>
          <p:cNvGrpSpPr/>
          <p:nvPr/>
        </p:nvGrpSpPr>
        <p:grpSpPr bwMode="auto">
          <a:xfrm>
            <a:off x="2343150" y="2609850"/>
            <a:ext cx="2190750" cy="2762250"/>
            <a:chOff x="1476" y="1644"/>
            <a:chExt cx="1380" cy="1740"/>
          </a:xfrm>
        </p:grpSpPr>
        <p:sp>
          <p:nvSpPr>
            <p:cNvPr id="32774" name="Rectangle 5"/>
            <p:cNvSpPr>
              <a:spLocks noChangeArrowheads="1"/>
            </p:cNvSpPr>
            <p:nvPr/>
          </p:nvSpPr>
          <p:spPr bwMode="auto">
            <a:xfrm>
              <a:off x="1680" y="2461"/>
              <a:ext cx="504" cy="8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2775" name="Oval 6"/>
            <p:cNvSpPr>
              <a:spLocks noChangeArrowheads="1"/>
            </p:cNvSpPr>
            <p:nvPr/>
          </p:nvSpPr>
          <p:spPr bwMode="auto">
            <a:xfrm>
              <a:off x="2196" y="2809"/>
              <a:ext cx="96" cy="1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2776" name="Text Box 7"/>
            <p:cNvSpPr txBox="1">
              <a:spLocks noChangeArrowheads="1"/>
            </p:cNvSpPr>
            <p:nvPr/>
          </p:nvSpPr>
          <p:spPr bwMode="auto">
            <a:xfrm>
              <a:off x="1680" y="2437"/>
              <a:ext cx="3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&amp;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2777" name="Line 8"/>
            <p:cNvSpPr>
              <a:spLocks noChangeShapeType="1"/>
            </p:cNvSpPr>
            <p:nvPr/>
          </p:nvSpPr>
          <p:spPr bwMode="auto">
            <a:xfrm>
              <a:off x="1488" y="260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8" name="Line 9"/>
            <p:cNvSpPr>
              <a:spLocks noChangeShapeType="1"/>
            </p:cNvSpPr>
            <p:nvPr/>
          </p:nvSpPr>
          <p:spPr bwMode="auto">
            <a:xfrm>
              <a:off x="1488" y="2869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9" name="Line 10"/>
            <p:cNvSpPr>
              <a:spLocks noChangeShapeType="1"/>
            </p:cNvSpPr>
            <p:nvPr/>
          </p:nvSpPr>
          <p:spPr bwMode="auto">
            <a:xfrm>
              <a:off x="1488" y="3097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Line 11"/>
            <p:cNvSpPr>
              <a:spLocks noChangeShapeType="1"/>
            </p:cNvSpPr>
            <p:nvPr/>
          </p:nvSpPr>
          <p:spPr bwMode="auto">
            <a:xfrm>
              <a:off x="2280" y="2857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1" name="Rectangle 13"/>
            <p:cNvSpPr>
              <a:spLocks noChangeArrowheads="1"/>
            </p:cNvSpPr>
            <p:nvPr/>
          </p:nvSpPr>
          <p:spPr bwMode="auto">
            <a:xfrm>
              <a:off x="2556" y="1956"/>
              <a:ext cx="300" cy="37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>
                  <a:ea typeface="楷体_GB2312" pitchFamily="49" charset="-122"/>
                </a:rPr>
                <a:t>J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2782" name="Line 14"/>
            <p:cNvSpPr>
              <a:spLocks noChangeShapeType="1"/>
            </p:cNvSpPr>
            <p:nvPr/>
          </p:nvSpPr>
          <p:spPr bwMode="auto">
            <a:xfrm flipV="1">
              <a:off x="2700" y="2316"/>
              <a:ext cx="0" cy="5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3" name="Line 15"/>
            <p:cNvSpPr>
              <a:spLocks noChangeShapeType="1"/>
            </p:cNvSpPr>
            <p:nvPr/>
          </p:nvSpPr>
          <p:spPr bwMode="auto">
            <a:xfrm flipV="1">
              <a:off x="2700" y="1728"/>
              <a:ext cx="0" cy="2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4" name="Oval 16"/>
            <p:cNvSpPr>
              <a:spLocks noChangeArrowheads="1"/>
            </p:cNvSpPr>
            <p:nvPr/>
          </p:nvSpPr>
          <p:spPr bwMode="auto">
            <a:xfrm>
              <a:off x="2664" y="1644"/>
              <a:ext cx="84" cy="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2785" name="Line 17"/>
            <p:cNvSpPr>
              <a:spLocks noChangeShapeType="1"/>
            </p:cNvSpPr>
            <p:nvPr/>
          </p:nvSpPr>
          <p:spPr bwMode="auto">
            <a:xfrm>
              <a:off x="1476" y="2220"/>
              <a:ext cx="9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6" name="Line 18"/>
            <p:cNvSpPr>
              <a:spLocks noChangeShapeType="1"/>
            </p:cNvSpPr>
            <p:nvPr/>
          </p:nvSpPr>
          <p:spPr bwMode="auto">
            <a:xfrm>
              <a:off x="1476" y="3372"/>
              <a:ext cx="9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7" name="Line 19"/>
            <p:cNvSpPr>
              <a:spLocks noChangeShapeType="1"/>
            </p:cNvSpPr>
            <p:nvPr/>
          </p:nvSpPr>
          <p:spPr bwMode="auto">
            <a:xfrm>
              <a:off x="2392" y="2220"/>
              <a:ext cx="0" cy="116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88" name="Group 34"/>
            <p:cNvGrpSpPr/>
            <p:nvPr/>
          </p:nvGrpSpPr>
          <p:grpSpPr bwMode="auto">
            <a:xfrm>
              <a:off x="1885" y="2872"/>
              <a:ext cx="196" cy="206"/>
              <a:chOff x="634" y="2633"/>
              <a:chExt cx="196" cy="206"/>
            </a:xfrm>
          </p:grpSpPr>
          <p:sp useBgFill="1">
            <p:nvSpPr>
              <p:cNvPr id="32789" name="AutoShape 35"/>
              <p:cNvSpPr>
                <a:spLocks noChangeArrowheads="1"/>
              </p:cNvSpPr>
              <p:nvPr/>
            </p:nvSpPr>
            <p:spPr bwMode="auto">
              <a:xfrm>
                <a:off x="634" y="2633"/>
                <a:ext cx="188" cy="198"/>
              </a:xfrm>
              <a:prstGeom prst="diamond">
                <a:avLst/>
              </a:prstGeom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2790" name="Line 36"/>
              <p:cNvSpPr>
                <a:spLocks noChangeShapeType="1"/>
              </p:cNvSpPr>
              <p:nvPr/>
            </p:nvSpPr>
            <p:spPr bwMode="auto">
              <a:xfrm>
                <a:off x="641" y="2839"/>
                <a:ext cx="1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Text Box 2"/>
          <p:cNvSpPr txBox="1">
            <a:spLocks noChangeArrowheads="1"/>
          </p:cNvSpPr>
          <p:nvPr/>
        </p:nvSpPr>
        <p:spPr bwMode="auto">
          <a:xfrm>
            <a:off x="577396" y="524009"/>
            <a:ext cx="2656794" cy="586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latin typeface="宋体" panose="02010600030101010101" pitchFamily="2" charset="-122"/>
              </a:rPr>
              <a:t>3.OC</a:t>
            </a:r>
            <a:r>
              <a:rPr lang="zh-CN" altLang="en-US" sz="3200" b="1" dirty="0">
                <a:latin typeface="宋体" panose="02010600030101010101" pitchFamily="2" charset="-122"/>
              </a:rPr>
              <a:t>门的应用</a:t>
            </a:r>
            <a:endParaRPr lang="zh-CN" altLang="en-US" sz="3200" b="1" dirty="0">
              <a:latin typeface="宋体" panose="02010600030101010101" pitchFamily="2" charset="-122"/>
            </a:endParaRPr>
          </a:p>
        </p:txBody>
      </p:sp>
      <p:sp>
        <p:nvSpPr>
          <p:cNvPr id="276483" name="Text Box 3"/>
          <p:cNvSpPr txBox="1">
            <a:spLocks noChangeArrowheads="1"/>
          </p:cNvSpPr>
          <p:nvPr/>
        </p:nvSpPr>
        <p:spPr bwMode="auto">
          <a:xfrm>
            <a:off x="279976" y="1241456"/>
            <a:ext cx="359294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ea typeface="楷体_GB2312" pitchFamily="49" charset="-122"/>
              </a:rPr>
              <a:t>（</a:t>
            </a:r>
            <a:r>
              <a:rPr lang="en-US" altLang="zh-CN" sz="2800" dirty="0">
                <a:ea typeface="楷体_GB2312" pitchFamily="49" charset="-122"/>
              </a:rPr>
              <a:t>1</a:t>
            </a:r>
            <a:r>
              <a:rPr lang="zh-CN" altLang="en-US" sz="2800" dirty="0">
                <a:ea typeface="楷体_GB2312" pitchFamily="49" charset="-122"/>
              </a:rPr>
              <a:t>）实现与或非逻辑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276484" name="Text Box 4"/>
          <p:cNvSpPr txBox="1">
            <a:spLocks noChangeArrowheads="1"/>
          </p:cNvSpPr>
          <p:nvPr/>
        </p:nvSpPr>
        <p:spPr bwMode="auto">
          <a:xfrm>
            <a:off x="364263" y="3679856"/>
            <a:ext cx="3233875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ea typeface="楷体_GB2312" pitchFamily="49" charset="-122"/>
              </a:rPr>
              <a:t>（</a:t>
            </a:r>
            <a:r>
              <a:rPr lang="en-US" altLang="zh-CN" sz="2800" dirty="0">
                <a:ea typeface="楷体_GB2312" pitchFamily="49" charset="-122"/>
              </a:rPr>
              <a:t>2</a:t>
            </a:r>
            <a:r>
              <a:rPr lang="zh-CN" altLang="en-US" sz="2800" dirty="0">
                <a:ea typeface="楷体_GB2312" pitchFamily="49" charset="-122"/>
              </a:rPr>
              <a:t>）实现电平转换</a:t>
            </a:r>
            <a:endParaRPr lang="zh-CN" altLang="en-US" sz="2800" dirty="0">
              <a:ea typeface="楷体_GB2312" pitchFamily="49" charset="-122"/>
            </a:endParaRPr>
          </a:p>
        </p:txBody>
      </p:sp>
      <p:sp>
        <p:nvSpPr>
          <p:cNvPr id="276485" name="Text Box 5"/>
          <p:cNvSpPr txBox="1">
            <a:spLocks noChangeArrowheads="1"/>
          </p:cNvSpPr>
          <p:nvPr/>
        </p:nvSpPr>
        <p:spPr bwMode="auto">
          <a:xfrm>
            <a:off x="0" y="4783169"/>
            <a:ext cx="36068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ea typeface="楷体_GB2312" pitchFamily="49" charset="-122"/>
              </a:rPr>
              <a:t>（</a:t>
            </a:r>
            <a:r>
              <a:rPr lang="en-US" altLang="zh-CN" sz="2800" dirty="0">
                <a:ea typeface="楷体_GB2312" pitchFamily="49" charset="-122"/>
              </a:rPr>
              <a:t>3</a:t>
            </a:r>
            <a:r>
              <a:rPr lang="zh-CN" altLang="en-US" sz="2800" dirty="0">
                <a:ea typeface="楷体_GB2312" pitchFamily="49" charset="-122"/>
              </a:rPr>
              <a:t>）用作驱动器</a:t>
            </a:r>
            <a:endParaRPr lang="zh-CN" altLang="en-US" sz="2800" dirty="0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6487" name="Object 7"/>
              <p:cNvSpPr txBox="1"/>
              <p:nvPr/>
            </p:nvSpPr>
            <p:spPr bwMode="auto">
              <a:xfrm>
                <a:off x="1149350" y="1765299"/>
                <a:ext cx="6411912" cy="1038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altLang="zh-CN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ba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bar>
                        <m:barPr>
                          <m:pos m:val="top"/>
                          <m:ctrlPr>
                            <a:rPr lang="en-US" altLang="zh-CN" sz="3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bar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⋅⋅⋅</m:t>
                      </m:r>
                      <m:bar>
                        <m:barPr>
                          <m:pos m:val="top"/>
                          <m:ctrlPr>
                            <a:rPr lang="en-US" altLang="zh-CN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sz="3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bar>
                    </m:oMath>
                  </m:oMathPara>
                </a14:m>
                <a:endParaRPr lang="zh-CN" altLang="en-US" sz="3200" dirty="0"/>
              </a:p>
            </p:txBody>
          </p:sp>
        </mc:Choice>
        <mc:Fallback>
          <p:sp>
            <p:nvSpPr>
              <p:cNvPr id="2764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9350" y="1765299"/>
                <a:ext cx="6411912" cy="1038225"/>
              </a:xfrm>
              <a:prstGeom prst="rect">
                <a:avLst/>
              </a:prstGeom>
              <a:blipFill rotWithShape="1">
                <a:blip r:embed="rId1"/>
                <a:stretch>
                  <a:fillRect t="-61" r="5" b="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6488" name="Object 8"/>
              <p:cNvSpPr txBox="1"/>
              <p:nvPr/>
            </p:nvSpPr>
            <p:spPr bwMode="auto">
              <a:xfrm>
                <a:off x="1582738" y="2641600"/>
                <a:ext cx="5365750" cy="908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+⋅⋅⋅+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𝐴𝑛𝐵𝑛</m:t>
                          </m:r>
                        </m:e>
                      </m:ba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7648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2738" y="2641600"/>
                <a:ext cx="5365750" cy="908050"/>
              </a:xfrm>
              <a:prstGeom prst="rect">
                <a:avLst/>
              </a:prstGeom>
              <a:blipFill rotWithShape="1">
                <a:blip r:embed="rId2"/>
                <a:stretch>
                  <a:fillRect l="-6" r="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2" grpId="0"/>
      <p:bldP spid="276483" grpId="0"/>
      <p:bldP spid="276484" grpId="0"/>
      <p:bldP spid="276485" grpId="0"/>
      <p:bldP spid="276487" grpId="0"/>
      <p:bldP spid="27648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381000" y="504825"/>
            <a:ext cx="2552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latin typeface="宋体" panose="02010600030101010101" pitchFamily="2" charset="-122"/>
              </a:rPr>
              <a:t>2</a:t>
            </a:r>
            <a:r>
              <a:rPr lang="zh-CN" altLang="en-US" sz="3200" b="1">
                <a:latin typeface="宋体" panose="02010600030101010101" pitchFamily="2" charset="-122"/>
              </a:rPr>
              <a:t>、 三态门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grpSp>
        <p:nvGrpSpPr>
          <p:cNvPr id="34819" name="Group 3"/>
          <p:cNvGrpSpPr/>
          <p:nvPr/>
        </p:nvGrpSpPr>
        <p:grpSpPr bwMode="auto">
          <a:xfrm>
            <a:off x="1225550" y="1047750"/>
            <a:ext cx="8147050" cy="5343525"/>
            <a:chOff x="772" y="660"/>
            <a:chExt cx="5132" cy="3366"/>
          </a:xfrm>
        </p:grpSpPr>
        <p:grpSp>
          <p:nvGrpSpPr>
            <p:cNvPr id="34839" name="Group 4"/>
            <p:cNvGrpSpPr/>
            <p:nvPr/>
          </p:nvGrpSpPr>
          <p:grpSpPr bwMode="auto">
            <a:xfrm>
              <a:off x="772" y="660"/>
              <a:ext cx="5132" cy="3366"/>
              <a:chOff x="628" y="660"/>
              <a:chExt cx="5132" cy="3366"/>
            </a:xfrm>
          </p:grpSpPr>
          <p:grpSp>
            <p:nvGrpSpPr>
              <p:cNvPr id="34841" name="Group 5"/>
              <p:cNvGrpSpPr/>
              <p:nvPr/>
            </p:nvGrpSpPr>
            <p:grpSpPr bwMode="auto">
              <a:xfrm>
                <a:off x="1428" y="1524"/>
                <a:ext cx="1392" cy="612"/>
                <a:chOff x="984" y="1260"/>
                <a:chExt cx="1392" cy="612"/>
              </a:xfrm>
            </p:grpSpPr>
            <p:sp>
              <p:nvSpPr>
                <p:cNvPr id="34913" name="Line 6"/>
                <p:cNvSpPr>
                  <a:spLocks noChangeShapeType="1"/>
                </p:cNvSpPr>
                <p:nvPr/>
              </p:nvSpPr>
              <p:spPr bwMode="auto">
                <a:xfrm>
                  <a:off x="1140" y="1632"/>
                  <a:ext cx="600" cy="0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4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1524" y="1260"/>
                  <a:ext cx="0" cy="3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5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272" y="1632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6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1128" y="1632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7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984" y="1632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8" name="Line 11"/>
                <p:cNvSpPr>
                  <a:spLocks noChangeShapeType="1"/>
                </p:cNvSpPr>
                <p:nvPr/>
              </p:nvSpPr>
              <p:spPr bwMode="auto">
                <a:xfrm>
                  <a:off x="1524" y="1632"/>
                  <a:ext cx="312" cy="22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9" name="Line 12"/>
                <p:cNvSpPr>
                  <a:spLocks noChangeShapeType="1"/>
                </p:cNvSpPr>
                <p:nvPr/>
              </p:nvSpPr>
              <p:spPr bwMode="auto">
                <a:xfrm>
                  <a:off x="1812" y="1855"/>
                  <a:ext cx="56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842" name="Group 13"/>
              <p:cNvGrpSpPr/>
              <p:nvPr/>
            </p:nvGrpSpPr>
            <p:grpSpPr bwMode="auto">
              <a:xfrm>
                <a:off x="2820" y="1908"/>
                <a:ext cx="240" cy="456"/>
                <a:chOff x="2376" y="1644"/>
                <a:chExt cx="240" cy="456"/>
              </a:xfrm>
            </p:grpSpPr>
            <p:sp>
              <p:nvSpPr>
                <p:cNvPr id="34910" name="Line 14"/>
                <p:cNvSpPr>
                  <a:spLocks noChangeShapeType="1"/>
                </p:cNvSpPr>
                <p:nvPr/>
              </p:nvSpPr>
              <p:spPr bwMode="auto">
                <a:xfrm>
                  <a:off x="2376" y="1692"/>
                  <a:ext cx="0" cy="336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1" name="Line 15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2376" y="1860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12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2376" y="1644"/>
                  <a:ext cx="216" cy="21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843" name="Group 17"/>
              <p:cNvGrpSpPr/>
              <p:nvPr/>
            </p:nvGrpSpPr>
            <p:grpSpPr bwMode="auto">
              <a:xfrm>
                <a:off x="3504" y="1704"/>
                <a:ext cx="240" cy="456"/>
                <a:chOff x="2376" y="1644"/>
                <a:chExt cx="240" cy="456"/>
              </a:xfrm>
            </p:grpSpPr>
            <p:sp>
              <p:nvSpPr>
                <p:cNvPr id="34907" name="Line 18"/>
                <p:cNvSpPr>
                  <a:spLocks noChangeShapeType="1"/>
                </p:cNvSpPr>
                <p:nvPr/>
              </p:nvSpPr>
              <p:spPr bwMode="auto">
                <a:xfrm>
                  <a:off x="2376" y="1692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08" name="Line 19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2376" y="1860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09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2376" y="1644"/>
                  <a:ext cx="216" cy="21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4844" name="Line 21"/>
              <p:cNvSpPr>
                <a:spLocks noChangeShapeType="1"/>
              </p:cNvSpPr>
              <p:nvPr/>
            </p:nvSpPr>
            <p:spPr bwMode="auto">
              <a:xfrm flipV="1">
                <a:off x="3034" y="1536"/>
                <a:ext cx="0" cy="3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5" name="Rectangle 22"/>
              <p:cNvSpPr>
                <a:spLocks noChangeArrowheads="1"/>
              </p:cNvSpPr>
              <p:nvPr/>
            </p:nvSpPr>
            <p:spPr bwMode="auto">
              <a:xfrm>
                <a:off x="2980" y="3186"/>
                <a:ext cx="120" cy="4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46" name="Rectangle 23"/>
              <p:cNvSpPr>
                <a:spLocks noChangeArrowheads="1"/>
              </p:cNvSpPr>
              <p:nvPr/>
            </p:nvSpPr>
            <p:spPr bwMode="auto">
              <a:xfrm>
                <a:off x="1908" y="1099"/>
                <a:ext cx="120" cy="4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47" name="Rectangle 24"/>
              <p:cNvSpPr>
                <a:spLocks noChangeArrowheads="1"/>
              </p:cNvSpPr>
              <p:nvPr/>
            </p:nvSpPr>
            <p:spPr bwMode="auto">
              <a:xfrm>
                <a:off x="2974" y="1116"/>
                <a:ext cx="120" cy="4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48" name="Line 25"/>
              <p:cNvSpPr>
                <a:spLocks noChangeShapeType="1"/>
              </p:cNvSpPr>
              <p:nvPr/>
            </p:nvSpPr>
            <p:spPr bwMode="auto">
              <a:xfrm>
                <a:off x="1968" y="1092"/>
                <a:ext cx="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9" name="Line 26"/>
              <p:cNvSpPr>
                <a:spLocks noChangeShapeType="1"/>
              </p:cNvSpPr>
              <p:nvPr/>
            </p:nvSpPr>
            <p:spPr bwMode="auto">
              <a:xfrm flipV="1">
                <a:off x="1968" y="847"/>
                <a:ext cx="0" cy="2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0" name="Line 27"/>
              <p:cNvSpPr>
                <a:spLocks noChangeShapeType="1"/>
              </p:cNvSpPr>
              <p:nvPr/>
            </p:nvSpPr>
            <p:spPr bwMode="auto">
              <a:xfrm flipV="1">
                <a:off x="3034" y="847"/>
                <a:ext cx="0" cy="26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1" name="Line 28"/>
              <p:cNvSpPr>
                <a:spLocks noChangeShapeType="1"/>
              </p:cNvSpPr>
              <p:nvPr/>
            </p:nvSpPr>
            <p:spPr bwMode="auto">
              <a:xfrm>
                <a:off x="1968" y="847"/>
                <a:ext cx="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2" name="Line 29"/>
              <p:cNvSpPr>
                <a:spLocks noChangeShapeType="1"/>
              </p:cNvSpPr>
              <p:nvPr/>
            </p:nvSpPr>
            <p:spPr bwMode="auto">
              <a:xfrm>
                <a:off x="1962" y="853"/>
                <a:ext cx="28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3" name="Line 30"/>
              <p:cNvSpPr>
                <a:spLocks noChangeShapeType="1"/>
              </p:cNvSpPr>
              <p:nvPr/>
            </p:nvSpPr>
            <p:spPr bwMode="auto">
              <a:xfrm flipH="1">
                <a:off x="3034" y="1908"/>
                <a:ext cx="47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854" name="Group 31"/>
              <p:cNvGrpSpPr/>
              <p:nvPr/>
            </p:nvGrpSpPr>
            <p:grpSpPr bwMode="auto">
              <a:xfrm>
                <a:off x="4008" y="1920"/>
                <a:ext cx="240" cy="456"/>
                <a:chOff x="2376" y="1644"/>
                <a:chExt cx="240" cy="456"/>
              </a:xfrm>
            </p:grpSpPr>
            <p:sp>
              <p:nvSpPr>
                <p:cNvPr id="34904" name="Line 32"/>
                <p:cNvSpPr>
                  <a:spLocks noChangeShapeType="1"/>
                </p:cNvSpPr>
                <p:nvPr/>
              </p:nvSpPr>
              <p:spPr bwMode="auto">
                <a:xfrm>
                  <a:off x="2376" y="1692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05" name="Line 33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2376" y="1860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06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2376" y="1644"/>
                  <a:ext cx="216" cy="21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4855" name="Line 35"/>
              <p:cNvSpPr>
                <a:spLocks noChangeShapeType="1"/>
              </p:cNvSpPr>
              <p:nvPr/>
            </p:nvSpPr>
            <p:spPr bwMode="auto">
              <a:xfrm>
                <a:off x="3708" y="2136"/>
                <a:ext cx="3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6" name="Line 36"/>
              <p:cNvSpPr>
                <a:spLocks noChangeShapeType="1"/>
              </p:cNvSpPr>
              <p:nvPr/>
            </p:nvSpPr>
            <p:spPr bwMode="auto">
              <a:xfrm>
                <a:off x="3708" y="1711"/>
                <a:ext cx="50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7" name="Line 37"/>
              <p:cNvSpPr>
                <a:spLocks noChangeShapeType="1"/>
              </p:cNvSpPr>
              <p:nvPr/>
            </p:nvSpPr>
            <p:spPr bwMode="auto">
              <a:xfrm flipV="1">
                <a:off x="4210" y="1711"/>
                <a:ext cx="0" cy="23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8" name="Rectangle 38"/>
              <p:cNvSpPr>
                <a:spLocks noChangeArrowheads="1"/>
              </p:cNvSpPr>
              <p:nvPr/>
            </p:nvSpPr>
            <p:spPr bwMode="auto">
              <a:xfrm>
                <a:off x="4150" y="1123"/>
                <a:ext cx="120" cy="4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59" name="Line 39"/>
              <p:cNvSpPr>
                <a:spLocks noChangeShapeType="1"/>
              </p:cNvSpPr>
              <p:nvPr/>
            </p:nvSpPr>
            <p:spPr bwMode="auto">
              <a:xfrm flipV="1">
                <a:off x="4210" y="1543"/>
                <a:ext cx="0" cy="20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0" name="Line 40"/>
              <p:cNvSpPr>
                <a:spLocks noChangeShapeType="1"/>
              </p:cNvSpPr>
              <p:nvPr/>
            </p:nvSpPr>
            <p:spPr bwMode="auto">
              <a:xfrm flipV="1">
                <a:off x="4210" y="852"/>
                <a:ext cx="0" cy="27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861" name="Group 41"/>
              <p:cNvGrpSpPr/>
              <p:nvPr/>
            </p:nvGrpSpPr>
            <p:grpSpPr bwMode="auto">
              <a:xfrm>
                <a:off x="4008" y="2772"/>
                <a:ext cx="240" cy="456"/>
                <a:chOff x="2376" y="1644"/>
                <a:chExt cx="240" cy="456"/>
              </a:xfrm>
            </p:grpSpPr>
            <p:sp>
              <p:nvSpPr>
                <p:cNvPr id="34901" name="Line 42"/>
                <p:cNvSpPr>
                  <a:spLocks noChangeShapeType="1"/>
                </p:cNvSpPr>
                <p:nvPr/>
              </p:nvSpPr>
              <p:spPr bwMode="auto">
                <a:xfrm>
                  <a:off x="2376" y="1692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02" name="Line 43"/>
                <p:cNvSpPr>
                  <a:spLocks noChangeShapeType="1"/>
                </p:cNvSpPr>
                <p:nvPr/>
              </p:nvSpPr>
              <p:spPr bwMode="auto">
                <a:xfrm rot="16200000" flipH="1">
                  <a:off x="2376" y="1860"/>
                  <a:ext cx="24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903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2376" y="1644"/>
                  <a:ext cx="216" cy="21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4862" name="Rectangle 45"/>
              <p:cNvSpPr>
                <a:spLocks noChangeArrowheads="1"/>
              </p:cNvSpPr>
              <p:nvPr/>
            </p:nvSpPr>
            <p:spPr bwMode="auto">
              <a:xfrm>
                <a:off x="3660" y="2256"/>
                <a:ext cx="120" cy="4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63" name="Line 46"/>
              <p:cNvSpPr>
                <a:spLocks noChangeShapeType="1"/>
              </p:cNvSpPr>
              <p:nvPr/>
            </p:nvSpPr>
            <p:spPr bwMode="auto">
              <a:xfrm>
                <a:off x="3720" y="2124"/>
                <a:ext cx="0" cy="1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4" name="Line 47"/>
              <p:cNvSpPr>
                <a:spLocks noChangeShapeType="1"/>
              </p:cNvSpPr>
              <p:nvPr/>
            </p:nvSpPr>
            <p:spPr bwMode="auto">
              <a:xfrm>
                <a:off x="3714" y="2670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5" name="Line 48"/>
              <p:cNvSpPr>
                <a:spLocks noChangeShapeType="1"/>
              </p:cNvSpPr>
              <p:nvPr/>
            </p:nvSpPr>
            <p:spPr bwMode="auto">
              <a:xfrm>
                <a:off x="3594" y="2760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6" name="Line 49"/>
              <p:cNvSpPr>
                <a:spLocks noChangeShapeType="1"/>
              </p:cNvSpPr>
              <p:nvPr/>
            </p:nvSpPr>
            <p:spPr bwMode="auto">
              <a:xfrm>
                <a:off x="3040" y="2346"/>
                <a:ext cx="0" cy="8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7" name="Line 50"/>
              <p:cNvSpPr>
                <a:spLocks noChangeShapeType="1"/>
              </p:cNvSpPr>
              <p:nvPr/>
            </p:nvSpPr>
            <p:spPr bwMode="auto">
              <a:xfrm flipH="1">
                <a:off x="3040" y="2989"/>
                <a:ext cx="96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8" name="Line 51"/>
              <p:cNvSpPr>
                <a:spLocks noChangeShapeType="1"/>
              </p:cNvSpPr>
              <p:nvPr/>
            </p:nvSpPr>
            <p:spPr bwMode="auto">
              <a:xfrm>
                <a:off x="3040" y="3600"/>
                <a:ext cx="0" cy="28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9" name="Line 52"/>
              <p:cNvSpPr>
                <a:spLocks noChangeShapeType="1"/>
              </p:cNvSpPr>
              <p:nvPr/>
            </p:nvSpPr>
            <p:spPr bwMode="auto">
              <a:xfrm flipV="1">
                <a:off x="3042" y="3858"/>
                <a:ext cx="1186" cy="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0" name="Line 53"/>
              <p:cNvSpPr>
                <a:spLocks noChangeShapeType="1"/>
              </p:cNvSpPr>
              <p:nvPr/>
            </p:nvSpPr>
            <p:spPr bwMode="auto">
              <a:xfrm>
                <a:off x="4228" y="2364"/>
                <a:ext cx="0" cy="42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1" name="Line 54"/>
              <p:cNvSpPr>
                <a:spLocks noChangeShapeType="1"/>
              </p:cNvSpPr>
              <p:nvPr/>
            </p:nvSpPr>
            <p:spPr bwMode="auto">
              <a:xfrm>
                <a:off x="4228" y="3216"/>
                <a:ext cx="0" cy="81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2" name="Line 55"/>
              <p:cNvSpPr>
                <a:spLocks noChangeShapeType="1"/>
              </p:cNvSpPr>
              <p:nvPr/>
            </p:nvSpPr>
            <p:spPr bwMode="auto">
              <a:xfrm>
                <a:off x="4098" y="4020"/>
                <a:ext cx="25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3" name="Line 56"/>
              <p:cNvSpPr>
                <a:spLocks noChangeShapeType="1"/>
              </p:cNvSpPr>
              <p:nvPr/>
            </p:nvSpPr>
            <p:spPr bwMode="auto">
              <a:xfrm>
                <a:off x="4228" y="2544"/>
                <a:ext cx="6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4" name="Line 57"/>
              <p:cNvSpPr>
                <a:spLocks noChangeShapeType="1"/>
              </p:cNvSpPr>
              <p:nvPr/>
            </p:nvSpPr>
            <p:spPr bwMode="auto">
              <a:xfrm flipH="1" flipV="1">
                <a:off x="1060" y="2106"/>
                <a:ext cx="404" cy="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5" name="Line 58"/>
              <p:cNvSpPr>
                <a:spLocks noChangeShapeType="1"/>
              </p:cNvSpPr>
              <p:nvPr/>
            </p:nvSpPr>
            <p:spPr bwMode="auto">
              <a:xfrm>
                <a:off x="1584" y="2112"/>
                <a:ext cx="0" cy="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6" name="Line 59"/>
              <p:cNvSpPr>
                <a:spLocks noChangeShapeType="1"/>
              </p:cNvSpPr>
              <p:nvPr/>
            </p:nvSpPr>
            <p:spPr bwMode="auto">
              <a:xfrm flipH="1">
                <a:off x="1072" y="2328"/>
                <a:ext cx="5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7" name="Line 60"/>
              <p:cNvSpPr>
                <a:spLocks noChangeShapeType="1"/>
              </p:cNvSpPr>
              <p:nvPr/>
            </p:nvSpPr>
            <p:spPr bwMode="auto">
              <a:xfrm flipH="1">
                <a:off x="1728" y="2124"/>
                <a:ext cx="0" cy="42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8" name="Line 61"/>
              <p:cNvSpPr>
                <a:spLocks noChangeShapeType="1"/>
              </p:cNvSpPr>
              <p:nvPr/>
            </p:nvSpPr>
            <p:spPr bwMode="auto">
              <a:xfrm flipH="1">
                <a:off x="1084" y="2532"/>
                <a:ext cx="65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79" name="Oval 62"/>
              <p:cNvSpPr>
                <a:spLocks noChangeArrowheads="1"/>
              </p:cNvSpPr>
              <p:nvPr/>
            </p:nvSpPr>
            <p:spPr bwMode="auto">
              <a:xfrm>
                <a:off x="4824" y="780"/>
                <a:ext cx="120" cy="13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80" name="Oval 63"/>
              <p:cNvSpPr>
                <a:spLocks noChangeArrowheads="1"/>
              </p:cNvSpPr>
              <p:nvPr/>
            </p:nvSpPr>
            <p:spPr bwMode="auto">
              <a:xfrm>
                <a:off x="4824" y="2472"/>
                <a:ext cx="120" cy="13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81" name="Oval 64"/>
              <p:cNvSpPr>
                <a:spLocks noChangeArrowheads="1"/>
              </p:cNvSpPr>
              <p:nvPr/>
            </p:nvSpPr>
            <p:spPr bwMode="auto">
              <a:xfrm>
                <a:off x="952" y="2256"/>
                <a:ext cx="120" cy="13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82" name="Oval 65"/>
              <p:cNvSpPr>
                <a:spLocks noChangeArrowheads="1"/>
              </p:cNvSpPr>
              <p:nvPr/>
            </p:nvSpPr>
            <p:spPr bwMode="auto">
              <a:xfrm>
                <a:off x="958" y="2466"/>
                <a:ext cx="120" cy="13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34883" name="Text Box 66"/>
              <p:cNvSpPr txBox="1">
                <a:spLocks noChangeArrowheads="1"/>
              </p:cNvSpPr>
              <p:nvPr/>
            </p:nvSpPr>
            <p:spPr bwMode="auto">
              <a:xfrm>
                <a:off x="4968" y="660"/>
                <a:ext cx="79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楷体_GB2312" pitchFamily="49" charset="-122"/>
                  </a:rPr>
                  <a:t>+5V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84" name="Text Box 67"/>
              <p:cNvSpPr txBox="1">
                <a:spLocks noChangeArrowheads="1"/>
              </p:cNvSpPr>
              <p:nvPr/>
            </p:nvSpPr>
            <p:spPr bwMode="auto">
              <a:xfrm>
                <a:off x="5016" y="2400"/>
                <a:ext cx="468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楷体_GB2312" pitchFamily="49" charset="-122"/>
                  </a:rPr>
                  <a:t>F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85" name="Text Box 68"/>
              <p:cNvSpPr txBox="1">
                <a:spLocks noChangeArrowheads="1"/>
              </p:cNvSpPr>
              <p:nvPr/>
            </p:nvSpPr>
            <p:spPr bwMode="auto">
              <a:xfrm>
                <a:off x="4296" y="1128"/>
                <a:ext cx="66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R</a:t>
                </a:r>
                <a:r>
                  <a:rPr lang="en-US" altLang="zh-CN" sz="2800" b="1" baseline="-25000">
                    <a:ea typeface="楷体_GB2312" pitchFamily="49" charset="-122"/>
                  </a:rPr>
                  <a:t>4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  <p:sp>
            <p:nvSpPr>
              <p:cNvPr id="34886" name="Text Box 69"/>
              <p:cNvSpPr txBox="1">
                <a:spLocks noChangeArrowheads="1"/>
              </p:cNvSpPr>
              <p:nvPr/>
            </p:nvSpPr>
            <p:spPr bwMode="auto">
              <a:xfrm>
                <a:off x="3120" y="1116"/>
                <a:ext cx="66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R</a:t>
                </a:r>
                <a:r>
                  <a:rPr lang="en-US" altLang="zh-CN" sz="2800" b="1" baseline="-25000">
                    <a:ea typeface="楷体_GB2312" pitchFamily="49" charset="-122"/>
                  </a:rPr>
                  <a:t>2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87" name="Text Box 70"/>
              <p:cNvSpPr txBox="1">
                <a:spLocks noChangeArrowheads="1"/>
              </p:cNvSpPr>
              <p:nvPr/>
            </p:nvSpPr>
            <p:spPr bwMode="auto">
              <a:xfrm>
                <a:off x="2040" y="900"/>
                <a:ext cx="66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R</a:t>
                </a:r>
                <a:r>
                  <a:rPr lang="en-US" altLang="zh-CN" sz="2800" b="1" baseline="-25000">
                    <a:ea typeface="楷体_GB2312" pitchFamily="49" charset="-122"/>
                  </a:rPr>
                  <a:t>1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88" name="Text Box 71"/>
              <p:cNvSpPr txBox="1">
                <a:spLocks noChangeArrowheads="1"/>
              </p:cNvSpPr>
              <p:nvPr/>
            </p:nvSpPr>
            <p:spPr bwMode="auto">
              <a:xfrm>
                <a:off x="2040" y="1260"/>
                <a:ext cx="78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89" name="Text Box 72"/>
              <p:cNvSpPr txBox="1">
                <a:spLocks noChangeArrowheads="1"/>
              </p:cNvSpPr>
              <p:nvPr/>
            </p:nvSpPr>
            <p:spPr bwMode="auto">
              <a:xfrm>
                <a:off x="3012" y="1956"/>
                <a:ext cx="38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T</a:t>
                </a:r>
                <a:r>
                  <a:rPr lang="en-US" altLang="zh-CN" sz="2800" b="1" baseline="-25000">
                    <a:ea typeface="楷体_GB2312" pitchFamily="49" charset="-122"/>
                  </a:rPr>
                  <a:t>2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  <p:sp>
            <p:nvSpPr>
              <p:cNvPr id="34890" name="Text Box 73"/>
              <p:cNvSpPr txBox="1">
                <a:spLocks noChangeArrowheads="1"/>
              </p:cNvSpPr>
              <p:nvPr/>
            </p:nvSpPr>
            <p:spPr bwMode="auto">
              <a:xfrm>
                <a:off x="3276" y="2340"/>
                <a:ext cx="396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R</a:t>
                </a:r>
                <a:r>
                  <a:rPr lang="en-US" altLang="zh-CN" sz="2800" b="1" baseline="-25000">
                    <a:ea typeface="楷体_GB2312" pitchFamily="49" charset="-122"/>
                  </a:rPr>
                  <a:t>5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91" name="Text Box 74"/>
              <p:cNvSpPr txBox="1">
                <a:spLocks noChangeArrowheads="1"/>
              </p:cNvSpPr>
              <p:nvPr/>
            </p:nvSpPr>
            <p:spPr bwMode="auto">
              <a:xfrm>
                <a:off x="3168" y="3252"/>
                <a:ext cx="64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R</a:t>
                </a:r>
                <a:r>
                  <a:rPr lang="en-US" altLang="zh-CN" sz="2800" b="1" baseline="-25000">
                    <a:ea typeface="楷体_GB2312" pitchFamily="49" charset="-122"/>
                  </a:rPr>
                  <a:t>3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92" name="Text Box 75"/>
              <p:cNvSpPr txBox="1">
                <a:spLocks noChangeArrowheads="1"/>
              </p:cNvSpPr>
              <p:nvPr/>
            </p:nvSpPr>
            <p:spPr bwMode="auto">
              <a:xfrm>
                <a:off x="3612" y="1728"/>
                <a:ext cx="62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T</a:t>
                </a:r>
                <a:r>
                  <a:rPr lang="en-US" altLang="zh-CN" sz="2800" b="1" baseline="-25000">
                    <a:ea typeface="楷体_GB2312" pitchFamily="49" charset="-122"/>
                  </a:rPr>
                  <a:t>3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  <p:sp>
            <p:nvSpPr>
              <p:cNvPr id="34893" name="Text Box 76"/>
              <p:cNvSpPr txBox="1">
                <a:spLocks noChangeArrowheads="1"/>
              </p:cNvSpPr>
              <p:nvPr/>
            </p:nvSpPr>
            <p:spPr bwMode="auto">
              <a:xfrm>
                <a:off x="4260" y="1968"/>
                <a:ext cx="4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T</a:t>
                </a:r>
                <a:r>
                  <a:rPr lang="en-US" altLang="zh-CN" sz="2800" b="1" baseline="-25000">
                    <a:ea typeface="楷体_GB2312" pitchFamily="49" charset="-122"/>
                  </a:rPr>
                  <a:t>4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94" name="Text Box 77"/>
              <p:cNvSpPr txBox="1">
                <a:spLocks noChangeArrowheads="1"/>
              </p:cNvSpPr>
              <p:nvPr/>
            </p:nvSpPr>
            <p:spPr bwMode="auto">
              <a:xfrm>
                <a:off x="1812" y="2112"/>
                <a:ext cx="45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>
                    <a:ea typeface="楷体_GB2312" pitchFamily="49" charset="-122"/>
                  </a:rPr>
                  <a:t>T</a:t>
                </a:r>
                <a:r>
                  <a:rPr lang="en-US" altLang="zh-CN" sz="3200" b="1" baseline="-25000">
                    <a:ea typeface="楷体_GB2312" pitchFamily="49" charset="-122"/>
                  </a:rPr>
                  <a:t>1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95" name="Text Box 78"/>
              <p:cNvSpPr txBox="1">
                <a:spLocks noChangeArrowheads="1"/>
              </p:cNvSpPr>
              <p:nvPr/>
            </p:nvSpPr>
            <p:spPr bwMode="auto">
              <a:xfrm>
                <a:off x="4272" y="2844"/>
                <a:ext cx="42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T</a:t>
                </a:r>
                <a:r>
                  <a:rPr lang="en-US" altLang="zh-CN" sz="2800" b="1" baseline="-25000">
                    <a:ea typeface="楷体_GB2312" pitchFamily="49" charset="-122"/>
                  </a:rPr>
                  <a:t>5</a:t>
                </a:r>
                <a:endParaRPr lang="en-US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96" name="Text Box 79"/>
              <p:cNvSpPr txBox="1">
                <a:spLocks noChangeArrowheads="1"/>
              </p:cNvSpPr>
              <p:nvPr/>
            </p:nvSpPr>
            <p:spPr bwMode="auto">
              <a:xfrm>
                <a:off x="1980" y="1572"/>
                <a:ext cx="50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97" name="Text Box 80"/>
              <p:cNvSpPr txBox="1">
                <a:spLocks noChangeArrowheads="1"/>
              </p:cNvSpPr>
              <p:nvPr/>
            </p:nvSpPr>
            <p:spPr bwMode="auto">
              <a:xfrm>
                <a:off x="2256" y="1753"/>
                <a:ext cx="636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sz="3200" b="1">
                  <a:ea typeface="楷体_GB2312" pitchFamily="49" charset="-122"/>
                </a:endParaRPr>
              </a:p>
            </p:txBody>
          </p:sp>
          <p:sp>
            <p:nvSpPr>
              <p:cNvPr id="34898" name="Text Box 81"/>
              <p:cNvSpPr txBox="1">
                <a:spLocks noChangeArrowheads="1"/>
              </p:cNvSpPr>
              <p:nvPr/>
            </p:nvSpPr>
            <p:spPr bwMode="auto">
              <a:xfrm>
                <a:off x="628" y="1897"/>
                <a:ext cx="4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sz="2800" b="1">
                  <a:ea typeface="楷体_GB2312" pitchFamily="49" charset="-122"/>
                </a:endParaRPr>
              </a:p>
            </p:txBody>
          </p:sp>
          <p:sp>
            <p:nvSpPr>
              <p:cNvPr id="34899" name="Text Box 82"/>
              <p:cNvSpPr txBox="1">
                <a:spLocks noChangeArrowheads="1"/>
              </p:cNvSpPr>
              <p:nvPr/>
            </p:nvSpPr>
            <p:spPr bwMode="auto">
              <a:xfrm>
                <a:off x="628" y="2149"/>
                <a:ext cx="4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A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  <p:sp>
            <p:nvSpPr>
              <p:cNvPr id="34900" name="Text Box 83"/>
              <p:cNvSpPr txBox="1">
                <a:spLocks noChangeArrowheads="1"/>
              </p:cNvSpPr>
              <p:nvPr/>
            </p:nvSpPr>
            <p:spPr bwMode="auto">
              <a:xfrm>
                <a:off x="628" y="2377"/>
                <a:ext cx="4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zh-CN" altLang="zh-CN" sz="2800" b="1">
                  <a:ea typeface="楷体_GB2312" pitchFamily="49" charset="-122"/>
                </a:endParaRPr>
              </a:p>
            </p:txBody>
          </p:sp>
        </p:grpSp>
        <p:sp>
          <p:nvSpPr>
            <p:cNvPr id="34840" name="Text Box 84"/>
            <p:cNvSpPr txBox="1">
              <a:spLocks noChangeArrowheads="1"/>
            </p:cNvSpPr>
            <p:nvPr/>
          </p:nvSpPr>
          <p:spPr bwMode="auto">
            <a:xfrm>
              <a:off x="784" y="2389"/>
              <a:ext cx="4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楷体_GB2312" pitchFamily="49" charset="-122"/>
                </a:rPr>
                <a:t>B</a:t>
              </a:r>
              <a:endParaRPr lang="en-US" altLang="zh-CN" sz="2800" b="1">
                <a:ea typeface="楷体_GB2312" pitchFamily="49" charset="-122"/>
              </a:endParaRPr>
            </a:p>
          </p:txBody>
        </p:sp>
      </p:grpSp>
      <p:sp>
        <p:nvSpPr>
          <p:cNvPr id="277604" name="Text Box 100"/>
          <p:cNvSpPr txBox="1">
            <a:spLocks noChangeArrowheads="1"/>
          </p:cNvSpPr>
          <p:nvPr/>
        </p:nvSpPr>
        <p:spPr bwMode="auto">
          <a:xfrm>
            <a:off x="1066800" y="4876800"/>
            <a:ext cx="2190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E---</a:t>
            </a:r>
            <a:r>
              <a:rPr lang="zh-CN" altLang="zh-CN" sz="3200" b="1">
                <a:ea typeface="楷体_GB2312" pitchFamily="49" charset="-122"/>
              </a:rPr>
              <a:t>控制端</a:t>
            </a:r>
            <a:endParaRPr lang="zh-CN" altLang="en-US" sz="3200" b="1">
              <a:ea typeface="楷体_GB2312" pitchFamily="49" charset="-122"/>
            </a:endParaRPr>
          </a:p>
        </p:txBody>
      </p:sp>
      <p:grpSp>
        <p:nvGrpSpPr>
          <p:cNvPr id="277638" name="Group 134"/>
          <p:cNvGrpSpPr/>
          <p:nvPr/>
        </p:nvGrpSpPr>
        <p:grpSpPr bwMode="auto">
          <a:xfrm>
            <a:off x="515938" y="1989138"/>
            <a:ext cx="4533900" cy="1377950"/>
            <a:chOff x="324" y="1244"/>
            <a:chExt cx="2856" cy="868"/>
          </a:xfrm>
        </p:grpSpPr>
        <p:grpSp>
          <p:nvGrpSpPr>
            <p:cNvPr id="34823" name="Group 118"/>
            <p:cNvGrpSpPr/>
            <p:nvPr/>
          </p:nvGrpSpPr>
          <p:grpSpPr bwMode="auto">
            <a:xfrm>
              <a:off x="324" y="1244"/>
              <a:ext cx="2856" cy="868"/>
              <a:chOff x="324" y="1244"/>
              <a:chExt cx="2856" cy="868"/>
            </a:xfrm>
          </p:grpSpPr>
          <p:sp>
            <p:nvSpPr>
              <p:cNvPr id="34825" name="Line 119"/>
              <p:cNvSpPr>
                <a:spLocks noChangeShapeType="1"/>
              </p:cNvSpPr>
              <p:nvPr/>
            </p:nvSpPr>
            <p:spPr bwMode="auto">
              <a:xfrm flipV="1">
                <a:off x="1212" y="1704"/>
                <a:ext cx="0" cy="40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4826" name="Group 120"/>
              <p:cNvGrpSpPr/>
              <p:nvPr/>
            </p:nvGrpSpPr>
            <p:grpSpPr bwMode="auto">
              <a:xfrm>
                <a:off x="324" y="1244"/>
                <a:ext cx="2856" cy="676"/>
                <a:chOff x="324" y="1244"/>
                <a:chExt cx="2856" cy="676"/>
              </a:xfrm>
            </p:grpSpPr>
            <p:sp>
              <p:nvSpPr>
                <p:cNvPr id="34827" name="Freeform 121"/>
                <p:cNvSpPr>
                  <a:spLocks noChangeArrowheads="1"/>
                </p:cNvSpPr>
                <p:nvPr/>
              </p:nvSpPr>
              <p:spPr bwMode="auto">
                <a:xfrm>
                  <a:off x="2012" y="1619"/>
                  <a:ext cx="213" cy="91"/>
                </a:xfrm>
                <a:custGeom>
                  <a:avLst/>
                  <a:gdLst>
                    <a:gd name="T0" fmla="*/ 16 w 213"/>
                    <a:gd name="T1" fmla="*/ 91 h 91"/>
                    <a:gd name="T2" fmla="*/ 28 w 213"/>
                    <a:gd name="T3" fmla="*/ 13 h 91"/>
                    <a:gd name="T4" fmla="*/ 184 w 213"/>
                    <a:gd name="T5" fmla="*/ 13 h 91"/>
                    <a:gd name="T6" fmla="*/ 202 w 213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3" h="91">
                      <a:moveTo>
                        <a:pt x="16" y="91"/>
                      </a:moveTo>
                      <a:cubicBezTo>
                        <a:pt x="20" y="75"/>
                        <a:pt x="0" y="26"/>
                        <a:pt x="28" y="13"/>
                      </a:cubicBezTo>
                      <a:cubicBezTo>
                        <a:pt x="56" y="0"/>
                        <a:pt x="155" y="0"/>
                        <a:pt x="184" y="13"/>
                      </a:cubicBezTo>
                      <a:cubicBezTo>
                        <a:pt x="213" y="26"/>
                        <a:pt x="198" y="75"/>
                        <a:pt x="202" y="91"/>
                      </a:cubicBezTo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28" name="Line 122"/>
                <p:cNvSpPr>
                  <a:spLocks noChangeShapeType="1"/>
                </p:cNvSpPr>
                <p:nvPr/>
              </p:nvSpPr>
              <p:spPr bwMode="auto">
                <a:xfrm>
                  <a:off x="2196" y="1704"/>
                  <a:ext cx="984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4829" name="Group 123"/>
                <p:cNvGrpSpPr/>
                <p:nvPr/>
              </p:nvGrpSpPr>
              <p:grpSpPr bwMode="auto">
                <a:xfrm>
                  <a:off x="2448" y="1572"/>
                  <a:ext cx="240" cy="276"/>
                  <a:chOff x="1560" y="3216"/>
                  <a:chExt cx="240" cy="276"/>
                </a:xfrm>
              </p:grpSpPr>
              <p:sp>
                <p:nvSpPr>
                  <p:cNvPr id="34837" name="Line 124"/>
                  <p:cNvSpPr>
                    <a:spLocks noChangeShapeType="1"/>
                  </p:cNvSpPr>
                  <p:nvPr/>
                </p:nvSpPr>
                <p:spPr bwMode="auto">
                  <a:xfrm>
                    <a:off x="1560" y="3228"/>
                    <a:ext cx="0" cy="252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38" name="AutoShape 125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548" y="3240"/>
                    <a:ext cx="276" cy="228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miter lim="800000"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</p:grpSp>
            <p:sp>
              <p:nvSpPr>
                <p:cNvPr id="34830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2496" y="1260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solidFill>
                        <a:srgbClr val="FF0000"/>
                      </a:solidFill>
                      <a:ea typeface="楷体_GB2312" pitchFamily="49" charset="-122"/>
                    </a:rPr>
                    <a:t>D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4831" name="Rectangle 127"/>
                <p:cNvSpPr>
                  <a:spLocks noChangeArrowheads="1"/>
                </p:cNvSpPr>
                <p:nvPr/>
              </p:nvSpPr>
              <p:spPr bwMode="auto">
                <a:xfrm>
                  <a:off x="708" y="1464"/>
                  <a:ext cx="324" cy="456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4832" name="Line 128"/>
                <p:cNvSpPr>
                  <a:spLocks noChangeShapeType="1"/>
                </p:cNvSpPr>
                <p:nvPr/>
              </p:nvSpPr>
              <p:spPr bwMode="auto">
                <a:xfrm flipH="1">
                  <a:off x="1092" y="1704"/>
                  <a:ext cx="93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33" name="Oval 129"/>
                <p:cNvSpPr>
                  <a:spLocks noChangeArrowheads="1"/>
                </p:cNvSpPr>
                <p:nvPr/>
              </p:nvSpPr>
              <p:spPr bwMode="auto">
                <a:xfrm>
                  <a:off x="1032" y="1656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4834" name="Line 130"/>
                <p:cNvSpPr>
                  <a:spLocks noChangeShapeType="1"/>
                </p:cNvSpPr>
                <p:nvPr/>
              </p:nvSpPr>
              <p:spPr bwMode="auto">
                <a:xfrm flipH="1">
                  <a:off x="456" y="1680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35" name="Text Box 131"/>
                <p:cNvSpPr txBox="1">
                  <a:spLocks noChangeArrowheads="1"/>
                </p:cNvSpPr>
                <p:nvPr/>
              </p:nvSpPr>
              <p:spPr bwMode="auto">
                <a:xfrm>
                  <a:off x="324" y="1320"/>
                  <a:ext cx="372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>
                      <a:ea typeface="楷体_GB2312" pitchFamily="49" charset="-122"/>
                    </a:rPr>
                    <a:t>E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4836" name="Object 132"/>
                    <p:cNvSpPr txBox="1"/>
                    <p:nvPr/>
                  </p:nvSpPr>
                  <p:spPr bwMode="auto">
                    <a:xfrm>
                      <a:off x="1080" y="1244"/>
                      <a:ext cx="215" cy="37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ba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34836" name="Object 1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080" y="1244"/>
                      <a:ext cx="215" cy="379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34824" name="Text Box 133"/>
            <p:cNvSpPr txBox="1">
              <a:spLocks noChangeArrowheads="1"/>
            </p:cNvSpPr>
            <p:nvPr/>
          </p:nvSpPr>
          <p:spPr bwMode="auto">
            <a:xfrm>
              <a:off x="741" y="150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rgbClr val="FF0000"/>
                  </a:solidFill>
                </a:rPr>
                <a:t>1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</p:grpSp>
      <p:sp>
        <p:nvSpPr>
          <p:cNvPr id="277639" name="Oval 135"/>
          <p:cNvSpPr>
            <a:spLocks noChangeArrowheads="1"/>
          </p:cNvSpPr>
          <p:nvPr/>
        </p:nvSpPr>
        <p:spPr bwMode="auto">
          <a:xfrm>
            <a:off x="4962525" y="2644775"/>
            <a:ext cx="141288" cy="1301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7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7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60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/>
          <p:nvPr/>
        </p:nvGrpSpPr>
        <p:grpSpPr bwMode="auto">
          <a:xfrm>
            <a:off x="319088" y="1047750"/>
            <a:ext cx="8824913" cy="5343525"/>
            <a:chOff x="201" y="660"/>
            <a:chExt cx="5559" cy="3366"/>
          </a:xfrm>
        </p:grpSpPr>
        <p:grpSp>
          <p:nvGrpSpPr>
            <p:cNvPr id="35857" name="Group 3"/>
            <p:cNvGrpSpPr/>
            <p:nvPr/>
          </p:nvGrpSpPr>
          <p:grpSpPr bwMode="auto">
            <a:xfrm>
              <a:off x="628" y="660"/>
              <a:ext cx="5132" cy="3366"/>
              <a:chOff x="772" y="660"/>
              <a:chExt cx="5132" cy="3366"/>
            </a:xfrm>
          </p:grpSpPr>
          <p:grpSp>
            <p:nvGrpSpPr>
              <p:cNvPr id="35873" name="Group 4"/>
              <p:cNvGrpSpPr/>
              <p:nvPr/>
            </p:nvGrpSpPr>
            <p:grpSpPr bwMode="auto">
              <a:xfrm>
                <a:off x="772" y="660"/>
                <a:ext cx="5132" cy="3366"/>
                <a:chOff x="628" y="660"/>
                <a:chExt cx="5132" cy="3366"/>
              </a:xfrm>
            </p:grpSpPr>
            <p:grpSp>
              <p:nvGrpSpPr>
                <p:cNvPr id="35875" name="Group 5"/>
                <p:cNvGrpSpPr/>
                <p:nvPr/>
              </p:nvGrpSpPr>
              <p:grpSpPr bwMode="auto">
                <a:xfrm>
                  <a:off x="1428" y="1524"/>
                  <a:ext cx="1392" cy="612"/>
                  <a:chOff x="984" y="1260"/>
                  <a:chExt cx="1392" cy="612"/>
                </a:xfrm>
              </p:grpSpPr>
              <p:sp>
                <p:nvSpPr>
                  <p:cNvPr id="35947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1632"/>
                    <a:ext cx="600" cy="0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48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24" y="1260"/>
                    <a:ext cx="0" cy="3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49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72" y="1632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50" name="Line 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28" y="1632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51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84" y="1632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52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524" y="1632"/>
                    <a:ext cx="312" cy="223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53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812" y="1855"/>
                    <a:ext cx="56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876" name="Group 13"/>
                <p:cNvGrpSpPr/>
                <p:nvPr/>
              </p:nvGrpSpPr>
              <p:grpSpPr bwMode="auto">
                <a:xfrm>
                  <a:off x="2820" y="1908"/>
                  <a:ext cx="240" cy="456"/>
                  <a:chOff x="2376" y="1644"/>
                  <a:chExt cx="240" cy="456"/>
                </a:xfrm>
              </p:grpSpPr>
              <p:sp>
                <p:nvSpPr>
                  <p:cNvPr id="3594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45" name="Line 15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46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5877" name="Group 17"/>
                <p:cNvGrpSpPr/>
                <p:nvPr/>
              </p:nvGrpSpPr>
              <p:grpSpPr bwMode="auto">
                <a:xfrm>
                  <a:off x="3504" y="1704"/>
                  <a:ext cx="240" cy="456"/>
                  <a:chOff x="2376" y="1644"/>
                  <a:chExt cx="240" cy="456"/>
                </a:xfrm>
              </p:grpSpPr>
              <p:sp>
                <p:nvSpPr>
                  <p:cNvPr id="35941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42" name="Line 19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43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878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034" y="1536"/>
                  <a:ext cx="0" cy="3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79" name="Rectangle 22"/>
                <p:cNvSpPr>
                  <a:spLocks noChangeArrowheads="1"/>
                </p:cNvSpPr>
                <p:nvPr/>
              </p:nvSpPr>
              <p:spPr bwMode="auto">
                <a:xfrm>
                  <a:off x="2980" y="3186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880" name="Rectangle 23"/>
                <p:cNvSpPr>
                  <a:spLocks noChangeArrowheads="1"/>
                </p:cNvSpPr>
                <p:nvPr/>
              </p:nvSpPr>
              <p:spPr bwMode="auto">
                <a:xfrm>
                  <a:off x="1908" y="1099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881" name="Rectangle 24"/>
                <p:cNvSpPr>
                  <a:spLocks noChangeArrowheads="1"/>
                </p:cNvSpPr>
                <p:nvPr/>
              </p:nvSpPr>
              <p:spPr bwMode="auto">
                <a:xfrm>
                  <a:off x="2974" y="1116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882" name="Line 25"/>
                <p:cNvSpPr>
                  <a:spLocks noChangeShapeType="1"/>
                </p:cNvSpPr>
                <p:nvPr/>
              </p:nvSpPr>
              <p:spPr bwMode="auto">
                <a:xfrm>
                  <a:off x="1968" y="1092"/>
                  <a:ext cx="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3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1968" y="847"/>
                  <a:ext cx="0" cy="24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4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3034" y="847"/>
                  <a:ext cx="0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5" name="Line 28"/>
                <p:cNvSpPr>
                  <a:spLocks noChangeShapeType="1"/>
                </p:cNvSpPr>
                <p:nvPr/>
              </p:nvSpPr>
              <p:spPr bwMode="auto">
                <a:xfrm>
                  <a:off x="1968" y="847"/>
                  <a:ext cx="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6" name="Line 29"/>
                <p:cNvSpPr>
                  <a:spLocks noChangeShapeType="1"/>
                </p:cNvSpPr>
                <p:nvPr/>
              </p:nvSpPr>
              <p:spPr bwMode="auto">
                <a:xfrm>
                  <a:off x="1962" y="853"/>
                  <a:ext cx="286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87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3034" y="1908"/>
                  <a:ext cx="47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5888" name="Group 31"/>
                <p:cNvGrpSpPr/>
                <p:nvPr/>
              </p:nvGrpSpPr>
              <p:grpSpPr bwMode="auto">
                <a:xfrm>
                  <a:off x="4008" y="1920"/>
                  <a:ext cx="240" cy="456"/>
                  <a:chOff x="2376" y="1644"/>
                  <a:chExt cx="240" cy="456"/>
                </a:xfrm>
              </p:grpSpPr>
              <p:sp>
                <p:nvSpPr>
                  <p:cNvPr id="35938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39" name="Line 33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40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889" name="Line 35"/>
                <p:cNvSpPr>
                  <a:spLocks noChangeShapeType="1"/>
                </p:cNvSpPr>
                <p:nvPr/>
              </p:nvSpPr>
              <p:spPr bwMode="auto">
                <a:xfrm>
                  <a:off x="3708" y="2136"/>
                  <a:ext cx="3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0" name="Line 36"/>
                <p:cNvSpPr>
                  <a:spLocks noChangeShapeType="1"/>
                </p:cNvSpPr>
                <p:nvPr/>
              </p:nvSpPr>
              <p:spPr bwMode="auto">
                <a:xfrm>
                  <a:off x="3708" y="1711"/>
                  <a:ext cx="50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1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4210" y="1711"/>
                  <a:ext cx="0" cy="23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2" name="Rectangle 38"/>
                <p:cNvSpPr>
                  <a:spLocks noChangeArrowheads="1"/>
                </p:cNvSpPr>
                <p:nvPr/>
              </p:nvSpPr>
              <p:spPr bwMode="auto">
                <a:xfrm>
                  <a:off x="4150" y="1123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893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4210" y="1543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4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4210" y="852"/>
                  <a:ext cx="0" cy="2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5895" name="Group 41"/>
                <p:cNvGrpSpPr/>
                <p:nvPr/>
              </p:nvGrpSpPr>
              <p:grpSpPr bwMode="auto">
                <a:xfrm>
                  <a:off x="4008" y="2772"/>
                  <a:ext cx="240" cy="456"/>
                  <a:chOff x="2376" y="1644"/>
                  <a:chExt cx="240" cy="456"/>
                </a:xfrm>
              </p:grpSpPr>
              <p:sp>
                <p:nvSpPr>
                  <p:cNvPr id="35935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36" name="Line 43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37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5896" name="Rectangle 45"/>
                <p:cNvSpPr>
                  <a:spLocks noChangeArrowheads="1"/>
                </p:cNvSpPr>
                <p:nvPr/>
              </p:nvSpPr>
              <p:spPr bwMode="auto">
                <a:xfrm>
                  <a:off x="3660" y="2256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897" name="Line 46"/>
                <p:cNvSpPr>
                  <a:spLocks noChangeShapeType="1"/>
                </p:cNvSpPr>
                <p:nvPr/>
              </p:nvSpPr>
              <p:spPr bwMode="auto">
                <a:xfrm>
                  <a:off x="3720" y="2124"/>
                  <a:ext cx="0" cy="1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8" name="Line 47"/>
                <p:cNvSpPr>
                  <a:spLocks noChangeShapeType="1"/>
                </p:cNvSpPr>
                <p:nvPr/>
              </p:nvSpPr>
              <p:spPr bwMode="auto">
                <a:xfrm>
                  <a:off x="3714" y="267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99" name="Line 48"/>
                <p:cNvSpPr>
                  <a:spLocks noChangeShapeType="1"/>
                </p:cNvSpPr>
                <p:nvPr/>
              </p:nvSpPr>
              <p:spPr bwMode="auto">
                <a:xfrm>
                  <a:off x="3594" y="2760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0" name="Line 49"/>
                <p:cNvSpPr>
                  <a:spLocks noChangeShapeType="1"/>
                </p:cNvSpPr>
                <p:nvPr/>
              </p:nvSpPr>
              <p:spPr bwMode="auto">
                <a:xfrm>
                  <a:off x="3040" y="2346"/>
                  <a:ext cx="0" cy="8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1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3040" y="2989"/>
                  <a:ext cx="96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2" name="Line 51"/>
                <p:cNvSpPr>
                  <a:spLocks noChangeShapeType="1"/>
                </p:cNvSpPr>
                <p:nvPr/>
              </p:nvSpPr>
              <p:spPr bwMode="auto">
                <a:xfrm>
                  <a:off x="3040" y="3600"/>
                  <a:ext cx="0" cy="28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3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3042" y="3858"/>
                  <a:ext cx="1186" cy="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4" name="Line 53"/>
                <p:cNvSpPr>
                  <a:spLocks noChangeShapeType="1"/>
                </p:cNvSpPr>
                <p:nvPr/>
              </p:nvSpPr>
              <p:spPr bwMode="auto">
                <a:xfrm>
                  <a:off x="4228" y="2364"/>
                  <a:ext cx="0" cy="42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5" name="Line 54"/>
                <p:cNvSpPr>
                  <a:spLocks noChangeShapeType="1"/>
                </p:cNvSpPr>
                <p:nvPr/>
              </p:nvSpPr>
              <p:spPr bwMode="auto">
                <a:xfrm>
                  <a:off x="4228" y="3216"/>
                  <a:ext cx="0" cy="81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6" name="Line 55"/>
                <p:cNvSpPr>
                  <a:spLocks noChangeShapeType="1"/>
                </p:cNvSpPr>
                <p:nvPr/>
              </p:nvSpPr>
              <p:spPr bwMode="auto">
                <a:xfrm>
                  <a:off x="4098" y="4020"/>
                  <a:ext cx="25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7" name="Line 56"/>
                <p:cNvSpPr>
                  <a:spLocks noChangeShapeType="1"/>
                </p:cNvSpPr>
                <p:nvPr/>
              </p:nvSpPr>
              <p:spPr bwMode="auto">
                <a:xfrm>
                  <a:off x="4228" y="2544"/>
                  <a:ext cx="6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8" name="Line 57"/>
                <p:cNvSpPr>
                  <a:spLocks noChangeShapeType="1"/>
                </p:cNvSpPr>
                <p:nvPr/>
              </p:nvSpPr>
              <p:spPr bwMode="auto">
                <a:xfrm flipH="1" flipV="1">
                  <a:off x="1060" y="2106"/>
                  <a:ext cx="404" cy="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09" name="Line 58"/>
                <p:cNvSpPr>
                  <a:spLocks noChangeShapeType="1"/>
                </p:cNvSpPr>
                <p:nvPr/>
              </p:nvSpPr>
              <p:spPr bwMode="auto">
                <a:xfrm>
                  <a:off x="1584" y="2112"/>
                  <a:ext cx="0" cy="2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10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1072" y="2328"/>
                  <a:ext cx="51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11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728" y="2124"/>
                  <a:ext cx="0" cy="42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12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1084" y="2532"/>
                  <a:ext cx="65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913" name="Oval 62"/>
                <p:cNvSpPr>
                  <a:spLocks noChangeArrowheads="1"/>
                </p:cNvSpPr>
                <p:nvPr/>
              </p:nvSpPr>
              <p:spPr bwMode="auto">
                <a:xfrm>
                  <a:off x="4824" y="780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914" name="Oval 63"/>
                <p:cNvSpPr>
                  <a:spLocks noChangeArrowheads="1"/>
                </p:cNvSpPr>
                <p:nvPr/>
              </p:nvSpPr>
              <p:spPr bwMode="auto">
                <a:xfrm>
                  <a:off x="4824" y="2472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915" name="Oval 64"/>
                <p:cNvSpPr>
                  <a:spLocks noChangeArrowheads="1"/>
                </p:cNvSpPr>
                <p:nvPr/>
              </p:nvSpPr>
              <p:spPr bwMode="auto">
                <a:xfrm>
                  <a:off x="952" y="2256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916" name="Oval 65"/>
                <p:cNvSpPr>
                  <a:spLocks noChangeArrowheads="1"/>
                </p:cNvSpPr>
                <p:nvPr/>
              </p:nvSpPr>
              <p:spPr bwMode="auto">
                <a:xfrm>
                  <a:off x="958" y="2466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917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968" y="660"/>
                  <a:ext cx="792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>
                      <a:ea typeface="长城楷体" pitchFamily="49" charset="-122"/>
                    </a:rPr>
                    <a:t>+5V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18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5016" y="2400"/>
                  <a:ext cx="468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>
                      <a:ea typeface="长城楷体" pitchFamily="49" charset="-122"/>
                    </a:rPr>
                    <a:t>F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19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296" y="1128"/>
                  <a:ext cx="66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R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4</a:t>
                  </a:r>
                  <a:endParaRPr lang="en-US" altLang="zh-CN" sz="2800" b="1">
                    <a:ea typeface="长城楷体" pitchFamily="49" charset="-122"/>
                  </a:endParaRPr>
                </a:p>
              </p:txBody>
            </p:sp>
            <p:sp>
              <p:nvSpPr>
                <p:cNvPr id="35920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3120" y="1116"/>
                  <a:ext cx="66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R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2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21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2040" y="900"/>
                  <a:ext cx="66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R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1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22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040" y="1260"/>
                  <a:ext cx="780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23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3012" y="1956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T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2</a:t>
                  </a:r>
                  <a:endParaRPr lang="en-US" altLang="zh-CN" sz="2800" b="1">
                    <a:ea typeface="长城楷体" pitchFamily="49" charset="-122"/>
                  </a:endParaRPr>
                </a:p>
              </p:txBody>
            </p:sp>
            <p:sp>
              <p:nvSpPr>
                <p:cNvPr id="35924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3276" y="2340"/>
                  <a:ext cx="39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R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5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25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168" y="3252"/>
                  <a:ext cx="64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R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3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26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3612" y="1728"/>
                  <a:ext cx="62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T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3</a:t>
                  </a:r>
                  <a:endParaRPr lang="en-US" altLang="zh-CN" sz="2800" b="1">
                    <a:ea typeface="长城楷体" pitchFamily="49" charset="-122"/>
                  </a:endParaRPr>
                </a:p>
              </p:txBody>
            </p:sp>
            <p:sp>
              <p:nvSpPr>
                <p:cNvPr id="35927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260" y="1968"/>
                  <a:ext cx="42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T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4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28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1812" y="2112"/>
                  <a:ext cx="456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>
                      <a:ea typeface="长城楷体" pitchFamily="49" charset="-122"/>
                    </a:rPr>
                    <a:t>T</a:t>
                  </a:r>
                  <a:r>
                    <a:rPr lang="en-US" altLang="zh-CN" sz="3200" b="1" baseline="-25000">
                      <a:ea typeface="长城楷体" pitchFamily="49" charset="-122"/>
                    </a:rPr>
                    <a:t>1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29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272" y="2844"/>
                  <a:ext cx="42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T</a:t>
                  </a:r>
                  <a:r>
                    <a:rPr lang="en-US" altLang="zh-CN" sz="2800" b="1" baseline="-25000">
                      <a:ea typeface="长城楷体" pitchFamily="49" charset="-122"/>
                    </a:rPr>
                    <a:t>5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30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1980" y="1572"/>
                  <a:ext cx="504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31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2256" y="1753"/>
                  <a:ext cx="636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932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628" y="1897"/>
                  <a:ext cx="44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2800" b="1">
                    <a:ea typeface="长城楷体" pitchFamily="49" charset="-122"/>
                  </a:endParaRPr>
                </a:p>
              </p:txBody>
            </p:sp>
            <p:sp>
              <p:nvSpPr>
                <p:cNvPr id="35933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628" y="2149"/>
                  <a:ext cx="44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长城楷体" pitchFamily="49" charset="-122"/>
                    </a:rPr>
                    <a:t>A</a:t>
                  </a:r>
                  <a:endParaRPr lang="en-US" altLang="zh-CN" sz="2800" b="1">
                    <a:ea typeface="长城楷体" pitchFamily="49" charset="-122"/>
                  </a:endParaRPr>
                </a:p>
              </p:txBody>
            </p:sp>
            <p:sp>
              <p:nvSpPr>
                <p:cNvPr id="35934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628" y="2377"/>
                  <a:ext cx="44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2800" b="1">
                    <a:ea typeface="长城楷体" pitchFamily="49" charset="-122"/>
                  </a:endParaRPr>
                </a:p>
              </p:txBody>
            </p:sp>
          </p:grpSp>
          <p:sp>
            <p:nvSpPr>
              <p:cNvPr id="35874" name="Text Box 84"/>
              <p:cNvSpPr txBox="1">
                <a:spLocks noChangeArrowheads="1"/>
              </p:cNvSpPr>
              <p:nvPr/>
            </p:nvSpPr>
            <p:spPr bwMode="auto">
              <a:xfrm>
                <a:off x="784" y="2389"/>
                <a:ext cx="4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长城楷体" pitchFamily="49" charset="-122"/>
                  </a:rPr>
                  <a:t>B</a:t>
                </a:r>
                <a:endParaRPr lang="en-US" altLang="zh-CN" sz="2800" b="1">
                  <a:ea typeface="长城楷体" pitchFamily="49" charset="-122"/>
                </a:endParaRPr>
              </a:p>
            </p:txBody>
          </p:sp>
        </p:grpSp>
        <p:grpSp>
          <p:nvGrpSpPr>
            <p:cNvPr id="35858" name="Group 85"/>
            <p:cNvGrpSpPr/>
            <p:nvPr/>
          </p:nvGrpSpPr>
          <p:grpSpPr bwMode="auto">
            <a:xfrm>
              <a:off x="201" y="1260"/>
              <a:ext cx="2835" cy="852"/>
              <a:chOff x="201" y="1260"/>
              <a:chExt cx="2835" cy="852"/>
            </a:xfrm>
          </p:grpSpPr>
          <p:sp>
            <p:nvSpPr>
              <p:cNvPr id="35859" name="Line 86"/>
              <p:cNvSpPr>
                <a:spLocks noChangeShapeType="1"/>
              </p:cNvSpPr>
              <p:nvPr/>
            </p:nvSpPr>
            <p:spPr bwMode="auto">
              <a:xfrm flipV="1">
                <a:off x="1068" y="1704"/>
                <a:ext cx="0" cy="40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5860" name="Group 87"/>
              <p:cNvGrpSpPr/>
              <p:nvPr/>
            </p:nvGrpSpPr>
            <p:grpSpPr bwMode="auto">
              <a:xfrm>
                <a:off x="201" y="1260"/>
                <a:ext cx="2835" cy="660"/>
                <a:chOff x="201" y="1260"/>
                <a:chExt cx="2835" cy="660"/>
              </a:xfrm>
            </p:grpSpPr>
            <p:sp>
              <p:nvSpPr>
                <p:cNvPr id="35861" name="Freeform 88"/>
                <p:cNvSpPr>
                  <a:spLocks noChangeArrowheads="1"/>
                </p:cNvSpPr>
                <p:nvPr/>
              </p:nvSpPr>
              <p:spPr bwMode="auto">
                <a:xfrm>
                  <a:off x="1868" y="1619"/>
                  <a:ext cx="213" cy="91"/>
                </a:xfrm>
                <a:custGeom>
                  <a:avLst/>
                  <a:gdLst>
                    <a:gd name="T0" fmla="*/ 16 w 213"/>
                    <a:gd name="T1" fmla="*/ 91 h 91"/>
                    <a:gd name="T2" fmla="*/ 28 w 213"/>
                    <a:gd name="T3" fmla="*/ 13 h 91"/>
                    <a:gd name="T4" fmla="*/ 184 w 213"/>
                    <a:gd name="T5" fmla="*/ 13 h 91"/>
                    <a:gd name="T6" fmla="*/ 202 w 213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3" h="91">
                      <a:moveTo>
                        <a:pt x="16" y="91"/>
                      </a:moveTo>
                      <a:cubicBezTo>
                        <a:pt x="20" y="75"/>
                        <a:pt x="0" y="26"/>
                        <a:pt x="28" y="13"/>
                      </a:cubicBezTo>
                      <a:cubicBezTo>
                        <a:pt x="56" y="0"/>
                        <a:pt x="155" y="0"/>
                        <a:pt x="184" y="13"/>
                      </a:cubicBezTo>
                      <a:cubicBezTo>
                        <a:pt x="213" y="26"/>
                        <a:pt x="198" y="75"/>
                        <a:pt x="202" y="91"/>
                      </a:cubicBezTo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2" name="Line 89"/>
                <p:cNvSpPr>
                  <a:spLocks noChangeShapeType="1"/>
                </p:cNvSpPr>
                <p:nvPr/>
              </p:nvSpPr>
              <p:spPr bwMode="auto">
                <a:xfrm>
                  <a:off x="2052" y="1704"/>
                  <a:ext cx="984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5863" name="Group 90"/>
                <p:cNvGrpSpPr/>
                <p:nvPr/>
              </p:nvGrpSpPr>
              <p:grpSpPr bwMode="auto">
                <a:xfrm>
                  <a:off x="2304" y="1572"/>
                  <a:ext cx="240" cy="276"/>
                  <a:chOff x="1560" y="3216"/>
                  <a:chExt cx="240" cy="276"/>
                </a:xfrm>
              </p:grpSpPr>
              <p:sp>
                <p:nvSpPr>
                  <p:cNvPr id="35871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1560" y="3228"/>
                    <a:ext cx="0" cy="252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72" name="AutoShape 9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548" y="3240"/>
                    <a:ext cx="276" cy="228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miter lim="800000"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</p:grpSp>
            <p:sp>
              <p:nvSpPr>
                <p:cNvPr id="35864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2352" y="1260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solidFill>
                        <a:srgbClr val="FF0000"/>
                      </a:solidFill>
                      <a:ea typeface="长城楷体" pitchFamily="49" charset="-122"/>
                    </a:rPr>
                    <a:t>D</a:t>
                  </a:r>
                  <a:endParaRPr lang="en-US" altLang="zh-CN" sz="3200" b="1">
                    <a:ea typeface="长城楷体" pitchFamily="49" charset="-122"/>
                  </a:endParaRPr>
                </a:p>
              </p:txBody>
            </p:sp>
            <p:sp>
              <p:nvSpPr>
                <p:cNvPr id="35865" name="Rectangle 94"/>
                <p:cNvSpPr>
                  <a:spLocks noChangeArrowheads="1"/>
                </p:cNvSpPr>
                <p:nvPr/>
              </p:nvSpPr>
              <p:spPr bwMode="auto">
                <a:xfrm>
                  <a:off x="564" y="1464"/>
                  <a:ext cx="324" cy="456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866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948" y="1704"/>
                  <a:ext cx="93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7" name="Oval 96"/>
                <p:cNvSpPr>
                  <a:spLocks noChangeArrowheads="1"/>
                </p:cNvSpPr>
                <p:nvPr/>
              </p:nvSpPr>
              <p:spPr bwMode="auto">
                <a:xfrm>
                  <a:off x="888" y="1656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5868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312" y="1680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869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966" y="1309"/>
                  <a:ext cx="372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ea typeface="长城楷体" pitchFamily="49" charset="-122"/>
                    </a:rPr>
                    <a:t>E</a:t>
                  </a:r>
                  <a:endParaRPr lang="en-US" altLang="zh-CN" sz="3200" b="1" dirty="0">
                    <a:ea typeface="长城楷体" pitchFamily="49" charset="-122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870" name="Object 99"/>
                    <p:cNvSpPr txBox="1"/>
                    <p:nvPr/>
                  </p:nvSpPr>
                  <p:spPr bwMode="auto">
                    <a:xfrm>
                      <a:off x="201" y="1328"/>
                      <a:ext cx="268" cy="30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 fontScale="92500"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bar>
                          </m:oMath>
                        </m:oMathPara>
                      </a14:m>
                      <a:endParaRPr lang="zh-CN" altLang="en-US" sz="2400" b="1" dirty="0"/>
                    </a:p>
                  </p:txBody>
                </p:sp>
              </mc:Choice>
              <mc:Fallback>
                <p:sp>
                  <p:nvSpPr>
                    <p:cNvPr id="35870" name="Object 9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01" y="1328"/>
                      <a:ext cx="268" cy="307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278628" name="Group 100"/>
          <p:cNvGrpSpPr/>
          <p:nvPr/>
        </p:nvGrpSpPr>
        <p:grpSpPr bwMode="auto">
          <a:xfrm>
            <a:off x="228600" y="1143000"/>
            <a:ext cx="571500" cy="1466850"/>
            <a:chOff x="144" y="720"/>
            <a:chExt cx="360" cy="924"/>
          </a:xfrm>
        </p:grpSpPr>
        <p:sp>
          <p:nvSpPr>
            <p:cNvPr id="35854" name="Oval 101"/>
            <p:cNvSpPr>
              <a:spLocks noChangeArrowheads="1"/>
            </p:cNvSpPr>
            <p:nvPr/>
          </p:nvSpPr>
          <p:spPr bwMode="auto">
            <a:xfrm>
              <a:off x="144" y="1296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5855" name="Line 102"/>
            <p:cNvSpPr>
              <a:spLocks noChangeShapeType="1"/>
            </p:cNvSpPr>
            <p:nvPr/>
          </p:nvSpPr>
          <p:spPr bwMode="auto">
            <a:xfrm flipV="1">
              <a:off x="336" y="1056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6" name="Oval 103"/>
            <p:cNvSpPr>
              <a:spLocks noChangeArrowheads="1"/>
            </p:cNvSpPr>
            <p:nvPr/>
          </p:nvSpPr>
          <p:spPr bwMode="auto">
            <a:xfrm>
              <a:off x="156" y="720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>
                  <a:ea typeface="长城楷体" pitchFamily="49" charset="-122"/>
                </a:rPr>
                <a:t>0</a:t>
              </a:r>
              <a:endParaRPr lang="en-US" altLang="zh-CN" sz="3200" b="1">
                <a:ea typeface="长城楷体" pitchFamily="49" charset="-122"/>
              </a:endParaRPr>
            </a:p>
          </p:txBody>
        </p:sp>
      </p:grpSp>
      <p:grpSp>
        <p:nvGrpSpPr>
          <p:cNvPr id="278632" name="Group 104"/>
          <p:cNvGrpSpPr/>
          <p:nvPr/>
        </p:nvGrpSpPr>
        <p:grpSpPr bwMode="auto">
          <a:xfrm>
            <a:off x="1466850" y="1162050"/>
            <a:ext cx="571500" cy="1466850"/>
            <a:chOff x="144" y="720"/>
            <a:chExt cx="360" cy="924"/>
          </a:xfrm>
        </p:grpSpPr>
        <p:sp>
          <p:nvSpPr>
            <p:cNvPr id="35851" name="Oval 105"/>
            <p:cNvSpPr>
              <a:spLocks noChangeArrowheads="1"/>
            </p:cNvSpPr>
            <p:nvPr/>
          </p:nvSpPr>
          <p:spPr bwMode="auto">
            <a:xfrm>
              <a:off x="144" y="1296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5852" name="Line 106"/>
            <p:cNvSpPr>
              <a:spLocks noChangeShapeType="1"/>
            </p:cNvSpPr>
            <p:nvPr/>
          </p:nvSpPr>
          <p:spPr bwMode="auto">
            <a:xfrm flipV="1">
              <a:off x="336" y="1056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3" name="Oval 107"/>
            <p:cNvSpPr>
              <a:spLocks noChangeArrowheads="1"/>
            </p:cNvSpPr>
            <p:nvPr/>
          </p:nvSpPr>
          <p:spPr bwMode="auto">
            <a:xfrm>
              <a:off x="156" y="720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>
                  <a:ea typeface="长城楷体" pitchFamily="49" charset="-122"/>
                </a:rPr>
                <a:t>1</a:t>
              </a:r>
              <a:endParaRPr lang="en-US" altLang="zh-CN" sz="3200" b="1">
                <a:ea typeface="长城楷体" pitchFamily="49" charset="-122"/>
              </a:endParaRPr>
            </a:p>
          </p:txBody>
        </p:sp>
      </p:grpSp>
      <p:grpSp>
        <p:nvGrpSpPr>
          <p:cNvPr id="278636" name="Group 108"/>
          <p:cNvGrpSpPr/>
          <p:nvPr/>
        </p:nvGrpSpPr>
        <p:grpSpPr bwMode="auto">
          <a:xfrm>
            <a:off x="3448050" y="514350"/>
            <a:ext cx="1924050" cy="2514600"/>
            <a:chOff x="2172" y="324"/>
            <a:chExt cx="1212" cy="1584"/>
          </a:xfrm>
        </p:grpSpPr>
        <p:sp>
          <p:nvSpPr>
            <p:cNvPr id="35848" name="Oval 109"/>
            <p:cNvSpPr>
              <a:spLocks noChangeArrowheads="1"/>
            </p:cNvSpPr>
            <p:nvPr/>
          </p:nvSpPr>
          <p:spPr bwMode="auto">
            <a:xfrm>
              <a:off x="2172" y="1320"/>
              <a:ext cx="588" cy="5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5849" name="Line 110"/>
            <p:cNvSpPr>
              <a:spLocks noChangeShapeType="1"/>
            </p:cNvSpPr>
            <p:nvPr/>
          </p:nvSpPr>
          <p:spPr bwMode="auto">
            <a:xfrm flipV="1">
              <a:off x="2472" y="648"/>
              <a:ext cx="0" cy="6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0" name="Oval 111"/>
            <p:cNvSpPr>
              <a:spLocks noChangeArrowheads="1"/>
            </p:cNvSpPr>
            <p:nvPr/>
          </p:nvSpPr>
          <p:spPr bwMode="auto">
            <a:xfrm>
              <a:off x="2304" y="324"/>
              <a:ext cx="1080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截止</a:t>
              </a:r>
              <a:endParaRPr lang="zh-CN" altLang="en-US" sz="2800" b="1">
                <a:ea typeface="长城楷体" pitchFamily="49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8640" name="Object 112"/>
              <p:cNvSpPr txBox="1"/>
              <p:nvPr/>
            </p:nvSpPr>
            <p:spPr bwMode="auto">
              <a:xfrm>
                <a:off x="601518" y="5008562"/>
                <a:ext cx="1970087" cy="8604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</m:oMath>
                  </m:oMathPara>
                </a14:m>
                <a:endParaRPr lang="zh-CN" altLang="en-US" sz="3600" dirty="0"/>
              </a:p>
            </p:txBody>
          </p:sp>
        </mc:Choice>
        <mc:Fallback>
          <p:sp>
            <p:nvSpPr>
              <p:cNvPr id="278640" name="Object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518" y="5008562"/>
                <a:ext cx="1970087" cy="860424"/>
              </a:xfrm>
              <a:prstGeom prst="rect">
                <a:avLst/>
              </a:prstGeom>
              <a:blipFill rotWithShape="1">
                <a:blip r:embed="rId2"/>
                <a:stretch>
                  <a:fillRect l="-9" t="-37" r="25" b="3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47" name="Oval 113"/>
          <p:cNvSpPr>
            <a:spLocks noChangeArrowheads="1"/>
          </p:cNvSpPr>
          <p:nvPr/>
        </p:nvSpPr>
        <p:spPr bwMode="auto">
          <a:xfrm>
            <a:off x="4745038" y="2635250"/>
            <a:ext cx="141287" cy="1301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Group 2"/>
          <p:cNvGrpSpPr/>
          <p:nvPr/>
        </p:nvGrpSpPr>
        <p:grpSpPr bwMode="auto">
          <a:xfrm>
            <a:off x="328613" y="1047750"/>
            <a:ext cx="8815388" cy="5343525"/>
            <a:chOff x="207" y="660"/>
            <a:chExt cx="5553" cy="3366"/>
          </a:xfrm>
        </p:grpSpPr>
        <p:grpSp>
          <p:nvGrpSpPr>
            <p:cNvPr id="36892" name="Group 3"/>
            <p:cNvGrpSpPr/>
            <p:nvPr/>
          </p:nvGrpSpPr>
          <p:grpSpPr bwMode="auto">
            <a:xfrm>
              <a:off x="628" y="660"/>
              <a:ext cx="5132" cy="3366"/>
              <a:chOff x="772" y="660"/>
              <a:chExt cx="5132" cy="3366"/>
            </a:xfrm>
          </p:grpSpPr>
          <p:grpSp>
            <p:nvGrpSpPr>
              <p:cNvPr id="36908" name="Group 4"/>
              <p:cNvGrpSpPr/>
              <p:nvPr/>
            </p:nvGrpSpPr>
            <p:grpSpPr bwMode="auto">
              <a:xfrm>
                <a:off x="772" y="660"/>
                <a:ext cx="5132" cy="3366"/>
                <a:chOff x="628" y="660"/>
                <a:chExt cx="5132" cy="3366"/>
              </a:xfrm>
            </p:grpSpPr>
            <p:grpSp>
              <p:nvGrpSpPr>
                <p:cNvPr id="36910" name="Group 5"/>
                <p:cNvGrpSpPr/>
                <p:nvPr/>
              </p:nvGrpSpPr>
              <p:grpSpPr bwMode="auto">
                <a:xfrm>
                  <a:off x="1428" y="1524"/>
                  <a:ext cx="1392" cy="612"/>
                  <a:chOff x="984" y="1260"/>
                  <a:chExt cx="1392" cy="612"/>
                </a:xfrm>
              </p:grpSpPr>
              <p:sp>
                <p:nvSpPr>
                  <p:cNvPr id="36982" name="Line 6"/>
                  <p:cNvSpPr>
                    <a:spLocks noChangeShapeType="1"/>
                  </p:cNvSpPr>
                  <p:nvPr/>
                </p:nvSpPr>
                <p:spPr bwMode="auto">
                  <a:xfrm>
                    <a:off x="1140" y="1632"/>
                    <a:ext cx="600" cy="0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3" name="Line 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524" y="1260"/>
                    <a:ext cx="0" cy="372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4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72" y="1632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5" name="Line 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28" y="1632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6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84" y="1632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7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1524" y="1632"/>
                    <a:ext cx="312" cy="223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8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812" y="1855"/>
                    <a:ext cx="56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911" name="Group 13"/>
                <p:cNvGrpSpPr/>
                <p:nvPr/>
              </p:nvGrpSpPr>
              <p:grpSpPr bwMode="auto">
                <a:xfrm>
                  <a:off x="2820" y="1908"/>
                  <a:ext cx="240" cy="456"/>
                  <a:chOff x="2376" y="1644"/>
                  <a:chExt cx="240" cy="456"/>
                </a:xfrm>
              </p:grpSpPr>
              <p:sp>
                <p:nvSpPr>
                  <p:cNvPr id="36979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5715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0" name="Line 15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81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6912" name="Group 17"/>
                <p:cNvGrpSpPr/>
                <p:nvPr/>
              </p:nvGrpSpPr>
              <p:grpSpPr bwMode="auto">
                <a:xfrm>
                  <a:off x="3504" y="1704"/>
                  <a:ext cx="240" cy="456"/>
                  <a:chOff x="2376" y="1644"/>
                  <a:chExt cx="240" cy="456"/>
                </a:xfrm>
              </p:grpSpPr>
              <p:sp>
                <p:nvSpPr>
                  <p:cNvPr id="36976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77" name="Line 19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78" name="Line 2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913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3034" y="1536"/>
                  <a:ext cx="0" cy="37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14" name="Rectangle 22"/>
                <p:cNvSpPr>
                  <a:spLocks noChangeArrowheads="1"/>
                </p:cNvSpPr>
                <p:nvPr/>
              </p:nvSpPr>
              <p:spPr bwMode="auto">
                <a:xfrm>
                  <a:off x="2980" y="3186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15" name="Rectangle 23"/>
                <p:cNvSpPr>
                  <a:spLocks noChangeArrowheads="1"/>
                </p:cNvSpPr>
                <p:nvPr/>
              </p:nvSpPr>
              <p:spPr bwMode="auto">
                <a:xfrm>
                  <a:off x="1908" y="1099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16" name="Rectangle 24"/>
                <p:cNvSpPr>
                  <a:spLocks noChangeArrowheads="1"/>
                </p:cNvSpPr>
                <p:nvPr/>
              </p:nvSpPr>
              <p:spPr bwMode="auto">
                <a:xfrm>
                  <a:off x="2974" y="1116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17" name="Line 25"/>
                <p:cNvSpPr>
                  <a:spLocks noChangeShapeType="1"/>
                </p:cNvSpPr>
                <p:nvPr/>
              </p:nvSpPr>
              <p:spPr bwMode="auto">
                <a:xfrm>
                  <a:off x="1968" y="1092"/>
                  <a:ext cx="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18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1968" y="847"/>
                  <a:ext cx="0" cy="245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19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3034" y="847"/>
                  <a:ext cx="0" cy="26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20" name="Line 28"/>
                <p:cNvSpPr>
                  <a:spLocks noChangeShapeType="1"/>
                </p:cNvSpPr>
                <p:nvPr/>
              </p:nvSpPr>
              <p:spPr bwMode="auto">
                <a:xfrm>
                  <a:off x="1968" y="847"/>
                  <a:ext cx="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21" name="Line 29"/>
                <p:cNvSpPr>
                  <a:spLocks noChangeShapeType="1"/>
                </p:cNvSpPr>
                <p:nvPr/>
              </p:nvSpPr>
              <p:spPr bwMode="auto">
                <a:xfrm>
                  <a:off x="1962" y="853"/>
                  <a:ext cx="286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22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3034" y="1908"/>
                  <a:ext cx="47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6923" name="Group 31"/>
                <p:cNvGrpSpPr/>
                <p:nvPr/>
              </p:nvGrpSpPr>
              <p:grpSpPr bwMode="auto">
                <a:xfrm>
                  <a:off x="4008" y="1920"/>
                  <a:ext cx="240" cy="456"/>
                  <a:chOff x="2376" y="1644"/>
                  <a:chExt cx="240" cy="456"/>
                </a:xfrm>
              </p:grpSpPr>
              <p:sp>
                <p:nvSpPr>
                  <p:cNvPr id="36973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74" name="Line 33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75" name="Line 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924" name="Line 35"/>
                <p:cNvSpPr>
                  <a:spLocks noChangeShapeType="1"/>
                </p:cNvSpPr>
                <p:nvPr/>
              </p:nvSpPr>
              <p:spPr bwMode="auto">
                <a:xfrm>
                  <a:off x="3708" y="2136"/>
                  <a:ext cx="3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25" name="Line 36"/>
                <p:cNvSpPr>
                  <a:spLocks noChangeShapeType="1"/>
                </p:cNvSpPr>
                <p:nvPr/>
              </p:nvSpPr>
              <p:spPr bwMode="auto">
                <a:xfrm>
                  <a:off x="3708" y="1711"/>
                  <a:ext cx="50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26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4210" y="1711"/>
                  <a:ext cx="0" cy="233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27" name="Rectangle 38"/>
                <p:cNvSpPr>
                  <a:spLocks noChangeArrowheads="1"/>
                </p:cNvSpPr>
                <p:nvPr/>
              </p:nvSpPr>
              <p:spPr bwMode="auto">
                <a:xfrm>
                  <a:off x="4150" y="1123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28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4210" y="1543"/>
                  <a:ext cx="0" cy="20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29" name="Line 40"/>
                <p:cNvSpPr>
                  <a:spLocks noChangeShapeType="1"/>
                </p:cNvSpPr>
                <p:nvPr/>
              </p:nvSpPr>
              <p:spPr bwMode="auto">
                <a:xfrm flipV="1">
                  <a:off x="4210" y="852"/>
                  <a:ext cx="0" cy="27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6930" name="Group 41"/>
                <p:cNvGrpSpPr/>
                <p:nvPr/>
              </p:nvGrpSpPr>
              <p:grpSpPr bwMode="auto">
                <a:xfrm>
                  <a:off x="4008" y="2772"/>
                  <a:ext cx="240" cy="456"/>
                  <a:chOff x="2376" y="1644"/>
                  <a:chExt cx="240" cy="456"/>
                </a:xfrm>
              </p:grpSpPr>
              <p:sp>
                <p:nvSpPr>
                  <p:cNvPr id="36970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376" y="1692"/>
                    <a:ext cx="0" cy="3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71" name="Line 43"/>
                  <p:cNvSpPr>
                    <a:spLocks noChangeShapeType="1"/>
                  </p:cNvSpPr>
                  <p:nvPr/>
                </p:nvSpPr>
                <p:spPr bwMode="auto">
                  <a:xfrm rot="16200000" flipH="1">
                    <a:off x="2376" y="1860"/>
                    <a:ext cx="240" cy="24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72" name="Line 4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376" y="1644"/>
                    <a:ext cx="216" cy="211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6931" name="Rectangle 45"/>
                <p:cNvSpPr>
                  <a:spLocks noChangeArrowheads="1"/>
                </p:cNvSpPr>
                <p:nvPr/>
              </p:nvSpPr>
              <p:spPr bwMode="auto">
                <a:xfrm>
                  <a:off x="3660" y="2256"/>
                  <a:ext cx="120" cy="42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32" name="Line 46"/>
                <p:cNvSpPr>
                  <a:spLocks noChangeShapeType="1"/>
                </p:cNvSpPr>
                <p:nvPr/>
              </p:nvSpPr>
              <p:spPr bwMode="auto">
                <a:xfrm>
                  <a:off x="3720" y="2124"/>
                  <a:ext cx="0" cy="1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33" name="Line 47"/>
                <p:cNvSpPr>
                  <a:spLocks noChangeShapeType="1"/>
                </p:cNvSpPr>
                <p:nvPr/>
              </p:nvSpPr>
              <p:spPr bwMode="auto">
                <a:xfrm>
                  <a:off x="3714" y="2670"/>
                  <a:ext cx="0" cy="9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34" name="Line 48"/>
                <p:cNvSpPr>
                  <a:spLocks noChangeShapeType="1"/>
                </p:cNvSpPr>
                <p:nvPr/>
              </p:nvSpPr>
              <p:spPr bwMode="auto">
                <a:xfrm>
                  <a:off x="3594" y="2760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35" name="Line 49"/>
                <p:cNvSpPr>
                  <a:spLocks noChangeShapeType="1"/>
                </p:cNvSpPr>
                <p:nvPr/>
              </p:nvSpPr>
              <p:spPr bwMode="auto">
                <a:xfrm>
                  <a:off x="3040" y="2346"/>
                  <a:ext cx="0" cy="8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36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3040" y="2989"/>
                  <a:ext cx="96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37" name="Line 51"/>
                <p:cNvSpPr>
                  <a:spLocks noChangeShapeType="1"/>
                </p:cNvSpPr>
                <p:nvPr/>
              </p:nvSpPr>
              <p:spPr bwMode="auto">
                <a:xfrm>
                  <a:off x="3040" y="3600"/>
                  <a:ext cx="0" cy="28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38" name="Line 52"/>
                <p:cNvSpPr>
                  <a:spLocks noChangeShapeType="1"/>
                </p:cNvSpPr>
                <p:nvPr/>
              </p:nvSpPr>
              <p:spPr bwMode="auto">
                <a:xfrm flipV="1">
                  <a:off x="3042" y="3858"/>
                  <a:ext cx="1186" cy="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39" name="Line 53"/>
                <p:cNvSpPr>
                  <a:spLocks noChangeShapeType="1"/>
                </p:cNvSpPr>
                <p:nvPr/>
              </p:nvSpPr>
              <p:spPr bwMode="auto">
                <a:xfrm>
                  <a:off x="4228" y="2364"/>
                  <a:ext cx="0" cy="42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0" name="Line 54"/>
                <p:cNvSpPr>
                  <a:spLocks noChangeShapeType="1"/>
                </p:cNvSpPr>
                <p:nvPr/>
              </p:nvSpPr>
              <p:spPr bwMode="auto">
                <a:xfrm>
                  <a:off x="4228" y="3216"/>
                  <a:ext cx="0" cy="81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1" name="Line 55"/>
                <p:cNvSpPr>
                  <a:spLocks noChangeShapeType="1"/>
                </p:cNvSpPr>
                <p:nvPr/>
              </p:nvSpPr>
              <p:spPr bwMode="auto">
                <a:xfrm>
                  <a:off x="4098" y="4020"/>
                  <a:ext cx="25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2" name="Line 56"/>
                <p:cNvSpPr>
                  <a:spLocks noChangeShapeType="1"/>
                </p:cNvSpPr>
                <p:nvPr/>
              </p:nvSpPr>
              <p:spPr bwMode="auto">
                <a:xfrm>
                  <a:off x="4228" y="2544"/>
                  <a:ext cx="60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3" name="Line 57"/>
                <p:cNvSpPr>
                  <a:spLocks noChangeShapeType="1"/>
                </p:cNvSpPr>
                <p:nvPr/>
              </p:nvSpPr>
              <p:spPr bwMode="auto">
                <a:xfrm flipH="1" flipV="1">
                  <a:off x="1060" y="2106"/>
                  <a:ext cx="404" cy="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4" name="Line 58"/>
                <p:cNvSpPr>
                  <a:spLocks noChangeShapeType="1"/>
                </p:cNvSpPr>
                <p:nvPr/>
              </p:nvSpPr>
              <p:spPr bwMode="auto">
                <a:xfrm>
                  <a:off x="1584" y="2112"/>
                  <a:ext cx="0" cy="22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5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1072" y="2328"/>
                  <a:ext cx="51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6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728" y="2124"/>
                  <a:ext cx="0" cy="42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7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1084" y="2532"/>
                  <a:ext cx="65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48" name="Oval 62"/>
                <p:cNvSpPr>
                  <a:spLocks noChangeArrowheads="1"/>
                </p:cNvSpPr>
                <p:nvPr/>
              </p:nvSpPr>
              <p:spPr bwMode="auto">
                <a:xfrm>
                  <a:off x="4824" y="780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49" name="Oval 63"/>
                <p:cNvSpPr>
                  <a:spLocks noChangeArrowheads="1"/>
                </p:cNvSpPr>
                <p:nvPr/>
              </p:nvSpPr>
              <p:spPr bwMode="auto">
                <a:xfrm>
                  <a:off x="4824" y="2472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50" name="Oval 64"/>
                <p:cNvSpPr>
                  <a:spLocks noChangeArrowheads="1"/>
                </p:cNvSpPr>
                <p:nvPr/>
              </p:nvSpPr>
              <p:spPr bwMode="auto">
                <a:xfrm>
                  <a:off x="952" y="2256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51" name="Oval 65"/>
                <p:cNvSpPr>
                  <a:spLocks noChangeArrowheads="1"/>
                </p:cNvSpPr>
                <p:nvPr/>
              </p:nvSpPr>
              <p:spPr bwMode="auto">
                <a:xfrm>
                  <a:off x="958" y="2466"/>
                  <a:ext cx="120" cy="132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52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4968" y="660"/>
                  <a:ext cx="792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>
                      <a:ea typeface="楷体_GB2312" pitchFamily="49" charset="-122"/>
                    </a:rPr>
                    <a:t>+5V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53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5016" y="2400"/>
                  <a:ext cx="468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>
                      <a:ea typeface="楷体_GB2312" pitchFamily="49" charset="-122"/>
                    </a:rPr>
                    <a:t>F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54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4296" y="1128"/>
                  <a:ext cx="66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R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4</a:t>
                  </a:r>
                  <a:endParaRPr lang="en-US" altLang="zh-CN" sz="2800" b="1">
                    <a:ea typeface="楷体_GB2312" pitchFamily="49" charset="-122"/>
                  </a:endParaRPr>
                </a:p>
              </p:txBody>
            </p:sp>
            <p:sp>
              <p:nvSpPr>
                <p:cNvPr id="36955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3120" y="1116"/>
                  <a:ext cx="66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R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2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56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2040" y="900"/>
                  <a:ext cx="66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R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1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57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040" y="1260"/>
                  <a:ext cx="780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58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3012" y="1956"/>
                  <a:ext cx="38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T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2</a:t>
                  </a:r>
                  <a:endParaRPr lang="en-US" altLang="zh-CN" sz="2800" b="1">
                    <a:ea typeface="楷体_GB2312" pitchFamily="49" charset="-122"/>
                  </a:endParaRPr>
                </a:p>
              </p:txBody>
            </p:sp>
            <p:sp>
              <p:nvSpPr>
                <p:cNvPr id="36959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3276" y="2340"/>
                  <a:ext cx="396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R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5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60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168" y="3252"/>
                  <a:ext cx="64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R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3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61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3612" y="1728"/>
                  <a:ext cx="62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T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3</a:t>
                  </a:r>
                  <a:endParaRPr lang="en-US" altLang="zh-CN" sz="2800" b="1">
                    <a:ea typeface="楷体_GB2312" pitchFamily="49" charset="-122"/>
                  </a:endParaRPr>
                </a:p>
              </p:txBody>
            </p:sp>
            <p:sp>
              <p:nvSpPr>
                <p:cNvPr id="36962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260" y="1968"/>
                  <a:ext cx="42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T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4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63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1812" y="2112"/>
                  <a:ext cx="456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>
                      <a:ea typeface="楷体_GB2312" pitchFamily="49" charset="-122"/>
                    </a:rPr>
                    <a:t>T</a:t>
                  </a:r>
                  <a:r>
                    <a:rPr lang="en-US" altLang="zh-CN" sz="3200" b="1" baseline="-25000">
                      <a:ea typeface="楷体_GB2312" pitchFamily="49" charset="-122"/>
                    </a:rPr>
                    <a:t>1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64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4272" y="2844"/>
                  <a:ext cx="420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T</a:t>
                  </a:r>
                  <a:r>
                    <a:rPr lang="en-US" altLang="zh-CN" sz="2800" b="1" baseline="-25000">
                      <a:ea typeface="楷体_GB2312" pitchFamily="49" charset="-122"/>
                    </a:rPr>
                    <a:t>5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65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1980" y="1572"/>
                  <a:ext cx="504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66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2256" y="1753"/>
                  <a:ext cx="636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67" name="Text Box 81"/>
                <p:cNvSpPr txBox="1">
                  <a:spLocks noChangeArrowheads="1"/>
                </p:cNvSpPr>
                <p:nvPr/>
              </p:nvSpPr>
              <p:spPr bwMode="auto">
                <a:xfrm>
                  <a:off x="628" y="1897"/>
                  <a:ext cx="44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2800" b="1">
                    <a:ea typeface="楷体_GB2312" pitchFamily="49" charset="-122"/>
                  </a:endParaRPr>
                </a:p>
              </p:txBody>
            </p:sp>
            <p:sp>
              <p:nvSpPr>
                <p:cNvPr id="36968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628" y="2149"/>
                  <a:ext cx="44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ea typeface="楷体_GB2312" pitchFamily="49" charset="-122"/>
                    </a:rPr>
                    <a:t>A</a:t>
                  </a:r>
                  <a:endParaRPr lang="en-US" altLang="zh-CN" sz="2800" b="1">
                    <a:ea typeface="楷体_GB2312" pitchFamily="49" charset="-122"/>
                  </a:endParaRPr>
                </a:p>
              </p:txBody>
            </p:sp>
            <p:sp>
              <p:nvSpPr>
                <p:cNvPr id="36969" name="Text Box 83"/>
                <p:cNvSpPr txBox="1">
                  <a:spLocks noChangeArrowheads="1"/>
                </p:cNvSpPr>
                <p:nvPr/>
              </p:nvSpPr>
              <p:spPr bwMode="auto">
                <a:xfrm>
                  <a:off x="628" y="2377"/>
                  <a:ext cx="44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zh-CN" altLang="zh-CN" sz="2800" b="1">
                    <a:ea typeface="楷体_GB2312" pitchFamily="49" charset="-122"/>
                  </a:endParaRPr>
                </a:p>
              </p:txBody>
            </p:sp>
          </p:grpSp>
          <p:sp>
            <p:nvSpPr>
              <p:cNvPr id="36909" name="Text Box 84"/>
              <p:cNvSpPr txBox="1">
                <a:spLocks noChangeArrowheads="1"/>
              </p:cNvSpPr>
              <p:nvPr/>
            </p:nvSpPr>
            <p:spPr bwMode="auto">
              <a:xfrm>
                <a:off x="784" y="2389"/>
                <a:ext cx="44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>
                    <a:ea typeface="楷体_GB2312" pitchFamily="49" charset="-122"/>
                  </a:rPr>
                  <a:t>B</a:t>
                </a:r>
                <a:endParaRPr lang="en-US" altLang="zh-CN" sz="2800" b="1">
                  <a:ea typeface="楷体_GB2312" pitchFamily="49" charset="-122"/>
                </a:endParaRPr>
              </a:p>
            </p:txBody>
          </p:sp>
        </p:grpSp>
        <p:grpSp>
          <p:nvGrpSpPr>
            <p:cNvPr id="36893" name="Group 85"/>
            <p:cNvGrpSpPr/>
            <p:nvPr/>
          </p:nvGrpSpPr>
          <p:grpSpPr bwMode="auto">
            <a:xfrm>
              <a:off x="207" y="1260"/>
              <a:ext cx="2829" cy="852"/>
              <a:chOff x="207" y="1260"/>
              <a:chExt cx="2829" cy="852"/>
            </a:xfrm>
          </p:grpSpPr>
          <p:sp>
            <p:nvSpPr>
              <p:cNvPr id="36894" name="Line 86"/>
              <p:cNvSpPr>
                <a:spLocks noChangeShapeType="1"/>
              </p:cNvSpPr>
              <p:nvPr/>
            </p:nvSpPr>
            <p:spPr bwMode="auto">
              <a:xfrm flipV="1">
                <a:off x="1068" y="1704"/>
                <a:ext cx="0" cy="40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6895" name="Group 87"/>
              <p:cNvGrpSpPr/>
              <p:nvPr/>
            </p:nvGrpSpPr>
            <p:grpSpPr bwMode="auto">
              <a:xfrm>
                <a:off x="207" y="1260"/>
                <a:ext cx="2829" cy="660"/>
                <a:chOff x="207" y="1260"/>
                <a:chExt cx="2829" cy="660"/>
              </a:xfrm>
            </p:grpSpPr>
            <p:sp>
              <p:nvSpPr>
                <p:cNvPr id="36896" name="Freeform 88"/>
                <p:cNvSpPr>
                  <a:spLocks noChangeArrowheads="1"/>
                </p:cNvSpPr>
                <p:nvPr/>
              </p:nvSpPr>
              <p:spPr bwMode="auto">
                <a:xfrm>
                  <a:off x="1868" y="1619"/>
                  <a:ext cx="213" cy="91"/>
                </a:xfrm>
                <a:custGeom>
                  <a:avLst/>
                  <a:gdLst>
                    <a:gd name="T0" fmla="*/ 16 w 213"/>
                    <a:gd name="T1" fmla="*/ 91 h 91"/>
                    <a:gd name="T2" fmla="*/ 28 w 213"/>
                    <a:gd name="T3" fmla="*/ 13 h 91"/>
                    <a:gd name="T4" fmla="*/ 184 w 213"/>
                    <a:gd name="T5" fmla="*/ 13 h 91"/>
                    <a:gd name="T6" fmla="*/ 202 w 213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3" h="91">
                      <a:moveTo>
                        <a:pt x="16" y="91"/>
                      </a:moveTo>
                      <a:cubicBezTo>
                        <a:pt x="20" y="75"/>
                        <a:pt x="0" y="26"/>
                        <a:pt x="28" y="13"/>
                      </a:cubicBezTo>
                      <a:cubicBezTo>
                        <a:pt x="56" y="0"/>
                        <a:pt x="155" y="0"/>
                        <a:pt x="184" y="13"/>
                      </a:cubicBezTo>
                      <a:cubicBezTo>
                        <a:pt x="213" y="26"/>
                        <a:pt x="198" y="75"/>
                        <a:pt x="202" y="91"/>
                      </a:cubicBezTo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897" name="Line 89"/>
                <p:cNvSpPr>
                  <a:spLocks noChangeShapeType="1"/>
                </p:cNvSpPr>
                <p:nvPr/>
              </p:nvSpPr>
              <p:spPr bwMode="auto">
                <a:xfrm>
                  <a:off x="2052" y="1704"/>
                  <a:ext cx="984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6898" name="Group 90"/>
                <p:cNvGrpSpPr/>
                <p:nvPr/>
              </p:nvGrpSpPr>
              <p:grpSpPr bwMode="auto">
                <a:xfrm>
                  <a:off x="2304" y="1572"/>
                  <a:ext cx="240" cy="276"/>
                  <a:chOff x="1560" y="3216"/>
                  <a:chExt cx="240" cy="276"/>
                </a:xfrm>
              </p:grpSpPr>
              <p:sp>
                <p:nvSpPr>
                  <p:cNvPr id="36906" name="Line 91"/>
                  <p:cNvSpPr>
                    <a:spLocks noChangeShapeType="1"/>
                  </p:cNvSpPr>
                  <p:nvPr/>
                </p:nvSpPr>
                <p:spPr bwMode="auto">
                  <a:xfrm>
                    <a:off x="1560" y="3228"/>
                    <a:ext cx="0" cy="252"/>
                  </a:xfrm>
                  <a:prstGeom prst="line">
                    <a:avLst/>
                  </a:prstGeom>
                  <a:noFill/>
                  <a:ln w="38100">
                    <a:solidFill>
                      <a:srgbClr val="FF0000"/>
                    </a:solidFill>
                    <a:round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07" name="AutoShape 9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1548" y="3240"/>
                    <a:ext cx="276" cy="228"/>
                  </a:xfrm>
                  <a:prstGeom prst="triangle">
                    <a:avLst>
                      <a:gd name="adj" fmla="val 50000"/>
                    </a:avLst>
                  </a:prstGeom>
                  <a:noFill/>
                  <a:ln w="38100">
                    <a:solidFill>
                      <a:srgbClr val="FF0000"/>
                    </a:solidFill>
                    <a:miter lim="800000"/>
                    <a:tailEnd type="non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</p:grpSp>
            <p:sp>
              <p:nvSpPr>
                <p:cNvPr id="36899" name="Text Box 93"/>
                <p:cNvSpPr txBox="1">
                  <a:spLocks noChangeArrowheads="1"/>
                </p:cNvSpPr>
                <p:nvPr/>
              </p:nvSpPr>
              <p:spPr bwMode="auto">
                <a:xfrm>
                  <a:off x="2352" y="1260"/>
                  <a:ext cx="28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>
                      <a:solidFill>
                        <a:srgbClr val="FF0000"/>
                      </a:solidFill>
                      <a:ea typeface="楷体_GB2312" pitchFamily="49" charset="-122"/>
                    </a:rPr>
                    <a:t>D</a:t>
                  </a:r>
                  <a:endParaRPr lang="en-US" altLang="zh-CN" sz="3200" b="1">
                    <a:ea typeface="楷体_GB2312" pitchFamily="49" charset="-122"/>
                  </a:endParaRPr>
                </a:p>
              </p:txBody>
            </p:sp>
            <p:sp>
              <p:nvSpPr>
                <p:cNvPr id="36900" name="Rectangle 94"/>
                <p:cNvSpPr>
                  <a:spLocks noChangeArrowheads="1"/>
                </p:cNvSpPr>
                <p:nvPr/>
              </p:nvSpPr>
              <p:spPr bwMode="auto">
                <a:xfrm>
                  <a:off x="564" y="1464"/>
                  <a:ext cx="324" cy="456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  <a:miter lim="800000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01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948" y="1704"/>
                  <a:ext cx="936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2" name="Oval 96"/>
                <p:cNvSpPr>
                  <a:spLocks noChangeArrowheads="1"/>
                </p:cNvSpPr>
                <p:nvPr/>
              </p:nvSpPr>
              <p:spPr bwMode="auto">
                <a:xfrm>
                  <a:off x="888" y="1656"/>
                  <a:ext cx="72" cy="84"/>
                </a:xfrm>
                <a:prstGeom prst="ellips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36903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312" y="1680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904" name="Text Box 98"/>
                <p:cNvSpPr txBox="1">
                  <a:spLocks noChangeArrowheads="1"/>
                </p:cNvSpPr>
                <p:nvPr/>
              </p:nvSpPr>
              <p:spPr bwMode="auto">
                <a:xfrm>
                  <a:off x="958" y="1279"/>
                  <a:ext cx="372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ea typeface="楷体_GB2312" pitchFamily="49" charset="-122"/>
                    </a:rPr>
                    <a:t>E</a:t>
                  </a:r>
                  <a:endParaRPr lang="en-US" altLang="zh-CN" sz="3200" b="1" dirty="0">
                    <a:ea typeface="楷体_GB2312" pitchFamily="49" charset="-122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6905" name="Object 99"/>
                    <p:cNvSpPr txBox="1"/>
                    <p:nvPr/>
                  </p:nvSpPr>
                  <p:spPr bwMode="auto">
                    <a:xfrm>
                      <a:off x="207" y="1360"/>
                      <a:ext cx="245" cy="32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>
                      <a:norm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bar>
                              <m:barPr>
                                <m:pos m:val="top"/>
                                <m:ctrlP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e>
                            </m:bar>
                          </m:oMath>
                        </m:oMathPara>
                      </a14:m>
                      <a:endParaRPr lang="zh-CN" altLang="en-US" sz="2400" b="1" dirty="0"/>
                    </a:p>
                  </p:txBody>
                </p:sp>
              </mc:Choice>
              <mc:Fallback>
                <p:sp>
                  <p:nvSpPr>
                    <p:cNvPr id="36905" name="Object 9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07" y="1360"/>
                      <a:ext cx="245" cy="327"/>
                    </a:xfrm>
                    <a:prstGeom prst="rect">
                      <a:avLst/>
                    </a:prstGeom>
                    <a:blipFill rotWithShape="1">
                      <a:blip r:embed="rId1"/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grpSp>
        <p:nvGrpSpPr>
          <p:cNvPr id="279652" name="Group 100"/>
          <p:cNvGrpSpPr/>
          <p:nvPr/>
        </p:nvGrpSpPr>
        <p:grpSpPr bwMode="auto">
          <a:xfrm>
            <a:off x="228600" y="1143000"/>
            <a:ext cx="571500" cy="1466850"/>
            <a:chOff x="144" y="720"/>
            <a:chExt cx="360" cy="924"/>
          </a:xfrm>
        </p:grpSpPr>
        <p:sp>
          <p:nvSpPr>
            <p:cNvPr id="36889" name="Oval 101"/>
            <p:cNvSpPr>
              <a:spLocks noChangeArrowheads="1"/>
            </p:cNvSpPr>
            <p:nvPr/>
          </p:nvSpPr>
          <p:spPr bwMode="auto">
            <a:xfrm>
              <a:off x="144" y="1296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6890" name="Line 102"/>
            <p:cNvSpPr>
              <a:spLocks noChangeShapeType="1"/>
            </p:cNvSpPr>
            <p:nvPr/>
          </p:nvSpPr>
          <p:spPr bwMode="auto">
            <a:xfrm flipV="1">
              <a:off x="336" y="1056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91" name="Oval 103"/>
            <p:cNvSpPr>
              <a:spLocks noChangeArrowheads="1"/>
            </p:cNvSpPr>
            <p:nvPr/>
          </p:nvSpPr>
          <p:spPr bwMode="auto">
            <a:xfrm>
              <a:off x="156" y="720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grpSp>
        <p:nvGrpSpPr>
          <p:cNvPr id="279656" name="Group 104"/>
          <p:cNvGrpSpPr/>
          <p:nvPr/>
        </p:nvGrpSpPr>
        <p:grpSpPr bwMode="auto">
          <a:xfrm>
            <a:off x="1466850" y="1162050"/>
            <a:ext cx="571500" cy="1466850"/>
            <a:chOff x="144" y="720"/>
            <a:chExt cx="360" cy="924"/>
          </a:xfrm>
        </p:grpSpPr>
        <p:sp>
          <p:nvSpPr>
            <p:cNvPr id="36886" name="Oval 105"/>
            <p:cNvSpPr>
              <a:spLocks noChangeArrowheads="1"/>
            </p:cNvSpPr>
            <p:nvPr/>
          </p:nvSpPr>
          <p:spPr bwMode="auto">
            <a:xfrm>
              <a:off x="144" y="1296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6887" name="Line 106"/>
            <p:cNvSpPr>
              <a:spLocks noChangeShapeType="1"/>
            </p:cNvSpPr>
            <p:nvPr/>
          </p:nvSpPr>
          <p:spPr bwMode="auto">
            <a:xfrm flipV="1">
              <a:off x="336" y="1056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Oval 107"/>
            <p:cNvSpPr>
              <a:spLocks noChangeArrowheads="1"/>
            </p:cNvSpPr>
            <p:nvPr/>
          </p:nvSpPr>
          <p:spPr bwMode="auto">
            <a:xfrm>
              <a:off x="156" y="720"/>
              <a:ext cx="348" cy="34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>
                  <a:ea typeface="楷体_GB2312" pitchFamily="49" charset="-122"/>
                </a:rPr>
                <a:t>0</a:t>
              </a:r>
              <a:endParaRPr lang="en-US" altLang="zh-CN" sz="3200" b="1">
                <a:ea typeface="楷体_GB2312" pitchFamily="49" charset="-122"/>
              </a:endParaRPr>
            </a:p>
          </p:txBody>
        </p:sp>
      </p:grpSp>
      <p:grpSp>
        <p:nvGrpSpPr>
          <p:cNvPr id="279660" name="Group 108"/>
          <p:cNvGrpSpPr/>
          <p:nvPr/>
        </p:nvGrpSpPr>
        <p:grpSpPr bwMode="auto">
          <a:xfrm>
            <a:off x="3448050" y="514350"/>
            <a:ext cx="1924050" cy="2514600"/>
            <a:chOff x="2172" y="324"/>
            <a:chExt cx="1212" cy="1584"/>
          </a:xfrm>
        </p:grpSpPr>
        <p:sp>
          <p:nvSpPr>
            <p:cNvPr id="36883" name="Oval 109"/>
            <p:cNvSpPr>
              <a:spLocks noChangeArrowheads="1"/>
            </p:cNvSpPr>
            <p:nvPr/>
          </p:nvSpPr>
          <p:spPr bwMode="auto">
            <a:xfrm>
              <a:off x="2172" y="1320"/>
              <a:ext cx="588" cy="5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6884" name="Line 110"/>
            <p:cNvSpPr>
              <a:spLocks noChangeShapeType="1"/>
            </p:cNvSpPr>
            <p:nvPr/>
          </p:nvSpPr>
          <p:spPr bwMode="auto">
            <a:xfrm flipV="1">
              <a:off x="2472" y="648"/>
              <a:ext cx="0" cy="6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5" name="Oval 111"/>
            <p:cNvSpPr>
              <a:spLocks noChangeArrowheads="1"/>
            </p:cNvSpPr>
            <p:nvPr/>
          </p:nvSpPr>
          <p:spPr bwMode="auto">
            <a:xfrm>
              <a:off x="2304" y="324"/>
              <a:ext cx="1080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导通</a:t>
              </a:r>
              <a:endParaRPr lang="zh-CN" altLang="en-US" sz="2800" b="1">
                <a:ea typeface="楷体_GB2312" pitchFamily="49" charset="-122"/>
              </a:endParaRPr>
            </a:p>
          </p:txBody>
        </p:sp>
      </p:grpSp>
      <p:grpSp>
        <p:nvGrpSpPr>
          <p:cNvPr id="279664" name="Group 112"/>
          <p:cNvGrpSpPr/>
          <p:nvPr/>
        </p:nvGrpSpPr>
        <p:grpSpPr bwMode="auto">
          <a:xfrm>
            <a:off x="5372100" y="323850"/>
            <a:ext cx="2590800" cy="3657600"/>
            <a:chOff x="3384" y="204"/>
            <a:chExt cx="1632" cy="2304"/>
          </a:xfrm>
        </p:grpSpPr>
        <p:sp>
          <p:nvSpPr>
            <p:cNvPr id="36880" name="Oval 113"/>
            <p:cNvSpPr>
              <a:spLocks noChangeArrowheads="1"/>
            </p:cNvSpPr>
            <p:nvPr/>
          </p:nvSpPr>
          <p:spPr bwMode="auto">
            <a:xfrm>
              <a:off x="3384" y="1476"/>
              <a:ext cx="1100" cy="10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6881" name="Line 114"/>
            <p:cNvSpPr>
              <a:spLocks noChangeShapeType="1"/>
            </p:cNvSpPr>
            <p:nvPr/>
          </p:nvSpPr>
          <p:spPr bwMode="auto">
            <a:xfrm flipV="1">
              <a:off x="3940" y="636"/>
              <a:ext cx="0" cy="8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Oval 115"/>
            <p:cNvSpPr>
              <a:spLocks noChangeArrowheads="1"/>
            </p:cNvSpPr>
            <p:nvPr/>
          </p:nvSpPr>
          <p:spPr bwMode="auto">
            <a:xfrm>
              <a:off x="3748" y="204"/>
              <a:ext cx="1268" cy="50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截止</a:t>
              </a:r>
              <a:endParaRPr lang="zh-CN" altLang="en-US" sz="2800" b="1">
                <a:ea typeface="楷体_GB2312" pitchFamily="49" charset="-122"/>
              </a:endParaRPr>
            </a:p>
          </p:txBody>
        </p:sp>
      </p:grpSp>
      <p:grpSp>
        <p:nvGrpSpPr>
          <p:cNvPr id="279668" name="Group 116"/>
          <p:cNvGrpSpPr/>
          <p:nvPr/>
        </p:nvGrpSpPr>
        <p:grpSpPr bwMode="auto">
          <a:xfrm>
            <a:off x="5969000" y="4324350"/>
            <a:ext cx="3136900" cy="2019300"/>
            <a:chOff x="3760" y="2724"/>
            <a:chExt cx="1976" cy="1272"/>
          </a:xfrm>
        </p:grpSpPr>
        <p:sp>
          <p:nvSpPr>
            <p:cNvPr id="36877" name="Oval 117"/>
            <p:cNvSpPr>
              <a:spLocks noChangeArrowheads="1"/>
            </p:cNvSpPr>
            <p:nvPr/>
          </p:nvSpPr>
          <p:spPr bwMode="auto">
            <a:xfrm>
              <a:off x="3760" y="2724"/>
              <a:ext cx="564" cy="56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6878" name="Line 118"/>
            <p:cNvSpPr>
              <a:spLocks noChangeShapeType="1"/>
            </p:cNvSpPr>
            <p:nvPr/>
          </p:nvSpPr>
          <p:spPr bwMode="auto">
            <a:xfrm>
              <a:off x="4248" y="3192"/>
              <a:ext cx="432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Oval 119"/>
            <p:cNvSpPr>
              <a:spLocks noChangeArrowheads="1"/>
            </p:cNvSpPr>
            <p:nvPr/>
          </p:nvSpPr>
          <p:spPr bwMode="auto">
            <a:xfrm>
              <a:off x="4668" y="3396"/>
              <a:ext cx="1068" cy="6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截止</a:t>
              </a:r>
              <a:endParaRPr lang="zh-CN" altLang="en-US" sz="2800" b="1">
                <a:ea typeface="楷体_GB2312" pitchFamily="49" charset="-122"/>
              </a:endParaRPr>
            </a:p>
          </p:txBody>
        </p:sp>
      </p:grpSp>
      <p:grpSp>
        <p:nvGrpSpPr>
          <p:cNvPr id="279672" name="Group 120"/>
          <p:cNvGrpSpPr/>
          <p:nvPr/>
        </p:nvGrpSpPr>
        <p:grpSpPr bwMode="auto">
          <a:xfrm>
            <a:off x="7143750" y="2457450"/>
            <a:ext cx="1619250" cy="2000250"/>
            <a:chOff x="4500" y="1548"/>
            <a:chExt cx="1020" cy="1260"/>
          </a:xfrm>
        </p:grpSpPr>
        <p:sp>
          <p:nvSpPr>
            <p:cNvPr id="36874" name="Oval 121"/>
            <p:cNvSpPr>
              <a:spLocks noChangeArrowheads="1"/>
            </p:cNvSpPr>
            <p:nvPr/>
          </p:nvSpPr>
          <p:spPr bwMode="auto">
            <a:xfrm>
              <a:off x="4728" y="2256"/>
              <a:ext cx="552" cy="55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6875" name="Line 122"/>
            <p:cNvSpPr>
              <a:spLocks noChangeShapeType="1"/>
            </p:cNvSpPr>
            <p:nvPr/>
          </p:nvSpPr>
          <p:spPr bwMode="auto">
            <a:xfrm flipV="1">
              <a:off x="5004" y="1992"/>
              <a:ext cx="0" cy="26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Oval 123"/>
            <p:cNvSpPr>
              <a:spLocks noChangeArrowheads="1"/>
            </p:cNvSpPr>
            <p:nvPr/>
          </p:nvSpPr>
          <p:spPr bwMode="auto">
            <a:xfrm>
              <a:off x="4500" y="1548"/>
              <a:ext cx="1020" cy="4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高阻态</a:t>
              </a:r>
              <a:endParaRPr lang="zh-CN" altLang="en-US" sz="2800" b="1">
                <a:ea typeface="楷体_GB2312" pitchFamily="49" charset="-122"/>
              </a:endParaRPr>
            </a:p>
          </p:txBody>
        </p:sp>
      </p:grpSp>
      <p:sp>
        <p:nvSpPr>
          <p:cNvPr id="36873" name="Oval 124"/>
          <p:cNvSpPr>
            <a:spLocks noChangeArrowheads="1"/>
          </p:cNvSpPr>
          <p:nvPr/>
        </p:nvSpPr>
        <p:spPr bwMode="auto">
          <a:xfrm>
            <a:off x="4745038" y="2635250"/>
            <a:ext cx="141287" cy="130175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7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1981200" y="2801938"/>
            <a:ext cx="800100" cy="12779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2800350" y="3354388"/>
            <a:ext cx="152400" cy="171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2114550" y="2763838"/>
            <a:ext cx="5715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&amp;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37893" name="Line 5"/>
          <p:cNvSpPr>
            <a:spLocks noChangeShapeType="1"/>
          </p:cNvSpPr>
          <p:nvPr/>
        </p:nvSpPr>
        <p:spPr bwMode="auto">
          <a:xfrm>
            <a:off x="1676400" y="310673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4" name="Line 6"/>
          <p:cNvSpPr>
            <a:spLocks noChangeShapeType="1"/>
          </p:cNvSpPr>
          <p:nvPr/>
        </p:nvSpPr>
        <p:spPr bwMode="auto">
          <a:xfrm>
            <a:off x="1676400" y="375443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5" name="Line 7"/>
          <p:cNvSpPr>
            <a:spLocks noChangeShapeType="1"/>
          </p:cNvSpPr>
          <p:nvPr/>
        </p:nvSpPr>
        <p:spPr bwMode="auto">
          <a:xfrm>
            <a:off x="2933700" y="343058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6" name="Oval 8"/>
          <p:cNvSpPr>
            <a:spLocks noChangeArrowheads="1"/>
          </p:cNvSpPr>
          <p:nvPr/>
        </p:nvSpPr>
        <p:spPr bwMode="auto">
          <a:xfrm>
            <a:off x="2324100" y="4076700"/>
            <a:ext cx="133350" cy="17145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7897" name="Line 9"/>
          <p:cNvSpPr>
            <a:spLocks noChangeShapeType="1"/>
          </p:cNvSpPr>
          <p:nvPr/>
        </p:nvSpPr>
        <p:spPr bwMode="auto">
          <a:xfrm>
            <a:off x="2381250" y="424815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8" name="Text Box 10"/>
          <p:cNvSpPr txBox="1">
            <a:spLocks noChangeArrowheads="1"/>
          </p:cNvSpPr>
          <p:nvPr/>
        </p:nvSpPr>
        <p:spPr bwMode="auto">
          <a:xfrm>
            <a:off x="1104900" y="2762250"/>
            <a:ext cx="5524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A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37899" name="Text Box 11"/>
          <p:cNvSpPr txBox="1">
            <a:spLocks noChangeArrowheads="1"/>
          </p:cNvSpPr>
          <p:nvPr/>
        </p:nvSpPr>
        <p:spPr bwMode="auto">
          <a:xfrm>
            <a:off x="1104900" y="3409950"/>
            <a:ext cx="5524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B</a:t>
            </a:r>
            <a:endParaRPr lang="en-US" altLang="zh-CN" sz="3200" b="1">
              <a:ea typeface="楷体_GB2312" pitchFamily="49" charset="-122"/>
            </a:endParaRPr>
          </a:p>
        </p:txBody>
      </p:sp>
      <p:sp>
        <p:nvSpPr>
          <p:cNvPr id="37900" name="Text Box 12"/>
          <p:cNvSpPr txBox="1">
            <a:spLocks noChangeArrowheads="1"/>
          </p:cNvSpPr>
          <p:nvPr/>
        </p:nvSpPr>
        <p:spPr bwMode="auto">
          <a:xfrm>
            <a:off x="3124200" y="2857500"/>
            <a:ext cx="5524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ea typeface="楷体_GB2312" pitchFamily="49" charset="-122"/>
              </a:rPr>
              <a:t>F</a:t>
            </a:r>
            <a:endParaRPr lang="en-US" altLang="zh-CN" sz="3200" b="1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901" name="Object 13"/>
              <p:cNvSpPr txBox="1"/>
              <p:nvPr/>
            </p:nvSpPr>
            <p:spPr bwMode="auto">
              <a:xfrm>
                <a:off x="2463800" y="4527550"/>
                <a:ext cx="290513" cy="392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ba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7901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3800" y="4527550"/>
                <a:ext cx="290513" cy="392113"/>
              </a:xfrm>
              <a:prstGeom prst="rect">
                <a:avLst/>
              </a:prstGeom>
              <a:blipFill rotWithShape="1">
                <a:blip r:embed="rId1"/>
                <a:stretch>
                  <a:fillRect r="109" b="8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902" name="Text Box 14"/>
          <p:cNvSpPr txBox="1">
            <a:spLocks noChangeArrowheads="1"/>
          </p:cNvSpPr>
          <p:nvPr/>
        </p:nvSpPr>
        <p:spPr bwMode="auto">
          <a:xfrm>
            <a:off x="1866900" y="1771650"/>
            <a:ext cx="1104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符号</a:t>
            </a:r>
            <a:endParaRPr lang="zh-CN" altLang="en-US" sz="3200" b="1">
              <a:ea typeface="楷体_GB2312" pitchFamily="49" charset="-122"/>
            </a:endParaRPr>
          </a:p>
        </p:txBody>
      </p:sp>
      <p:grpSp>
        <p:nvGrpSpPr>
          <p:cNvPr id="37903" name="Group 15"/>
          <p:cNvGrpSpPr/>
          <p:nvPr/>
        </p:nvGrpSpPr>
        <p:grpSpPr bwMode="auto">
          <a:xfrm>
            <a:off x="4514850" y="1771650"/>
            <a:ext cx="4171950" cy="2933700"/>
            <a:chOff x="2796" y="1152"/>
            <a:chExt cx="2628" cy="1848"/>
          </a:xfrm>
        </p:grpSpPr>
        <p:graphicFrame>
          <p:nvGraphicFramePr>
            <p:cNvPr id="37908" name="Object 16"/>
            <p:cNvGraphicFramePr>
              <a:graphicFrameLocks noChangeAspect="1"/>
            </p:cNvGraphicFramePr>
            <p:nvPr/>
          </p:nvGraphicFramePr>
          <p:xfrm>
            <a:off x="2796" y="1572"/>
            <a:ext cx="2628" cy="1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2" imgW="4172585" imgH="2270760" progId="Word.Document.8">
                    <p:embed/>
                  </p:oleObj>
                </mc:Choice>
                <mc:Fallback>
                  <p:oleObj name="" r:id="rId2" imgW="4172585" imgH="2270760" progId="Word.Document.8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6" y="1572"/>
                          <a:ext cx="2628" cy="14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909" name="Object 17"/>
                <p:cNvSpPr txBox="1"/>
                <p:nvPr/>
              </p:nvSpPr>
              <p:spPr bwMode="auto">
                <a:xfrm>
                  <a:off x="3240" y="1660"/>
                  <a:ext cx="691" cy="38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ba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37909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40" y="1660"/>
                  <a:ext cx="691" cy="388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910" name="Object 18"/>
                <p:cNvSpPr txBox="1"/>
                <p:nvPr/>
              </p:nvSpPr>
              <p:spPr bwMode="auto">
                <a:xfrm>
                  <a:off x="3232" y="2204"/>
                  <a:ext cx="731" cy="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bar>
                          <m:barPr>
                            <m:pos m:val="top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ba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37910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2" y="2204"/>
                  <a:ext cx="731" cy="400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911" name="Object 19"/>
                <p:cNvSpPr txBox="1"/>
                <p:nvPr/>
              </p:nvSpPr>
              <p:spPr bwMode="auto">
                <a:xfrm>
                  <a:off x="4274" y="1659"/>
                  <a:ext cx="940" cy="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ba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37911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74" y="1659"/>
                  <a:ext cx="940" cy="364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912" name="Text Box 20"/>
            <p:cNvSpPr txBox="1">
              <a:spLocks noChangeArrowheads="1"/>
            </p:cNvSpPr>
            <p:nvPr/>
          </p:nvSpPr>
          <p:spPr bwMode="auto">
            <a:xfrm>
              <a:off x="3588" y="1152"/>
              <a:ext cx="11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ea typeface="楷体_GB2312" pitchFamily="49" charset="-122"/>
                </a:rPr>
                <a:t>功能表</a:t>
              </a:r>
              <a:endParaRPr lang="zh-CN" altLang="en-US" sz="3200" b="1">
                <a:solidFill>
                  <a:srgbClr val="0099FF"/>
                </a:solidFill>
                <a:ea typeface="楷体_GB2312" pitchFamily="49" charset="-122"/>
              </a:endParaRPr>
            </a:p>
          </p:txBody>
        </p:sp>
      </p:grpSp>
      <p:grpSp>
        <p:nvGrpSpPr>
          <p:cNvPr id="280597" name="Group 21"/>
          <p:cNvGrpSpPr/>
          <p:nvPr/>
        </p:nvGrpSpPr>
        <p:grpSpPr bwMode="auto">
          <a:xfrm>
            <a:off x="2590800" y="4305300"/>
            <a:ext cx="4095750" cy="1543050"/>
            <a:chOff x="1632" y="2712"/>
            <a:chExt cx="2580" cy="972"/>
          </a:xfrm>
        </p:grpSpPr>
        <p:sp>
          <p:nvSpPr>
            <p:cNvPr id="37906" name="Line 22"/>
            <p:cNvSpPr>
              <a:spLocks noChangeShapeType="1"/>
            </p:cNvSpPr>
            <p:nvPr/>
          </p:nvSpPr>
          <p:spPr bwMode="auto">
            <a:xfrm>
              <a:off x="1632" y="2712"/>
              <a:ext cx="600" cy="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7" name="Oval 23"/>
            <p:cNvSpPr>
              <a:spLocks noChangeArrowheads="1"/>
            </p:cNvSpPr>
            <p:nvPr/>
          </p:nvSpPr>
          <p:spPr bwMode="auto">
            <a:xfrm>
              <a:off x="2244" y="2928"/>
              <a:ext cx="1968" cy="75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低电平起作用</a:t>
              </a:r>
              <a:endParaRPr lang="zh-CN" altLang="en-US" sz="2800" b="1">
                <a:ea typeface="楷体_GB2312" pitchFamily="49" charset="-122"/>
              </a:endParaRPr>
            </a:p>
          </p:txBody>
        </p:sp>
      </p:grpSp>
      <p:sp useBgFill="1">
        <p:nvSpPr>
          <p:cNvPr id="37905" name="AutoShape 25"/>
          <p:cNvSpPr>
            <a:spLocks noChangeArrowheads="1"/>
          </p:cNvSpPr>
          <p:nvPr/>
        </p:nvSpPr>
        <p:spPr bwMode="auto">
          <a:xfrm rot="10800000">
            <a:off x="2184400" y="3694113"/>
            <a:ext cx="379413" cy="249237"/>
          </a:xfrm>
          <a:prstGeom prst="triangle">
            <a:avLst>
              <a:gd name="adj" fmla="val 50000"/>
            </a:avLst>
          </a:prstGeom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/>
          <p:nvPr/>
        </p:nvGrpSpPr>
        <p:grpSpPr bwMode="auto">
          <a:xfrm>
            <a:off x="1104900" y="2762250"/>
            <a:ext cx="2571750" cy="2119313"/>
            <a:chOff x="696" y="1740"/>
            <a:chExt cx="1620" cy="1335"/>
          </a:xfrm>
        </p:grpSpPr>
        <p:sp>
          <p:nvSpPr>
            <p:cNvPr id="38925" name="Rectangle 3"/>
            <p:cNvSpPr>
              <a:spLocks noChangeArrowheads="1"/>
            </p:cNvSpPr>
            <p:nvPr/>
          </p:nvSpPr>
          <p:spPr bwMode="auto">
            <a:xfrm>
              <a:off x="1248" y="1765"/>
              <a:ext cx="504" cy="80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8926" name="Oval 4"/>
            <p:cNvSpPr>
              <a:spLocks noChangeArrowheads="1"/>
            </p:cNvSpPr>
            <p:nvPr/>
          </p:nvSpPr>
          <p:spPr bwMode="auto">
            <a:xfrm>
              <a:off x="1764" y="2113"/>
              <a:ext cx="96" cy="1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8927" name="Text Box 5"/>
            <p:cNvSpPr txBox="1">
              <a:spLocks noChangeArrowheads="1"/>
            </p:cNvSpPr>
            <p:nvPr/>
          </p:nvSpPr>
          <p:spPr bwMode="auto">
            <a:xfrm>
              <a:off x="1332" y="1741"/>
              <a:ext cx="36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&amp;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8928" name="Line 6"/>
            <p:cNvSpPr>
              <a:spLocks noChangeShapeType="1"/>
            </p:cNvSpPr>
            <p:nvPr/>
          </p:nvSpPr>
          <p:spPr bwMode="auto">
            <a:xfrm>
              <a:off x="1056" y="1957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9" name="Line 7"/>
            <p:cNvSpPr>
              <a:spLocks noChangeShapeType="1"/>
            </p:cNvSpPr>
            <p:nvPr/>
          </p:nvSpPr>
          <p:spPr bwMode="auto">
            <a:xfrm>
              <a:off x="1056" y="236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0" name="Line 8"/>
            <p:cNvSpPr>
              <a:spLocks noChangeShapeType="1"/>
            </p:cNvSpPr>
            <p:nvPr/>
          </p:nvSpPr>
          <p:spPr bwMode="auto">
            <a:xfrm>
              <a:off x="1848" y="2161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1" name="Line 9"/>
            <p:cNvSpPr>
              <a:spLocks noChangeShapeType="1"/>
            </p:cNvSpPr>
            <p:nvPr/>
          </p:nvSpPr>
          <p:spPr bwMode="auto">
            <a:xfrm>
              <a:off x="1500" y="2556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2" name="Text Box 10"/>
            <p:cNvSpPr txBox="1">
              <a:spLocks noChangeArrowheads="1"/>
            </p:cNvSpPr>
            <p:nvPr/>
          </p:nvSpPr>
          <p:spPr bwMode="auto">
            <a:xfrm>
              <a:off x="696" y="1740"/>
              <a:ext cx="34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A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8933" name="Text Box 11"/>
            <p:cNvSpPr txBox="1">
              <a:spLocks noChangeArrowheads="1"/>
            </p:cNvSpPr>
            <p:nvPr/>
          </p:nvSpPr>
          <p:spPr bwMode="auto">
            <a:xfrm>
              <a:off x="696" y="2148"/>
              <a:ext cx="34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B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8934" name="Text Box 12"/>
            <p:cNvSpPr txBox="1">
              <a:spLocks noChangeArrowheads="1"/>
            </p:cNvSpPr>
            <p:nvPr/>
          </p:nvSpPr>
          <p:spPr bwMode="auto">
            <a:xfrm>
              <a:off x="1968" y="1800"/>
              <a:ext cx="34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F</a:t>
              </a:r>
              <a:endParaRPr lang="en-US" altLang="zh-CN" sz="3200" b="1">
                <a:ea typeface="楷体_GB2312" pitchFamily="49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35" name="Object 13"/>
                <p:cNvSpPr txBox="1"/>
                <p:nvPr/>
              </p:nvSpPr>
              <p:spPr bwMode="auto">
                <a:xfrm>
                  <a:off x="1552" y="2876"/>
                  <a:ext cx="183" cy="1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38935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52" y="2876"/>
                  <a:ext cx="183" cy="199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915" name="Text Box 14"/>
          <p:cNvSpPr txBox="1">
            <a:spLocks noChangeArrowheads="1"/>
          </p:cNvSpPr>
          <p:nvPr/>
        </p:nvSpPr>
        <p:spPr bwMode="auto">
          <a:xfrm>
            <a:off x="1866900" y="1771650"/>
            <a:ext cx="1104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符号</a:t>
            </a:r>
            <a:endParaRPr lang="zh-CN" altLang="en-US" sz="3200" b="1">
              <a:ea typeface="楷体_GB2312" pitchFamily="49" charset="-122"/>
            </a:endParaRPr>
          </a:p>
        </p:txBody>
      </p:sp>
      <p:graphicFrame>
        <p:nvGraphicFramePr>
          <p:cNvPr id="38916" name="Object 15"/>
          <p:cNvGraphicFramePr>
            <a:graphicFrameLocks noChangeAspect="1"/>
          </p:cNvGraphicFramePr>
          <p:nvPr/>
        </p:nvGraphicFramePr>
        <p:xfrm>
          <a:off x="4438650" y="2495550"/>
          <a:ext cx="4171950" cy="226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2" imgW="4174490" imgH="2272030" progId="Word.Document.8">
                  <p:embed/>
                </p:oleObj>
              </mc:Choice>
              <mc:Fallback>
                <p:oleObj name="" r:id="rId2" imgW="4174490" imgH="2272030" progId="Word.Documen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2495550"/>
                        <a:ext cx="4171950" cy="226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8917" name="Object 16"/>
              <p:cNvSpPr txBox="1"/>
              <p:nvPr/>
            </p:nvSpPr>
            <p:spPr bwMode="auto">
              <a:xfrm>
                <a:off x="5054599" y="2735263"/>
                <a:ext cx="1355725" cy="468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8917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4599" y="2735263"/>
                <a:ext cx="1355725" cy="468312"/>
              </a:xfrm>
              <a:prstGeom prst="rect">
                <a:avLst/>
              </a:prstGeom>
              <a:blipFill rotWithShape="1">
                <a:blip r:embed="rId4"/>
                <a:stretch>
                  <a:fillRect l="-47" t="-68" r="47" b="-81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918" name="Object 17"/>
              <p:cNvSpPr txBox="1"/>
              <p:nvPr/>
            </p:nvSpPr>
            <p:spPr bwMode="auto">
              <a:xfrm>
                <a:off x="5048250" y="3644900"/>
                <a:ext cx="1154113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8918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8250" y="3644900"/>
                <a:ext cx="1154113" cy="533400"/>
              </a:xfrm>
              <a:prstGeom prst="rect">
                <a:avLst/>
              </a:prstGeom>
              <a:blipFill rotWithShape="1">
                <a:blip r:embed="rId5"/>
                <a:stretch>
                  <a:fillRect r="2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919" name="Object 18"/>
              <p:cNvSpPr txBox="1"/>
              <p:nvPr/>
            </p:nvSpPr>
            <p:spPr bwMode="auto">
              <a:xfrm>
                <a:off x="6923088" y="2708275"/>
                <a:ext cx="1355725" cy="5254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ba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8919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3088" y="2708275"/>
                <a:ext cx="1355725" cy="525463"/>
              </a:xfrm>
              <a:prstGeom prst="rect">
                <a:avLst/>
              </a:prstGeom>
              <a:blipFill rotWithShape="1">
                <a:blip r:embed="rId6"/>
                <a:stretch>
                  <a:fillRect l="-23" r="23" b="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20" name="Text Box 19"/>
          <p:cNvSpPr txBox="1">
            <a:spLocks noChangeArrowheads="1"/>
          </p:cNvSpPr>
          <p:nvPr/>
        </p:nvSpPr>
        <p:spPr bwMode="auto">
          <a:xfrm>
            <a:off x="5619750" y="1752600"/>
            <a:ext cx="1885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bg2"/>
                </a:solidFill>
                <a:ea typeface="楷体_GB2312" pitchFamily="49" charset="-122"/>
              </a:rPr>
              <a:t>功能表</a:t>
            </a:r>
            <a:endParaRPr lang="zh-CN" altLang="en-US" sz="3200" b="1">
              <a:ea typeface="楷体_GB2312" pitchFamily="49" charset="-122"/>
            </a:endParaRPr>
          </a:p>
        </p:txBody>
      </p:sp>
      <p:grpSp>
        <p:nvGrpSpPr>
          <p:cNvPr id="281620" name="Group 20"/>
          <p:cNvGrpSpPr/>
          <p:nvPr/>
        </p:nvGrpSpPr>
        <p:grpSpPr bwMode="auto">
          <a:xfrm>
            <a:off x="2590800" y="4305300"/>
            <a:ext cx="4095750" cy="1543050"/>
            <a:chOff x="1632" y="2712"/>
            <a:chExt cx="2580" cy="972"/>
          </a:xfrm>
        </p:grpSpPr>
        <p:sp>
          <p:nvSpPr>
            <p:cNvPr id="38923" name="Line 21"/>
            <p:cNvSpPr>
              <a:spLocks noChangeShapeType="1"/>
            </p:cNvSpPr>
            <p:nvPr/>
          </p:nvSpPr>
          <p:spPr bwMode="auto">
            <a:xfrm>
              <a:off x="1632" y="2712"/>
              <a:ext cx="600" cy="6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24" name="Oval 22"/>
            <p:cNvSpPr>
              <a:spLocks noChangeArrowheads="1"/>
            </p:cNvSpPr>
            <p:nvPr/>
          </p:nvSpPr>
          <p:spPr bwMode="auto">
            <a:xfrm>
              <a:off x="2244" y="2928"/>
              <a:ext cx="1968" cy="75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>
                  <a:ea typeface="楷体_GB2312" pitchFamily="49" charset="-122"/>
                </a:rPr>
                <a:t>高电平起作用</a:t>
              </a:r>
              <a:endParaRPr lang="zh-CN" altLang="en-US" sz="2800" b="1">
                <a:ea typeface="楷体_GB2312" pitchFamily="49" charset="-122"/>
              </a:endParaRPr>
            </a:p>
          </p:txBody>
        </p:sp>
      </p:grpSp>
      <p:sp useBgFill="1">
        <p:nvSpPr>
          <p:cNvPr id="38922" name="AutoShape 24"/>
          <p:cNvSpPr>
            <a:spLocks noChangeArrowheads="1"/>
          </p:cNvSpPr>
          <p:nvPr/>
        </p:nvSpPr>
        <p:spPr bwMode="auto">
          <a:xfrm rot="10800000">
            <a:off x="2184400" y="3719513"/>
            <a:ext cx="379413" cy="249237"/>
          </a:xfrm>
          <a:prstGeom prst="triangle">
            <a:avLst>
              <a:gd name="adj" fmla="val 50000"/>
            </a:avLst>
          </a:prstGeom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6"/>
          <p:cNvSpPr txBox="1">
            <a:spLocks noChangeArrowheads="1"/>
          </p:cNvSpPr>
          <p:nvPr/>
        </p:nvSpPr>
        <p:spPr bwMode="auto">
          <a:xfrm>
            <a:off x="1409700" y="636589"/>
            <a:ext cx="759575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宋体" panose="02010600030101010101" pitchFamily="2" charset="-122"/>
              </a:rPr>
              <a:t>三态门主要作为</a:t>
            </a:r>
            <a:r>
              <a:rPr lang="en-US" altLang="zh-CN" sz="2800" b="1" dirty="0">
                <a:latin typeface="宋体" panose="02010600030101010101" pitchFamily="2" charset="-122"/>
              </a:rPr>
              <a:t>TTL</a:t>
            </a:r>
            <a:r>
              <a:rPr lang="zh-CN" altLang="en-US" sz="2800" b="1" dirty="0">
                <a:latin typeface="宋体" panose="02010600030101010101" pitchFamily="2" charset="-122"/>
              </a:rPr>
              <a:t>电路与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总线</a:t>
            </a:r>
            <a:r>
              <a:rPr lang="zh-CN" altLang="en-US" sz="2800" b="1" dirty="0">
                <a:latin typeface="宋体" panose="02010600030101010101" pitchFamily="2" charset="-122"/>
              </a:rPr>
              <a:t>间的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接口电路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9939" name="Text Box 37"/>
          <p:cNvSpPr txBox="1">
            <a:spLocks noChangeArrowheads="1"/>
          </p:cNvSpPr>
          <p:nvPr/>
        </p:nvSpPr>
        <p:spPr bwMode="auto">
          <a:xfrm>
            <a:off x="277813" y="569913"/>
            <a:ext cx="1104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用途：</a:t>
            </a:r>
            <a:endParaRPr lang="zh-CN" altLang="en-US" sz="3200" b="1"/>
          </a:p>
        </p:txBody>
      </p:sp>
      <p:sp>
        <p:nvSpPr>
          <p:cNvPr id="282662" name="Text Box 38"/>
          <p:cNvSpPr txBox="1">
            <a:spLocks noChangeArrowheads="1"/>
          </p:cNvSpPr>
          <p:nvPr/>
        </p:nvSpPr>
        <p:spPr bwMode="auto">
          <a:xfrm>
            <a:off x="6607175" y="3314700"/>
            <a:ext cx="2179638" cy="14112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长城楷体" pitchFamily="49" charset="-122"/>
              </a:rPr>
              <a:t>E</a:t>
            </a:r>
            <a:r>
              <a:rPr lang="en-US" altLang="zh-CN" sz="2800" b="1" baseline="-25000">
                <a:solidFill>
                  <a:srgbClr val="FF0000"/>
                </a:solidFill>
                <a:ea typeface="长城楷体" pitchFamily="49" charset="-122"/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ea typeface="长城楷体" pitchFamily="49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ea typeface="长城楷体" pitchFamily="49" charset="-122"/>
              </a:rPr>
              <a:t>E</a:t>
            </a:r>
            <a:r>
              <a:rPr lang="en-US" altLang="zh-CN" sz="2800" b="1" baseline="-25000">
                <a:solidFill>
                  <a:srgbClr val="FF0000"/>
                </a:solidFill>
                <a:ea typeface="长城楷体" pitchFamily="49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ea typeface="长城楷体" pitchFamily="49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ea typeface="长城楷体" pitchFamily="49" charset="-122"/>
              </a:rPr>
              <a:t>E</a:t>
            </a:r>
            <a:r>
              <a:rPr lang="en-US" altLang="zh-CN" sz="2800" b="1" baseline="-25000">
                <a:solidFill>
                  <a:srgbClr val="FF0000"/>
                </a:solidFill>
                <a:ea typeface="长城楷体" pitchFamily="49" charset="-122"/>
              </a:rPr>
              <a:t>3</a:t>
            </a:r>
            <a:r>
              <a:rPr lang="zh-CN" altLang="zh-CN" sz="2800" b="1">
                <a:solidFill>
                  <a:srgbClr val="FF0000"/>
                </a:solidFill>
                <a:ea typeface="长城楷体" pitchFamily="49" charset="-122"/>
              </a:rPr>
              <a:t>分时接入高电平</a:t>
            </a:r>
            <a:endParaRPr lang="zh-CN" altLang="en-US" sz="2800" b="1">
              <a:solidFill>
                <a:srgbClr val="FF0000"/>
              </a:solidFill>
              <a:ea typeface="长城楷体" pitchFamily="49" charset="-122"/>
            </a:endParaRPr>
          </a:p>
        </p:txBody>
      </p:sp>
      <p:sp>
        <p:nvSpPr>
          <p:cNvPr id="39941" name="Text Box 39"/>
          <p:cNvSpPr txBox="1">
            <a:spLocks noChangeArrowheads="1"/>
          </p:cNvSpPr>
          <p:nvPr/>
        </p:nvSpPr>
        <p:spPr bwMode="auto">
          <a:xfrm>
            <a:off x="2292350" y="5969000"/>
            <a:ext cx="196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latin typeface="宋体" panose="02010600030101010101" pitchFamily="2" charset="-122"/>
              </a:rPr>
              <a:t>2.</a:t>
            </a:r>
            <a:r>
              <a:rPr lang="zh-CN" altLang="zh-CN" sz="2800" b="1">
                <a:latin typeface="宋体" panose="02010600030101010101" pitchFamily="2" charset="-122"/>
              </a:rPr>
              <a:t>双向传输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  <p:grpSp>
        <p:nvGrpSpPr>
          <p:cNvPr id="39942" name="Group 45"/>
          <p:cNvGrpSpPr/>
          <p:nvPr/>
        </p:nvGrpSpPr>
        <p:grpSpPr bwMode="auto">
          <a:xfrm>
            <a:off x="3738563" y="1257300"/>
            <a:ext cx="2554287" cy="4598988"/>
            <a:chOff x="2355" y="792"/>
            <a:chExt cx="1609" cy="2897"/>
          </a:xfrm>
        </p:grpSpPr>
        <p:sp>
          <p:nvSpPr>
            <p:cNvPr id="39943" name="Rectangle 5"/>
            <p:cNvSpPr>
              <a:spLocks noChangeArrowheads="1"/>
            </p:cNvSpPr>
            <p:nvPr/>
          </p:nvSpPr>
          <p:spPr bwMode="auto">
            <a:xfrm>
              <a:off x="2536" y="924"/>
              <a:ext cx="348" cy="5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9944" name="Line 7"/>
            <p:cNvSpPr>
              <a:spLocks noChangeShapeType="1"/>
            </p:cNvSpPr>
            <p:nvPr/>
          </p:nvSpPr>
          <p:spPr bwMode="auto">
            <a:xfrm>
              <a:off x="2355" y="1180"/>
              <a:ext cx="1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5" name="Line 8"/>
            <p:cNvSpPr>
              <a:spLocks noChangeShapeType="1"/>
            </p:cNvSpPr>
            <p:nvPr/>
          </p:nvSpPr>
          <p:spPr bwMode="auto">
            <a:xfrm>
              <a:off x="2896" y="1176"/>
              <a:ext cx="6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6" name="Line 10"/>
            <p:cNvSpPr>
              <a:spLocks noChangeShapeType="1"/>
            </p:cNvSpPr>
            <p:nvPr/>
          </p:nvSpPr>
          <p:spPr bwMode="auto">
            <a:xfrm>
              <a:off x="2704" y="146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7" name="Text Box 11"/>
            <p:cNvSpPr txBox="1">
              <a:spLocks noChangeArrowheads="1"/>
            </p:cNvSpPr>
            <p:nvPr/>
          </p:nvSpPr>
          <p:spPr bwMode="auto">
            <a:xfrm>
              <a:off x="2764" y="1464"/>
              <a:ext cx="3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E</a:t>
              </a:r>
              <a:r>
                <a:rPr lang="en-US" altLang="zh-CN" sz="3200" b="1" baseline="-25000">
                  <a:ea typeface="楷体_GB2312" pitchFamily="49" charset="-122"/>
                </a:rPr>
                <a:t>1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9948" name="Rectangle 13"/>
            <p:cNvSpPr>
              <a:spLocks noChangeArrowheads="1"/>
            </p:cNvSpPr>
            <p:nvPr/>
          </p:nvSpPr>
          <p:spPr bwMode="auto">
            <a:xfrm>
              <a:off x="2536" y="1848"/>
              <a:ext cx="348" cy="5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9949" name="Line 14"/>
            <p:cNvSpPr>
              <a:spLocks noChangeShapeType="1"/>
            </p:cNvSpPr>
            <p:nvPr/>
          </p:nvSpPr>
          <p:spPr bwMode="auto">
            <a:xfrm>
              <a:off x="2380" y="2103"/>
              <a:ext cx="1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16"/>
            <p:cNvSpPr>
              <a:spLocks noChangeShapeType="1"/>
            </p:cNvSpPr>
            <p:nvPr/>
          </p:nvSpPr>
          <p:spPr bwMode="auto">
            <a:xfrm>
              <a:off x="2896" y="2100"/>
              <a:ext cx="6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Line 18"/>
            <p:cNvSpPr>
              <a:spLocks noChangeShapeType="1"/>
            </p:cNvSpPr>
            <p:nvPr/>
          </p:nvSpPr>
          <p:spPr bwMode="auto">
            <a:xfrm>
              <a:off x="2704" y="2388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Text Box 19"/>
            <p:cNvSpPr txBox="1">
              <a:spLocks noChangeArrowheads="1"/>
            </p:cNvSpPr>
            <p:nvPr/>
          </p:nvSpPr>
          <p:spPr bwMode="auto">
            <a:xfrm>
              <a:off x="2764" y="2388"/>
              <a:ext cx="3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E</a:t>
              </a:r>
              <a:r>
                <a:rPr lang="en-US" altLang="zh-CN" sz="3200" b="1" baseline="-25000">
                  <a:ea typeface="楷体_GB2312" pitchFamily="49" charset="-122"/>
                </a:rPr>
                <a:t>2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9953" name="Rectangle 21"/>
            <p:cNvSpPr>
              <a:spLocks noChangeArrowheads="1"/>
            </p:cNvSpPr>
            <p:nvPr/>
          </p:nvSpPr>
          <p:spPr bwMode="auto">
            <a:xfrm>
              <a:off x="2536" y="2784"/>
              <a:ext cx="348" cy="54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39954" name="Line 23"/>
            <p:cNvSpPr>
              <a:spLocks noChangeShapeType="1"/>
            </p:cNvSpPr>
            <p:nvPr/>
          </p:nvSpPr>
          <p:spPr bwMode="auto">
            <a:xfrm>
              <a:off x="2388" y="3024"/>
              <a:ext cx="1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5" name="Line 24"/>
            <p:cNvSpPr>
              <a:spLocks noChangeShapeType="1"/>
            </p:cNvSpPr>
            <p:nvPr/>
          </p:nvSpPr>
          <p:spPr bwMode="auto">
            <a:xfrm>
              <a:off x="2896" y="3036"/>
              <a:ext cx="6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6" name="Line 26"/>
            <p:cNvSpPr>
              <a:spLocks noChangeShapeType="1"/>
            </p:cNvSpPr>
            <p:nvPr/>
          </p:nvSpPr>
          <p:spPr bwMode="auto">
            <a:xfrm>
              <a:off x="2704" y="332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7" name="Text Box 27"/>
            <p:cNvSpPr txBox="1">
              <a:spLocks noChangeArrowheads="1"/>
            </p:cNvSpPr>
            <p:nvPr/>
          </p:nvSpPr>
          <p:spPr bwMode="auto">
            <a:xfrm>
              <a:off x="2764" y="3324"/>
              <a:ext cx="39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>
                  <a:ea typeface="楷体_GB2312" pitchFamily="49" charset="-122"/>
                </a:rPr>
                <a:t>E</a:t>
              </a:r>
              <a:r>
                <a:rPr lang="en-US" altLang="zh-CN" sz="3200" b="1" baseline="-25000">
                  <a:ea typeface="楷体_GB2312" pitchFamily="49" charset="-122"/>
                </a:rPr>
                <a:t>3</a:t>
              </a:r>
              <a:endParaRPr lang="en-US" altLang="zh-CN" sz="3200" b="1">
                <a:ea typeface="楷体_GB2312" pitchFamily="49" charset="-122"/>
              </a:endParaRPr>
            </a:p>
          </p:txBody>
        </p:sp>
        <p:sp>
          <p:nvSpPr>
            <p:cNvPr id="39958" name="Line 28"/>
            <p:cNvSpPr>
              <a:spLocks noChangeShapeType="1"/>
            </p:cNvSpPr>
            <p:nvPr/>
          </p:nvSpPr>
          <p:spPr bwMode="auto">
            <a:xfrm>
              <a:off x="3532" y="792"/>
              <a:ext cx="0" cy="22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9" name="Text Box 29"/>
            <p:cNvSpPr txBox="1">
              <a:spLocks noChangeArrowheads="1"/>
            </p:cNvSpPr>
            <p:nvPr/>
          </p:nvSpPr>
          <p:spPr bwMode="auto">
            <a:xfrm>
              <a:off x="3541" y="1092"/>
              <a:ext cx="423" cy="1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3200" b="1">
                  <a:ea typeface="楷体_GB2312" pitchFamily="49" charset="-122"/>
                </a:rPr>
                <a:t>公用总线</a:t>
              </a:r>
              <a:endParaRPr lang="zh-CN" altLang="en-US" sz="3200" b="1">
                <a:ea typeface="楷体_GB2312" pitchFamily="49" charset="-122"/>
              </a:endParaRPr>
            </a:p>
          </p:txBody>
        </p:sp>
        <p:sp useBgFill="1">
          <p:nvSpPr>
            <p:cNvPr id="39960" name="AutoShape 40"/>
            <p:cNvSpPr>
              <a:spLocks noChangeArrowheads="1"/>
            </p:cNvSpPr>
            <p:nvPr/>
          </p:nvSpPr>
          <p:spPr bwMode="auto">
            <a:xfrm rot="10800000">
              <a:off x="2640" y="1321"/>
              <a:ext cx="124" cy="74"/>
            </a:xfrm>
            <a:prstGeom prst="triangle">
              <a:avLst>
                <a:gd name="adj" fmla="val 50000"/>
              </a:avLst>
            </a:prstGeom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 useBgFill="1">
          <p:nvSpPr>
            <p:cNvPr id="39961" name="AutoShape 43"/>
            <p:cNvSpPr>
              <a:spLocks noChangeArrowheads="1"/>
            </p:cNvSpPr>
            <p:nvPr/>
          </p:nvSpPr>
          <p:spPr bwMode="auto">
            <a:xfrm rot="10800000">
              <a:off x="2637" y="2246"/>
              <a:ext cx="124" cy="74"/>
            </a:xfrm>
            <a:prstGeom prst="triangle">
              <a:avLst>
                <a:gd name="adj" fmla="val 50000"/>
              </a:avLst>
            </a:prstGeom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 useBgFill="1">
          <p:nvSpPr>
            <p:cNvPr id="39962" name="AutoShape 44"/>
            <p:cNvSpPr>
              <a:spLocks noChangeArrowheads="1"/>
            </p:cNvSpPr>
            <p:nvPr/>
          </p:nvSpPr>
          <p:spPr bwMode="auto">
            <a:xfrm rot="10800000">
              <a:off x="2642" y="3157"/>
              <a:ext cx="124" cy="74"/>
            </a:xfrm>
            <a:prstGeom prst="triangle">
              <a:avLst>
                <a:gd name="adj" fmla="val 50000"/>
              </a:avLst>
            </a:prstGeom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6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6"/>
          <p:cNvSpPr txBox="1">
            <a:spLocks noChangeArrowheads="1"/>
          </p:cNvSpPr>
          <p:nvPr/>
        </p:nvSpPr>
        <p:spPr bwMode="auto">
          <a:xfrm>
            <a:off x="1409700" y="636589"/>
            <a:ext cx="759575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宋体" panose="02010600030101010101" pitchFamily="2" charset="-122"/>
              </a:rPr>
              <a:t>三态门主要作为</a:t>
            </a:r>
            <a:r>
              <a:rPr lang="en-US" altLang="zh-CN" sz="2800" b="1" dirty="0">
                <a:latin typeface="宋体" panose="02010600030101010101" pitchFamily="2" charset="-122"/>
              </a:rPr>
              <a:t>TTL</a:t>
            </a:r>
            <a:r>
              <a:rPr lang="zh-CN" altLang="en-US" sz="2800" b="1" dirty="0">
                <a:latin typeface="宋体" panose="02010600030101010101" pitchFamily="2" charset="-122"/>
              </a:rPr>
              <a:t>电路与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总线</a:t>
            </a:r>
            <a:r>
              <a:rPr lang="zh-CN" altLang="en-US" sz="2800" b="1" dirty="0">
                <a:latin typeface="宋体" panose="02010600030101010101" pitchFamily="2" charset="-122"/>
              </a:rPr>
              <a:t>间的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接口电路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9939" name="Text Box 37"/>
          <p:cNvSpPr txBox="1">
            <a:spLocks noChangeArrowheads="1"/>
          </p:cNvSpPr>
          <p:nvPr/>
        </p:nvSpPr>
        <p:spPr bwMode="auto">
          <a:xfrm>
            <a:off x="277813" y="569913"/>
            <a:ext cx="1104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用途：</a:t>
            </a:r>
            <a:endParaRPr lang="zh-CN" altLang="en-US" sz="3200" b="1"/>
          </a:p>
        </p:txBody>
      </p:sp>
      <p:sp>
        <p:nvSpPr>
          <p:cNvPr id="282662" name="Text Box 38"/>
          <p:cNvSpPr txBox="1">
            <a:spLocks noChangeArrowheads="1"/>
          </p:cNvSpPr>
          <p:nvPr/>
        </p:nvSpPr>
        <p:spPr bwMode="auto">
          <a:xfrm>
            <a:off x="6607175" y="3314700"/>
            <a:ext cx="2179638" cy="14112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长城楷体" pitchFamily="49" charset="-122"/>
              </a:rPr>
              <a:t>E</a:t>
            </a:r>
            <a:r>
              <a:rPr lang="en-US" altLang="zh-CN" sz="2800" b="1" baseline="-25000">
                <a:solidFill>
                  <a:srgbClr val="FF0000"/>
                </a:solidFill>
                <a:ea typeface="长城楷体" pitchFamily="49" charset="-122"/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ea typeface="长城楷体" pitchFamily="49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ea typeface="长城楷体" pitchFamily="49" charset="-122"/>
              </a:rPr>
              <a:t>E</a:t>
            </a:r>
            <a:r>
              <a:rPr lang="en-US" altLang="zh-CN" sz="2800" b="1" baseline="-25000">
                <a:solidFill>
                  <a:srgbClr val="FF0000"/>
                </a:solidFill>
                <a:ea typeface="长城楷体" pitchFamily="49" charset="-122"/>
              </a:rPr>
              <a:t>2</a:t>
            </a:r>
            <a:r>
              <a:rPr lang="zh-CN" altLang="en-US" sz="2800" b="1">
                <a:solidFill>
                  <a:srgbClr val="FF0000"/>
                </a:solidFill>
                <a:ea typeface="长城楷体" pitchFamily="49" charset="-122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ea typeface="长城楷体" pitchFamily="49" charset="-122"/>
              </a:rPr>
              <a:t>E</a:t>
            </a:r>
            <a:r>
              <a:rPr lang="en-US" altLang="zh-CN" sz="2800" b="1" baseline="-25000">
                <a:solidFill>
                  <a:srgbClr val="FF0000"/>
                </a:solidFill>
                <a:ea typeface="长城楷体" pitchFamily="49" charset="-122"/>
              </a:rPr>
              <a:t>3</a:t>
            </a:r>
            <a:r>
              <a:rPr lang="zh-CN" altLang="zh-CN" sz="2800" b="1">
                <a:solidFill>
                  <a:srgbClr val="FF0000"/>
                </a:solidFill>
                <a:ea typeface="长城楷体" pitchFamily="49" charset="-122"/>
              </a:rPr>
              <a:t>分时接入高电平</a:t>
            </a:r>
            <a:endParaRPr lang="zh-CN" altLang="en-US" sz="2800" b="1">
              <a:solidFill>
                <a:srgbClr val="FF0000"/>
              </a:solidFill>
              <a:ea typeface="长城楷体" pitchFamily="49" charset="-122"/>
            </a:endParaRPr>
          </a:p>
        </p:txBody>
      </p:sp>
      <p:sp>
        <p:nvSpPr>
          <p:cNvPr id="39941" name="Text Box 39"/>
          <p:cNvSpPr txBox="1">
            <a:spLocks noChangeArrowheads="1"/>
          </p:cNvSpPr>
          <p:nvPr/>
        </p:nvSpPr>
        <p:spPr bwMode="auto">
          <a:xfrm>
            <a:off x="2292350" y="5969000"/>
            <a:ext cx="196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>
                <a:latin typeface="宋体" panose="02010600030101010101" pitchFamily="2" charset="-122"/>
              </a:rPr>
              <a:t>2.</a:t>
            </a:r>
            <a:r>
              <a:rPr lang="zh-CN" altLang="zh-CN" sz="2800" b="1">
                <a:latin typeface="宋体" panose="02010600030101010101" pitchFamily="2" charset="-122"/>
              </a:rPr>
              <a:t>双向传输</a:t>
            </a:r>
            <a:endParaRPr lang="zh-CN" altLang="en-US" sz="32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6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6"/>
          <p:cNvSpPr txBox="1">
            <a:spLocks noChangeArrowheads="1"/>
          </p:cNvSpPr>
          <p:nvPr/>
        </p:nvSpPr>
        <p:spPr bwMode="auto">
          <a:xfrm>
            <a:off x="1382713" y="955748"/>
            <a:ext cx="759575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宋体" panose="02010600030101010101" pitchFamily="2" charset="-122"/>
              </a:rPr>
              <a:t>1.</a:t>
            </a:r>
            <a:r>
              <a:rPr lang="zh-CN" altLang="en-US" sz="2800" b="1" dirty="0">
                <a:latin typeface="宋体" panose="02010600030101010101" pitchFamily="2" charset="-122"/>
              </a:rPr>
              <a:t>三态门主要作为</a:t>
            </a:r>
            <a:r>
              <a:rPr lang="en-US" altLang="zh-CN" sz="2800" b="1" dirty="0">
                <a:latin typeface="宋体" panose="02010600030101010101" pitchFamily="2" charset="-122"/>
              </a:rPr>
              <a:t>TTL</a:t>
            </a:r>
            <a:r>
              <a:rPr lang="zh-CN" altLang="en-US" sz="2800" b="1" dirty="0">
                <a:latin typeface="宋体" panose="02010600030101010101" pitchFamily="2" charset="-122"/>
              </a:rPr>
              <a:t>电路与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总线</a:t>
            </a:r>
            <a:r>
              <a:rPr lang="zh-CN" altLang="en-US" sz="2800" b="1" dirty="0">
                <a:latin typeface="宋体" panose="02010600030101010101" pitchFamily="2" charset="-122"/>
              </a:rPr>
              <a:t>间的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</a:rPr>
              <a:t>接口电路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39939" name="Text Box 37"/>
          <p:cNvSpPr txBox="1">
            <a:spLocks noChangeArrowheads="1"/>
          </p:cNvSpPr>
          <p:nvPr/>
        </p:nvSpPr>
        <p:spPr bwMode="auto">
          <a:xfrm>
            <a:off x="277813" y="569913"/>
            <a:ext cx="1104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用途：</a:t>
            </a:r>
            <a:endParaRPr lang="zh-CN" altLang="en-US" sz="3200" b="1"/>
          </a:p>
        </p:txBody>
      </p:sp>
      <p:sp>
        <p:nvSpPr>
          <p:cNvPr id="39941" name="Text Box 39"/>
          <p:cNvSpPr txBox="1">
            <a:spLocks noChangeArrowheads="1"/>
          </p:cNvSpPr>
          <p:nvPr/>
        </p:nvSpPr>
        <p:spPr bwMode="auto">
          <a:xfrm>
            <a:off x="1382713" y="1601138"/>
            <a:ext cx="196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>
                <a:latin typeface="宋体" panose="02010600030101010101" pitchFamily="2" charset="-122"/>
              </a:rPr>
              <a:t>2.</a:t>
            </a:r>
            <a:r>
              <a:rPr lang="zh-CN" altLang="zh-CN" sz="2800" b="1" dirty="0">
                <a:latin typeface="宋体" panose="02010600030101010101" pitchFamily="2" charset="-122"/>
              </a:rPr>
              <a:t>双向传输</a:t>
            </a:r>
            <a:endParaRPr lang="zh-CN" altLang="en-US" sz="3200" b="1" dirty="0">
              <a:latin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5962" y="2382982"/>
            <a:ext cx="3333750" cy="32004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77861" y="5660507"/>
            <a:ext cx="8050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当</a:t>
            </a:r>
            <a:r>
              <a:rPr lang="en-US" altLang="zh-CN" sz="2400" b="1" dirty="0">
                <a:latin typeface="+mn-ea"/>
                <a:ea typeface="+mn-ea"/>
              </a:rPr>
              <a:t>E1=1</a:t>
            </a:r>
            <a:r>
              <a:rPr lang="zh-CN" altLang="en-US" sz="2400" b="1" dirty="0">
                <a:latin typeface="+mn-ea"/>
                <a:ea typeface="+mn-ea"/>
              </a:rPr>
              <a:t>，</a:t>
            </a:r>
            <a:r>
              <a:rPr lang="en-US" altLang="zh-CN" sz="2400" b="1" dirty="0">
                <a:latin typeface="+mn-ea"/>
                <a:ea typeface="+mn-ea"/>
              </a:rPr>
              <a:t>E2=0</a:t>
            </a:r>
            <a:r>
              <a:rPr lang="zh-CN" altLang="en-US" sz="2400" b="1" dirty="0">
                <a:latin typeface="+mn-ea"/>
                <a:ea typeface="+mn-ea"/>
              </a:rPr>
              <a:t>时，双向三态门的电路传输方向是 </a:t>
            </a:r>
            <a:r>
              <a:rPr lang="en-US" altLang="zh-CN" sz="2400" b="1" dirty="0">
                <a:latin typeface="+mn-ea"/>
                <a:ea typeface="+mn-ea"/>
              </a:rPr>
              <a:t>A -&gt; B</a:t>
            </a:r>
            <a:r>
              <a:rPr lang="zh-CN" altLang="en-US" sz="2400" b="1" dirty="0">
                <a:latin typeface="+mn-ea"/>
                <a:ea typeface="+mn-ea"/>
              </a:rPr>
              <a:t>；</a:t>
            </a:r>
            <a:endParaRPr lang="zh-CN" altLang="en-US" sz="2400" b="1" dirty="0">
              <a:latin typeface="+mn-ea"/>
              <a:ea typeface="+mn-ea"/>
            </a:endParaRPr>
          </a:p>
          <a:p>
            <a:r>
              <a:rPr lang="zh-CN" altLang="en-US" sz="2400" b="1" dirty="0">
                <a:latin typeface="+mn-ea"/>
                <a:ea typeface="+mn-ea"/>
              </a:rPr>
              <a:t>当</a:t>
            </a:r>
            <a:r>
              <a:rPr lang="en-US" altLang="zh-CN" sz="2400" b="1" dirty="0">
                <a:latin typeface="+mn-ea"/>
                <a:ea typeface="+mn-ea"/>
              </a:rPr>
              <a:t>E1=0</a:t>
            </a:r>
            <a:r>
              <a:rPr lang="zh-CN" altLang="en-US" sz="2400" b="1" dirty="0">
                <a:latin typeface="+mn-ea"/>
                <a:ea typeface="+mn-ea"/>
              </a:rPr>
              <a:t>，</a:t>
            </a:r>
            <a:r>
              <a:rPr lang="en-US" altLang="zh-CN" sz="2400" b="1" dirty="0">
                <a:latin typeface="+mn-ea"/>
                <a:ea typeface="+mn-ea"/>
              </a:rPr>
              <a:t>E2=1</a:t>
            </a:r>
            <a:r>
              <a:rPr lang="zh-CN" altLang="en-US" sz="2400" b="1" dirty="0">
                <a:latin typeface="+mn-ea"/>
                <a:ea typeface="+mn-ea"/>
              </a:rPr>
              <a:t>时，双向三态门的电路传输方向是 </a:t>
            </a:r>
            <a:r>
              <a:rPr lang="en-US" altLang="zh-CN" sz="2400" b="1" dirty="0">
                <a:latin typeface="+mn-ea"/>
                <a:ea typeface="+mn-ea"/>
              </a:rPr>
              <a:t>B -&gt; A</a:t>
            </a:r>
            <a:r>
              <a:rPr lang="zh-CN" altLang="en-US" sz="2400" b="1" dirty="0">
                <a:latin typeface="+mn-ea"/>
                <a:ea typeface="+mn-ea"/>
              </a:rPr>
              <a:t>；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2802" name="Object 2"/>
          <p:cNvGraphicFramePr>
            <a:graphicFrameLocks noChangeAspect="1"/>
          </p:cNvGraphicFramePr>
          <p:nvPr/>
        </p:nvGraphicFramePr>
        <p:xfrm>
          <a:off x="514350" y="1766888"/>
          <a:ext cx="8001000" cy="367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933950" imgH="2266950" progId="Paint.Picture">
                  <p:embed/>
                </p:oleObj>
              </mc:Choice>
              <mc:Fallback>
                <p:oleObj name="" r:id="rId1" imgW="4933950" imgH="226695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350" y="1766888"/>
                        <a:ext cx="8001000" cy="367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" name="Rectangle 3"/>
          <p:cNvSpPr>
            <a:spLocks noChangeArrowheads="1"/>
          </p:cNvSpPr>
          <p:nvPr/>
        </p:nvSpPr>
        <p:spPr bwMode="auto">
          <a:xfrm>
            <a:off x="685800" y="5334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2</a:t>
            </a:r>
            <a:r>
              <a:rPr lang="zh-CN" altLang="en-US" sz="2800" b="1"/>
              <a:t>、</a:t>
            </a:r>
            <a:r>
              <a:rPr lang="en-US" altLang="zh-CN" sz="2800" b="1"/>
              <a:t>TTL</a:t>
            </a:r>
            <a:r>
              <a:rPr lang="zh-CN" altLang="en-US" sz="2800" b="1">
                <a:latin typeface="宋体" panose="02010600030101010101" pitchFamily="2" charset="-122"/>
              </a:rPr>
              <a:t>与非门的电压传输特性</a:t>
            </a:r>
            <a:endParaRPr lang="zh-CN" altLang="en-US" sz="2800" b="1"/>
          </a:p>
        </p:txBody>
      </p:sp>
      <p:sp>
        <p:nvSpPr>
          <p:cNvPr id="332804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/>
              <a:t>1</a:t>
            </a:r>
            <a:r>
              <a:rPr lang="zh-CN" altLang="en-US" sz="2400" b="1"/>
              <a:t>）电压传输特性曲线：</a:t>
            </a:r>
            <a:r>
              <a:rPr lang="en-US" altLang="zh-CN" sz="2400" b="1" i="1"/>
              <a:t>V</a:t>
            </a:r>
            <a:r>
              <a:rPr lang="en-US" altLang="zh-CN" sz="2400" b="1" baseline="-25000"/>
              <a:t>o</a:t>
            </a:r>
            <a:r>
              <a:rPr lang="en-US" altLang="zh-CN" sz="2400" b="1"/>
              <a:t>=</a:t>
            </a:r>
            <a:r>
              <a:rPr lang="en-US" altLang="zh-CN" sz="2400" b="1" i="1"/>
              <a:t>f</a:t>
            </a:r>
            <a:r>
              <a:rPr lang="zh-CN" altLang="en-US" sz="2400" b="1"/>
              <a:t>（</a:t>
            </a:r>
            <a:r>
              <a:rPr lang="en-US" altLang="zh-CN" sz="2400" b="1" i="1"/>
              <a:t>V</a:t>
            </a:r>
            <a:r>
              <a:rPr lang="en-US" altLang="zh-CN" sz="2400" b="1" baseline="-25000"/>
              <a:t>i</a:t>
            </a:r>
            <a:r>
              <a:rPr lang="zh-CN" altLang="en-US" sz="2400" b="1"/>
              <a:t>）</a:t>
            </a:r>
            <a:endParaRPr lang="zh-CN" altLang="en-US" sz="2400" b="1"/>
          </a:p>
        </p:txBody>
      </p:sp>
      <p:sp>
        <p:nvSpPr>
          <p:cNvPr id="332805" name="Rectangle 5"/>
          <p:cNvSpPr>
            <a:spLocks noChangeArrowheads="1"/>
          </p:cNvSpPr>
          <p:nvPr/>
        </p:nvSpPr>
        <p:spPr bwMode="auto">
          <a:xfrm>
            <a:off x="4537075" y="5345113"/>
            <a:ext cx="29908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> </a:t>
            </a: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</a:t>
            </a:r>
            <a:r>
              <a:rPr lang="en-US" altLang="zh-CN" b="1"/>
              <a:t>AB</a:t>
            </a:r>
            <a:r>
              <a:rPr lang="zh-CN" altLang="en-US" b="1"/>
              <a:t>段（截止区） </a:t>
            </a:r>
            <a:endParaRPr lang="zh-CN" altLang="en-US" b="1"/>
          </a:p>
          <a:p>
            <a:r>
              <a:rPr lang="zh-CN" altLang="en-US" b="1"/>
              <a:t> （</a:t>
            </a:r>
            <a:r>
              <a:rPr lang="en-US" altLang="zh-CN" b="1"/>
              <a:t>2</a:t>
            </a:r>
            <a:r>
              <a:rPr lang="zh-CN" altLang="en-US" b="1"/>
              <a:t>）</a:t>
            </a:r>
            <a:r>
              <a:rPr lang="en-US" altLang="zh-CN" b="1"/>
              <a:t>BC</a:t>
            </a:r>
            <a:r>
              <a:rPr lang="zh-CN" altLang="en-US" b="1"/>
              <a:t>段（线性区） </a:t>
            </a:r>
            <a:endParaRPr lang="zh-CN" altLang="en-US" b="1"/>
          </a:p>
          <a:p>
            <a:r>
              <a:rPr lang="zh-CN" altLang="en-US" b="1"/>
              <a:t> （</a:t>
            </a:r>
            <a:r>
              <a:rPr lang="en-US" altLang="zh-CN" b="1"/>
              <a:t>3</a:t>
            </a:r>
            <a:r>
              <a:rPr lang="zh-CN" altLang="en-US" b="1"/>
              <a:t>）</a:t>
            </a:r>
            <a:r>
              <a:rPr lang="en-US" altLang="zh-CN" b="1"/>
              <a:t>CD</a:t>
            </a:r>
            <a:r>
              <a:rPr lang="zh-CN" altLang="en-US" b="1"/>
              <a:t>段（过渡区）</a:t>
            </a:r>
            <a:endParaRPr lang="zh-CN" altLang="en-US" b="1"/>
          </a:p>
          <a:p>
            <a:r>
              <a:rPr lang="zh-CN" altLang="en-US" b="1"/>
              <a:t> （</a:t>
            </a:r>
            <a:r>
              <a:rPr lang="en-US" altLang="zh-CN" b="1"/>
              <a:t>4</a:t>
            </a:r>
            <a:r>
              <a:rPr lang="zh-CN" altLang="en-US" b="1"/>
              <a:t>）</a:t>
            </a:r>
            <a:r>
              <a:rPr lang="en-US" altLang="zh-CN" b="1"/>
              <a:t>DE</a:t>
            </a:r>
            <a:r>
              <a:rPr lang="zh-CN" altLang="en-US" b="1"/>
              <a:t>段（饱和区）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2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2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4" grpId="0"/>
      <p:bldP spid="33280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4164013" y="422275"/>
          <a:ext cx="4979987" cy="367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933950" imgH="2266950" progId="Paint.Picture">
                  <p:embed/>
                </p:oleObj>
              </mc:Choice>
              <mc:Fallback>
                <p:oleObj name="" r:id="rId1" imgW="4933950" imgH="2266950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7758"/>
                      <a:stretch>
                        <a:fillRect/>
                      </a:stretch>
                    </p:blipFill>
                    <p:spPr bwMode="auto">
                      <a:xfrm>
                        <a:off x="4164013" y="422275"/>
                        <a:ext cx="4979987" cy="3676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Rectangle 3"/>
          <p:cNvSpPr>
            <a:spLocks noChangeArrowheads="1"/>
          </p:cNvSpPr>
          <p:nvPr/>
        </p:nvSpPr>
        <p:spPr bwMode="auto">
          <a:xfrm>
            <a:off x="0" y="4430713"/>
            <a:ext cx="91440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solidFill>
                  <a:srgbClr val="FF0000"/>
                </a:solidFill>
              </a:rPr>
              <a:t>AB </a:t>
            </a:r>
            <a:r>
              <a:rPr lang="zh-CN" altLang="en-US" b="1">
                <a:solidFill>
                  <a:srgbClr val="FF0000"/>
                </a:solidFill>
              </a:rPr>
              <a:t>段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  <a:r>
              <a:rPr lang="zh-CN" altLang="en-US"/>
              <a:t>称为</a:t>
            </a:r>
            <a:r>
              <a:rPr lang="zh-CN" altLang="en-US" b="1"/>
              <a:t>截止区</a:t>
            </a:r>
            <a:r>
              <a:rPr lang="en-US" altLang="zh-CN"/>
              <a:t>, </a:t>
            </a:r>
            <a:r>
              <a:rPr lang="zh-CN" altLang="en-US"/>
              <a:t>基本上与 </a:t>
            </a:r>
            <a:r>
              <a:rPr lang="en-US" altLang="zh-CN"/>
              <a:t>X </a:t>
            </a:r>
            <a:r>
              <a:rPr lang="zh-CN" altLang="en-US"/>
              <a:t>轴平行，相当输入低电平，输出高电平。</a:t>
            </a:r>
            <a:endParaRPr lang="zh-CN" altLang="en-US"/>
          </a:p>
          <a:p>
            <a:r>
              <a:rPr lang="en-US" altLang="zh-CN" b="1">
                <a:solidFill>
                  <a:srgbClr val="FF0000"/>
                </a:solidFill>
              </a:rPr>
              <a:t>BC </a:t>
            </a:r>
            <a:r>
              <a:rPr lang="zh-CN" altLang="en-US" b="1">
                <a:solidFill>
                  <a:srgbClr val="FF0000"/>
                </a:solidFill>
              </a:rPr>
              <a:t>段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  <a:r>
              <a:rPr lang="zh-CN" altLang="en-US"/>
              <a:t>称为</a:t>
            </a:r>
            <a:r>
              <a:rPr lang="zh-CN" altLang="en-US" b="1"/>
              <a:t>线性区</a:t>
            </a:r>
            <a:r>
              <a:rPr lang="zh-CN" altLang="en-US"/>
              <a:t>，由于输入的提高，输入低电平电流有一部分开始流入 </a:t>
            </a:r>
            <a:r>
              <a:rPr lang="en-US" altLang="zh-CN"/>
              <a:t>T 2 </a:t>
            </a:r>
            <a:r>
              <a:rPr lang="zh-CN" altLang="en-US"/>
              <a:t>的基极，使 </a:t>
            </a:r>
            <a:r>
              <a:rPr lang="en-US" altLang="zh-CN"/>
              <a:t>T 2 </a:t>
            </a:r>
            <a:r>
              <a:rPr lang="zh-CN" altLang="en-US"/>
              <a:t>进入放大状态，不足以使 </a:t>
            </a:r>
            <a:r>
              <a:rPr lang="en-US" altLang="zh-CN"/>
              <a:t>T 5 </a:t>
            </a:r>
            <a:r>
              <a:rPr lang="zh-CN" altLang="en-US"/>
              <a:t>导通。此时 </a:t>
            </a:r>
            <a:r>
              <a:rPr lang="en-US" altLang="zh-CN"/>
              <a:t>T 3 </a:t>
            </a:r>
            <a:r>
              <a:rPr lang="zh-CN" altLang="en-US"/>
              <a:t>和 </a:t>
            </a:r>
            <a:r>
              <a:rPr lang="en-US" altLang="zh-CN"/>
              <a:t>T 4 </a:t>
            </a:r>
            <a:r>
              <a:rPr lang="zh-CN" altLang="en-US"/>
              <a:t>原来就是导通的，所以输出将跟随 </a:t>
            </a:r>
            <a:r>
              <a:rPr lang="en-US" altLang="zh-CN"/>
              <a:t>T 2 </a:t>
            </a:r>
            <a:r>
              <a:rPr lang="zh-CN" altLang="en-US"/>
              <a:t>集电极，即 </a:t>
            </a:r>
            <a:r>
              <a:rPr lang="en-US" altLang="zh-CN"/>
              <a:t>T 3 </a:t>
            </a:r>
            <a:r>
              <a:rPr lang="zh-CN" altLang="en-US"/>
              <a:t>的基极电位而变化。</a:t>
            </a:r>
            <a:endParaRPr lang="zh-CN" altLang="en-US"/>
          </a:p>
          <a:p>
            <a:r>
              <a:rPr lang="en-US" altLang="zh-CN" b="1">
                <a:solidFill>
                  <a:srgbClr val="FF0000"/>
                </a:solidFill>
              </a:rPr>
              <a:t>CD </a:t>
            </a:r>
            <a:r>
              <a:rPr lang="zh-CN" altLang="en-US" b="1">
                <a:solidFill>
                  <a:srgbClr val="FF0000"/>
                </a:solidFill>
              </a:rPr>
              <a:t>段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  <a:r>
              <a:rPr lang="zh-CN" altLang="en-US"/>
              <a:t>称为</a:t>
            </a:r>
            <a:r>
              <a:rPr lang="zh-CN" altLang="en-US" b="1"/>
              <a:t>过渡区</a:t>
            </a:r>
            <a:r>
              <a:rPr lang="zh-CN" altLang="en-US"/>
              <a:t>， </a:t>
            </a:r>
            <a:r>
              <a:rPr lang="en-US" altLang="zh-CN"/>
              <a:t>T 2 </a:t>
            </a:r>
            <a:r>
              <a:rPr lang="zh-CN" altLang="en-US"/>
              <a:t>的导通较强时， </a:t>
            </a:r>
            <a:r>
              <a:rPr lang="en-US" altLang="zh-CN"/>
              <a:t>T 5 </a:t>
            </a:r>
            <a:r>
              <a:rPr lang="zh-CN" altLang="en-US"/>
              <a:t>也将开始导通，整个门电路的三极管均处于放大状态，输入的微小变化会引起输出的强烈变化， </a:t>
            </a:r>
            <a:r>
              <a:rPr lang="en-US" altLang="zh-CN"/>
              <a:t>CD </a:t>
            </a:r>
            <a:r>
              <a:rPr lang="zh-CN" altLang="en-US"/>
              <a:t>段变化很陡。</a:t>
            </a:r>
            <a:endParaRPr lang="zh-CN" altLang="en-US"/>
          </a:p>
          <a:p>
            <a:r>
              <a:rPr lang="en-US" altLang="zh-CN" b="1">
                <a:solidFill>
                  <a:srgbClr val="FF0000"/>
                </a:solidFill>
              </a:rPr>
              <a:t>DE </a:t>
            </a:r>
            <a:r>
              <a:rPr lang="zh-CN" altLang="en-US" b="1">
                <a:solidFill>
                  <a:srgbClr val="FF0000"/>
                </a:solidFill>
              </a:rPr>
              <a:t>段</a:t>
            </a:r>
            <a:r>
              <a:rPr lang="en-US" altLang="zh-CN" b="1">
                <a:solidFill>
                  <a:srgbClr val="FF0000"/>
                </a:solidFill>
              </a:rPr>
              <a:t>:</a:t>
            </a:r>
            <a:r>
              <a:rPr lang="zh-CN" altLang="en-US"/>
              <a:t>称为</a:t>
            </a:r>
            <a:r>
              <a:rPr lang="zh-CN" altLang="en-US" b="1"/>
              <a:t>饱和区，</a:t>
            </a:r>
            <a:r>
              <a:rPr lang="zh-CN" altLang="en-US"/>
              <a:t>基本上与 </a:t>
            </a:r>
            <a:r>
              <a:rPr lang="en-US" altLang="zh-CN"/>
              <a:t>X </a:t>
            </a:r>
            <a:r>
              <a:rPr lang="zh-CN" altLang="en-US"/>
              <a:t>轴平行，相当输入高电平，输出低电平。 </a:t>
            </a:r>
            <a:endParaRPr lang="zh-CN" altLang="en-US"/>
          </a:p>
        </p:txBody>
      </p:sp>
      <p:grpSp>
        <p:nvGrpSpPr>
          <p:cNvPr id="41988" name="Group 4"/>
          <p:cNvGrpSpPr/>
          <p:nvPr/>
        </p:nvGrpSpPr>
        <p:grpSpPr bwMode="auto">
          <a:xfrm>
            <a:off x="0" y="1012825"/>
            <a:ext cx="4597400" cy="2738438"/>
            <a:chOff x="538" y="392"/>
            <a:chExt cx="5222" cy="3078"/>
          </a:xfrm>
        </p:grpSpPr>
        <p:sp>
          <p:nvSpPr>
            <p:cNvPr id="41991" name="Line 5"/>
            <p:cNvSpPr>
              <a:spLocks noChangeShapeType="1"/>
            </p:cNvSpPr>
            <p:nvPr/>
          </p:nvSpPr>
          <p:spPr bwMode="auto">
            <a:xfrm>
              <a:off x="1724" y="152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2" name="Line 6"/>
            <p:cNvSpPr>
              <a:spLocks noChangeShapeType="1"/>
            </p:cNvSpPr>
            <p:nvPr/>
          </p:nvSpPr>
          <p:spPr bwMode="auto">
            <a:xfrm flipV="1">
              <a:off x="1968" y="1182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3" name="Line 7"/>
            <p:cNvSpPr>
              <a:spLocks noChangeShapeType="1"/>
            </p:cNvSpPr>
            <p:nvPr/>
          </p:nvSpPr>
          <p:spPr bwMode="auto">
            <a:xfrm flipH="1">
              <a:off x="1716" y="1522"/>
              <a:ext cx="240" cy="2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4" name="Line 8"/>
            <p:cNvSpPr>
              <a:spLocks noChangeShapeType="1"/>
            </p:cNvSpPr>
            <p:nvPr/>
          </p:nvSpPr>
          <p:spPr bwMode="auto">
            <a:xfrm>
              <a:off x="1968" y="1522"/>
              <a:ext cx="312" cy="2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5" name="Line 9"/>
            <p:cNvSpPr>
              <a:spLocks noChangeShapeType="1"/>
            </p:cNvSpPr>
            <p:nvPr/>
          </p:nvSpPr>
          <p:spPr bwMode="auto">
            <a:xfrm>
              <a:off x="2256" y="1726"/>
              <a:ext cx="5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996" name="Group 10"/>
            <p:cNvGrpSpPr/>
            <p:nvPr/>
          </p:nvGrpSpPr>
          <p:grpSpPr bwMode="auto">
            <a:xfrm>
              <a:off x="2820" y="1533"/>
              <a:ext cx="240" cy="417"/>
              <a:chOff x="2376" y="1644"/>
              <a:chExt cx="240" cy="456"/>
            </a:xfrm>
          </p:grpSpPr>
          <p:sp>
            <p:nvSpPr>
              <p:cNvPr id="42059" name="Line 11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60" name="Line 12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61" name="Line 13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997" name="Group 14"/>
            <p:cNvGrpSpPr/>
            <p:nvPr/>
          </p:nvGrpSpPr>
          <p:grpSpPr bwMode="auto">
            <a:xfrm>
              <a:off x="3504" y="1347"/>
              <a:ext cx="240" cy="417"/>
              <a:chOff x="2376" y="1644"/>
              <a:chExt cx="240" cy="456"/>
            </a:xfrm>
          </p:grpSpPr>
          <p:sp>
            <p:nvSpPr>
              <p:cNvPr id="42056" name="Line 15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57" name="Line 16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58" name="Line 17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998" name="Line 18"/>
            <p:cNvSpPr>
              <a:spLocks noChangeShapeType="1"/>
            </p:cNvSpPr>
            <p:nvPr/>
          </p:nvSpPr>
          <p:spPr bwMode="auto">
            <a:xfrm flipV="1">
              <a:off x="3034" y="1193"/>
              <a:ext cx="0" cy="3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999" name="Rectangle 19"/>
            <p:cNvSpPr>
              <a:spLocks noChangeArrowheads="1"/>
            </p:cNvSpPr>
            <p:nvPr/>
          </p:nvSpPr>
          <p:spPr bwMode="auto">
            <a:xfrm>
              <a:off x="2980" y="2702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00" name="Rectangle 20"/>
            <p:cNvSpPr>
              <a:spLocks noChangeArrowheads="1"/>
            </p:cNvSpPr>
            <p:nvPr/>
          </p:nvSpPr>
          <p:spPr bwMode="auto">
            <a:xfrm>
              <a:off x="1908" y="793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01" name="Rectangle 21"/>
            <p:cNvSpPr>
              <a:spLocks noChangeArrowheads="1"/>
            </p:cNvSpPr>
            <p:nvPr/>
          </p:nvSpPr>
          <p:spPr bwMode="auto">
            <a:xfrm>
              <a:off x="2974" y="809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02" name="Line 22"/>
            <p:cNvSpPr>
              <a:spLocks noChangeShapeType="1"/>
            </p:cNvSpPr>
            <p:nvPr/>
          </p:nvSpPr>
          <p:spPr bwMode="auto">
            <a:xfrm>
              <a:off x="1968" y="787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3" name="Line 23"/>
            <p:cNvSpPr>
              <a:spLocks noChangeShapeType="1"/>
            </p:cNvSpPr>
            <p:nvPr/>
          </p:nvSpPr>
          <p:spPr bwMode="auto">
            <a:xfrm flipV="1">
              <a:off x="1968" y="563"/>
              <a:ext cx="0" cy="2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4" name="Line 24"/>
            <p:cNvSpPr>
              <a:spLocks noChangeShapeType="1"/>
            </p:cNvSpPr>
            <p:nvPr/>
          </p:nvSpPr>
          <p:spPr bwMode="auto">
            <a:xfrm flipV="1">
              <a:off x="3034" y="563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5" name="Line 25"/>
            <p:cNvSpPr>
              <a:spLocks noChangeShapeType="1"/>
            </p:cNvSpPr>
            <p:nvPr/>
          </p:nvSpPr>
          <p:spPr bwMode="auto">
            <a:xfrm>
              <a:off x="1968" y="563"/>
              <a:ext cx="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6" name="Line 26"/>
            <p:cNvSpPr>
              <a:spLocks noChangeShapeType="1"/>
            </p:cNvSpPr>
            <p:nvPr/>
          </p:nvSpPr>
          <p:spPr bwMode="auto">
            <a:xfrm>
              <a:off x="1962" y="568"/>
              <a:ext cx="28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7" name="Line 27"/>
            <p:cNvSpPr>
              <a:spLocks noChangeShapeType="1"/>
            </p:cNvSpPr>
            <p:nvPr/>
          </p:nvSpPr>
          <p:spPr bwMode="auto">
            <a:xfrm flipH="1">
              <a:off x="3034" y="1533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008" name="Group 28"/>
            <p:cNvGrpSpPr/>
            <p:nvPr/>
          </p:nvGrpSpPr>
          <p:grpSpPr bwMode="auto">
            <a:xfrm>
              <a:off x="4008" y="1544"/>
              <a:ext cx="240" cy="417"/>
              <a:chOff x="2376" y="1644"/>
              <a:chExt cx="240" cy="456"/>
            </a:xfrm>
          </p:grpSpPr>
          <p:sp>
            <p:nvSpPr>
              <p:cNvPr id="42053" name="Line 29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54" name="Line 30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55" name="Line 31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09" name="Line 32"/>
            <p:cNvSpPr>
              <a:spLocks noChangeShapeType="1"/>
            </p:cNvSpPr>
            <p:nvPr/>
          </p:nvSpPr>
          <p:spPr bwMode="auto">
            <a:xfrm>
              <a:off x="3708" y="1742"/>
              <a:ext cx="3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Line 33"/>
            <p:cNvSpPr>
              <a:spLocks noChangeShapeType="1"/>
            </p:cNvSpPr>
            <p:nvPr/>
          </p:nvSpPr>
          <p:spPr bwMode="auto">
            <a:xfrm>
              <a:off x="3708" y="1353"/>
              <a:ext cx="50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1" name="Line 34"/>
            <p:cNvSpPr>
              <a:spLocks noChangeShapeType="1"/>
            </p:cNvSpPr>
            <p:nvPr/>
          </p:nvSpPr>
          <p:spPr bwMode="auto">
            <a:xfrm flipV="1">
              <a:off x="4210" y="1353"/>
              <a:ext cx="0" cy="21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2" name="Rectangle 35"/>
            <p:cNvSpPr>
              <a:spLocks noChangeArrowheads="1"/>
            </p:cNvSpPr>
            <p:nvPr/>
          </p:nvSpPr>
          <p:spPr bwMode="auto">
            <a:xfrm>
              <a:off x="4150" y="815"/>
              <a:ext cx="120" cy="38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13" name="Line 36"/>
            <p:cNvSpPr>
              <a:spLocks noChangeShapeType="1"/>
            </p:cNvSpPr>
            <p:nvPr/>
          </p:nvSpPr>
          <p:spPr bwMode="auto">
            <a:xfrm flipV="1">
              <a:off x="4210" y="1199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Line 37"/>
            <p:cNvSpPr>
              <a:spLocks noChangeShapeType="1"/>
            </p:cNvSpPr>
            <p:nvPr/>
          </p:nvSpPr>
          <p:spPr bwMode="auto">
            <a:xfrm flipV="1">
              <a:off x="4210" y="568"/>
              <a:ext cx="0" cy="2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2015" name="Group 38"/>
            <p:cNvGrpSpPr/>
            <p:nvPr/>
          </p:nvGrpSpPr>
          <p:grpSpPr bwMode="auto">
            <a:xfrm>
              <a:off x="4008" y="2323"/>
              <a:ext cx="240" cy="417"/>
              <a:chOff x="2376" y="1644"/>
              <a:chExt cx="240" cy="456"/>
            </a:xfrm>
          </p:grpSpPr>
          <p:sp>
            <p:nvSpPr>
              <p:cNvPr id="42050" name="Line 39"/>
              <p:cNvSpPr>
                <a:spLocks noChangeShapeType="1"/>
              </p:cNvSpPr>
              <p:nvPr/>
            </p:nvSpPr>
            <p:spPr bwMode="auto">
              <a:xfrm>
                <a:off x="2376" y="1692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51" name="Line 40"/>
              <p:cNvSpPr>
                <a:spLocks noChangeShapeType="1"/>
              </p:cNvSpPr>
              <p:nvPr/>
            </p:nvSpPr>
            <p:spPr bwMode="auto">
              <a:xfrm rot="16200000" flipH="1">
                <a:off x="2376" y="1860"/>
                <a:ext cx="24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52" name="Line 41"/>
              <p:cNvSpPr>
                <a:spLocks noChangeShapeType="1"/>
              </p:cNvSpPr>
              <p:nvPr/>
            </p:nvSpPr>
            <p:spPr bwMode="auto">
              <a:xfrm flipV="1">
                <a:off x="2376" y="1644"/>
                <a:ext cx="216" cy="21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016" name="Rectangle 42"/>
            <p:cNvSpPr>
              <a:spLocks noChangeArrowheads="1"/>
            </p:cNvSpPr>
            <p:nvPr/>
          </p:nvSpPr>
          <p:spPr bwMode="auto">
            <a:xfrm>
              <a:off x="3660" y="1851"/>
              <a:ext cx="120" cy="38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17" name="Line 43"/>
            <p:cNvSpPr>
              <a:spLocks noChangeShapeType="1"/>
            </p:cNvSpPr>
            <p:nvPr/>
          </p:nvSpPr>
          <p:spPr bwMode="auto">
            <a:xfrm>
              <a:off x="3720" y="1731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8" name="Line 44"/>
            <p:cNvSpPr>
              <a:spLocks noChangeShapeType="1"/>
            </p:cNvSpPr>
            <p:nvPr/>
          </p:nvSpPr>
          <p:spPr bwMode="auto">
            <a:xfrm>
              <a:off x="3714" y="2230"/>
              <a:ext cx="0" cy="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9" name="Line 45"/>
            <p:cNvSpPr>
              <a:spLocks noChangeShapeType="1"/>
            </p:cNvSpPr>
            <p:nvPr/>
          </p:nvSpPr>
          <p:spPr bwMode="auto">
            <a:xfrm>
              <a:off x="3594" y="231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0" name="Line 46"/>
            <p:cNvSpPr>
              <a:spLocks noChangeShapeType="1"/>
            </p:cNvSpPr>
            <p:nvPr/>
          </p:nvSpPr>
          <p:spPr bwMode="auto">
            <a:xfrm>
              <a:off x="3040" y="1934"/>
              <a:ext cx="0" cy="7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1" name="Line 47"/>
            <p:cNvSpPr>
              <a:spLocks noChangeShapeType="1"/>
            </p:cNvSpPr>
            <p:nvPr/>
          </p:nvSpPr>
          <p:spPr bwMode="auto">
            <a:xfrm flipH="1">
              <a:off x="3040" y="2522"/>
              <a:ext cx="9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2" name="Line 48"/>
            <p:cNvSpPr>
              <a:spLocks noChangeShapeType="1"/>
            </p:cNvSpPr>
            <p:nvPr/>
          </p:nvSpPr>
          <p:spPr bwMode="auto">
            <a:xfrm>
              <a:off x="3040" y="3080"/>
              <a:ext cx="0" cy="2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3" name="Line 49"/>
            <p:cNvSpPr>
              <a:spLocks noChangeShapeType="1"/>
            </p:cNvSpPr>
            <p:nvPr/>
          </p:nvSpPr>
          <p:spPr bwMode="auto">
            <a:xfrm flipV="1">
              <a:off x="3042" y="3316"/>
              <a:ext cx="1186" cy="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4" name="Line 50"/>
            <p:cNvSpPr>
              <a:spLocks noChangeShapeType="1"/>
            </p:cNvSpPr>
            <p:nvPr/>
          </p:nvSpPr>
          <p:spPr bwMode="auto">
            <a:xfrm>
              <a:off x="4228" y="1950"/>
              <a:ext cx="0" cy="39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5" name="Line 51"/>
            <p:cNvSpPr>
              <a:spLocks noChangeShapeType="1"/>
            </p:cNvSpPr>
            <p:nvPr/>
          </p:nvSpPr>
          <p:spPr bwMode="auto">
            <a:xfrm>
              <a:off x="4228" y="2729"/>
              <a:ext cx="0" cy="7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6" name="Line 52"/>
            <p:cNvSpPr>
              <a:spLocks noChangeShapeType="1"/>
            </p:cNvSpPr>
            <p:nvPr/>
          </p:nvSpPr>
          <p:spPr bwMode="auto">
            <a:xfrm>
              <a:off x="4098" y="3465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7" name="Line 53"/>
            <p:cNvSpPr>
              <a:spLocks noChangeShapeType="1"/>
            </p:cNvSpPr>
            <p:nvPr/>
          </p:nvSpPr>
          <p:spPr bwMode="auto">
            <a:xfrm>
              <a:off x="4228" y="2115"/>
              <a:ext cx="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8" name="Line 54"/>
            <p:cNvSpPr>
              <a:spLocks noChangeShapeType="1"/>
            </p:cNvSpPr>
            <p:nvPr/>
          </p:nvSpPr>
          <p:spPr bwMode="auto">
            <a:xfrm flipH="1">
              <a:off x="1728" y="1731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29" name="Line 55"/>
            <p:cNvSpPr>
              <a:spLocks noChangeShapeType="1"/>
            </p:cNvSpPr>
            <p:nvPr/>
          </p:nvSpPr>
          <p:spPr bwMode="auto">
            <a:xfrm flipH="1">
              <a:off x="1084" y="2104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30" name="Oval 56"/>
            <p:cNvSpPr>
              <a:spLocks noChangeArrowheads="1"/>
            </p:cNvSpPr>
            <p:nvPr/>
          </p:nvSpPr>
          <p:spPr bwMode="auto">
            <a:xfrm>
              <a:off x="4824" y="502"/>
              <a:ext cx="120" cy="12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31" name="Oval 57"/>
            <p:cNvSpPr>
              <a:spLocks noChangeArrowheads="1"/>
            </p:cNvSpPr>
            <p:nvPr/>
          </p:nvSpPr>
          <p:spPr bwMode="auto">
            <a:xfrm>
              <a:off x="4824" y="2049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32" name="Oval 58"/>
            <p:cNvSpPr>
              <a:spLocks noChangeArrowheads="1"/>
            </p:cNvSpPr>
            <p:nvPr/>
          </p:nvSpPr>
          <p:spPr bwMode="auto">
            <a:xfrm>
              <a:off x="958" y="2043"/>
              <a:ext cx="120" cy="12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033" name="Text Box 59"/>
            <p:cNvSpPr txBox="1">
              <a:spLocks noChangeArrowheads="1"/>
            </p:cNvSpPr>
            <p:nvPr/>
          </p:nvSpPr>
          <p:spPr bwMode="auto">
            <a:xfrm>
              <a:off x="4968" y="392"/>
              <a:ext cx="792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b="1">
                  <a:ea typeface="楷体_GB2312" pitchFamily="49" charset="-122"/>
                </a:rPr>
                <a:t>+5V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34" name="Text Box 60"/>
            <p:cNvSpPr txBox="1">
              <a:spLocks noChangeArrowheads="1"/>
            </p:cNvSpPr>
            <p:nvPr/>
          </p:nvSpPr>
          <p:spPr bwMode="auto">
            <a:xfrm>
              <a:off x="5017" y="1984"/>
              <a:ext cx="466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b="1">
                  <a:ea typeface="楷体_GB2312" pitchFamily="49" charset="-122"/>
                </a:rPr>
                <a:t>F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35" name="Text Box 61"/>
            <p:cNvSpPr txBox="1">
              <a:spLocks noChangeArrowheads="1"/>
            </p:cNvSpPr>
            <p:nvPr/>
          </p:nvSpPr>
          <p:spPr bwMode="auto">
            <a:xfrm>
              <a:off x="4296" y="820"/>
              <a:ext cx="661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R</a:t>
              </a:r>
              <a:r>
                <a:rPr lang="en-US" altLang="zh-CN" sz="1200" b="1" baseline="-25000">
                  <a:ea typeface="楷体_GB2312" pitchFamily="49" charset="-122"/>
                </a:rPr>
                <a:t>4</a:t>
              </a:r>
              <a:endParaRPr lang="en-US" altLang="zh-CN" sz="1200" b="1">
                <a:ea typeface="楷体_GB2312" pitchFamily="49" charset="-122"/>
              </a:endParaRPr>
            </a:p>
          </p:txBody>
        </p:sp>
        <p:sp>
          <p:nvSpPr>
            <p:cNvPr id="42036" name="Text Box 62"/>
            <p:cNvSpPr txBox="1">
              <a:spLocks noChangeArrowheads="1"/>
            </p:cNvSpPr>
            <p:nvPr/>
          </p:nvSpPr>
          <p:spPr bwMode="auto">
            <a:xfrm>
              <a:off x="3120" y="810"/>
              <a:ext cx="661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R</a:t>
              </a:r>
              <a:r>
                <a:rPr lang="en-US" altLang="zh-CN" sz="1200" b="1" baseline="-25000">
                  <a:ea typeface="楷体_GB2312" pitchFamily="49" charset="-122"/>
                </a:rPr>
                <a:t>2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37" name="Text Box 63"/>
            <p:cNvSpPr txBox="1">
              <a:spLocks noChangeArrowheads="1"/>
            </p:cNvSpPr>
            <p:nvPr/>
          </p:nvSpPr>
          <p:spPr bwMode="auto">
            <a:xfrm>
              <a:off x="2042" y="611"/>
              <a:ext cx="658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R</a:t>
              </a:r>
              <a:r>
                <a:rPr lang="en-US" altLang="zh-CN" sz="1200" b="1" baseline="-25000">
                  <a:ea typeface="楷体_GB2312" pitchFamily="49" charset="-122"/>
                </a:rPr>
                <a:t>1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38" name="Text Box 64"/>
            <p:cNvSpPr txBox="1">
              <a:spLocks noChangeArrowheads="1"/>
            </p:cNvSpPr>
            <p:nvPr/>
          </p:nvSpPr>
          <p:spPr bwMode="auto">
            <a:xfrm>
              <a:off x="2042" y="942"/>
              <a:ext cx="779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3k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39" name="Text Box 65"/>
            <p:cNvSpPr txBox="1">
              <a:spLocks noChangeArrowheads="1"/>
            </p:cNvSpPr>
            <p:nvPr/>
          </p:nvSpPr>
          <p:spPr bwMode="auto">
            <a:xfrm>
              <a:off x="3014" y="1577"/>
              <a:ext cx="384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T</a:t>
              </a:r>
              <a:r>
                <a:rPr lang="en-US" altLang="zh-CN" sz="1200" b="1" baseline="-25000">
                  <a:ea typeface="楷体_GB2312" pitchFamily="49" charset="-122"/>
                </a:rPr>
                <a:t>2</a:t>
              </a:r>
              <a:endParaRPr lang="en-US" altLang="zh-CN" sz="1200" b="1">
                <a:ea typeface="楷体_GB2312" pitchFamily="49" charset="-122"/>
              </a:endParaRPr>
            </a:p>
          </p:txBody>
        </p:sp>
        <p:sp>
          <p:nvSpPr>
            <p:cNvPr id="42040" name="Text Box 66"/>
            <p:cNvSpPr txBox="1">
              <a:spLocks noChangeArrowheads="1"/>
            </p:cNvSpPr>
            <p:nvPr/>
          </p:nvSpPr>
          <p:spPr bwMode="auto">
            <a:xfrm>
              <a:off x="3275" y="1928"/>
              <a:ext cx="399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R</a:t>
              </a:r>
              <a:r>
                <a:rPr lang="en-US" altLang="zh-CN" sz="1200" b="1" baseline="-25000">
                  <a:ea typeface="楷体_GB2312" pitchFamily="49" charset="-122"/>
                </a:rPr>
                <a:t>5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41" name="Text Box 67"/>
            <p:cNvSpPr txBox="1">
              <a:spLocks noChangeArrowheads="1"/>
            </p:cNvSpPr>
            <p:nvPr/>
          </p:nvSpPr>
          <p:spPr bwMode="auto">
            <a:xfrm>
              <a:off x="3169" y="2762"/>
              <a:ext cx="647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R</a:t>
              </a:r>
              <a:r>
                <a:rPr lang="en-US" altLang="zh-CN" sz="1200" b="1" baseline="-25000">
                  <a:ea typeface="楷体_GB2312" pitchFamily="49" charset="-122"/>
                </a:rPr>
                <a:t>3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42" name="Text Box 68"/>
            <p:cNvSpPr txBox="1">
              <a:spLocks noChangeArrowheads="1"/>
            </p:cNvSpPr>
            <p:nvPr/>
          </p:nvSpPr>
          <p:spPr bwMode="auto">
            <a:xfrm>
              <a:off x="3613" y="1370"/>
              <a:ext cx="623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T</a:t>
              </a:r>
              <a:r>
                <a:rPr lang="en-US" altLang="zh-CN" sz="1200" b="1" baseline="-25000">
                  <a:ea typeface="楷体_GB2312" pitchFamily="49" charset="-122"/>
                </a:rPr>
                <a:t>3</a:t>
              </a:r>
              <a:endParaRPr lang="en-US" altLang="zh-CN" sz="1200" b="1">
                <a:ea typeface="楷体_GB2312" pitchFamily="49" charset="-122"/>
              </a:endParaRPr>
            </a:p>
          </p:txBody>
        </p:sp>
        <p:sp>
          <p:nvSpPr>
            <p:cNvPr id="42043" name="Text Box 69"/>
            <p:cNvSpPr txBox="1">
              <a:spLocks noChangeArrowheads="1"/>
            </p:cNvSpPr>
            <p:nvPr/>
          </p:nvSpPr>
          <p:spPr bwMode="auto">
            <a:xfrm>
              <a:off x="4260" y="1588"/>
              <a:ext cx="420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T</a:t>
              </a:r>
              <a:r>
                <a:rPr lang="en-US" altLang="zh-CN" sz="1200" b="1" baseline="-25000">
                  <a:ea typeface="楷体_GB2312" pitchFamily="49" charset="-122"/>
                </a:rPr>
                <a:t>4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44" name="Text Box 70"/>
            <p:cNvSpPr txBox="1">
              <a:spLocks noChangeArrowheads="1"/>
            </p:cNvSpPr>
            <p:nvPr/>
          </p:nvSpPr>
          <p:spPr bwMode="auto">
            <a:xfrm>
              <a:off x="1811" y="1720"/>
              <a:ext cx="46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b="1">
                  <a:ea typeface="楷体_GB2312" pitchFamily="49" charset="-122"/>
                </a:rPr>
                <a:t>T</a:t>
              </a:r>
              <a:r>
                <a:rPr lang="en-US" altLang="zh-CN" sz="1400" b="1" baseline="-25000">
                  <a:ea typeface="楷体_GB2312" pitchFamily="49" charset="-122"/>
                </a:rPr>
                <a:t>1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45" name="Text Box 71"/>
            <p:cNvSpPr txBox="1">
              <a:spLocks noChangeArrowheads="1"/>
            </p:cNvSpPr>
            <p:nvPr/>
          </p:nvSpPr>
          <p:spPr bwMode="auto">
            <a:xfrm>
              <a:off x="4272" y="2389"/>
              <a:ext cx="422" cy="3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T</a:t>
              </a:r>
              <a:r>
                <a:rPr lang="en-US" altLang="zh-CN" sz="1200" b="1" baseline="-25000">
                  <a:ea typeface="楷体_GB2312" pitchFamily="49" charset="-122"/>
                </a:rPr>
                <a:t>5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46" name="Text Box 72"/>
            <p:cNvSpPr txBox="1">
              <a:spLocks noChangeArrowheads="1"/>
            </p:cNvSpPr>
            <p:nvPr/>
          </p:nvSpPr>
          <p:spPr bwMode="auto">
            <a:xfrm>
              <a:off x="1982" y="1225"/>
              <a:ext cx="502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b</a:t>
              </a:r>
              <a:r>
                <a:rPr lang="en-US" altLang="zh-CN" sz="1200" b="1" baseline="-25000">
                  <a:ea typeface="楷体_GB2312" pitchFamily="49" charset="-122"/>
                </a:rPr>
                <a:t>1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47" name="Text Box 73"/>
            <p:cNvSpPr txBox="1">
              <a:spLocks noChangeArrowheads="1"/>
            </p:cNvSpPr>
            <p:nvPr/>
          </p:nvSpPr>
          <p:spPr bwMode="auto">
            <a:xfrm>
              <a:off x="2256" y="1391"/>
              <a:ext cx="636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400" b="1">
                  <a:ea typeface="楷体_GB2312" pitchFamily="49" charset="-122"/>
                </a:rPr>
                <a:t>c</a:t>
              </a:r>
              <a:r>
                <a:rPr lang="en-US" altLang="zh-CN" sz="1400" b="1" baseline="-25000">
                  <a:ea typeface="楷体_GB2312" pitchFamily="49" charset="-122"/>
                </a:rPr>
                <a:t>1</a:t>
              </a:r>
              <a:endParaRPr lang="en-US" altLang="zh-CN" sz="1400" b="1">
                <a:ea typeface="楷体_GB2312" pitchFamily="49" charset="-122"/>
              </a:endParaRPr>
            </a:p>
          </p:txBody>
        </p:sp>
        <p:sp>
          <p:nvSpPr>
            <p:cNvPr id="42048" name="Text Box 74"/>
            <p:cNvSpPr txBox="1">
              <a:spLocks noChangeArrowheads="1"/>
            </p:cNvSpPr>
            <p:nvPr/>
          </p:nvSpPr>
          <p:spPr bwMode="auto">
            <a:xfrm>
              <a:off x="629" y="1962"/>
              <a:ext cx="44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200" b="1">
                  <a:ea typeface="楷体_GB2312" pitchFamily="49" charset="-122"/>
                </a:rPr>
                <a:t>A</a:t>
              </a:r>
              <a:endParaRPr lang="en-US" altLang="zh-CN" sz="1200" b="1">
                <a:ea typeface="楷体_GB2312" pitchFamily="49" charset="-122"/>
              </a:endParaRPr>
            </a:p>
          </p:txBody>
        </p:sp>
        <p:sp>
          <p:nvSpPr>
            <p:cNvPr id="42049" name="Text Box 75"/>
            <p:cNvSpPr txBox="1">
              <a:spLocks noChangeArrowheads="1"/>
            </p:cNvSpPr>
            <p:nvPr/>
          </p:nvSpPr>
          <p:spPr bwMode="auto">
            <a:xfrm>
              <a:off x="538" y="433"/>
              <a:ext cx="209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zh-CN" sz="900" b="1">
                <a:ea typeface="楷体_GB2312" pitchFamily="49" charset="-122"/>
              </a:endParaRPr>
            </a:p>
          </p:txBody>
        </p:sp>
      </p:grpSp>
      <p:sp>
        <p:nvSpPr>
          <p:cNvPr id="41989" name="Line 76"/>
          <p:cNvSpPr>
            <a:spLocks noChangeShapeType="1"/>
          </p:cNvSpPr>
          <p:nvPr/>
        </p:nvSpPr>
        <p:spPr bwMode="auto">
          <a:xfrm flipV="1">
            <a:off x="595313" y="2895600"/>
            <a:ext cx="0" cy="5127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0" name="Text Box 77"/>
          <p:cNvSpPr txBox="1">
            <a:spLocks noChangeArrowheads="1"/>
          </p:cNvSpPr>
          <p:nvPr/>
        </p:nvSpPr>
        <p:spPr bwMode="auto">
          <a:xfrm>
            <a:off x="709613" y="2992438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i="1"/>
              <a:t>V</a:t>
            </a:r>
            <a:r>
              <a:rPr lang="en-US" altLang="zh-CN" sz="1600" b="1" i="1"/>
              <a:t>i</a:t>
            </a:r>
            <a:endParaRPr lang="en-US" altLang="zh-CN" sz="1600" b="1" i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458200" cy="54864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1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输出高电平电压</a:t>
            </a:r>
            <a:r>
              <a:rPr lang="en-US" altLang="zh-CN" sz="20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OH</a:t>
            </a:r>
            <a:r>
              <a:rPr lang="en-US" altLang="zh-CN" sz="2000" b="1">
                <a:latin typeface="Courier New" panose="02070309020205020404" pitchFamily="49" charset="0"/>
              </a:rPr>
              <a:t>——</a:t>
            </a:r>
            <a:r>
              <a:rPr lang="zh-CN" altLang="en-US" sz="2000" b="1">
                <a:latin typeface="宋体" panose="02010600030101010101" pitchFamily="2" charset="-122"/>
              </a:rPr>
              <a:t>在正逻辑体制中代表逻辑</a:t>
            </a:r>
            <a:r>
              <a:rPr lang="zh-CN" altLang="en-US" sz="2000" b="1">
                <a:latin typeface="Courier New" panose="02070309020205020404" pitchFamily="49" charset="0"/>
              </a:rPr>
              <a:t>“</a:t>
            </a:r>
            <a:r>
              <a:rPr lang="en-US" altLang="zh-CN" sz="2000" b="1">
                <a:latin typeface="宋体" panose="02010600030101010101" pitchFamily="2" charset="-122"/>
              </a:rPr>
              <a:t>1</a:t>
            </a:r>
            <a:r>
              <a:rPr lang="en-US" altLang="zh-CN" sz="2000" b="1">
                <a:latin typeface="Courier New" panose="02070309020205020404" pitchFamily="49" charset="0"/>
              </a:rPr>
              <a:t>”</a:t>
            </a:r>
            <a:r>
              <a:rPr lang="zh-CN" altLang="en-US" sz="2000" b="1">
                <a:latin typeface="宋体" panose="02010600030101010101" pitchFamily="2" charset="-122"/>
              </a:rPr>
              <a:t>的输出电压。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OH</a:t>
            </a:r>
            <a:r>
              <a:rPr lang="zh-CN" altLang="en-US" sz="2000" b="1">
                <a:latin typeface="宋体" panose="02010600030101010101" pitchFamily="2" charset="-122"/>
              </a:rPr>
              <a:t>的理论值为</a:t>
            </a:r>
            <a:r>
              <a:rPr lang="en-US" altLang="zh-CN" sz="2000" b="1">
                <a:latin typeface="宋体" panose="02010600030101010101" pitchFamily="2" charset="-122"/>
              </a:rPr>
              <a:t>3.6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，产品规定输出高电压的最小值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OH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min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=2.4</a:t>
            </a:r>
            <a:r>
              <a:rPr lang="en-US" altLang="zh-CN" sz="2000" b="1"/>
              <a:t>V</a:t>
            </a:r>
            <a:r>
              <a:rPr lang="zh-CN" altLang="en-US" sz="2000" b="1"/>
              <a:t>。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2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输出低电平电压</a:t>
            </a:r>
            <a:r>
              <a:rPr lang="en-US" altLang="zh-CN" sz="20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OL</a:t>
            </a:r>
            <a:r>
              <a:rPr lang="en-US" altLang="zh-CN" sz="2000" b="1">
                <a:latin typeface="Courier New" panose="02070309020205020404" pitchFamily="49" charset="0"/>
              </a:rPr>
              <a:t>——</a:t>
            </a:r>
            <a:r>
              <a:rPr lang="zh-CN" altLang="en-US" sz="2000" b="1">
                <a:latin typeface="宋体" panose="02010600030101010101" pitchFamily="2" charset="-122"/>
              </a:rPr>
              <a:t>在正逻辑体制中代表逻辑</a:t>
            </a:r>
            <a:r>
              <a:rPr lang="zh-CN" altLang="en-US" sz="2000" b="1">
                <a:latin typeface="Courier New" panose="02070309020205020404" pitchFamily="49" charset="0"/>
              </a:rPr>
              <a:t>“</a:t>
            </a:r>
            <a:r>
              <a:rPr lang="en-US" altLang="zh-CN" sz="2000" b="1">
                <a:latin typeface="宋体" panose="02010600030101010101" pitchFamily="2" charset="-122"/>
              </a:rPr>
              <a:t>0</a:t>
            </a:r>
            <a:r>
              <a:rPr lang="en-US" altLang="zh-CN" sz="2000" b="1">
                <a:latin typeface="Courier New" panose="02070309020205020404" pitchFamily="49" charset="0"/>
              </a:rPr>
              <a:t>”</a:t>
            </a:r>
            <a:r>
              <a:rPr lang="zh-CN" altLang="en-US" sz="2000" b="1">
                <a:latin typeface="宋体" panose="02010600030101010101" pitchFamily="2" charset="-122"/>
              </a:rPr>
              <a:t>的输出电压。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OL</a:t>
            </a:r>
            <a:r>
              <a:rPr lang="zh-CN" altLang="en-US" sz="2000" b="1">
                <a:latin typeface="宋体" panose="02010600030101010101" pitchFamily="2" charset="-122"/>
              </a:rPr>
              <a:t>的理论值为</a:t>
            </a:r>
            <a:r>
              <a:rPr lang="en-US" altLang="zh-CN" sz="2000" b="1">
                <a:latin typeface="宋体" panose="02010600030101010101" pitchFamily="2" charset="-122"/>
              </a:rPr>
              <a:t>0.3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，产品规定输出低电压的最大值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OL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max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=0.4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。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3</a:t>
            </a:r>
            <a:r>
              <a:rPr lang="zh-CN" altLang="en-US" sz="2000" b="1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关门电平电压</a:t>
            </a:r>
            <a:r>
              <a:rPr lang="en-US" altLang="zh-CN" sz="20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OFF</a:t>
            </a:r>
            <a:r>
              <a:rPr lang="en-US" altLang="zh-CN" sz="2000" b="1">
                <a:latin typeface="Courier New" panose="02070309020205020404" pitchFamily="49" charset="0"/>
              </a:rPr>
              <a:t>——</a:t>
            </a:r>
            <a:r>
              <a:rPr lang="zh-CN" altLang="en-US" sz="2000" b="1">
                <a:latin typeface="宋体" panose="02010600030101010101" pitchFamily="2" charset="-122"/>
              </a:rPr>
              <a:t>是指输出电压下降到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OH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min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latin typeface="宋体" panose="02010600030101010101" pitchFamily="2" charset="-122"/>
              </a:rPr>
              <a:t>时对应的输入电压。</a:t>
            </a:r>
            <a:r>
              <a:rPr lang="zh-CN" altLang="en-US" sz="2000" b="1"/>
              <a:t>即</a:t>
            </a:r>
            <a:r>
              <a:rPr lang="zh-CN" altLang="en-US" sz="2000" b="1">
                <a:latin typeface="宋体" panose="02010600030101010101" pitchFamily="2" charset="-122"/>
              </a:rPr>
              <a:t>输入低电压的最大值。在产品手册中常称为</a:t>
            </a: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输入低电平电压</a:t>
            </a:r>
            <a:r>
              <a:rPr lang="zh-CN" altLang="en-US" sz="2000" b="1">
                <a:latin typeface="宋体" panose="02010600030101010101" pitchFamily="2" charset="-122"/>
              </a:rPr>
              <a:t>，用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IL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max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latin typeface="宋体" panose="02010600030101010101" pitchFamily="2" charset="-122"/>
              </a:rPr>
              <a:t>表示。产品规定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IL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max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=0.8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。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4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开门电平电压</a:t>
            </a:r>
            <a:r>
              <a:rPr lang="en-US" altLang="zh-CN" sz="20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ON</a:t>
            </a:r>
            <a:r>
              <a:rPr lang="en-US" altLang="zh-CN" sz="2000" b="1">
                <a:latin typeface="Courier New" panose="02070309020205020404" pitchFamily="49" charset="0"/>
              </a:rPr>
              <a:t>——</a:t>
            </a:r>
            <a:r>
              <a:rPr lang="zh-CN" altLang="en-US" sz="2000" b="1">
                <a:latin typeface="宋体" panose="02010600030101010101" pitchFamily="2" charset="-122"/>
              </a:rPr>
              <a:t>是指输出电压下降到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OL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max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latin typeface="宋体" panose="02010600030101010101" pitchFamily="2" charset="-122"/>
              </a:rPr>
              <a:t>时对应的输入电压。</a:t>
            </a:r>
            <a:r>
              <a:rPr lang="zh-CN" altLang="en-US" sz="2000" b="1"/>
              <a:t>即</a:t>
            </a:r>
            <a:r>
              <a:rPr lang="zh-CN" altLang="en-US" sz="2000" b="1">
                <a:latin typeface="宋体" panose="02010600030101010101" pitchFamily="2" charset="-122"/>
              </a:rPr>
              <a:t>输入高电压的最小值。在产品手册中常称为</a:t>
            </a: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输入高电平电压</a:t>
            </a:r>
            <a:r>
              <a:rPr lang="zh-CN" altLang="en-US" sz="2000" b="1">
                <a:latin typeface="宋体" panose="02010600030101010101" pitchFamily="2" charset="-122"/>
              </a:rPr>
              <a:t>，用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IH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min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latin typeface="宋体" panose="02010600030101010101" pitchFamily="2" charset="-122"/>
              </a:rPr>
              <a:t>表示。产品规定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IH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min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=2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。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5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阈值电压</a:t>
            </a:r>
            <a:r>
              <a:rPr lang="en-US" altLang="zh-CN" sz="20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V</a:t>
            </a:r>
            <a:r>
              <a:rPr lang="en-US" altLang="zh-CN" sz="20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th</a:t>
            </a:r>
            <a:r>
              <a:rPr lang="en-US" altLang="zh-CN" sz="2000" b="1">
                <a:latin typeface="Courier New" panose="02070309020205020404" pitchFamily="49" charset="0"/>
              </a:rPr>
              <a:t>——</a:t>
            </a:r>
            <a:r>
              <a:rPr lang="zh-CN" altLang="en-US" sz="2000" b="1">
                <a:latin typeface="宋体" panose="02010600030101010101" pitchFamily="2" charset="-122"/>
              </a:rPr>
              <a:t>电压传输特性的过渡区所对应的输入电压，即决定电路截止和导通的分界线，也是决定输出高、低电压的分界线。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                  近似地：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th</a:t>
            </a:r>
            <a:r>
              <a:rPr lang="en-US" altLang="zh-CN" sz="2000" b="1">
                <a:latin typeface="宋体" panose="02010600030101010101" pitchFamily="2" charset="-122"/>
              </a:rPr>
              <a:t>≈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OFF</a:t>
            </a:r>
            <a:r>
              <a:rPr lang="en-US" altLang="zh-CN" sz="2000" b="1">
                <a:latin typeface="宋体" panose="02010600030101010101" pitchFamily="2" charset="-122"/>
              </a:rPr>
              <a:t>≈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ON</a:t>
            </a:r>
            <a:endParaRPr lang="en-US" altLang="zh-CN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          </a:t>
            </a:r>
            <a:r>
              <a:rPr lang="zh-CN" altLang="en-US" sz="2000" b="1">
                <a:latin typeface="宋体" panose="02010600030101010101" pitchFamily="2" charset="-122"/>
              </a:rPr>
              <a:t>即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i</a:t>
            </a:r>
            <a:r>
              <a:rPr lang="zh-CN" altLang="en-US" sz="2000" b="1">
                <a:latin typeface="宋体" panose="02010600030101010101" pitchFamily="2" charset="-122"/>
              </a:rPr>
              <a:t>＜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th</a:t>
            </a:r>
            <a:r>
              <a:rPr lang="zh-CN" altLang="en-US" sz="2000" b="1">
                <a:latin typeface="宋体" panose="02010600030101010101" pitchFamily="2" charset="-122"/>
              </a:rPr>
              <a:t>，与非门关门，输出高电平；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 i="1"/>
              <a:t>                    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i</a:t>
            </a:r>
            <a:r>
              <a:rPr lang="zh-CN" altLang="en-US" sz="2000" b="1">
                <a:latin typeface="宋体" panose="02010600030101010101" pitchFamily="2" charset="-122"/>
              </a:rPr>
              <a:t>＞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th</a:t>
            </a:r>
            <a:r>
              <a:rPr lang="zh-CN" altLang="en-US" sz="2000" b="1">
                <a:latin typeface="宋体" panose="02010600030101010101" pitchFamily="2" charset="-122"/>
              </a:rPr>
              <a:t>，与非门开门，输出低电平。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 i="1"/>
              <a:t>                  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th</a:t>
            </a:r>
            <a:r>
              <a:rPr lang="zh-CN" altLang="en-US" sz="2000" b="1">
                <a:latin typeface="宋体" panose="02010600030101010101" pitchFamily="2" charset="-122"/>
              </a:rPr>
              <a:t>又常被形象化地称为</a:t>
            </a:r>
            <a:r>
              <a:rPr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门槛电压</a:t>
            </a:r>
            <a:r>
              <a:rPr lang="zh-CN" altLang="en-US" sz="2000" b="1">
                <a:latin typeface="宋体" panose="02010600030101010101" pitchFamily="2" charset="-122"/>
              </a:rPr>
              <a:t>。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th</a:t>
            </a:r>
            <a:r>
              <a:rPr lang="zh-CN" altLang="en-US" sz="2000" b="1">
                <a:latin typeface="宋体" panose="02010600030101010101" pitchFamily="2" charset="-122"/>
              </a:rPr>
              <a:t>的值为</a:t>
            </a:r>
            <a:r>
              <a:rPr lang="en-US" altLang="zh-CN" sz="2000" b="1">
                <a:latin typeface="宋体" panose="02010600030101010101" pitchFamily="2" charset="-122"/>
              </a:rPr>
              <a:t>1.3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～</a:t>
            </a:r>
            <a:r>
              <a:rPr lang="en-US" altLang="zh-CN" sz="2000" b="1">
                <a:latin typeface="宋体" panose="02010600030101010101" pitchFamily="2" charset="-122"/>
              </a:rPr>
              <a:t>1.</a:t>
            </a:r>
            <a:r>
              <a:rPr lang="zh-CN" altLang="en-US" sz="2000" b="1">
                <a:latin typeface="宋体" panose="02010600030101010101" pitchFamily="2" charset="-122"/>
              </a:rPr>
              <a:t>４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。</a:t>
            </a:r>
            <a:endParaRPr lang="zh-CN" altLang="en-US" b="1">
              <a:latin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b="1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533400"/>
          </a:xfrm>
        </p:spPr>
        <p:txBody>
          <a:bodyPr/>
          <a:lstStyle/>
          <a:p>
            <a:r>
              <a:rPr lang="en-US" altLang="zh-CN" sz="2400" b="1"/>
              <a:t>2</a:t>
            </a:r>
            <a:r>
              <a:rPr lang="zh-CN" altLang="en-US" sz="2400" b="1"/>
              <a:t>）几个重要参数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4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48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4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48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4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48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4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48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4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48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4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48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4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48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34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348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0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ChangeArrowheads="1"/>
          </p:cNvSpPr>
          <p:nvPr>
            <p:ph idx="1"/>
          </p:nvPr>
        </p:nvSpPr>
        <p:spPr>
          <a:xfrm>
            <a:off x="1752600" y="5891213"/>
            <a:ext cx="7239000" cy="8382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低电平噪声容限 </a:t>
            </a:r>
            <a:r>
              <a:rPr lang="zh-CN" altLang="en-US" sz="2000" b="1">
                <a:latin typeface="宋体" panose="02010600030101010101" pitchFamily="2" charset="-122"/>
              </a:rPr>
              <a:t> 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NL</a:t>
            </a:r>
            <a:r>
              <a:rPr lang="zh-CN" altLang="en-US" sz="2000" b="1">
                <a:latin typeface="宋体" panose="02010600030101010101" pitchFamily="2" charset="-122"/>
              </a:rPr>
              <a:t>＝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OFF</a:t>
            </a:r>
            <a:r>
              <a:rPr lang="en-US" altLang="zh-CN" sz="2000" b="1">
                <a:latin typeface="宋体" panose="02010600030101010101" pitchFamily="2" charset="-122"/>
              </a:rPr>
              <a:t>-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OL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max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zh-CN" altLang="en-US" sz="2000" b="1">
                <a:latin typeface="宋体" panose="02010600030101010101" pitchFamily="2" charset="-122"/>
              </a:rPr>
              <a:t>＝</a:t>
            </a:r>
            <a:r>
              <a:rPr lang="en-US" altLang="zh-CN" sz="2000" b="1">
                <a:latin typeface="宋体" panose="02010600030101010101" pitchFamily="2" charset="-122"/>
              </a:rPr>
              <a:t>0.8</a:t>
            </a:r>
            <a:r>
              <a:rPr lang="en-US" altLang="zh-CN" sz="2000" b="1"/>
              <a:t>V</a:t>
            </a:r>
            <a:r>
              <a:rPr lang="en-US" altLang="zh-CN" sz="2000" b="1">
                <a:latin typeface="宋体" panose="02010600030101010101" pitchFamily="2" charset="-122"/>
              </a:rPr>
              <a:t>-0.4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＝</a:t>
            </a:r>
            <a:r>
              <a:rPr lang="en-US" altLang="zh-CN" sz="2000" b="1">
                <a:latin typeface="宋体" panose="02010600030101010101" pitchFamily="2" charset="-122"/>
              </a:rPr>
              <a:t>0.4</a:t>
            </a:r>
            <a:r>
              <a:rPr lang="en-US" altLang="zh-CN" sz="2000" b="1"/>
              <a:t>V</a:t>
            </a:r>
            <a:endParaRPr lang="en-US" altLang="zh-CN" sz="2000" b="1">
              <a:latin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高电平噪声容限</a:t>
            </a:r>
            <a:r>
              <a:rPr lang="zh-CN" altLang="en-US" sz="2000" b="1">
                <a:latin typeface="宋体" panose="02010600030101010101" pitchFamily="2" charset="-122"/>
              </a:rPr>
              <a:t>  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NH</a:t>
            </a:r>
            <a:r>
              <a:rPr lang="zh-CN" altLang="en-US" sz="2000" b="1">
                <a:latin typeface="宋体" panose="02010600030101010101" pitchFamily="2" charset="-122"/>
              </a:rPr>
              <a:t>＝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OH</a:t>
            </a:r>
            <a:r>
              <a:rPr lang="zh-CN" altLang="en-US" sz="2000" b="1" baseline="-25000">
                <a:latin typeface="宋体" panose="02010600030101010101" pitchFamily="2" charset="-122"/>
              </a:rPr>
              <a:t>（</a:t>
            </a:r>
            <a:r>
              <a:rPr lang="en-US" altLang="zh-CN" sz="2000" b="1" baseline="-25000"/>
              <a:t>min</a:t>
            </a:r>
            <a:r>
              <a:rPr lang="zh-CN" altLang="en-US" sz="2000" b="1" baseline="-25000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-</a:t>
            </a:r>
            <a:r>
              <a:rPr lang="en-US" altLang="zh-CN" sz="2000" b="1" i="1"/>
              <a:t>V</a:t>
            </a:r>
            <a:r>
              <a:rPr lang="en-US" altLang="zh-CN" sz="2000" b="1" baseline="-25000"/>
              <a:t>ON</a:t>
            </a:r>
            <a:r>
              <a:rPr lang="zh-CN" altLang="en-US" sz="2000" b="1">
                <a:latin typeface="宋体" panose="02010600030101010101" pitchFamily="2" charset="-122"/>
              </a:rPr>
              <a:t>＝</a:t>
            </a:r>
            <a:r>
              <a:rPr lang="en-US" altLang="zh-CN" sz="2000" b="1">
                <a:latin typeface="宋体" panose="02010600030101010101" pitchFamily="2" charset="-122"/>
              </a:rPr>
              <a:t>2.4</a:t>
            </a:r>
            <a:r>
              <a:rPr lang="en-US" altLang="zh-CN" sz="2000" b="1"/>
              <a:t>V</a:t>
            </a:r>
            <a:r>
              <a:rPr lang="en-US" altLang="zh-CN" sz="2000" b="1">
                <a:latin typeface="宋体" panose="02010600030101010101" pitchFamily="2" charset="-122"/>
              </a:rPr>
              <a:t>-2.0</a:t>
            </a:r>
            <a:r>
              <a:rPr lang="en-US" altLang="zh-CN" sz="2000" b="1"/>
              <a:t>V</a:t>
            </a:r>
            <a:r>
              <a:rPr lang="zh-CN" altLang="en-US" sz="2000" b="1">
                <a:latin typeface="宋体" panose="02010600030101010101" pitchFamily="2" charset="-122"/>
              </a:rPr>
              <a:t>＝</a:t>
            </a:r>
            <a:r>
              <a:rPr lang="en-US" altLang="zh-CN" sz="2000" b="1">
                <a:latin typeface="宋体" panose="02010600030101010101" pitchFamily="2" charset="-122"/>
              </a:rPr>
              <a:t>0.4</a:t>
            </a:r>
            <a:r>
              <a:rPr lang="en-US" altLang="zh-CN" sz="2000" b="1"/>
              <a:t>V</a:t>
            </a:r>
            <a:endParaRPr lang="en-US" altLang="zh-CN" sz="2000" b="1"/>
          </a:p>
          <a:p>
            <a:pPr algn="just">
              <a:buFont typeface="Wingdings" panose="05000000000000000000" pitchFamily="2" charset="2"/>
              <a:buNone/>
            </a:pPr>
            <a:endParaRPr lang="en-US" altLang="zh-CN" sz="2000" b="1">
              <a:latin typeface="宋体" panose="02010600030101010101" pitchFamily="2" charset="-122"/>
            </a:endParaRPr>
          </a:p>
        </p:txBody>
      </p:sp>
      <p:graphicFrame>
        <p:nvGraphicFramePr>
          <p:cNvPr id="335875" name="Object 3"/>
          <p:cNvGraphicFramePr>
            <a:graphicFrameLocks noChangeAspect="1"/>
          </p:cNvGraphicFramePr>
          <p:nvPr/>
        </p:nvGraphicFramePr>
        <p:xfrm>
          <a:off x="1524000" y="2157413"/>
          <a:ext cx="6858000" cy="352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505325" imgH="2314575" progId="Paint.Picture">
                  <p:embed/>
                </p:oleObj>
              </mc:Choice>
              <mc:Fallback>
                <p:oleObj name="" r:id="rId1" imgW="4505325" imgH="231457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157413"/>
                        <a:ext cx="6858000" cy="352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5876" name="Rectangle 4"/>
          <p:cNvSpPr>
            <a:spLocks noChangeArrowheads="1"/>
          </p:cNvSpPr>
          <p:nvPr/>
        </p:nvSpPr>
        <p:spPr bwMode="auto">
          <a:xfrm>
            <a:off x="685800" y="1014413"/>
            <a:ext cx="7848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/>
              <a:t>TTL</a:t>
            </a:r>
            <a:r>
              <a:rPr lang="zh-CN" altLang="en-US" b="1"/>
              <a:t>门电路的输出高低电平不是一个值，而是一个范围。同样，它的输入高低电平也有一个范围，即它的输入信号允许一定的容差，称为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噪声容限</a:t>
            </a:r>
            <a:r>
              <a:rPr lang="zh-CN" altLang="en-US" b="1">
                <a:solidFill>
                  <a:schemeClr val="folHlink"/>
                </a:solidFill>
              </a:rPr>
              <a:t>。</a:t>
            </a:r>
            <a:endParaRPr lang="zh-CN" altLang="en-US" sz="28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title"/>
          </p:nvPr>
        </p:nvSpPr>
        <p:spPr>
          <a:xfrm>
            <a:off x="914400" y="328613"/>
            <a:ext cx="7239000" cy="609600"/>
          </a:xfrm>
        </p:spPr>
        <p:txBody>
          <a:bodyPr/>
          <a:lstStyle/>
          <a:p>
            <a:r>
              <a:rPr lang="en-US" altLang="zh-CN" sz="2400" b="1">
                <a:latin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</a:rPr>
              <a:t>）抗干扰能力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5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5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5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5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5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4" grpId="0" build="p"/>
      <p:bldP spid="33587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0" y="441325"/>
            <a:ext cx="8486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latin typeface="宋体" panose="02010600030101010101" pitchFamily="2" charset="-122"/>
              </a:rPr>
              <a:t>3</a:t>
            </a:r>
            <a:r>
              <a:rPr lang="zh-CN" altLang="en-US" sz="2400" b="1">
                <a:latin typeface="宋体" panose="02010600030101010101" pitchFamily="2" charset="-122"/>
              </a:rPr>
              <a:t>、</a:t>
            </a:r>
            <a:r>
              <a:rPr lang="en-US" altLang="zh-CN" sz="2400" b="1">
                <a:latin typeface="宋体" panose="02010600030101010101" pitchFamily="2" charset="-122"/>
              </a:rPr>
              <a:t>TTL</a:t>
            </a:r>
            <a:r>
              <a:rPr lang="zh-CN" altLang="en-US" sz="2400" b="1">
                <a:latin typeface="宋体" panose="02010600030101010101" pitchFamily="2" charset="-122"/>
              </a:rPr>
              <a:t>与非门的输入、输出特性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203200" y="1066800"/>
            <a:ext cx="731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）  </a:t>
            </a:r>
            <a:r>
              <a:rPr lang="en-US" altLang="zh-CN" sz="2400" b="1">
                <a:latin typeface="宋体" panose="02010600030101010101" pitchFamily="2" charset="-122"/>
              </a:rPr>
              <a:t>TTL</a:t>
            </a:r>
            <a:r>
              <a:rPr lang="zh-CN" altLang="en-US" sz="2400" b="1">
                <a:latin typeface="宋体" panose="02010600030101010101" pitchFamily="2" charset="-122"/>
              </a:rPr>
              <a:t>与非门的输入特性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060" name="Object 4"/>
              <p:cNvSpPr txBox="1"/>
              <p:nvPr/>
            </p:nvSpPr>
            <p:spPr bwMode="auto">
              <a:xfrm>
                <a:off x="400050" y="4070350"/>
                <a:ext cx="8286750" cy="2482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𝑉𝐶𝐶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𝑉𝐵𝐸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𝑉𝐼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管导通后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一部分就要流入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的基极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𝐼𝐵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绝大部分经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集电结流入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的基极</m:t>
                      </m:r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倒置工作状态</m:t>
                      </m:r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方向由负变正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506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050" y="4070350"/>
                <a:ext cx="8286750" cy="24828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06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287"/>
          <a:stretch>
            <a:fillRect/>
          </a:stretch>
        </p:blipFill>
        <p:spPr bwMode="auto">
          <a:xfrm>
            <a:off x="1116013" y="1412875"/>
            <a:ext cx="649922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584200" y="342900"/>
            <a:ext cx="552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</a:rPr>
              <a:t>）  </a:t>
            </a:r>
            <a:r>
              <a:rPr lang="en-US" altLang="zh-CN" sz="2400" b="1">
                <a:latin typeface="宋体" panose="02010600030101010101" pitchFamily="2" charset="-122"/>
              </a:rPr>
              <a:t>TTL</a:t>
            </a:r>
            <a:r>
              <a:rPr lang="zh-CN" altLang="en-US" sz="2400" b="1">
                <a:latin typeface="宋体" panose="02010600030101010101" pitchFamily="2" charset="-122"/>
              </a:rPr>
              <a:t>与非门的输出特性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46083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71178" y="887305"/>
            <a:ext cx="6217540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latin typeface="宋体" panose="02010600030101010101" pitchFamily="2" charset="-122"/>
              </a:rPr>
              <a:t>a</a:t>
            </a:r>
            <a:r>
              <a:rPr lang="zh-CN" altLang="en-US" sz="2400" b="1">
                <a:latin typeface="宋体" panose="02010600030101010101" pitchFamily="2" charset="-122"/>
              </a:rPr>
              <a:t>、输出为低电平时的输出特性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619125" y="3221038"/>
            <a:ext cx="6894830" cy="769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当</a:t>
            </a:r>
            <a:r>
              <a:rPr lang="en-US" altLang="zh-CN" b="1">
                <a:ea typeface="楷体_GB2312" pitchFamily="49" charset="-122"/>
              </a:rPr>
              <a:t>i</a:t>
            </a:r>
            <a:r>
              <a:rPr lang="en-US" altLang="zh-CN" sz="1400" b="1">
                <a:ea typeface="楷体_GB2312" pitchFamily="49" charset="-122"/>
              </a:rPr>
              <a:t>L</a:t>
            </a:r>
            <a:r>
              <a:rPr lang="zh-CN" altLang="en-US" b="1">
                <a:ea typeface="楷体_GB2312" pitchFamily="49" charset="-122"/>
              </a:rPr>
              <a:t>增加到大于某个值后，</a:t>
            </a:r>
            <a:r>
              <a:rPr lang="en-US" altLang="zh-CN" b="1">
                <a:ea typeface="楷体_GB2312" pitchFamily="49" charset="-122"/>
              </a:rPr>
              <a:t>T</a:t>
            </a:r>
            <a:r>
              <a:rPr lang="en-US" altLang="zh-CN" sz="1600" b="1">
                <a:ea typeface="楷体_GB2312" pitchFamily="49" charset="-122"/>
              </a:rPr>
              <a:t>5</a:t>
            </a:r>
            <a:r>
              <a:rPr lang="zh-CN" altLang="en-US" b="1">
                <a:ea typeface="楷体_GB2312" pitchFamily="49" charset="-122"/>
              </a:rPr>
              <a:t>管将退出饱和进入放大状态，</a:t>
            </a:r>
            <a:endParaRPr lang="zh-CN" altLang="en-US" b="1">
              <a:ea typeface="楷体_GB2312" pitchFamily="49" charset="-122"/>
            </a:endParaRPr>
          </a:p>
          <a:p>
            <a:r>
              <a:rPr lang="zh-CN" altLang="en-US" b="1">
                <a:ea typeface="楷体_GB2312" pitchFamily="49" charset="-122"/>
              </a:rPr>
              <a:t>   则 </a:t>
            </a:r>
            <a:r>
              <a:rPr lang="en-US" altLang="zh-CN" b="1">
                <a:ea typeface="楷体_GB2312" pitchFamily="49" charset="-122"/>
              </a:rPr>
              <a:t>V</a:t>
            </a:r>
            <a:r>
              <a:rPr lang="en-US" altLang="zh-CN" sz="1400" b="1">
                <a:ea typeface="楷体_GB2312" pitchFamily="49" charset="-122"/>
              </a:rPr>
              <a:t>O</a:t>
            </a:r>
            <a:r>
              <a:rPr lang="zh-CN" altLang="en-US" b="1">
                <a:ea typeface="楷体_GB2312" pitchFamily="49" charset="-122"/>
              </a:rPr>
              <a:t>迅速上升。</a:t>
            </a:r>
            <a:r>
              <a:rPr lang="zh-CN" altLang="en-US" sz="2400" b="1">
                <a:ea typeface="楷体_GB2312" pitchFamily="49" charset="-122"/>
              </a:rPr>
              <a:t>         </a:t>
            </a:r>
            <a:endParaRPr lang="zh-CN" altLang="en-US" sz="2400" b="1">
              <a:ea typeface="楷体_GB2312" pitchFamily="49" charset="-122"/>
            </a:endParaRPr>
          </a:p>
        </p:txBody>
      </p:sp>
      <p:sp>
        <p:nvSpPr>
          <p:cNvPr id="46085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50721" y="3875691"/>
            <a:ext cx="6862740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latin typeface="宋体" panose="02010600030101010101" pitchFamily="2" charset="-122"/>
              </a:rPr>
              <a:t>b</a:t>
            </a:r>
            <a:r>
              <a:rPr lang="zh-CN" altLang="en-US" sz="2400" b="1">
                <a:latin typeface="宋体" panose="02010600030101010101" pitchFamily="2" charset="-122"/>
              </a:rPr>
              <a:t>、输出为高电平时的输出特性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pic>
        <p:nvPicPr>
          <p:cNvPr id="46086" name="Picture 6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80"/>
          <a:stretch>
            <a:fillRect/>
          </a:stretch>
        </p:blipFill>
        <p:spPr bwMode="auto">
          <a:xfrm>
            <a:off x="1961515" y="1223645"/>
            <a:ext cx="5445125" cy="2215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7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69"/>
          <a:stretch>
            <a:fillRect/>
          </a:stretch>
        </p:blipFill>
        <p:spPr bwMode="auto">
          <a:xfrm>
            <a:off x="1462731" y="4289058"/>
            <a:ext cx="6766748" cy="1771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302531" y="5972354"/>
            <a:ext cx="6836618" cy="7696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当</a:t>
            </a:r>
            <a:r>
              <a:rPr lang="en-US" altLang="zh-CN" b="1">
                <a:ea typeface="楷体_GB2312" pitchFamily="49" charset="-122"/>
              </a:rPr>
              <a:t>i</a:t>
            </a:r>
            <a:r>
              <a:rPr lang="en-US" altLang="zh-CN" sz="1400" b="1">
                <a:ea typeface="楷体_GB2312" pitchFamily="49" charset="-122"/>
              </a:rPr>
              <a:t>L</a:t>
            </a:r>
            <a:r>
              <a:rPr lang="zh-CN" altLang="en-US" b="1">
                <a:ea typeface="楷体_GB2312" pitchFamily="49" charset="-122"/>
              </a:rPr>
              <a:t>增加到大于某个值后，</a:t>
            </a:r>
            <a:r>
              <a:rPr lang="en-US" altLang="zh-CN" b="1">
                <a:ea typeface="楷体_GB2312" pitchFamily="49" charset="-122"/>
              </a:rPr>
              <a:t>T</a:t>
            </a:r>
            <a:r>
              <a:rPr lang="en-US" altLang="zh-CN" sz="1600" b="1">
                <a:ea typeface="楷体_GB2312" pitchFamily="49" charset="-122"/>
              </a:rPr>
              <a:t>4</a:t>
            </a:r>
            <a:r>
              <a:rPr lang="zh-CN" altLang="en-US" b="1">
                <a:ea typeface="楷体_GB2312" pitchFamily="49" charset="-122"/>
              </a:rPr>
              <a:t>管将退出饱和进入放大状态，   则 </a:t>
            </a:r>
            <a:r>
              <a:rPr lang="en-US" altLang="zh-CN" b="1">
                <a:ea typeface="楷体_GB2312" pitchFamily="49" charset="-122"/>
              </a:rPr>
              <a:t>V</a:t>
            </a:r>
            <a:r>
              <a:rPr lang="en-US" altLang="zh-CN" sz="1400" b="1">
                <a:ea typeface="楷体_GB2312" pitchFamily="49" charset="-122"/>
              </a:rPr>
              <a:t>O</a:t>
            </a:r>
            <a:r>
              <a:rPr lang="zh-CN" altLang="en-US" b="1">
                <a:ea typeface="楷体_GB2312" pitchFamily="49" charset="-122"/>
              </a:rPr>
              <a:t>下降。</a:t>
            </a:r>
            <a:r>
              <a:rPr lang="zh-CN" altLang="en-US" sz="2400" b="1">
                <a:ea typeface="楷体_GB2312" pitchFamily="49" charset="-122"/>
              </a:rPr>
              <a:t>                                                                           </a:t>
            </a:r>
            <a:endParaRPr lang="zh-CN" altLang="en-US" sz="2400" b="1"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946" name="Object 2"/>
          <p:cNvGraphicFramePr>
            <a:graphicFrameLocks noChangeAspect="1"/>
          </p:cNvGraphicFramePr>
          <p:nvPr/>
        </p:nvGraphicFramePr>
        <p:xfrm>
          <a:off x="4267200" y="5133975"/>
          <a:ext cx="3048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727200" imgH="381000" progId="Equation.3">
                  <p:embed/>
                </p:oleObj>
              </mc:Choice>
              <mc:Fallback>
                <p:oleObj name="" r:id="rId1" imgW="1727200" imgH="38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5133975"/>
                        <a:ext cx="30480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685800" y="485775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4</a:t>
            </a:r>
            <a:r>
              <a:rPr lang="zh-CN" altLang="en-US" sz="2800" b="1"/>
              <a:t>、</a:t>
            </a:r>
            <a:r>
              <a:rPr lang="en-US" altLang="zh-CN" sz="2800" b="1"/>
              <a:t>TTL</a:t>
            </a:r>
            <a:r>
              <a:rPr lang="zh-CN" altLang="en-US" sz="2800" b="1"/>
              <a:t>与非门的带负载能力</a:t>
            </a:r>
            <a:endParaRPr lang="zh-CN" altLang="en-US" sz="28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3894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1019175"/>
            <a:ext cx="7772400" cy="1143000"/>
          </a:xfrm>
        </p:spPr>
        <p:txBody>
          <a:bodyPr/>
          <a:lstStyle/>
          <a:p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．输入低电平电流</a:t>
            </a:r>
            <a:r>
              <a:rPr lang="en-US" altLang="zh-CN" sz="2400" b="1" i="1"/>
              <a:t>I</a:t>
            </a:r>
            <a:r>
              <a:rPr lang="en-US" altLang="zh-CN" sz="2400" b="1" baseline="-25000"/>
              <a:t>IL</a:t>
            </a:r>
            <a:r>
              <a:rPr lang="zh-CN" altLang="en-US" sz="2400" b="1">
                <a:latin typeface="宋体" panose="02010600030101010101" pitchFamily="2" charset="-122"/>
              </a:rPr>
              <a:t>与输入高电平电流</a:t>
            </a:r>
            <a:r>
              <a:rPr lang="en-US" altLang="zh-CN" sz="2400" b="1" i="1"/>
              <a:t>I</a:t>
            </a:r>
            <a:r>
              <a:rPr lang="en-US" altLang="zh-CN" sz="2400" b="1" baseline="-25000"/>
              <a:t>IH</a:t>
            </a:r>
            <a:br>
              <a:rPr lang="en-US" altLang="zh-CN" sz="2400" b="1" baseline="-25000">
                <a:latin typeface="宋体" panose="02010600030101010101" pitchFamily="2" charset="-122"/>
              </a:rPr>
            </a:br>
            <a:r>
              <a:rPr lang="zh-CN" altLang="en-US" sz="2400" b="1"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</a:rPr>
              <a:t>1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输入低电平电流</a:t>
            </a:r>
            <a:r>
              <a:rPr lang="en-US" altLang="zh-CN" sz="24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IL</a:t>
            </a:r>
            <a:r>
              <a:rPr lang="en-US" altLang="zh-CN" sz="2400" b="1">
                <a:ea typeface="黑体" panose="02010609060101010101" pitchFamily="49" charset="-122"/>
              </a:rPr>
              <a:t>——</a:t>
            </a:r>
            <a:r>
              <a:rPr lang="zh-CN" altLang="en-US" sz="2400" b="1">
                <a:latin typeface="宋体" panose="02010600030101010101" pitchFamily="2" charset="-122"/>
              </a:rPr>
              <a:t>是指当门电路的输入端接低电平时，从门电路输入端流出的电流。</a:t>
            </a:r>
            <a:endParaRPr lang="zh-CN" altLang="en-US" sz="4000" b="1">
              <a:latin typeface="宋体" panose="02010600030101010101" pitchFamily="2" charset="-122"/>
            </a:endParaRPr>
          </a:p>
        </p:txBody>
      </p:sp>
      <p:sp>
        <p:nvSpPr>
          <p:cNvPr id="338949" name="Rectangle 5"/>
          <p:cNvSpPr>
            <a:spLocks noGrp="1" noChangeArrowheads="1"/>
          </p:cNvSpPr>
          <p:nvPr>
            <p:ph idx="1"/>
          </p:nvPr>
        </p:nvSpPr>
        <p:spPr>
          <a:xfrm>
            <a:off x="1425575" y="4973638"/>
            <a:ext cx="2097088" cy="5032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宋体" panose="02010600030101010101" pitchFamily="2" charset="-122"/>
              </a:rPr>
              <a:t>可以算出：</a:t>
            </a:r>
            <a:endParaRPr lang="zh-CN" altLang="en-US" sz="2400" b="1">
              <a:solidFill>
                <a:schemeClr val="folHlink"/>
              </a:solidFill>
            </a:endParaRPr>
          </a:p>
        </p:txBody>
      </p:sp>
      <p:sp>
        <p:nvSpPr>
          <p:cNvPr id="338950" name="Rectangle 6"/>
          <p:cNvSpPr>
            <a:spLocks noChangeArrowheads="1"/>
          </p:cNvSpPr>
          <p:nvPr/>
        </p:nvSpPr>
        <p:spPr bwMode="auto">
          <a:xfrm>
            <a:off x="2057400" y="5895975"/>
            <a:ext cx="495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sz="2400" b="1">
                <a:latin typeface="宋体" panose="02010600030101010101" pitchFamily="2" charset="-122"/>
              </a:rPr>
              <a:t>产品规定</a:t>
            </a:r>
            <a:r>
              <a:rPr lang="en-US" altLang="zh-CN" sz="2400" b="1" i="1"/>
              <a:t>I</a:t>
            </a:r>
            <a:r>
              <a:rPr lang="en-US" altLang="zh-CN" sz="2400" b="1" baseline="-25000"/>
              <a:t>IL</a:t>
            </a:r>
            <a:r>
              <a:rPr lang="zh-CN" altLang="en-US" sz="2400" b="1">
                <a:latin typeface="宋体" panose="02010600030101010101" pitchFamily="2" charset="-122"/>
              </a:rPr>
              <a:t>＜</a:t>
            </a:r>
            <a:r>
              <a:rPr lang="en-US" altLang="zh-CN" sz="2400" b="1">
                <a:latin typeface="宋体" panose="02010600030101010101" pitchFamily="2" charset="-122"/>
              </a:rPr>
              <a:t>1.6</a:t>
            </a:r>
            <a:r>
              <a:rPr lang="en-US" altLang="zh-CN" sz="2400" b="1"/>
              <a:t>mA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  <a:endParaRPr lang="zh-CN" altLang="en-US" sz="2400" b="1">
              <a:latin typeface="宋体" panose="02010600030101010101" pitchFamily="2" charset="-122"/>
            </a:endParaRPr>
          </a:p>
        </p:txBody>
      </p:sp>
      <p:pic>
        <p:nvPicPr>
          <p:cNvPr id="3389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2238375"/>
            <a:ext cx="182562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38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8" grpId="0"/>
      <p:bldP spid="338949" grpId="0"/>
      <p:bldP spid="3389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66775"/>
            <a:ext cx="7924800" cy="10668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400" b="1"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latin typeface="宋体" panose="02010600030101010101" pitchFamily="2" charset="-122"/>
              </a:rPr>
              <a:t>）</a:t>
            </a:r>
            <a:r>
              <a:rPr lang="zh-CN" altLang="en-US" sz="2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输入高电平电流</a:t>
            </a:r>
            <a:r>
              <a:rPr lang="en-US" altLang="zh-CN" sz="24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4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IH</a:t>
            </a:r>
            <a:r>
              <a:rPr lang="en-US" altLang="zh-CN" sz="2400" b="1" baseline="-25000">
                <a:ea typeface="黑体" panose="02010609060101010101" pitchFamily="49" charset="-122"/>
              </a:rPr>
              <a:t>——</a:t>
            </a:r>
            <a:r>
              <a:rPr lang="zh-CN" altLang="en-US" sz="2400" b="1">
                <a:latin typeface="宋体" panose="02010600030101010101" pitchFamily="2" charset="-122"/>
              </a:rPr>
              <a:t>是指当门电路的输入端接高电平时，流入输入端的电流。有两种情况。</a:t>
            </a:r>
            <a:br>
              <a:rPr lang="zh-CN" altLang="en-US" sz="2400" b="1">
                <a:latin typeface="宋体" panose="02010600030101010101" pitchFamily="2" charset="-122"/>
              </a:rPr>
            </a:br>
            <a:endParaRPr lang="zh-CN" altLang="en-US" sz="20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399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09600" y="2085975"/>
            <a:ext cx="4419600" cy="1524000"/>
          </a:xfrm>
        </p:spPr>
        <p:txBody>
          <a:bodyPr/>
          <a:lstStyle/>
          <a:p>
            <a:pPr>
              <a:lnSpc>
                <a:spcPct val="12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①</a:t>
            </a:r>
            <a:r>
              <a:rPr lang="zh-CN" altLang="en-US" sz="2000" b="1">
                <a:latin typeface="宋体" panose="02010600030101010101" pitchFamily="2" charset="-122"/>
              </a:rPr>
              <a:t>寄生三极管效应：如图（</a:t>
            </a:r>
            <a:r>
              <a:rPr lang="en-US" altLang="zh-CN" sz="2000" b="1"/>
              <a:t>a</a:t>
            </a:r>
            <a:r>
              <a:rPr lang="zh-CN" altLang="en-US" sz="2000" b="1">
                <a:latin typeface="宋体" panose="02010600030101010101" pitchFamily="2" charset="-122"/>
              </a:rPr>
              <a:t>）所示。这时</a:t>
            </a:r>
            <a:r>
              <a:rPr lang="en-US" altLang="zh-CN" sz="2000" b="1" i="1"/>
              <a:t>I</a:t>
            </a:r>
            <a:r>
              <a:rPr lang="en-US" altLang="zh-CN" sz="2000" b="1" baseline="-25000"/>
              <a:t>IH</a:t>
            </a:r>
            <a:r>
              <a:rPr lang="en-US" altLang="zh-CN" sz="2000" b="1">
                <a:latin typeface="宋体" panose="02010600030101010101" pitchFamily="2" charset="-122"/>
              </a:rPr>
              <a:t>=</a:t>
            </a:r>
            <a:r>
              <a:rPr lang="en-US" altLang="zh-CN" sz="2000" b="1" i="1"/>
              <a:t>β</a:t>
            </a:r>
            <a:r>
              <a:rPr lang="en-US" altLang="zh-CN" sz="2000" b="1" baseline="-25000">
                <a:latin typeface="宋体" panose="02010600030101010101" pitchFamily="2" charset="-122"/>
              </a:rPr>
              <a:t>P</a:t>
            </a:r>
            <a:r>
              <a:rPr lang="en-US" altLang="zh-CN" sz="2000" b="1" i="1"/>
              <a:t>I</a:t>
            </a:r>
            <a:r>
              <a:rPr lang="en-US" altLang="zh-CN" sz="2000" b="1" baseline="-25000">
                <a:latin typeface="宋体" panose="02010600030101010101" pitchFamily="2" charset="-122"/>
              </a:rPr>
              <a:t>B1</a:t>
            </a:r>
            <a:r>
              <a:rPr lang="zh-CN" altLang="en-US" sz="2000" b="1">
                <a:latin typeface="宋体" panose="02010600030101010101" pitchFamily="2" charset="-122"/>
              </a:rPr>
              <a:t>，</a:t>
            </a:r>
            <a:r>
              <a:rPr lang="en-US" altLang="zh-CN" sz="2000" b="1" i="1"/>
              <a:t>β</a:t>
            </a:r>
            <a:r>
              <a:rPr lang="en-US" altLang="zh-CN" sz="2000" b="1" baseline="-25000">
                <a:latin typeface="宋体" panose="02010600030101010101" pitchFamily="2" charset="-122"/>
              </a:rPr>
              <a:t>P</a:t>
            </a:r>
            <a:r>
              <a:rPr lang="zh-CN" altLang="en-US" sz="2000" b="1">
                <a:latin typeface="宋体" panose="02010600030101010101" pitchFamily="2" charset="-122"/>
              </a:rPr>
              <a:t>为寄生三极管的电流放大系数。</a:t>
            </a:r>
            <a:endParaRPr lang="zh-CN" altLang="en-US" sz="2000" b="1">
              <a:latin typeface="宋体" panose="02010600030101010101" pitchFamily="2" charset="-122"/>
            </a:endParaRPr>
          </a:p>
        </p:txBody>
      </p:sp>
      <p:sp>
        <p:nvSpPr>
          <p:cNvPr id="339972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304800" y="5286375"/>
            <a:ext cx="5486400" cy="914400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由于</a:t>
            </a:r>
            <a:r>
              <a:rPr lang="en-US" altLang="zh-CN" sz="2000" b="1" i="1">
                <a:solidFill>
                  <a:srgbClr val="FF0000"/>
                </a:solidFill>
              </a:rPr>
              <a:t>β</a:t>
            </a:r>
            <a:r>
              <a:rPr lang="en-US" altLang="zh-CN" sz="2000" b="1" baseline="-25000">
                <a:solidFill>
                  <a:srgbClr val="FF0000"/>
                </a:solidFill>
              </a:rPr>
              <a:t>p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000" b="1" i="1">
                <a:solidFill>
                  <a:srgbClr val="FF0000"/>
                </a:solidFill>
              </a:rPr>
              <a:t>β</a:t>
            </a:r>
            <a:r>
              <a:rPr lang="en-US" altLang="zh-CN" sz="2000" b="1" baseline="-25000">
                <a:solidFill>
                  <a:srgbClr val="FF0000"/>
                </a:solidFill>
              </a:rPr>
              <a:t>i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的值都远小于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，</a:t>
            </a:r>
            <a:endParaRPr lang="zh-CN" altLang="en-US" sz="2000" b="1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所以</a:t>
            </a:r>
            <a:r>
              <a:rPr lang="en-US" altLang="zh-CN" sz="2000" b="1" i="1">
                <a:solidFill>
                  <a:srgbClr val="FF0000"/>
                </a:solidFill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</a:rPr>
              <a:t>IH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的数值比较小，产品规定：</a:t>
            </a:r>
            <a:r>
              <a:rPr lang="en-US" altLang="zh-CN" sz="2000" b="1" i="1">
                <a:solidFill>
                  <a:srgbClr val="FF0000"/>
                </a:solidFill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</a:rPr>
              <a:t>IH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＜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40</a:t>
            </a:r>
            <a:r>
              <a:rPr lang="en-US" altLang="zh-CN" sz="2000" b="1">
                <a:solidFill>
                  <a:srgbClr val="FF0000"/>
                </a:solidFill>
              </a:rPr>
              <a:t>uA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。</a:t>
            </a:r>
            <a:endParaRPr lang="zh-CN" altLang="en-US" sz="20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39973" name="Object 5"/>
          <p:cNvGraphicFramePr>
            <a:graphicFrameLocks noChangeAspect="1"/>
          </p:cNvGraphicFramePr>
          <p:nvPr/>
        </p:nvGraphicFramePr>
        <p:xfrm>
          <a:off x="5334000" y="1933575"/>
          <a:ext cx="314325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581150" imgH="1685925" progId="Paint.Picture">
                  <p:embed/>
                </p:oleObj>
              </mc:Choice>
              <mc:Fallback>
                <p:oleObj name="" r:id="rId1" imgW="1581150" imgH="1685925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933575"/>
                        <a:ext cx="3143250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9974" name="Rectangle 6"/>
          <p:cNvSpPr>
            <a:spLocks noChangeArrowheads="1"/>
          </p:cNvSpPr>
          <p:nvPr/>
        </p:nvSpPr>
        <p:spPr bwMode="auto">
          <a:xfrm>
            <a:off x="685800" y="3686175"/>
            <a:ext cx="3962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②</a:t>
            </a:r>
            <a:r>
              <a:rPr lang="zh-CN" altLang="en-US" sz="2000" b="1">
                <a:latin typeface="宋体" panose="02010600030101010101" pitchFamily="2" charset="-122"/>
              </a:rPr>
              <a:t>倒置的放大状态：如图（</a:t>
            </a:r>
            <a:r>
              <a:rPr lang="en-US" altLang="zh-CN" sz="2000" b="1"/>
              <a:t>b</a:t>
            </a:r>
            <a:r>
              <a:rPr lang="zh-CN" altLang="en-US" sz="2000" b="1">
                <a:latin typeface="宋体" panose="02010600030101010101" pitchFamily="2" charset="-122"/>
              </a:rPr>
              <a:t>）所示。这时</a:t>
            </a:r>
            <a:r>
              <a:rPr lang="en-US" altLang="zh-CN" sz="2000" b="1" i="1"/>
              <a:t>I</a:t>
            </a:r>
            <a:r>
              <a:rPr lang="en-US" altLang="zh-CN" sz="2000" b="1" baseline="-25000"/>
              <a:t>IH</a:t>
            </a:r>
            <a:r>
              <a:rPr lang="en-US" altLang="zh-CN" sz="2000" b="1">
                <a:latin typeface="宋体" panose="02010600030101010101" pitchFamily="2" charset="-122"/>
              </a:rPr>
              <a:t>=</a:t>
            </a:r>
            <a:r>
              <a:rPr lang="en-US" altLang="zh-CN" sz="2000" b="1" i="1"/>
              <a:t>β</a:t>
            </a:r>
            <a:r>
              <a:rPr lang="en-US" altLang="zh-CN" sz="2000" b="1" baseline="-25000"/>
              <a:t>i</a:t>
            </a:r>
            <a:r>
              <a:rPr lang="en-US" altLang="zh-CN" sz="2000" b="1" i="1"/>
              <a:t>I</a:t>
            </a:r>
            <a:r>
              <a:rPr lang="en-US" altLang="zh-CN" sz="2000" b="1" baseline="-25000">
                <a:latin typeface="宋体" panose="02010600030101010101" pitchFamily="2" charset="-122"/>
              </a:rPr>
              <a:t>B1</a:t>
            </a:r>
            <a:r>
              <a:rPr lang="zh-CN" altLang="en-US" sz="2000" b="1">
                <a:latin typeface="宋体" panose="02010600030101010101" pitchFamily="2" charset="-122"/>
              </a:rPr>
              <a:t>，</a:t>
            </a:r>
            <a:r>
              <a:rPr lang="en-US" altLang="zh-CN" sz="2000" b="1" i="1"/>
              <a:t>β</a:t>
            </a:r>
            <a:r>
              <a:rPr lang="en-US" altLang="zh-CN" sz="2000" b="1" baseline="-25000"/>
              <a:t>i</a:t>
            </a:r>
            <a:r>
              <a:rPr lang="zh-CN" altLang="en-US" sz="2000" b="1">
                <a:latin typeface="宋体" panose="02010600030101010101" pitchFamily="2" charset="-122"/>
              </a:rPr>
              <a:t>为倒置放大的电流放大系数。</a:t>
            </a:r>
            <a:endParaRPr lang="zh-CN" altLang="en-US" sz="2000" b="1">
              <a:latin typeface="宋体" panose="02010600030101010101" pitchFamily="2" charset="-122"/>
            </a:endParaRPr>
          </a:p>
        </p:txBody>
      </p:sp>
      <p:graphicFrame>
        <p:nvGraphicFramePr>
          <p:cNvPr id="339975" name="Object 7"/>
          <p:cNvGraphicFramePr>
            <a:graphicFrameLocks noChangeAspect="1"/>
          </p:cNvGraphicFramePr>
          <p:nvPr/>
        </p:nvGraphicFramePr>
        <p:xfrm>
          <a:off x="5334000" y="2390775"/>
          <a:ext cx="33147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676400" imgH="1695450" progId="Paint.Picture">
                  <p:embed/>
                </p:oleObj>
              </mc:Choice>
              <mc:Fallback>
                <p:oleObj name="" r:id="rId3" imgW="1676400" imgH="1695450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2390775"/>
                        <a:ext cx="3314700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9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9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9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9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9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9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9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71" grpId="0" build="p"/>
      <p:bldP spid="339972" grpId="0" build="p"/>
      <p:bldP spid="33997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331913"/>
            <a:ext cx="7772400" cy="330200"/>
          </a:xfrm>
        </p:spPr>
        <p:txBody>
          <a:bodyPr/>
          <a:lstStyle/>
          <a:p>
            <a:r>
              <a:rPr lang="en-US" altLang="zh-CN" sz="2400" b="1"/>
              <a:t> 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solidFill>
                  <a:srgbClr val="FF0000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）灌电流负载</a:t>
            </a:r>
            <a:endParaRPr lang="zh-CN" altLang="en-US" sz="20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0995" name="Object 3"/>
              <p:cNvSpPr txBox="1"/>
              <p:nvPr/>
            </p:nvSpPr>
            <p:spPr bwMode="auto">
              <a:xfrm>
                <a:off x="2438400" y="5700713"/>
                <a:ext cx="1066800" cy="627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75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OL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IL</m:t>
                                  </m:r>
                                </m:sub>
                              </m:sSub>
                            </m:den>
                          </m:f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OL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4099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700713"/>
                <a:ext cx="1066800" cy="627062"/>
              </a:xfrm>
              <a:prstGeom prst="rect">
                <a:avLst/>
              </a:prstGeom>
              <a:blipFill rotWithShape="1">
                <a:blip r:embed="rId1"/>
                <a:stretch>
                  <a:fillRect t="-2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533400" y="671513"/>
            <a:ext cx="2895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</a:rPr>
              <a:t>．带负载能力</a:t>
            </a:r>
            <a:endParaRPr lang="zh-CN" altLang="en-US" sz="2000" b="1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340997" name="Rectangle 5"/>
          <p:cNvSpPr>
            <a:spLocks noChangeArrowheads="1"/>
          </p:cNvSpPr>
          <p:nvPr/>
        </p:nvSpPr>
        <p:spPr bwMode="auto">
          <a:xfrm>
            <a:off x="0" y="4329113"/>
            <a:ext cx="8991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2">
              <a:buClrTx/>
              <a:buSzTx/>
              <a:buFontTx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当驱动门输出低电平时，电流从负载门灌入驱动门。</a:t>
            </a:r>
            <a:endParaRPr lang="zh-CN" altLang="en-US" sz="2000" b="1">
              <a:latin typeface="宋体" panose="02010600030101010101" pitchFamily="2" charset="-122"/>
            </a:endParaRPr>
          </a:p>
          <a:p>
            <a:pPr algn="just">
              <a:buClrTx/>
              <a:buSzTx/>
              <a:buFontTx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  当负载门的个数增加，灌电流增大，会使</a:t>
            </a:r>
            <a:r>
              <a:rPr lang="en-US" altLang="zh-CN" sz="2000" b="1"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>
                <a:latin typeface="宋体" panose="02010600030101010101" pitchFamily="2" charset="-122"/>
              </a:rPr>
              <a:t>3</a:t>
            </a:r>
            <a:r>
              <a:rPr lang="zh-CN" altLang="en-US" sz="2000" b="1">
                <a:latin typeface="宋体" panose="02010600030101010101" pitchFamily="2" charset="-122"/>
              </a:rPr>
              <a:t>脱离饱和，输出低电平升高。因此，把允许灌入输出端的电流定义为</a:t>
            </a:r>
            <a:r>
              <a:rPr lang="zh-CN" altLang="en-US" sz="20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输出低电平电流</a:t>
            </a:r>
            <a:r>
              <a:rPr lang="en-US" altLang="zh-CN" sz="20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20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OL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000" b="1">
                <a:latin typeface="宋体" panose="02010600030101010101" pitchFamily="2" charset="-122"/>
              </a:rPr>
              <a:t>产品规定</a:t>
            </a:r>
            <a:r>
              <a:rPr lang="en-US" altLang="zh-CN" sz="2000" b="1" i="1">
                <a:latin typeface="Times New Roman" panose="02020603050405020304" pitchFamily="18" charset="0"/>
              </a:rPr>
              <a:t>I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OL</a:t>
            </a:r>
            <a:r>
              <a:rPr lang="en-US" altLang="zh-CN" sz="2000" b="1">
                <a:latin typeface="宋体" panose="02010600030101010101" pitchFamily="2" charset="-122"/>
              </a:rPr>
              <a:t>=16</a:t>
            </a:r>
            <a:r>
              <a:rPr lang="en-US" altLang="zh-CN" sz="2000" b="1">
                <a:latin typeface="Times New Roman" panose="02020603050405020304" pitchFamily="18" charset="0"/>
              </a:rPr>
              <a:t>mA</a:t>
            </a:r>
            <a:r>
              <a:rPr lang="zh-CN" altLang="en-US" sz="2000" b="1">
                <a:latin typeface="宋体" panose="02010600030101010101" pitchFamily="2" charset="-122"/>
              </a:rPr>
              <a:t>。由此可得出</a:t>
            </a:r>
            <a:r>
              <a:rPr lang="en-US" altLang="zh-CN" sz="2000" b="1">
                <a:latin typeface="宋体" panose="02010600030101010101" pitchFamily="2" charset="-122"/>
              </a:rPr>
              <a:t>:</a:t>
            </a:r>
            <a:endParaRPr lang="en-US" altLang="zh-CN" sz="2800" b="1">
              <a:latin typeface="宋体" panose="02010600030101010101" pitchFamily="2" charset="-122"/>
            </a:endParaRPr>
          </a:p>
        </p:txBody>
      </p:sp>
      <p:sp>
        <p:nvSpPr>
          <p:cNvPr id="340998" name="Rectangle 6"/>
          <p:cNvSpPr>
            <a:spLocks noGrp="1" noChangeArrowheads="1"/>
          </p:cNvSpPr>
          <p:nvPr>
            <p:ph idx="1"/>
          </p:nvPr>
        </p:nvSpPr>
        <p:spPr>
          <a:xfrm>
            <a:off x="4191000" y="5776913"/>
            <a:ext cx="4953000" cy="6096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 i="1">
                <a:solidFill>
                  <a:srgbClr val="FF0000"/>
                </a:solidFill>
                <a:latin typeface="宋体" panose="02010600030101010101" pitchFamily="2" charset="-122"/>
              </a:rPr>
              <a:t>N</a:t>
            </a:r>
            <a:r>
              <a:rPr lang="en-US" altLang="zh-CN" sz="2000" b="1" baseline="-25000">
                <a:solidFill>
                  <a:srgbClr val="FF0000"/>
                </a:solidFill>
                <a:latin typeface="宋体" panose="02010600030101010101" pitchFamily="2" charset="-122"/>
              </a:rPr>
              <a:t>OL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</a:rPr>
              <a:t>称为输出低电平时的扇出系数。</a:t>
            </a:r>
            <a:endParaRPr lang="zh-CN" altLang="en-US" sz="2000" b="1">
              <a:latin typeface="宋体" panose="02010600030101010101" pitchFamily="2" charset="-122"/>
            </a:endParaRPr>
          </a:p>
        </p:txBody>
      </p:sp>
      <p:pic>
        <p:nvPicPr>
          <p:cNvPr id="34099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685800"/>
            <a:ext cx="5029200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40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0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0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0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0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0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4" grpId="0"/>
      <p:bldP spid="340997" grpId="0" build="p"/>
      <p:bldP spid="34099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42018" name="Object 2"/>
              <p:cNvSpPr txBox="1"/>
              <p:nvPr/>
            </p:nvSpPr>
            <p:spPr bwMode="auto">
              <a:xfrm>
                <a:off x="4876800" y="4448175"/>
                <a:ext cx="1066800" cy="615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70000" lnSpcReduction="200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f>
                            <m:f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OH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IH</m:t>
                                  </m:r>
                                </m:sub>
                              </m:sSub>
                            </m:den>
                          </m:f>
                        </m:e>
                        <m:sub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OH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42018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800" y="4448175"/>
                <a:ext cx="1066800" cy="6159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79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866775"/>
            <a:ext cx="2590800" cy="330200"/>
          </a:xfrm>
        </p:spPr>
        <p:txBody>
          <a:bodyPr/>
          <a:lstStyle/>
          <a:p>
            <a:r>
              <a:rPr lang="en-US" altLang="zh-CN" sz="2400" b="1"/>
              <a:t> 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）拉电流负载。</a:t>
            </a:r>
            <a:endParaRPr lang="zh-CN" altLang="en-US" sz="24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42020" name="Rectangle 4"/>
          <p:cNvSpPr>
            <a:spLocks noChangeArrowheads="1"/>
          </p:cNvSpPr>
          <p:nvPr/>
        </p:nvSpPr>
        <p:spPr bwMode="auto">
          <a:xfrm>
            <a:off x="762000" y="5133975"/>
            <a:ext cx="39624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/>
              <a:t> </a:t>
            </a:r>
            <a:r>
              <a:rPr lang="en-US" altLang="zh-CN" sz="1800" b="1" i="1">
                <a:solidFill>
                  <a:srgbClr val="FF0000"/>
                </a:solidFill>
              </a:rPr>
              <a:t>N</a:t>
            </a:r>
            <a:r>
              <a:rPr lang="en-US" altLang="zh-CN" sz="1800" b="1" baseline="-25000">
                <a:solidFill>
                  <a:srgbClr val="FF0000"/>
                </a:solidFill>
              </a:rPr>
              <a:t>OH</a:t>
            </a: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称为</a:t>
            </a: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输出高电平时的扇出系数</a:t>
            </a:r>
            <a:r>
              <a:rPr lang="zh-CN" altLang="en-US" sz="1800" b="1">
                <a:solidFill>
                  <a:srgbClr val="FF0000"/>
                </a:solidFill>
                <a:latin typeface="宋体" panose="02010600030101010101" pitchFamily="2" charset="-122"/>
              </a:rPr>
              <a:t>。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42021" name="Rectangle 5"/>
          <p:cNvSpPr>
            <a:spLocks noChangeArrowheads="1"/>
          </p:cNvSpPr>
          <p:nvPr/>
        </p:nvSpPr>
        <p:spPr bwMode="auto">
          <a:xfrm>
            <a:off x="609600" y="4524375"/>
            <a:ext cx="39624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1">
                <a:latin typeface="宋体" panose="02010600030101010101" pitchFamily="2" charset="-122"/>
              </a:rPr>
              <a:t>产品规定</a:t>
            </a:r>
            <a:r>
              <a:rPr lang="en-US" altLang="zh-CN" sz="1800" b="1" i="1"/>
              <a:t>I</a:t>
            </a:r>
            <a:r>
              <a:rPr lang="en-US" altLang="zh-CN" sz="1800" b="1" baseline="-25000"/>
              <a:t>OH</a:t>
            </a:r>
            <a:r>
              <a:rPr lang="en-US" altLang="zh-CN" sz="1800" b="1">
                <a:latin typeface="宋体" panose="02010600030101010101" pitchFamily="2" charset="-122"/>
              </a:rPr>
              <a:t>=0.4</a:t>
            </a:r>
            <a:r>
              <a:rPr lang="en-US" altLang="zh-CN" sz="1800" b="1"/>
              <a:t>mA</a:t>
            </a:r>
            <a:r>
              <a:rPr lang="zh-CN" altLang="en-US" sz="1800" b="1">
                <a:latin typeface="宋体" panose="02010600030101010101" pitchFamily="2" charset="-122"/>
              </a:rPr>
              <a:t>。由此可得出：</a:t>
            </a:r>
            <a:endParaRPr lang="zh-CN" altLang="en-US" sz="18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342022" name="Rectangle 6"/>
          <p:cNvSpPr>
            <a:spLocks noChangeArrowheads="1"/>
          </p:cNvSpPr>
          <p:nvPr/>
        </p:nvSpPr>
        <p:spPr bwMode="auto">
          <a:xfrm>
            <a:off x="228600" y="1323975"/>
            <a:ext cx="29718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buClrTx/>
              <a:buSzTx/>
              <a:buFontTx/>
              <a:buNone/>
            </a:pPr>
            <a:r>
              <a:rPr lang="en-US" altLang="zh-CN" sz="1800" b="1">
                <a:latin typeface="宋体" panose="02010600030101010101" pitchFamily="2" charset="-122"/>
              </a:rPr>
              <a:t>   </a:t>
            </a:r>
            <a:r>
              <a:rPr lang="zh-CN" altLang="en-US" sz="1800" b="1">
                <a:latin typeface="宋体" panose="02010600030101010101" pitchFamily="2" charset="-122"/>
              </a:rPr>
              <a:t>当驱动门输出高电平时，电流从驱动门拉出</a:t>
            </a:r>
            <a:r>
              <a:rPr lang="en-US" altLang="zh-CN" sz="1800" b="1">
                <a:latin typeface="宋体" panose="02010600030101010101" pitchFamily="2" charset="-122"/>
              </a:rPr>
              <a:t>,</a:t>
            </a:r>
            <a:r>
              <a:rPr lang="zh-CN" altLang="en-US" sz="1800" b="1">
                <a:latin typeface="宋体" panose="02010600030101010101" pitchFamily="2" charset="-122"/>
              </a:rPr>
              <a:t>流至负载门的输入端。</a:t>
            </a:r>
            <a:endParaRPr lang="zh-CN" altLang="en-US" sz="1800" b="1">
              <a:latin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   拉电流增大时，</a:t>
            </a:r>
            <a:r>
              <a:rPr lang="en-US" altLang="zh-CN" sz="1800" b="1">
                <a:latin typeface="Times New Roman" panose="02020603050405020304" pitchFamily="18" charset="0"/>
              </a:rPr>
              <a:t>R</a:t>
            </a:r>
            <a:r>
              <a:rPr lang="en-US" altLang="zh-CN" sz="1800" b="1" baseline="-25000">
                <a:latin typeface="宋体" panose="02010600030101010101" pitchFamily="2" charset="-122"/>
              </a:rPr>
              <a:t>C4</a:t>
            </a:r>
            <a:r>
              <a:rPr lang="zh-CN" altLang="en-US" sz="1800" b="1">
                <a:latin typeface="宋体" panose="02010600030101010101" pitchFamily="2" charset="-122"/>
              </a:rPr>
              <a:t>上的压降增大，会使输出高电平降低。因此，把允许拉出输出端的电流定义为</a:t>
            </a: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输出高电平电流</a:t>
            </a:r>
            <a:r>
              <a:rPr lang="en-US" altLang="zh-CN" sz="1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OH</a:t>
            </a:r>
            <a:r>
              <a:rPr lang="zh-CN" altLang="en-US" sz="1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342023" name="Rectangle 7"/>
          <p:cNvSpPr>
            <a:spLocks noGrp="1" noChangeArrowheads="1"/>
          </p:cNvSpPr>
          <p:nvPr>
            <p:ph idx="1"/>
          </p:nvPr>
        </p:nvSpPr>
        <p:spPr>
          <a:xfrm>
            <a:off x="1371600" y="5743575"/>
            <a:ext cx="7239000" cy="6096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一般</a:t>
            </a:r>
            <a:r>
              <a:rPr lang="en-US" altLang="zh-CN" sz="2000" b="1" i="1"/>
              <a:t>N</a:t>
            </a:r>
            <a:r>
              <a:rPr lang="en-US" altLang="zh-CN" sz="2000" b="1" baseline="-25000"/>
              <a:t>OL</a:t>
            </a:r>
            <a:r>
              <a:rPr lang="en-US" altLang="zh-CN" sz="2000" b="1">
                <a:latin typeface="宋体" panose="02010600030101010101" pitchFamily="2" charset="-122"/>
              </a:rPr>
              <a:t>≠</a:t>
            </a:r>
            <a:r>
              <a:rPr lang="en-US" altLang="zh-CN" sz="2000" b="1" i="1"/>
              <a:t>N</a:t>
            </a:r>
            <a:r>
              <a:rPr lang="en-US" altLang="zh-CN" sz="2000" b="1" baseline="-25000"/>
              <a:t>OH</a:t>
            </a:r>
            <a:r>
              <a:rPr lang="zh-CN" altLang="en-US" sz="2000" b="1">
                <a:latin typeface="宋体" panose="02010600030101010101" pitchFamily="2" charset="-122"/>
              </a:rPr>
              <a:t>，常取两者中的较小值作为门电路的扇出系数，用</a:t>
            </a:r>
            <a:r>
              <a:rPr lang="en-US" altLang="zh-CN" sz="2000" b="1" i="1"/>
              <a:t>N</a:t>
            </a:r>
            <a:r>
              <a:rPr lang="en-US" altLang="zh-CN" sz="2000" b="1" baseline="-25000"/>
              <a:t>O</a:t>
            </a:r>
            <a:r>
              <a:rPr lang="zh-CN" altLang="en-US" sz="2000" b="1">
                <a:latin typeface="宋体" panose="02010600030101010101" pitchFamily="2" charset="-122"/>
              </a:rPr>
              <a:t>表示。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pic>
        <p:nvPicPr>
          <p:cNvPr id="34202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774700"/>
            <a:ext cx="5334000" cy="369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20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2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20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2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/>
      <p:bldP spid="342021" grpId="0"/>
      <p:bldP spid="342022" grpId="0" build="p"/>
      <p:bldP spid="34202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365125" y="1901825"/>
            <a:ext cx="85280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拉电流负载： 增加会使与非门的输出高电平下降</a:t>
            </a:r>
            <a:endParaRPr lang="zh-CN" altLang="en-US" sz="2800" b="1">
              <a:solidFill>
                <a:srgbClr val="FF0000"/>
              </a:solidFill>
              <a:ea typeface="楷体_GB2312" pitchFamily="49" charset="-122"/>
            </a:endParaRPr>
          </a:p>
          <a:p>
            <a:endParaRPr lang="zh-CN" altLang="en-US" sz="2800" b="1">
              <a:solidFill>
                <a:srgbClr val="FF0000"/>
              </a:solidFill>
              <a:ea typeface="楷体_GB2312" pitchFamily="49" charset="-122"/>
            </a:endParaRPr>
          </a:p>
          <a:p>
            <a:endParaRPr lang="zh-CN" altLang="en-US" sz="2800" b="1">
              <a:solidFill>
                <a:srgbClr val="FF0000"/>
              </a:solidFill>
              <a:ea typeface="楷体_GB2312" pitchFamily="49" charset="-122"/>
            </a:endParaRPr>
          </a:p>
          <a:p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灌电流负载： 增加会使与非门的输出低电平上升</a:t>
            </a:r>
            <a:endParaRPr lang="zh-CN" altLang="en-US" sz="2800" b="1">
              <a:ea typeface="楷体_GB2312" pitchFamily="49" charset="-122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4066" name="Object 2"/>
          <p:cNvGraphicFramePr>
            <a:graphicFrameLocks noChangeAspect="1"/>
          </p:cNvGraphicFramePr>
          <p:nvPr/>
        </p:nvGraphicFramePr>
        <p:xfrm>
          <a:off x="3657600" y="5351463"/>
          <a:ext cx="1828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26465" imgH="355600" progId="Equation.3">
                  <p:embed/>
                </p:oleObj>
              </mc:Choice>
              <mc:Fallback>
                <p:oleObj name="" r:id="rId1" imgW="926465" imgH="355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5351463"/>
                        <a:ext cx="1828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67" name="Object 3"/>
          <p:cNvGraphicFramePr>
            <a:graphicFrameLocks noChangeAspect="1"/>
          </p:cNvGraphicFramePr>
          <p:nvPr/>
        </p:nvGraphicFramePr>
        <p:xfrm>
          <a:off x="2133600" y="990600"/>
          <a:ext cx="4114800" cy="220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667125" imgH="1962150" progId="Paint.Picture">
                  <p:embed/>
                </p:oleObj>
              </mc:Choice>
              <mc:Fallback>
                <p:oleObj name="" r:id="rId3" imgW="3667125" imgH="196215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990600"/>
                        <a:ext cx="4114800" cy="220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609600" y="3810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chemeClr val="tx2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．</a:t>
            </a:r>
            <a:r>
              <a:rPr lang="en-US" altLang="zh-CN" sz="2800" b="1">
                <a:solidFill>
                  <a:schemeClr val="tx2"/>
                </a:solidFill>
              </a:rPr>
              <a:t>TTL</a:t>
            </a:r>
            <a:r>
              <a:rPr lang="zh-CN" altLang="en-US" sz="2800" b="1">
                <a:solidFill>
                  <a:schemeClr val="tx2"/>
                </a:solidFill>
                <a:latin typeface="宋体" panose="02010600030101010101" pitchFamily="2" charset="-122"/>
              </a:rPr>
              <a:t>与非门传输延迟时间</a:t>
            </a:r>
            <a:r>
              <a:rPr lang="en-US" altLang="zh-CN" sz="2800" b="1" i="1">
                <a:solidFill>
                  <a:schemeClr val="tx2"/>
                </a:solidFill>
              </a:rPr>
              <a:t>t</a:t>
            </a:r>
            <a:r>
              <a:rPr lang="en-US" altLang="zh-CN" sz="2800" b="1" baseline="-25000">
                <a:solidFill>
                  <a:schemeClr val="tx2"/>
                </a:solidFill>
              </a:rPr>
              <a:t>pd</a:t>
            </a:r>
            <a:endParaRPr lang="en-US" altLang="zh-CN" sz="2800" b="1" baseline="-25000">
              <a:solidFill>
                <a:schemeClr val="tx2"/>
              </a:solidFill>
            </a:endParaRPr>
          </a:p>
        </p:txBody>
      </p:sp>
      <p:sp>
        <p:nvSpPr>
          <p:cNvPr id="344069" name="Rectangle 5"/>
          <p:cNvSpPr>
            <a:spLocks noChangeArrowheads="1"/>
          </p:cNvSpPr>
          <p:nvPr/>
        </p:nvSpPr>
        <p:spPr bwMode="auto">
          <a:xfrm>
            <a:off x="685800" y="3352800"/>
            <a:ext cx="7696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导通延迟时间</a:t>
            </a:r>
            <a:r>
              <a:rPr lang="en-US" altLang="zh-CN" b="1" i="1">
                <a:solidFill>
                  <a:srgbClr val="FF0000"/>
                </a:solidFill>
              </a:rPr>
              <a:t>t</a:t>
            </a:r>
            <a:r>
              <a:rPr lang="en-US" altLang="zh-CN" b="1" baseline="-25000">
                <a:solidFill>
                  <a:srgbClr val="FF0000"/>
                </a:solidFill>
              </a:rPr>
              <a:t>PHL</a:t>
            </a:r>
            <a:r>
              <a:rPr lang="en-US" altLang="zh-CN" b="1">
                <a:latin typeface="Courier New" panose="02070309020205020404" pitchFamily="49" charset="0"/>
              </a:rPr>
              <a:t>——</a:t>
            </a:r>
            <a:r>
              <a:rPr lang="zh-CN" altLang="en-US" b="1">
                <a:latin typeface="宋体" panose="02010600030101010101" pitchFamily="2" charset="-122"/>
              </a:rPr>
              <a:t>从输入波形上升沿的中点到输出波形下降沿的中点所经历的时间。</a:t>
            </a:r>
            <a:endParaRPr lang="zh-CN" altLang="en-US" b="1">
              <a:latin typeface="宋体" panose="02010600030101010101" pitchFamily="2" charset="-122"/>
            </a:endParaRPr>
          </a:p>
          <a:p>
            <a:pPr>
              <a:lnSpc>
                <a:spcPct val="115000"/>
              </a:lnSpc>
              <a:spcBef>
                <a:spcPct val="20000"/>
              </a:spcBef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截止延迟时间</a:t>
            </a:r>
            <a:r>
              <a:rPr lang="en-US" altLang="zh-CN" b="1" i="1">
                <a:solidFill>
                  <a:srgbClr val="FF0000"/>
                </a:solidFill>
              </a:rPr>
              <a:t>t</a:t>
            </a:r>
            <a:r>
              <a:rPr lang="en-US" altLang="zh-CN" b="1" baseline="-25000">
                <a:solidFill>
                  <a:srgbClr val="FF0000"/>
                </a:solidFill>
              </a:rPr>
              <a:t>PLH</a:t>
            </a:r>
            <a:r>
              <a:rPr lang="en-US" altLang="zh-CN" b="1">
                <a:latin typeface="Courier New" panose="02070309020205020404" pitchFamily="49" charset="0"/>
              </a:rPr>
              <a:t>——</a:t>
            </a:r>
            <a:r>
              <a:rPr lang="zh-CN" altLang="en-US" b="1">
                <a:latin typeface="宋体" panose="02010600030101010101" pitchFamily="2" charset="-122"/>
              </a:rPr>
              <a:t>从输入波形下降沿的中点到输出波形上升沿的中点所经历的时间。</a:t>
            </a:r>
            <a:endParaRPr lang="zh-CN" altLang="en-US" b="1">
              <a:latin typeface="宋体" panose="02010600030101010101" pitchFamily="2" charset="-122"/>
            </a:endParaRPr>
          </a:p>
          <a:p>
            <a:pPr algn="just">
              <a:lnSpc>
                <a:spcPct val="115000"/>
              </a:lnSpc>
              <a:spcBef>
                <a:spcPct val="20000"/>
              </a:spcBef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与非门的传输延迟时间</a:t>
            </a:r>
            <a:r>
              <a:rPr lang="en-US" altLang="zh-CN" b="1" i="1">
                <a:solidFill>
                  <a:srgbClr val="FF0000"/>
                </a:solidFill>
              </a:rPr>
              <a:t>t</a:t>
            </a:r>
            <a:r>
              <a:rPr lang="en-US" altLang="zh-CN" b="1" baseline="-25000">
                <a:solidFill>
                  <a:srgbClr val="FF0000"/>
                </a:solidFill>
              </a:rPr>
              <a:t>pd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是</a:t>
            </a:r>
            <a:r>
              <a:rPr lang="en-US" altLang="zh-CN" b="1" i="1">
                <a:solidFill>
                  <a:srgbClr val="FF0000"/>
                </a:solidFill>
              </a:rPr>
              <a:t>t</a:t>
            </a:r>
            <a:r>
              <a:rPr lang="en-US" altLang="zh-CN" b="1" baseline="-25000">
                <a:solidFill>
                  <a:srgbClr val="FF0000"/>
                </a:solidFill>
              </a:rPr>
              <a:t>PHL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b="1" i="1">
                <a:solidFill>
                  <a:srgbClr val="FF0000"/>
                </a:solidFill>
              </a:rPr>
              <a:t>t</a:t>
            </a:r>
            <a:r>
              <a:rPr lang="en-US" altLang="zh-CN" b="1" baseline="-25000">
                <a:solidFill>
                  <a:srgbClr val="FF0000"/>
                </a:solidFill>
              </a:rPr>
              <a:t>PLH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</a:rPr>
              <a:t>的平均值。即</a:t>
            </a:r>
            <a:r>
              <a:rPr lang="zh-CN" altLang="en-US" sz="2400" b="1">
                <a:latin typeface="宋体" panose="02010600030101010101" pitchFamily="2" charset="-122"/>
              </a:rPr>
              <a:t>    </a:t>
            </a:r>
            <a:endParaRPr lang="zh-CN" altLang="en-US" sz="3600" b="1"/>
          </a:p>
        </p:txBody>
      </p:sp>
      <p:sp>
        <p:nvSpPr>
          <p:cNvPr id="344070" name="Rectangle 6"/>
          <p:cNvSpPr>
            <a:spLocks noChangeArrowheads="1"/>
          </p:cNvSpPr>
          <p:nvPr/>
        </p:nvSpPr>
        <p:spPr bwMode="auto">
          <a:xfrm>
            <a:off x="1600200" y="60198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宋体" panose="02010600030101010101" pitchFamily="2" charset="-122"/>
              </a:rPr>
              <a:t>一般</a:t>
            </a:r>
            <a:r>
              <a:rPr lang="en-US" altLang="zh-CN" b="1"/>
              <a:t>TTL</a:t>
            </a:r>
            <a:r>
              <a:rPr lang="zh-CN" altLang="en-US" b="1">
                <a:latin typeface="宋体" panose="02010600030101010101" pitchFamily="2" charset="-122"/>
              </a:rPr>
              <a:t>与非门传输延迟时间</a:t>
            </a:r>
            <a:r>
              <a:rPr lang="en-US" altLang="zh-CN" b="1" i="1"/>
              <a:t>t</a:t>
            </a:r>
            <a:r>
              <a:rPr lang="en-US" altLang="zh-CN" b="1" baseline="-25000"/>
              <a:t>pd</a:t>
            </a:r>
            <a:r>
              <a:rPr lang="zh-CN" altLang="en-US" b="1">
                <a:latin typeface="宋体" panose="02010600030101010101" pitchFamily="2" charset="-122"/>
              </a:rPr>
              <a:t>的值为几纳秒～十几个纳秒。</a:t>
            </a:r>
            <a:endParaRPr lang="zh-CN" altLang="en-US" sz="2800" b="1" baseline="-2500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4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4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4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40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4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40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9" grpId="0" build="p"/>
      <p:bldP spid="34407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0" y="593725"/>
            <a:ext cx="6424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a typeface="楷体_GB2312" pitchFamily="49" charset="-122"/>
              </a:rPr>
              <a:t>6</a:t>
            </a:r>
            <a:r>
              <a:rPr lang="zh-CN" altLang="en-US" sz="2800" b="1">
                <a:ea typeface="楷体_GB2312" pitchFamily="49" charset="-122"/>
              </a:rPr>
              <a:t>、</a:t>
            </a:r>
            <a:r>
              <a:rPr lang="en-US" altLang="zh-CN" sz="2800" b="1">
                <a:ea typeface="楷体_GB2312" pitchFamily="49" charset="-122"/>
              </a:rPr>
              <a:t>TTL</a:t>
            </a:r>
            <a:r>
              <a:rPr lang="zh-CN" altLang="en-US" sz="2800" b="1">
                <a:ea typeface="楷体_GB2312" pitchFamily="49" charset="-122"/>
              </a:rPr>
              <a:t>与非门的动态特性</a:t>
            </a:r>
            <a:endParaRPr lang="zh-CN" altLang="en-US" sz="2800" b="1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251" name="Object 3"/>
              <p:cNvSpPr txBox="1"/>
              <p:nvPr/>
            </p:nvSpPr>
            <p:spPr bwMode="auto">
              <a:xfrm>
                <a:off x="2286000" y="4105275"/>
                <a:ext cx="3743325" cy="1296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br>
                  <a:rPr lang="zh-CN" altLang="en-US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两瞬间同时导通造成的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5325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4105275"/>
                <a:ext cx="3743325" cy="1296988"/>
              </a:xfrm>
              <a:prstGeom prst="rect">
                <a:avLst/>
              </a:prstGeom>
              <a:blipFill rotWithShape="1">
                <a:blip r:embed="rId1"/>
                <a:stretch>
                  <a:fillRect b="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252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50"/>
          <a:stretch>
            <a:fillRect/>
          </a:stretch>
        </p:blipFill>
        <p:spPr bwMode="auto">
          <a:xfrm>
            <a:off x="1450975" y="1146175"/>
            <a:ext cx="5780088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450850" y="720725"/>
            <a:ext cx="2019300" cy="644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zh-CN" altLang="en-US" sz="36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本章小结</a:t>
            </a:r>
            <a:endParaRPr kumimoji="1" lang="zh-CN" altLang="en-US" sz="3600" b="1" dirty="0">
              <a:solidFill>
                <a:srgbClr val="FF33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4275" name="文本框 2"/>
          <p:cNvSpPr txBox="1">
            <a:spLocks noChangeArrowheads="1"/>
          </p:cNvSpPr>
          <p:nvPr/>
        </p:nvSpPr>
        <p:spPr bwMode="auto">
          <a:xfrm>
            <a:off x="1049338" y="1476375"/>
            <a:ext cx="7246937" cy="2695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266700" defTabSz="26670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2667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2667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2667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2667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2667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2667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2667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2667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latin typeface="宋体" panose="02010600030101010101" pitchFamily="2" charset="-122"/>
              </a:rPr>
              <a:t>   </a:t>
            </a:r>
            <a:r>
              <a:rPr lang="zh-CN" altLang="en-US" dirty="0">
                <a:latin typeface="宋体" panose="02010600030101010101" pitchFamily="2" charset="-122"/>
              </a:rPr>
              <a:t>本章从应用的角度，主要介绍逻辑代数的基本概念、逻辑代数的公理、定理和规则，逻辑函数的表示形式、逻辑函数的化简。卡诺图化简法是五变量以下逻辑函数化简的主要方法。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zoom/>
  </p:transition>
</p:sld>
</file>

<file path=ppt/tags/tag1.xml><?xml version="1.0" encoding="utf-8"?>
<p:tagLst xmlns:p="http://schemas.openxmlformats.org/presentationml/2006/main">
  <p:tag name="KSO_WM_DIAGRAM_VIRTUALLY_FRAME" val="{&quot;height&quot;:460.99754237288136,&quot;left&quot;:46.125039370078774,&quot;top&quot;:69.86657384987893,&quot;width&quot;:627.9}"/>
</p:tagLst>
</file>

<file path=ppt/tags/tag2.xml><?xml version="1.0" encoding="utf-8"?>
<p:tagLst xmlns:p="http://schemas.openxmlformats.org/presentationml/2006/main">
  <p:tag name="KSO_WM_DIAGRAM_VIRTUALLY_FRAME" val="{&quot;height&quot;:460.99754237288136,&quot;left&quot;:46.125039370078774,&quot;top&quot;:69.86657384987893,&quot;width&quot;:627.9}"/>
</p:tagLst>
</file>

<file path=ppt/tags/tag3.xml><?xml version="1.0" encoding="utf-8"?>
<p:tagLst xmlns:p="http://schemas.openxmlformats.org/presentationml/2006/main">
  <p:tag name="KSO_WM_DIAGRAM_VIRTUALLY_FRAME" val="{&quot;height&quot;:460.99754237288136,&quot;left&quot;:46.125039370078774,&quot;top&quot;:69.86657384987893,&quot;width&quot;:627.9}"/>
</p:tagLst>
</file>

<file path=ppt/tags/tag4.xml><?xml version="1.0" encoding="utf-8"?>
<p:tagLst xmlns:p="http://schemas.openxmlformats.org/presentationml/2006/main">
  <p:tag name="KSO_WM_DIAGRAM_VIRTUALLY_FRAME" val="{&quot;height&quot;:460.99754237288136,&quot;left&quot;:46.125039370078774,&quot;top&quot;:69.86657384987893,&quot;width&quot;:627.9}"/>
</p:tagLst>
</file>

<file path=ppt/tags/tag5.xml><?xml version="1.0" encoding="utf-8"?>
<p:tagLst xmlns:p="http://schemas.openxmlformats.org/presentationml/2006/main">
  <p:tag name="KSO_WM_DIAGRAM_VIRTUALLY_FRAME" val="{&quot;height&quot;:460.99754237288136,&quot;left&quot;:46.125039370078774,&quot;top&quot;:69.86657384987893,&quot;width&quot;:627.9}"/>
</p:tagLst>
</file>

<file path=ppt/tags/tag6.xml><?xml version="1.0" encoding="utf-8"?>
<p:tagLst xmlns:p="http://schemas.openxmlformats.org/presentationml/2006/main">
  <p:tag name="KSO_WM_DIAGRAM_VIRTUALLY_FRAME" val="{&quot;height&quot;:460.99754237288136,&quot;left&quot;:46.125039370078774,&quot;top&quot;:69.86657384987893,&quot;width&quot;:627.9}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0</TotalTime>
  <Words>5998</Words>
  <Application>WPS 演示</Application>
  <PresentationFormat>全屏显示(4:3)</PresentationFormat>
  <Paragraphs>1428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11</vt:i4>
      </vt:variant>
      <vt:variant>
        <vt:lpstr>幻灯片标题</vt:lpstr>
      </vt:variant>
      <vt:variant>
        <vt:i4>52</vt:i4>
      </vt:variant>
    </vt:vector>
  </HeadingPairs>
  <TitlesOfParts>
    <vt:vector size="81" baseType="lpstr">
      <vt:lpstr>Arial</vt:lpstr>
      <vt:lpstr>宋体</vt:lpstr>
      <vt:lpstr>Wingdings</vt:lpstr>
      <vt:lpstr>Times New Roman</vt:lpstr>
      <vt:lpstr>Arial Black</vt:lpstr>
      <vt:lpstr>华文新魏</vt:lpstr>
      <vt:lpstr>华文细黑</vt:lpstr>
      <vt:lpstr>微软雅黑</vt:lpstr>
      <vt:lpstr>黑体</vt:lpstr>
      <vt:lpstr>长城楷体</vt:lpstr>
      <vt:lpstr>楷体_GB2312</vt:lpstr>
      <vt:lpstr>新宋体</vt:lpstr>
      <vt:lpstr>Symbol</vt:lpstr>
      <vt:lpstr>Cambria Math</vt:lpstr>
      <vt:lpstr>Arial Unicode MS</vt:lpstr>
      <vt:lpstr>等线</vt:lpstr>
      <vt:lpstr>Courier New</vt:lpstr>
      <vt:lpstr>Pixel</vt:lpstr>
      <vt:lpstr>Word.Document.8</vt:lpstr>
      <vt:lpstr>Equation.3</vt:lpstr>
      <vt:lpstr>Paint.Picture</vt:lpstr>
      <vt:lpstr>Word.Document.8</vt:lpstr>
      <vt:lpstr>Word.Document.8</vt:lpstr>
      <vt:lpstr>Paint.Picture</vt:lpstr>
      <vt:lpstr>Paint.Picture</vt:lpstr>
      <vt:lpstr>Paint.Picture</vt:lpstr>
      <vt:lpstr>Equation.3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功能表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2）几个重要参数</vt:lpstr>
      <vt:lpstr>3）抗干扰能力</vt:lpstr>
      <vt:lpstr>PowerPoint 演示文稿</vt:lpstr>
      <vt:lpstr>PowerPoint 演示文稿</vt:lpstr>
      <vt:lpstr>1．输入低电平电流IIL与输入高电平电流IIH （1）输入低电平电流IIL——是指当门电路的输入端接低电平时，从门电路输入端流出的电流。</vt:lpstr>
      <vt:lpstr>（2）输入高电平电流IIH——是指当门电路的输入端接高电平时，流入输入端的电流。有两种情况。 </vt:lpstr>
      <vt:lpstr> （1）灌电流负载</vt:lpstr>
      <vt:lpstr> （2）拉电流负载。</vt:lpstr>
      <vt:lpstr>PowerPoint 演示文稿</vt:lpstr>
      <vt:lpstr>PowerPoint 演示文稿</vt:lpstr>
      <vt:lpstr>PowerPoint 演示文稿</vt:lpstr>
      <vt:lpstr>PowerPoint 演示文稿</vt:lpstr>
    </vt:vector>
  </TitlesOfParts>
  <Company>hd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/>
  <cp:lastModifiedBy>wujing</cp:lastModifiedBy>
  <cp:revision>451</cp:revision>
  <dcterms:created xsi:type="dcterms:W3CDTF">1999-09-18T02:11:00Z</dcterms:created>
  <dcterms:modified xsi:type="dcterms:W3CDTF">2025-04-07T07:32:22Z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r8>1</vt:r8>
  </property>
  <property fmtid="{D5CDD505-2E9C-101B-9397-08002B2CF9AE}" pid="3" name="GraphicType">
    <vt:r8>1</vt:r8>
  </property>
  <property fmtid="{D5CDD505-2E9C-101B-9397-08002B2CF9AE}" pid="4" name="Compression">
    <vt:r8>100</vt:r8>
  </property>
  <property fmtid="{D5CDD505-2E9C-101B-9397-08002B2CF9AE}" pid="5" name="ScreenSize">
    <vt:r8>2</vt:r8>
  </property>
  <property fmtid="{D5CDD505-2E9C-101B-9397-08002B2CF9AE}" pid="6" name="ScreenUsage">
    <vt:r8>3</vt:r8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r8>15132390</vt:r8>
  </property>
  <property fmtid="{D5CDD505-2E9C-101B-9397-08002B2CF9AE}" pid="14" name="TextColor">
    <vt:r8>0</vt:r8>
  </property>
  <property fmtid="{D5CDD505-2E9C-101B-9397-08002B2CF9AE}" pid="15" name="LinkColor">
    <vt:r8>16711782</vt:r8>
  </property>
  <property fmtid="{D5CDD505-2E9C-101B-9397-08002B2CF9AE}" pid="16" name="VisitedColor">
    <vt:r8>10040268</vt:r8>
  </property>
  <property fmtid="{D5CDD505-2E9C-101B-9397-08002B2CF9AE}" pid="17" name="TransparentButton">
    <vt:r8>0</vt:r8>
  </property>
  <property fmtid="{D5CDD505-2E9C-101B-9397-08002B2CF9AE}" pid="18" name="ButtonType">
    <vt:r8>1</vt:r8>
  </property>
  <property fmtid="{D5CDD505-2E9C-101B-9397-08002B2CF9AE}" pid="19" name="ShowNotes">
    <vt:bool>false</vt:bool>
  </property>
  <property fmtid="{D5CDD505-2E9C-101B-9397-08002B2CF9AE}" pid="20" name="NavBtnPos">
    <vt:r8>1</vt:r8>
  </property>
  <property fmtid="{D5CDD505-2E9C-101B-9397-08002B2CF9AE}" pid="21" name="OutputDir">
    <vt:lpwstr>D:\教案\数字逻辑</vt:lpwstr>
  </property>
  <property fmtid="{D5CDD505-2E9C-101B-9397-08002B2CF9AE}" pid="22" name="ICV">
    <vt:lpwstr>F6630FDB3199403EBF11352D35B891A7_12</vt:lpwstr>
  </property>
  <property fmtid="{D5CDD505-2E9C-101B-9397-08002B2CF9AE}" pid="23" name="KSOProductBuildVer">
    <vt:lpwstr>2052-12.1.0.20305</vt:lpwstr>
  </property>
</Properties>
</file>