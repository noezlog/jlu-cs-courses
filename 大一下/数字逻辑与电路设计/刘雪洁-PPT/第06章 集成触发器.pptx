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60"/>
  </p:handoutMasterIdLst>
  <p:sldIdLst>
    <p:sldId id="304" r:id="rId3"/>
    <p:sldId id="273" r:id="rId4"/>
    <p:sldId id="274" r:id="rId5"/>
    <p:sldId id="319" r:id="rId6"/>
    <p:sldId id="320" r:id="rId7"/>
    <p:sldId id="321" r:id="rId9"/>
    <p:sldId id="322" r:id="rId10"/>
    <p:sldId id="323" r:id="rId11"/>
    <p:sldId id="324" r:id="rId12"/>
    <p:sldId id="325" r:id="rId13"/>
    <p:sldId id="275" r:id="rId14"/>
    <p:sldId id="276" r:id="rId15"/>
    <p:sldId id="355" r:id="rId16"/>
    <p:sldId id="326" r:id="rId17"/>
    <p:sldId id="277" r:id="rId18"/>
    <p:sldId id="278" r:id="rId19"/>
    <p:sldId id="327" r:id="rId20"/>
    <p:sldId id="328" r:id="rId21"/>
    <p:sldId id="329" r:id="rId22"/>
    <p:sldId id="279" r:id="rId23"/>
    <p:sldId id="280" r:id="rId24"/>
    <p:sldId id="281" r:id="rId25"/>
    <p:sldId id="282" r:id="rId26"/>
    <p:sldId id="283" r:id="rId27"/>
    <p:sldId id="289" r:id="rId28"/>
    <p:sldId id="285" r:id="rId29"/>
    <p:sldId id="286" r:id="rId30"/>
    <p:sldId id="287" r:id="rId31"/>
    <p:sldId id="288" r:id="rId32"/>
    <p:sldId id="331" r:id="rId33"/>
    <p:sldId id="332" r:id="rId34"/>
    <p:sldId id="330" r:id="rId35"/>
    <p:sldId id="312" r:id="rId36"/>
    <p:sldId id="333" r:id="rId37"/>
    <p:sldId id="334" r:id="rId38"/>
    <p:sldId id="311" r:id="rId39"/>
    <p:sldId id="335" r:id="rId40"/>
    <p:sldId id="337" r:id="rId41"/>
    <p:sldId id="338" r:id="rId42"/>
    <p:sldId id="339" r:id="rId43"/>
    <p:sldId id="340" r:id="rId44"/>
    <p:sldId id="310" r:id="rId45"/>
    <p:sldId id="352" r:id="rId46"/>
    <p:sldId id="353" r:id="rId47"/>
    <p:sldId id="314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15" r:id="rId56"/>
    <p:sldId id="316" r:id="rId57"/>
    <p:sldId id="317" r:id="rId58"/>
    <p:sldId id="356" r:id="rId59"/>
  </p:sldIdLst>
  <p:sldSz cx="9144000" cy="6858000" type="screen4x3"/>
  <p:notesSz cx="6663055" cy="987298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7" userDrawn="1">
          <p15:clr>
            <a:srgbClr val="A4A3A4"/>
          </p15:clr>
        </p15:guide>
        <p15:guide id="2" pos="435" userDrawn="1">
          <p15:clr>
            <a:srgbClr val="A4A3A4"/>
          </p15:clr>
        </p15:guide>
        <p15:guide id="3" pos="21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F"/>
    <a:srgbClr val="339933"/>
    <a:srgbClr val="FF3300"/>
    <a:srgbClr val="3333FF"/>
    <a:srgbClr val="E1FDFF"/>
    <a:srgbClr val="FF00FF"/>
    <a:srgbClr val="FFFF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357"/>
    <p:restoredTop sz="94660"/>
  </p:normalViewPr>
  <p:slideViewPr>
    <p:cSldViewPr snapToGrid="0" showGuides="1">
      <p:cViewPr varScale="1">
        <p:scale>
          <a:sx n="65" d="100"/>
          <a:sy n="65" d="100"/>
        </p:scale>
        <p:origin x="-1524" y="-96"/>
      </p:cViewPr>
      <p:guideLst>
        <p:guide orient="horz" pos="377"/>
        <p:guide pos="435"/>
        <p:guide pos="216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7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wmf"/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5334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5334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1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4" name="Rectangle 4"/>
          <p:cNvSpPr>
            <a:spLocks noRot="1" noTextEdit="1"/>
          </p:cNvSpPr>
          <p:nvPr>
            <p:ph type="sldImg" idx="2"/>
          </p:nvPr>
        </p:nvSpPr>
        <p:spPr>
          <a:xfrm>
            <a:off x="863600" y="739775"/>
            <a:ext cx="4937125" cy="370363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1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89475"/>
            <a:ext cx="5329238" cy="4443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1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7363"/>
            <a:ext cx="28876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1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77363"/>
            <a:ext cx="28876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3488" y="9377363"/>
            <a:ext cx="2887662" cy="4937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2467" name="Rectangle 2"/>
          <p:cNvSpPr>
            <a:spLocks noRot="1" noTextEdit="1"/>
          </p:cNvSpPr>
          <p:nvPr>
            <p:ph type="sldImg"/>
          </p:nvPr>
        </p:nvSpPr>
        <p:spPr>
          <a:xfrm>
            <a:off x="863600" y="739775"/>
            <a:ext cx="4938713" cy="3703638"/>
          </a:xfrm>
          <a:ln/>
        </p:spPr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>
          <a:xfrm>
            <a:off x="889000" y="4689475"/>
            <a:ext cx="4884738" cy="4443413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6" name="Rectangle 3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 eaLnBrk="1" hangingPunct="1"/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057" name="Rectangle 4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5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059" name="Rectangle 6"/>
              <p:cNvSpPr/>
              <p:nvPr userDrawn="1"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0" name="Rectangle 7"/>
              <p:cNvSpPr/>
              <p:nvPr userDrawn="1"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1" name="Rectangle 8"/>
              <p:cNvSpPr/>
              <p:nvPr userDrawn="1"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2" name="Rectangle 9"/>
              <p:cNvSpPr/>
              <p:nvPr userDrawn="1"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3" name="Rectangle 10"/>
              <p:cNvSpPr/>
              <p:nvPr userDrawn="1"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4" name="Rectangle 11"/>
              <p:cNvSpPr/>
              <p:nvPr userDrawn="1"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5" name="Rectangle 12"/>
              <p:cNvSpPr/>
              <p:nvPr userDrawn="1"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6" name="Rectangle 13"/>
              <p:cNvSpPr/>
              <p:nvPr userDrawn="1"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7" name="Rectangle 14"/>
              <p:cNvSpPr/>
              <p:nvPr userDrawn="1"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8" name="Rectangle 15"/>
              <p:cNvSpPr/>
              <p:nvPr userDrawn="1"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53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53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2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 eaLnBrk="1" hangingPunct="1"/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5" name="Rectangle 8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6" name="Rectangle 9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7" name="Rectangle 10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8" name="Rectangle 1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42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2.bin"/><Relationship Id="rId3" Type="http://schemas.openxmlformats.org/officeDocument/2006/relationships/oleObject" Target="../embeddings/oleObject11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5.bin"/><Relationship Id="rId3" Type="http://schemas.openxmlformats.org/officeDocument/2006/relationships/oleObject" Target="../embeddings/oleObject14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8.bin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9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21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1" Type="http://schemas.openxmlformats.org/officeDocument/2006/relationships/oleObject" Target="../embeddings/oleObject22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1" Type="http://schemas.openxmlformats.org/officeDocument/2006/relationships/oleObject" Target="../embeddings/oleObject23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1" Type="http://schemas.openxmlformats.org/officeDocument/2006/relationships/oleObject" Target="../embeddings/oleObject24.bin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e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16.emf"/><Relationship Id="rId1" Type="http://schemas.openxmlformats.org/officeDocument/2006/relationships/oleObject" Target="../embeddings/oleObject25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mf"/><Relationship Id="rId8" Type="http://schemas.openxmlformats.org/officeDocument/2006/relationships/oleObject" Target="../embeddings/oleObject30.bin"/><Relationship Id="rId7" Type="http://schemas.openxmlformats.org/officeDocument/2006/relationships/image" Target="../media/image21.wmf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8.bin"/><Relationship Id="rId3" Type="http://schemas.openxmlformats.org/officeDocument/2006/relationships/image" Target="../media/image19.wmf"/><Relationship Id="rId2" Type="http://schemas.openxmlformats.org/officeDocument/2006/relationships/oleObject" Target="../embeddings/oleObject27.bin"/><Relationship Id="rId13" Type="http://schemas.openxmlformats.org/officeDocument/2006/relationships/vmlDrawing" Target="../drawings/vmlDrawing13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3.wmf"/><Relationship Id="rId10" Type="http://schemas.openxmlformats.org/officeDocument/2006/relationships/oleObject" Target="../embeddings/oleObject31.bin"/><Relationship Id="rId1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oleObject" Target="../embeddings/oleObject35.bin"/><Relationship Id="rId7" Type="http://schemas.openxmlformats.org/officeDocument/2006/relationships/image" Target="../media/image23.wmf"/><Relationship Id="rId6" Type="http://schemas.openxmlformats.org/officeDocument/2006/relationships/oleObject" Target="../embeddings/oleObject34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33.bin"/><Relationship Id="rId3" Type="http://schemas.openxmlformats.org/officeDocument/2006/relationships/image" Target="../media/image24.wmf"/><Relationship Id="rId2" Type="http://schemas.openxmlformats.org/officeDocument/2006/relationships/oleObject" Target="../embeddings/oleObject32.bin"/><Relationship Id="rId13" Type="http://schemas.openxmlformats.org/officeDocument/2006/relationships/vmlDrawing" Target="../drawings/vmlDrawing14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0.wmf"/><Relationship Id="rId10" Type="http://schemas.openxmlformats.org/officeDocument/2006/relationships/oleObject" Target="../embeddings/oleObject36.bin"/><Relationship Id="rId1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37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40.bin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41.bin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43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2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31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30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29.wmf"/><Relationship Id="rId10" Type="http://schemas.openxmlformats.org/officeDocument/2006/relationships/vmlDrawing" Target="../drawings/vmlDrawing19.vml"/><Relationship Id="rId1" Type="http://schemas.openxmlformats.org/officeDocument/2006/relationships/oleObject" Target="../embeddings/oleObject45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33.wmf"/><Relationship Id="rId1" Type="http://schemas.openxmlformats.org/officeDocument/2006/relationships/oleObject" Target="../embeddings/oleObject49.bin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51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0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37.w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53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360363" y="2244725"/>
            <a:ext cx="8358188" cy="1198880"/>
          </a:xfrm>
          <a:prstGeom prst="rect">
            <a:avLst/>
          </a:prstGeom>
          <a:noFill/>
          <a:ln w="12700">
            <a:noFill/>
            <a:miter lim="800000"/>
            <a:tailEnd type="none" w="sm" len="lg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7200" b="1" kern="1200" cap="none" spc="0" normalizeH="0" baseline="0" noProof="0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第六章 集成触发器 </a:t>
            </a:r>
            <a:endParaRPr kumimoji="1" lang="zh-CN" altLang="en-US" sz="7200" b="1" kern="1200" cap="none" spc="0" normalizeH="0" baseline="0" noProof="0" dirty="0"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9" name="Text Box 3"/>
          <p:cNvSpPr txBox="1"/>
          <p:nvPr/>
        </p:nvSpPr>
        <p:spPr>
          <a:xfrm>
            <a:off x="755650" y="776288"/>
            <a:ext cx="7235825" cy="1031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669925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触发器是一种存储元件，在电路中用来</a:t>
            </a:r>
            <a:r>
              <a:rPr lang="en-US" altLang="zh-CN" dirty="0">
                <a:latin typeface="Times New Roman" panose="02020603050405020304" pitchFamily="18" charset="0"/>
              </a:rPr>
              <a:t>"</a:t>
            </a:r>
            <a:r>
              <a:rPr lang="zh-CN" altLang="en-US" dirty="0">
                <a:latin typeface="Times New Roman" panose="02020603050405020304" pitchFamily="18" charset="0"/>
              </a:rPr>
              <a:t>记忆</a:t>
            </a:r>
            <a:r>
              <a:rPr lang="en-US" altLang="zh-CN" dirty="0">
                <a:latin typeface="Times New Roman" panose="02020603050405020304" pitchFamily="18" charset="0"/>
              </a:rPr>
              <a:t>"</a:t>
            </a:r>
            <a:r>
              <a:rPr lang="zh-CN" altLang="en-US" dirty="0">
                <a:latin typeface="Times New Roman" panose="02020603050405020304" pitchFamily="18" charset="0"/>
              </a:rPr>
              <a:t>电路过去的输入情况。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460" name="Text Box 4"/>
          <p:cNvSpPr txBox="1"/>
          <p:nvPr/>
        </p:nvSpPr>
        <p:spPr>
          <a:xfrm>
            <a:off x="752475" y="1808163"/>
            <a:ext cx="7608888" cy="19716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669925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一个触发器具有两种稳定的状态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一个称之为 </a:t>
            </a:r>
            <a:r>
              <a:rPr lang="en-US" altLang="zh-CN" dirty="0">
                <a:latin typeface="Times New Roman" panose="02020603050405020304" pitchFamily="18" charset="0"/>
              </a:rPr>
              <a:t>"0"</a:t>
            </a:r>
            <a:r>
              <a:rPr lang="zh-CN" altLang="en-US" dirty="0">
                <a:latin typeface="Times New Roman" panose="02020603050405020304" pitchFamily="18" charset="0"/>
              </a:rPr>
              <a:t>状态，另一种称之为</a:t>
            </a:r>
            <a:r>
              <a:rPr lang="en-US" altLang="zh-CN" dirty="0">
                <a:latin typeface="Times New Roman" panose="02020603050405020304" pitchFamily="18" charset="0"/>
              </a:rPr>
              <a:t>"1"</a:t>
            </a:r>
            <a:r>
              <a:rPr lang="zh-CN" altLang="en-US" dirty="0">
                <a:latin typeface="Times New Roman" panose="02020603050405020304" pitchFamily="18" charset="0"/>
              </a:rPr>
              <a:t>状态。在任何时刻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触发器只处于一个稳定状态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当触发脉冲作用时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触发器可以从一种状态翻转到另一种状态。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463" name="Text Box 7"/>
          <p:cNvSpPr txBox="1"/>
          <p:nvPr/>
        </p:nvSpPr>
        <p:spPr>
          <a:xfrm>
            <a:off x="690563" y="3839528"/>
            <a:ext cx="243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分类：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19464" name="Text Box 8"/>
          <p:cNvSpPr txBox="1"/>
          <p:nvPr/>
        </p:nvSpPr>
        <p:spPr>
          <a:xfrm>
            <a:off x="708025" y="4301490"/>
            <a:ext cx="8124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按触发方式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：电平触发器、脉冲触发器和边沿触发器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9465" name="Text Box 9"/>
          <p:cNvSpPr txBox="1"/>
          <p:nvPr/>
        </p:nvSpPr>
        <p:spPr>
          <a:xfrm>
            <a:off x="728980" y="5560695"/>
            <a:ext cx="742632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按结构</a:t>
            </a:r>
            <a:r>
              <a:rPr lang="zh-CN" altLang="en-US" sz="2400" dirty="0">
                <a:latin typeface="宋体" panose="02010600030101010101" pitchFamily="2" charset="-122"/>
              </a:rPr>
              <a:t>：基本</a:t>
            </a:r>
            <a:r>
              <a:rPr lang="en-US" altLang="zh-CN" sz="2400" dirty="0">
                <a:latin typeface="宋体" panose="02010600030101010101" pitchFamily="2" charset="-122"/>
              </a:rPr>
              <a:t>R-S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触发</a:t>
            </a:r>
            <a:r>
              <a:rPr lang="zh-CN" altLang="en-US" sz="2400" dirty="0">
                <a:latin typeface="宋体" panose="02010600030101010101" pitchFamily="2" charset="-122"/>
              </a:rPr>
              <a:t>器、电平</a:t>
            </a:r>
            <a:r>
              <a:rPr lang="en-US" altLang="zh-CN" sz="2400" dirty="0">
                <a:latin typeface="宋体" panose="02010600030101010101" pitchFamily="2" charset="-122"/>
              </a:rPr>
              <a:t>S-R</a:t>
            </a:r>
            <a:r>
              <a:rPr lang="zh-CN" altLang="en-US" sz="2400" dirty="0">
                <a:latin typeface="宋体" panose="02010600030101010101" pitchFamily="2" charset="-122"/>
              </a:rPr>
              <a:t>触发器、主从触发器、维持阻塞触发器、边沿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触发器等</a:t>
            </a:r>
            <a:endParaRPr lang="zh-CN" altLang="en-US" sz="2400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466" name="Text Box 10"/>
          <p:cNvSpPr txBox="1"/>
          <p:nvPr/>
        </p:nvSpPr>
        <p:spPr>
          <a:xfrm>
            <a:off x="690880" y="4763135"/>
            <a:ext cx="734631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按逻辑功能方式</a:t>
            </a:r>
            <a:r>
              <a:rPr lang="zh-CN" altLang="en-US" sz="2400" dirty="0">
                <a:latin typeface="宋体" panose="02010600030101010101" pitchFamily="2" charset="-122"/>
              </a:rPr>
              <a:t>：</a:t>
            </a:r>
            <a:r>
              <a:rPr lang="en-US" altLang="zh-CN" sz="2400" dirty="0">
                <a:latin typeface="宋体" panose="02010600030101010101" pitchFamily="2" charset="-122"/>
              </a:rPr>
              <a:t>R-S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触发</a:t>
            </a:r>
            <a:r>
              <a:rPr lang="zh-CN" altLang="en-US" sz="2400" dirty="0">
                <a:latin typeface="宋体" panose="02010600030101010101" pitchFamily="2" charset="-122"/>
              </a:rPr>
              <a:t>器、</a:t>
            </a:r>
            <a:r>
              <a:rPr lang="en-US" altLang="zh-CN" sz="2400" dirty="0">
                <a:latin typeface="宋体" panose="02010600030101010101" pitchFamily="2" charset="-122"/>
              </a:rPr>
              <a:t>J-K</a:t>
            </a:r>
            <a:r>
              <a:rPr lang="zh-CN" altLang="en-US" sz="2400" dirty="0">
                <a:latin typeface="宋体" panose="02010600030101010101" pitchFamily="2" charset="-122"/>
              </a:rPr>
              <a:t>触发器、</a:t>
            </a:r>
            <a:r>
              <a:rPr lang="en-US" altLang="zh-CN" sz="2400" dirty="0">
                <a:latin typeface="宋体" panose="02010600030101010101" pitchFamily="2" charset="-122"/>
              </a:rPr>
              <a:t>D</a:t>
            </a:r>
            <a:r>
              <a:rPr lang="zh-CN" altLang="en-US" sz="2400" dirty="0">
                <a:latin typeface="宋体" panose="02010600030101010101" pitchFamily="2" charset="-122"/>
              </a:rPr>
              <a:t>触发器、</a:t>
            </a:r>
            <a:r>
              <a:rPr lang="en-US" altLang="zh-CN" sz="2400" dirty="0">
                <a:latin typeface="宋体" panose="02010600030101010101" pitchFamily="2" charset="-122"/>
              </a:rPr>
              <a:t>T</a:t>
            </a:r>
            <a:r>
              <a:rPr lang="zh-CN" altLang="en-US" sz="2400" dirty="0">
                <a:latin typeface="宋体" panose="02010600030101010101" pitchFamily="2" charset="-122"/>
              </a:rPr>
              <a:t>触发器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  <p:bldP spid="19460" grpId="0" build="p"/>
      <p:bldP spid="19463" grpId="0"/>
      <p:bldP spid="19464" grpId="0"/>
      <p:bldP spid="19465" grpId="0"/>
      <p:bldP spid="1946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2555875" y="725488"/>
            <a:ext cx="5172075" cy="58356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基本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zh-CN" altLang="zh-CN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endParaRPr kumimoji="1" lang="zh-CN" altLang="en-US" sz="32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Text Box 3"/>
          <p:cNvSpPr txBox="1"/>
          <p:nvPr/>
        </p:nvSpPr>
        <p:spPr>
          <a:xfrm>
            <a:off x="1004888" y="1625600"/>
            <a:ext cx="7056437" cy="1203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669925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基本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触发器可 由两个"与非"门交叉耦合组成，其逻辑图和逻辑符号如下：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84"/>
          <p:cNvGrpSpPr/>
          <p:nvPr/>
        </p:nvGrpSpPr>
        <p:grpSpPr>
          <a:xfrm>
            <a:off x="6010275" y="3663950"/>
            <a:ext cx="1571625" cy="2192338"/>
            <a:chOff x="3786" y="2264"/>
            <a:chExt cx="990" cy="1381"/>
          </a:xfrm>
        </p:grpSpPr>
        <p:grpSp>
          <p:nvGrpSpPr>
            <p:cNvPr id="6181" name="Group 47"/>
            <p:cNvGrpSpPr/>
            <p:nvPr/>
          </p:nvGrpSpPr>
          <p:grpSpPr>
            <a:xfrm>
              <a:off x="3786" y="2319"/>
              <a:ext cx="970" cy="1326"/>
              <a:chOff x="3786" y="2319"/>
              <a:chExt cx="970" cy="1326"/>
            </a:xfrm>
          </p:grpSpPr>
          <p:sp>
            <p:nvSpPr>
              <p:cNvPr id="6183" name="Line 41"/>
              <p:cNvSpPr/>
              <p:nvPr/>
            </p:nvSpPr>
            <p:spPr>
              <a:xfrm flipV="1">
                <a:off x="4057" y="3300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84" name="Line 42"/>
              <p:cNvSpPr/>
              <p:nvPr/>
            </p:nvSpPr>
            <p:spPr>
              <a:xfrm flipV="1">
                <a:off x="4535" y="3300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85" name="Line 37"/>
              <p:cNvSpPr/>
              <p:nvPr/>
            </p:nvSpPr>
            <p:spPr>
              <a:xfrm flipV="1">
                <a:off x="4067" y="2355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86" name="Rectangle 6"/>
              <p:cNvSpPr/>
              <p:nvPr/>
            </p:nvSpPr>
            <p:spPr>
              <a:xfrm>
                <a:off x="3834" y="2747"/>
                <a:ext cx="922" cy="538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87" name="Oval 9"/>
              <p:cNvSpPr/>
              <p:nvPr/>
            </p:nvSpPr>
            <p:spPr>
              <a:xfrm>
                <a:off x="4020" y="2663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88" name="Oval 10"/>
              <p:cNvSpPr/>
              <p:nvPr/>
            </p:nvSpPr>
            <p:spPr>
              <a:xfrm>
                <a:off x="4020" y="3274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89" name="Oval 11"/>
              <p:cNvSpPr/>
              <p:nvPr/>
            </p:nvSpPr>
            <p:spPr>
              <a:xfrm>
                <a:off x="4498" y="3274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190" name="Group 38"/>
              <p:cNvGrpSpPr/>
              <p:nvPr/>
            </p:nvGrpSpPr>
            <p:grpSpPr>
              <a:xfrm>
                <a:off x="3786" y="2319"/>
                <a:ext cx="278" cy="327"/>
                <a:chOff x="1086" y="2275"/>
                <a:chExt cx="278" cy="327"/>
              </a:xfrm>
            </p:grpSpPr>
            <p:sp>
              <p:nvSpPr>
                <p:cNvPr id="6194" name="Text Box 39"/>
                <p:cNvSpPr txBox="1"/>
                <p:nvPr/>
              </p:nvSpPr>
              <p:spPr>
                <a:xfrm>
                  <a:off x="1086" y="2275"/>
                  <a:ext cx="278" cy="327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95" name="Line 40"/>
                <p:cNvSpPr/>
                <p:nvPr/>
              </p:nvSpPr>
              <p:spPr>
                <a:xfrm>
                  <a:off x="1144" y="2322"/>
                  <a:ext cx="155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191" name="Text Box 43"/>
              <p:cNvSpPr txBox="1"/>
              <p:nvPr/>
            </p:nvSpPr>
            <p:spPr>
              <a:xfrm>
                <a:off x="3966" y="3009"/>
                <a:ext cx="265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R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2" name="Text Box 44"/>
              <p:cNvSpPr txBox="1"/>
              <p:nvPr/>
            </p:nvSpPr>
            <p:spPr>
              <a:xfrm>
                <a:off x="4399" y="3009"/>
                <a:ext cx="241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S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3" name="Line 45"/>
              <p:cNvSpPr/>
              <p:nvPr/>
            </p:nvSpPr>
            <p:spPr>
              <a:xfrm flipV="1">
                <a:off x="4512" y="2355"/>
                <a:ext cx="0" cy="40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182" name="Rectangle 83"/>
            <p:cNvSpPr/>
            <p:nvPr/>
          </p:nvSpPr>
          <p:spPr>
            <a:xfrm>
              <a:off x="4498" y="2264"/>
              <a:ext cx="27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87"/>
          <p:cNvGrpSpPr/>
          <p:nvPr/>
        </p:nvGrpSpPr>
        <p:grpSpPr>
          <a:xfrm>
            <a:off x="1284288" y="3360738"/>
            <a:ext cx="3663950" cy="2886075"/>
            <a:chOff x="490" y="1636"/>
            <a:chExt cx="2308" cy="1818"/>
          </a:xfrm>
        </p:grpSpPr>
        <p:sp>
          <p:nvSpPr>
            <p:cNvPr id="6150" name="Rectangle 88"/>
            <p:cNvSpPr/>
            <p:nvPr/>
          </p:nvSpPr>
          <p:spPr>
            <a:xfrm>
              <a:off x="490" y="1636"/>
              <a:ext cx="2308" cy="1818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151" name="Group 89"/>
            <p:cNvGrpSpPr/>
            <p:nvPr/>
          </p:nvGrpSpPr>
          <p:grpSpPr>
            <a:xfrm>
              <a:off x="872" y="1687"/>
              <a:ext cx="1844" cy="1696"/>
              <a:chOff x="872" y="1759"/>
              <a:chExt cx="1844" cy="1696"/>
            </a:xfrm>
          </p:grpSpPr>
          <p:grpSp>
            <p:nvGrpSpPr>
              <p:cNvPr id="6152" name="Group 90"/>
              <p:cNvGrpSpPr/>
              <p:nvPr/>
            </p:nvGrpSpPr>
            <p:grpSpPr>
              <a:xfrm>
                <a:off x="941" y="2098"/>
                <a:ext cx="399" cy="860"/>
                <a:chOff x="941" y="2090"/>
                <a:chExt cx="399" cy="860"/>
              </a:xfrm>
            </p:grpSpPr>
            <p:sp>
              <p:nvSpPr>
                <p:cNvPr id="6175" name="Line 91"/>
                <p:cNvSpPr/>
                <p:nvPr/>
              </p:nvSpPr>
              <p:spPr>
                <a:xfrm rot="-5400000">
                  <a:off x="1169" y="2824"/>
                  <a:ext cx="23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176" name="Rectangle 92"/>
                <p:cNvSpPr/>
                <p:nvPr/>
              </p:nvSpPr>
              <p:spPr>
                <a:xfrm rot="-5400000">
                  <a:off x="1004" y="2378"/>
                  <a:ext cx="272" cy="399"/>
                </a:xfrm>
                <a:prstGeom prst="rect">
                  <a:avLst/>
                </a:prstGeom>
                <a:solidFill>
                  <a:srgbClr val="66FFFF"/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77" name="Oval 93"/>
                <p:cNvSpPr/>
                <p:nvPr/>
              </p:nvSpPr>
              <p:spPr>
                <a:xfrm rot="-5400000">
                  <a:off x="1074" y="2332"/>
                  <a:ext cx="109" cy="109"/>
                </a:xfrm>
                <a:prstGeom prst="ellipse">
                  <a:avLst/>
                </a:prstGeom>
                <a:solidFill>
                  <a:srgbClr val="66FFFF"/>
                </a:solidFill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78" name="Line 94"/>
                <p:cNvSpPr/>
                <p:nvPr/>
              </p:nvSpPr>
              <p:spPr>
                <a:xfrm rot="-5400000">
                  <a:off x="881" y="2831"/>
                  <a:ext cx="23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179" name="Line 95"/>
                <p:cNvSpPr/>
                <p:nvPr/>
              </p:nvSpPr>
              <p:spPr>
                <a:xfrm rot="-5400000">
                  <a:off x="1008" y="2208"/>
                  <a:ext cx="23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180" name="Text Box 96"/>
                <p:cNvSpPr txBox="1"/>
                <p:nvPr/>
              </p:nvSpPr>
              <p:spPr>
                <a:xfrm>
                  <a:off x="997" y="2410"/>
                  <a:ext cx="292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&amp;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153" name="Line 97"/>
              <p:cNvSpPr/>
              <p:nvPr/>
            </p:nvSpPr>
            <p:spPr>
              <a:xfrm>
                <a:off x="1291" y="2944"/>
                <a:ext cx="19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4" name="Line 98"/>
              <p:cNvSpPr/>
              <p:nvPr/>
            </p:nvSpPr>
            <p:spPr>
              <a:xfrm>
                <a:off x="1127" y="2218"/>
                <a:ext cx="32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5" name="Line 99"/>
              <p:cNvSpPr/>
              <p:nvPr/>
            </p:nvSpPr>
            <p:spPr>
              <a:xfrm rot="-5400000">
                <a:off x="2225" y="2827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6" name="Rectangle 100"/>
              <p:cNvSpPr/>
              <p:nvPr/>
            </p:nvSpPr>
            <p:spPr>
              <a:xfrm rot="-5400000">
                <a:off x="2060" y="2381"/>
                <a:ext cx="272" cy="399"/>
              </a:xfrm>
              <a:prstGeom prst="rect">
                <a:avLst/>
              </a:prstGeom>
              <a:solidFill>
                <a:srgbClr val="66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7" name="Oval 101"/>
              <p:cNvSpPr/>
              <p:nvPr/>
            </p:nvSpPr>
            <p:spPr>
              <a:xfrm rot="-5400000">
                <a:off x="2130" y="2335"/>
                <a:ext cx="109" cy="109"/>
              </a:xfrm>
              <a:prstGeom prst="ellipse">
                <a:avLst/>
              </a:prstGeom>
              <a:solidFill>
                <a:srgbClr val="66FFFF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8" name="Line 102"/>
              <p:cNvSpPr/>
              <p:nvPr/>
            </p:nvSpPr>
            <p:spPr>
              <a:xfrm rot="-5400000">
                <a:off x="1937" y="2833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9" name="Line 103"/>
              <p:cNvSpPr/>
              <p:nvPr/>
            </p:nvSpPr>
            <p:spPr>
              <a:xfrm rot="-5400000">
                <a:off x="2064" y="2211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0" name="Text Box 104"/>
              <p:cNvSpPr txBox="1"/>
              <p:nvPr/>
            </p:nvSpPr>
            <p:spPr>
              <a:xfrm>
                <a:off x="2053" y="2413"/>
                <a:ext cx="29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&amp;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61" name="Line 105"/>
              <p:cNvSpPr/>
              <p:nvPr/>
            </p:nvSpPr>
            <p:spPr>
              <a:xfrm flipV="1">
                <a:off x="1859" y="2944"/>
                <a:ext cx="209" cy="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2" name="Line 106"/>
              <p:cNvSpPr/>
              <p:nvPr/>
            </p:nvSpPr>
            <p:spPr>
              <a:xfrm>
                <a:off x="1849" y="2214"/>
                <a:ext cx="32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3" name="Line 107"/>
              <p:cNvSpPr/>
              <p:nvPr/>
            </p:nvSpPr>
            <p:spPr>
              <a:xfrm>
                <a:off x="1436" y="2209"/>
                <a:ext cx="435" cy="73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4" name="Line 108"/>
              <p:cNvSpPr/>
              <p:nvPr/>
            </p:nvSpPr>
            <p:spPr>
              <a:xfrm flipH="1">
                <a:off x="1464" y="2211"/>
                <a:ext cx="387" cy="74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5" name="Oval 109"/>
              <p:cNvSpPr/>
              <p:nvPr/>
            </p:nvSpPr>
            <p:spPr>
              <a:xfrm>
                <a:off x="1107" y="2191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66" name="Oval 110"/>
              <p:cNvSpPr/>
              <p:nvPr/>
            </p:nvSpPr>
            <p:spPr>
              <a:xfrm>
                <a:off x="2157" y="2195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67" name="Line 111"/>
              <p:cNvSpPr/>
              <p:nvPr/>
            </p:nvSpPr>
            <p:spPr>
              <a:xfrm>
                <a:off x="1000" y="2927"/>
                <a:ext cx="0" cy="23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8" name="Line 112"/>
              <p:cNvSpPr/>
              <p:nvPr/>
            </p:nvSpPr>
            <p:spPr>
              <a:xfrm>
                <a:off x="2347" y="2896"/>
                <a:ext cx="0" cy="2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9" name="Text Box 113"/>
              <p:cNvSpPr txBox="1"/>
              <p:nvPr/>
            </p:nvSpPr>
            <p:spPr>
              <a:xfrm>
                <a:off x="872" y="3118"/>
                <a:ext cx="4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70" name="Text Box 114"/>
              <p:cNvSpPr txBox="1"/>
              <p:nvPr/>
            </p:nvSpPr>
            <p:spPr>
              <a:xfrm>
                <a:off x="2225" y="3128"/>
                <a:ext cx="4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171" name="Group 115"/>
              <p:cNvGrpSpPr/>
              <p:nvPr/>
            </p:nvGrpSpPr>
            <p:grpSpPr>
              <a:xfrm>
                <a:off x="963" y="1791"/>
                <a:ext cx="391" cy="327"/>
                <a:chOff x="909" y="1836"/>
                <a:chExt cx="391" cy="327"/>
              </a:xfrm>
            </p:grpSpPr>
            <p:sp>
              <p:nvSpPr>
                <p:cNvPr id="6173" name="Text Box 116"/>
                <p:cNvSpPr txBox="1"/>
                <p:nvPr/>
              </p:nvSpPr>
              <p:spPr>
                <a:xfrm>
                  <a:off x="909" y="1836"/>
                  <a:ext cx="391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74" name="Line 117"/>
                <p:cNvSpPr/>
                <p:nvPr/>
              </p:nvSpPr>
              <p:spPr>
                <a:xfrm>
                  <a:off x="945" y="1882"/>
                  <a:ext cx="24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172" name="Text Box 118"/>
              <p:cNvSpPr txBox="1"/>
              <p:nvPr/>
            </p:nvSpPr>
            <p:spPr>
              <a:xfrm>
                <a:off x="2013" y="1759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Q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 Box 2"/>
          <p:cNvSpPr txBox="1"/>
          <p:nvPr/>
        </p:nvSpPr>
        <p:spPr>
          <a:xfrm>
            <a:off x="3879850" y="646113"/>
            <a:ext cx="255270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若原状态：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99011" name="Object 3"/>
          <p:cNvGraphicFramePr>
            <a:graphicFrameLocks noChangeAspect="1"/>
          </p:cNvGraphicFramePr>
          <p:nvPr/>
        </p:nvGraphicFramePr>
        <p:xfrm>
          <a:off x="6572250" y="681038"/>
          <a:ext cx="17986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838200" imgH="241300" progId="Equation.3">
                  <p:embed/>
                </p:oleObj>
              </mc:Choice>
              <mc:Fallback>
                <p:oleObj name="" r:id="rId1" imgW="838200" imgH="241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72250" y="681038"/>
                        <a:ext cx="1798638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2" name="Text Box 4"/>
          <p:cNvSpPr txBox="1"/>
          <p:nvPr/>
        </p:nvSpPr>
        <p:spPr>
          <a:xfrm>
            <a:off x="2509838" y="5349875"/>
            <a:ext cx="2836862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输出仍保持：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99013" name="Object 5"/>
          <p:cNvGraphicFramePr>
            <a:graphicFrameLocks noChangeAspect="1"/>
          </p:cNvGraphicFramePr>
          <p:nvPr/>
        </p:nvGraphicFramePr>
        <p:xfrm>
          <a:off x="5135563" y="5416550"/>
          <a:ext cx="16192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838200" imgH="241300" progId="Equation.3">
                  <p:embed/>
                </p:oleObj>
              </mc:Choice>
              <mc:Fallback>
                <p:oleObj name="" r:id="rId3" imgW="838200" imgH="241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35563" y="5416550"/>
                        <a:ext cx="161925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5"/>
          <p:cNvGraphicFramePr>
            <a:graphicFrameLocks noChangeAspect="1"/>
          </p:cNvGraphicFramePr>
          <p:nvPr/>
        </p:nvGraphicFramePr>
        <p:xfrm>
          <a:off x="2227263" y="1716088"/>
          <a:ext cx="4089400" cy="302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4" imgW="3695700" imgH="3028950" progId="Visio.Drawing.11">
                  <p:embed/>
                </p:oleObj>
              </mc:Choice>
              <mc:Fallback>
                <p:oleObj name="" r:id="rId4" imgW="3695700" imgH="302895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27263" y="1716088"/>
                        <a:ext cx="4089400" cy="302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5" name="Text Box 7"/>
          <p:cNvSpPr txBox="1"/>
          <p:nvPr/>
        </p:nvSpPr>
        <p:spPr>
          <a:xfrm>
            <a:off x="3005138" y="1550988"/>
            <a:ext cx="549275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9016" name="Text Box 8"/>
          <p:cNvSpPr txBox="1"/>
          <p:nvPr/>
        </p:nvSpPr>
        <p:spPr>
          <a:xfrm>
            <a:off x="4821238" y="3856038"/>
            <a:ext cx="549275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9017" name="Text Box 9"/>
          <p:cNvSpPr txBox="1"/>
          <p:nvPr/>
        </p:nvSpPr>
        <p:spPr>
          <a:xfrm>
            <a:off x="4989513" y="1589088"/>
            <a:ext cx="44450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9018" name="Text Box 10"/>
          <p:cNvSpPr txBox="1"/>
          <p:nvPr/>
        </p:nvSpPr>
        <p:spPr>
          <a:xfrm>
            <a:off x="3343275" y="3856038"/>
            <a:ext cx="442913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9019" name="Text Box 11"/>
          <p:cNvSpPr txBox="1"/>
          <p:nvPr/>
        </p:nvSpPr>
        <p:spPr>
          <a:xfrm>
            <a:off x="3024188" y="2065338"/>
            <a:ext cx="549275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9020" name="Text Box 12"/>
          <p:cNvSpPr txBox="1"/>
          <p:nvPr/>
        </p:nvSpPr>
        <p:spPr>
          <a:xfrm>
            <a:off x="2095500" y="3875088"/>
            <a:ext cx="379413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9021" name="Text Box 13"/>
          <p:cNvSpPr txBox="1"/>
          <p:nvPr/>
        </p:nvSpPr>
        <p:spPr>
          <a:xfrm>
            <a:off x="6026150" y="3848100"/>
            <a:ext cx="3810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9022" name="Text Box 14"/>
          <p:cNvSpPr txBox="1"/>
          <p:nvPr/>
        </p:nvSpPr>
        <p:spPr>
          <a:xfrm>
            <a:off x="4948238" y="2103438"/>
            <a:ext cx="549275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9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9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99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9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9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99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99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2" grpId="0"/>
      <p:bldP spid="299015" grpId="0"/>
      <p:bldP spid="299016" grpId="0"/>
      <p:bldP spid="299017" grpId="0"/>
      <p:bldP spid="299018" grpId="0"/>
      <p:bldP spid="299019" grpId="0"/>
      <p:bldP spid="299020" grpId="0"/>
      <p:bldP spid="299021" grpId="0"/>
      <p:bldP spid="2990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2"/>
          <p:cNvSpPr txBox="1"/>
          <p:nvPr/>
        </p:nvSpPr>
        <p:spPr>
          <a:xfrm>
            <a:off x="3975100" y="590550"/>
            <a:ext cx="23812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若原状态：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0035" name="Object 3"/>
          <p:cNvGraphicFramePr>
            <a:graphicFrameLocks noChangeAspect="1"/>
          </p:cNvGraphicFramePr>
          <p:nvPr/>
        </p:nvGraphicFramePr>
        <p:xfrm>
          <a:off x="6540500" y="668338"/>
          <a:ext cx="17430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838200" imgH="241300" progId="Equation.3">
                  <p:embed/>
                </p:oleObj>
              </mc:Choice>
              <mc:Fallback>
                <p:oleObj name="" r:id="rId1" imgW="838200" imgH="2413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40500" y="668338"/>
                        <a:ext cx="1743075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36" name="Text Box 4"/>
          <p:cNvSpPr txBox="1"/>
          <p:nvPr/>
        </p:nvSpPr>
        <p:spPr>
          <a:xfrm>
            <a:off x="3333750" y="1905000"/>
            <a:ext cx="4953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0037" name="Text Box 5"/>
          <p:cNvSpPr txBox="1"/>
          <p:nvPr/>
        </p:nvSpPr>
        <p:spPr>
          <a:xfrm>
            <a:off x="4972050" y="4267200"/>
            <a:ext cx="4953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0038" name="Text Box 6"/>
          <p:cNvSpPr txBox="1"/>
          <p:nvPr/>
        </p:nvSpPr>
        <p:spPr>
          <a:xfrm>
            <a:off x="5124450" y="1943100"/>
            <a:ext cx="4000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0039" name="Text Box 7"/>
          <p:cNvSpPr txBox="1"/>
          <p:nvPr/>
        </p:nvSpPr>
        <p:spPr>
          <a:xfrm>
            <a:off x="3638550" y="4248150"/>
            <a:ext cx="4000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0040" name="Text Box 8"/>
          <p:cNvSpPr txBox="1"/>
          <p:nvPr/>
        </p:nvSpPr>
        <p:spPr>
          <a:xfrm>
            <a:off x="3352800" y="2419350"/>
            <a:ext cx="4953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01" name="Text Box 9"/>
          <p:cNvSpPr txBox="1"/>
          <p:nvPr/>
        </p:nvSpPr>
        <p:spPr>
          <a:xfrm>
            <a:off x="2514600" y="4229100"/>
            <a:ext cx="3429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02" name="Text Box 10"/>
          <p:cNvSpPr txBox="1"/>
          <p:nvPr/>
        </p:nvSpPr>
        <p:spPr>
          <a:xfrm>
            <a:off x="6057900" y="4202113"/>
            <a:ext cx="34290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0043" name="Text Box 11"/>
          <p:cNvSpPr txBox="1"/>
          <p:nvPr/>
        </p:nvSpPr>
        <p:spPr>
          <a:xfrm>
            <a:off x="5086350" y="2419350"/>
            <a:ext cx="4953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0044" name="Text Box 12"/>
          <p:cNvSpPr txBox="1"/>
          <p:nvPr/>
        </p:nvSpPr>
        <p:spPr>
          <a:xfrm>
            <a:off x="4133850" y="5372100"/>
            <a:ext cx="30289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输出变为：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0045" name="Object 13"/>
          <p:cNvGraphicFramePr>
            <a:graphicFrameLocks noChangeAspect="1"/>
          </p:cNvGraphicFramePr>
          <p:nvPr/>
        </p:nvGraphicFramePr>
        <p:xfrm>
          <a:off x="6259513" y="5387975"/>
          <a:ext cx="18732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838200" imgH="241300" progId="Equation.3">
                  <p:embed/>
                </p:oleObj>
              </mc:Choice>
              <mc:Fallback>
                <p:oleObj name="" r:id="rId3" imgW="838200" imgH="2413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59513" y="5387975"/>
                        <a:ext cx="1873250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46" name="AutoShape 14"/>
          <p:cNvSpPr/>
          <p:nvPr/>
        </p:nvSpPr>
        <p:spPr>
          <a:xfrm>
            <a:off x="3657600" y="2171700"/>
            <a:ext cx="323850" cy="666750"/>
          </a:xfrm>
          <a:prstGeom prst="curvedLeftArrow">
            <a:avLst>
              <a:gd name="adj1" fmla="val 41176"/>
              <a:gd name="adj2" fmla="val 82352"/>
              <a:gd name="adj3" fmla="val 33333"/>
            </a:avLst>
          </a:prstGeom>
          <a:solidFill>
            <a:srgbClr val="33CCFF"/>
          </a:solidFill>
          <a:ln w="38100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0047" name="AutoShape 15"/>
          <p:cNvSpPr/>
          <p:nvPr/>
        </p:nvSpPr>
        <p:spPr>
          <a:xfrm flipH="1">
            <a:off x="4819650" y="2190750"/>
            <a:ext cx="323850" cy="666750"/>
          </a:xfrm>
          <a:prstGeom prst="curvedLeftArrow">
            <a:avLst>
              <a:gd name="adj1" fmla="val 41176"/>
              <a:gd name="adj2" fmla="val 82352"/>
              <a:gd name="adj3" fmla="val 33333"/>
            </a:avLst>
          </a:prstGeom>
          <a:solidFill>
            <a:srgbClr val="33CCFF"/>
          </a:solidFill>
          <a:ln w="38100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8208" name="Object 16"/>
          <p:cNvGraphicFramePr>
            <a:graphicFrameLocks noChangeAspect="1"/>
          </p:cNvGraphicFramePr>
          <p:nvPr/>
        </p:nvGraphicFramePr>
        <p:xfrm>
          <a:off x="2728913" y="1917700"/>
          <a:ext cx="3686175" cy="302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3695700" imgH="3028950" progId="Visio.Drawing.11">
                  <p:embed/>
                </p:oleObj>
              </mc:Choice>
              <mc:Fallback>
                <p:oleObj name="" r:id="rId5" imgW="3695700" imgH="3028950" progId="Visio.Drawing.11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28913" y="1917700"/>
                        <a:ext cx="3686175" cy="302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0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0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0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0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0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0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6" grpId="0"/>
      <p:bldP spid="300037" grpId="0"/>
      <p:bldP spid="300038" grpId="0"/>
      <p:bldP spid="300039" grpId="0"/>
      <p:bldP spid="300040" grpId="0"/>
      <p:bldP spid="300043" grpId="0"/>
      <p:bldP spid="300044" grpId="0"/>
      <p:bldP spid="300046" grpId="0" animBg="1"/>
      <p:bldP spid="3000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2"/>
          <p:cNvSpPr txBox="1"/>
          <p:nvPr/>
        </p:nvSpPr>
        <p:spPr>
          <a:xfrm>
            <a:off x="3784600" y="590550"/>
            <a:ext cx="25717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若原状态：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3107" name="Object 3"/>
          <p:cNvGraphicFramePr>
            <a:graphicFrameLocks noChangeAspect="1"/>
          </p:cNvGraphicFramePr>
          <p:nvPr/>
        </p:nvGraphicFramePr>
        <p:xfrm>
          <a:off x="6513513" y="668338"/>
          <a:ext cx="183356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838200" imgH="241300" progId="Equation.3">
                  <p:embed/>
                </p:oleObj>
              </mc:Choice>
              <mc:Fallback>
                <p:oleObj name="" r:id="rId1" imgW="838200" imgH="2413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13513" y="668338"/>
                        <a:ext cx="1833562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08" name="Text Box 4"/>
          <p:cNvSpPr txBox="1"/>
          <p:nvPr/>
        </p:nvSpPr>
        <p:spPr>
          <a:xfrm>
            <a:off x="3333750" y="1905000"/>
            <a:ext cx="4953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3109" name="Text Box 5"/>
          <p:cNvSpPr txBox="1"/>
          <p:nvPr/>
        </p:nvSpPr>
        <p:spPr>
          <a:xfrm>
            <a:off x="5124450" y="1943100"/>
            <a:ext cx="4000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22" name="Text Box 6"/>
          <p:cNvSpPr txBox="1"/>
          <p:nvPr/>
        </p:nvSpPr>
        <p:spPr>
          <a:xfrm>
            <a:off x="2514600" y="4229100"/>
            <a:ext cx="3429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23" name="Text Box 7"/>
          <p:cNvSpPr txBox="1"/>
          <p:nvPr/>
        </p:nvSpPr>
        <p:spPr>
          <a:xfrm>
            <a:off x="6057900" y="4202113"/>
            <a:ext cx="34290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3112" name="Text Box 8"/>
          <p:cNvSpPr txBox="1"/>
          <p:nvPr/>
        </p:nvSpPr>
        <p:spPr>
          <a:xfrm>
            <a:off x="3619500" y="4267200"/>
            <a:ext cx="4191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3113" name="Text Box 9"/>
          <p:cNvSpPr txBox="1"/>
          <p:nvPr/>
        </p:nvSpPr>
        <p:spPr>
          <a:xfrm>
            <a:off x="3390900" y="2438400"/>
            <a:ext cx="5524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3114" name="Text Box 10"/>
          <p:cNvSpPr txBox="1"/>
          <p:nvPr/>
        </p:nvSpPr>
        <p:spPr>
          <a:xfrm>
            <a:off x="4914900" y="4248150"/>
            <a:ext cx="4191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3115" name="Text Box 11"/>
          <p:cNvSpPr txBox="1"/>
          <p:nvPr/>
        </p:nvSpPr>
        <p:spPr>
          <a:xfrm>
            <a:off x="5029200" y="2438400"/>
            <a:ext cx="5524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3116" name="Text Box 12"/>
          <p:cNvSpPr txBox="1"/>
          <p:nvPr/>
        </p:nvSpPr>
        <p:spPr>
          <a:xfrm>
            <a:off x="3790950" y="5391150"/>
            <a:ext cx="23622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输出变为：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3117" name="Object 13"/>
          <p:cNvGraphicFramePr>
            <a:graphicFrameLocks noChangeAspect="1"/>
          </p:cNvGraphicFramePr>
          <p:nvPr/>
        </p:nvGraphicFramePr>
        <p:xfrm>
          <a:off x="6400800" y="5575300"/>
          <a:ext cx="20288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838200" imgH="241300" progId="Equation.3">
                  <p:embed/>
                </p:oleObj>
              </mc:Choice>
              <mc:Fallback>
                <p:oleObj name="" r:id="rId3" imgW="838200" imgH="2413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0800" y="5575300"/>
                        <a:ext cx="2028825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8" name="AutoShape 14"/>
          <p:cNvSpPr/>
          <p:nvPr/>
        </p:nvSpPr>
        <p:spPr>
          <a:xfrm flipH="1">
            <a:off x="4819650" y="2190750"/>
            <a:ext cx="323850" cy="666750"/>
          </a:xfrm>
          <a:prstGeom prst="curvedLeftArrow">
            <a:avLst>
              <a:gd name="adj1" fmla="val 41176"/>
              <a:gd name="adj2" fmla="val 82352"/>
              <a:gd name="adj3" fmla="val 33333"/>
            </a:avLst>
          </a:prstGeom>
          <a:solidFill>
            <a:srgbClr val="33CCFF"/>
          </a:solidFill>
          <a:ln w="38100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3119" name="AutoShape 15"/>
          <p:cNvSpPr/>
          <p:nvPr/>
        </p:nvSpPr>
        <p:spPr>
          <a:xfrm>
            <a:off x="3657600" y="2171700"/>
            <a:ext cx="323850" cy="666750"/>
          </a:xfrm>
          <a:prstGeom prst="curvedLeftArrow">
            <a:avLst>
              <a:gd name="adj1" fmla="val 41176"/>
              <a:gd name="adj2" fmla="val 82352"/>
              <a:gd name="adj3" fmla="val 33333"/>
            </a:avLst>
          </a:prstGeom>
          <a:solidFill>
            <a:srgbClr val="33CCFF"/>
          </a:solidFill>
          <a:ln w="38100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232" name="Object 16"/>
          <p:cNvGraphicFramePr>
            <a:graphicFrameLocks noChangeAspect="1"/>
          </p:cNvGraphicFramePr>
          <p:nvPr/>
        </p:nvGraphicFramePr>
        <p:xfrm>
          <a:off x="2728913" y="1917700"/>
          <a:ext cx="3686175" cy="302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3695700" imgH="3028950" progId="Visio.Drawing.11">
                  <p:embed/>
                </p:oleObj>
              </mc:Choice>
              <mc:Fallback>
                <p:oleObj name="" r:id="rId5" imgW="3695700" imgH="3028950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28913" y="1917700"/>
                        <a:ext cx="3686175" cy="302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0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3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3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8" grpId="0"/>
      <p:bldP spid="303109" grpId="0"/>
      <p:bldP spid="303112" grpId="0"/>
      <p:bldP spid="303113" grpId="0"/>
      <p:bldP spid="303114" grpId="0"/>
      <p:bldP spid="303115" grpId="0"/>
      <p:bldP spid="303116" grpId="0"/>
      <p:bldP spid="303118" grpId="0" animBg="1"/>
      <p:bldP spid="3031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2"/>
          <p:cNvSpPr txBox="1"/>
          <p:nvPr/>
        </p:nvSpPr>
        <p:spPr>
          <a:xfrm>
            <a:off x="3746500" y="590550"/>
            <a:ext cx="26098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若原状态：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4131" name="Object 3"/>
          <p:cNvGraphicFramePr>
            <a:graphicFrameLocks noChangeAspect="1"/>
          </p:cNvGraphicFramePr>
          <p:nvPr/>
        </p:nvGraphicFramePr>
        <p:xfrm>
          <a:off x="6607175" y="711200"/>
          <a:ext cx="19939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838200" imgH="241300" progId="Equation.3">
                  <p:embed/>
                </p:oleObj>
              </mc:Choice>
              <mc:Fallback>
                <p:oleObj name="" r:id="rId1" imgW="838200" imgH="2413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07175" y="711200"/>
                        <a:ext cx="1993900" cy="56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2" name="Text Box 4"/>
          <p:cNvSpPr txBox="1"/>
          <p:nvPr/>
        </p:nvSpPr>
        <p:spPr>
          <a:xfrm>
            <a:off x="3333750" y="1905000"/>
            <a:ext cx="4953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4133" name="Text Box 5"/>
          <p:cNvSpPr txBox="1"/>
          <p:nvPr/>
        </p:nvSpPr>
        <p:spPr>
          <a:xfrm>
            <a:off x="4972050" y="4267200"/>
            <a:ext cx="4953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4134" name="Text Box 6"/>
          <p:cNvSpPr txBox="1"/>
          <p:nvPr/>
        </p:nvSpPr>
        <p:spPr>
          <a:xfrm>
            <a:off x="5124450" y="1943100"/>
            <a:ext cx="4000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4135" name="Text Box 7"/>
          <p:cNvSpPr txBox="1"/>
          <p:nvPr/>
        </p:nvSpPr>
        <p:spPr>
          <a:xfrm>
            <a:off x="3638550" y="4248150"/>
            <a:ext cx="4000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4136" name="Text Box 8"/>
          <p:cNvSpPr txBox="1"/>
          <p:nvPr/>
        </p:nvSpPr>
        <p:spPr>
          <a:xfrm>
            <a:off x="3352800" y="2419350"/>
            <a:ext cx="4953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49" name="Text Box 9"/>
          <p:cNvSpPr txBox="1"/>
          <p:nvPr/>
        </p:nvSpPr>
        <p:spPr>
          <a:xfrm>
            <a:off x="2514600" y="4229100"/>
            <a:ext cx="3429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50" name="Text Box 10"/>
          <p:cNvSpPr txBox="1"/>
          <p:nvPr/>
        </p:nvSpPr>
        <p:spPr>
          <a:xfrm>
            <a:off x="6057900" y="4202113"/>
            <a:ext cx="34290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4139" name="Text Box 11"/>
          <p:cNvSpPr txBox="1"/>
          <p:nvPr/>
        </p:nvSpPr>
        <p:spPr>
          <a:xfrm>
            <a:off x="5086350" y="2419350"/>
            <a:ext cx="4953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4140" name="Text Box 12"/>
          <p:cNvSpPr txBox="1"/>
          <p:nvPr/>
        </p:nvSpPr>
        <p:spPr>
          <a:xfrm>
            <a:off x="4133850" y="5372100"/>
            <a:ext cx="30289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输出保持：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4141" name="Object 13"/>
          <p:cNvGraphicFramePr>
            <a:graphicFrameLocks noChangeAspect="1"/>
          </p:cNvGraphicFramePr>
          <p:nvPr/>
        </p:nvGraphicFramePr>
        <p:xfrm>
          <a:off x="6223000" y="5402263"/>
          <a:ext cx="2182813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838200" imgH="241300" progId="Equation.3">
                  <p:embed/>
                </p:oleObj>
              </mc:Choice>
              <mc:Fallback>
                <p:oleObj name="" r:id="rId3" imgW="838200" imgH="2413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23000" y="5402263"/>
                        <a:ext cx="2182813" cy="623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4"/>
          <p:cNvGraphicFramePr>
            <a:graphicFrameLocks noChangeAspect="1"/>
          </p:cNvGraphicFramePr>
          <p:nvPr/>
        </p:nvGraphicFramePr>
        <p:xfrm>
          <a:off x="2728913" y="1917700"/>
          <a:ext cx="3686175" cy="302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4" imgW="3695700" imgH="3028950" progId="Visio.Drawing.11">
                  <p:embed/>
                </p:oleObj>
              </mc:Choice>
              <mc:Fallback>
                <p:oleObj name="" r:id="rId4" imgW="3695700" imgH="3028950" progId="Visio.Drawing.11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28913" y="1917700"/>
                        <a:ext cx="3686175" cy="302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0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2" grpId="0"/>
      <p:bldP spid="304133" grpId="0"/>
      <p:bldP spid="304134" grpId="0"/>
      <p:bldP spid="304135" grpId="0"/>
      <p:bldP spid="304136" grpId="0"/>
      <p:bldP spid="304139" grpId="0"/>
      <p:bldP spid="3041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2"/>
          <p:cNvSpPr txBox="1"/>
          <p:nvPr/>
        </p:nvSpPr>
        <p:spPr>
          <a:xfrm>
            <a:off x="3822700" y="590550"/>
            <a:ext cx="25336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若原状态：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5155" name="Text Box 3"/>
          <p:cNvSpPr txBox="1"/>
          <p:nvPr/>
        </p:nvSpPr>
        <p:spPr>
          <a:xfrm>
            <a:off x="5029200" y="1981200"/>
            <a:ext cx="5524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5156" name="Text Box 4"/>
          <p:cNvSpPr txBox="1"/>
          <p:nvPr/>
        </p:nvSpPr>
        <p:spPr>
          <a:xfrm>
            <a:off x="3371850" y="1981200"/>
            <a:ext cx="5524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2419350" y="4057650"/>
            <a:ext cx="4762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70" name="Text Box 6"/>
          <p:cNvSpPr txBox="1"/>
          <p:nvPr/>
        </p:nvSpPr>
        <p:spPr>
          <a:xfrm>
            <a:off x="6038850" y="4011613"/>
            <a:ext cx="47625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5159" name="Text Box 7"/>
          <p:cNvSpPr txBox="1"/>
          <p:nvPr/>
        </p:nvSpPr>
        <p:spPr>
          <a:xfrm>
            <a:off x="3879850" y="4068763"/>
            <a:ext cx="55245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5160" name="Text Box 8"/>
          <p:cNvSpPr txBox="1"/>
          <p:nvPr/>
        </p:nvSpPr>
        <p:spPr>
          <a:xfrm>
            <a:off x="3390900" y="2438400"/>
            <a:ext cx="5461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5161" name="Text Box 9"/>
          <p:cNvSpPr txBox="1"/>
          <p:nvPr/>
        </p:nvSpPr>
        <p:spPr>
          <a:xfrm>
            <a:off x="4572000" y="4076700"/>
            <a:ext cx="4000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5162" name="Text Box 10"/>
          <p:cNvSpPr txBox="1"/>
          <p:nvPr/>
        </p:nvSpPr>
        <p:spPr>
          <a:xfrm>
            <a:off x="5048250" y="2419350"/>
            <a:ext cx="4191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5163" name="Text Box 11"/>
          <p:cNvSpPr txBox="1"/>
          <p:nvPr/>
        </p:nvSpPr>
        <p:spPr>
          <a:xfrm>
            <a:off x="3117850" y="5505450"/>
            <a:ext cx="40259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输出保持原状态：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5164" name="Object 12"/>
          <p:cNvGraphicFramePr>
            <a:graphicFrameLocks noChangeAspect="1"/>
          </p:cNvGraphicFramePr>
          <p:nvPr/>
        </p:nvGraphicFramePr>
        <p:xfrm>
          <a:off x="6523038" y="688975"/>
          <a:ext cx="18542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838200" imgH="241300" progId="Equation.3">
                  <p:embed/>
                </p:oleObj>
              </mc:Choice>
              <mc:Fallback>
                <p:oleObj name="" r:id="rId1" imgW="838200" imgH="2413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23038" y="688975"/>
                        <a:ext cx="1854200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65" name="Object 13"/>
          <p:cNvGraphicFramePr>
            <a:graphicFrameLocks noChangeAspect="1"/>
          </p:cNvGraphicFramePr>
          <p:nvPr/>
        </p:nvGraphicFramePr>
        <p:xfrm>
          <a:off x="6375400" y="5580063"/>
          <a:ext cx="22447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838200" imgH="241300" progId="Equation.3">
                  <p:embed/>
                </p:oleObj>
              </mc:Choice>
              <mc:Fallback>
                <p:oleObj name="" r:id="rId3" imgW="838200" imgH="2413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75400" y="5580063"/>
                        <a:ext cx="2244725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8" name="Object 14"/>
          <p:cNvGraphicFramePr>
            <a:graphicFrameLocks noChangeAspect="1"/>
          </p:cNvGraphicFramePr>
          <p:nvPr/>
        </p:nvGraphicFramePr>
        <p:xfrm>
          <a:off x="2728913" y="1917700"/>
          <a:ext cx="3686175" cy="302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4" imgW="3695700" imgH="3028950" progId="Visio.Drawing.11">
                  <p:embed/>
                </p:oleObj>
              </mc:Choice>
              <mc:Fallback>
                <p:oleObj name="" r:id="rId4" imgW="3695700" imgH="3028950" progId="Visio.Drawing.11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28913" y="1917700"/>
                        <a:ext cx="3686175" cy="302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5" grpId="0"/>
      <p:bldP spid="305156" grpId="0"/>
      <p:bldP spid="305159" grpId="0"/>
      <p:bldP spid="305160" grpId="0"/>
      <p:bldP spid="305161" grpId="0"/>
      <p:bldP spid="305162" grpId="0"/>
      <p:bldP spid="3051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2"/>
          <p:cNvSpPr txBox="1"/>
          <p:nvPr/>
        </p:nvSpPr>
        <p:spPr>
          <a:xfrm>
            <a:off x="3727450" y="590550"/>
            <a:ext cx="26289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若原状态：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6179" name="Object 3"/>
          <p:cNvGraphicFramePr>
            <a:graphicFrameLocks noChangeAspect="1"/>
          </p:cNvGraphicFramePr>
          <p:nvPr/>
        </p:nvGraphicFramePr>
        <p:xfrm>
          <a:off x="6610350" y="730250"/>
          <a:ext cx="2076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838200" imgH="241300" progId="Equation.3">
                  <p:embed/>
                </p:oleObj>
              </mc:Choice>
              <mc:Fallback>
                <p:oleObj name="" r:id="rId1" imgW="838200" imgH="2413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10350" y="730250"/>
                        <a:ext cx="2076450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3295650" y="1981200"/>
            <a:ext cx="2343150" cy="598488"/>
            <a:chOff x="2076" y="1248"/>
            <a:chExt cx="1476" cy="377"/>
          </a:xfrm>
        </p:grpSpPr>
        <p:sp>
          <p:nvSpPr>
            <p:cNvPr id="12302" name="Text Box 5"/>
            <p:cNvSpPr txBox="1"/>
            <p:nvPr/>
          </p:nvSpPr>
          <p:spPr>
            <a:xfrm>
              <a:off x="3216" y="1248"/>
              <a:ext cx="33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303" name="Text Box 6"/>
            <p:cNvSpPr txBox="1"/>
            <p:nvPr/>
          </p:nvSpPr>
          <p:spPr>
            <a:xfrm>
              <a:off x="2076" y="1260"/>
              <a:ext cx="33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2293" name="Text Box 7"/>
          <p:cNvSpPr txBox="1"/>
          <p:nvPr/>
        </p:nvSpPr>
        <p:spPr>
          <a:xfrm>
            <a:off x="2419350" y="4057650"/>
            <a:ext cx="4762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294" name="Text Box 8"/>
          <p:cNvSpPr txBox="1"/>
          <p:nvPr/>
        </p:nvSpPr>
        <p:spPr>
          <a:xfrm>
            <a:off x="6096000" y="4030663"/>
            <a:ext cx="47625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6185" name="Text Box 9"/>
          <p:cNvSpPr txBox="1"/>
          <p:nvPr/>
        </p:nvSpPr>
        <p:spPr>
          <a:xfrm>
            <a:off x="3962400" y="4057650"/>
            <a:ext cx="4000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6186" name="Text Box 10"/>
          <p:cNvSpPr txBox="1"/>
          <p:nvPr/>
        </p:nvSpPr>
        <p:spPr>
          <a:xfrm>
            <a:off x="3314700" y="2438400"/>
            <a:ext cx="4762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6187" name="Text Box 11"/>
          <p:cNvSpPr txBox="1"/>
          <p:nvPr/>
        </p:nvSpPr>
        <p:spPr>
          <a:xfrm>
            <a:off x="4565650" y="4057650"/>
            <a:ext cx="4254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6188" name="Text Box 12"/>
          <p:cNvSpPr txBox="1"/>
          <p:nvPr/>
        </p:nvSpPr>
        <p:spPr>
          <a:xfrm>
            <a:off x="5105400" y="2419350"/>
            <a:ext cx="5270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6189" name="Text Box 13"/>
          <p:cNvSpPr txBox="1"/>
          <p:nvPr/>
        </p:nvSpPr>
        <p:spPr>
          <a:xfrm>
            <a:off x="3295650" y="5505450"/>
            <a:ext cx="401955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输出保持原状态：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6190" name="Object 14"/>
          <p:cNvGraphicFramePr>
            <a:graphicFrameLocks noChangeAspect="1"/>
          </p:cNvGraphicFramePr>
          <p:nvPr/>
        </p:nvGraphicFramePr>
        <p:xfrm>
          <a:off x="6637338" y="5573713"/>
          <a:ext cx="18430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838200" imgH="241300" progId="Equation.3">
                  <p:embed/>
                </p:oleObj>
              </mc:Choice>
              <mc:Fallback>
                <p:oleObj name="" r:id="rId3" imgW="838200" imgH="2413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37338" y="5573713"/>
                        <a:ext cx="1843087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5"/>
          <p:cNvGraphicFramePr>
            <a:graphicFrameLocks noChangeAspect="1"/>
          </p:cNvGraphicFramePr>
          <p:nvPr/>
        </p:nvGraphicFramePr>
        <p:xfrm>
          <a:off x="2728913" y="1917700"/>
          <a:ext cx="3686175" cy="302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4" imgW="3695700" imgH="3028950" progId="Visio.Drawing.11">
                  <p:embed/>
                </p:oleObj>
              </mc:Choice>
              <mc:Fallback>
                <p:oleObj name="" r:id="rId4" imgW="3695700" imgH="3028950" progId="Visio.Drawing.11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28913" y="1917700"/>
                        <a:ext cx="3686175" cy="302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6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6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6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6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5" grpId="0"/>
      <p:bldP spid="306186" grpId="0"/>
      <p:bldP spid="306187" grpId="0"/>
      <p:bldP spid="306188" grpId="0"/>
      <p:bldP spid="30618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2"/>
          <p:cNvSpPr txBox="1"/>
          <p:nvPr/>
        </p:nvSpPr>
        <p:spPr>
          <a:xfrm>
            <a:off x="782638" y="373063"/>
            <a:ext cx="29448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R-S</a:t>
            </a:r>
            <a:r>
              <a:rPr lang="zh-CN" altLang="en-US" b="1" dirty="0">
                <a:latin typeface="Times New Roman" panose="02020603050405020304" pitchFamily="18" charset="0"/>
              </a:rPr>
              <a:t>触发器真值表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733925" y="2185988"/>
            <a:ext cx="4210050" cy="3606800"/>
            <a:chOff x="3108" y="249"/>
            <a:chExt cx="2652" cy="2272"/>
          </a:xfrm>
        </p:grpSpPr>
        <p:sp>
          <p:nvSpPr>
            <p:cNvPr id="13411" name="Rectangle 4"/>
            <p:cNvSpPr/>
            <p:nvPr/>
          </p:nvSpPr>
          <p:spPr>
            <a:xfrm>
              <a:off x="3108" y="249"/>
              <a:ext cx="2652" cy="2272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3412" name="Group 5"/>
            <p:cNvGrpSpPr/>
            <p:nvPr/>
          </p:nvGrpSpPr>
          <p:grpSpPr>
            <a:xfrm>
              <a:off x="3318" y="309"/>
              <a:ext cx="2316" cy="2014"/>
              <a:chOff x="3444" y="0"/>
              <a:chExt cx="2316" cy="2014"/>
            </a:xfrm>
          </p:grpSpPr>
          <p:grpSp>
            <p:nvGrpSpPr>
              <p:cNvPr id="13413" name="Group 6"/>
              <p:cNvGrpSpPr/>
              <p:nvPr/>
            </p:nvGrpSpPr>
            <p:grpSpPr>
              <a:xfrm>
                <a:off x="3444" y="87"/>
                <a:ext cx="2316" cy="1927"/>
                <a:chOff x="3444" y="1268"/>
                <a:chExt cx="2316" cy="1927"/>
              </a:xfrm>
            </p:grpSpPr>
            <p:sp>
              <p:nvSpPr>
                <p:cNvPr id="13415" name="Text Box 7"/>
                <p:cNvSpPr txBox="1"/>
                <p:nvPr/>
              </p:nvSpPr>
              <p:spPr>
                <a:xfrm>
                  <a:off x="3477" y="1269"/>
                  <a:ext cx="491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R</a:t>
                  </a:r>
                  <a:r>
                    <a:rPr lang="en-US" altLang="zh-CN" b="1" baseline="-25000" dirty="0">
                      <a:latin typeface="Times New Roman" panose="02020603050405020304" pitchFamily="18" charset="0"/>
                    </a:rPr>
                    <a:t>D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416" name="Text Box 8"/>
                <p:cNvSpPr txBox="1"/>
                <p:nvPr/>
              </p:nvSpPr>
              <p:spPr>
                <a:xfrm>
                  <a:off x="4012" y="1279"/>
                  <a:ext cx="491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b="1" baseline="-25000" dirty="0">
                      <a:latin typeface="Times New Roman" panose="02020603050405020304" pitchFamily="18" charset="0"/>
                    </a:rPr>
                    <a:t>D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417" name="Text Box 9"/>
                <p:cNvSpPr txBox="1"/>
                <p:nvPr/>
              </p:nvSpPr>
              <p:spPr>
                <a:xfrm>
                  <a:off x="4490" y="1268"/>
                  <a:ext cx="391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3418" name="Group 10"/>
                <p:cNvGrpSpPr/>
                <p:nvPr/>
              </p:nvGrpSpPr>
              <p:grpSpPr>
                <a:xfrm>
                  <a:off x="4950" y="1270"/>
                  <a:ext cx="391" cy="327"/>
                  <a:chOff x="909" y="1836"/>
                  <a:chExt cx="391" cy="327"/>
                </a:xfrm>
              </p:grpSpPr>
              <p:sp>
                <p:nvSpPr>
                  <p:cNvPr id="13421" name="Text Box 11"/>
                  <p:cNvSpPr txBox="1"/>
                  <p:nvPr/>
                </p:nvSpPr>
                <p:spPr>
                  <a:xfrm>
                    <a:off x="909" y="1836"/>
                    <a:ext cx="391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Q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422" name="Line 12"/>
                  <p:cNvSpPr/>
                  <p:nvPr/>
                </p:nvSpPr>
                <p:spPr>
                  <a:xfrm>
                    <a:off x="945" y="1882"/>
                    <a:ext cx="246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3419" name="Line 13"/>
                <p:cNvSpPr/>
                <p:nvPr/>
              </p:nvSpPr>
              <p:spPr>
                <a:xfrm>
                  <a:off x="3444" y="1620"/>
                  <a:ext cx="192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420" name="Text Box 14"/>
                <p:cNvSpPr txBox="1"/>
                <p:nvPr/>
              </p:nvSpPr>
              <p:spPr>
                <a:xfrm>
                  <a:off x="3492" y="1656"/>
                  <a:ext cx="2268" cy="153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 0       1       0      1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(</a:t>
                  </a:r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复位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)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 1       0       1      0(</a:t>
                  </a:r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置位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)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 1       1       </a:t>
                  </a:r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保持原状</a:t>
                  </a:r>
                  <a:r>
                    <a:rPr lang="zh-CN" altLang="en-US" sz="2400" b="1" dirty="0">
                      <a:latin typeface="Times New Roman" panose="02020603050405020304" pitchFamily="18" charset="0"/>
                      <a:sym typeface="Monotype Sorts" pitchFamily="2" charset="2"/>
                    </a:rPr>
                    <a:t></a:t>
                  </a:r>
                  <a:endParaRPr lang="zh-CN" altLang="en-US" sz="2400" b="1" dirty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50000"/>
                    </a:spcBef>
                  </a:pPr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  </a:t>
                  </a:r>
                  <a:r>
                    <a:rPr lang="en-US" altLang="zh-CN" b="1" dirty="0">
                      <a:latin typeface="Times New Roman" panose="02020603050405020304" pitchFamily="18" charset="0"/>
                    </a:rPr>
                    <a:t>0       0       </a:t>
                  </a:r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不确定</a:t>
                  </a:r>
                  <a:r>
                    <a:rPr lang="zh-CN" altLang="en-US" sz="2400" b="1" dirty="0">
                      <a:latin typeface="Times New Roman" panose="02020603050405020304" pitchFamily="18" charset="0"/>
                      <a:sym typeface="Monotype Sorts" pitchFamily="2" charset="2"/>
                    </a:rPr>
                    <a:t></a:t>
                  </a:r>
                  <a:endParaRPr lang="zh-CN" altLang="en-US" sz="2400" b="1" dirty="0">
                    <a:latin typeface="Times New Roman" panose="02020603050405020304" pitchFamily="18" charset="0"/>
                    <a:sym typeface="Monotype Sorts" pitchFamily="2" charset="2"/>
                  </a:endParaRPr>
                </a:p>
              </p:txBody>
            </p:sp>
          </p:grpSp>
          <p:sp>
            <p:nvSpPr>
              <p:cNvPr id="13414" name="Line 15"/>
              <p:cNvSpPr/>
              <p:nvPr/>
            </p:nvSpPr>
            <p:spPr>
              <a:xfrm>
                <a:off x="4416" y="0"/>
                <a:ext cx="0" cy="194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07216" name="Text Box 16"/>
          <p:cNvSpPr txBox="1"/>
          <p:nvPr/>
        </p:nvSpPr>
        <p:spPr>
          <a:xfrm>
            <a:off x="4808538" y="5902325"/>
            <a:ext cx="3957637" cy="955675"/>
          </a:xfrm>
          <a:prstGeom prst="rect">
            <a:avLst/>
          </a:prstGeom>
          <a:noFill/>
          <a:ln w="9525" cap="flat" cmpd="sng">
            <a:solidFill>
              <a:srgbClr val="00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sym typeface="Monotype Sorts" pitchFamily="2" charset="2"/>
              </a:rPr>
              <a:t> </a:t>
            </a:r>
            <a:r>
              <a:rPr lang="zh-CN" altLang="en-US" b="1" dirty="0">
                <a:latin typeface="Times New Roman" panose="02020603050405020304" pitchFamily="18" charset="0"/>
                <a:sym typeface="Monotype Sorts" pitchFamily="2" charset="2"/>
              </a:rPr>
              <a:t>指</a:t>
            </a:r>
            <a:r>
              <a:rPr lang="en-US" altLang="zh-CN" b="1" dirty="0">
                <a:latin typeface="Times New Roman" panose="02020603050405020304" pitchFamily="18" charset="0"/>
                <a:sym typeface="Monotype Sorts" pitchFamily="2" charset="2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  <a:sym typeface="Monotype Sorts" pitchFamily="2" charset="2"/>
              </a:rPr>
              <a:t>D</a:t>
            </a:r>
            <a:r>
              <a:rPr lang="zh-CN" altLang="en-US" b="1" dirty="0">
                <a:latin typeface="Times New Roman" panose="02020603050405020304" pitchFamily="18" charset="0"/>
                <a:sym typeface="Monotype Sorts" pitchFamily="2" charset="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sym typeface="Monotype Sorts" pitchFamily="2" charset="2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  <a:sym typeface="Monotype Sorts" pitchFamily="2" charset="2"/>
              </a:rPr>
              <a:t>D</a:t>
            </a:r>
            <a:r>
              <a:rPr lang="zh-CN" altLang="en-US" b="1" dirty="0">
                <a:latin typeface="Times New Roman" panose="02020603050405020304" pitchFamily="18" charset="0"/>
                <a:sym typeface="Monotype Sorts" pitchFamily="2" charset="2"/>
              </a:rPr>
              <a:t>同时从</a:t>
            </a:r>
            <a:r>
              <a:rPr lang="en-US" altLang="zh-CN" b="1" dirty="0">
                <a:latin typeface="Times New Roman" panose="02020603050405020304" pitchFamily="18" charset="0"/>
                <a:sym typeface="Monotype Sorts" pitchFamily="2" charset="2"/>
              </a:rPr>
              <a:t>00</a:t>
            </a:r>
            <a:r>
              <a:rPr lang="zh-CN" altLang="en-US" b="1" dirty="0">
                <a:latin typeface="Times New Roman" panose="02020603050405020304" pitchFamily="18" charset="0"/>
                <a:sym typeface="Monotype Sorts" pitchFamily="2" charset="2"/>
              </a:rPr>
              <a:t>变成</a:t>
            </a:r>
            <a:r>
              <a:rPr lang="en-US" altLang="zh-CN" b="1" dirty="0">
                <a:latin typeface="Times New Roman" panose="02020603050405020304" pitchFamily="18" charset="0"/>
                <a:sym typeface="Monotype Sorts" pitchFamily="2" charset="2"/>
              </a:rPr>
              <a:t>11</a:t>
            </a:r>
            <a:r>
              <a:rPr lang="zh-CN" altLang="en-US" b="1" dirty="0">
                <a:latin typeface="Times New Roman" panose="02020603050405020304" pitchFamily="18" charset="0"/>
                <a:sym typeface="Monotype Sorts" pitchFamily="2" charset="2"/>
              </a:rPr>
              <a:t>时</a:t>
            </a:r>
            <a:r>
              <a:rPr lang="en-US" altLang="zh-CN" b="1" dirty="0">
                <a:latin typeface="Times New Roman" panose="02020603050405020304" pitchFamily="18" charset="0"/>
                <a:sym typeface="Monotype Sorts" pitchFamily="2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Monotype Sorts" pitchFamily="2" charset="2"/>
              </a:rPr>
              <a:t>输出端状态不定</a:t>
            </a:r>
            <a:endParaRPr lang="zh-CN" altLang="en-US" b="1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grpSp>
        <p:nvGrpSpPr>
          <p:cNvPr id="6" name="Group 18"/>
          <p:cNvGrpSpPr/>
          <p:nvPr/>
        </p:nvGrpSpPr>
        <p:grpSpPr>
          <a:xfrm>
            <a:off x="711200" y="871538"/>
            <a:ext cx="3663950" cy="2886075"/>
            <a:chOff x="448" y="549"/>
            <a:chExt cx="2308" cy="1818"/>
          </a:xfrm>
        </p:grpSpPr>
        <p:grpSp>
          <p:nvGrpSpPr>
            <p:cNvPr id="13373" name="Group 19"/>
            <p:cNvGrpSpPr/>
            <p:nvPr/>
          </p:nvGrpSpPr>
          <p:grpSpPr>
            <a:xfrm>
              <a:off x="448" y="549"/>
              <a:ext cx="2308" cy="1818"/>
              <a:chOff x="490" y="1636"/>
              <a:chExt cx="2308" cy="1818"/>
            </a:xfrm>
          </p:grpSpPr>
          <p:sp>
            <p:nvSpPr>
              <p:cNvPr id="13380" name="Rectangle 20"/>
              <p:cNvSpPr/>
              <p:nvPr/>
            </p:nvSpPr>
            <p:spPr>
              <a:xfrm>
                <a:off x="490" y="1636"/>
                <a:ext cx="2308" cy="1818"/>
              </a:xfrm>
              <a:prstGeom prst="rect">
                <a:avLst/>
              </a:prstGeom>
              <a:solidFill>
                <a:srgbClr val="CCFF66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381" name="Group 21"/>
              <p:cNvGrpSpPr/>
              <p:nvPr/>
            </p:nvGrpSpPr>
            <p:grpSpPr>
              <a:xfrm>
                <a:off x="872" y="1687"/>
                <a:ext cx="1844" cy="1696"/>
                <a:chOff x="872" y="1759"/>
                <a:chExt cx="1844" cy="1696"/>
              </a:xfrm>
            </p:grpSpPr>
            <p:grpSp>
              <p:nvGrpSpPr>
                <p:cNvPr id="13382" name="Group 22"/>
                <p:cNvGrpSpPr/>
                <p:nvPr/>
              </p:nvGrpSpPr>
              <p:grpSpPr>
                <a:xfrm>
                  <a:off x="941" y="2098"/>
                  <a:ext cx="399" cy="860"/>
                  <a:chOff x="941" y="2090"/>
                  <a:chExt cx="399" cy="860"/>
                </a:xfrm>
              </p:grpSpPr>
              <p:sp>
                <p:nvSpPr>
                  <p:cNvPr id="13405" name="Line 23"/>
                  <p:cNvSpPr/>
                  <p:nvPr/>
                </p:nvSpPr>
                <p:spPr>
                  <a:xfrm rot="-5400000">
                    <a:off x="1169" y="2824"/>
                    <a:ext cx="237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3406" name="Rectangle 24"/>
                  <p:cNvSpPr/>
                  <p:nvPr/>
                </p:nvSpPr>
                <p:spPr>
                  <a:xfrm rot="-5400000">
                    <a:off x="1004" y="2378"/>
                    <a:ext cx="272" cy="399"/>
                  </a:xfrm>
                  <a:prstGeom prst="rect">
                    <a:avLst/>
                  </a:prstGeom>
                  <a:solidFill>
                    <a:srgbClr val="66FFFF"/>
                  </a:solidFill>
                  <a:ln w="285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407" name="Oval 25"/>
                  <p:cNvSpPr/>
                  <p:nvPr/>
                </p:nvSpPr>
                <p:spPr>
                  <a:xfrm rot="-5400000">
                    <a:off x="1074" y="2332"/>
                    <a:ext cx="109" cy="109"/>
                  </a:xfrm>
                  <a:prstGeom prst="ellipse">
                    <a:avLst/>
                  </a:prstGeom>
                  <a:solidFill>
                    <a:srgbClr val="66FFFF"/>
                  </a:solidFill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408" name="Line 26"/>
                  <p:cNvSpPr/>
                  <p:nvPr/>
                </p:nvSpPr>
                <p:spPr>
                  <a:xfrm rot="-5400000">
                    <a:off x="881" y="2831"/>
                    <a:ext cx="237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3409" name="Line 27"/>
                  <p:cNvSpPr/>
                  <p:nvPr/>
                </p:nvSpPr>
                <p:spPr>
                  <a:xfrm rot="-5400000">
                    <a:off x="1008" y="2208"/>
                    <a:ext cx="237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3410" name="Text Box 28"/>
                  <p:cNvSpPr txBox="1"/>
                  <p:nvPr/>
                </p:nvSpPr>
                <p:spPr>
                  <a:xfrm>
                    <a:off x="997" y="2410"/>
                    <a:ext cx="292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&amp;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3383" name="Line 29"/>
                <p:cNvSpPr/>
                <p:nvPr/>
              </p:nvSpPr>
              <p:spPr>
                <a:xfrm>
                  <a:off x="1291" y="2944"/>
                  <a:ext cx="19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84" name="Line 30"/>
                <p:cNvSpPr/>
                <p:nvPr/>
              </p:nvSpPr>
              <p:spPr>
                <a:xfrm>
                  <a:off x="1127" y="2218"/>
                  <a:ext cx="32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85" name="Line 31"/>
                <p:cNvSpPr/>
                <p:nvPr/>
              </p:nvSpPr>
              <p:spPr>
                <a:xfrm rot="-5400000">
                  <a:off x="2225" y="2827"/>
                  <a:ext cx="23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86" name="Rectangle 32"/>
                <p:cNvSpPr/>
                <p:nvPr/>
              </p:nvSpPr>
              <p:spPr>
                <a:xfrm rot="-5400000">
                  <a:off x="2060" y="2381"/>
                  <a:ext cx="272" cy="399"/>
                </a:xfrm>
                <a:prstGeom prst="rect">
                  <a:avLst/>
                </a:prstGeom>
                <a:solidFill>
                  <a:srgbClr val="66FFFF"/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87" name="Oval 33"/>
                <p:cNvSpPr/>
                <p:nvPr/>
              </p:nvSpPr>
              <p:spPr>
                <a:xfrm rot="-5400000">
                  <a:off x="2130" y="2335"/>
                  <a:ext cx="109" cy="109"/>
                </a:xfrm>
                <a:prstGeom prst="ellipse">
                  <a:avLst/>
                </a:prstGeom>
                <a:solidFill>
                  <a:srgbClr val="66FFFF"/>
                </a:solidFill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88" name="Line 34"/>
                <p:cNvSpPr/>
                <p:nvPr/>
              </p:nvSpPr>
              <p:spPr>
                <a:xfrm rot="-5400000">
                  <a:off x="1937" y="2833"/>
                  <a:ext cx="23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89" name="Line 35"/>
                <p:cNvSpPr/>
                <p:nvPr/>
              </p:nvSpPr>
              <p:spPr>
                <a:xfrm rot="-5400000">
                  <a:off x="2064" y="2211"/>
                  <a:ext cx="23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90" name="Text Box 36"/>
                <p:cNvSpPr txBox="1"/>
                <p:nvPr/>
              </p:nvSpPr>
              <p:spPr>
                <a:xfrm>
                  <a:off x="2053" y="2413"/>
                  <a:ext cx="292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&amp;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91" name="Line 37"/>
                <p:cNvSpPr/>
                <p:nvPr/>
              </p:nvSpPr>
              <p:spPr>
                <a:xfrm flipV="1">
                  <a:off x="1859" y="2944"/>
                  <a:ext cx="209" cy="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92" name="Line 38"/>
                <p:cNvSpPr/>
                <p:nvPr/>
              </p:nvSpPr>
              <p:spPr>
                <a:xfrm>
                  <a:off x="1849" y="2214"/>
                  <a:ext cx="32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93" name="Line 39"/>
                <p:cNvSpPr/>
                <p:nvPr/>
              </p:nvSpPr>
              <p:spPr>
                <a:xfrm>
                  <a:off x="1436" y="2209"/>
                  <a:ext cx="435" cy="73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94" name="Line 40"/>
                <p:cNvSpPr/>
                <p:nvPr/>
              </p:nvSpPr>
              <p:spPr>
                <a:xfrm flipH="1">
                  <a:off x="1464" y="2211"/>
                  <a:ext cx="387" cy="74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95" name="Oval 41"/>
                <p:cNvSpPr/>
                <p:nvPr/>
              </p:nvSpPr>
              <p:spPr>
                <a:xfrm>
                  <a:off x="1107" y="2191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96" name="Oval 42"/>
                <p:cNvSpPr/>
                <p:nvPr/>
              </p:nvSpPr>
              <p:spPr>
                <a:xfrm>
                  <a:off x="2157" y="2195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97" name="Line 43"/>
                <p:cNvSpPr/>
                <p:nvPr/>
              </p:nvSpPr>
              <p:spPr>
                <a:xfrm>
                  <a:off x="1000" y="2927"/>
                  <a:ext cx="0" cy="237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98" name="Line 44"/>
                <p:cNvSpPr/>
                <p:nvPr/>
              </p:nvSpPr>
              <p:spPr>
                <a:xfrm>
                  <a:off x="2347" y="2896"/>
                  <a:ext cx="0" cy="26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99" name="Text Box 45"/>
                <p:cNvSpPr txBox="1"/>
                <p:nvPr/>
              </p:nvSpPr>
              <p:spPr>
                <a:xfrm>
                  <a:off x="872" y="3118"/>
                  <a:ext cx="491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R</a:t>
                  </a:r>
                  <a:r>
                    <a:rPr lang="en-US" altLang="zh-CN" b="1" baseline="-25000" dirty="0">
                      <a:latin typeface="Times New Roman" panose="02020603050405020304" pitchFamily="18" charset="0"/>
                    </a:rPr>
                    <a:t>D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400" name="Text Box 46"/>
                <p:cNvSpPr txBox="1"/>
                <p:nvPr/>
              </p:nvSpPr>
              <p:spPr>
                <a:xfrm>
                  <a:off x="2225" y="3128"/>
                  <a:ext cx="491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b="1" baseline="-25000" dirty="0">
                      <a:latin typeface="Times New Roman" panose="02020603050405020304" pitchFamily="18" charset="0"/>
                    </a:rPr>
                    <a:t>D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3401" name="Group 47"/>
                <p:cNvGrpSpPr/>
                <p:nvPr/>
              </p:nvGrpSpPr>
              <p:grpSpPr>
                <a:xfrm>
                  <a:off x="963" y="1791"/>
                  <a:ext cx="391" cy="327"/>
                  <a:chOff x="909" y="1836"/>
                  <a:chExt cx="391" cy="327"/>
                </a:xfrm>
              </p:grpSpPr>
              <p:sp>
                <p:nvSpPr>
                  <p:cNvPr id="13403" name="Text Box 48"/>
                  <p:cNvSpPr txBox="1"/>
                  <p:nvPr/>
                </p:nvSpPr>
                <p:spPr>
                  <a:xfrm>
                    <a:off x="909" y="1836"/>
                    <a:ext cx="391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Q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404" name="Line 49"/>
                  <p:cNvSpPr/>
                  <p:nvPr/>
                </p:nvSpPr>
                <p:spPr>
                  <a:xfrm>
                    <a:off x="945" y="1882"/>
                    <a:ext cx="246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3402" name="Text Box 50"/>
                <p:cNvSpPr txBox="1"/>
                <p:nvPr/>
              </p:nvSpPr>
              <p:spPr>
                <a:xfrm>
                  <a:off x="2013" y="1759"/>
                  <a:ext cx="391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3374" name="Text Box 51"/>
            <p:cNvSpPr txBox="1"/>
            <p:nvPr/>
          </p:nvSpPr>
          <p:spPr>
            <a:xfrm>
              <a:off x="667" y="1640"/>
              <a:ext cx="23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75" name="Rectangle 52"/>
            <p:cNvSpPr/>
            <p:nvPr/>
          </p:nvSpPr>
          <p:spPr>
            <a:xfrm>
              <a:off x="2318" y="1684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76" name="Text Box 53"/>
            <p:cNvSpPr txBox="1"/>
            <p:nvPr/>
          </p:nvSpPr>
          <p:spPr>
            <a:xfrm>
              <a:off x="790" y="893"/>
              <a:ext cx="28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77" name="Rectangle 54"/>
            <p:cNvSpPr/>
            <p:nvPr/>
          </p:nvSpPr>
          <p:spPr>
            <a:xfrm>
              <a:off x="1888" y="1717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78" name="Text Box 55"/>
            <p:cNvSpPr txBox="1"/>
            <p:nvPr/>
          </p:nvSpPr>
          <p:spPr>
            <a:xfrm>
              <a:off x="2235" y="889"/>
              <a:ext cx="23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79" name="Text Box 56"/>
            <p:cNvSpPr txBox="1"/>
            <p:nvPr/>
          </p:nvSpPr>
          <p:spPr>
            <a:xfrm>
              <a:off x="1155" y="1723"/>
              <a:ext cx="23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57"/>
          <p:cNvGrpSpPr/>
          <p:nvPr/>
        </p:nvGrpSpPr>
        <p:grpSpPr>
          <a:xfrm>
            <a:off x="996950" y="2624138"/>
            <a:ext cx="3109913" cy="519112"/>
            <a:chOff x="628" y="1653"/>
            <a:chExt cx="1959" cy="327"/>
          </a:xfrm>
        </p:grpSpPr>
        <p:sp>
          <p:nvSpPr>
            <p:cNvPr id="13371" name="Text Box 58"/>
            <p:cNvSpPr txBox="1"/>
            <p:nvPr/>
          </p:nvSpPr>
          <p:spPr>
            <a:xfrm>
              <a:off x="2332" y="1653"/>
              <a:ext cx="255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72" name="Text Box 59"/>
            <p:cNvSpPr txBox="1"/>
            <p:nvPr/>
          </p:nvSpPr>
          <p:spPr>
            <a:xfrm>
              <a:off x="628" y="1653"/>
              <a:ext cx="255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60"/>
          <p:cNvGrpSpPr/>
          <p:nvPr/>
        </p:nvGrpSpPr>
        <p:grpSpPr>
          <a:xfrm>
            <a:off x="730250" y="3862388"/>
            <a:ext cx="3663950" cy="2886075"/>
            <a:chOff x="544" y="2481"/>
            <a:chExt cx="2308" cy="1818"/>
          </a:xfrm>
        </p:grpSpPr>
        <p:sp>
          <p:nvSpPr>
            <p:cNvPr id="13330" name="Text Box 61"/>
            <p:cNvSpPr txBox="1"/>
            <p:nvPr/>
          </p:nvSpPr>
          <p:spPr>
            <a:xfrm>
              <a:off x="2418" y="2955"/>
              <a:ext cx="2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endParaRPr lang="zh-CN" altLang="zh-CN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3331" name="Group 62"/>
            <p:cNvGrpSpPr/>
            <p:nvPr/>
          </p:nvGrpSpPr>
          <p:grpSpPr>
            <a:xfrm>
              <a:off x="544" y="2481"/>
              <a:ext cx="2308" cy="1818"/>
              <a:chOff x="490" y="1636"/>
              <a:chExt cx="2308" cy="1818"/>
            </a:xfrm>
          </p:grpSpPr>
          <p:sp>
            <p:nvSpPr>
              <p:cNvPr id="13340" name="Rectangle 63"/>
              <p:cNvSpPr/>
              <p:nvPr/>
            </p:nvSpPr>
            <p:spPr>
              <a:xfrm>
                <a:off x="490" y="1636"/>
                <a:ext cx="2308" cy="1818"/>
              </a:xfrm>
              <a:prstGeom prst="rect">
                <a:avLst/>
              </a:prstGeom>
              <a:solidFill>
                <a:srgbClr val="CCFF66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341" name="Group 64"/>
              <p:cNvGrpSpPr/>
              <p:nvPr/>
            </p:nvGrpSpPr>
            <p:grpSpPr>
              <a:xfrm>
                <a:off x="872" y="1687"/>
                <a:ext cx="1844" cy="1696"/>
                <a:chOff x="872" y="1759"/>
                <a:chExt cx="1844" cy="1696"/>
              </a:xfrm>
            </p:grpSpPr>
            <p:grpSp>
              <p:nvGrpSpPr>
                <p:cNvPr id="13342" name="Group 65"/>
                <p:cNvGrpSpPr/>
                <p:nvPr/>
              </p:nvGrpSpPr>
              <p:grpSpPr>
                <a:xfrm>
                  <a:off x="941" y="2098"/>
                  <a:ext cx="399" cy="860"/>
                  <a:chOff x="941" y="2090"/>
                  <a:chExt cx="399" cy="860"/>
                </a:xfrm>
              </p:grpSpPr>
              <p:sp>
                <p:nvSpPr>
                  <p:cNvPr id="13365" name="Line 66"/>
                  <p:cNvSpPr/>
                  <p:nvPr/>
                </p:nvSpPr>
                <p:spPr>
                  <a:xfrm rot="-5400000">
                    <a:off x="1169" y="2824"/>
                    <a:ext cx="237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3366" name="Rectangle 67"/>
                  <p:cNvSpPr/>
                  <p:nvPr/>
                </p:nvSpPr>
                <p:spPr>
                  <a:xfrm rot="-5400000">
                    <a:off x="1004" y="2378"/>
                    <a:ext cx="272" cy="399"/>
                  </a:xfrm>
                  <a:prstGeom prst="rect">
                    <a:avLst/>
                  </a:prstGeom>
                  <a:solidFill>
                    <a:srgbClr val="66FFFF"/>
                  </a:solidFill>
                  <a:ln w="285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67" name="Oval 68"/>
                  <p:cNvSpPr/>
                  <p:nvPr/>
                </p:nvSpPr>
                <p:spPr>
                  <a:xfrm rot="-5400000">
                    <a:off x="1074" y="2332"/>
                    <a:ext cx="109" cy="109"/>
                  </a:xfrm>
                  <a:prstGeom prst="ellipse">
                    <a:avLst/>
                  </a:prstGeom>
                  <a:solidFill>
                    <a:srgbClr val="66FFFF"/>
                  </a:solidFill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68" name="Line 69"/>
                  <p:cNvSpPr/>
                  <p:nvPr/>
                </p:nvSpPr>
                <p:spPr>
                  <a:xfrm rot="-5400000">
                    <a:off x="881" y="2831"/>
                    <a:ext cx="237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3369" name="Line 70"/>
                  <p:cNvSpPr/>
                  <p:nvPr/>
                </p:nvSpPr>
                <p:spPr>
                  <a:xfrm rot="-5400000">
                    <a:off x="1008" y="2208"/>
                    <a:ext cx="237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3370" name="Text Box 71"/>
                  <p:cNvSpPr txBox="1"/>
                  <p:nvPr/>
                </p:nvSpPr>
                <p:spPr>
                  <a:xfrm>
                    <a:off x="997" y="2410"/>
                    <a:ext cx="292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&amp;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3343" name="Line 72"/>
                <p:cNvSpPr/>
                <p:nvPr/>
              </p:nvSpPr>
              <p:spPr>
                <a:xfrm>
                  <a:off x="1291" y="2944"/>
                  <a:ext cx="19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44" name="Line 73"/>
                <p:cNvSpPr/>
                <p:nvPr/>
              </p:nvSpPr>
              <p:spPr>
                <a:xfrm>
                  <a:off x="1127" y="2218"/>
                  <a:ext cx="32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45" name="Line 74"/>
                <p:cNvSpPr/>
                <p:nvPr/>
              </p:nvSpPr>
              <p:spPr>
                <a:xfrm rot="-5400000">
                  <a:off x="2225" y="2827"/>
                  <a:ext cx="23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46" name="Rectangle 75"/>
                <p:cNvSpPr/>
                <p:nvPr/>
              </p:nvSpPr>
              <p:spPr>
                <a:xfrm rot="-5400000">
                  <a:off x="2060" y="2381"/>
                  <a:ext cx="272" cy="399"/>
                </a:xfrm>
                <a:prstGeom prst="rect">
                  <a:avLst/>
                </a:prstGeom>
                <a:solidFill>
                  <a:srgbClr val="66FFFF"/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47" name="Oval 76"/>
                <p:cNvSpPr/>
                <p:nvPr/>
              </p:nvSpPr>
              <p:spPr>
                <a:xfrm rot="-5400000">
                  <a:off x="2130" y="2335"/>
                  <a:ext cx="109" cy="109"/>
                </a:xfrm>
                <a:prstGeom prst="ellipse">
                  <a:avLst/>
                </a:prstGeom>
                <a:solidFill>
                  <a:srgbClr val="66FFFF"/>
                </a:solidFill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48" name="Line 77"/>
                <p:cNvSpPr/>
                <p:nvPr/>
              </p:nvSpPr>
              <p:spPr>
                <a:xfrm rot="-5400000">
                  <a:off x="1937" y="2833"/>
                  <a:ext cx="23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49" name="Line 78"/>
                <p:cNvSpPr/>
                <p:nvPr/>
              </p:nvSpPr>
              <p:spPr>
                <a:xfrm rot="-5400000">
                  <a:off x="2064" y="2211"/>
                  <a:ext cx="23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50" name="Text Box 79"/>
                <p:cNvSpPr txBox="1"/>
                <p:nvPr/>
              </p:nvSpPr>
              <p:spPr>
                <a:xfrm>
                  <a:off x="2053" y="2413"/>
                  <a:ext cx="292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&amp;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51" name="Line 80"/>
                <p:cNvSpPr/>
                <p:nvPr/>
              </p:nvSpPr>
              <p:spPr>
                <a:xfrm flipV="1">
                  <a:off x="1859" y="2944"/>
                  <a:ext cx="209" cy="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52" name="Line 81"/>
                <p:cNvSpPr/>
                <p:nvPr/>
              </p:nvSpPr>
              <p:spPr>
                <a:xfrm>
                  <a:off x="1849" y="2214"/>
                  <a:ext cx="32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53" name="Line 82"/>
                <p:cNvSpPr/>
                <p:nvPr/>
              </p:nvSpPr>
              <p:spPr>
                <a:xfrm>
                  <a:off x="1436" y="2209"/>
                  <a:ext cx="435" cy="73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54" name="Line 83"/>
                <p:cNvSpPr/>
                <p:nvPr/>
              </p:nvSpPr>
              <p:spPr>
                <a:xfrm flipH="1">
                  <a:off x="1464" y="2211"/>
                  <a:ext cx="387" cy="74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55" name="Oval 84"/>
                <p:cNvSpPr/>
                <p:nvPr/>
              </p:nvSpPr>
              <p:spPr>
                <a:xfrm>
                  <a:off x="1107" y="2191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56" name="Oval 85"/>
                <p:cNvSpPr/>
                <p:nvPr/>
              </p:nvSpPr>
              <p:spPr>
                <a:xfrm>
                  <a:off x="2157" y="2195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57" name="Line 86"/>
                <p:cNvSpPr/>
                <p:nvPr/>
              </p:nvSpPr>
              <p:spPr>
                <a:xfrm>
                  <a:off x="1000" y="2927"/>
                  <a:ext cx="0" cy="237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58" name="Line 87"/>
                <p:cNvSpPr/>
                <p:nvPr/>
              </p:nvSpPr>
              <p:spPr>
                <a:xfrm>
                  <a:off x="2347" y="2896"/>
                  <a:ext cx="0" cy="26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59" name="Text Box 88"/>
                <p:cNvSpPr txBox="1"/>
                <p:nvPr/>
              </p:nvSpPr>
              <p:spPr>
                <a:xfrm>
                  <a:off x="872" y="3118"/>
                  <a:ext cx="491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R</a:t>
                  </a:r>
                  <a:r>
                    <a:rPr lang="en-US" altLang="zh-CN" b="1" baseline="-25000" dirty="0">
                      <a:latin typeface="Times New Roman" panose="02020603050405020304" pitchFamily="18" charset="0"/>
                    </a:rPr>
                    <a:t>D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60" name="Text Box 89"/>
                <p:cNvSpPr txBox="1"/>
                <p:nvPr/>
              </p:nvSpPr>
              <p:spPr>
                <a:xfrm>
                  <a:off x="2225" y="3128"/>
                  <a:ext cx="491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b="1" baseline="-25000" dirty="0">
                      <a:latin typeface="Times New Roman" panose="02020603050405020304" pitchFamily="18" charset="0"/>
                    </a:rPr>
                    <a:t>D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3361" name="Group 90"/>
                <p:cNvGrpSpPr/>
                <p:nvPr/>
              </p:nvGrpSpPr>
              <p:grpSpPr>
                <a:xfrm>
                  <a:off x="963" y="1791"/>
                  <a:ext cx="391" cy="327"/>
                  <a:chOff x="909" y="1836"/>
                  <a:chExt cx="391" cy="327"/>
                </a:xfrm>
              </p:grpSpPr>
              <p:sp>
                <p:nvSpPr>
                  <p:cNvPr id="13363" name="Text Box 91"/>
                  <p:cNvSpPr txBox="1"/>
                  <p:nvPr/>
                </p:nvSpPr>
                <p:spPr>
                  <a:xfrm>
                    <a:off x="909" y="1836"/>
                    <a:ext cx="391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Q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64" name="Line 92"/>
                  <p:cNvSpPr/>
                  <p:nvPr/>
                </p:nvSpPr>
                <p:spPr>
                  <a:xfrm>
                    <a:off x="945" y="1882"/>
                    <a:ext cx="246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3362" name="Text Box 93"/>
                <p:cNvSpPr txBox="1"/>
                <p:nvPr/>
              </p:nvSpPr>
              <p:spPr>
                <a:xfrm>
                  <a:off x="2013" y="1759"/>
                  <a:ext cx="391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3332" name="Text Box 94"/>
            <p:cNvSpPr txBox="1"/>
            <p:nvPr/>
          </p:nvSpPr>
          <p:spPr>
            <a:xfrm>
              <a:off x="763" y="3572"/>
              <a:ext cx="23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33" name="Rectangle 95"/>
            <p:cNvSpPr/>
            <p:nvPr/>
          </p:nvSpPr>
          <p:spPr>
            <a:xfrm>
              <a:off x="2414" y="3616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34" name="Text Box 96"/>
            <p:cNvSpPr txBox="1"/>
            <p:nvPr/>
          </p:nvSpPr>
          <p:spPr>
            <a:xfrm>
              <a:off x="886" y="2825"/>
              <a:ext cx="28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35" name="Rectangle 97"/>
            <p:cNvSpPr/>
            <p:nvPr/>
          </p:nvSpPr>
          <p:spPr>
            <a:xfrm>
              <a:off x="1996" y="368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36" name="Text Box 98"/>
            <p:cNvSpPr txBox="1"/>
            <p:nvPr/>
          </p:nvSpPr>
          <p:spPr>
            <a:xfrm>
              <a:off x="2331" y="2821"/>
              <a:ext cx="23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37" name="Text Box 99"/>
            <p:cNvSpPr txBox="1"/>
            <p:nvPr/>
          </p:nvSpPr>
          <p:spPr>
            <a:xfrm>
              <a:off x="1251" y="3655"/>
              <a:ext cx="23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38" name="Text Box 100"/>
            <p:cNvSpPr txBox="1"/>
            <p:nvPr/>
          </p:nvSpPr>
          <p:spPr>
            <a:xfrm>
              <a:off x="760" y="3573"/>
              <a:ext cx="255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39" name="Text Box 101"/>
            <p:cNvSpPr txBox="1"/>
            <p:nvPr/>
          </p:nvSpPr>
          <p:spPr>
            <a:xfrm>
              <a:off x="2428" y="3633"/>
              <a:ext cx="255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7302" name="Text Box 102"/>
          <p:cNvSpPr txBox="1"/>
          <p:nvPr/>
        </p:nvSpPr>
        <p:spPr>
          <a:xfrm>
            <a:off x="3541713" y="1416050"/>
            <a:ext cx="3429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03" name="Text Box 103"/>
          <p:cNvSpPr txBox="1"/>
          <p:nvPr/>
        </p:nvSpPr>
        <p:spPr>
          <a:xfrm>
            <a:off x="1865313" y="2882900"/>
            <a:ext cx="3429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04" name="Text Box 104"/>
          <p:cNvSpPr txBox="1"/>
          <p:nvPr/>
        </p:nvSpPr>
        <p:spPr>
          <a:xfrm>
            <a:off x="1255713" y="4425950"/>
            <a:ext cx="3429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05" name="Text Box 105"/>
          <p:cNvSpPr txBox="1"/>
          <p:nvPr/>
        </p:nvSpPr>
        <p:spPr>
          <a:xfrm>
            <a:off x="3046413" y="5911850"/>
            <a:ext cx="3429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7" name="Group 106"/>
          <p:cNvGrpSpPr/>
          <p:nvPr/>
        </p:nvGrpSpPr>
        <p:grpSpPr>
          <a:xfrm>
            <a:off x="4987925" y="741363"/>
            <a:ext cx="3532188" cy="1189037"/>
            <a:chOff x="3199" y="3419"/>
            <a:chExt cx="2225" cy="749"/>
          </a:xfrm>
        </p:grpSpPr>
        <p:sp>
          <p:nvSpPr>
            <p:cNvPr id="13328" name="Text Box 107"/>
            <p:cNvSpPr txBox="1"/>
            <p:nvPr/>
          </p:nvSpPr>
          <p:spPr>
            <a:xfrm>
              <a:off x="3199" y="3419"/>
              <a:ext cx="2225" cy="749"/>
            </a:xfrm>
            <a:prstGeom prst="rect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即</a:t>
              </a:r>
              <a:r>
                <a:rPr lang="en-US" altLang="zh-CN" b="1" dirty="0">
                  <a:latin typeface="Times New Roman" panose="02020603050405020304" pitchFamily="18" charset="0"/>
                </a:rPr>
                <a:t>Q</a:t>
              </a:r>
              <a:r>
                <a:rPr lang="zh-CN" altLang="en-US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b="1" dirty="0">
                  <a:latin typeface="Times New Roman" panose="02020603050405020304" pitchFamily="18" charset="0"/>
                </a:rPr>
                <a:t>Q</a:t>
              </a:r>
              <a:r>
                <a:rPr lang="zh-CN" altLang="en-US" b="1" dirty="0">
                  <a:latin typeface="Times New Roman" panose="02020603050405020304" pitchFamily="18" charset="0"/>
                </a:rPr>
                <a:t>也可能是</a:t>
              </a:r>
              <a:r>
                <a:rPr lang="en-US" altLang="zh-CN" b="1" dirty="0">
                  <a:latin typeface="Times New Roman" panose="02020603050405020304" pitchFamily="18" charset="0"/>
                </a:rPr>
                <a:t>01,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也可能是</a:t>
              </a:r>
              <a:r>
                <a:rPr lang="en-US" altLang="zh-CN" b="1" dirty="0">
                  <a:latin typeface="Times New Roman" panose="02020603050405020304" pitchFamily="18" charset="0"/>
                </a:rPr>
                <a:t>10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29" name="Line 108"/>
            <p:cNvSpPr/>
            <p:nvPr/>
          </p:nvSpPr>
          <p:spPr>
            <a:xfrm>
              <a:off x="3513" y="3480"/>
              <a:ext cx="133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8" name="Group 109"/>
          <p:cNvGrpSpPr/>
          <p:nvPr/>
        </p:nvGrpSpPr>
        <p:grpSpPr>
          <a:xfrm>
            <a:off x="4805363" y="476250"/>
            <a:ext cx="3886200" cy="1466850"/>
            <a:chOff x="-1464" y="2052"/>
            <a:chExt cx="1764" cy="1032"/>
          </a:xfrm>
        </p:grpSpPr>
        <p:sp>
          <p:nvSpPr>
            <p:cNvPr id="13326" name="Rectangle 110"/>
            <p:cNvSpPr/>
            <p:nvPr/>
          </p:nvSpPr>
          <p:spPr>
            <a:xfrm>
              <a:off x="-1464" y="2052"/>
              <a:ext cx="1764" cy="1032"/>
            </a:xfrm>
            <a:prstGeom prst="rect">
              <a:avLst/>
            </a:prstGeom>
            <a:solidFill>
              <a:srgbClr val="FFFFFF"/>
            </a:solidFill>
            <a:ln w="57150" cap="flat" cmpd="sng">
              <a:solidFill>
                <a:srgbClr val="FF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327" name="Text Box 111"/>
            <p:cNvSpPr txBox="1"/>
            <p:nvPr/>
          </p:nvSpPr>
          <p:spPr>
            <a:xfrm>
              <a:off x="-1360" y="2160"/>
              <a:ext cx="1543" cy="817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设计电路时此种情况</a:t>
              </a:r>
              <a:endParaRPr lang="zh-CN" altLang="en-US" b="1" dirty="0"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应避免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0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16" grpId="0" animBg="1"/>
      <p:bldP spid="307302" grpId="0" animBg="1"/>
      <p:bldP spid="307303" grpId="0" animBg="1"/>
      <p:bldP spid="307304" grpId="0" animBg="1"/>
      <p:bldP spid="30730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ext Box 2"/>
          <p:cNvSpPr txBox="1"/>
          <p:nvPr/>
        </p:nvSpPr>
        <p:spPr>
          <a:xfrm>
            <a:off x="1093788" y="771525"/>
            <a:ext cx="6897687" cy="1203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669925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基本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触发器的输入与状态之间的逻辑关系可用触发器的功能表来描述。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322388" y="3170238"/>
            <a:ext cx="6245225" cy="2928937"/>
            <a:chOff x="833" y="1667"/>
            <a:chExt cx="3934" cy="1845"/>
          </a:xfrm>
        </p:grpSpPr>
        <p:sp>
          <p:nvSpPr>
            <p:cNvPr id="14341" name="Line 3"/>
            <p:cNvSpPr/>
            <p:nvPr/>
          </p:nvSpPr>
          <p:spPr>
            <a:xfrm>
              <a:off x="833" y="1678"/>
              <a:ext cx="3934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2" name="Line 4"/>
            <p:cNvSpPr/>
            <p:nvPr/>
          </p:nvSpPr>
          <p:spPr>
            <a:xfrm>
              <a:off x="833" y="2134"/>
              <a:ext cx="3934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3" name="Line 5"/>
            <p:cNvSpPr/>
            <p:nvPr/>
          </p:nvSpPr>
          <p:spPr>
            <a:xfrm>
              <a:off x="833" y="3512"/>
              <a:ext cx="3934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4" name="Line 6"/>
            <p:cNvSpPr/>
            <p:nvPr/>
          </p:nvSpPr>
          <p:spPr>
            <a:xfrm>
              <a:off x="2121" y="1667"/>
              <a:ext cx="0" cy="1833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5" name="Line 7"/>
            <p:cNvSpPr/>
            <p:nvPr/>
          </p:nvSpPr>
          <p:spPr>
            <a:xfrm>
              <a:off x="3377" y="1667"/>
              <a:ext cx="0" cy="1833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6" name="Text Box 8"/>
            <p:cNvSpPr txBox="1"/>
            <p:nvPr/>
          </p:nvSpPr>
          <p:spPr>
            <a:xfrm>
              <a:off x="1064" y="1777"/>
              <a:ext cx="7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R      S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4347" name="Text Box 9"/>
            <p:cNvSpPr txBox="1"/>
            <p:nvPr/>
          </p:nvSpPr>
          <p:spPr>
            <a:xfrm>
              <a:off x="2498" y="1777"/>
              <a:ext cx="61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4348" name="Text Box 10"/>
            <p:cNvSpPr txBox="1"/>
            <p:nvPr/>
          </p:nvSpPr>
          <p:spPr>
            <a:xfrm>
              <a:off x="3520" y="1762"/>
              <a:ext cx="10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功能说明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4349" name="Text Box 11"/>
            <p:cNvSpPr txBox="1"/>
            <p:nvPr/>
          </p:nvSpPr>
          <p:spPr>
            <a:xfrm>
              <a:off x="1053" y="2137"/>
              <a:ext cx="732" cy="13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0       0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0       1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1       0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1       1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4350" name="Text Box 12"/>
            <p:cNvSpPr txBox="1"/>
            <p:nvPr/>
          </p:nvSpPr>
          <p:spPr>
            <a:xfrm>
              <a:off x="2620" y="2137"/>
              <a:ext cx="284" cy="13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d 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 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4351" name="Text Box 13"/>
            <p:cNvSpPr txBox="1"/>
            <p:nvPr/>
          </p:nvSpPr>
          <p:spPr>
            <a:xfrm>
              <a:off x="3654" y="2138"/>
              <a:ext cx="564" cy="13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不定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置  </a:t>
              </a: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置  </a:t>
              </a: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不变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1518" name="Text Box 14"/>
          <p:cNvSpPr txBox="1"/>
          <p:nvPr/>
        </p:nvSpPr>
        <p:spPr>
          <a:xfrm>
            <a:off x="2641600" y="2657475"/>
            <a:ext cx="3819525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基本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触发器功能表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1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2"/>
          <p:cNvSpPr txBox="1"/>
          <p:nvPr/>
        </p:nvSpPr>
        <p:spPr>
          <a:xfrm>
            <a:off x="989013" y="808038"/>
            <a:ext cx="5202237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基本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触发器的次态方程为：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782888" y="1406525"/>
            <a:ext cx="2479675" cy="519113"/>
            <a:chOff x="1753" y="1399"/>
            <a:chExt cx="1562" cy="327"/>
          </a:xfrm>
        </p:grpSpPr>
        <p:sp>
          <p:nvSpPr>
            <p:cNvPr id="15393" name="Text Box 3"/>
            <p:cNvSpPr txBox="1"/>
            <p:nvPr/>
          </p:nvSpPr>
          <p:spPr>
            <a:xfrm>
              <a:off x="1753" y="1399"/>
              <a:ext cx="156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</a:t>
              </a:r>
              <a:r>
                <a:rPr lang="zh-CN" altLang="en-US" dirty="0">
                  <a:latin typeface="Times New Roman" panose="02020603050405020304" pitchFamily="18" charset="0"/>
                </a:rPr>
                <a:t>＝</a:t>
              </a:r>
              <a:r>
                <a:rPr lang="en-US" altLang="zh-CN" i="1" dirty="0">
                  <a:latin typeface="Times New Roman" panose="02020603050405020304" pitchFamily="18" charset="0"/>
                </a:rPr>
                <a:t>S</a:t>
              </a:r>
              <a:r>
                <a:rPr lang="zh-CN" altLang="en-US" dirty="0">
                  <a:latin typeface="Times New Roman" panose="02020603050405020304" pitchFamily="18" charset="0"/>
                </a:rPr>
                <a:t>＋</a:t>
              </a:r>
              <a:r>
                <a:rPr lang="en-US" altLang="zh-CN" i="1" dirty="0">
                  <a:latin typeface="Times New Roman" panose="02020603050405020304" pitchFamily="18" charset="0"/>
                </a:rPr>
                <a:t>RQ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94" name="Line 4"/>
            <p:cNvSpPr/>
            <p:nvPr/>
          </p:nvSpPr>
          <p:spPr>
            <a:xfrm>
              <a:off x="2500" y="1422"/>
              <a:ext cx="17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2534" name="Text Box 6"/>
          <p:cNvSpPr txBox="1"/>
          <p:nvPr/>
        </p:nvSpPr>
        <p:spPr>
          <a:xfrm>
            <a:off x="989013" y="2006600"/>
            <a:ext cx="2673350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其约束条件为：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35" name="Text Box 7"/>
          <p:cNvSpPr txBox="1"/>
          <p:nvPr/>
        </p:nvSpPr>
        <p:spPr>
          <a:xfrm>
            <a:off x="2782888" y="2606675"/>
            <a:ext cx="1157287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2536" name="Text Box 8"/>
          <p:cNvSpPr txBox="1"/>
          <p:nvPr/>
        </p:nvSpPr>
        <p:spPr>
          <a:xfrm>
            <a:off x="989013" y="3136900"/>
            <a:ext cx="7637462" cy="21431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669925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基本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触发器的一个重要特性：如果连续出现多个置0或置1信号，只有第一个置0或置1信号起作用。利用这一特性可消除机械开关的触点抖动。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37" name="Text Box 9"/>
          <p:cNvSpPr txBox="1"/>
          <p:nvPr/>
        </p:nvSpPr>
        <p:spPr>
          <a:xfrm>
            <a:off x="1638300" y="5430838"/>
            <a:ext cx="6242050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基本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触发器也可由"或非"门组成。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68" name="AutoShape 34" descr="羊皮纸"/>
          <p:cNvSpPr/>
          <p:nvPr/>
        </p:nvSpPr>
        <p:spPr>
          <a:xfrm>
            <a:off x="4572000" y="2303463"/>
            <a:ext cx="76200" cy="914400"/>
          </a:xfrm>
          <a:prstGeom prst="rightBracket">
            <a:avLst>
              <a:gd name="adj" fmla="val 100000"/>
            </a:avLst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" name="Group 39"/>
          <p:cNvGrpSpPr/>
          <p:nvPr/>
        </p:nvGrpSpPr>
        <p:grpSpPr>
          <a:xfrm>
            <a:off x="5953125" y="623888"/>
            <a:ext cx="2654300" cy="2490787"/>
            <a:chOff x="3816" y="293"/>
            <a:chExt cx="1672" cy="1569"/>
          </a:xfrm>
        </p:grpSpPr>
        <p:sp>
          <p:nvSpPr>
            <p:cNvPr id="15370" name="AutoShape 40"/>
            <p:cNvSpPr/>
            <p:nvPr/>
          </p:nvSpPr>
          <p:spPr>
            <a:xfrm flipH="1">
              <a:off x="5118" y="819"/>
              <a:ext cx="306" cy="594"/>
            </a:xfrm>
            <a:prstGeom prst="flowChartDelay">
              <a:avLst/>
            </a:prstGeom>
            <a:solidFill>
              <a:srgbClr val="CCFFFF"/>
            </a:solidFill>
            <a:ln w="1905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371" name="AutoShape 41"/>
            <p:cNvSpPr/>
            <p:nvPr/>
          </p:nvSpPr>
          <p:spPr>
            <a:xfrm>
              <a:off x="4135" y="811"/>
              <a:ext cx="306" cy="594"/>
            </a:xfrm>
            <a:prstGeom prst="flowChartDelay">
              <a:avLst/>
            </a:prstGeom>
            <a:solidFill>
              <a:srgbClr val="CCFFFF"/>
            </a:solidFill>
            <a:ln w="1905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372" name="Oval 42"/>
            <p:cNvSpPr/>
            <p:nvPr/>
          </p:nvSpPr>
          <p:spPr>
            <a:xfrm>
              <a:off x="4827" y="1160"/>
              <a:ext cx="601" cy="256"/>
            </a:xfrm>
            <a:prstGeom prst="ellipse">
              <a:avLst/>
            </a:prstGeom>
            <a:solidFill>
              <a:srgbClr val="CCFFFF">
                <a:alpha val="50195"/>
              </a:srgbClr>
            </a:solidFill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373" name="Rectangle 43"/>
            <p:cNvSpPr/>
            <p:nvPr/>
          </p:nvSpPr>
          <p:spPr>
            <a:xfrm>
              <a:off x="4516" y="110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74" name="Rectangle 44"/>
            <p:cNvSpPr/>
            <p:nvPr/>
          </p:nvSpPr>
          <p:spPr>
            <a:xfrm>
              <a:off x="4138" y="750"/>
              <a:ext cx="1281" cy="700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375" name="Line 45"/>
            <p:cNvSpPr/>
            <p:nvPr/>
          </p:nvSpPr>
          <p:spPr>
            <a:xfrm flipH="1" flipV="1">
              <a:off x="3909" y="506"/>
              <a:ext cx="244" cy="2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6" name="Line 46"/>
            <p:cNvSpPr/>
            <p:nvPr/>
          </p:nvSpPr>
          <p:spPr>
            <a:xfrm>
              <a:off x="4152" y="1106"/>
              <a:ext cx="127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7" name="Line 47"/>
            <p:cNvSpPr/>
            <p:nvPr/>
          </p:nvSpPr>
          <p:spPr>
            <a:xfrm>
              <a:off x="4476" y="751"/>
              <a:ext cx="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8" name="Text Box 48"/>
            <p:cNvSpPr txBox="1"/>
            <p:nvPr/>
          </p:nvSpPr>
          <p:spPr>
            <a:xfrm>
              <a:off x="4140" y="449"/>
              <a:ext cx="13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defTabSz="914400">
                <a:tabLst>
                  <a:tab pos="758825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00  01  11  10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79" name="Text Box 49"/>
            <p:cNvSpPr txBox="1"/>
            <p:nvPr/>
          </p:nvSpPr>
          <p:spPr>
            <a:xfrm>
              <a:off x="3885" y="782"/>
              <a:ext cx="184" cy="6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defTabSz="914400">
                <a:lnSpc>
                  <a:spcPct val="110000"/>
                </a:lnSpc>
                <a:tabLst>
                  <a:tab pos="758825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80" name="Text Box 50"/>
            <p:cNvSpPr txBox="1"/>
            <p:nvPr/>
          </p:nvSpPr>
          <p:spPr>
            <a:xfrm>
              <a:off x="3895" y="293"/>
              <a:ext cx="3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RS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81" name="Text Box 51"/>
            <p:cNvSpPr txBox="1"/>
            <p:nvPr/>
          </p:nvSpPr>
          <p:spPr>
            <a:xfrm>
              <a:off x="3816" y="493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82" name="Line 52"/>
            <p:cNvSpPr/>
            <p:nvPr/>
          </p:nvSpPr>
          <p:spPr>
            <a:xfrm>
              <a:off x="4788" y="751"/>
              <a:ext cx="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3" name="Line 53"/>
            <p:cNvSpPr/>
            <p:nvPr/>
          </p:nvSpPr>
          <p:spPr>
            <a:xfrm>
              <a:off x="5121" y="762"/>
              <a:ext cx="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4" name="Text Box 54"/>
            <p:cNvSpPr txBox="1"/>
            <p:nvPr/>
          </p:nvSpPr>
          <p:spPr>
            <a:xfrm>
              <a:off x="4849" y="737"/>
              <a:ext cx="254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85" name="Text Box 55"/>
            <p:cNvSpPr txBox="1"/>
            <p:nvPr/>
          </p:nvSpPr>
          <p:spPr>
            <a:xfrm>
              <a:off x="4440" y="1535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1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="1" i="1" baseline="30000" dirty="0">
                  <a:latin typeface="Times New Roman" panose="02020603050405020304" pitchFamily="18" charset="0"/>
                </a:rPr>
                <a:t>(n+1)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386" name="Text Box 56" descr="羊皮纸"/>
            <p:cNvSpPr txBox="1"/>
            <p:nvPr/>
          </p:nvSpPr>
          <p:spPr>
            <a:xfrm>
              <a:off x="4196" y="762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87" name="Text Box 57" descr="羊皮纸"/>
            <p:cNvSpPr txBox="1"/>
            <p:nvPr/>
          </p:nvSpPr>
          <p:spPr>
            <a:xfrm>
              <a:off x="4196" y="1105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88" name="Text Box 58" descr="羊皮纸"/>
            <p:cNvSpPr txBox="1"/>
            <p:nvPr/>
          </p:nvSpPr>
          <p:spPr>
            <a:xfrm>
              <a:off x="4518" y="773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89" name="Text Box 59" descr="羊皮纸"/>
            <p:cNvSpPr txBox="1"/>
            <p:nvPr/>
          </p:nvSpPr>
          <p:spPr>
            <a:xfrm>
              <a:off x="5138" y="704"/>
              <a:ext cx="11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90" name="Text Box 60" descr="羊皮纸"/>
            <p:cNvSpPr txBox="1"/>
            <p:nvPr/>
          </p:nvSpPr>
          <p:spPr>
            <a:xfrm>
              <a:off x="5160" y="773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91" name="Text Box 61" descr="羊皮纸"/>
            <p:cNvSpPr txBox="1"/>
            <p:nvPr/>
          </p:nvSpPr>
          <p:spPr>
            <a:xfrm>
              <a:off x="5160" y="1105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92" name="Text Box 62" descr="羊皮纸"/>
            <p:cNvSpPr txBox="1"/>
            <p:nvPr/>
          </p:nvSpPr>
          <p:spPr>
            <a:xfrm>
              <a:off x="4850" y="1105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6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7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build="p"/>
      <p:bldP spid="22535" grpId="0" build="p"/>
      <p:bldP spid="22536" grpId="0" build="p"/>
      <p:bldP spid="2253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85825" y="3560763"/>
          <a:ext cx="6680200" cy="2851150"/>
        </p:xfrm>
        <a:graphic>
          <a:graphicData uri="http://schemas.openxmlformats.org/drawingml/2006/table">
            <a:tbl>
              <a:tblPr/>
              <a:tblGrid>
                <a:gridCol w="1651617"/>
                <a:gridCol w="1297699"/>
                <a:gridCol w="1312446"/>
                <a:gridCol w="2418438"/>
              </a:tblGrid>
              <a:tr h="35067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RD   </a:t>
                      </a:r>
                      <a:r>
                        <a:rPr lang="en-US" altLang="zh-CN" sz="1800" dirty="0" smtClean="0"/>
                        <a:t>SD</a:t>
                      </a:r>
                      <a:endParaRPr lang="en-US" sz="1800" dirty="0"/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Qn</a:t>
                      </a:r>
                      <a:endParaRPr lang="en-US" sz="1800" dirty="0"/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Qn+1</a:t>
                      </a:r>
                      <a:endParaRPr lang="en-US" sz="1800" dirty="0"/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说 明</a:t>
                      </a:r>
                      <a:endParaRPr lang="zh-CN" altLang="en-US" sz="1800"/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251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effectLst/>
                        </a:rPr>
                        <a:t>0    </a:t>
                      </a:r>
                      <a:r>
                        <a:rPr lang="en-US" altLang="zh-CN" sz="1800" dirty="0">
                          <a:effectLst/>
                        </a:rPr>
                        <a:t>0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en-US" altLang="zh-CN" sz="1800" dirty="0"/>
                    </a:p>
                    <a:p>
                      <a:pPr algn="ctr"/>
                      <a:r>
                        <a:rPr lang="en-US" altLang="zh-CN" sz="1800" dirty="0">
                          <a:effectLst/>
                        </a:rPr>
                        <a:t>1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0</a:t>
                      </a:r>
                      <a:endParaRPr lang="en-US" altLang="zh-CN" sz="1800" dirty="0" smtClean="0"/>
                    </a:p>
                    <a:p>
                      <a:pPr algn="ctr"/>
                      <a:r>
                        <a:rPr lang="en-US" altLang="zh-CN" sz="1800" dirty="0" smtClean="0">
                          <a:effectLst/>
                        </a:rPr>
                        <a:t>1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触发器状态保持原状态不变</a:t>
                      </a:r>
                      <a:endParaRPr lang="zh-CN" altLang="en-US" sz="1800"/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251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effectLst/>
                        </a:rPr>
                        <a:t>0    1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en-US" altLang="zh-CN" sz="1800" dirty="0"/>
                    </a:p>
                    <a:p>
                      <a:pPr algn="ctr"/>
                      <a:r>
                        <a:rPr lang="en-US" altLang="zh-CN" sz="1800" dirty="0">
                          <a:effectLst/>
                        </a:rPr>
                        <a:t>1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1</a:t>
                      </a:r>
                      <a:endParaRPr lang="en-US" altLang="zh-CN" sz="1800" dirty="0"/>
                    </a:p>
                    <a:p>
                      <a:pPr algn="ctr"/>
                      <a:r>
                        <a:rPr lang="en-US" altLang="zh-CN" sz="1800" dirty="0" smtClean="0">
                          <a:effectLst/>
                        </a:rPr>
                        <a:t>1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触发器置</a:t>
                      </a:r>
                      <a:r>
                        <a:rPr lang="en-US" altLang="zh-CN" sz="1800"/>
                        <a:t>1</a:t>
                      </a:r>
                      <a:endParaRPr lang="en-US" altLang="zh-CN" sz="1800"/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251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effectLst/>
                        </a:rPr>
                        <a:t>1     </a:t>
                      </a:r>
                      <a:r>
                        <a:rPr lang="en-US" altLang="zh-CN" sz="1800" dirty="0">
                          <a:effectLst/>
                        </a:rPr>
                        <a:t>0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0</a:t>
                      </a:r>
                      <a:endParaRPr lang="en-US" altLang="zh-CN" sz="1800"/>
                    </a:p>
                    <a:p>
                      <a:pPr algn="ctr"/>
                      <a:r>
                        <a:rPr lang="en-US" altLang="zh-CN" sz="1800">
                          <a:effectLst/>
                        </a:rPr>
                        <a:t>1</a:t>
                      </a:r>
                      <a:endParaRPr lang="en-US" altLang="zh-CN" sz="180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0</a:t>
                      </a:r>
                      <a:endParaRPr lang="en-US" altLang="zh-CN" sz="1800" dirty="0"/>
                    </a:p>
                    <a:p>
                      <a:pPr algn="ctr"/>
                      <a:r>
                        <a:rPr lang="en-US" altLang="zh-CN" sz="1800" dirty="0" smtClean="0">
                          <a:effectLst/>
                        </a:rPr>
                        <a:t>0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触发器置</a:t>
                      </a:r>
                      <a:r>
                        <a:rPr lang="en-US" altLang="zh-CN" sz="1800" dirty="0"/>
                        <a:t>0</a:t>
                      </a:r>
                      <a:endParaRPr lang="en-US" altLang="zh-CN" sz="1800" dirty="0"/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251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effectLst/>
                        </a:rPr>
                        <a:t>1     </a:t>
                      </a:r>
                      <a:r>
                        <a:rPr lang="en-US" altLang="zh-CN" sz="1800" dirty="0">
                          <a:effectLst/>
                        </a:rPr>
                        <a:t>1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0</a:t>
                      </a:r>
                      <a:endParaRPr lang="en-US" altLang="zh-CN" sz="1800"/>
                    </a:p>
                    <a:p>
                      <a:pPr algn="ctr"/>
                      <a:r>
                        <a:rPr lang="en-US" altLang="zh-CN" sz="1800">
                          <a:effectLst/>
                        </a:rPr>
                        <a:t>1</a:t>
                      </a:r>
                      <a:endParaRPr lang="en-US" altLang="zh-CN" sz="180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d</a:t>
                      </a:r>
                      <a:endParaRPr lang="en-US" altLang="zh-CN" sz="1800" dirty="0"/>
                    </a:p>
                    <a:p>
                      <a:pPr algn="ctr"/>
                      <a:r>
                        <a:rPr lang="en-US" altLang="zh-CN" sz="1800" dirty="0" smtClean="0">
                          <a:effectLst/>
                        </a:rPr>
                        <a:t>d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触发器状态不定</a:t>
                      </a:r>
                      <a:endParaRPr lang="zh-CN" altLang="en-US" sz="1800" dirty="0"/>
                    </a:p>
                  </a:txBody>
                  <a:tcPr marL="38095" marR="38095" marT="38117" marB="381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6407" name="Picture 5" descr="羊皮纸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0" y="412750"/>
            <a:ext cx="2971800" cy="2905125"/>
          </a:xfrm>
          <a:prstGeom prst="rect">
            <a:avLst/>
          </a:prstGeom>
          <a:noFill/>
          <a:ln w="38100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2"/>
          <p:cNvSpPr txBox="1"/>
          <p:nvPr/>
        </p:nvSpPr>
        <p:spPr>
          <a:xfrm>
            <a:off x="461963" y="433388"/>
            <a:ext cx="27701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R-S </a:t>
            </a:r>
            <a:r>
              <a:rPr lang="zh-CN" altLang="en-US" b="1" dirty="0">
                <a:latin typeface="Times New Roman" panose="02020603050405020304" pitchFamily="18" charset="0"/>
              </a:rPr>
              <a:t>触发器特点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684213" y="1728788"/>
            <a:ext cx="7446962" cy="1160462"/>
            <a:chOff x="527" y="909"/>
            <a:chExt cx="4691" cy="731"/>
          </a:xfrm>
        </p:grpSpPr>
        <p:sp>
          <p:nvSpPr>
            <p:cNvPr id="17414" name="Text Box 4"/>
            <p:cNvSpPr txBox="1"/>
            <p:nvPr/>
          </p:nvSpPr>
          <p:spPr>
            <a:xfrm>
              <a:off x="527" y="909"/>
              <a:ext cx="4691" cy="7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(1) </a:t>
              </a:r>
              <a:r>
                <a:rPr lang="zh-CN" altLang="en-US" b="1" dirty="0">
                  <a:latin typeface="Times New Roman" panose="02020603050405020304" pitchFamily="18" charset="0"/>
                </a:rPr>
                <a:t>具有两个稳态</a:t>
              </a:r>
              <a:r>
                <a:rPr lang="en-US" altLang="zh-CN" b="1" dirty="0">
                  <a:latin typeface="Times New Roman" panose="02020603050405020304" pitchFamily="18" charset="0"/>
                </a:rPr>
                <a:t>(Q=0,Q=1</a:t>
              </a:r>
              <a:r>
                <a:rPr lang="zh-CN" altLang="en-US" b="1" dirty="0">
                  <a:latin typeface="Times New Roman" panose="02020603050405020304" pitchFamily="18" charset="0"/>
                </a:rPr>
                <a:t>或</a:t>
              </a:r>
              <a:r>
                <a:rPr lang="en-US" altLang="zh-CN" b="1" dirty="0">
                  <a:latin typeface="Times New Roman" panose="02020603050405020304" pitchFamily="18" charset="0"/>
                </a:rPr>
                <a:t>Q=1,Q=0), </a:t>
              </a:r>
              <a:r>
                <a:rPr lang="zh-CN" altLang="en-US" b="1" dirty="0">
                  <a:latin typeface="Times New Roman" panose="02020603050405020304" pitchFamily="18" charset="0"/>
                </a:rPr>
                <a:t>称为</a:t>
              </a:r>
              <a:endParaRPr lang="zh-CN" altLang="en-US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      双稳态触发器</a:t>
              </a:r>
              <a:r>
                <a:rPr lang="en-US" altLang="zh-CN" b="1" dirty="0">
                  <a:latin typeface="Times New Roman" panose="02020603050405020304" pitchFamily="18" charset="0"/>
                </a:rPr>
                <a:t>.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415" name="Line 5"/>
            <p:cNvSpPr/>
            <p:nvPr/>
          </p:nvSpPr>
          <p:spPr>
            <a:xfrm>
              <a:off x="2808" y="972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16" name="Line 6"/>
            <p:cNvSpPr/>
            <p:nvPr/>
          </p:nvSpPr>
          <p:spPr>
            <a:xfrm>
              <a:off x="3924" y="960"/>
              <a:ext cx="1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08231" name="Text Box 7"/>
          <p:cNvSpPr txBox="1"/>
          <p:nvPr/>
        </p:nvSpPr>
        <p:spPr>
          <a:xfrm>
            <a:off x="571500" y="3067050"/>
            <a:ext cx="79819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</a:rPr>
              <a:t>可触发使之翻转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使</a:t>
            </a:r>
            <a:r>
              <a:rPr lang="en-US" altLang="zh-CN" b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D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D</a:t>
            </a:r>
            <a:r>
              <a:rPr lang="zh-CN" altLang="en-US" b="1" dirty="0">
                <a:latin typeface="Times New Roman" panose="02020603050405020304" pitchFamily="18" charset="0"/>
              </a:rPr>
              <a:t>之一为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时可翻转</a:t>
            </a:r>
            <a:r>
              <a:rPr lang="en-US" altLang="zh-CN" b="1" dirty="0">
                <a:latin typeface="Times New Roman" panose="02020603050405020304" pitchFamily="18" charset="0"/>
              </a:rPr>
              <a:t>).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308232" name="Text Box 8"/>
          <p:cNvSpPr txBox="1"/>
          <p:nvPr/>
        </p:nvSpPr>
        <p:spPr>
          <a:xfrm>
            <a:off x="704850" y="4114800"/>
            <a:ext cx="8305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(3) </a:t>
            </a:r>
            <a:r>
              <a:rPr lang="zh-CN" altLang="en-US" b="1" dirty="0">
                <a:latin typeface="Times New Roman" panose="02020603050405020304" pitchFamily="18" charset="0"/>
              </a:rPr>
              <a:t>具有记忆功能</a:t>
            </a:r>
            <a:r>
              <a:rPr lang="en-US" altLang="zh-CN" b="1" dirty="0">
                <a:latin typeface="Times New Roman" panose="02020603050405020304" pitchFamily="18" charset="0"/>
              </a:rPr>
              <a:t>(R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D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D</a:t>
            </a:r>
            <a:r>
              <a:rPr lang="zh-CN" altLang="en-US" b="1" dirty="0">
                <a:latin typeface="Times New Roman" panose="02020603050405020304" pitchFamily="18" charset="0"/>
              </a:rPr>
              <a:t>都为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时，保持原来状态</a:t>
            </a:r>
            <a:r>
              <a:rPr lang="en-US" altLang="zh-CN" b="1" dirty="0">
                <a:latin typeface="Times New Roman" panose="02020603050405020304" pitchFamily="18" charset="0"/>
              </a:rPr>
              <a:t>).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31" grpId="0"/>
      <p:bldP spid="3082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182813" y="350838"/>
            <a:ext cx="5529263" cy="58356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6.2  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电平触发式</a:t>
            </a:r>
            <a:r>
              <a:rPr kumimoji="1" lang="zh-CN" altLang="zh-CN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endParaRPr kumimoji="1" lang="zh-CN" altLang="en-US" sz="32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Text Box 3"/>
          <p:cNvSpPr txBox="1"/>
          <p:nvPr/>
        </p:nvSpPr>
        <p:spPr>
          <a:xfrm>
            <a:off x="601663" y="1311275"/>
            <a:ext cx="8007350" cy="19716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565150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在数字系统中，通常要求触发器按一定的时间节拍动作，即让输入信号的作用受到时钟脉冲的控制，为此出现了带时钟控制的</a:t>
            </a:r>
            <a:r>
              <a:rPr lang="en-US" altLang="en-US" dirty="0">
                <a:latin typeface="Times New Roman" panose="02020603050405020304" pitchFamily="18" charset="0"/>
              </a:rPr>
              <a:t>电平触发式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触发器，其逻辑图和逻辑符号如下：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5"/>
          <p:cNvGrpSpPr/>
          <p:nvPr/>
        </p:nvGrpSpPr>
        <p:grpSpPr>
          <a:xfrm>
            <a:off x="1123950" y="3001963"/>
            <a:ext cx="4302125" cy="3375025"/>
            <a:chOff x="708" y="1968"/>
            <a:chExt cx="2710" cy="2126"/>
          </a:xfrm>
        </p:grpSpPr>
        <p:sp>
          <p:nvSpPr>
            <p:cNvPr id="18467" name="Rectangle 20"/>
            <p:cNvSpPr/>
            <p:nvPr/>
          </p:nvSpPr>
          <p:spPr>
            <a:xfrm>
              <a:off x="1188" y="2657"/>
              <a:ext cx="589" cy="344"/>
            </a:xfrm>
            <a:prstGeom prst="rect">
              <a:avLst/>
            </a:prstGeom>
            <a:solidFill>
              <a:srgbClr val="CCFF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68" name="Rectangle 21"/>
            <p:cNvSpPr/>
            <p:nvPr/>
          </p:nvSpPr>
          <p:spPr>
            <a:xfrm>
              <a:off x="2344" y="2657"/>
              <a:ext cx="589" cy="344"/>
            </a:xfrm>
            <a:prstGeom prst="rect">
              <a:avLst/>
            </a:prstGeom>
            <a:solidFill>
              <a:srgbClr val="CCFF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69" name="Oval 22"/>
            <p:cNvSpPr/>
            <p:nvPr/>
          </p:nvSpPr>
          <p:spPr>
            <a:xfrm>
              <a:off x="1452" y="2587"/>
              <a:ext cx="72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70" name="Oval 23"/>
            <p:cNvSpPr/>
            <p:nvPr/>
          </p:nvSpPr>
          <p:spPr>
            <a:xfrm>
              <a:off x="2608" y="2587"/>
              <a:ext cx="72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71" name="Line 24"/>
            <p:cNvSpPr/>
            <p:nvPr/>
          </p:nvSpPr>
          <p:spPr>
            <a:xfrm flipV="1">
              <a:off x="1488" y="2245"/>
              <a:ext cx="0" cy="34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2" name="Line 25"/>
            <p:cNvSpPr/>
            <p:nvPr/>
          </p:nvSpPr>
          <p:spPr>
            <a:xfrm flipV="1">
              <a:off x="1333" y="2990"/>
              <a:ext cx="0" cy="34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3" name="Freeform 26"/>
            <p:cNvSpPr/>
            <p:nvPr/>
          </p:nvSpPr>
          <p:spPr>
            <a:xfrm>
              <a:off x="1610" y="2434"/>
              <a:ext cx="1045" cy="800"/>
            </a:xfrm>
            <a:custGeom>
              <a:avLst/>
              <a:gdLst>
                <a:gd name="txL" fmla="*/ 0 w 1045"/>
                <a:gd name="txT" fmla="*/ 0 h 800"/>
                <a:gd name="txR" fmla="*/ 1045 w 1045"/>
                <a:gd name="txB" fmla="*/ 800 h 800"/>
              </a:gdLst>
              <a:ahLst/>
              <a:cxnLst>
                <a:cxn ang="0">
                  <a:pos x="0" y="556"/>
                </a:cxn>
                <a:cxn ang="0">
                  <a:pos x="0" y="800"/>
                </a:cxn>
                <a:cxn ang="0">
                  <a:pos x="278" y="800"/>
                </a:cxn>
                <a:cxn ang="0">
                  <a:pos x="678" y="0"/>
                </a:cxn>
                <a:cxn ang="0">
                  <a:pos x="1045" y="0"/>
                </a:cxn>
              </a:cxnLst>
              <a:rect l="txL" t="txT" r="txR" b="txB"/>
              <a:pathLst>
                <a:path w="1045" h="800">
                  <a:moveTo>
                    <a:pt x="0" y="556"/>
                  </a:moveTo>
                  <a:lnTo>
                    <a:pt x="0" y="800"/>
                  </a:lnTo>
                  <a:lnTo>
                    <a:pt x="278" y="800"/>
                  </a:lnTo>
                  <a:lnTo>
                    <a:pt x="678" y="0"/>
                  </a:lnTo>
                  <a:lnTo>
                    <a:pt x="1045" y="0"/>
                  </a:ln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74" name="Line 27"/>
            <p:cNvSpPr/>
            <p:nvPr/>
          </p:nvSpPr>
          <p:spPr>
            <a:xfrm flipV="1">
              <a:off x="2644" y="2245"/>
              <a:ext cx="0" cy="34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5" name="Freeform 28"/>
            <p:cNvSpPr/>
            <p:nvPr/>
          </p:nvSpPr>
          <p:spPr>
            <a:xfrm flipH="1">
              <a:off x="1484" y="2441"/>
              <a:ext cx="1023" cy="800"/>
            </a:xfrm>
            <a:custGeom>
              <a:avLst/>
              <a:gdLst>
                <a:gd name="txL" fmla="*/ 0 w 1045"/>
                <a:gd name="txT" fmla="*/ 0 h 800"/>
                <a:gd name="txR" fmla="*/ 1045 w 1045"/>
                <a:gd name="txB" fmla="*/ 800 h 800"/>
              </a:gdLst>
              <a:ahLst/>
              <a:cxnLst>
                <a:cxn ang="0">
                  <a:pos x="0" y="556"/>
                </a:cxn>
                <a:cxn ang="0">
                  <a:pos x="0" y="800"/>
                </a:cxn>
                <a:cxn ang="0">
                  <a:pos x="266" y="800"/>
                </a:cxn>
                <a:cxn ang="0">
                  <a:pos x="650" y="0"/>
                </a:cxn>
                <a:cxn ang="0">
                  <a:pos x="1001" y="0"/>
                </a:cxn>
              </a:cxnLst>
              <a:rect l="txL" t="txT" r="txR" b="txB"/>
              <a:pathLst>
                <a:path w="1045" h="800">
                  <a:moveTo>
                    <a:pt x="0" y="556"/>
                  </a:moveTo>
                  <a:lnTo>
                    <a:pt x="0" y="800"/>
                  </a:lnTo>
                  <a:lnTo>
                    <a:pt x="278" y="800"/>
                  </a:lnTo>
                  <a:lnTo>
                    <a:pt x="678" y="0"/>
                  </a:lnTo>
                  <a:lnTo>
                    <a:pt x="1045" y="0"/>
                  </a:ln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76" name="Line 29"/>
            <p:cNvSpPr/>
            <p:nvPr/>
          </p:nvSpPr>
          <p:spPr>
            <a:xfrm flipV="1">
              <a:off x="2789" y="2990"/>
              <a:ext cx="0" cy="34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7" name="Text Box 30"/>
            <p:cNvSpPr txBox="1"/>
            <p:nvPr/>
          </p:nvSpPr>
          <p:spPr>
            <a:xfrm>
              <a:off x="1342" y="2667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8478" name="Text Box 31"/>
            <p:cNvSpPr txBox="1"/>
            <p:nvPr/>
          </p:nvSpPr>
          <p:spPr>
            <a:xfrm>
              <a:off x="2487" y="2667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8479" name="Text Box 32"/>
            <p:cNvSpPr txBox="1"/>
            <p:nvPr/>
          </p:nvSpPr>
          <p:spPr>
            <a:xfrm>
              <a:off x="841" y="2677"/>
              <a:ext cx="3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80" name="Text Box 33"/>
            <p:cNvSpPr txBox="1"/>
            <p:nvPr/>
          </p:nvSpPr>
          <p:spPr>
            <a:xfrm>
              <a:off x="952" y="3665"/>
              <a:ext cx="25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R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8481" name="Group 34"/>
            <p:cNvGrpSpPr/>
            <p:nvPr/>
          </p:nvGrpSpPr>
          <p:grpSpPr>
            <a:xfrm>
              <a:off x="1185" y="2044"/>
              <a:ext cx="278" cy="327"/>
              <a:chOff x="1086" y="2275"/>
              <a:chExt cx="278" cy="327"/>
            </a:xfrm>
          </p:grpSpPr>
          <p:sp>
            <p:nvSpPr>
              <p:cNvPr id="18501" name="Text Box 35"/>
              <p:cNvSpPr txBox="1"/>
              <p:nvPr/>
            </p:nvSpPr>
            <p:spPr>
              <a:xfrm>
                <a:off x="1086" y="2275"/>
                <a:ext cx="278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Q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02" name="Line 36"/>
              <p:cNvSpPr/>
              <p:nvPr/>
            </p:nvSpPr>
            <p:spPr>
              <a:xfrm>
                <a:off x="1144" y="2322"/>
                <a:ext cx="15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8482" name="Oval 37"/>
            <p:cNvSpPr/>
            <p:nvPr/>
          </p:nvSpPr>
          <p:spPr>
            <a:xfrm>
              <a:off x="1441" y="241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83" name="Oval 38"/>
            <p:cNvSpPr/>
            <p:nvPr/>
          </p:nvSpPr>
          <p:spPr>
            <a:xfrm>
              <a:off x="2597" y="2399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84" name="Text Box 39"/>
            <p:cNvSpPr txBox="1"/>
            <p:nvPr/>
          </p:nvSpPr>
          <p:spPr>
            <a:xfrm>
              <a:off x="2896" y="2677"/>
              <a:ext cx="3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85" name="Text Box 40"/>
            <p:cNvSpPr txBox="1"/>
            <p:nvPr/>
          </p:nvSpPr>
          <p:spPr>
            <a:xfrm>
              <a:off x="2943" y="369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S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86" name="Text Box 43"/>
            <p:cNvSpPr txBox="1"/>
            <p:nvPr/>
          </p:nvSpPr>
          <p:spPr>
            <a:xfrm>
              <a:off x="2653" y="1968"/>
              <a:ext cx="27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87" name="Rectangle 44"/>
            <p:cNvSpPr/>
            <p:nvPr/>
          </p:nvSpPr>
          <p:spPr>
            <a:xfrm>
              <a:off x="1045" y="3346"/>
              <a:ext cx="589" cy="344"/>
            </a:xfrm>
            <a:prstGeom prst="rect">
              <a:avLst/>
            </a:prstGeom>
            <a:solidFill>
              <a:srgbClr val="CCFF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88" name="Text Box 45"/>
            <p:cNvSpPr txBox="1"/>
            <p:nvPr/>
          </p:nvSpPr>
          <p:spPr>
            <a:xfrm>
              <a:off x="1199" y="3356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8489" name="Oval 46"/>
            <p:cNvSpPr/>
            <p:nvPr/>
          </p:nvSpPr>
          <p:spPr>
            <a:xfrm>
              <a:off x="1297" y="3287"/>
              <a:ext cx="72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90" name="Line 47"/>
            <p:cNvSpPr/>
            <p:nvPr/>
          </p:nvSpPr>
          <p:spPr>
            <a:xfrm flipV="1">
              <a:off x="1178" y="3689"/>
              <a:ext cx="0" cy="323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91" name="Rectangle 48"/>
            <p:cNvSpPr/>
            <p:nvPr/>
          </p:nvSpPr>
          <p:spPr>
            <a:xfrm>
              <a:off x="2490" y="3346"/>
              <a:ext cx="589" cy="344"/>
            </a:xfrm>
            <a:prstGeom prst="rect">
              <a:avLst/>
            </a:prstGeom>
            <a:solidFill>
              <a:srgbClr val="CCFF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92" name="Text Box 49"/>
            <p:cNvSpPr txBox="1"/>
            <p:nvPr/>
          </p:nvSpPr>
          <p:spPr>
            <a:xfrm>
              <a:off x="2644" y="3356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8493" name="Oval 50"/>
            <p:cNvSpPr/>
            <p:nvPr/>
          </p:nvSpPr>
          <p:spPr>
            <a:xfrm>
              <a:off x="2742" y="3287"/>
              <a:ext cx="72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94" name="Line 51"/>
            <p:cNvSpPr/>
            <p:nvPr/>
          </p:nvSpPr>
          <p:spPr>
            <a:xfrm flipV="1">
              <a:off x="2945" y="3689"/>
              <a:ext cx="0" cy="31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95" name="Freeform 52"/>
            <p:cNvSpPr/>
            <p:nvPr/>
          </p:nvSpPr>
          <p:spPr>
            <a:xfrm>
              <a:off x="1455" y="3679"/>
              <a:ext cx="1178" cy="133"/>
            </a:xfrm>
            <a:custGeom>
              <a:avLst/>
              <a:gdLst>
                <a:gd name="txL" fmla="*/ 0 w 1178"/>
                <a:gd name="txT" fmla="*/ 0 h 133"/>
                <a:gd name="txR" fmla="*/ 1178 w 1178"/>
                <a:gd name="txB" fmla="*/ 133 h 133"/>
              </a:gdLst>
              <a:ahLst/>
              <a:cxnLst>
                <a:cxn ang="0">
                  <a:pos x="0" y="11"/>
                </a:cxn>
                <a:cxn ang="0">
                  <a:pos x="0" y="133"/>
                </a:cxn>
                <a:cxn ang="0">
                  <a:pos x="1178" y="133"/>
                </a:cxn>
                <a:cxn ang="0">
                  <a:pos x="1178" y="0"/>
                </a:cxn>
              </a:cxnLst>
              <a:rect l="txL" t="txT" r="txR" b="txB"/>
              <a:pathLst>
                <a:path w="1178" h="133">
                  <a:moveTo>
                    <a:pt x="0" y="11"/>
                  </a:moveTo>
                  <a:lnTo>
                    <a:pt x="0" y="133"/>
                  </a:lnTo>
                  <a:lnTo>
                    <a:pt x="1178" y="133"/>
                  </a:lnTo>
                  <a:lnTo>
                    <a:pt x="1178" y="0"/>
                  </a:ln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96" name="Line 53"/>
            <p:cNvSpPr/>
            <p:nvPr/>
          </p:nvSpPr>
          <p:spPr>
            <a:xfrm flipV="1">
              <a:off x="2045" y="3811"/>
              <a:ext cx="0" cy="201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97" name="Oval 54"/>
            <p:cNvSpPr/>
            <p:nvPr/>
          </p:nvSpPr>
          <p:spPr>
            <a:xfrm>
              <a:off x="2008" y="3777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98" name="Text Box 55"/>
            <p:cNvSpPr txBox="1"/>
            <p:nvPr/>
          </p:nvSpPr>
          <p:spPr>
            <a:xfrm>
              <a:off x="2030" y="3767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CP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99" name="Text Box 56"/>
            <p:cNvSpPr txBox="1"/>
            <p:nvPr/>
          </p:nvSpPr>
          <p:spPr>
            <a:xfrm>
              <a:off x="708" y="3354"/>
              <a:ext cx="3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3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500" name="Text Box 57"/>
            <p:cNvSpPr txBox="1"/>
            <p:nvPr/>
          </p:nvSpPr>
          <p:spPr>
            <a:xfrm>
              <a:off x="3064" y="3354"/>
              <a:ext cx="3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4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64"/>
          <p:cNvGrpSpPr/>
          <p:nvPr/>
        </p:nvGrpSpPr>
        <p:grpSpPr>
          <a:xfrm>
            <a:off x="6202363" y="3646488"/>
            <a:ext cx="1641475" cy="2865437"/>
            <a:chOff x="3907" y="2297"/>
            <a:chExt cx="1034" cy="1805"/>
          </a:xfrm>
        </p:grpSpPr>
        <p:sp>
          <p:nvSpPr>
            <p:cNvPr id="18452" name="Line 5"/>
            <p:cNvSpPr/>
            <p:nvPr/>
          </p:nvSpPr>
          <p:spPr>
            <a:xfrm flipV="1">
              <a:off x="4167" y="3388"/>
              <a:ext cx="0" cy="34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3" name="Line 6"/>
            <p:cNvSpPr/>
            <p:nvPr/>
          </p:nvSpPr>
          <p:spPr>
            <a:xfrm flipV="1">
              <a:off x="4766" y="3388"/>
              <a:ext cx="0" cy="34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4" name="Line 7"/>
            <p:cNvSpPr/>
            <p:nvPr/>
          </p:nvSpPr>
          <p:spPr>
            <a:xfrm flipV="1">
              <a:off x="4232" y="2443"/>
              <a:ext cx="0" cy="34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5" name="Rectangle 8"/>
            <p:cNvSpPr/>
            <p:nvPr/>
          </p:nvSpPr>
          <p:spPr>
            <a:xfrm>
              <a:off x="3999" y="2835"/>
              <a:ext cx="922" cy="538"/>
            </a:xfrm>
            <a:prstGeom prst="rect">
              <a:avLst/>
            </a:prstGeom>
            <a:solidFill>
              <a:srgbClr val="CCFF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56" name="Oval 9"/>
            <p:cNvSpPr/>
            <p:nvPr/>
          </p:nvSpPr>
          <p:spPr>
            <a:xfrm>
              <a:off x="4185" y="2751"/>
              <a:ext cx="72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8457" name="Group 12"/>
            <p:cNvGrpSpPr/>
            <p:nvPr/>
          </p:nvGrpSpPr>
          <p:grpSpPr>
            <a:xfrm>
              <a:off x="3907" y="2297"/>
              <a:ext cx="278" cy="327"/>
              <a:chOff x="1086" y="2275"/>
              <a:chExt cx="278" cy="327"/>
            </a:xfrm>
          </p:grpSpPr>
          <p:sp>
            <p:nvSpPr>
              <p:cNvPr id="18465" name="Text Box 13"/>
              <p:cNvSpPr txBox="1"/>
              <p:nvPr/>
            </p:nvSpPr>
            <p:spPr>
              <a:xfrm>
                <a:off x="1086" y="2275"/>
                <a:ext cx="278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Q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6" name="Line 14"/>
              <p:cNvSpPr/>
              <p:nvPr/>
            </p:nvSpPr>
            <p:spPr>
              <a:xfrm>
                <a:off x="1144" y="2322"/>
                <a:ext cx="15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8458" name="Text Box 15"/>
            <p:cNvSpPr txBox="1"/>
            <p:nvPr/>
          </p:nvSpPr>
          <p:spPr>
            <a:xfrm>
              <a:off x="4065" y="3775"/>
              <a:ext cx="25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R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59" name="Text Box 16"/>
            <p:cNvSpPr txBox="1"/>
            <p:nvPr/>
          </p:nvSpPr>
          <p:spPr>
            <a:xfrm>
              <a:off x="4619" y="3775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S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60" name="Line 17"/>
            <p:cNvSpPr/>
            <p:nvPr/>
          </p:nvSpPr>
          <p:spPr>
            <a:xfrm flipV="1">
              <a:off x="4677" y="2443"/>
              <a:ext cx="0" cy="40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1" name="Rectangle 59"/>
            <p:cNvSpPr/>
            <p:nvPr/>
          </p:nvSpPr>
          <p:spPr>
            <a:xfrm>
              <a:off x="4663" y="2309"/>
              <a:ext cx="27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62" name="Line 60"/>
            <p:cNvSpPr/>
            <p:nvPr/>
          </p:nvSpPr>
          <p:spPr>
            <a:xfrm flipV="1">
              <a:off x="4466" y="3388"/>
              <a:ext cx="0" cy="34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3" name="Freeform 61"/>
            <p:cNvSpPr/>
            <p:nvPr/>
          </p:nvSpPr>
          <p:spPr>
            <a:xfrm>
              <a:off x="4377" y="3266"/>
              <a:ext cx="155" cy="100"/>
            </a:xfrm>
            <a:custGeom>
              <a:avLst/>
              <a:gdLst>
                <a:gd name="txL" fmla="*/ 0 w 155"/>
                <a:gd name="txT" fmla="*/ 0 h 100"/>
                <a:gd name="txR" fmla="*/ 155 w 155"/>
                <a:gd name="txB" fmla="*/ 100 h 100"/>
              </a:gdLst>
              <a:ahLst/>
              <a:cxnLst>
                <a:cxn ang="0">
                  <a:pos x="0" y="100"/>
                </a:cxn>
                <a:cxn ang="0">
                  <a:pos x="77" y="0"/>
                </a:cxn>
                <a:cxn ang="0">
                  <a:pos x="155" y="100"/>
                </a:cxn>
              </a:cxnLst>
              <a:rect l="txL" t="txT" r="txR" b="txB"/>
              <a:pathLst>
                <a:path w="155" h="100">
                  <a:moveTo>
                    <a:pt x="0" y="100"/>
                  </a:moveTo>
                  <a:lnTo>
                    <a:pt x="77" y="0"/>
                  </a:lnTo>
                  <a:lnTo>
                    <a:pt x="155" y="100"/>
                  </a:lnTo>
                </a:path>
              </a:pathLst>
            </a:custGeom>
            <a:solidFill>
              <a:schemeClr val="bg1">
                <a:alpha val="100000"/>
              </a:schemeClr>
            </a:solidFill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64" name="Text Box 62"/>
            <p:cNvSpPr txBox="1"/>
            <p:nvPr/>
          </p:nvSpPr>
          <p:spPr>
            <a:xfrm>
              <a:off x="4265" y="3775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CP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69"/>
          <p:cNvGrpSpPr/>
          <p:nvPr/>
        </p:nvGrpSpPr>
        <p:grpSpPr>
          <a:xfrm>
            <a:off x="1706563" y="6216650"/>
            <a:ext cx="3113087" cy="519113"/>
            <a:chOff x="1075" y="3971"/>
            <a:chExt cx="1961" cy="327"/>
          </a:xfrm>
        </p:grpSpPr>
        <p:sp>
          <p:nvSpPr>
            <p:cNvPr id="18449" name="Text Box 66"/>
            <p:cNvSpPr txBox="1"/>
            <p:nvPr/>
          </p:nvSpPr>
          <p:spPr>
            <a:xfrm>
              <a:off x="1930" y="3971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50" name="Text Box 67"/>
            <p:cNvSpPr txBox="1"/>
            <p:nvPr/>
          </p:nvSpPr>
          <p:spPr>
            <a:xfrm>
              <a:off x="2808" y="3971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51" name="Text Box 68"/>
            <p:cNvSpPr txBox="1"/>
            <p:nvPr/>
          </p:nvSpPr>
          <p:spPr>
            <a:xfrm>
              <a:off x="1075" y="3971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72"/>
          <p:cNvGrpSpPr/>
          <p:nvPr/>
        </p:nvGrpSpPr>
        <p:grpSpPr>
          <a:xfrm>
            <a:off x="1706563" y="4708525"/>
            <a:ext cx="3167062" cy="519113"/>
            <a:chOff x="1075" y="3043"/>
            <a:chExt cx="1995" cy="327"/>
          </a:xfrm>
        </p:grpSpPr>
        <p:sp>
          <p:nvSpPr>
            <p:cNvPr id="18447" name="Rectangle 70"/>
            <p:cNvSpPr/>
            <p:nvPr/>
          </p:nvSpPr>
          <p:spPr>
            <a:xfrm>
              <a:off x="1075" y="3043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48" name="Rectangle 71"/>
            <p:cNvSpPr/>
            <p:nvPr/>
          </p:nvSpPr>
          <p:spPr>
            <a:xfrm>
              <a:off x="2842" y="3043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75"/>
          <p:cNvGrpSpPr/>
          <p:nvPr/>
        </p:nvGrpSpPr>
        <p:grpSpPr>
          <a:xfrm>
            <a:off x="2695575" y="3578225"/>
            <a:ext cx="1931988" cy="1878013"/>
            <a:chOff x="1698" y="2331"/>
            <a:chExt cx="1217" cy="1183"/>
          </a:xfrm>
        </p:grpSpPr>
        <p:sp>
          <p:nvSpPr>
            <p:cNvPr id="18445" name="Rectangle 73"/>
            <p:cNvSpPr/>
            <p:nvPr/>
          </p:nvSpPr>
          <p:spPr>
            <a:xfrm>
              <a:off x="2687" y="2331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46" name="Rectangle 74"/>
            <p:cNvSpPr/>
            <p:nvPr/>
          </p:nvSpPr>
          <p:spPr>
            <a:xfrm>
              <a:off x="1698" y="3187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78"/>
          <p:cNvGrpSpPr/>
          <p:nvPr/>
        </p:nvGrpSpPr>
        <p:grpSpPr>
          <a:xfrm>
            <a:off x="1936750" y="3595688"/>
            <a:ext cx="1949450" cy="1860550"/>
            <a:chOff x="1220" y="2342"/>
            <a:chExt cx="1228" cy="1172"/>
          </a:xfrm>
        </p:grpSpPr>
        <p:sp>
          <p:nvSpPr>
            <p:cNvPr id="18443" name="Rectangle 76"/>
            <p:cNvSpPr/>
            <p:nvPr/>
          </p:nvSpPr>
          <p:spPr>
            <a:xfrm>
              <a:off x="1220" y="2342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44" name="Rectangle 77"/>
            <p:cNvSpPr/>
            <p:nvPr/>
          </p:nvSpPr>
          <p:spPr>
            <a:xfrm>
              <a:off x="2220" y="3187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631" name="Text Box 79"/>
          <p:cNvSpPr txBox="1">
            <a:spLocks noChangeArrowheads="1"/>
          </p:cNvSpPr>
          <p:nvPr/>
        </p:nvSpPr>
        <p:spPr bwMode="auto">
          <a:xfrm>
            <a:off x="592138" y="952500"/>
            <a:ext cx="6070600" cy="52197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6.2.1  </a:t>
            </a:r>
            <a:r>
              <a:rPr kumimoji="1" lang="zh-CN" altLang="en-US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电平触发式</a:t>
            </a:r>
            <a:r>
              <a:rPr kumimoji="1" lang="en-US" altLang="zh-CN" sz="24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zh-CN" altLang="en-US" sz="24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1" lang="en-US" altLang="zh-CN" sz="24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zh-CN" altLang="zh-CN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endParaRPr kumimoji="1" lang="zh-CN" altLang="en-US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0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charRg st="0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2"/>
          <p:cNvSpPr txBox="1"/>
          <p:nvPr/>
        </p:nvSpPr>
        <p:spPr>
          <a:xfrm>
            <a:off x="739775" y="652463"/>
            <a:ext cx="7392988" cy="15017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669925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</a:rPr>
              <a:t>CP</a:t>
            </a:r>
            <a:r>
              <a:rPr lang="zh-CN" altLang="zh-CN" dirty="0">
                <a:latin typeface="Times New Roman" panose="02020603050405020304" pitchFamily="18" charset="0"/>
              </a:rPr>
              <a:t>为0时，不论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为何值，触发器的状态保持不变；当</a:t>
            </a:r>
            <a:r>
              <a:rPr lang="en-US" altLang="zh-CN" dirty="0">
                <a:latin typeface="Times New Roman" panose="02020603050405020304" pitchFamily="18" charset="0"/>
              </a:rPr>
              <a:t>CP</a:t>
            </a:r>
            <a:r>
              <a:rPr lang="zh-CN" altLang="zh-CN" dirty="0">
                <a:latin typeface="Times New Roman" panose="02020603050405020304" pitchFamily="18" charset="0"/>
              </a:rPr>
              <a:t>为1时，触发器的状态取取决于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zh-CN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</a:rPr>
              <a:t>工作原理与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触发器相同。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1408113" y="2325688"/>
            <a:ext cx="7691437" cy="4762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电平触发式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触发器的功能表和状态表如下：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1287463" y="3530600"/>
            <a:ext cx="6245225" cy="2682875"/>
            <a:chOff x="811" y="2400"/>
            <a:chExt cx="3934" cy="1690"/>
          </a:xfrm>
        </p:grpSpPr>
        <p:sp>
          <p:nvSpPr>
            <p:cNvPr id="19462" name="Line 5"/>
            <p:cNvSpPr/>
            <p:nvPr/>
          </p:nvSpPr>
          <p:spPr>
            <a:xfrm>
              <a:off x="811" y="2410"/>
              <a:ext cx="3934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3" name="Line 6"/>
            <p:cNvSpPr/>
            <p:nvPr/>
          </p:nvSpPr>
          <p:spPr>
            <a:xfrm>
              <a:off x="811" y="2814"/>
              <a:ext cx="3934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4" name="Line 7"/>
            <p:cNvSpPr/>
            <p:nvPr/>
          </p:nvSpPr>
          <p:spPr>
            <a:xfrm>
              <a:off x="811" y="4067"/>
              <a:ext cx="3934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5" name="Line 8"/>
            <p:cNvSpPr/>
            <p:nvPr/>
          </p:nvSpPr>
          <p:spPr>
            <a:xfrm>
              <a:off x="2099" y="2400"/>
              <a:ext cx="0" cy="1667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6" name="Line 9"/>
            <p:cNvSpPr/>
            <p:nvPr/>
          </p:nvSpPr>
          <p:spPr>
            <a:xfrm>
              <a:off x="3355" y="2400"/>
              <a:ext cx="0" cy="1667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7" name="Text Box 10"/>
            <p:cNvSpPr txBox="1"/>
            <p:nvPr/>
          </p:nvSpPr>
          <p:spPr>
            <a:xfrm>
              <a:off x="1042" y="2467"/>
              <a:ext cx="7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R      S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9468" name="Text Box 11"/>
            <p:cNvSpPr txBox="1"/>
            <p:nvPr/>
          </p:nvSpPr>
          <p:spPr>
            <a:xfrm>
              <a:off x="2476" y="2467"/>
              <a:ext cx="61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9469" name="Text Box 12"/>
            <p:cNvSpPr txBox="1"/>
            <p:nvPr/>
          </p:nvSpPr>
          <p:spPr>
            <a:xfrm>
              <a:off x="3498" y="2453"/>
              <a:ext cx="10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功能说明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0" name="Text Box 13"/>
            <p:cNvSpPr txBox="1"/>
            <p:nvPr/>
          </p:nvSpPr>
          <p:spPr>
            <a:xfrm>
              <a:off x="1031" y="2739"/>
              <a:ext cx="732" cy="13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0       0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0       1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1       0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1       1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9471" name="Text Box 14"/>
            <p:cNvSpPr txBox="1"/>
            <p:nvPr/>
          </p:nvSpPr>
          <p:spPr>
            <a:xfrm>
              <a:off x="2598" y="2739"/>
              <a:ext cx="334" cy="13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Q 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 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9472" name="Text Box 15"/>
            <p:cNvSpPr txBox="1"/>
            <p:nvPr/>
          </p:nvSpPr>
          <p:spPr>
            <a:xfrm>
              <a:off x="3632" y="2740"/>
              <a:ext cx="564" cy="13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不变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置  </a:t>
              </a: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置  </a:t>
              </a: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不定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593" name="Text Box 17"/>
          <p:cNvSpPr txBox="1"/>
          <p:nvPr/>
        </p:nvSpPr>
        <p:spPr>
          <a:xfrm>
            <a:off x="2413000" y="3014663"/>
            <a:ext cx="4846638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电平触发式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触发器功能表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9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  <p:bldP spid="2459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 Box 2"/>
          <p:cNvSpPr txBox="1"/>
          <p:nvPr/>
        </p:nvSpPr>
        <p:spPr>
          <a:xfrm>
            <a:off x="609600" y="750888"/>
            <a:ext cx="414813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电平触发方式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9251" name="Rectangle 3"/>
          <p:cNvSpPr/>
          <p:nvPr/>
        </p:nvSpPr>
        <p:spPr>
          <a:xfrm>
            <a:off x="1047750" y="3238500"/>
            <a:ext cx="1276350" cy="1104900"/>
          </a:xfrm>
          <a:prstGeom prst="rect">
            <a:avLst/>
          </a:prstGeom>
          <a:noFill/>
          <a:ln w="38100" cap="flat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电平触发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9252" name="AutoShape 4"/>
          <p:cNvSpPr/>
          <p:nvPr/>
        </p:nvSpPr>
        <p:spPr>
          <a:xfrm>
            <a:off x="2457450" y="2819400"/>
            <a:ext cx="685800" cy="2038350"/>
          </a:xfrm>
          <a:prstGeom prst="leftBrace">
            <a:avLst>
              <a:gd name="adj1" fmla="val 24768"/>
              <a:gd name="adj2" fmla="val 50000"/>
            </a:avLst>
          </a:prstGeom>
          <a:noFill/>
          <a:ln w="57150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9253" name="Rectangle 5"/>
          <p:cNvSpPr/>
          <p:nvPr/>
        </p:nvSpPr>
        <p:spPr>
          <a:xfrm>
            <a:off x="3440113" y="2447925"/>
            <a:ext cx="2262187" cy="617538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正电平触发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9254" name="Rectangle 6"/>
          <p:cNvSpPr/>
          <p:nvPr/>
        </p:nvSpPr>
        <p:spPr>
          <a:xfrm>
            <a:off x="3402013" y="4429125"/>
            <a:ext cx="2262187" cy="617538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负电平触发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9255" name="Text Box 7"/>
          <p:cNvSpPr txBox="1"/>
          <p:nvPr/>
        </p:nvSpPr>
        <p:spPr>
          <a:xfrm>
            <a:off x="5783263" y="2476500"/>
            <a:ext cx="294163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i="1" dirty="0">
                <a:latin typeface="Times New Roman" panose="02020603050405020304" pitchFamily="18" charset="0"/>
                <a:ea typeface="楷体_GB2312" pitchFamily="49" charset="-122"/>
              </a:rPr>
              <a:t>CP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=1 </a:t>
            </a:r>
            <a:r>
              <a:rPr lang="zh-CN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期间翻转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9256" name="Text Box 8"/>
          <p:cNvSpPr txBox="1"/>
          <p:nvPr/>
        </p:nvSpPr>
        <p:spPr>
          <a:xfrm>
            <a:off x="5783263" y="4495800"/>
            <a:ext cx="294163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i="1" dirty="0">
                <a:latin typeface="Times New Roman" panose="02020603050405020304" pitchFamily="18" charset="0"/>
                <a:ea typeface="楷体_GB2312" pitchFamily="49" charset="-122"/>
              </a:rPr>
              <a:t>CP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=0 </a:t>
            </a:r>
            <a:r>
              <a:rPr lang="zh-CN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期间翻转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925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925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1" grpId="0" animBg="1"/>
      <p:bldP spid="309252" grpId="0" animBg="1"/>
      <p:bldP spid="309253" grpId="0" animBg="1"/>
      <p:bldP spid="309254" grpId="0" animBg="1"/>
      <p:bldP spid="309255" grpId="0" build="p"/>
      <p:bldP spid="30925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ext Box 2"/>
          <p:cNvSpPr txBox="1"/>
          <p:nvPr/>
        </p:nvSpPr>
        <p:spPr>
          <a:xfrm>
            <a:off x="3009900" y="762000"/>
            <a:ext cx="30861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电平触发的符号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507" name="Rectangle 3"/>
          <p:cNvSpPr/>
          <p:nvPr/>
        </p:nvSpPr>
        <p:spPr>
          <a:xfrm>
            <a:off x="5461000" y="2733675"/>
            <a:ext cx="2114550" cy="12954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08" name="Oval 4"/>
          <p:cNvSpPr/>
          <p:nvPr/>
        </p:nvSpPr>
        <p:spPr>
          <a:xfrm>
            <a:off x="5937250" y="2543175"/>
            <a:ext cx="171450" cy="17145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09" name="Line 5"/>
          <p:cNvSpPr/>
          <p:nvPr/>
        </p:nvSpPr>
        <p:spPr>
          <a:xfrm flipV="1">
            <a:off x="6013450" y="1990725"/>
            <a:ext cx="0" cy="5524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0" name="Line 6"/>
          <p:cNvSpPr/>
          <p:nvPr/>
        </p:nvSpPr>
        <p:spPr>
          <a:xfrm flipV="1">
            <a:off x="7004050" y="1990725"/>
            <a:ext cx="0" cy="7429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1" name="Line 7"/>
          <p:cNvSpPr/>
          <p:nvPr/>
        </p:nvSpPr>
        <p:spPr>
          <a:xfrm flipH="1">
            <a:off x="6527800" y="4200525"/>
            <a:ext cx="0" cy="925513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2" name="Text Box 8"/>
          <p:cNvSpPr txBox="1"/>
          <p:nvPr/>
        </p:nvSpPr>
        <p:spPr>
          <a:xfrm>
            <a:off x="6299200" y="3514725"/>
            <a:ext cx="3810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lang="en-US" altLang="zh-CN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513" name="Text Box 9"/>
          <p:cNvSpPr txBox="1"/>
          <p:nvPr/>
        </p:nvSpPr>
        <p:spPr>
          <a:xfrm>
            <a:off x="7061200" y="2009775"/>
            <a:ext cx="3048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1514" name="Object 10"/>
          <p:cNvGraphicFramePr>
            <a:graphicFrameLocks noChangeAspect="1"/>
          </p:cNvGraphicFramePr>
          <p:nvPr/>
        </p:nvGraphicFramePr>
        <p:xfrm>
          <a:off x="5435600" y="2089150"/>
          <a:ext cx="37306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65100" imgH="241300" progId="Equation.3">
                  <p:embed/>
                </p:oleObj>
              </mc:Choice>
              <mc:Fallback>
                <p:oleObj name="" r:id="rId1" imgW="165100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35600" y="2089150"/>
                        <a:ext cx="373063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Oval 11"/>
          <p:cNvSpPr/>
          <p:nvPr/>
        </p:nvSpPr>
        <p:spPr>
          <a:xfrm>
            <a:off x="6451600" y="4029075"/>
            <a:ext cx="171450" cy="17145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16" name="Rectangle 12"/>
          <p:cNvSpPr/>
          <p:nvPr/>
        </p:nvSpPr>
        <p:spPr>
          <a:xfrm>
            <a:off x="1670050" y="2752725"/>
            <a:ext cx="2114550" cy="12954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17" name="Oval 13"/>
          <p:cNvSpPr/>
          <p:nvPr/>
        </p:nvSpPr>
        <p:spPr>
          <a:xfrm>
            <a:off x="2146300" y="2562225"/>
            <a:ext cx="171450" cy="17145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18" name="Line 14"/>
          <p:cNvSpPr/>
          <p:nvPr/>
        </p:nvSpPr>
        <p:spPr>
          <a:xfrm flipV="1">
            <a:off x="2222500" y="2009775"/>
            <a:ext cx="0" cy="5524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9" name="Line 15"/>
          <p:cNvSpPr/>
          <p:nvPr/>
        </p:nvSpPr>
        <p:spPr>
          <a:xfrm flipV="1">
            <a:off x="3213100" y="2009775"/>
            <a:ext cx="0" cy="7429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0" name="Line 16"/>
          <p:cNvSpPr/>
          <p:nvPr/>
        </p:nvSpPr>
        <p:spPr>
          <a:xfrm flipH="1">
            <a:off x="2736850" y="4048125"/>
            <a:ext cx="0" cy="925513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1" name="Text Box 17"/>
          <p:cNvSpPr txBox="1"/>
          <p:nvPr/>
        </p:nvSpPr>
        <p:spPr>
          <a:xfrm>
            <a:off x="2508250" y="3533775"/>
            <a:ext cx="3810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lang="en-US" altLang="zh-CN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522" name="Text Box 18"/>
          <p:cNvSpPr txBox="1"/>
          <p:nvPr/>
        </p:nvSpPr>
        <p:spPr>
          <a:xfrm>
            <a:off x="3270250" y="2028825"/>
            <a:ext cx="3048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1523" name="Object 19"/>
          <p:cNvGraphicFramePr>
            <a:graphicFrameLocks noChangeAspect="1"/>
          </p:cNvGraphicFramePr>
          <p:nvPr/>
        </p:nvGraphicFramePr>
        <p:xfrm>
          <a:off x="1720850" y="2070100"/>
          <a:ext cx="3810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65100" imgH="241300" progId="Equation.3">
                  <p:embed/>
                </p:oleObj>
              </mc:Choice>
              <mc:Fallback>
                <p:oleObj name="" r:id="rId3" imgW="165100" imgH="241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20850" y="2070100"/>
                        <a:ext cx="381000" cy="563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4" name="Text Box 20"/>
          <p:cNvSpPr txBox="1"/>
          <p:nvPr/>
        </p:nvSpPr>
        <p:spPr>
          <a:xfrm>
            <a:off x="1809750" y="5238750"/>
            <a:ext cx="25717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正电平触发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525" name="Text Box 21"/>
          <p:cNvSpPr txBox="1"/>
          <p:nvPr/>
        </p:nvSpPr>
        <p:spPr>
          <a:xfrm>
            <a:off x="5467350" y="5221288"/>
            <a:ext cx="257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负电平触发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ext Box 2"/>
          <p:cNvSpPr txBox="1"/>
          <p:nvPr/>
        </p:nvSpPr>
        <p:spPr>
          <a:xfrm>
            <a:off x="685800" y="228600"/>
            <a:ext cx="6248400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例：画出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RS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触发器的输出波形 。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019300" y="1919288"/>
            <a:ext cx="4895850" cy="381000"/>
            <a:chOff x="1200" y="1020"/>
            <a:chExt cx="3084" cy="240"/>
          </a:xfrm>
        </p:grpSpPr>
        <p:grpSp>
          <p:nvGrpSpPr>
            <p:cNvPr id="22592" name="Group 4"/>
            <p:cNvGrpSpPr/>
            <p:nvPr/>
          </p:nvGrpSpPr>
          <p:grpSpPr>
            <a:xfrm>
              <a:off x="1200" y="1020"/>
              <a:ext cx="1104" cy="240"/>
              <a:chOff x="1200" y="1020"/>
              <a:chExt cx="1104" cy="240"/>
            </a:xfrm>
          </p:grpSpPr>
          <p:grpSp>
            <p:nvGrpSpPr>
              <p:cNvPr id="22620" name="Group 5"/>
              <p:cNvGrpSpPr/>
              <p:nvPr/>
            </p:nvGrpSpPr>
            <p:grpSpPr>
              <a:xfrm>
                <a:off x="1200" y="1020"/>
                <a:ext cx="672" cy="240"/>
                <a:chOff x="1200" y="1020"/>
                <a:chExt cx="672" cy="240"/>
              </a:xfrm>
            </p:grpSpPr>
            <p:sp>
              <p:nvSpPr>
                <p:cNvPr id="22625" name="Line 6"/>
                <p:cNvSpPr/>
                <p:nvPr/>
              </p:nvSpPr>
              <p:spPr>
                <a:xfrm>
                  <a:off x="1200" y="1260"/>
                  <a:ext cx="45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26" name="Line 7"/>
                <p:cNvSpPr/>
                <p:nvPr/>
              </p:nvSpPr>
              <p:spPr>
                <a:xfrm flipV="1">
                  <a:off x="1644" y="102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27" name="Line 8"/>
                <p:cNvSpPr/>
                <p:nvPr/>
              </p:nvSpPr>
              <p:spPr>
                <a:xfrm rot="5400000" flipV="1">
                  <a:off x="1752" y="90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21" name="Group 9"/>
              <p:cNvGrpSpPr/>
              <p:nvPr/>
            </p:nvGrpSpPr>
            <p:grpSpPr>
              <a:xfrm flipH="1">
                <a:off x="1632" y="1020"/>
                <a:ext cx="672" cy="240"/>
                <a:chOff x="1200" y="1020"/>
                <a:chExt cx="672" cy="240"/>
              </a:xfrm>
            </p:grpSpPr>
            <p:sp>
              <p:nvSpPr>
                <p:cNvPr id="22622" name="Line 10"/>
                <p:cNvSpPr/>
                <p:nvPr/>
              </p:nvSpPr>
              <p:spPr>
                <a:xfrm>
                  <a:off x="1200" y="1260"/>
                  <a:ext cx="45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23" name="Line 11"/>
                <p:cNvSpPr/>
                <p:nvPr/>
              </p:nvSpPr>
              <p:spPr>
                <a:xfrm flipV="1">
                  <a:off x="1644" y="102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24" name="Line 12"/>
                <p:cNvSpPr/>
                <p:nvPr/>
              </p:nvSpPr>
              <p:spPr>
                <a:xfrm rot="5400000" flipV="1">
                  <a:off x="1752" y="90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2593" name="Group 13"/>
            <p:cNvGrpSpPr/>
            <p:nvPr/>
          </p:nvGrpSpPr>
          <p:grpSpPr>
            <a:xfrm>
              <a:off x="1872" y="1020"/>
              <a:ext cx="1104" cy="240"/>
              <a:chOff x="1200" y="1020"/>
              <a:chExt cx="1104" cy="240"/>
            </a:xfrm>
          </p:grpSpPr>
          <p:grpSp>
            <p:nvGrpSpPr>
              <p:cNvPr id="22612" name="Group 14"/>
              <p:cNvGrpSpPr/>
              <p:nvPr/>
            </p:nvGrpSpPr>
            <p:grpSpPr>
              <a:xfrm>
                <a:off x="1200" y="1020"/>
                <a:ext cx="672" cy="240"/>
                <a:chOff x="1200" y="1020"/>
                <a:chExt cx="672" cy="240"/>
              </a:xfrm>
            </p:grpSpPr>
            <p:sp>
              <p:nvSpPr>
                <p:cNvPr id="22617" name="Line 15"/>
                <p:cNvSpPr/>
                <p:nvPr/>
              </p:nvSpPr>
              <p:spPr>
                <a:xfrm>
                  <a:off x="1200" y="1260"/>
                  <a:ext cx="45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18" name="Line 16"/>
                <p:cNvSpPr/>
                <p:nvPr/>
              </p:nvSpPr>
              <p:spPr>
                <a:xfrm flipV="1">
                  <a:off x="1644" y="102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19" name="Line 17"/>
                <p:cNvSpPr/>
                <p:nvPr/>
              </p:nvSpPr>
              <p:spPr>
                <a:xfrm rot="5400000" flipV="1">
                  <a:off x="1752" y="90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13" name="Group 18"/>
              <p:cNvGrpSpPr/>
              <p:nvPr/>
            </p:nvGrpSpPr>
            <p:grpSpPr>
              <a:xfrm flipH="1">
                <a:off x="1632" y="1020"/>
                <a:ext cx="672" cy="240"/>
                <a:chOff x="1200" y="1020"/>
                <a:chExt cx="672" cy="240"/>
              </a:xfrm>
            </p:grpSpPr>
            <p:sp>
              <p:nvSpPr>
                <p:cNvPr id="22614" name="Line 19"/>
                <p:cNvSpPr/>
                <p:nvPr/>
              </p:nvSpPr>
              <p:spPr>
                <a:xfrm>
                  <a:off x="1200" y="1260"/>
                  <a:ext cx="45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15" name="Line 20"/>
                <p:cNvSpPr/>
                <p:nvPr/>
              </p:nvSpPr>
              <p:spPr>
                <a:xfrm flipV="1">
                  <a:off x="1644" y="102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16" name="Line 21"/>
                <p:cNvSpPr/>
                <p:nvPr/>
              </p:nvSpPr>
              <p:spPr>
                <a:xfrm rot="5400000" flipV="1">
                  <a:off x="1752" y="90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2594" name="Group 22"/>
            <p:cNvGrpSpPr/>
            <p:nvPr/>
          </p:nvGrpSpPr>
          <p:grpSpPr>
            <a:xfrm>
              <a:off x="2532" y="1020"/>
              <a:ext cx="1104" cy="240"/>
              <a:chOff x="1200" y="1020"/>
              <a:chExt cx="1104" cy="240"/>
            </a:xfrm>
          </p:grpSpPr>
          <p:grpSp>
            <p:nvGrpSpPr>
              <p:cNvPr id="22604" name="Group 23"/>
              <p:cNvGrpSpPr/>
              <p:nvPr/>
            </p:nvGrpSpPr>
            <p:grpSpPr>
              <a:xfrm>
                <a:off x="1200" y="1020"/>
                <a:ext cx="672" cy="240"/>
                <a:chOff x="1200" y="1020"/>
                <a:chExt cx="672" cy="240"/>
              </a:xfrm>
            </p:grpSpPr>
            <p:sp>
              <p:nvSpPr>
                <p:cNvPr id="22609" name="Line 24"/>
                <p:cNvSpPr/>
                <p:nvPr/>
              </p:nvSpPr>
              <p:spPr>
                <a:xfrm>
                  <a:off x="1200" y="1260"/>
                  <a:ext cx="45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10" name="Line 25"/>
                <p:cNvSpPr/>
                <p:nvPr/>
              </p:nvSpPr>
              <p:spPr>
                <a:xfrm flipV="1">
                  <a:off x="1644" y="102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11" name="Line 26"/>
                <p:cNvSpPr/>
                <p:nvPr/>
              </p:nvSpPr>
              <p:spPr>
                <a:xfrm rot="5400000" flipV="1">
                  <a:off x="1752" y="90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05" name="Group 27"/>
              <p:cNvGrpSpPr/>
              <p:nvPr/>
            </p:nvGrpSpPr>
            <p:grpSpPr>
              <a:xfrm flipH="1">
                <a:off x="1632" y="1020"/>
                <a:ext cx="672" cy="240"/>
                <a:chOff x="1200" y="1020"/>
                <a:chExt cx="672" cy="240"/>
              </a:xfrm>
            </p:grpSpPr>
            <p:sp>
              <p:nvSpPr>
                <p:cNvPr id="22606" name="Line 28"/>
                <p:cNvSpPr/>
                <p:nvPr/>
              </p:nvSpPr>
              <p:spPr>
                <a:xfrm>
                  <a:off x="1200" y="1260"/>
                  <a:ext cx="45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07" name="Line 29"/>
                <p:cNvSpPr/>
                <p:nvPr/>
              </p:nvSpPr>
              <p:spPr>
                <a:xfrm flipV="1">
                  <a:off x="1644" y="102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08" name="Line 30"/>
                <p:cNvSpPr/>
                <p:nvPr/>
              </p:nvSpPr>
              <p:spPr>
                <a:xfrm rot="5400000" flipV="1">
                  <a:off x="1752" y="90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2595" name="Group 31"/>
            <p:cNvGrpSpPr/>
            <p:nvPr/>
          </p:nvGrpSpPr>
          <p:grpSpPr>
            <a:xfrm>
              <a:off x="3180" y="1020"/>
              <a:ext cx="1104" cy="240"/>
              <a:chOff x="1200" y="1020"/>
              <a:chExt cx="1104" cy="240"/>
            </a:xfrm>
          </p:grpSpPr>
          <p:grpSp>
            <p:nvGrpSpPr>
              <p:cNvPr id="22596" name="Group 32"/>
              <p:cNvGrpSpPr/>
              <p:nvPr/>
            </p:nvGrpSpPr>
            <p:grpSpPr>
              <a:xfrm>
                <a:off x="1200" y="1020"/>
                <a:ext cx="672" cy="240"/>
                <a:chOff x="1200" y="1020"/>
                <a:chExt cx="672" cy="240"/>
              </a:xfrm>
            </p:grpSpPr>
            <p:sp>
              <p:nvSpPr>
                <p:cNvPr id="22601" name="Line 33"/>
                <p:cNvSpPr/>
                <p:nvPr/>
              </p:nvSpPr>
              <p:spPr>
                <a:xfrm>
                  <a:off x="1200" y="1260"/>
                  <a:ext cx="45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02" name="Line 34"/>
                <p:cNvSpPr/>
                <p:nvPr/>
              </p:nvSpPr>
              <p:spPr>
                <a:xfrm flipV="1">
                  <a:off x="1644" y="102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03" name="Line 35"/>
                <p:cNvSpPr/>
                <p:nvPr/>
              </p:nvSpPr>
              <p:spPr>
                <a:xfrm rot="5400000" flipV="1">
                  <a:off x="1752" y="90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597" name="Group 36"/>
              <p:cNvGrpSpPr/>
              <p:nvPr/>
            </p:nvGrpSpPr>
            <p:grpSpPr>
              <a:xfrm flipH="1">
                <a:off x="1632" y="1020"/>
                <a:ext cx="672" cy="240"/>
                <a:chOff x="1200" y="1020"/>
                <a:chExt cx="672" cy="240"/>
              </a:xfrm>
            </p:grpSpPr>
            <p:sp>
              <p:nvSpPr>
                <p:cNvPr id="22598" name="Line 37"/>
                <p:cNvSpPr/>
                <p:nvPr/>
              </p:nvSpPr>
              <p:spPr>
                <a:xfrm>
                  <a:off x="1200" y="1260"/>
                  <a:ext cx="45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99" name="Line 38"/>
                <p:cNvSpPr/>
                <p:nvPr/>
              </p:nvSpPr>
              <p:spPr>
                <a:xfrm flipV="1">
                  <a:off x="1644" y="102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600" name="Line 39"/>
                <p:cNvSpPr/>
                <p:nvPr/>
              </p:nvSpPr>
              <p:spPr>
                <a:xfrm rot="5400000" flipV="1">
                  <a:off x="1752" y="900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22532" name="Text Box 40"/>
          <p:cNvSpPr txBox="1"/>
          <p:nvPr/>
        </p:nvSpPr>
        <p:spPr>
          <a:xfrm>
            <a:off x="1219200" y="1862138"/>
            <a:ext cx="97155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i="1" dirty="0">
                <a:latin typeface="Times New Roman" panose="02020603050405020304" pitchFamily="18" charset="0"/>
                <a:ea typeface="楷体_GB2312" pitchFamily="49" charset="-122"/>
              </a:rPr>
              <a:t>CP</a:t>
            </a:r>
            <a:endParaRPr lang="en-US" altLang="zh-CN" sz="3200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5" name="Group 41"/>
          <p:cNvGrpSpPr/>
          <p:nvPr/>
        </p:nvGrpSpPr>
        <p:grpSpPr>
          <a:xfrm>
            <a:off x="2016125" y="2659063"/>
            <a:ext cx="4668838" cy="398462"/>
            <a:chOff x="1198" y="1486"/>
            <a:chExt cx="2941" cy="251"/>
          </a:xfrm>
        </p:grpSpPr>
        <p:sp>
          <p:nvSpPr>
            <p:cNvPr id="22580" name="Line 42"/>
            <p:cNvSpPr/>
            <p:nvPr/>
          </p:nvSpPr>
          <p:spPr>
            <a:xfrm>
              <a:off x="1520" y="1728"/>
              <a:ext cx="4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1" name="Line 43"/>
            <p:cNvSpPr/>
            <p:nvPr/>
          </p:nvSpPr>
          <p:spPr>
            <a:xfrm flipV="1">
              <a:off x="1964" y="1497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2" name="Line 44"/>
            <p:cNvSpPr/>
            <p:nvPr/>
          </p:nvSpPr>
          <p:spPr>
            <a:xfrm rot="5400000" flipV="1">
              <a:off x="2081" y="1368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3" name="Line 45"/>
            <p:cNvSpPr/>
            <p:nvPr/>
          </p:nvSpPr>
          <p:spPr>
            <a:xfrm flipH="1">
              <a:off x="2405" y="1728"/>
              <a:ext cx="4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4" name="Line 46"/>
            <p:cNvSpPr/>
            <p:nvPr/>
          </p:nvSpPr>
          <p:spPr>
            <a:xfrm flipH="1" flipV="1">
              <a:off x="2408" y="1488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5" name="Line 47"/>
            <p:cNvSpPr/>
            <p:nvPr/>
          </p:nvSpPr>
          <p:spPr>
            <a:xfrm rot="-5400000" flipH="1" flipV="1">
              <a:off x="2300" y="1368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6" name="Line 48"/>
            <p:cNvSpPr/>
            <p:nvPr/>
          </p:nvSpPr>
          <p:spPr>
            <a:xfrm>
              <a:off x="2816" y="1728"/>
              <a:ext cx="4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7" name="Line 49"/>
            <p:cNvSpPr/>
            <p:nvPr/>
          </p:nvSpPr>
          <p:spPr>
            <a:xfrm flipV="1">
              <a:off x="3260" y="1497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8" name="Line 50"/>
            <p:cNvSpPr/>
            <p:nvPr/>
          </p:nvSpPr>
          <p:spPr>
            <a:xfrm rot="5400000" flipV="1">
              <a:off x="3377" y="1368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9" name="Line 51"/>
            <p:cNvSpPr/>
            <p:nvPr/>
          </p:nvSpPr>
          <p:spPr>
            <a:xfrm flipH="1">
              <a:off x="3683" y="1486"/>
              <a:ext cx="4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90" name="Line 52"/>
            <p:cNvSpPr/>
            <p:nvPr/>
          </p:nvSpPr>
          <p:spPr>
            <a:xfrm rot="-5400000" flipH="1" flipV="1">
              <a:off x="3596" y="1368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91" name="Line 53"/>
            <p:cNvSpPr/>
            <p:nvPr/>
          </p:nvSpPr>
          <p:spPr>
            <a:xfrm flipH="1">
              <a:off x="1198" y="1733"/>
              <a:ext cx="4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2534" name="Text Box 54"/>
          <p:cNvSpPr txBox="1"/>
          <p:nvPr/>
        </p:nvSpPr>
        <p:spPr>
          <a:xfrm>
            <a:off x="1381125" y="2633663"/>
            <a:ext cx="89535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endParaRPr lang="en-US" altLang="zh-CN" sz="3200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6" name="Group 55"/>
          <p:cNvGrpSpPr/>
          <p:nvPr/>
        </p:nvGrpSpPr>
        <p:grpSpPr>
          <a:xfrm>
            <a:off x="2009775" y="3546475"/>
            <a:ext cx="4668838" cy="414338"/>
            <a:chOff x="1266" y="2234"/>
            <a:chExt cx="2941" cy="261"/>
          </a:xfrm>
        </p:grpSpPr>
        <p:sp>
          <p:nvSpPr>
            <p:cNvPr id="22569" name="Line 56"/>
            <p:cNvSpPr/>
            <p:nvPr/>
          </p:nvSpPr>
          <p:spPr>
            <a:xfrm>
              <a:off x="1588" y="2249"/>
              <a:ext cx="4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0" name="Line 57"/>
            <p:cNvSpPr/>
            <p:nvPr/>
          </p:nvSpPr>
          <p:spPr>
            <a:xfrm rot="5400000" flipV="1">
              <a:off x="2149" y="236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1" name="Line 58"/>
            <p:cNvSpPr/>
            <p:nvPr/>
          </p:nvSpPr>
          <p:spPr>
            <a:xfrm flipH="1">
              <a:off x="2473" y="2486"/>
              <a:ext cx="4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2" name="Line 59"/>
            <p:cNvSpPr/>
            <p:nvPr/>
          </p:nvSpPr>
          <p:spPr>
            <a:xfrm flipH="1" flipV="1">
              <a:off x="2044" y="2234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3" name="Line 60"/>
            <p:cNvSpPr/>
            <p:nvPr/>
          </p:nvSpPr>
          <p:spPr>
            <a:xfrm rot="-5400000" flipH="1" flipV="1">
              <a:off x="2368" y="236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4" name="Line 61"/>
            <p:cNvSpPr/>
            <p:nvPr/>
          </p:nvSpPr>
          <p:spPr>
            <a:xfrm>
              <a:off x="2884" y="2486"/>
              <a:ext cx="4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5" name="Line 62"/>
            <p:cNvSpPr/>
            <p:nvPr/>
          </p:nvSpPr>
          <p:spPr>
            <a:xfrm flipV="1">
              <a:off x="3328" y="2255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6" name="Line 63"/>
            <p:cNvSpPr/>
            <p:nvPr/>
          </p:nvSpPr>
          <p:spPr>
            <a:xfrm rot="5400000" flipV="1">
              <a:off x="3445" y="212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7" name="Line 64"/>
            <p:cNvSpPr/>
            <p:nvPr/>
          </p:nvSpPr>
          <p:spPr>
            <a:xfrm flipH="1">
              <a:off x="3751" y="2247"/>
              <a:ext cx="4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8" name="Line 65"/>
            <p:cNvSpPr/>
            <p:nvPr/>
          </p:nvSpPr>
          <p:spPr>
            <a:xfrm rot="-5400000" flipH="1" flipV="1">
              <a:off x="3664" y="212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9" name="Line 66"/>
            <p:cNvSpPr/>
            <p:nvPr/>
          </p:nvSpPr>
          <p:spPr>
            <a:xfrm flipH="1">
              <a:off x="1266" y="2248"/>
              <a:ext cx="4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2536" name="Text Box 67"/>
          <p:cNvSpPr txBox="1"/>
          <p:nvPr/>
        </p:nvSpPr>
        <p:spPr>
          <a:xfrm>
            <a:off x="1381125" y="3195638"/>
            <a:ext cx="49530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endParaRPr lang="en-US" altLang="zh-CN" sz="3200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537" name="Text Box 68"/>
          <p:cNvSpPr txBox="1"/>
          <p:nvPr/>
        </p:nvSpPr>
        <p:spPr>
          <a:xfrm>
            <a:off x="1311275" y="4135438"/>
            <a:ext cx="549275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3200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2538" name="Object 69"/>
          <p:cNvGraphicFramePr>
            <a:graphicFrameLocks noChangeAspect="1"/>
          </p:cNvGraphicFramePr>
          <p:nvPr/>
        </p:nvGraphicFramePr>
        <p:xfrm>
          <a:off x="1428750" y="5200650"/>
          <a:ext cx="3794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65100" imgH="241300" progId="Equation.3">
                  <p:embed/>
                </p:oleObj>
              </mc:Choice>
              <mc:Fallback>
                <p:oleObj name="" r:id="rId1" imgW="165100" imgH="241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8750" y="5200650"/>
                        <a:ext cx="379413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70"/>
          <p:cNvGrpSpPr/>
          <p:nvPr/>
        </p:nvGrpSpPr>
        <p:grpSpPr>
          <a:xfrm>
            <a:off x="1931988" y="4729163"/>
            <a:ext cx="787400" cy="679450"/>
            <a:chOff x="1217" y="2979"/>
            <a:chExt cx="496" cy="428"/>
          </a:xfrm>
        </p:grpSpPr>
        <p:sp>
          <p:nvSpPr>
            <p:cNvPr id="22567" name="Line 71"/>
            <p:cNvSpPr/>
            <p:nvPr/>
          </p:nvSpPr>
          <p:spPr>
            <a:xfrm>
              <a:off x="1217" y="2979"/>
              <a:ext cx="4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8" name="Line 72"/>
            <p:cNvSpPr/>
            <p:nvPr/>
          </p:nvSpPr>
          <p:spPr>
            <a:xfrm>
              <a:off x="1217" y="3407"/>
              <a:ext cx="4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1369" name="Line 73"/>
          <p:cNvSpPr/>
          <p:nvPr/>
        </p:nvSpPr>
        <p:spPr>
          <a:xfrm flipH="1">
            <a:off x="5865813" y="1771650"/>
            <a:ext cx="0" cy="4041775"/>
          </a:xfrm>
          <a:prstGeom prst="line">
            <a:avLst/>
          </a:prstGeom>
          <a:ln w="381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18" name="Group 74"/>
          <p:cNvGrpSpPr/>
          <p:nvPr/>
        </p:nvGrpSpPr>
        <p:grpSpPr>
          <a:xfrm>
            <a:off x="2395538" y="952500"/>
            <a:ext cx="923925" cy="4759325"/>
            <a:chOff x="1509" y="600"/>
            <a:chExt cx="582" cy="2998"/>
          </a:xfrm>
        </p:grpSpPr>
        <p:sp>
          <p:nvSpPr>
            <p:cNvPr id="22565" name="Line 75"/>
            <p:cNvSpPr/>
            <p:nvPr/>
          </p:nvSpPr>
          <p:spPr>
            <a:xfrm>
              <a:off x="1713" y="1116"/>
              <a:ext cx="0" cy="248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2566" name="AutoShape 76"/>
            <p:cNvSpPr/>
            <p:nvPr/>
          </p:nvSpPr>
          <p:spPr>
            <a:xfrm>
              <a:off x="1509" y="600"/>
              <a:ext cx="582" cy="391"/>
            </a:xfrm>
            <a:prstGeom prst="wedgeRoundRectCallout">
              <a:avLst>
                <a:gd name="adj1" fmla="val -14088"/>
                <a:gd name="adj2" fmla="val 81458"/>
                <a:gd name="adj3" fmla="val 16667"/>
              </a:avLst>
            </a:prstGeom>
            <a:solidFill>
              <a:srgbClr val="99FFCC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Set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9" name="Group 77"/>
          <p:cNvGrpSpPr/>
          <p:nvPr/>
        </p:nvGrpSpPr>
        <p:grpSpPr>
          <a:xfrm>
            <a:off x="3475038" y="900113"/>
            <a:ext cx="1154112" cy="4889500"/>
            <a:chOff x="2273" y="555"/>
            <a:chExt cx="727" cy="3080"/>
          </a:xfrm>
        </p:grpSpPr>
        <p:sp>
          <p:nvSpPr>
            <p:cNvPr id="22563" name="Line 78"/>
            <p:cNvSpPr/>
            <p:nvPr/>
          </p:nvSpPr>
          <p:spPr>
            <a:xfrm>
              <a:off x="2468" y="1089"/>
              <a:ext cx="9" cy="254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2564" name="AutoShape 79"/>
            <p:cNvSpPr/>
            <p:nvPr/>
          </p:nvSpPr>
          <p:spPr>
            <a:xfrm>
              <a:off x="2273" y="555"/>
              <a:ext cx="727" cy="400"/>
            </a:xfrm>
            <a:prstGeom prst="wedgeRoundRectCallout">
              <a:avLst>
                <a:gd name="adj1" fmla="val -21250"/>
                <a:gd name="adj2" fmla="val 78500"/>
                <a:gd name="adj3" fmla="val 16667"/>
              </a:avLst>
            </a:prstGeom>
            <a:solidFill>
              <a:srgbClr val="99FFCC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Reset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11376" name="AutoShape 80"/>
          <p:cNvSpPr/>
          <p:nvPr/>
        </p:nvSpPr>
        <p:spPr>
          <a:xfrm>
            <a:off x="5800725" y="895350"/>
            <a:ext cx="2452688" cy="720725"/>
          </a:xfrm>
          <a:prstGeom prst="wedgeRoundRectCallout">
            <a:avLst>
              <a:gd name="adj1" fmla="val -47088"/>
              <a:gd name="adj2" fmla="val 62773"/>
              <a:gd name="adj3" fmla="val 16667"/>
            </a:avLst>
          </a:prstGeom>
          <a:solidFill>
            <a:srgbClr val="99FFCC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使输出全为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1377" name="Line 81"/>
          <p:cNvSpPr/>
          <p:nvPr/>
        </p:nvSpPr>
        <p:spPr>
          <a:xfrm flipH="1">
            <a:off x="6189663" y="1771650"/>
            <a:ext cx="0" cy="4041775"/>
          </a:xfrm>
          <a:prstGeom prst="line">
            <a:avLst/>
          </a:prstGeom>
          <a:ln w="381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11378" name="AutoShape 82"/>
          <p:cNvSpPr/>
          <p:nvPr/>
        </p:nvSpPr>
        <p:spPr>
          <a:xfrm>
            <a:off x="6826250" y="2884488"/>
            <a:ext cx="1924050" cy="1238250"/>
          </a:xfrm>
          <a:prstGeom prst="wedgeRoundRectCallout">
            <a:avLst>
              <a:gd name="adj1" fmla="val -44060"/>
              <a:gd name="adj2" fmla="val 83972"/>
              <a:gd name="adj3" fmla="val 16667"/>
            </a:avLst>
          </a:prstGeom>
          <a:solidFill>
            <a:srgbClr val="99FFCC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3200" b="1" i="1" dirty="0">
                <a:latin typeface="Times New Roman" panose="02020603050405020304" pitchFamily="18" charset="0"/>
                <a:ea typeface="楷体_GB2312" pitchFamily="49" charset="-122"/>
              </a:rPr>
              <a:t>CP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撤去后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/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状态不定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0" name="Group 83"/>
          <p:cNvGrpSpPr/>
          <p:nvPr/>
        </p:nvGrpSpPr>
        <p:grpSpPr>
          <a:xfrm>
            <a:off x="2719388" y="4400550"/>
            <a:ext cx="4881562" cy="357188"/>
            <a:chOff x="1713" y="2772"/>
            <a:chExt cx="3075" cy="225"/>
          </a:xfrm>
        </p:grpSpPr>
        <p:sp>
          <p:nvSpPr>
            <p:cNvPr id="22555" name="Line 84"/>
            <p:cNvSpPr/>
            <p:nvPr/>
          </p:nvSpPr>
          <p:spPr>
            <a:xfrm>
              <a:off x="1713" y="2780"/>
              <a:ext cx="0" cy="2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6" name="Line 85"/>
            <p:cNvSpPr/>
            <p:nvPr/>
          </p:nvSpPr>
          <p:spPr>
            <a:xfrm>
              <a:off x="1713" y="2784"/>
              <a:ext cx="68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7" name="Line 86"/>
            <p:cNvSpPr/>
            <p:nvPr/>
          </p:nvSpPr>
          <p:spPr>
            <a:xfrm>
              <a:off x="2385" y="2788"/>
              <a:ext cx="0" cy="2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8" name="Line 87"/>
            <p:cNvSpPr/>
            <p:nvPr/>
          </p:nvSpPr>
          <p:spPr>
            <a:xfrm>
              <a:off x="2388" y="2981"/>
              <a:ext cx="130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9" name="Line 88"/>
            <p:cNvSpPr/>
            <p:nvPr/>
          </p:nvSpPr>
          <p:spPr>
            <a:xfrm>
              <a:off x="3681" y="2772"/>
              <a:ext cx="0" cy="2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0" name="Line 89"/>
            <p:cNvSpPr/>
            <p:nvPr/>
          </p:nvSpPr>
          <p:spPr>
            <a:xfrm>
              <a:off x="3684" y="2784"/>
              <a:ext cx="22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1" name="Line 90"/>
            <p:cNvSpPr/>
            <p:nvPr/>
          </p:nvSpPr>
          <p:spPr>
            <a:xfrm>
              <a:off x="3900" y="2784"/>
              <a:ext cx="8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2562" name="Line 91"/>
            <p:cNvSpPr/>
            <p:nvPr/>
          </p:nvSpPr>
          <p:spPr>
            <a:xfrm>
              <a:off x="3900" y="2981"/>
              <a:ext cx="8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21" name="Group 92"/>
          <p:cNvGrpSpPr/>
          <p:nvPr/>
        </p:nvGrpSpPr>
        <p:grpSpPr>
          <a:xfrm>
            <a:off x="2719388" y="5391150"/>
            <a:ext cx="4881562" cy="344488"/>
            <a:chOff x="1713" y="3396"/>
            <a:chExt cx="3075" cy="217"/>
          </a:xfrm>
        </p:grpSpPr>
        <p:sp>
          <p:nvSpPr>
            <p:cNvPr id="22548" name="Line 93"/>
            <p:cNvSpPr/>
            <p:nvPr/>
          </p:nvSpPr>
          <p:spPr>
            <a:xfrm flipV="1">
              <a:off x="1713" y="3404"/>
              <a:ext cx="0" cy="2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9" name="Line 94"/>
            <p:cNvSpPr/>
            <p:nvPr/>
          </p:nvSpPr>
          <p:spPr>
            <a:xfrm flipV="1">
              <a:off x="1713" y="3597"/>
              <a:ext cx="687" cy="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0" name="Line 95"/>
            <p:cNvSpPr/>
            <p:nvPr/>
          </p:nvSpPr>
          <p:spPr>
            <a:xfrm flipV="1">
              <a:off x="2385" y="3396"/>
              <a:ext cx="0" cy="2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1" name="Line 96"/>
            <p:cNvSpPr/>
            <p:nvPr/>
          </p:nvSpPr>
          <p:spPr>
            <a:xfrm>
              <a:off x="2388" y="3400"/>
              <a:ext cx="1308" cy="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2" name="Line 97"/>
            <p:cNvSpPr/>
            <p:nvPr/>
          </p:nvSpPr>
          <p:spPr>
            <a:xfrm flipV="1">
              <a:off x="3684" y="3405"/>
              <a:ext cx="22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3" name="Line 98"/>
            <p:cNvSpPr/>
            <p:nvPr/>
          </p:nvSpPr>
          <p:spPr>
            <a:xfrm flipV="1">
              <a:off x="3900" y="3609"/>
              <a:ext cx="8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2554" name="Line 99"/>
            <p:cNvSpPr/>
            <p:nvPr/>
          </p:nvSpPr>
          <p:spPr>
            <a:xfrm flipV="1">
              <a:off x="3900" y="3412"/>
              <a:ext cx="8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1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1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1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31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76" grpId="0" animBg="1"/>
      <p:bldP spid="31137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4"/>
          <p:cNvGrpSpPr/>
          <p:nvPr/>
        </p:nvGrpSpPr>
        <p:grpSpPr>
          <a:xfrm>
            <a:off x="1817688" y="1196975"/>
            <a:ext cx="5648325" cy="2525713"/>
            <a:chOff x="1190" y="1541"/>
            <a:chExt cx="3558" cy="1968"/>
          </a:xfrm>
        </p:grpSpPr>
        <p:sp>
          <p:nvSpPr>
            <p:cNvPr id="23569" name="Line 3"/>
            <p:cNvSpPr/>
            <p:nvPr/>
          </p:nvSpPr>
          <p:spPr>
            <a:xfrm>
              <a:off x="1190" y="1541"/>
              <a:ext cx="3538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0" name="Line 4"/>
            <p:cNvSpPr/>
            <p:nvPr/>
          </p:nvSpPr>
          <p:spPr>
            <a:xfrm>
              <a:off x="1190" y="2522"/>
              <a:ext cx="3538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1" name="Line 6"/>
            <p:cNvSpPr/>
            <p:nvPr/>
          </p:nvSpPr>
          <p:spPr>
            <a:xfrm>
              <a:off x="1190" y="3012"/>
              <a:ext cx="3538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2" name="Line 7"/>
            <p:cNvSpPr/>
            <p:nvPr/>
          </p:nvSpPr>
          <p:spPr>
            <a:xfrm>
              <a:off x="1190" y="3503"/>
              <a:ext cx="3538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3" name="Line 8"/>
            <p:cNvSpPr/>
            <p:nvPr/>
          </p:nvSpPr>
          <p:spPr>
            <a:xfrm>
              <a:off x="1954" y="1551"/>
              <a:ext cx="0" cy="194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4" name="Line 9"/>
            <p:cNvSpPr/>
            <p:nvPr/>
          </p:nvSpPr>
          <p:spPr>
            <a:xfrm>
              <a:off x="2644" y="2022"/>
              <a:ext cx="0" cy="1474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5" name="Line 10"/>
            <p:cNvSpPr/>
            <p:nvPr/>
          </p:nvSpPr>
          <p:spPr>
            <a:xfrm>
              <a:off x="4024" y="2047"/>
              <a:ext cx="0" cy="146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6" name="Line 11"/>
            <p:cNvSpPr/>
            <p:nvPr/>
          </p:nvSpPr>
          <p:spPr>
            <a:xfrm>
              <a:off x="1947" y="2031"/>
              <a:ext cx="2801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7" name="Text Box 12"/>
            <p:cNvSpPr txBox="1"/>
            <p:nvPr/>
          </p:nvSpPr>
          <p:spPr>
            <a:xfrm>
              <a:off x="1197" y="1684"/>
              <a:ext cx="676" cy="8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algn="ctr">
                <a:lnSpc>
                  <a:spcPct val="11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现  态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78" name="Text Box 13"/>
            <p:cNvSpPr txBox="1"/>
            <p:nvPr/>
          </p:nvSpPr>
          <p:spPr>
            <a:xfrm>
              <a:off x="2669" y="1654"/>
              <a:ext cx="1251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次  态 </a:t>
              </a:r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n+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1)</a:t>
              </a:r>
              <a:endParaRPr lang="en-US" altLang="zh-CN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23579" name="Text Box 14"/>
            <p:cNvSpPr txBox="1"/>
            <p:nvPr/>
          </p:nvSpPr>
          <p:spPr>
            <a:xfrm>
              <a:off x="2761" y="2120"/>
              <a:ext cx="396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80" name="Text Box 16"/>
            <p:cNvSpPr txBox="1"/>
            <p:nvPr/>
          </p:nvSpPr>
          <p:spPr>
            <a:xfrm>
              <a:off x="2631" y="2738"/>
              <a:ext cx="116" cy="4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endParaRPr lang="zh-CN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3581" name="Line 19"/>
            <p:cNvSpPr/>
            <p:nvPr/>
          </p:nvSpPr>
          <p:spPr>
            <a:xfrm>
              <a:off x="3334" y="2044"/>
              <a:ext cx="0" cy="1441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2" name="Text Box 20"/>
            <p:cNvSpPr txBox="1"/>
            <p:nvPr/>
          </p:nvSpPr>
          <p:spPr>
            <a:xfrm>
              <a:off x="1409" y="2608"/>
              <a:ext cx="228" cy="4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83" name="Text Box 21"/>
            <p:cNvSpPr txBox="1"/>
            <p:nvPr/>
          </p:nvSpPr>
          <p:spPr>
            <a:xfrm>
              <a:off x="1409" y="3098"/>
              <a:ext cx="228" cy="4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84" name="Text Box 22"/>
            <p:cNvSpPr txBox="1"/>
            <p:nvPr/>
          </p:nvSpPr>
          <p:spPr>
            <a:xfrm>
              <a:off x="2131" y="2608"/>
              <a:ext cx="228" cy="4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85" name="Text Box 23"/>
            <p:cNvSpPr txBox="1"/>
            <p:nvPr/>
          </p:nvSpPr>
          <p:spPr>
            <a:xfrm>
              <a:off x="2131" y="3098"/>
              <a:ext cx="228" cy="4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86" name="Text Box 24"/>
            <p:cNvSpPr txBox="1"/>
            <p:nvPr/>
          </p:nvSpPr>
          <p:spPr>
            <a:xfrm>
              <a:off x="2831" y="2608"/>
              <a:ext cx="228" cy="4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87" name="Text Box 25"/>
            <p:cNvSpPr txBox="1"/>
            <p:nvPr/>
          </p:nvSpPr>
          <p:spPr>
            <a:xfrm>
              <a:off x="2831" y="3098"/>
              <a:ext cx="228" cy="4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88" name="Text Box 26"/>
            <p:cNvSpPr txBox="1"/>
            <p:nvPr/>
          </p:nvSpPr>
          <p:spPr>
            <a:xfrm>
              <a:off x="3542" y="2608"/>
              <a:ext cx="228" cy="4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89" name="Text Box 27"/>
            <p:cNvSpPr txBox="1"/>
            <p:nvPr/>
          </p:nvSpPr>
          <p:spPr>
            <a:xfrm>
              <a:off x="3542" y="3098"/>
              <a:ext cx="228" cy="4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90" name="Text Box 28"/>
            <p:cNvSpPr txBox="1"/>
            <p:nvPr/>
          </p:nvSpPr>
          <p:spPr>
            <a:xfrm>
              <a:off x="4253" y="2608"/>
              <a:ext cx="228" cy="4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91" name="Text Box 29"/>
            <p:cNvSpPr txBox="1"/>
            <p:nvPr/>
          </p:nvSpPr>
          <p:spPr>
            <a:xfrm>
              <a:off x="4253" y="3098"/>
              <a:ext cx="228" cy="40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92" name="Text Box 31"/>
            <p:cNvSpPr txBox="1"/>
            <p:nvPr/>
          </p:nvSpPr>
          <p:spPr>
            <a:xfrm>
              <a:off x="1919" y="2120"/>
              <a:ext cx="715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RS</a:t>
              </a:r>
              <a:r>
                <a:rPr lang="en-US" altLang="zh-CN" dirty="0">
                  <a:latin typeface="Times New Roman" panose="02020603050405020304" pitchFamily="18" charset="0"/>
                </a:rPr>
                <a:t>=00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93" name="Text Box 32"/>
            <p:cNvSpPr txBox="1"/>
            <p:nvPr/>
          </p:nvSpPr>
          <p:spPr>
            <a:xfrm>
              <a:off x="3472" y="2120"/>
              <a:ext cx="396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94" name="Text Box 33"/>
            <p:cNvSpPr txBox="1"/>
            <p:nvPr/>
          </p:nvSpPr>
          <p:spPr>
            <a:xfrm>
              <a:off x="4161" y="2120"/>
              <a:ext cx="396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635" name="Text Box 35"/>
          <p:cNvSpPr txBox="1"/>
          <p:nvPr/>
        </p:nvSpPr>
        <p:spPr>
          <a:xfrm>
            <a:off x="2112963" y="650875"/>
            <a:ext cx="4846637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电平触发式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触发器状态表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" name="Group 45"/>
          <p:cNvGrpSpPr/>
          <p:nvPr/>
        </p:nvGrpSpPr>
        <p:grpSpPr>
          <a:xfrm>
            <a:off x="1766888" y="4276725"/>
            <a:ext cx="5748337" cy="2406650"/>
            <a:chOff x="1175" y="1044"/>
            <a:chExt cx="3621" cy="1516"/>
          </a:xfrm>
        </p:grpSpPr>
        <p:sp>
          <p:nvSpPr>
            <p:cNvPr id="23558" name="Oval 46"/>
            <p:cNvSpPr/>
            <p:nvPr/>
          </p:nvSpPr>
          <p:spPr>
            <a:xfrm>
              <a:off x="1645" y="1792"/>
              <a:ext cx="432" cy="4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59" name="Oval 47"/>
            <p:cNvSpPr/>
            <p:nvPr/>
          </p:nvSpPr>
          <p:spPr>
            <a:xfrm>
              <a:off x="3568" y="1792"/>
              <a:ext cx="432" cy="4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60" name="Freeform 48"/>
            <p:cNvSpPr/>
            <p:nvPr/>
          </p:nvSpPr>
          <p:spPr>
            <a:xfrm>
              <a:off x="2067" y="1770"/>
              <a:ext cx="1533" cy="187"/>
            </a:xfrm>
            <a:custGeom>
              <a:avLst/>
              <a:gdLst>
                <a:gd name="txL" fmla="*/ 0 w 1533"/>
                <a:gd name="txT" fmla="*/ 0 h 298"/>
                <a:gd name="txR" fmla="*/ 1533 w 1533"/>
                <a:gd name="txB" fmla="*/ 298 h 298"/>
              </a:gdLst>
              <a:ahLst/>
              <a:cxnLst>
                <a:cxn ang="0">
                  <a:pos x="0" y="117"/>
                </a:cxn>
                <a:cxn ang="0">
                  <a:pos x="711" y="4"/>
                </a:cxn>
                <a:cxn ang="0">
                  <a:pos x="1533" y="95"/>
                </a:cxn>
              </a:cxnLst>
              <a:rect l="txL" t="txT" r="txR" b="txB"/>
              <a:pathLst>
                <a:path w="1533" h="298">
                  <a:moveTo>
                    <a:pt x="0" y="298"/>
                  </a:moveTo>
                  <a:cubicBezTo>
                    <a:pt x="228" y="158"/>
                    <a:pt x="456" y="18"/>
                    <a:pt x="711" y="9"/>
                  </a:cubicBezTo>
                  <a:cubicBezTo>
                    <a:pt x="966" y="0"/>
                    <a:pt x="1249" y="121"/>
                    <a:pt x="1533" y="243"/>
                  </a:cubicBez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1" name="Freeform 49"/>
            <p:cNvSpPr/>
            <p:nvPr/>
          </p:nvSpPr>
          <p:spPr>
            <a:xfrm flipH="1" flipV="1">
              <a:off x="2040" y="2089"/>
              <a:ext cx="1533" cy="187"/>
            </a:xfrm>
            <a:custGeom>
              <a:avLst/>
              <a:gdLst>
                <a:gd name="txL" fmla="*/ 0 w 1533"/>
                <a:gd name="txT" fmla="*/ 0 h 298"/>
                <a:gd name="txR" fmla="*/ 1533 w 1533"/>
                <a:gd name="txB" fmla="*/ 298 h 298"/>
              </a:gdLst>
              <a:ahLst/>
              <a:cxnLst>
                <a:cxn ang="0">
                  <a:pos x="0" y="117"/>
                </a:cxn>
                <a:cxn ang="0">
                  <a:pos x="711" y="4"/>
                </a:cxn>
                <a:cxn ang="0">
                  <a:pos x="1533" y="95"/>
                </a:cxn>
              </a:cxnLst>
              <a:rect l="txL" t="txT" r="txR" b="txB"/>
              <a:pathLst>
                <a:path w="1533" h="298">
                  <a:moveTo>
                    <a:pt x="0" y="298"/>
                  </a:moveTo>
                  <a:cubicBezTo>
                    <a:pt x="228" y="158"/>
                    <a:pt x="456" y="18"/>
                    <a:pt x="711" y="9"/>
                  </a:cubicBezTo>
                  <a:cubicBezTo>
                    <a:pt x="966" y="0"/>
                    <a:pt x="1249" y="121"/>
                    <a:pt x="1533" y="243"/>
                  </a:cubicBez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2" name="Arc 50"/>
            <p:cNvSpPr/>
            <p:nvPr/>
          </p:nvSpPr>
          <p:spPr>
            <a:xfrm>
              <a:off x="1394" y="1707"/>
              <a:ext cx="348" cy="354"/>
            </a:xfrm>
            <a:custGeom>
              <a:avLst/>
              <a:gdLst>
                <a:gd name="txL" fmla="*/ 0 w 42479"/>
                <a:gd name="txT" fmla="*/ 0 h 43200"/>
                <a:gd name="txR" fmla="*/ 42479 w 42479"/>
                <a:gd name="txB" fmla="*/ 43200 h 432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479" h="43200" fill="none">
                  <a:moveTo>
                    <a:pt x="30276" y="41380"/>
                  </a:moveTo>
                  <a:cubicBezTo>
                    <a:pt x="27541" y="42580"/>
                    <a:pt x="2458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398" y="-1"/>
                    <a:pt x="39968" y="6595"/>
                    <a:pt x="42479" y="16065"/>
                  </a:cubicBezTo>
                </a:path>
                <a:path w="42479" h="43200" stroke="0">
                  <a:moveTo>
                    <a:pt x="30276" y="41380"/>
                  </a:moveTo>
                  <a:cubicBezTo>
                    <a:pt x="27541" y="42580"/>
                    <a:pt x="2458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398" y="-1"/>
                    <a:pt x="39968" y="6595"/>
                    <a:pt x="42479" y="16065"/>
                  </a:cubicBezTo>
                  <a:lnTo>
                    <a:pt x="21600" y="21600"/>
                  </a:lnTo>
                  <a:lnTo>
                    <a:pt x="30276" y="41380"/>
                  </a:lnTo>
                  <a:close/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3" name="Arc 51"/>
            <p:cNvSpPr/>
            <p:nvPr/>
          </p:nvSpPr>
          <p:spPr>
            <a:xfrm flipH="1" flipV="1">
              <a:off x="3931" y="1707"/>
              <a:ext cx="345" cy="354"/>
            </a:xfrm>
            <a:custGeom>
              <a:avLst/>
              <a:gdLst>
                <a:gd name="txL" fmla="*/ 0 w 42097"/>
                <a:gd name="txT" fmla="*/ 0 h 43200"/>
                <a:gd name="txR" fmla="*/ 42097 w 42097"/>
                <a:gd name="txB" fmla="*/ 43200 h 432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097" h="43200" fill="none">
                  <a:moveTo>
                    <a:pt x="42096" y="28414"/>
                  </a:moveTo>
                  <a:cubicBezTo>
                    <a:pt x="39161" y="37243"/>
                    <a:pt x="3090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7063" y="-1"/>
                    <a:pt x="32323" y="2070"/>
                    <a:pt x="36321" y="5793"/>
                  </a:cubicBezTo>
                </a:path>
                <a:path w="42097" h="43200" stroke="0">
                  <a:moveTo>
                    <a:pt x="42096" y="28414"/>
                  </a:moveTo>
                  <a:cubicBezTo>
                    <a:pt x="39161" y="37243"/>
                    <a:pt x="3090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7063" y="-1"/>
                    <a:pt x="32323" y="2070"/>
                    <a:pt x="36321" y="5793"/>
                  </a:cubicBezTo>
                  <a:lnTo>
                    <a:pt x="21600" y="21600"/>
                  </a:lnTo>
                  <a:lnTo>
                    <a:pt x="42096" y="28414"/>
                  </a:lnTo>
                  <a:close/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4" name="Text Box 52"/>
            <p:cNvSpPr txBox="1"/>
            <p:nvPr/>
          </p:nvSpPr>
          <p:spPr>
            <a:xfrm>
              <a:off x="1175" y="1378"/>
              <a:ext cx="67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00, 10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65" name="Text Box 53"/>
            <p:cNvSpPr txBox="1"/>
            <p:nvPr/>
          </p:nvSpPr>
          <p:spPr>
            <a:xfrm>
              <a:off x="4120" y="1933"/>
              <a:ext cx="67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00, 01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66" name="Text Box 54"/>
            <p:cNvSpPr txBox="1"/>
            <p:nvPr/>
          </p:nvSpPr>
          <p:spPr>
            <a:xfrm>
              <a:off x="2132" y="1044"/>
              <a:ext cx="36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RS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3567" name="Text Box 55"/>
            <p:cNvSpPr txBox="1"/>
            <p:nvPr/>
          </p:nvSpPr>
          <p:spPr>
            <a:xfrm>
              <a:off x="2642" y="1500"/>
              <a:ext cx="34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568" name="Text Box 56"/>
            <p:cNvSpPr txBox="1"/>
            <p:nvPr/>
          </p:nvSpPr>
          <p:spPr>
            <a:xfrm>
              <a:off x="2642" y="2233"/>
              <a:ext cx="34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657" name="Text Box 57"/>
          <p:cNvSpPr txBox="1"/>
          <p:nvPr/>
        </p:nvSpPr>
        <p:spPr>
          <a:xfrm>
            <a:off x="2051050" y="3836988"/>
            <a:ext cx="4846638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电平触发式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触发器状态</a:t>
            </a:r>
            <a:r>
              <a:rPr lang="zh-CN" altLang="en-US" dirty="0">
                <a:latin typeface="Times New Roman" panose="02020603050405020304" pitchFamily="18" charset="0"/>
              </a:rPr>
              <a:t>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35" grpId="0"/>
      <p:bldP spid="2565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39" name="Text Box 15"/>
          <p:cNvSpPr txBox="1"/>
          <p:nvPr/>
        </p:nvSpPr>
        <p:spPr>
          <a:xfrm>
            <a:off x="833438" y="4097338"/>
            <a:ext cx="7232650" cy="1203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565150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电平触发式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触发器存在次态不能确定和"空翻"两个问题。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42" name="Text Box 18"/>
          <p:cNvSpPr txBox="1"/>
          <p:nvPr/>
        </p:nvSpPr>
        <p:spPr>
          <a:xfrm>
            <a:off x="844550" y="1158875"/>
            <a:ext cx="5414963" cy="9461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电平触发式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触发器的状态方程为：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1306513" y="2187575"/>
            <a:ext cx="2479675" cy="519113"/>
            <a:chOff x="2409" y="3437"/>
            <a:chExt cx="1562" cy="327"/>
          </a:xfrm>
        </p:grpSpPr>
        <p:sp>
          <p:nvSpPr>
            <p:cNvPr id="24606" name="Text Box 20"/>
            <p:cNvSpPr txBox="1"/>
            <p:nvPr/>
          </p:nvSpPr>
          <p:spPr>
            <a:xfrm>
              <a:off x="2409" y="3437"/>
              <a:ext cx="156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</a:t>
              </a:r>
              <a:r>
                <a:rPr lang="zh-CN" altLang="en-US" dirty="0">
                  <a:latin typeface="Times New Roman" panose="02020603050405020304" pitchFamily="18" charset="0"/>
                </a:rPr>
                <a:t>＝</a:t>
              </a:r>
              <a:r>
                <a:rPr lang="en-US" altLang="zh-CN" i="1" dirty="0">
                  <a:latin typeface="Times New Roman" panose="02020603050405020304" pitchFamily="18" charset="0"/>
                </a:rPr>
                <a:t>S</a:t>
              </a:r>
              <a:r>
                <a:rPr lang="zh-CN" altLang="en-US" dirty="0">
                  <a:latin typeface="Times New Roman" panose="02020603050405020304" pitchFamily="18" charset="0"/>
                </a:rPr>
                <a:t>＋</a:t>
              </a:r>
              <a:r>
                <a:rPr lang="en-US" altLang="zh-CN" i="1" dirty="0">
                  <a:latin typeface="Times New Roman" panose="02020603050405020304" pitchFamily="18" charset="0"/>
                </a:rPr>
                <a:t>RQ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607" name="Line 21"/>
            <p:cNvSpPr/>
            <p:nvPr/>
          </p:nvSpPr>
          <p:spPr>
            <a:xfrm>
              <a:off x="3545" y="3493"/>
              <a:ext cx="17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646" name="Text Box 22"/>
          <p:cNvSpPr txBox="1"/>
          <p:nvPr/>
        </p:nvSpPr>
        <p:spPr>
          <a:xfrm>
            <a:off x="1317625" y="3081338"/>
            <a:ext cx="3062288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</a:rPr>
              <a:t>= 0  (</a:t>
            </a:r>
            <a:r>
              <a:rPr lang="zh-CN" altLang="zh-CN" dirty="0">
                <a:latin typeface="Times New Roman" panose="02020603050405020304" pitchFamily="18" charset="0"/>
              </a:rPr>
              <a:t>约束条件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3" name="Group 48"/>
          <p:cNvGrpSpPr/>
          <p:nvPr/>
        </p:nvGrpSpPr>
        <p:grpSpPr>
          <a:xfrm>
            <a:off x="5953125" y="1063625"/>
            <a:ext cx="2654300" cy="2490788"/>
            <a:chOff x="3750" y="670"/>
            <a:chExt cx="1672" cy="1569"/>
          </a:xfrm>
        </p:grpSpPr>
        <p:sp>
          <p:nvSpPr>
            <p:cNvPr id="24584" name="AutoShape 47"/>
            <p:cNvSpPr/>
            <p:nvPr/>
          </p:nvSpPr>
          <p:spPr>
            <a:xfrm>
              <a:off x="4519" y="1208"/>
              <a:ext cx="487" cy="543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5" name="Oval 26"/>
            <p:cNvSpPr/>
            <p:nvPr/>
          </p:nvSpPr>
          <p:spPr>
            <a:xfrm>
              <a:off x="4129" y="1512"/>
              <a:ext cx="601" cy="256"/>
            </a:xfrm>
            <a:prstGeom prst="ellipse">
              <a:avLst/>
            </a:prstGeom>
            <a:solidFill>
              <a:srgbClr val="CCFFFF">
                <a:alpha val="50195"/>
              </a:srgbClr>
            </a:solidFill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6" name="Rectangle 27"/>
            <p:cNvSpPr/>
            <p:nvPr/>
          </p:nvSpPr>
          <p:spPr>
            <a:xfrm>
              <a:off x="4450" y="147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87" name="Rectangle 28"/>
            <p:cNvSpPr/>
            <p:nvPr/>
          </p:nvSpPr>
          <p:spPr>
            <a:xfrm>
              <a:off x="4072" y="1127"/>
              <a:ext cx="1281" cy="700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8" name="Line 29"/>
            <p:cNvSpPr/>
            <p:nvPr/>
          </p:nvSpPr>
          <p:spPr>
            <a:xfrm flipH="1" flipV="1">
              <a:off x="3843" y="883"/>
              <a:ext cx="244" cy="2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9" name="Line 30"/>
            <p:cNvSpPr/>
            <p:nvPr/>
          </p:nvSpPr>
          <p:spPr>
            <a:xfrm>
              <a:off x="4086" y="1483"/>
              <a:ext cx="127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0" name="Line 31"/>
            <p:cNvSpPr/>
            <p:nvPr/>
          </p:nvSpPr>
          <p:spPr>
            <a:xfrm>
              <a:off x="4410" y="1128"/>
              <a:ext cx="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1" name="Text Box 32"/>
            <p:cNvSpPr txBox="1"/>
            <p:nvPr/>
          </p:nvSpPr>
          <p:spPr>
            <a:xfrm>
              <a:off x="4074" y="826"/>
              <a:ext cx="13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defTabSz="914400">
                <a:tabLst>
                  <a:tab pos="758825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00  01  11  10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2" name="Text Box 33"/>
            <p:cNvSpPr txBox="1"/>
            <p:nvPr/>
          </p:nvSpPr>
          <p:spPr>
            <a:xfrm>
              <a:off x="3819" y="1159"/>
              <a:ext cx="184" cy="6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defTabSz="914400">
                <a:lnSpc>
                  <a:spcPct val="110000"/>
                </a:lnSpc>
                <a:tabLst>
                  <a:tab pos="758825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3" name="Text Box 34"/>
            <p:cNvSpPr txBox="1"/>
            <p:nvPr/>
          </p:nvSpPr>
          <p:spPr>
            <a:xfrm>
              <a:off x="3829" y="670"/>
              <a:ext cx="3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RS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4" name="Text Box 35"/>
            <p:cNvSpPr txBox="1"/>
            <p:nvPr/>
          </p:nvSpPr>
          <p:spPr>
            <a:xfrm>
              <a:off x="3750" y="870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5" name="Line 36"/>
            <p:cNvSpPr/>
            <p:nvPr/>
          </p:nvSpPr>
          <p:spPr>
            <a:xfrm>
              <a:off x="4722" y="1128"/>
              <a:ext cx="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6" name="Line 37"/>
            <p:cNvSpPr/>
            <p:nvPr/>
          </p:nvSpPr>
          <p:spPr>
            <a:xfrm>
              <a:off x="5055" y="1139"/>
              <a:ext cx="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7" name="Text Box 38"/>
            <p:cNvSpPr txBox="1"/>
            <p:nvPr/>
          </p:nvSpPr>
          <p:spPr>
            <a:xfrm>
              <a:off x="4783" y="1114"/>
              <a:ext cx="254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8" name="Text Box 39"/>
            <p:cNvSpPr txBox="1"/>
            <p:nvPr/>
          </p:nvSpPr>
          <p:spPr>
            <a:xfrm>
              <a:off x="4374" y="1912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1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="1" i="1" baseline="30000" dirty="0">
                  <a:latin typeface="Times New Roman" panose="02020603050405020304" pitchFamily="18" charset="0"/>
                </a:rPr>
                <a:t>(n+1)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99" name="Text Box 40" descr="羊皮纸"/>
            <p:cNvSpPr txBox="1"/>
            <p:nvPr/>
          </p:nvSpPr>
          <p:spPr>
            <a:xfrm>
              <a:off x="4130" y="1139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600" name="Text Box 41" descr="羊皮纸"/>
            <p:cNvSpPr txBox="1"/>
            <p:nvPr/>
          </p:nvSpPr>
          <p:spPr>
            <a:xfrm>
              <a:off x="4130" y="1482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601" name="Text Box 42" descr="羊皮纸"/>
            <p:cNvSpPr txBox="1"/>
            <p:nvPr/>
          </p:nvSpPr>
          <p:spPr>
            <a:xfrm>
              <a:off x="4452" y="1150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602" name="Text Box 43" descr="羊皮纸"/>
            <p:cNvSpPr txBox="1"/>
            <p:nvPr/>
          </p:nvSpPr>
          <p:spPr>
            <a:xfrm>
              <a:off x="5072" y="1081"/>
              <a:ext cx="11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603" name="Text Box 44" descr="羊皮纸"/>
            <p:cNvSpPr txBox="1"/>
            <p:nvPr/>
          </p:nvSpPr>
          <p:spPr>
            <a:xfrm>
              <a:off x="5094" y="1150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604" name="Text Box 45" descr="羊皮纸"/>
            <p:cNvSpPr txBox="1"/>
            <p:nvPr/>
          </p:nvSpPr>
          <p:spPr>
            <a:xfrm>
              <a:off x="5094" y="1482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605" name="Text Box 46" descr="羊皮纸"/>
            <p:cNvSpPr txBox="1"/>
            <p:nvPr/>
          </p:nvSpPr>
          <p:spPr>
            <a:xfrm>
              <a:off x="4784" y="1482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673" name="AutoShape 49" descr="羊皮纸"/>
          <p:cNvSpPr/>
          <p:nvPr/>
        </p:nvSpPr>
        <p:spPr>
          <a:xfrm>
            <a:off x="4706938" y="5137150"/>
            <a:ext cx="3644900" cy="1384300"/>
          </a:xfrm>
          <a:prstGeom prst="wedgeRectCallout">
            <a:avLst>
              <a:gd name="adj1" fmla="val -123083"/>
              <a:gd name="adj2" fmla="val -46560"/>
            </a:avLst>
          </a:prstGeom>
          <a:blipFill rotWithShape="1">
            <a:blip r:embed="rId1"/>
          </a:blipFill>
          <a:ln w="38100" cap="flat" cmpd="sng">
            <a:solidFill>
              <a:schemeClr val="bg2"/>
            </a:solidFill>
            <a:prstDash val="solid"/>
            <a:miter/>
            <a:headEnd type="none" w="med" len="med"/>
            <a:tailEnd type="none" w="sm" len="lg"/>
          </a:ln>
        </p:spPr>
        <p:txBody>
          <a:bodyPr lIns="90000" tIns="46800" rIns="90000" bIns="46800"/>
          <a:p>
            <a:pPr algn="ctr"/>
            <a:r>
              <a:rPr lang="zh-CN" altLang="en-US" sz="2000" dirty="0">
                <a:latin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</a:rPr>
              <a:t>CP=1</a:t>
            </a:r>
            <a:r>
              <a:rPr lang="zh-CN" altLang="en-US" sz="2000" dirty="0">
                <a:latin typeface="Times New Roman" panose="02020603050405020304" pitchFamily="18" charset="0"/>
              </a:rPr>
              <a:t>期间，由于输入信号变化而引起的触发器翻转的现象，称为触发器的空翻现象。</a:t>
            </a:r>
            <a:br>
              <a:rPr lang="zh-CN" altLang="en-US" sz="2000" dirty="0">
                <a:latin typeface="Times New Roman" panose="02020603050405020304" pitchFamily="18" charset="0"/>
              </a:rPr>
            </a:br>
            <a:endParaRPr lang="zh-CN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42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4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9" grpId="0" build="p"/>
      <p:bldP spid="26642" grpId="0" build="p"/>
      <p:bldP spid="26646" grpId="0" build="p"/>
      <p:bldP spid="2667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2017713" y="274638"/>
            <a:ext cx="5884863" cy="52197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6.2.2    </a:t>
            </a:r>
            <a:r>
              <a:rPr kumimoji="1" lang="en-US" altLang="en-US" b="1" kern="1200" cap="none" spc="0" normalizeH="0" baseline="0" noProof="0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电平触发式</a:t>
            </a:r>
            <a:r>
              <a:rPr kumimoji="1" lang="en-US" altLang="zh-CN" b="1" kern="1200" cap="none" spc="0" normalizeH="0" baseline="0" noProof="0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zh-CN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endParaRPr kumimoji="1" lang="zh-CN" altLang="en-US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Text Box 3"/>
          <p:cNvSpPr txBox="1"/>
          <p:nvPr/>
        </p:nvSpPr>
        <p:spPr>
          <a:xfrm>
            <a:off x="227013" y="673100"/>
            <a:ext cx="8916987" cy="9683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476250"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如果使电平触发式钟控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</a:rPr>
              <a:t>－</a:t>
            </a:r>
            <a:r>
              <a:rPr lang="en-US" altLang="zh-CN" sz="2400" dirty="0">
                <a:latin typeface="Times New Roman" panose="02020603050405020304" pitchFamily="18" charset="0"/>
              </a:rPr>
              <a:t>S</a:t>
            </a:r>
            <a:r>
              <a:rPr lang="zh-CN" altLang="zh-CN" sz="2400" dirty="0">
                <a:latin typeface="Times New Roman" panose="02020603050405020304" pitchFamily="18" charset="0"/>
              </a:rPr>
              <a:t>触发器的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zh-CN" altLang="zh-CN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</a:rPr>
              <a:t>S</a:t>
            </a:r>
            <a:r>
              <a:rPr lang="zh-CN" altLang="zh-CN" sz="2400" dirty="0">
                <a:latin typeface="Times New Roman" panose="02020603050405020304" pitchFamily="18" charset="0"/>
              </a:rPr>
              <a:t>端始终处于互补状态, 则可消去次态不能确定的问题, 这就形成了所谓的</a:t>
            </a:r>
            <a:r>
              <a:rPr lang="en-US" altLang="zh-CN" sz="2400" dirty="0">
                <a:latin typeface="Times New Roman" panose="02020603050405020304" pitchFamily="18" charset="0"/>
              </a:rPr>
              <a:t>D</a:t>
            </a:r>
            <a:r>
              <a:rPr lang="zh-CN" altLang="zh-CN" sz="2400" dirty="0">
                <a:latin typeface="Times New Roman" panose="02020603050405020304" pitchFamily="18" charset="0"/>
              </a:rPr>
              <a:t>触发器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80"/>
          <p:cNvGrpSpPr/>
          <p:nvPr/>
        </p:nvGrpSpPr>
        <p:grpSpPr>
          <a:xfrm>
            <a:off x="4662488" y="1687513"/>
            <a:ext cx="4011612" cy="3836987"/>
            <a:chOff x="3000" y="1200"/>
            <a:chExt cx="2527" cy="2417"/>
          </a:xfrm>
        </p:grpSpPr>
        <p:sp>
          <p:nvSpPr>
            <p:cNvPr id="25678" name="Rectangle 181"/>
            <p:cNvSpPr/>
            <p:nvPr/>
          </p:nvSpPr>
          <p:spPr>
            <a:xfrm>
              <a:off x="3000" y="1200"/>
              <a:ext cx="2527" cy="2417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79" name="Text Box 182"/>
            <p:cNvSpPr txBox="1"/>
            <p:nvPr/>
          </p:nvSpPr>
          <p:spPr>
            <a:xfrm>
              <a:off x="3113" y="1225"/>
              <a:ext cx="2341" cy="234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CP  R  S   Q 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n+1     </a:t>
              </a:r>
              <a:r>
                <a:rPr lang="zh-CN" altLang="en-US" b="1" dirty="0">
                  <a:latin typeface="Times New Roman" panose="02020603050405020304" pitchFamily="18" charset="0"/>
                </a:rPr>
                <a:t>说明</a:t>
              </a:r>
              <a:endParaRPr lang="zh-CN" altLang="en-US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b="1" dirty="0">
                  <a:latin typeface="Times New Roman" panose="02020603050405020304" pitchFamily="18" charset="0"/>
                </a:rPr>
                <a:t>1    0   0    Q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b="1" dirty="0">
                  <a:latin typeface="Times New Roman" panose="02020603050405020304" pitchFamily="18" charset="0"/>
                </a:rPr>
                <a:t>      </a:t>
              </a:r>
              <a:r>
                <a:rPr lang="zh-CN" altLang="zh-CN" b="1" dirty="0">
                  <a:latin typeface="Times New Roman" panose="02020603050405020304" pitchFamily="18" charset="0"/>
                </a:rPr>
                <a:t>保持</a:t>
              </a:r>
              <a:endParaRPr lang="zh-CN" altLang="zh-CN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zh-CN" b="1" dirty="0">
                  <a:latin typeface="Times New Roman" panose="02020603050405020304" pitchFamily="18" charset="0"/>
                </a:rPr>
                <a:t>  1    0   1     1        置1</a:t>
              </a:r>
              <a:endParaRPr lang="zh-CN" altLang="zh-CN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zh-CN" b="1" dirty="0">
                  <a:latin typeface="Times New Roman" panose="02020603050405020304" pitchFamily="18" charset="0"/>
                </a:rPr>
                <a:t>  1    1   0     0        清0</a:t>
              </a:r>
              <a:endParaRPr lang="zh-CN" altLang="zh-CN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zh-CN" b="1" dirty="0">
                  <a:latin typeface="Times New Roman" panose="02020603050405020304" pitchFamily="18" charset="0"/>
                </a:rPr>
                <a:t>  1    1   1    不定   避免</a:t>
              </a:r>
              <a:endParaRPr lang="zh-CN" altLang="zh-CN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zh-CN" b="1" dirty="0">
                  <a:latin typeface="Times New Roman" panose="02020603050405020304" pitchFamily="18" charset="0"/>
                </a:rPr>
                <a:t>  0                </a:t>
              </a:r>
              <a:r>
                <a:rPr lang="en-US" altLang="zh-CN" b="1" dirty="0">
                  <a:latin typeface="Times New Roman" panose="02020603050405020304" pitchFamily="18" charset="0"/>
                </a:rPr>
                <a:t>Q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n        </a:t>
              </a:r>
              <a:r>
                <a:rPr lang="zh-CN" altLang="zh-CN" b="1" dirty="0">
                  <a:latin typeface="Times New Roman" panose="02020603050405020304" pitchFamily="18" charset="0"/>
                </a:rPr>
                <a:t>保持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5680" name="Group 183"/>
            <p:cNvGrpSpPr/>
            <p:nvPr/>
          </p:nvGrpSpPr>
          <p:grpSpPr>
            <a:xfrm>
              <a:off x="3555" y="3255"/>
              <a:ext cx="163" cy="255"/>
              <a:chOff x="1537" y="2401"/>
              <a:chExt cx="163" cy="255"/>
            </a:xfrm>
          </p:grpSpPr>
          <p:sp>
            <p:nvSpPr>
              <p:cNvPr id="25687" name="Oval 184"/>
              <p:cNvSpPr/>
              <p:nvPr/>
            </p:nvSpPr>
            <p:spPr>
              <a:xfrm>
                <a:off x="1537" y="2464"/>
                <a:ext cx="163" cy="136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88" name="Line 185"/>
              <p:cNvSpPr/>
              <p:nvPr/>
            </p:nvSpPr>
            <p:spPr>
              <a:xfrm>
                <a:off x="1618" y="2401"/>
                <a:ext cx="0" cy="255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5681" name="Line 186"/>
            <p:cNvSpPr/>
            <p:nvPr/>
          </p:nvSpPr>
          <p:spPr>
            <a:xfrm>
              <a:off x="3145" y="1545"/>
              <a:ext cx="2109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82" name="Line 187"/>
            <p:cNvSpPr/>
            <p:nvPr/>
          </p:nvSpPr>
          <p:spPr>
            <a:xfrm>
              <a:off x="4072" y="1272"/>
              <a:ext cx="0" cy="227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83" name="Line 188"/>
            <p:cNvSpPr/>
            <p:nvPr/>
          </p:nvSpPr>
          <p:spPr>
            <a:xfrm>
              <a:off x="4726" y="1291"/>
              <a:ext cx="0" cy="227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5684" name="Group 189"/>
            <p:cNvGrpSpPr/>
            <p:nvPr/>
          </p:nvGrpSpPr>
          <p:grpSpPr>
            <a:xfrm>
              <a:off x="3851" y="3242"/>
              <a:ext cx="163" cy="255"/>
              <a:chOff x="1537" y="2401"/>
              <a:chExt cx="163" cy="255"/>
            </a:xfrm>
          </p:grpSpPr>
          <p:sp>
            <p:nvSpPr>
              <p:cNvPr id="25685" name="Oval 190"/>
              <p:cNvSpPr/>
              <p:nvPr/>
            </p:nvSpPr>
            <p:spPr>
              <a:xfrm>
                <a:off x="1537" y="2464"/>
                <a:ext cx="163" cy="136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86" name="Line 191"/>
              <p:cNvSpPr/>
              <p:nvPr/>
            </p:nvSpPr>
            <p:spPr>
              <a:xfrm>
                <a:off x="1618" y="2401"/>
                <a:ext cx="0" cy="255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" name="Group 192"/>
          <p:cNvGrpSpPr/>
          <p:nvPr/>
        </p:nvGrpSpPr>
        <p:grpSpPr>
          <a:xfrm>
            <a:off x="976313" y="5233988"/>
            <a:ext cx="633412" cy="1368425"/>
            <a:chOff x="3919" y="1716"/>
            <a:chExt cx="399" cy="862"/>
          </a:xfrm>
        </p:grpSpPr>
        <p:sp>
          <p:nvSpPr>
            <p:cNvPr id="25673" name="Rectangle 193"/>
            <p:cNvSpPr/>
            <p:nvPr/>
          </p:nvSpPr>
          <p:spPr>
            <a:xfrm rot="-5400000">
              <a:off x="3982" y="2010"/>
              <a:ext cx="272" cy="399"/>
            </a:xfrm>
            <a:prstGeom prst="rect">
              <a:avLst/>
            </a:prstGeom>
            <a:solidFill>
              <a:srgbClr val="66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74" name="Oval 194"/>
            <p:cNvSpPr/>
            <p:nvPr/>
          </p:nvSpPr>
          <p:spPr>
            <a:xfrm rot="-5400000">
              <a:off x="4046" y="1964"/>
              <a:ext cx="109" cy="109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75" name="Line 195"/>
            <p:cNvSpPr/>
            <p:nvPr/>
          </p:nvSpPr>
          <p:spPr>
            <a:xfrm rot="-5400000">
              <a:off x="3985" y="2459"/>
              <a:ext cx="2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76" name="Line 196"/>
            <p:cNvSpPr/>
            <p:nvPr/>
          </p:nvSpPr>
          <p:spPr>
            <a:xfrm rot="-5400000">
              <a:off x="3974" y="1834"/>
              <a:ext cx="2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77" name="Text Box 197"/>
            <p:cNvSpPr txBox="1"/>
            <p:nvPr/>
          </p:nvSpPr>
          <p:spPr>
            <a:xfrm>
              <a:off x="3989" y="2063"/>
              <a:ext cx="29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7846" name="Line 198"/>
          <p:cNvSpPr/>
          <p:nvPr/>
        </p:nvSpPr>
        <p:spPr>
          <a:xfrm>
            <a:off x="1265238" y="6591300"/>
            <a:ext cx="28146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47" name="Line 199"/>
          <p:cNvSpPr/>
          <p:nvPr/>
        </p:nvSpPr>
        <p:spPr>
          <a:xfrm>
            <a:off x="3841750" y="5316538"/>
            <a:ext cx="1588" cy="12906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48" name="Oval 200"/>
          <p:cNvSpPr/>
          <p:nvPr/>
        </p:nvSpPr>
        <p:spPr>
          <a:xfrm>
            <a:off x="3811588" y="6554788"/>
            <a:ext cx="74612" cy="74612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849" name="Text Box 201"/>
          <p:cNvSpPr txBox="1"/>
          <p:nvPr/>
        </p:nvSpPr>
        <p:spPr>
          <a:xfrm>
            <a:off x="4121150" y="6235700"/>
            <a:ext cx="649288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D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pSp>
        <p:nvGrpSpPr>
          <p:cNvPr id="6" name="Group 202"/>
          <p:cNvGrpSpPr/>
          <p:nvPr/>
        </p:nvGrpSpPr>
        <p:grpSpPr>
          <a:xfrm>
            <a:off x="471488" y="1776413"/>
            <a:ext cx="3997325" cy="4400550"/>
            <a:chOff x="449" y="808"/>
            <a:chExt cx="2518" cy="2907"/>
          </a:xfrm>
        </p:grpSpPr>
        <p:sp>
          <p:nvSpPr>
            <p:cNvPr id="25620" name="Rectangle 203"/>
            <p:cNvSpPr/>
            <p:nvPr/>
          </p:nvSpPr>
          <p:spPr>
            <a:xfrm>
              <a:off x="449" y="808"/>
              <a:ext cx="2513" cy="2482"/>
            </a:xfrm>
            <a:prstGeom prst="rect">
              <a:avLst/>
            </a:prstGeom>
            <a:solidFill>
              <a:srgbClr val="66FF33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21" name="Rectangle 204"/>
            <p:cNvSpPr/>
            <p:nvPr/>
          </p:nvSpPr>
          <p:spPr>
            <a:xfrm>
              <a:off x="559" y="944"/>
              <a:ext cx="2308" cy="1455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5622" name="Group 205"/>
            <p:cNvGrpSpPr/>
            <p:nvPr/>
          </p:nvGrpSpPr>
          <p:grpSpPr>
            <a:xfrm>
              <a:off x="1010" y="1334"/>
              <a:ext cx="399" cy="860"/>
              <a:chOff x="941" y="2090"/>
              <a:chExt cx="399" cy="860"/>
            </a:xfrm>
          </p:grpSpPr>
          <p:sp>
            <p:nvSpPr>
              <p:cNvPr id="25667" name="Line 206"/>
              <p:cNvSpPr/>
              <p:nvPr/>
            </p:nvSpPr>
            <p:spPr>
              <a:xfrm rot="-5400000">
                <a:off x="1169" y="2824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68" name="Rectangle 207"/>
              <p:cNvSpPr/>
              <p:nvPr/>
            </p:nvSpPr>
            <p:spPr>
              <a:xfrm rot="-5400000">
                <a:off x="1004" y="2378"/>
                <a:ext cx="272" cy="399"/>
              </a:xfrm>
              <a:prstGeom prst="rect">
                <a:avLst/>
              </a:prstGeom>
              <a:solidFill>
                <a:srgbClr val="66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9" name="Oval 208"/>
              <p:cNvSpPr/>
              <p:nvPr/>
            </p:nvSpPr>
            <p:spPr>
              <a:xfrm rot="-5400000">
                <a:off x="1074" y="2332"/>
                <a:ext cx="109" cy="109"/>
              </a:xfrm>
              <a:prstGeom prst="ellipse">
                <a:avLst/>
              </a:prstGeom>
              <a:solidFill>
                <a:srgbClr val="66FFFF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70" name="Line 209"/>
              <p:cNvSpPr/>
              <p:nvPr/>
            </p:nvSpPr>
            <p:spPr>
              <a:xfrm rot="-5400000">
                <a:off x="881" y="2831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71" name="Line 210"/>
              <p:cNvSpPr/>
              <p:nvPr/>
            </p:nvSpPr>
            <p:spPr>
              <a:xfrm rot="-5400000">
                <a:off x="1008" y="2208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72" name="Text Box 211"/>
              <p:cNvSpPr txBox="1"/>
              <p:nvPr/>
            </p:nvSpPr>
            <p:spPr>
              <a:xfrm>
                <a:off x="997" y="2410"/>
                <a:ext cx="292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&amp;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23" name="Line 212"/>
            <p:cNvSpPr/>
            <p:nvPr/>
          </p:nvSpPr>
          <p:spPr>
            <a:xfrm>
              <a:off x="1360" y="2180"/>
              <a:ext cx="19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4" name="Line 213"/>
            <p:cNvSpPr/>
            <p:nvPr/>
          </p:nvSpPr>
          <p:spPr>
            <a:xfrm>
              <a:off x="1196" y="1454"/>
              <a:ext cx="3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5" name="Line 214"/>
            <p:cNvSpPr/>
            <p:nvPr/>
          </p:nvSpPr>
          <p:spPr>
            <a:xfrm rot="-5400000">
              <a:off x="2294" y="2063"/>
              <a:ext cx="2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6" name="Rectangle 215"/>
            <p:cNvSpPr/>
            <p:nvPr/>
          </p:nvSpPr>
          <p:spPr>
            <a:xfrm rot="-5400000">
              <a:off x="2129" y="1617"/>
              <a:ext cx="272" cy="399"/>
            </a:xfrm>
            <a:prstGeom prst="rect">
              <a:avLst/>
            </a:prstGeom>
            <a:solidFill>
              <a:srgbClr val="66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27" name="Oval 216"/>
            <p:cNvSpPr/>
            <p:nvPr/>
          </p:nvSpPr>
          <p:spPr>
            <a:xfrm rot="-5400000">
              <a:off x="2199" y="1571"/>
              <a:ext cx="109" cy="109"/>
            </a:xfrm>
            <a:prstGeom prst="ellipse">
              <a:avLst/>
            </a:prstGeom>
            <a:solidFill>
              <a:srgbClr val="66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28" name="Line 217"/>
            <p:cNvSpPr/>
            <p:nvPr/>
          </p:nvSpPr>
          <p:spPr>
            <a:xfrm rot="-5400000">
              <a:off x="2006" y="2069"/>
              <a:ext cx="2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9" name="Line 218"/>
            <p:cNvSpPr/>
            <p:nvPr/>
          </p:nvSpPr>
          <p:spPr>
            <a:xfrm rot="-5400000">
              <a:off x="2133" y="1447"/>
              <a:ext cx="2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0" name="Text Box 219"/>
            <p:cNvSpPr txBox="1"/>
            <p:nvPr/>
          </p:nvSpPr>
          <p:spPr>
            <a:xfrm>
              <a:off x="2122" y="1649"/>
              <a:ext cx="292" cy="3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&amp;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631" name="Line 220"/>
            <p:cNvSpPr/>
            <p:nvPr/>
          </p:nvSpPr>
          <p:spPr>
            <a:xfrm flipV="1">
              <a:off x="1928" y="2180"/>
              <a:ext cx="209" cy="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2" name="Line 221"/>
            <p:cNvSpPr/>
            <p:nvPr/>
          </p:nvSpPr>
          <p:spPr>
            <a:xfrm>
              <a:off x="1918" y="1450"/>
              <a:ext cx="3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3" name="Line 222"/>
            <p:cNvSpPr/>
            <p:nvPr/>
          </p:nvSpPr>
          <p:spPr>
            <a:xfrm>
              <a:off x="1505" y="1445"/>
              <a:ext cx="435" cy="73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4" name="Line 223"/>
            <p:cNvSpPr/>
            <p:nvPr/>
          </p:nvSpPr>
          <p:spPr>
            <a:xfrm flipH="1">
              <a:off x="1533" y="1447"/>
              <a:ext cx="387" cy="74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5" name="Oval 224"/>
            <p:cNvSpPr/>
            <p:nvPr/>
          </p:nvSpPr>
          <p:spPr>
            <a:xfrm>
              <a:off x="1176" y="1427"/>
              <a:ext cx="47" cy="47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36" name="Oval 225"/>
            <p:cNvSpPr/>
            <p:nvPr/>
          </p:nvSpPr>
          <p:spPr>
            <a:xfrm>
              <a:off x="2226" y="1431"/>
              <a:ext cx="47" cy="47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37" name="Line 226"/>
            <p:cNvSpPr/>
            <p:nvPr/>
          </p:nvSpPr>
          <p:spPr>
            <a:xfrm>
              <a:off x="1069" y="2163"/>
              <a:ext cx="0" cy="23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8" name="Line 227"/>
            <p:cNvSpPr/>
            <p:nvPr/>
          </p:nvSpPr>
          <p:spPr>
            <a:xfrm>
              <a:off x="2416" y="2132"/>
              <a:ext cx="0" cy="2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9" name="Text Box 228"/>
            <p:cNvSpPr txBox="1"/>
            <p:nvPr/>
          </p:nvSpPr>
          <p:spPr>
            <a:xfrm>
              <a:off x="541" y="1991"/>
              <a:ext cx="491" cy="3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640" name="Text Box 229"/>
            <p:cNvSpPr txBox="1"/>
            <p:nvPr/>
          </p:nvSpPr>
          <p:spPr>
            <a:xfrm>
              <a:off x="2476" y="2019"/>
              <a:ext cx="491" cy="3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5641" name="Group 230"/>
            <p:cNvGrpSpPr/>
            <p:nvPr/>
          </p:nvGrpSpPr>
          <p:grpSpPr>
            <a:xfrm>
              <a:off x="1032" y="1027"/>
              <a:ext cx="391" cy="343"/>
              <a:chOff x="909" y="1836"/>
              <a:chExt cx="391" cy="343"/>
            </a:xfrm>
          </p:grpSpPr>
          <p:sp>
            <p:nvSpPr>
              <p:cNvPr id="25665" name="Text Box 231"/>
              <p:cNvSpPr txBox="1"/>
              <p:nvPr/>
            </p:nvSpPr>
            <p:spPr>
              <a:xfrm>
                <a:off x="909" y="1836"/>
                <a:ext cx="391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Q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6" name="Line 232"/>
              <p:cNvSpPr/>
              <p:nvPr/>
            </p:nvSpPr>
            <p:spPr>
              <a:xfrm>
                <a:off x="945" y="1882"/>
                <a:ext cx="24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5642" name="Text Box 233"/>
            <p:cNvSpPr txBox="1"/>
            <p:nvPr/>
          </p:nvSpPr>
          <p:spPr>
            <a:xfrm>
              <a:off x="2082" y="995"/>
              <a:ext cx="391" cy="3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Q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5643" name="Group 234"/>
            <p:cNvGrpSpPr/>
            <p:nvPr/>
          </p:nvGrpSpPr>
          <p:grpSpPr>
            <a:xfrm>
              <a:off x="881" y="2316"/>
              <a:ext cx="399" cy="860"/>
              <a:chOff x="941" y="2090"/>
              <a:chExt cx="399" cy="860"/>
            </a:xfrm>
          </p:grpSpPr>
          <p:sp>
            <p:nvSpPr>
              <p:cNvPr id="25659" name="Line 235"/>
              <p:cNvSpPr/>
              <p:nvPr/>
            </p:nvSpPr>
            <p:spPr>
              <a:xfrm rot="-5400000">
                <a:off x="1169" y="2824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60" name="Rectangle 236"/>
              <p:cNvSpPr/>
              <p:nvPr/>
            </p:nvSpPr>
            <p:spPr>
              <a:xfrm rot="-5400000">
                <a:off x="1004" y="2378"/>
                <a:ext cx="272" cy="399"/>
              </a:xfrm>
              <a:prstGeom prst="rect">
                <a:avLst/>
              </a:prstGeom>
              <a:solidFill>
                <a:srgbClr val="66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1" name="Oval 237"/>
              <p:cNvSpPr/>
              <p:nvPr/>
            </p:nvSpPr>
            <p:spPr>
              <a:xfrm rot="-5400000">
                <a:off x="1074" y="2332"/>
                <a:ext cx="109" cy="109"/>
              </a:xfrm>
              <a:prstGeom prst="ellipse">
                <a:avLst/>
              </a:prstGeom>
              <a:solidFill>
                <a:srgbClr val="66FFFF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2" name="Line 238"/>
              <p:cNvSpPr/>
              <p:nvPr/>
            </p:nvSpPr>
            <p:spPr>
              <a:xfrm rot="-5400000">
                <a:off x="881" y="2831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63" name="Line 239"/>
              <p:cNvSpPr/>
              <p:nvPr/>
            </p:nvSpPr>
            <p:spPr>
              <a:xfrm rot="-5400000">
                <a:off x="1008" y="2208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64" name="Text Box 240"/>
              <p:cNvSpPr txBox="1"/>
              <p:nvPr/>
            </p:nvSpPr>
            <p:spPr>
              <a:xfrm>
                <a:off x="997" y="2410"/>
                <a:ext cx="292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&amp;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44" name="Group 241"/>
            <p:cNvGrpSpPr/>
            <p:nvPr/>
          </p:nvGrpSpPr>
          <p:grpSpPr>
            <a:xfrm>
              <a:off x="2229" y="2309"/>
              <a:ext cx="399" cy="860"/>
              <a:chOff x="941" y="2090"/>
              <a:chExt cx="399" cy="860"/>
            </a:xfrm>
          </p:grpSpPr>
          <p:sp>
            <p:nvSpPr>
              <p:cNvPr id="25653" name="Line 242"/>
              <p:cNvSpPr/>
              <p:nvPr/>
            </p:nvSpPr>
            <p:spPr>
              <a:xfrm rot="-5400000">
                <a:off x="1169" y="2824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54" name="Rectangle 243"/>
              <p:cNvSpPr/>
              <p:nvPr/>
            </p:nvSpPr>
            <p:spPr>
              <a:xfrm rot="-5400000">
                <a:off x="1004" y="2378"/>
                <a:ext cx="272" cy="399"/>
              </a:xfrm>
              <a:prstGeom prst="rect">
                <a:avLst/>
              </a:prstGeom>
              <a:solidFill>
                <a:srgbClr val="66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5" name="Oval 244"/>
              <p:cNvSpPr/>
              <p:nvPr/>
            </p:nvSpPr>
            <p:spPr>
              <a:xfrm rot="-5400000">
                <a:off x="1074" y="2332"/>
                <a:ext cx="109" cy="109"/>
              </a:xfrm>
              <a:prstGeom prst="ellipse">
                <a:avLst/>
              </a:prstGeom>
              <a:solidFill>
                <a:srgbClr val="66FFFF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6" name="Line 245"/>
              <p:cNvSpPr/>
              <p:nvPr/>
            </p:nvSpPr>
            <p:spPr>
              <a:xfrm rot="-5400000">
                <a:off x="881" y="2831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57" name="Line 246"/>
              <p:cNvSpPr/>
              <p:nvPr/>
            </p:nvSpPr>
            <p:spPr>
              <a:xfrm rot="-5400000">
                <a:off x="1008" y="2208"/>
                <a:ext cx="2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58" name="Text Box 247"/>
              <p:cNvSpPr txBox="1"/>
              <p:nvPr/>
            </p:nvSpPr>
            <p:spPr>
              <a:xfrm>
                <a:off x="997" y="2410"/>
                <a:ext cx="292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&amp;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45" name="Line 248"/>
            <p:cNvSpPr/>
            <p:nvPr/>
          </p:nvSpPr>
          <p:spPr>
            <a:xfrm>
              <a:off x="1226" y="3161"/>
              <a:ext cx="1064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6" name="Line 249"/>
            <p:cNvSpPr/>
            <p:nvPr/>
          </p:nvSpPr>
          <p:spPr>
            <a:xfrm>
              <a:off x="1726" y="3152"/>
              <a:ext cx="0" cy="22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7" name="Oval 250"/>
            <p:cNvSpPr/>
            <p:nvPr/>
          </p:nvSpPr>
          <p:spPr>
            <a:xfrm>
              <a:off x="1697" y="3143"/>
              <a:ext cx="47" cy="47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48" name="Line 251"/>
            <p:cNvSpPr/>
            <p:nvPr/>
          </p:nvSpPr>
          <p:spPr>
            <a:xfrm>
              <a:off x="2576" y="3157"/>
              <a:ext cx="0" cy="22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9" name="Text Box 252"/>
            <p:cNvSpPr txBox="1"/>
            <p:nvPr/>
          </p:nvSpPr>
          <p:spPr>
            <a:xfrm>
              <a:off x="580" y="3300"/>
              <a:ext cx="278" cy="3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endParaRPr lang="en-US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650" name="Text Box 253"/>
            <p:cNvSpPr txBox="1"/>
            <p:nvPr/>
          </p:nvSpPr>
          <p:spPr>
            <a:xfrm>
              <a:off x="2597" y="3313"/>
              <a:ext cx="241" cy="3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651" name="Text Box 254"/>
            <p:cNvSpPr txBox="1"/>
            <p:nvPr/>
          </p:nvSpPr>
          <p:spPr>
            <a:xfrm>
              <a:off x="1541" y="3372"/>
              <a:ext cx="415" cy="3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CP</a:t>
              </a:r>
              <a:endParaRPr lang="en-US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652" name="Line 255"/>
            <p:cNvSpPr/>
            <p:nvPr/>
          </p:nvSpPr>
          <p:spPr>
            <a:xfrm>
              <a:off x="938" y="3175"/>
              <a:ext cx="0" cy="22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7904" name="Line 256"/>
          <p:cNvSpPr/>
          <p:nvPr/>
        </p:nvSpPr>
        <p:spPr>
          <a:xfrm>
            <a:off x="4953000" y="3516313"/>
            <a:ext cx="3233738" cy="0"/>
          </a:xfrm>
          <a:prstGeom prst="line">
            <a:avLst/>
          </a:prstGeom>
          <a:ln w="5715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905" name="Line 257"/>
          <p:cNvSpPr/>
          <p:nvPr/>
        </p:nvSpPr>
        <p:spPr>
          <a:xfrm>
            <a:off x="5018088" y="4133850"/>
            <a:ext cx="3233737" cy="0"/>
          </a:xfrm>
          <a:prstGeom prst="line">
            <a:avLst/>
          </a:prstGeom>
          <a:ln w="5715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906" name="Line 258"/>
          <p:cNvSpPr/>
          <p:nvPr/>
        </p:nvSpPr>
        <p:spPr>
          <a:xfrm>
            <a:off x="5046663" y="5441950"/>
            <a:ext cx="3233737" cy="0"/>
          </a:xfrm>
          <a:prstGeom prst="line">
            <a:avLst/>
          </a:prstGeom>
          <a:ln w="5715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907" name="Text Box 259"/>
          <p:cNvSpPr txBox="1"/>
          <p:nvPr/>
        </p:nvSpPr>
        <p:spPr>
          <a:xfrm>
            <a:off x="4579938" y="5670550"/>
            <a:ext cx="4094162" cy="52863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其他两种情况不会出现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pSp>
        <p:nvGrpSpPr>
          <p:cNvPr id="11" name="Group 260"/>
          <p:cNvGrpSpPr/>
          <p:nvPr/>
        </p:nvGrpSpPr>
        <p:grpSpPr>
          <a:xfrm>
            <a:off x="4768850" y="2501900"/>
            <a:ext cx="350838" cy="3162300"/>
            <a:chOff x="3156" y="1512"/>
            <a:chExt cx="221" cy="1992"/>
          </a:xfrm>
        </p:grpSpPr>
        <p:sp>
          <p:nvSpPr>
            <p:cNvPr id="25616" name="Freeform 261"/>
            <p:cNvSpPr/>
            <p:nvPr/>
          </p:nvSpPr>
          <p:spPr>
            <a:xfrm>
              <a:off x="3227" y="2741"/>
              <a:ext cx="150" cy="763"/>
            </a:xfrm>
            <a:custGeom>
              <a:avLst/>
              <a:gdLst>
                <a:gd name="txL" fmla="*/ 0 w 150"/>
                <a:gd name="txT" fmla="*/ 0 h 763"/>
                <a:gd name="txR" fmla="*/ 150 w 150"/>
                <a:gd name="txB" fmla="*/ 763 h 763"/>
              </a:gdLst>
              <a:ahLst/>
              <a:cxnLst>
                <a:cxn ang="0">
                  <a:pos x="0" y="763"/>
                </a:cxn>
                <a:cxn ang="0">
                  <a:pos x="33" y="195"/>
                </a:cxn>
                <a:cxn ang="0">
                  <a:pos x="114" y="0"/>
                </a:cxn>
              </a:cxnLst>
              <a:rect l="txL" t="txT" r="txR" b="txB"/>
              <a:pathLst>
                <a:path w="150" h="763">
                  <a:moveTo>
                    <a:pt x="0" y="763"/>
                  </a:moveTo>
                  <a:cubicBezTo>
                    <a:pt x="150" y="613"/>
                    <a:pt x="71" y="388"/>
                    <a:pt x="33" y="195"/>
                  </a:cubicBezTo>
                  <a:cubicBezTo>
                    <a:pt x="46" y="77"/>
                    <a:pt x="22" y="45"/>
                    <a:pt x="114" y="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17" name="Line 262"/>
            <p:cNvSpPr/>
            <p:nvPr/>
          </p:nvSpPr>
          <p:spPr>
            <a:xfrm flipV="1">
              <a:off x="3288" y="2730"/>
              <a:ext cx="72" cy="4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18" name="Freeform 263"/>
            <p:cNvSpPr/>
            <p:nvPr/>
          </p:nvSpPr>
          <p:spPr>
            <a:xfrm>
              <a:off x="3156" y="1512"/>
              <a:ext cx="204" cy="1992"/>
            </a:xfrm>
            <a:custGeom>
              <a:avLst/>
              <a:gdLst>
                <a:gd name="txL" fmla="*/ 0 w 204"/>
                <a:gd name="txT" fmla="*/ 0 h 1992"/>
                <a:gd name="txR" fmla="*/ 204 w 204"/>
                <a:gd name="txB" fmla="*/ 1992 h 1992"/>
              </a:gdLst>
              <a:ahLst/>
              <a:cxnLst>
                <a:cxn ang="0">
                  <a:pos x="0" y="1992"/>
                </a:cxn>
                <a:cxn ang="0">
                  <a:pos x="36" y="1632"/>
                </a:cxn>
                <a:cxn ang="0">
                  <a:pos x="12" y="1512"/>
                </a:cxn>
                <a:cxn ang="0">
                  <a:pos x="36" y="1092"/>
                </a:cxn>
                <a:cxn ang="0">
                  <a:pos x="24" y="420"/>
                </a:cxn>
                <a:cxn ang="0">
                  <a:pos x="12" y="192"/>
                </a:cxn>
                <a:cxn ang="0">
                  <a:pos x="144" y="0"/>
                </a:cxn>
                <a:cxn ang="0">
                  <a:pos x="204" y="12"/>
                </a:cxn>
              </a:cxnLst>
              <a:rect l="txL" t="txT" r="txR" b="txB"/>
              <a:pathLst>
                <a:path w="204" h="1992">
                  <a:moveTo>
                    <a:pt x="0" y="1992"/>
                  </a:moveTo>
                  <a:cubicBezTo>
                    <a:pt x="117" y="1914"/>
                    <a:pt x="57" y="1752"/>
                    <a:pt x="36" y="1632"/>
                  </a:cubicBezTo>
                  <a:cubicBezTo>
                    <a:pt x="29" y="1592"/>
                    <a:pt x="12" y="1512"/>
                    <a:pt x="12" y="1512"/>
                  </a:cubicBezTo>
                  <a:cubicBezTo>
                    <a:pt x="1" y="1363"/>
                    <a:pt x="12" y="1237"/>
                    <a:pt x="36" y="1092"/>
                  </a:cubicBezTo>
                  <a:cubicBezTo>
                    <a:pt x="56" y="715"/>
                    <a:pt x="52" y="942"/>
                    <a:pt x="24" y="420"/>
                  </a:cubicBezTo>
                  <a:cubicBezTo>
                    <a:pt x="20" y="344"/>
                    <a:pt x="12" y="192"/>
                    <a:pt x="12" y="192"/>
                  </a:cubicBezTo>
                  <a:cubicBezTo>
                    <a:pt x="28" y="111"/>
                    <a:pt x="75" y="46"/>
                    <a:pt x="144" y="0"/>
                  </a:cubicBezTo>
                  <a:cubicBezTo>
                    <a:pt x="188" y="15"/>
                    <a:pt x="167" y="12"/>
                    <a:pt x="204" y="12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19" name="Line 264"/>
            <p:cNvSpPr/>
            <p:nvPr/>
          </p:nvSpPr>
          <p:spPr>
            <a:xfrm>
              <a:off x="3306" y="1518"/>
              <a:ext cx="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7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7848" grpId="0" animBg="1"/>
      <p:bldP spid="27849" grpId="0"/>
      <p:bldP spid="2790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ext Box 2"/>
          <p:cNvSpPr txBox="1"/>
          <p:nvPr/>
        </p:nvSpPr>
        <p:spPr>
          <a:xfrm>
            <a:off x="1146175" y="955675"/>
            <a:ext cx="6862763" cy="11176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565150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</a:rPr>
              <a:t>CP=0</a:t>
            </a:r>
            <a:r>
              <a:rPr lang="zh-CN" altLang="zh-CN" dirty="0">
                <a:latin typeface="Times New Roman" panose="02020603050405020304" pitchFamily="18" charset="0"/>
              </a:rPr>
              <a:t>时，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</a:rPr>
              <a:t>触发器的状态不变；当</a:t>
            </a:r>
            <a:r>
              <a:rPr lang="en-US" altLang="zh-CN" dirty="0">
                <a:latin typeface="Times New Roman" panose="02020603050405020304" pitchFamily="18" charset="0"/>
              </a:rPr>
              <a:t>CP=1</a:t>
            </a:r>
            <a:r>
              <a:rPr lang="zh-CN" altLang="zh-CN" dirty="0">
                <a:latin typeface="Times New Roman" panose="02020603050405020304" pitchFamily="18" charset="0"/>
              </a:rPr>
              <a:t>时，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</a:rPr>
              <a:t>触发器的状态取决于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675" name="Text Box 3"/>
          <p:cNvSpPr txBox="1"/>
          <p:nvPr/>
        </p:nvSpPr>
        <p:spPr>
          <a:xfrm>
            <a:off x="1722438" y="2290763"/>
            <a:ext cx="5419725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</a:rPr>
              <a:t>触发器的功能表和状态表如下：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4"/>
          <p:cNvGrpSpPr/>
          <p:nvPr/>
        </p:nvGrpSpPr>
        <p:grpSpPr>
          <a:xfrm>
            <a:off x="973138" y="3757613"/>
            <a:ext cx="2894012" cy="2200275"/>
            <a:chOff x="613" y="2224"/>
            <a:chExt cx="1823" cy="1386"/>
          </a:xfrm>
        </p:grpSpPr>
        <p:sp>
          <p:nvSpPr>
            <p:cNvPr id="26645" name="Line 5"/>
            <p:cNvSpPr/>
            <p:nvPr/>
          </p:nvSpPr>
          <p:spPr>
            <a:xfrm>
              <a:off x="613" y="2234"/>
              <a:ext cx="1823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6" name="Line 6"/>
            <p:cNvSpPr/>
            <p:nvPr/>
          </p:nvSpPr>
          <p:spPr>
            <a:xfrm>
              <a:off x="613" y="2780"/>
              <a:ext cx="1823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7" name="Line 7"/>
            <p:cNvSpPr/>
            <p:nvPr/>
          </p:nvSpPr>
          <p:spPr>
            <a:xfrm>
              <a:off x="613" y="3610"/>
              <a:ext cx="1823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8" name="Line 8"/>
            <p:cNvSpPr/>
            <p:nvPr/>
          </p:nvSpPr>
          <p:spPr>
            <a:xfrm>
              <a:off x="1369" y="2224"/>
              <a:ext cx="0" cy="1378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9" name="Text Box 10"/>
            <p:cNvSpPr txBox="1"/>
            <p:nvPr/>
          </p:nvSpPr>
          <p:spPr>
            <a:xfrm>
              <a:off x="910" y="2357"/>
              <a:ext cx="27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6650" name="Text Box 11"/>
            <p:cNvSpPr txBox="1"/>
            <p:nvPr/>
          </p:nvSpPr>
          <p:spPr>
            <a:xfrm>
              <a:off x="1486" y="2357"/>
              <a:ext cx="61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6651" name="Text Box 13"/>
            <p:cNvSpPr txBox="1"/>
            <p:nvPr/>
          </p:nvSpPr>
          <p:spPr>
            <a:xfrm>
              <a:off x="910" y="2750"/>
              <a:ext cx="228" cy="81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lnSpc>
                  <a:spcPct val="14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6652" name="Text Box 14"/>
            <p:cNvSpPr txBox="1"/>
            <p:nvPr/>
          </p:nvSpPr>
          <p:spPr>
            <a:xfrm>
              <a:off x="1608" y="2750"/>
              <a:ext cx="228" cy="81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lnSpc>
                  <a:spcPct val="14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33"/>
          <p:cNvGrpSpPr/>
          <p:nvPr/>
        </p:nvGrpSpPr>
        <p:grpSpPr>
          <a:xfrm>
            <a:off x="4708525" y="3757613"/>
            <a:ext cx="3724275" cy="2200275"/>
            <a:chOff x="2966" y="2224"/>
            <a:chExt cx="2346" cy="1386"/>
          </a:xfrm>
        </p:grpSpPr>
        <p:sp>
          <p:nvSpPr>
            <p:cNvPr id="26632" name="Line 22"/>
            <p:cNvSpPr/>
            <p:nvPr/>
          </p:nvSpPr>
          <p:spPr>
            <a:xfrm>
              <a:off x="3722" y="2224"/>
              <a:ext cx="0" cy="1378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3" name="Text Box 23"/>
            <p:cNvSpPr txBox="1"/>
            <p:nvPr/>
          </p:nvSpPr>
          <p:spPr>
            <a:xfrm>
              <a:off x="3207" y="2402"/>
              <a:ext cx="27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6634" name="Text Box 24"/>
            <p:cNvSpPr txBox="1"/>
            <p:nvPr/>
          </p:nvSpPr>
          <p:spPr>
            <a:xfrm>
              <a:off x="4083" y="2269"/>
              <a:ext cx="61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6635" name="Text Box 25"/>
            <p:cNvSpPr txBox="1"/>
            <p:nvPr/>
          </p:nvSpPr>
          <p:spPr>
            <a:xfrm>
              <a:off x="3263" y="2871"/>
              <a:ext cx="228" cy="7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6636" name="Text Box 26"/>
            <p:cNvSpPr txBox="1"/>
            <p:nvPr/>
          </p:nvSpPr>
          <p:spPr>
            <a:xfrm>
              <a:off x="3983" y="2871"/>
              <a:ext cx="228" cy="7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6637" name="Line 19"/>
            <p:cNvSpPr/>
            <p:nvPr/>
          </p:nvSpPr>
          <p:spPr>
            <a:xfrm>
              <a:off x="2966" y="2234"/>
              <a:ext cx="2345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8" name="Line 20"/>
            <p:cNvSpPr/>
            <p:nvPr/>
          </p:nvSpPr>
          <p:spPr>
            <a:xfrm>
              <a:off x="2966" y="2879"/>
              <a:ext cx="2345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9" name="Line 21"/>
            <p:cNvSpPr/>
            <p:nvPr/>
          </p:nvSpPr>
          <p:spPr>
            <a:xfrm>
              <a:off x="2966" y="3610"/>
              <a:ext cx="2345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0" name="Line 27"/>
            <p:cNvSpPr/>
            <p:nvPr/>
          </p:nvSpPr>
          <p:spPr>
            <a:xfrm>
              <a:off x="3729" y="2589"/>
              <a:ext cx="1583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1" name="Line 29"/>
            <p:cNvSpPr/>
            <p:nvPr/>
          </p:nvSpPr>
          <p:spPr>
            <a:xfrm>
              <a:off x="4511" y="2589"/>
              <a:ext cx="0" cy="1011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2" name="Text Box 30"/>
            <p:cNvSpPr txBox="1"/>
            <p:nvPr/>
          </p:nvSpPr>
          <p:spPr>
            <a:xfrm>
              <a:off x="4785" y="2871"/>
              <a:ext cx="228" cy="7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6643" name="Text Box 31"/>
            <p:cNvSpPr txBox="1"/>
            <p:nvPr/>
          </p:nvSpPr>
          <p:spPr>
            <a:xfrm>
              <a:off x="3810" y="2565"/>
              <a:ext cx="61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D</a:t>
              </a:r>
              <a:r>
                <a:rPr lang="zh-CN" altLang="en-US" dirty="0">
                  <a:latin typeface="Times New Roman" panose="02020603050405020304" pitchFamily="18" charset="0"/>
                </a:rPr>
                <a:t>＝</a:t>
              </a: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6644" name="Text Box 32"/>
            <p:cNvSpPr txBox="1"/>
            <p:nvPr/>
          </p:nvSpPr>
          <p:spPr>
            <a:xfrm>
              <a:off x="4565" y="2565"/>
              <a:ext cx="61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D</a:t>
              </a:r>
              <a:r>
                <a:rPr lang="zh-CN" altLang="en-US" dirty="0">
                  <a:latin typeface="Times New Roman" panose="02020603050405020304" pitchFamily="18" charset="0"/>
                </a:rPr>
                <a:t>＝</a:t>
              </a: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8707" name="Text Box 35"/>
          <p:cNvSpPr txBox="1"/>
          <p:nvPr/>
        </p:nvSpPr>
        <p:spPr>
          <a:xfrm>
            <a:off x="1128713" y="3222625"/>
            <a:ext cx="2574925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</a:rPr>
              <a:t>触发器功能表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708" name="Text Box 36"/>
          <p:cNvSpPr txBox="1"/>
          <p:nvPr/>
        </p:nvSpPr>
        <p:spPr>
          <a:xfrm>
            <a:off x="5451475" y="3222625"/>
            <a:ext cx="2574925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</a:rPr>
              <a:t>触发器状态表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70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708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  <p:bldP spid="28707" grpId="0" build="p"/>
      <p:bldP spid="2870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2"/>
          <p:cNvSpPr txBox="1"/>
          <p:nvPr/>
        </p:nvSpPr>
        <p:spPr>
          <a:xfrm>
            <a:off x="915988" y="722313"/>
            <a:ext cx="3997325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</a:rPr>
              <a:t>触发器的次态方程为：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699" name="Rectangle 3"/>
          <p:cNvSpPr/>
          <p:nvPr/>
        </p:nvSpPr>
        <p:spPr>
          <a:xfrm>
            <a:off x="3429000" y="1308100"/>
            <a:ext cx="1593850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</a:rPr>
              <a:t>+1)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endParaRPr lang="en-US" altLang="zh-CN" baseline="30000" dirty="0">
              <a:latin typeface="Times New Roman" panose="02020603050405020304" pitchFamily="18" charset="0"/>
            </a:endParaRPr>
          </a:p>
        </p:txBody>
      </p:sp>
      <p:sp>
        <p:nvSpPr>
          <p:cNvPr id="29700" name="Text Box 4"/>
          <p:cNvSpPr txBox="1"/>
          <p:nvPr/>
        </p:nvSpPr>
        <p:spPr>
          <a:xfrm>
            <a:off x="915988" y="1833563"/>
            <a:ext cx="1962150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状态图为：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2695575" y="1997075"/>
            <a:ext cx="4556125" cy="1936750"/>
            <a:chOff x="1299" y="2079"/>
            <a:chExt cx="3115" cy="1381"/>
          </a:xfrm>
        </p:grpSpPr>
        <p:sp>
          <p:nvSpPr>
            <p:cNvPr id="27655" name="Oval 6"/>
            <p:cNvSpPr/>
            <p:nvPr/>
          </p:nvSpPr>
          <p:spPr>
            <a:xfrm>
              <a:off x="1691" y="2649"/>
              <a:ext cx="432" cy="4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7656" name="Oval 7"/>
            <p:cNvSpPr/>
            <p:nvPr/>
          </p:nvSpPr>
          <p:spPr>
            <a:xfrm>
              <a:off x="3614" y="2649"/>
              <a:ext cx="432" cy="4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7657" name="Freeform 8"/>
            <p:cNvSpPr/>
            <p:nvPr/>
          </p:nvSpPr>
          <p:spPr>
            <a:xfrm>
              <a:off x="2113" y="2627"/>
              <a:ext cx="1533" cy="187"/>
            </a:xfrm>
            <a:custGeom>
              <a:avLst/>
              <a:gdLst>
                <a:gd name="txL" fmla="*/ 0 w 1533"/>
                <a:gd name="txT" fmla="*/ 0 h 298"/>
                <a:gd name="txR" fmla="*/ 1533 w 1533"/>
                <a:gd name="txB" fmla="*/ 298 h 298"/>
              </a:gdLst>
              <a:ahLst/>
              <a:cxnLst>
                <a:cxn ang="0">
                  <a:pos x="0" y="117"/>
                </a:cxn>
                <a:cxn ang="0">
                  <a:pos x="711" y="4"/>
                </a:cxn>
                <a:cxn ang="0">
                  <a:pos x="1533" y="95"/>
                </a:cxn>
              </a:cxnLst>
              <a:rect l="txL" t="txT" r="txR" b="txB"/>
              <a:pathLst>
                <a:path w="1533" h="298">
                  <a:moveTo>
                    <a:pt x="0" y="298"/>
                  </a:moveTo>
                  <a:cubicBezTo>
                    <a:pt x="228" y="158"/>
                    <a:pt x="456" y="18"/>
                    <a:pt x="711" y="9"/>
                  </a:cubicBezTo>
                  <a:cubicBezTo>
                    <a:pt x="966" y="0"/>
                    <a:pt x="1249" y="121"/>
                    <a:pt x="1533" y="243"/>
                  </a:cubicBez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8" name="Freeform 9"/>
            <p:cNvSpPr/>
            <p:nvPr/>
          </p:nvSpPr>
          <p:spPr>
            <a:xfrm flipH="1" flipV="1">
              <a:off x="2086" y="2946"/>
              <a:ext cx="1533" cy="187"/>
            </a:xfrm>
            <a:custGeom>
              <a:avLst/>
              <a:gdLst>
                <a:gd name="txL" fmla="*/ 0 w 1533"/>
                <a:gd name="txT" fmla="*/ 0 h 298"/>
                <a:gd name="txR" fmla="*/ 1533 w 1533"/>
                <a:gd name="txB" fmla="*/ 298 h 298"/>
              </a:gdLst>
              <a:ahLst/>
              <a:cxnLst>
                <a:cxn ang="0">
                  <a:pos x="0" y="117"/>
                </a:cxn>
                <a:cxn ang="0">
                  <a:pos x="711" y="4"/>
                </a:cxn>
                <a:cxn ang="0">
                  <a:pos x="1533" y="95"/>
                </a:cxn>
              </a:cxnLst>
              <a:rect l="txL" t="txT" r="txR" b="txB"/>
              <a:pathLst>
                <a:path w="1533" h="298">
                  <a:moveTo>
                    <a:pt x="0" y="298"/>
                  </a:moveTo>
                  <a:cubicBezTo>
                    <a:pt x="228" y="158"/>
                    <a:pt x="456" y="18"/>
                    <a:pt x="711" y="9"/>
                  </a:cubicBezTo>
                  <a:cubicBezTo>
                    <a:pt x="966" y="0"/>
                    <a:pt x="1249" y="121"/>
                    <a:pt x="1533" y="243"/>
                  </a:cubicBez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9" name="Arc 10"/>
            <p:cNvSpPr/>
            <p:nvPr/>
          </p:nvSpPr>
          <p:spPr>
            <a:xfrm>
              <a:off x="1440" y="2564"/>
              <a:ext cx="348" cy="354"/>
            </a:xfrm>
            <a:custGeom>
              <a:avLst/>
              <a:gdLst>
                <a:gd name="txL" fmla="*/ 0 w 42479"/>
                <a:gd name="txT" fmla="*/ 0 h 43200"/>
                <a:gd name="txR" fmla="*/ 42479 w 42479"/>
                <a:gd name="txB" fmla="*/ 43200 h 432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479" h="43200" fill="none">
                  <a:moveTo>
                    <a:pt x="30276" y="41380"/>
                  </a:moveTo>
                  <a:cubicBezTo>
                    <a:pt x="27541" y="42580"/>
                    <a:pt x="2458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398" y="-1"/>
                    <a:pt x="39968" y="6595"/>
                    <a:pt x="42479" y="16065"/>
                  </a:cubicBezTo>
                </a:path>
                <a:path w="42479" h="43200" stroke="0">
                  <a:moveTo>
                    <a:pt x="30276" y="41380"/>
                  </a:moveTo>
                  <a:cubicBezTo>
                    <a:pt x="27541" y="42580"/>
                    <a:pt x="2458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398" y="-1"/>
                    <a:pt x="39968" y="6595"/>
                    <a:pt x="42479" y="16065"/>
                  </a:cubicBezTo>
                  <a:lnTo>
                    <a:pt x="21600" y="21600"/>
                  </a:lnTo>
                  <a:lnTo>
                    <a:pt x="30276" y="41380"/>
                  </a:lnTo>
                  <a:close/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0" name="Arc 11"/>
            <p:cNvSpPr/>
            <p:nvPr/>
          </p:nvSpPr>
          <p:spPr>
            <a:xfrm flipH="1" flipV="1">
              <a:off x="3977" y="2564"/>
              <a:ext cx="345" cy="354"/>
            </a:xfrm>
            <a:custGeom>
              <a:avLst/>
              <a:gdLst>
                <a:gd name="txL" fmla="*/ 0 w 42097"/>
                <a:gd name="txT" fmla="*/ 0 h 43200"/>
                <a:gd name="txR" fmla="*/ 42097 w 42097"/>
                <a:gd name="txB" fmla="*/ 43200 h 432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097" h="43200" fill="none">
                  <a:moveTo>
                    <a:pt x="42096" y="28414"/>
                  </a:moveTo>
                  <a:cubicBezTo>
                    <a:pt x="39161" y="37243"/>
                    <a:pt x="3090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7063" y="-1"/>
                    <a:pt x="32323" y="2070"/>
                    <a:pt x="36321" y="5793"/>
                  </a:cubicBezTo>
                </a:path>
                <a:path w="42097" h="43200" stroke="0">
                  <a:moveTo>
                    <a:pt x="42096" y="28414"/>
                  </a:moveTo>
                  <a:cubicBezTo>
                    <a:pt x="39161" y="37243"/>
                    <a:pt x="3090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7063" y="-1"/>
                    <a:pt x="32323" y="2070"/>
                    <a:pt x="36321" y="5793"/>
                  </a:cubicBezTo>
                  <a:lnTo>
                    <a:pt x="21600" y="21600"/>
                  </a:lnTo>
                  <a:lnTo>
                    <a:pt x="42096" y="28414"/>
                  </a:lnTo>
                  <a:close/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1" name="Text Box 12"/>
            <p:cNvSpPr txBox="1"/>
            <p:nvPr/>
          </p:nvSpPr>
          <p:spPr>
            <a:xfrm>
              <a:off x="1299" y="2413"/>
              <a:ext cx="247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7662" name="Text Box 13"/>
            <p:cNvSpPr txBox="1"/>
            <p:nvPr/>
          </p:nvSpPr>
          <p:spPr>
            <a:xfrm>
              <a:off x="4166" y="2790"/>
              <a:ext cx="248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7663" name="Text Box 14"/>
            <p:cNvSpPr txBox="1"/>
            <p:nvPr/>
          </p:nvSpPr>
          <p:spPr>
            <a:xfrm>
              <a:off x="2090" y="2079"/>
              <a:ext cx="302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D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64" name="Text Box 15"/>
            <p:cNvSpPr txBox="1"/>
            <p:nvPr/>
          </p:nvSpPr>
          <p:spPr>
            <a:xfrm>
              <a:off x="2765" y="2357"/>
              <a:ext cx="248" cy="3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7665" name="Text Box 16"/>
            <p:cNvSpPr txBox="1"/>
            <p:nvPr/>
          </p:nvSpPr>
          <p:spPr>
            <a:xfrm>
              <a:off x="2765" y="3090"/>
              <a:ext cx="248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714" name="Text Box 18"/>
          <p:cNvSpPr txBox="1"/>
          <p:nvPr/>
        </p:nvSpPr>
        <p:spPr>
          <a:xfrm>
            <a:off x="915988" y="3760788"/>
            <a:ext cx="7304087" cy="17589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565150"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</a:rPr>
              <a:t>触发器结构简单, 但仍然存在"空翻"现象。实际使用的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</a:rPr>
              <a:t>触发器是一种维持阻塞型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</a:rPr>
              <a:t>触发器, 可以防止"空翻"的发生。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14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  <p:bldP spid="29700" grpId="0" build="p"/>
      <p:bldP spid="2971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1833563" y="606425"/>
            <a:ext cx="6415088" cy="52197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6.2.3    </a:t>
            </a:r>
            <a:r>
              <a:rPr kumimoji="1" lang="en-US" altLang="en-US" b="1" kern="1200" cap="none" spc="0" normalizeH="0" baseline="0" noProof="0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电平触发式</a:t>
            </a:r>
            <a:r>
              <a:rPr kumimoji="1" lang="en-US" altLang="zh-CN" b="1" kern="1200" cap="none" spc="0" normalizeH="0" baseline="0" noProof="0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zh-CN" altLang="en-US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1" lang="en-US" altLang="zh-CN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zh-CN" altLang="zh-CN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endParaRPr kumimoji="1" lang="zh-CN" altLang="en-US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3" name="Text Box 3"/>
          <p:cNvSpPr txBox="1"/>
          <p:nvPr/>
        </p:nvSpPr>
        <p:spPr>
          <a:xfrm>
            <a:off x="827088" y="1328738"/>
            <a:ext cx="7464425" cy="137318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565150" algn="just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电平触发式</a:t>
            </a:r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触发器有两个输入端，即克服了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触发器的"约束"问题，使用上又比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</a:rPr>
              <a:t>触发器灵活。其逻辑图与逻辑符号如下：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08"/>
          <p:cNvGrpSpPr/>
          <p:nvPr/>
        </p:nvGrpSpPr>
        <p:grpSpPr>
          <a:xfrm>
            <a:off x="6784975" y="4065588"/>
            <a:ext cx="1908175" cy="2281237"/>
            <a:chOff x="4274" y="2561"/>
            <a:chExt cx="1202" cy="1437"/>
          </a:xfrm>
        </p:grpSpPr>
        <p:grpSp>
          <p:nvGrpSpPr>
            <p:cNvPr id="28759" name="Group 5"/>
            <p:cNvGrpSpPr/>
            <p:nvPr/>
          </p:nvGrpSpPr>
          <p:grpSpPr>
            <a:xfrm>
              <a:off x="4545" y="3622"/>
              <a:ext cx="698" cy="376"/>
              <a:chOff x="4545" y="3292"/>
              <a:chExt cx="698" cy="520"/>
            </a:xfrm>
          </p:grpSpPr>
          <p:sp>
            <p:nvSpPr>
              <p:cNvPr id="28772" name="Line 6"/>
              <p:cNvSpPr/>
              <p:nvPr/>
            </p:nvSpPr>
            <p:spPr>
              <a:xfrm flipV="1">
                <a:off x="4545" y="3292"/>
                <a:ext cx="0" cy="52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73" name="Line 7"/>
              <p:cNvSpPr/>
              <p:nvPr/>
            </p:nvSpPr>
            <p:spPr>
              <a:xfrm flipV="1">
                <a:off x="5243" y="3292"/>
                <a:ext cx="0" cy="52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74" name="Line 8"/>
              <p:cNvSpPr/>
              <p:nvPr/>
            </p:nvSpPr>
            <p:spPr>
              <a:xfrm flipV="1">
                <a:off x="4910" y="3292"/>
                <a:ext cx="0" cy="52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8760" name="Line 10"/>
            <p:cNvSpPr/>
            <p:nvPr/>
          </p:nvSpPr>
          <p:spPr>
            <a:xfrm flipV="1">
              <a:off x="4588" y="2607"/>
              <a:ext cx="0" cy="338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61" name="Line 11"/>
            <p:cNvSpPr/>
            <p:nvPr/>
          </p:nvSpPr>
          <p:spPr>
            <a:xfrm flipV="1">
              <a:off x="5154" y="2617"/>
              <a:ext cx="0" cy="409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62" name="Rectangle 12"/>
            <p:cNvSpPr/>
            <p:nvPr/>
          </p:nvSpPr>
          <p:spPr>
            <a:xfrm>
              <a:off x="4288" y="2940"/>
              <a:ext cx="1188" cy="690"/>
            </a:xfrm>
            <a:prstGeom prst="rect">
              <a:avLst/>
            </a:prstGeom>
            <a:solidFill>
              <a:srgbClr val="CCFF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63" name="Oval 13"/>
            <p:cNvSpPr/>
            <p:nvPr/>
          </p:nvSpPr>
          <p:spPr>
            <a:xfrm>
              <a:off x="4552" y="2869"/>
              <a:ext cx="72" cy="71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8764" name="Group 14"/>
            <p:cNvGrpSpPr/>
            <p:nvPr/>
          </p:nvGrpSpPr>
          <p:grpSpPr>
            <a:xfrm>
              <a:off x="4274" y="2561"/>
              <a:ext cx="278" cy="327"/>
              <a:chOff x="1086" y="2275"/>
              <a:chExt cx="278" cy="329"/>
            </a:xfrm>
          </p:grpSpPr>
          <p:sp>
            <p:nvSpPr>
              <p:cNvPr id="28770" name="Text Box 15"/>
              <p:cNvSpPr txBox="1"/>
              <p:nvPr/>
            </p:nvSpPr>
            <p:spPr>
              <a:xfrm>
                <a:off x="1086" y="2275"/>
                <a:ext cx="278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Q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71" name="Line 16"/>
              <p:cNvSpPr/>
              <p:nvPr/>
            </p:nvSpPr>
            <p:spPr>
              <a:xfrm>
                <a:off x="1144" y="2322"/>
                <a:ext cx="15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8765" name="Rectangle 17"/>
            <p:cNvSpPr/>
            <p:nvPr/>
          </p:nvSpPr>
          <p:spPr>
            <a:xfrm>
              <a:off x="5140" y="2573"/>
              <a:ext cx="3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66" name="Freeform 18"/>
            <p:cNvSpPr/>
            <p:nvPr/>
          </p:nvSpPr>
          <p:spPr>
            <a:xfrm>
              <a:off x="4821" y="3523"/>
              <a:ext cx="155" cy="99"/>
            </a:xfrm>
            <a:custGeom>
              <a:avLst/>
              <a:gdLst>
                <a:gd name="txL" fmla="*/ 0 w 155"/>
                <a:gd name="txT" fmla="*/ 0 h 100"/>
                <a:gd name="txR" fmla="*/ 155 w 155"/>
                <a:gd name="txB" fmla="*/ 100 h 100"/>
              </a:gdLst>
              <a:ahLst/>
              <a:cxnLst>
                <a:cxn ang="0">
                  <a:pos x="0" y="98"/>
                </a:cxn>
                <a:cxn ang="0">
                  <a:pos x="77" y="0"/>
                </a:cxn>
                <a:cxn ang="0">
                  <a:pos x="155" y="98"/>
                </a:cxn>
              </a:cxnLst>
              <a:rect l="txL" t="txT" r="txR" b="txB"/>
              <a:pathLst>
                <a:path w="155" h="100">
                  <a:moveTo>
                    <a:pt x="0" y="100"/>
                  </a:moveTo>
                  <a:lnTo>
                    <a:pt x="77" y="0"/>
                  </a:lnTo>
                  <a:lnTo>
                    <a:pt x="155" y="100"/>
                  </a:lnTo>
                </a:path>
              </a:pathLst>
            </a:custGeom>
            <a:solidFill>
              <a:schemeClr val="bg1">
                <a:alpha val="100000"/>
              </a:schemeClr>
            </a:solidFill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67" name="Text Box 19"/>
            <p:cNvSpPr txBox="1"/>
            <p:nvPr/>
          </p:nvSpPr>
          <p:spPr>
            <a:xfrm>
              <a:off x="4442" y="3334"/>
              <a:ext cx="20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J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8768" name="Rectangle 20"/>
            <p:cNvSpPr/>
            <p:nvPr/>
          </p:nvSpPr>
          <p:spPr>
            <a:xfrm>
              <a:off x="5175" y="3335"/>
              <a:ext cx="27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K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8769" name="Rectangle 21"/>
            <p:cNvSpPr/>
            <p:nvPr/>
          </p:nvSpPr>
          <p:spPr>
            <a:xfrm>
              <a:off x="4775" y="3256"/>
              <a:ext cx="26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C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22"/>
          <p:cNvGrpSpPr/>
          <p:nvPr/>
        </p:nvGrpSpPr>
        <p:grpSpPr>
          <a:xfrm>
            <a:off x="1919288" y="6007100"/>
            <a:ext cx="2708275" cy="519113"/>
            <a:chOff x="1209" y="3949"/>
            <a:chExt cx="1706" cy="327"/>
          </a:xfrm>
        </p:grpSpPr>
        <p:sp>
          <p:nvSpPr>
            <p:cNvPr id="28756" name="Text Box 23"/>
            <p:cNvSpPr txBox="1"/>
            <p:nvPr/>
          </p:nvSpPr>
          <p:spPr>
            <a:xfrm>
              <a:off x="1209" y="394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57" name="Text Box 24"/>
            <p:cNvSpPr txBox="1"/>
            <p:nvPr/>
          </p:nvSpPr>
          <p:spPr>
            <a:xfrm>
              <a:off x="1920" y="394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58" name="Text Box 25"/>
            <p:cNvSpPr txBox="1"/>
            <p:nvPr/>
          </p:nvSpPr>
          <p:spPr>
            <a:xfrm>
              <a:off x="2687" y="394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6"/>
          <p:cNvGrpSpPr/>
          <p:nvPr/>
        </p:nvGrpSpPr>
        <p:grpSpPr>
          <a:xfrm>
            <a:off x="1706563" y="4549775"/>
            <a:ext cx="3178175" cy="554038"/>
            <a:chOff x="1075" y="3031"/>
            <a:chExt cx="2002" cy="349"/>
          </a:xfrm>
        </p:grpSpPr>
        <p:sp>
          <p:nvSpPr>
            <p:cNvPr id="28754" name="Rectangle 27"/>
            <p:cNvSpPr/>
            <p:nvPr/>
          </p:nvSpPr>
          <p:spPr>
            <a:xfrm>
              <a:off x="1075" y="3053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55" name="Text Box 28"/>
            <p:cNvSpPr txBox="1"/>
            <p:nvPr/>
          </p:nvSpPr>
          <p:spPr>
            <a:xfrm>
              <a:off x="2787" y="3031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Q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9"/>
          <p:cNvGrpSpPr/>
          <p:nvPr/>
        </p:nvGrpSpPr>
        <p:grpSpPr>
          <a:xfrm>
            <a:off x="2608263" y="3471863"/>
            <a:ext cx="1984375" cy="1808162"/>
            <a:chOff x="1643" y="2352"/>
            <a:chExt cx="1250" cy="1139"/>
          </a:xfrm>
        </p:grpSpPr>
        <p:sp>
          <p:nvSpPr>
            <p:cNvPr id="28752" name="Rectangle 30"/>
            <p:cNvSpPr/>
            <p:nvPr/>
          </p:nvSpPr>
          <p:spPr>
            <a:xfrm>
              <a:off x="2665" y="2352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53" name="Rectangle 31"/>
            <p:cNvSpPr/>
            <p:nvPr/>
          </p:nvSpPr>
          <p:spPr>
            <a:xfrm>
              <a:off x="1643" y="3164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32"/>
          <p:cNvGrpSpPr/>
          <p:nvPr/>
        </p:nvGrpSpPr>
        <p:grpSpPr>
          <a:xfrm>
            <a:off x="1936750" y="3490913"/>
            <a:ext cx="1897063" cy="1843087"/>
            <a:chOff x="1220" y="2364"/>
            <a:chExt cx="1195" cy="1161"/>
          </a:xfrm>
        </p:grpSpPr>
        <p:sp>
          <p:nvSpPr>
            <p:cNvPr id="28750" name="Text Box 33"/>
            <p:cNvSpPr txBox="1"/>
            <p:nvPr/>
          </p:nvSpPr>
          <p:spPr>
            <a:xfrm>
              <a:off x="1220" y="2364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51" name="Text Box 34"/>
            <p:cNvSpPr txBox="1"/>
            <p:nvPr/>
          </p:nvSpPr>
          <p:spPr>
            <a:xfrm>
              <a:off x="2187" y="3198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875" name="Text Box 35"/>
          <p:cNvSpPr txBox="1"/>
          <p:nvPr/>
        </p:nvSpPr>
        <p:spPr>
          <a:xfrm>
            <a:off x="5765800" y="2608263"/>
            <a:ext cx="1554163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endParaRPr lang="en-US" altLang="zh-CN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79" name="Text Box 39"/>
          <p:cNvSpPr txBox="1"/>
          <p:nvPr/>
        </p:nvSpPr>
        <p:spPr>
          <a:xfrm>
            <a:off x="5537200" y="3206750"/>
            <a:ext cx="1397000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339933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="1" baseline="30000" dirty="0">
                <a:solidFill>
                  <a:srgbClr val="339933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baseline="30000" dirty="0">
                <a:solidFill>
                  <a:srgbClr val="339933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baseline="30000" dirty="0">
                <a:solidFill>
                  <a:srgbClr val="339933"/>
                </a:solidFill>
                <a:latin typeface="Times New Roman" panose="02020603050405020304" pitchFamily="18" charset="0"/>
              </a:rPr>
              <a:t>+1)</a:t>
            </a:r>
            <a:r>
              <a:rPr lang="en-US" altLang="zh-CN" b="1" dirty="0">
                <a:solidFill>
                  <a:srgbClr val="339933"/>
                </a:solidFill>
                <a:latin typeface="Times New Roman" panose="02020603050405020304" pitchFamily="18" charset="0"/>
              </a:rPr>
              <a:t>=0</a:t>
            </a:r>
            <a:endParaRPr lang="en-US" altLang="zh-CN" b="1" dirty="0">
              <a:solidFill>
                <a:srgbClr val="3399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80" name="Rectangle 40" descr="羊皮纸"/>
          <p:cNvSpPr/>
          <p:nvPr/>
        </p:nvSpPr>
        <p:spPr>
          <a:xfrm>
            <a:off x="809625" y="3209925"/>
            <a:ext cx="4783138" cy="3209925"/>
          </a:xfrm>
          <a:prstGeom prst="rect">
            <a:avLst/>
          </a:prstGeom>
          <a:blipFill rotWithShape="1">
            <a:blip r:embed="rId1"/>
          </a:blipFill>
          <a:ln w="38100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" name="Group 41"/>
          <p:cNvGrpSpPr/>
          <p:nvPr/>
        </p:nvGrpSpPr>
        <p:grpSpPr>
          <a:xfrm>
            <a:off x="1655763" y="4567238"/>
            <a:ext cx="3246437" cy="519112"/>
            <a:chOff x="1043" y="2877"/>
            <a:chExt cx="2045" cy="327"/>
          </a:xfrm>
        </p:grpSpPr>
        <p:grpSp>
          <p:nvGrpSpPr>
            <p:cNvPr id="28746" name="Group 42"/>
            <p:cNvGrpSpPr/>
            <p:nvPr/>
          </p:nvGrpSpPr>
          <p:grpSpPr>
            <a:xfrm>
              <a:off x="1043" y="2877"/>
              <a:ext cx="290" cy="327"/>
              <a:chOff x="365" y="3832"/>
              <a:chExt cx="290" cy="327"/>
            </a:xfrm>
          </p:grpSpPr>
          <p:sp>
            <p:nvSpPr>
              <p:cNvPr id="28748" name="Rectangle 43" descr="羊皮纸"/>
              <p:cNvSpPr/>
              <p:nvPr/>
            </p:nvSpPr>
            <p:spPr>
              <a:xfrm>
                <a:off x="365" y="3832"/>
                <a:ext cx="290" cy="327"/>
              </a:xfrm>
              <a:prstGeom prst="rect">
                <a:avLst/>
              </a:prstGeom>
              <a:blipFill rotWithShape="1">
                <a:blip r:embed="rId1"/>
              </a:blipFill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Q</a:t>
                </a:r>
                <a:endParaRPr lang="en-US" altLang="zh-CN" b="1" dirty="0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49" name="Line 44"/>
              <p:cNvSpPr/>
              <p:nvPr/>
            </p:nvSpPr>
            <p:spPr>
              <a:xfrm>
                <a:off x="433" y="3900"/>
                <a:ext cx="134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8747" name="Rectangle 45" descr="羊皮纸"/>
            <p:cNvSpPr/>
            <p:nvPr/>
          </p:nvSpPr>
          <p:spPr>
            <a:xfrm>
              <a:off x="2798" y="2877"/>
              <a:ext cx="290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46"/>
          <p:cNvGrpSpPr/>
          <p:nvPr/>
        </p:nvGrpSpPr>
        <p:grpSpPr>
          <a:xfrm>
            <a:off x="1973263" y="3454400"/>
            <a:ext cx="1879600" cy="1895475"/>
            <a:chOff x="1243" y="2176"/>
            <a:chExt cx="1184" cy="1194"/>
          </a:xfrm>
        </p:grpSpPr>
        <p:sp>
          <p:nvSpPr>
            <p:cNvPr id="28744" name="Rectangle 47" descr="羊皮纸"/>
            <p:cNvSpPr/>
            <p:nvPr/>
          </p:nvSpPr>
          <p:spPr>
            <a:xfrm>
              <a:off x="1243" y="2176"/>
              <a:ext cx="228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45" name="Rectangle 48" descr="羊皮纸"/>
            <p:cNvSpPr/>
            <p:nvPr/>
          </p:nvSpPr>
          <p:spPr>
            <a:xfrm>
              <a:off x="2199" y="3043"/>
              <a:ext cx="228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49"/>
          <p:cNvGrpSpPr/>
          <p:nvPr/>
        </p:nvGrpSpPr>
        <p:grpSpPr>
          <a:xfrm>
            <a:off x="1938338" y="6011863"/>
            <a:ext cx="2689225" cy="519112"/>
            <a:chOff x="1221" y="3787"/>
            <a:chExt cx="1694" cy="327"/>
          </a:xfrm>
        </p:grpSpPr>
        <p:sp>
          <p:nvSpPr>
            <p:cNvPr id="28741" name="Text Box 50" descr="羊皮纸"/>
            <p:cNvSpPr txBox="1"/>
            <p:nvPr/>
          </p:nvSpPr>
          <p:spPr>
            <a:xfrm>
              <a:off x="1920" y="3787"/>
              <a:ext cx="228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42" name="Text Box 51" descr="羊皮纸"/>
            <p:cNvSpPr txBox="1"/>
            <p:nvPr/>
          </p:nvSpPr>
          <p:spPr>
            <a:xfrm>
              <a:off x="2687" y="3787"/>
              <a:ext cx="228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43" name="Text Box 52" descr="羊皮纸"/>
            <p:cNvSpPr txBox="1"/>
            <p:nvPr/>
          </p:nvSpPr>
          <p:spPr>
            <a:xfrm>
              <a:off x="1221" y="3787"/>
              <a:ext cx="228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53"/>
          <p:cNvGrpSpPr/>
          <p:nvPr/>
        </p:nvGrpSpPr>
        <p:grpSpPr>
          <a:xfrm>
            <a:off x="2570163" y="3429000"/>
            <a:ext cx="2001837" cy="1806575"/>
            <a:chOff x="1643" y="2198"/>
            <a:chExt cx="1261" cy="1138"/>
          </a:xfrm>
        </p:grpSpPr>
        <p:sp>
          <p:nvSpPr>
            <p:cNvPr id="28739" name="Rectangle 54" descr="羊皮纸"/>
            <p:cNvSpPr/>
            <p:nvPr/>
          </p:nvSpPr>
          <p:spPr>
            <a:xfrm>
              <a:off x="2676" y="2198"/>
              <a:ext cx="228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40" name="Rectangle 55" descr="羊皮纸"/>
            <p:cNvSpPr/>
            <p:nvPr/>
          </p:nvSpPr>
          <p:spPr>
            <a:xfrm>
              <a:off x="1643" y="3009"/>
              <a:ext cx="228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5897" name="Rectangle 57" descr="羊皮纸"/>
          <p:cNvSpPr/>
          <p:nvPr/>
        </p:nvSpPr>
        <p:spPr>
          <a:xfrm>
            <a:off x="5418138" y="3263900"/>
            <a:ext cx="1570037" cy="476250"/>
          </a:xfrm>
          <a:prstGeom prst="rect">
            <a:avLst/>
          </a:prstGeom>
          <a:blipFill rotWithShape="1">
            <a:blip r:embed="rId1"/>
          </a:blipFill>
          <a:ln w="38100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898" name="Freeform 58" descr="羊皮纸"/>
          <p:cNvSpPr/>
          <p:nvPr/>
        </p:nvSpPr>
        <p:spPr>
          <a:xfrm>
            <a:off x="1730375" y="3581400"/>
            <a:ext cx="3068638" cy="1728788"/>
          </a:xfrm>
          <a:custGeom>
            <a:avLst/>
            <a:gdLst>
              <a:gd name="txL" fmla="*/ 0 w 1933"/>
              <a:gd name="txT" fmla="*/ 0 h 1089"/>
              <a:gd name="txR" fmla="*/ 1933 w 1933"/>
              <a:gd name="txB" fmla="*/ 1089 h 1089"/>
            </a:gdLst>
            <a:ahLst/>
            <a:cxnLst>
              <a:cxn ang="0">
                <a:pos x="0" y="141128791"/>
              </a:cxn>
              <a:cxn ang="0">
                <a:pos x="1764109662" y="2147483647"/>
              </a:cxn>
              <a:cxn ang="0">
                <a:pos x="2147483647" y="2147483647"/>
              </a:cxn>
              <a:cxn ang="0">
                <a:pos x="2147483647" y="2099291557"/>
              </a:cxn>
              <a:cxn ang="0">
                <a:pos x="2147483647" y="335181672"/>
              </a:cxn>
              <a:cxn ang="0">
                <a:pos x="2147483647" y="0"/>
              </a:cxn>
              <a:cxn ang="0">
                <a:pos x="335181630" y="27722521"/>
              </a:cxn>
              <a:cxn ang="0">
                <a:pos x="0" y="141128791"/>
              </a:cxn>
            </a:cxnLst>
            <a:rect l="txL" t="txT" r="txR" b="txB"/>
            <a:pathLst>
              <a:path w="1933" h="1089">
                <a:moveTo>
                  <a:pt x="0" y="56"/>
                </a:moveTo>
                <a:lnTo>
                  <a:pt x="700" y="1089"/>
                </a:lnTo>
                <a:lnTo>
                  <a:pt x="1333" y="1078"/>
                </a:lnTo>
                <a:lnTo>
                  <a:pt x="1378" y="833"/>
                </a:lnTo>
                <a:lnTo>
                  <a:pt x="1933" y="133"/>
                </a:lnTo>
                <a:lnTo>
                  <a:pt x="1922" y="0"/>
                </a:lnTo>
                <a:lnTo>
                  <a:pt x="133" y="11"/>
                </a:lnTo>
                <a:lnTo>
                  <a:pt x="0" y="56"/>
                </a:lnTo>
                <a:close/>
              </a:path>
            </a:pathLst>
          </a:custGeom>
          <a:blipFill rotWithShape="1">
            <a:blip r:embed="rId1"/>
          </a:blipFill>
          <a:ln w="3810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4" name="Group 59"/>
          <p:cNvGrpSpPr/>
          <p:nvPr/>
        </p:nvGrpSpPr>
        <p:grpSpPr>
          <a:xfrm>
            <a:off x="2644775" y="3489325"/>
            <a:ext cx="1928813" cy="1824038"/>
            <a:chOff x="1666" y="2198"/>
            <a:chExt cx="1215" cy="1150"/>
          </a:xfrm>
        </p:grpSpPr>
        <p:sp>
          <p:nvSpPr>
            <p:cNvPr id="28737" name="Rectangle 60" descr="羊皮纸"/>
            <p:cNvSpPr/>
            <p:nvPr/>
          </p:nvSpPr>
          <p:spPr>
            <a:xfrm>
              <a:off x="2655" y="2198"/>
              <a:ext cx="226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b="1" dirty="0">
                  <a:solidFill>
                    <a:srgbClr val="339933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3399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38" name="Rectangle 61" descr="羊皮纸"/>
            <p:cNvSpPr/>
            <p:nvPr/>
          </p:nvSpPr>
          <p:spPr>
            <a:xfrm>
              <a:off x="1666" y="3021"/>
              <a:ext cx="226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b="1" dirty="0">
                  <a:solidFill>
                    <a:srgbClr val="339933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rgbClr val="339933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62"/>
          <p:cNvGrpSpPr/>
          <p:nvPr/>
        </p:nvGrpSpPr>
        <p:grpSpPr>
          <a:xfrm>
            <a:off x="1935163" y="3470275"/>
            <a:ext cx="1949450" cy="1843088"/>
            <a:chOff x="1219" y="2186"/>
            <a:chExt cx="1228" cy="1161"/>
          </a:xfrm>
        </p:grpSpPr>
        <p:sp>
          <p:nvSpPr>
            <p:cNvPr id="28735" name="Rectangle 63" descr="羊皮纸"/>
            <p:cNvSpPr/>
            <p:nvPr/>
          </p:nvSpPr>
          <p:spPr>
            <a:xfrm>
              <a:off x="1219" y="2186"/>
              <a:ext cx="228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rgbClr val="339933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solidFill>
                  <a:srgbClr val="3399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36" name="Rectangle 64" descr="羊皮纸"/>
            <p:cNvSpPr/>
            <p:nvPr/>
          </p:nvSpPr>
          <p:spPr>
            <a:xfrm>
              <a:off x="2219" y="3020"/>
              <a:ext cx="228" cy="327"/>
            </a:xfrm>
            <a:prstGeom prst="rect">
              <a:avLst/>
            </a:prstGeom>
            <a:blipFill rotWithShape="1">
              <a:blip r:embed="rId1"/>
            </a:blipFill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rgbClr val="339933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solidFill>
                  <a:srgbClr val="339933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65"/>
          <p:cNvGrpSpPr/>
          <p:nvPr/>
        </p:nvGrpSpPr>
        <p:grpSpPr>
          <a:xfrm>
            <a:off x="1123950" y="2789238"/>
            <a:ext cx="4302125" cy="3481387"/>
            <a:chOff x="708" y="1922"/>
            <a:chExt cx="2710" cy="2193"/>
          </a:xfrm>
        </p:grpSpPr>
        <p:sp>
          <p:nvSpPr>
            <p:cNvPr id="28695" name="Rectangle 66"/>
            <p:cNvSpPr/>
            <p:nvPr/>
          </p:nvSpPr>
          <p:spPr>
            <a:xfrm>
              <a:off x="1188" y="2657"/>
              <a:ext cx="589" cy="344"/>
            </a:xfrm>
            <a:prstGeom prst="rect">
              <a:avLst/>
            </a:prstGeom>
            <a:solidFill>
              <a:srgbClr val="CCFF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696" name="Rectangle 67"/>
            <p:cNvSpPr/>
            <p:nvPr/>
          </p:nvSpPr>
          <p:spPr>
            <a:xfrm>
              <a:off x="2344" y="2657"/>
              <a:ext cx="589" cy="344"/>
            </a:xfrm>
            <a:prstGeom prst="rect">
              <a:avLst/>
            </a:prstGeom>
            <a:solidFill>
              <a:srgbClr val="CCFF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697" name="Oval 68"/>
            <p:cNvSpPr/>
            <p:nvPr/>
          </p:nvSpPr>
          <p:spPr>
            <a:xfrm>
              <a:off x="1452" y="2587"/>
              <a:ext cx="72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698" name="Oval 69"/>
            <p:cNvSpPr/>
            <p:nvPr/>
          </p:nvSpPr>
          <p:spPr>
            <a:xfrm>
              <a:off x="2608" y="2587"/>
              <a:ext cx="72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699" name="Line 70"/>
            <p:cNvSpPr/>
            <p:nvPr/>
          </p:nvSpPr>
          <p:spPr>
            <a:xfrm flipV="1">
              <a:off x="1488" y="2034"/>
              <a:ext cx="0" cy="556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0" name="Line 71"/>
            <p:cNvSpPr/>
            <p:nvPr/>
          </p:nvSpPr>
          <p:spPr>
            <a:xfrm flipV="1">
              <a:off x="1333" y="2990"/>
              <a:ext cx="0" cy="34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1" name="Freeform 72"/>
            <p:cNvSpPr/>
            <p:nvPr/>
          </p:nvSpPr>
          <p:spPr>
            <a:xfrm>
              <a:off x="1610" y="2479"/>
              <a:ext cx="1045" cy="755"/>
            </a:xfrm>
            <a:custGeom>
              <a:avLst/>
              <a:gdLst>
                <a:gd name="txL" fmla="*/ 0 w 1045"/>
                <a:gd name="txT" fmla="*/ 0 h 800"/>
                <a:gd name="txR" fmla="*/ 1045 w 1045"/>
                <a:gd name="txB" fmla="*/ 800 h 800"/>
              </a:gdLst>
              <a:ahLst/>
              <a:cxnLst>
                <a:cxn ang="0">
                  <a:pos x="0" y="495"/>
                </a:cxn>
                <a:cxn ang="0">
                  <a:pos x="0" y="713"/>
                </a:cxn>
                <a:cxn ang="0">
                  <a:pos x="278" y="713"/>
                </a:cxn>
                <a:cxn ang="0">
                  <a:pos x="678" y="0"/>
                </a:cxn>
                <a:cxn ang="0">
                  <a:pos x="1045" y="0"/>
                </a:cxn>
              </a:cxnLst>
              <a:rect l="txL" t="txT" r="txR" b="txB"/>
              <a:pathLst>
                <a:path w="1045" h="800">
                  <a:moveTo>
                    <a:pt x="0" y="556"/>
                  </a:moveTo>
                  <a:lnTo>
                    <a:pt x="0" y="800"/>
                  </a:lnTo>
                  <a:lnTo>
                    <a:pt x="278" y="800"/>
                  </a:lnTo>
                  <a:lnTo>
                    <a:pt x="678" y="0"/>
                  </a:lnTo>
                  <a:lnTo>
                    <a:pt x="1045" y="0"/>
                  </a:ln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02" name="Line 73"/>
            <p:cNvSpPr/>
            <p:nvPr/>
          </p:nvSpPr>
          <p:spPr>
            <a:xfrm flipV="1">
              <a:off x="2644" y="2068"/>
              <a:ext cx="0" cy="52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3" name="Freeform 74"/>
            <p:cNvSpPr/>
            <p:nvPr/>
          </p:nvSpPr>
          <p:spPr>
            <a:xfrm flipH="1">
              <a:off x="1484" y="2486"/>
              <a:ext cx="1023" cy="755"/>
            </a:xfrm>
            <a:custGeom>
              <a:avLst/>
              <a:gdLst>
                <a:gd name="txL" fmla="*/ 0 w 1045"/>
                <a:gd name="txT" fmla="*/ 0 h 800"/>
                <a:gd name="txR" fmla="*/ 1045 w 1045"/>
                <a:gd name="txB" fmla="*/ 800 h 800"/>
              </a:gdLst>
              <a:ahLst/>
              <a:cxnLst>
                <a:cxn ang="0">
                  <a:pos x="0" y="495"/>
                </a:cxn>
                <a:cxn ang="0">
                  <a:pos x="0" y="713"/>
                </a:cxn>
                <a:cxn ang="0">
                  <a:pos x="266" y="713"/>
                </a:cxn>
                <a:cxn ang="0">
                  <a:pos x="650" y="0"/>
                </a:cxn>
                <a:cxn ang="0">
                  <a:pos x="1001" y="0"/>
                </a:cxn>
              </a:cxnLst>
              <a:rect l="txL" t="txT" r="txR" b="txB"/>
              <a:pathLst>
                <a:path w="1045" h="800">
                  <a:moveTo>
                    <a:pt x="0" y="556"/>
                  </a:moveTo>
                  <a:lnTo>
                    <a:pt x="0" y="800"/>
                  </a:lnTo>
                  <a:lnTo>
                    <a:pt x="278" y="800"/>
                  </a:lnTo>
                  <a:lnTo>
                    <a:pt x="678" y="0"/>
                  </a:lnTo>
                  <a:lnTo>
                    <a:pt x="1045" y="0"/>
                  </a:ln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04" name="Line 75"/>
            <p:cNvSpPr/>
            <p:nvPr/>
          </p:nvSpPr>
          <p:spPr>
            <a:xfrm flipV="1">
              <a:off x="2789" y="2990"/>
              <a:ext cx="0" cy="34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5" name="Text Box 76"/>
            <p:cNvSpPr txBox="1"/>
            <p:nvPr/>
          </p:nvSpPr>
          <p:spPr>
            <a:xfrm>
              <a:off x="1342" y="2667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8706" name="Text Box 77"/>
            <p:cNvSpPr txBox="1"/>
            <p:nvPr/>
          </p:nvSpPr>
          <p:spPr>
            <a:xfrm>
              <a:off x="2487" y="2667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8707" name="Text Box 78"/>
            <p:cNvSpPr txBox="1"/>
            <p:nvPr/>
          </p:nvSpPr>
          <p:spPr>
            <a:xfrm>
              <a:off x="841" y="2677"/>
              <a:ext cx="3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08" name="Text Box 79"/>
            <p:cNvSpPr txBox="1"/>
            <p:nvPr/>
          </p:nvSpPr>
          <p:spPr>
            <a:xfrm>
              <a:off x="1296" y="3787"/>
              <a:ext cx="27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K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8709" name="Group 80"/>
            <p:cNvGrpSpPr/>
            <p:nvPr/>
          </p:nvGrpSpPr>
          <p:grpSpPr>
            <a:xfrm>
              <a:off x="1229" y="1934"/>
              <a:ext cx="278" cy="327"/>
              <a:chOff x="1086" y="2275"/>
              <a:chExt cx="278" cy="327"/>
            </a:xfrm>
          </p:grpSpPr>
          <p:sp>
            <p:nvSpPr>
              <p:cNvPr id="28733" name="Text Box 81"/>
              <p:cNvSpPr txBox="1"/>
              <p:nvPr/>
            </p:nvSpPr>
            <p:spPr>
              <a:xfrm>
                <a:off x="1086" y="2275"/>
                <a:ext cx="278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Q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34" name="Line 82"/>
              <p:cNvSpPr/>
              <p:nvPr/>
            </p:nvSpPr>
            <p:spPr>
              <a:xfrm>
                <a:off x="1144" y="2322"/>
                <a:ext cx="15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8710" name="Oval 83"/>
            <p:cNvSpPr/>
            <p:nvPr/>
          </p:nvSpPr>
          <p:spPr>
            <a:xfrm>
              <a:off x="1441" y="2454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11" name="Oval 84"/>
            <p:cNvSpPr/>
            <p:nvPr/>
          </p:nvSpPr>
          <p:spPr>
            <a:xfrm>
              <a:off x="2597" y="2443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12" name="Text Box 85"/>
            <p:cNvSpPr txBox="1"/>
            <p:nvPr/>
          </p:nvSpPr>
          <p:spPr>
            <a:xfrm>
              <a:off x="2896" y="2677"/>
              <a:ext cx="3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13" name="Text Box 86"/>
            <p:cNvSpPr txBox="1"/>
            <p:nvPr/>
          </p:nvSpPr>
          <p:spPr>
            <a:xfrm>
              <a:off x="2776" y="3788"/>
              <a:ext cx="20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J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8714" name="Text Box 87"/>
            <p:cNvSpPr txBox="1"/>
            <p:nvPr/>
          </p:nvSpPr>
          <p:spPr>
            <a:xfrm>
              <a:off x="2653" y="1922"/>
              <a:ext cx="27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15" name="Rectangle 88"/>
            <p:cNvSpPr/>
            <p:nvPr/>
          </p:nvSpPr>
          <p:spPr>
            <a:xfrm>
              <a:off x="1045" y="3346"/>
              <a:ext cx="589" cy="344"/>
            </a:xfrm>
            <a:prstGeom prst="rect">
              <a:avLst/>
            </a:prstGeom>
            <a:solidFill>
              <a:srgbClr val="CCFF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16" name="Text Box 89"/>
            <p:cNvSpPr txBox="1"/>
            <p:nvPr/>
          </p:nvSpPr>
          <p:spPr>
            <a:xfrm>
              <a:off x="1199" y="3356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8717" name="Oval 90"/>
            <p:cNvSpPr/>
            <p:nvPr/>
          </p:nvSpPr>
          <p:spPr>
            <a:xfrm>
              <a:off x="1297" y="3287"/>
              <a:ext cx="72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18" name="Line 91"/>
            <p:cNvSpPr/>
            <p:nvPr/>
          </p:nvSpPr>
          <p:spPr>
            <a:xfrm flipV="1">
              <a:off x="1332" y="3689"/>
              <a:ext cx="0" cy="323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9" name="Rectangle 92"/>
            <p:cNvSpPr/>
            <p:nvPr/>
          </p:nvSpPr>
          <p:spPr>
            <a:xfrm>
              <a:off x="2490" y="3346"/>
              <a:ext cx="589" cy="344"/>
            </a:xfrm>
            <a:prstGeom prst="rect">
              <a:avLst/>
            </a:prstGeom>
            <a:solidFill>
              <a:srgbClr val="CCFF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20" name="Text Box 93"/>
            <p:cNvSpPr txBox="1"/>
            <p:nvPr/>
          </p:nvSpPr>
          <p:spPr>
            <a:xfrm>
              <a:off x="2644" y="3356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8721" name="Oval 94"/>
            <p:cNvSpPr/>
            <p:nvPr/>
          </p:nvSpPr>
          <p:spPr>
            <a:xfrm>
              <a:off x="2742" y="3287"/>
              <a:ext cx="72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22" name="Line 95"/>
            <p:cNvSpPr/>
            <p:nvPr/>
          </p:nvSpPr>
          <p:spPr>
            <a:xfrm flipV="1">
              <a:off x="2791" y="3689"/>
              <a:ext cx="0" cy="31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3" name="Freeform 96"/>
            <p:cNvSpPr/>
            <p:nvPr/>
          </p:nvSpPr>
          <p:spPr>
            <a:xfrm>
              <a:off x="1522" y="3679"/>
              <a:ext cx="1055" cy="122"/>
            </a:xfrm>
            <a:custGeom>
              <a:avLst/>
              <a:gdLst>
                <a:gd name="txL" fmla="*/ 0 w 1178"/>
                <a:gd name="txT" fmla="*/ 0 h 133"/>
                <a:gd name="txR" fmla="*/ 1178 w 1178"/>
                <a:gd name="txB" fmla="*/ 133 h 133"/>
              </a:gdLst>
              <a:ahLst/>
              <a:cxnLst>
                <a:cxn ang="0">
                  <a:pos x="0" y="9"/>
                </a:cxn>
                <a:cxn ang="0">
                  <a:pos x="0" y="112"/>
                </a:cxn>
                <a:cxn ang="0">
                  <a:pos x="945" y="112"/>
                </a:cxn>
                <a:cxn ang="0">
                  <a:pos x="945" y="0"/>
                </a:cxn>
              </a:cxnLst>
              <a:rect l="txL" t="txT" r="txR" b="txB"/>
              <a:pathLst>
                <a:path w="1178" h="133">
                  <a:moveTo>
                    <a:pt x="0" y="11"/>
                  </a:moveTo>
                  <a:lnTo>
                    <a:pt x="0" y="133"/>
                  </a:lnTo>
                  <a:lnTo>
                    <a:pt x="1178" y="133"/>
                  </a:lnTo>
                  <a:lnTo>
                    <a:pt x="1178" y="0"/>
                  </a:ln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24" name="Line 97"/>
            <p:cNvSpPr/>
            <p:nvPr/>
          </p:nvSpPr>
          <p:spPr>
            <a:xfrm flipV="1">
              <a:off x="2045" y="3811"/>
              <a:ext cx="0" cy="201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5" name="Oval 98"/>
            <p:cNvSpPr/>
            <p:nvPr/>
          </p:nvSpPr>
          <p:spPr>
            <a:xfrm>
              <a:off x="2008" y="3777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26" name="Text Box 99"/>
            <p:cNvSpPr txBox="1"/>
            <p:nvPr/>
          </p:nvSpPr>
          <p:spPr>
            <a:xfrm>
              <a:off x="2030" y="3767"/>
              <a:ext cx="3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CP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8727" name="Text Box 100"/>
            <p:cNvSpPr txBox="1"/>
            <p:nvPr/>
          </p:nvSpPr>
          <p:spPr>
            <a:xfrm>
              <a:off x="708" y="3354"/>
              <a:ext cx="3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3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28" name="Text Box 101"/>
            <p:cNvSpPr txBox="1"/>
            <p:nvPr/>
          </p:nvSpPr>
          <p:spPr>
            <a:xfrm>
              <a:off x="3064" y="3354"/>
              <a:ext cx="3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4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29" name="Freeform 102"/>
            <p:cNvSpPr/>
            <p:nvPr/>
          </p:nvSpPr>
          <p:spPr>
            <a:xfrm>
              <a:off x="722" y="2244"/>
              <a:ext cx="1923" cy="1633"/>
            </a:xfrm>
            <a:custGeom>
              <a:avLst/>
              <a:gdLst>
                <a:gd name="txL" fmla="*/ 0 w 1923"/>
                <a:gd name="txT" fmla="*/ 0 h 1633"/>
                <a:gd name="txR" fmla="*/ 1923 w 1923"/>
                <a:gd name="txB" fmla="*/ 1633 h 1633"/>
              </a:gdLst>
              <a:ahLst/>
              <a:cxnLst>
                <a:cxn ang="0">
                  <a:pos x="423" y="1456"/>
                </a:cxn>
                <a:cxn ang="0">
                  <a:pos x="423" y="1633"/>
                </a:cxn>
                <a:cxn ang="0">
                  <a:pos x="0" y="1633"/>
                </a:cxn>
                <a:cxn ang="0">
                  <a:pos x="0" y="0"/>
                </a:cxn>
                <a:cxn ang="0">
                  <a:pos x="1923" y="0"/>
                </a:cxn>
              </a:cxnLst>
              <a:rect l="txL" t="txT" r="txR" b="txB"/>
              <a:pathLst>
                <a:path w="1923" h="1633">
                  <a:moveTo>
                    <a:pt x="423" y="1456"/>
                  </a:moveTo>
                  <a:lnTo>
                    <a:pt x="423" y="1633"/>
                  </a:lnTo>
                  <a:lnTo>
                    <a:pt x="0" y="1633"/>
                  </a:lnTo>
                  <a:lnTo>
                    <a:pt x="0" y="0"/>
                  </a:lnTo>
                  <a:lnTo>
                    <a:pt x="1923" y="0"/>
                  </a:ln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30" name="Oval 103"/>
            <p:cNvSpPr/>
            <p:nvPr/>
          </p:nvSpPr>
          <p:spPr>
            <a:xfrm>
              <a:off x="2597" y="221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31" name="Freeform 104"/>
            <p:cNvSpPr/>
            <p:nvPr/>
          </p:nvSpPr>
          <p:spPr>
            <a:xfrm flipH="1">
              <a:off x="1473" y="2351"/>
              <a:ext cx="1923" cy="1511"/>
            </a:xfrm>
            <a:custGeom>
              <a:avLst/>
              <a:gdLst>
                <a:gd name="txL" fmla="*/ 0 w 1923"/>
                <a:gd name="txT" fmla="*/ 0 h 1633"/>
                <a:gd name="txR" fmla="*/ 1923 w 1923"/>
                <a:gd name="txB" fmla="*/ 1633 h 1633"/>
              </a:gdLst>
              <a:ahLst/>
              <a:cxnLst>
                <a:cxn ang="0">
                  <a:pos x="423" y="1246"/>
                </a:cxn>
                <a:cxn ang="0">
                  <a:pos x="423" y="1398"/>
                </a:cxn>
                <a:cxn ang="0">
                  <a:pos x="0" y="1398"/>
                </a:cxn>
                <a:cxn ang="0">
                  <a:pos x="0" y="0"/>
                </a:cxn>
                <a:cxn ang="0">
                  <a:pos x="1923" y="0"/>
                </a:cxn>
              </a:cxnLst>
              <a:rect l="txL" t="txT" r="txR" b="txB"/>
              <a:pathLst>
                <a:path w="1923" h="1633">
                  <a:moveTo>
                    <a:pt x="423" y="1456"/>
                  </a:moveTo>
                  <a:lnTo>
                    <a:pt x="423" y="1633"/>
                  </a:lnTo>
                  <a:lnTo>
                    <a:pt x="0" y="1633"/>
                  </a:lnTo>
                  <a:lnTo>
                    <a:pt x="0" y="0"/>
                  </a:lnTo>
                  <a:lnTo>
                    <a:pt x="1923" y="0"/>
                  </a:ln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32" name="Oval 105"/>
            <p:cNvSpPr/>
            <p:nvPr/>
          </p:nvSpPr>
          <p:spPr>
            <a:xfrm>
              <a:off x="1441" y="2309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946" name="Text Box 106"/>
          <p:cNvSpPr txBox="1"/>
          <p:nvPr/>
        </p:nvSpPr>
        <p:spPr>
          <a:xfrm>
            <a:off x="5781675" y="3208338"/>
            <a:ext cx="1397000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latin typeface="Times New Roman" panose="02020603050405020304" pitchFamily="18" charset="0"/>
              </a:rPr>
              <a:t>Q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b="1" dirty="0">
                <a:latin typeface="Times New Roman" panose="02020603050405020304" pitchFamily="18" charset="0"/>
              </a:rPr>
              <a:t>=1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35947" name="Text Box 107" descr="羊皮纸"/>
          <p:cNvSpPr txBox="1"/>
          <p:nvPr/>
        </p:nvSpPr>
        <p:spPr>
          <a:xfrm>
            <a:off x="5854700" y="2624138"/>
            <a:ext cx="1071563" cy="519112"/>
          </a:xfrm>
          <a:prstGeom prst="rect">
            <a:avLst/>
          </a:prstGeom>
          <a:blipFill rotWithShape="1">
            <a:blip r:embed="rId1"/>
          </a:blipFill>
          <a:ln w="38100">
            <a:noFill/>
          </a:ln>
        </p:spPr>
        <p:txBody>
          <a:bodyPr>
            <a:spAutoFit/>
          </a:bodyPr>
          <a:p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endParaRPr lang="en-US" altLang="zh-CN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87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87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594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0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  <p:bldP spid="35875" grpId="0" build="p"/>
      <p:bldP spid="35879" grpId="0" build="p"/>
      <p:bldP spid="35880" grpId="0" animBg="1"/>
      <p:bldP spid="35897" grpId="0" animBg="1"/>
      <p:bldP spid="35946" grpId="0" build="p"/>
      <p:bldP spid="3594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ext Box 2"/>
          <p:cNvSpPr txBox="1"/>
          <p:nvPr/>
        </p:nvSpPr>
        <p:spPr>
          <a:xfrm>
            <a:off x="1158875" y="1500188"/>
            <a:ext cx="7162800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zh-CN" dirty="0">
                <a:latin typeface="Times New Roman" panose="02020603050405020304" pitchFamily="18" charset="0"/>
              </a:rPr>
              <a:t>时，</a:t>
            </a:r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触发器的状态保持不变；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747" name="Text Box 3"/>
          <p:cNvSpPr txBox="1"/>
          <p:nvPr/>
        </p:nvSpPr>
        <p:spPr>
          <a:xfrm>
            <a:off x="1158875" y="2292350"/>
            <a:ext cx="2219325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latin typeface="Times New Roman" panose="02020603050405020304" pitchFamily="18" charset="0"/>
              </a:rPr>
              <a:t>时，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748" name="Text Box 4"/>
          <p:cNvSpPr txBox="1"/>
          <p:nvPr/>
        </p:nvSpPr>
        <p:spPr>
          <a:xfrm>
            <a:off x="1266825" y="2997200"/>
            <a:ext cx="7173913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J=K=0, </a:t>
            </a:r>
            <a:r>
              <a:rPr lang="zh-CN" altLang="zh-CN" dirty="0">
                <a:latin typeface="Times New Roman" panose="02020603050405020304" pitchFamily="18" charset="0"/>
              </a:rPr>
              <a:t>则</a:t>
            </a:r>
            <a:r>
              <a:rPr lang="en-US" altLang="zh-CN" dirty="0">
                <a:latin typeface="Times New Roman" panose="02020603050405020304" pitchFamily="18" charset="0"/>
              </a:rPr>
              <a:t>G3=G4=1, </a:t>
            </a:r>
            <a:r>
              <a:rPr lang="zh-CN" altLang="zh-CN" dirty="0">
                <a:latin typeface="Times New Roman" panose="02020603050405020304" pitchFamily="18" charset="0"/>
              </a:rPr>
              <a:t>触发器保持原状态；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749" name="Text Box 5"/>
          <p:cNvSpPr txBox="1"/>
          <p:nvPr/>
        </p:nvSpPr>
        <p:spPr>
          <a:xfrm>
            <a:off x="1266825" y="3736975"/>
            <a:ext cx="7075488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J=1, K=0, </a:t>
            </a:r>
            <a:r>
              <a:rPr lang="zh-CN" altLang="zh-CN" dirty="0">
                <a:latin typeface="Times New Roman" panose="02020603050405020304" pitchFamily="18" charset="0"/>
              </a:rPr>
              <a:t>则</a:t>
            </a:r>
            <a:r>
              <a:rPr lang="en-US" altLang="zh-CN" dirty="0">
                <a:latin typeface="Times New Roman" panose="02020603050405020304" pitchFamily="18" charset="0"/>
              </a:rPr>
              <a:t>G3=1, G4=Q, </a:t>
            </a:r>
            <a:r>
              <a:rPr lang="zh-CN" altLang="zh-CN" dirty="0">
                <a:latin typeface="Times New Roman" panose="02020603050405020304" pitchFamily="18" charset="0"/>
              </a:rPr>
              <a:t>使触发器置1；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1266825" y="4476750"/>
            <a:ext cx="7075488" cy="519113"/>
            <a:chOff x="798" y="2564"/>
            <a:chExt cx="4457" cy="327"/>
          </a:xfrm>
        </p:grpSpPr>
        <p:sp>
          <p:nvSpPr>
            <p:cNvPr id="29706" name="Text Box 6"/>
            <p:cNvSpPr txBox="1"/>
            <p:nvPr/>
          </p:nvSpPr>
          <p:spPr>
            <a:xfrm>
              <a:off x="798" y="2564"/>
              <a:ext cx="445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buChar char="•"/>
              </a:pPr>
              <a:r>
                <a:rPr lang="en-US" altLang="zh-CN" dirty="0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若</a:t>
              </a:r>
              <a:r>
                <a:rPr lang="en-US" altLang="zh-CN" dirty="0">
                  <a:latin typeface="Times New Roman" panose="02020603050405020304" pitchFamily="18" charset="0"/>
                </a:rPr>
                <a:t>J=0, K=1, </a:t>
              </a:r>
              <a:r>
                <a:rPr lang="zh-CN" altLang="zh-CN" dirty="0">
                  <a:latin typeface="Times New Roman" panose="02020603050405020304" pitchFamily="18" charset="0"/>
                </a:rPr>
                <a:t>则</a:t>
              </a:r>
              <a:r>
                <a:rPr lang="en-US" altLang="zh-CN" dirty="0">
                  <a:latin typeface="Times New Roman" panose="02020603050405020304" pitchFamily="18" charset="0"/>
                </a:rPr>
                <a:t>G3=Q, G4=1, </a:t>
              </a:r>
              <a:r>
                <a:rPr lang="zh-CN" altLang="zh-CN" dirty="0">
                  <a:latin typeface="Times New Roman" panose="02020603050405020304" pitchFamily="18" charset="0"/>
                </a:rPr>
                <a:t>使触发器置0；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07" name="Line 7"/>
            <p:cNvSpPr/>
            <p:nvPr/>
          </p:nvSpPr>
          <p:spPr>
            <a:xfrm>
              <a:off x="2843" y="2632"/>
              <a:ext cx="15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4"/>
          <p:cNvGrpSpPr/>
          <p:nvPr/>
        </p:nvGrpSpPr>
        <p:grpSpPr>
          <a:xfrm>
            <a:off x="1266825" y="5218113"/>
            <a:ext cx="6977063" cy="519112"/>
            <a:chOff x="798" y="3031"/>
            <a:chExt cx="4395" cy="327"/>
          </a:xfrm>
        </p:grpSpPr>
        <p:sp>
          <p:nvSpPr>
            <p:cNvPr id="29704" name="Text Box 10"/>
            <p:cNvSpPr txBox="1"/>
            <p:nvPr/>
          </p:nvSpPr>
          <p:spPr>
            <a:xfrm>
              <a:off x="798" y="3031"/>
              <a:ext cx="439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>
                <a:buChar char="•"/>
              </a:pPr>
              <a:r>
                <a:rPr lang="en-US" altLang="zh-CN" dirty="0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若</a:t>
              </a:r>
              <a:r>
                <a:rPr lang="en-US" altLang="zh-CN" dirty="0">
                  <a:latin typeface="Times New Roman" panose="02020603050405020304" pitchFamily="18" charset="0"/>
                </a:rPr>
                <a:t>J=K=1, </a:t>
              </a:r>
              <a:r>
                <a:rPr lang="zh-CN" altLang="zh-CN" dirty="0">
                  <a:latin typeface="Times New Roman" panose="02020603050405020304" pitchFamily="18" charset="0"/>
                </a:rPr>
                <a:t>则</a:t>
              </a:r>
              <a:r>
                <a:rPr lang="en-US" altLang="zh-CN" dirty="0">
                  <a:latin typeface="Times New Roman" panose="02020603050405020304" pitchFamily="18" charset="0"/>
                </a:rPr>
                <a:t>G3=Q, G4=Q, </a:t>
              </a:r>
              <a:r>
                <a:rPr lang="zh-CN" altLang="zh-CN" dirty="0">
                  <a:latin typeface="Times New Roman" panose="02020603050405020304" pitchFamily="18" charset="0"/>
                </a:rPr>
                <a:t>使触发器翻转；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05" name="Line 11"/>
            <p:cNvSpPr/>
            <p:nvPr/>
          </p:nvSpPr>
          <p:spPr>
            <a:xfrm>
              <a:off x="2612" y="3099"/>
              <a:ext cx="15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8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9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dvAuto="1000" build="p"/>
      <p:bldP spid="31747" grpId="0" build="p"/>
      <p:bldP spid="31748" grpId="0" build="p"/>
      <p:bldP spid="3174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ext Box 2"/>
          <p:cNvSpPr txBox="1"/>
          <p:nvPr/>
        </p:nvSpPr>
        <p:spPr>
          <a:xfrm>
            <a:off x="1177925" y="619125"/>
            <a:ext cx="5557838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触发器功能表和状态表如下：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784" name="Text Box 16"/>
          <p:cNvSpPr txBox="1"/>
          <p:nvPr/>
        </p:nvSpPr>
        <p:spPr>
          <a:xfrm>
            <a:off x="2624138" y="1198563"/>
            <a:ext cx="3068637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触发器功能表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1"/>
          <p:cNvGrpSpPr/>
          <p:nvPr/>
        </p:nvGrpSpPr>
        <p:grpSpPr>
          <a:xfrm>
            <a:off x="1306513" y="4430713"/>
            <a:ext cx="6318250" cy="2006600"/>
            <a:chOff x="823" y="2692"/>
            <a:chExt cx="3980" cy="1264"/>
          </a:xfrm>
        </p:grpSpPr>
        <p:sp>
          <p:nvSpPr>
            <p:cNvPr id="30740" name="Line 34"/>
            <p:cNvSpPr/>
            <p:nvPr/>
          </p:nvSpPr>
          <p:spPr>
            <a:xfrm>
              <a:off x="1809" y="2702"/>
              <a:ext cx="0" cy="124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1" name="Line 35"/>
            <p:cNvSpPr/>
            <p:nvPr/>
          </p:nvSpPr>
          <p:spPr>
            <a:xfrm>
              <a:off x="2499" y="3010"/>
              <a:ext cx="0" cy="90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2" name="Line 36"/>
            <p:cNvSpPr/>
            <p:nvPr/>
          </p:nvSpPr>
          <p:spPr>
            <a:xfrm>
              <a:off x="3879" y="3007"/>
              <a:ext cx="0" cy="914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3" name="Line 30"/>
            <p:cNvSpPr/>
            <p:nvPr/>
          </p:nvSpPr>
          <p:spPr>
            <a:xfrm>
              <a:off x="823" y="2694"/>
              <a:ext cx="3958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4" name="Line 31"/>
            <p:cNvSpPr/>
            <p:nvPr/>
          </p:nvSpPr>
          <p:spPr>
            <a:xfrm>
              <a:off x="823" y="3340"/>
              <a:ext cx="3958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5" name="Line 33"/>
            <p:cNvSpPr/>
            <p:nvPr/>
          </p:nvSpPr>
          <p:spPr>
            <a:xfrm>
              <a:off x="823" y="3930"/>
              <a:ext cx="3958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6" name="Line 37"/>
            <p:cNvSpPr/>
            <p:nvPr/>
          </p:nvSpPr>
          <p:spPr>
            <a:xfrm>
              <a:off x="1836" y="3016"/>
              <a:ext cx="2967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7" name="Text Box 38"/>
            <p:cNvSpPr txBox="1"/>
            <p:nvPr/>
          </p:nvSpPr>
          <p:spPr>
            <a:xfrm>
              <a:off x="1196" y="2872"/>
              <a:ext cx="278" cy="30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48" name="Text Box 39"/>
            <p:cNvSpPr txBox="1"/>
            <p:nvPr/>
          </p:nvSpPr>
          <p:spPr>
            <a:xfrm>
              <a:off x="2813" y="2692"/>
              <a:ext cx="63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n+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1)</a:t>
              </a:r>
              <a:endParaRPr lang="en-US" altLang="zh-CN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30749" name="Text Box 40"/>
            <p:cNvSpPr txBox="1"/>
            <p:nvPr/>
          </p:nvSpPr>
          <p:spPr>
            <a:xfrm>
              <a:off x="2616" y="3008"/>
              <a:ext cx="3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50" name="Line 42"/>
            <p:cNvSpPr/>
            <p:nvPr/>
          </p:nvSpPr>
          <p:spPr>
            <a:xfrm>
              <a:off x="3189" y="3004"/>
              <a:ext cx="0" cy="924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1" name="Text Box 43"/>
            <p:cNvSpPr txBox="1"/>
            <p:nvPr/>
          </p:nvSpPr>
          <p:spPr>
            <a:xfrm>
              <a:off x="1264" y="331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52" name="Text Box 44"/>
            <p:cNvSpPr txBox="1"/>
            <p:nvPr/>
          </p:nvSpPr>
          <p:spPr>
            <a:xfrm>
              <a:off x="1264" y="362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53" name="Text Box 45"/>
            <p:cNvSpPr txBox="1"/>
            <p:nvPr/>
          </p:nvSpPr>
          <p:spPr>
            <a:xfrm>
              <a:off x="1986" y="331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54" name="Text Box 46"/>
            <p:cNvSpPr txBox="1"/>
            <p:nvPr/>
          </p:nvSpPr>
          <p:spPr>
            <a:xfrm>
              <a:off x="1986" y="362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55" name="Text Box 47"/>
            <p:cNvSpPr txBox="1"/>
            <p:nvPr/>
          </p:nvSpPr>
          <p:spPr>
            <a:xfrm>
              <a:off x="2686" y="331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56" name="Text Box 48"/>
            <p:cNvSpPr txBox="1"/>
            <p:nvPr/>
          </p:nvSpPr>
          <p:spPr>
            <a:xfrm>
              <a:off x="2686" y="362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57" name="Text Box 49"/>
            <p:cNvSpPr txBox="1"/>
            <p:nvPr/>
          </p:nvSpPr>
          <p:spPr>
            <a:xfrm>
              <a:off x="3397" y="331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58" name="Text Box 50"/>
            <p:cNvSpPr txBox="1"/>
            <p:nvPr/>
          </p:nvSpPr>
          <p:spPr>
            <a:xfrm>
              <a:off x="3397" y="362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59" name="Text Box 51"/>
            <p:cNvSpPr txBox="1"/>
            <p:nvPr/>
          </p:nvSpPr>
          <p:spPr>
            <a:xfrm>
              <a:off x="4108" y="331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60" name="Text Box 52"/>
            <p:cNvSpPr txBox="1"/>
            <p:nvPr/>
          </p:nvSpPr>
          <p:spPr>
            <a:xfrm>
              <a:off x="4108" y="3629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61" name="Text Box 53"/>
            <p:cNvSpPr txBox="1"/>
            <p:nvPr/>
          </p:nvSpPr>
          <p:spPr>
            <a:xfrm>
              <a:off x="1774" y="3008"/>
              <a:ext cx="71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JK</a:t>
              </a:r>
              <a:r>
                <a:rPr lang="en-US" altLang="zh-CN" dirty="0">
                  <a:latin typeface="Times New Roman" panose="02020603050405020304" pitchFamily="18" charset="0"/>
                </a:rPr>
                <a:t>=00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62" name="Text Box 54"/>
            <p:cNvSpPr txBox="1"/>
            <p:nvPr/>
          </p:nvSpPr>
          <p:spPr>
            <a:xfrm>
              <a:off x="3327" y="3008"/>
              <a:ext cx="3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0763" name="Text Box 55"/>
            <p:cNvSpPr txBox="1"/>
            <p:nvPr/>
          </p:nvSpPr>
          <p:spPr>
            <a:xfrm>
              <a:off x="4016" y="3008"/>
              <a:ext cx="3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828" name="Text Box 60"/>
          <p:cNvSpPr txBox="1"/>
          <p:nvPr/>
        </p:nvSpPr>
        <p:spPr>
          <a:xfrm>
            <a:off x="2624138" y="3967163"/>
            <a:ext cx="3068637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触发器状态表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" name="Group 63"/>
          <p:cNvGrpSpPr/>
          <p:nvPr/>
        </p:nvGrpSpPr>
        <p:grpSpPr>
          <a:xfrm>
            <a:off x="1304925" y="1666875"/>
            <a:ext cx="6245225" cy="2160588"/>
            <a:chOff x="822" y="951"/>
            <a:chExt cx="3934" cy="1361"/>
          </a:xfrm>
        </p:grpSpPr>
        <p:grpSp>
          <p:nvGrpSpPr>
            <p:cNvPr id="30727" name="Group 58"/>
            <p:cNvGrpSpPr/>
            <p:nvPr/>
          </p:nvGrpSpPr>
          <p:grpSpPr>
            <a:xfrm>
              <a:off x="822" y="951"/>
              <a:ext cx="3934" cy="1361"/>
              <a:chOff x="822" y="973"/>
              <a:chExt cx="3934" cy="1361"/>
            </a:xfrm>
          </p:grpSpPr>
          <p:sp>
            <p:nvSpPr>
              <p:cNvPr id="30729" name="Line 4"/>
              <p:cNvSpPr/>
              <p:nvPr/>
            </p:nvSpPr>
            <p:spPr>
              <a:xfrm>
                <a:off x="822" y="986"/>
                <a:ext cx="3934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30" name="Line 5"/>
              <p:cNvSpPr/>
              <p:nvPr/>
            </p:nvSpPr>
            <p:spPr>
              <a:xfrm>
                <a:off x="822" y="1324"/>
                <a:ext cx="3934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31" name="Line 6"/>
              <p:cNvSpPr/>
              <p:nvPr/>
            </p:nvSpPr>
            <p:spPr>
              <a:xfrm>
                <a:off x="822" y="2302"/>
                <a:ext cx="3934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32" name="Line 7"/>
              <p:cNvSpPr/>
              <p:nvPr/>
            </p:nvSpPr>
            <p:spPr>
              <a:xfrm>
                <a:off x="2110" y="987"/>
                <a:ext cx="0" cy="130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33" name="Line 8"/>
              <p:cNvSpPr/>
              <p:nvPr/>
            </p:nvSpPr>
            <p:spPr>
              <a:xfrm>
                <a:off x="3366" y="976"/>
                <a:ext cx="0" cy="1334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34" name="Text Box 9"/>
              <p:cNvSpPr txBox="1"/>
              <p:nvPr/>
            </p:nvSpPr>
            <p:spPr>
              <a:xfrm>
                <a:off x="1053" y="988"/>
                <a:ext cx="701" cy="3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pPr>
                  <a:lnSpc>
                    <a:spcPct val="11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J      K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5" name="Text Box 10"/>
              <p:cNvSpPr txBox="1"/>
              <p:nvPr/>
            </p:nvSpPr>
            <p:spPr>
              <a:xfrm>
                <a:off x="2487" y="988"/>
                <a:ext cx="618" cy="3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pPr>
                  <a:lnSpc>
                    <a:spcPct val="11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baseline="3000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 baseline="30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baseline="30000" dirty="0">
                    <a:latin typeface="Times New Roman" panose="02020603050405020304" pitchFamily="18" charset="0"/>
                  </a:rPr>
                  <a:t>+1)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6" name="Text Box 11"/>
              <p:cNvSpPr txBox="1"/>
              <p:nvPr/>
            </p:nvSpPr>
            <p:spPr>
              <a:xfrm>
                <a:off x="3509" y="973"/>
                <a:ext cx="1012" cy="3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pPr>
                  <a:lnSpc>
                    <a:spcPct val="11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功能说明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7" name="Text Box 12"/>
              <p:cNvSpPr txBox="1"/>
              <p:nvPr/>
            </p:nvSpPr>
            <p:spPr>
              <a:xfrm>
                <a:off x="1042" y="1303"/>
                <a:ext cx="732" cy="102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0       0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0       1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1       0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1       1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8" name="Text Box 13"/>
              <p:cNvSpPr txBox="1"/>
              <p:nvPr/>
            </p:nvSpPr>
            <p:spPr>
              <a:xfrm>
                <a:off x="2609" y="1303"/>
                <a:ext cx="334" cy="102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Q 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0 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Q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9" name="Text Box 14"/>
              <p:cNvSpPr txBox="1"/>
              <p:nvPr/>
            </p:nvSpPr>
            <p:spPr>
              <a:xfrm>
                <a:off x="3643" y="1308"/>
                <a:ext cx="564" cy="102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pPr>
                  <a:lnSpc>
                    <a:spcPct val="9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不变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置  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0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置  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翻转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28" name="Line 62"/>
            <p:cNvSpPr/>
            <p:nvPr/>
          </p:nvSpPr>
          <p:spPr>
            <a:xfrm>
              <a:off x="2656" y="2055"/>
              <a:ext cx="15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84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82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4" grpId="0" build="p"/>
      <p:bldP spid="3282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ext Box 2"/>
          <p:cNvSpPr txBox="1"/>
          <p:nvPr/>
        </p:nvSpPr>
        <p:spPr>
          <a:xfrm>
            <a:off x="1231900" y="825500"/>
            <a:ext cx="4491038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触发器的次态方程为：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2865438" y="1430338"/>
            <a:ext cx="2627312" cy="519112"/>
            <a:chOff x="1893" y="1000"/>
            <a:chExt cx="1655" cy="327"/>
          </a:xfrm>
        </p:grpSpPr>
        <p:sp>
          <p:nvSpPr>
            <p:cNvPr id="31786" name="Rectangle 3"/>
            <p:cNvSpPr/>
            <p:nvPr/>
          </p:nvSpPr>
          <p:spPr>
            <a:xfrm>
              <a:off x="1893" y="1000"/>
              <a:ext cx="165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n+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1)</a:t>
              </a:r>
              <a:r>
                <a:rPr lang="zh-CN" altLang="en-US" dirty="0">
                  <a:latin typeface="Times New Roman" panose="02020603050405020304" pitchFamily="18" charset="0"/>
                </a:rPr>
                <a:t>＝</a:t>
              </a:r>
              <a:r>
                <a:rPr lang="en-US" altLang="zh-CN" i="1" dirty="0">
                  <a:latin typeface="Times New Roman" panose="02020603050405020304" pitchFamily="18" charset="0"/>
                </a:rPr>
                <a:t>JQ</a:t>
              </a:r>
              <a:r>
                <a:rPr lang="zh-CN" altLang="en-US" dirty="0">
                  <a:latin typeface="Times New Roman" panose="02020603050405020304" pitchFamily="18" charset="0"/>
                </a:rPr>
                <a:t>＋</a:t>
              </a:r>
              <a:r>
                <a:rPr lang="en-US" altLang="zh-CN" i="1" dirty="0">
                  <a:latin typeface="Times New Roman" panose="02020603050405020304" pitchFamily="18" charset="0"/>
                </a:rPr>
                <a:t>KQ</a:t>
              </a:r>
              <a:endParaRPr lang="en-US" altLang="zh-CN" i="1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31787" name="Line 4"/>
            <p:cNvSpPr/>
            <p:nvPr/>
          </p:nvSpPr>
          <p:spPr>
            <a:xfrm>
              <a:off x="2834" y="103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8" name="Line 5"/>
            <p:cNvSpPr/>
            <p:nvPr/>
          </p:nvSpPr>
          <p:spPr>
            <a:xfrm>
              <a:off x="3201" y="103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799" name="Text Box 7"/>
          <p:cNvSpPr txBox="1"/>
          <p:nvPr/>
        </p:nvSpPr>
        <p:spPr>
          <a:xfrm>
            <a:off x="1231900" y="2003425"/>
            <a:ext cx="1962150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状态图为：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" name="Group 21"/>
          <p:cNvGrpSpPr/>
          <p:nvPr/>
        </p:nvGrpSpPr>
        <p:grpSpPr>
          <a:xfrm>
            <a:off x="2149475" y="2422525"/>
            <a:ext cx="5343525" cy="2006600"/>
            <a:chOff x="1442" y="1547"/>
            <a:chExt cx="3366" cy="1264"/>
          </a:xfrm>
        </p:grpSpPr>
        <p:sp>
          <p:nvSpPr>
            <p:cNvPr id="31775" name="Oval 9"/>
            <p:cNvSpPr/>
            <p:nvPr/>
          </p:nvSpPr>
          <p:spPr>
            <a:xfrm>
              <a:off x="1959" y="2095"/>
              <a:ext cx="398" cy="381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76" name="Oval 10"/>
            <p:cNvSpPr/>
            <p:nvPr/>
          </p:nvSpPr>
          <p:spPr>
            <a:xfrm>
              <a:off x="3731" y="2095"/>
              <a:ext cx="398" cy="381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77" name="Freeform 11"/>
            <p:cNvSpPr/>
            <p:nvPr/>
          </p:nvSpPr>
          <p:spPr>
            <a:xfrm>
              <a:off x="2348" y="2075"/>
              <a:ext cx="1412" cy="165"/>
            </a:xfrm>
            <a:custGeom>
              <a:avLst/>
              <a:gdLst>
                <a:gd name="txL" fmla="*/ 0 w 1533"/>
                <a:gd name="txT" fmla="*/ 0 h 298"/>
                <a:gd name="txR" fmla="*/ 1533 w 1533"/>
                <a:gd name="txB" fmla="*/ 298 h 298"/>
              </a:gdLst>
              <a:ahLst/>
              <a:cxnLst>
                <a:cxn ang="0">
                  <a:pos x="0" y="91"/>
                </a:cxn>
                <a:cxn ang="0">
                  <a:pos x="603" y="3"/>
                </a:cxn>
                <a:cxn ang="0">
                  <a:pos x="1301" y="75"/>
                </a:cxn>
              </a:cxnLst>
              <a:rect l="txL" t="txT" r="txR" b="txB"/>
              <a:pathLst>
                <a:path w="1533" h="298">
                  <a:moveTo>
                    <a:pt x="0" y="298"/>
                  </a:moveTo>
                  <a:cubicBezTo>
                    <a:pt x="228" y="158"/>
                    <a:pt x="456" y="18"/>
                    <a:pt x="711" y="9"/>
                  </a:cubicBezTo>
                  <a:cubicBezTo>
                    <a:pt x="966" y="0"/>
                    <a:pt x="1249" y="121"/>
                    <a:pt x="1533" y="243"/>
                  </a:cubicBez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78" name="Freeform 12"/>
            <p:cNvSpPr/>
            <p:nvPr/>
          </p:nvSpPr>
          <p:spPr>
            <a:xfrm flipH="1" flipV="1">
              <a:off x="2323" y="2357"/>
              <a:ext cx="1413" cy="165"/>
            </a:xfrm>
            <a:custGeom>
              <a:avLst/>
              <a:gdLst>
                <a:gd name="txL" fmla="*/ 0 w 1533"/>
                <a:gd name="txT" fmla="*/ 0 h 298"/>
                <a:gd name="txR" fmla="*/ 1533 w 1533"/>
                <a:gd name="txB" fmla="*/ 298 h 298"/>
              </a:gdLst>
              <a:ahLst/>
              <a:cxnLst>
                <a:cxn ang="0">
                  <a:pos x="0" y="91"/>
                </a:cxn>
                <a:cxn ang="0">
                  <a:pos x="604" y="3"/>
                </a:cxn>
                <a:cxn ang="0">
                  <a:pos x="1302" y="75"/>
                </a:cxn>
              </a:cxnLst>
              <a:rect l="txL" t="txT" r="txR" b="txB"/>
              <a:pathLst>
                <a:path w="1533" h="298">
                  <a:moveTo>
                    <a:pt x="0" y="298"/>
                  </a:moveTo>
                  <a:cubicBezTo>
                    <a:pt x="228" y="158"/>
                    <a:pt x="456" y="18"/>
                    <a:pt x="711" y="9"/>
                  </a:cubicBezTo>
                  <a:cubicBezTo>
                    <a:pt x="966" y="0"/>
                    <a:pt x="1249" y="121"/>
                    <a:pt x="1533" y="243"/>
                  </a:cubicBez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79" name="Arc 13"/>
            <p:cNvSpPr/>
            <p:nvPr/>
          </p:nvSpPr>
          <p:spPr>
            <a:xfrm>
              <a:off x="1728" y="2019"/>
              <a:ext cx="321" cy="313"/>
            </a:xfrm>
            <a:custGeom>
              <a:avLst/>
              <a:gdLst>
                <a:gd name="txL" fmla="*/ 0 w 42479"/>
                <a:gd name="txT" fmla="*/ 0 h 43200"/>
                <a:gd name="txR" fmla="*/ 42479 w 42479"/>
                <a:gd name="txB" fmla="*/ 43200 h 432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479" h="43200" fill="none">
                  <a:moveTo>
                    <a:pt x="30276" y="41380"/>
                  </a:moveTo>
                  <a:cubicBezTo>
                    <a:pt x="27541" y="42580"/>
                    <a:pt x="2458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398" y="-1"/>
                    <a:pt x="39968" y="6595"/>
                    <a:pt x="42479" y="16065"/>
                  </a:cubicBezTo>
                </a:path>
                <a:path w="42479" h="43200" stroke="0">
                  <a:moveTo>
                    <a:pt x="30276" y="41380"/>
                  </a:moveTo>
                  <a:cubicBezTo>
                    <a:pt x="27541" y="42580"/>
                    <a:pt x="2458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398" y="-1"/>
                    <a:pt x="39968" y="6595"/>
                    <a:pt x="42479" y="16065"/>
                  </a:cubicBezTo>
                  <a:lnTo>
                    <a:pt x="21600" y="21600"/>
                  </a:lnTo>
                  <a:lnTo>
                    <a:pt x="30276" y="41380"/>
                  </a:lnTo>
                  <a:close/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80" name="Arc 14"/>
            <p:cNvSpPr/>
            <p:nvPr/>
          </p:nvSpPr>
          <p:spPr>
            <a:xfrm flipH="1" flipV="1">
              <a:off x="4065" y="2019"/>
              <a:ext cx="318" cy="313"/>
            </a:xfrm>
            <a:custGeom>
              <a:avLst/>
              <a:gdLst>
                <a:gd name="txL" fmla="*/ 0 w 42097"/>
                <a:gd name="txT" fmla="*/ 0 h 43200"/>
                <a:gd name="txR" fmla="*/ 42097 w 42097"/>
                <a:gd name="txB" fmla="*/ 43200 h 432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097" h="43200" fill="none">
                  <a:moveTo>
                    <a:pt x="42096" y="28414"/>
                  </a:moveTo>
                  <a:cubicBezTo>
                    <a:pt x="39161" y="37243"/>
                    <a:pt x="3090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7063" y="-1"/>
                    <a:pt x="32323" y="2070"/>
                    <a:pt x="36321" y="5793"/>
                  </a:cubicBezTo>
                </a:path>
                <a:path w="42097" h="43200" stroke="0">
                  <a:moveTo>
                    <a:pt x="42096" y="28414"/>
                  </a:moveTo>
                  <a:cubicBezTo>
                    <a:pt x="39161" y="37243"/>
                    <a:pt x="3090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7063" y="-1"/>
                    <a:pt x="32323" y="2070"/>
                    <a:pt x="36321" y="5793"/>
                  </a:cubicBezTo>
                  <a:lnTo>
                    <a:pt x="21600" y="21600"/>
                  </a:lnTo>
                  <a:lnTo>
                    <a:pt x="42096" y="28414"/>
                  </a:lnTo>
                  <a:close/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81" name="Text Box 15"/>
            <p:cNvSpPr txBox="1"/>
            <p:nvPr/>
          </p:nvSpPr>
          <p:spPr>
            <a:xfrm>
              <a:off x="1442" y="1743"/>
              <a:ext cx="67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00, 01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82" name="Text Box 17"/>
            <p:cNvSpPr txBox="1"/>
            <p:nvPr/>
          </p:nvSpPr>
          <p:spPr>
            <a:xfrm>
              <a:off x="2916" y="1547"/>
              <a:ext cx="36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JK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83" name="Text Box 18"/>
            <p:cNvSpPr txBox="1"/>
            <p:nvPr/>
          </p:nvSpPr>
          <p:spPr>
            <a:xfrm>
              <a:off x="2729" y="1782"/>
              <a:ext cx="67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10, 11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84" name="Text Box 19"/>
            <p:cNvSpPr txBox="1"/>
            <p:nvPr/>
          </p:nvSpPr>
          <p:spPr>
            <a:xfrm>
              <a:off x="2729" y="2484"/>
              <a:ext cx="67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01, 11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85" name="Text Box 20"/>
            <p:cNvSpPr txBox="1"/>
            <p:nvPr/>
          </p:nvSpPr>
          <p:spPr>
            <a:xfrm>
              <a:off x="4132" y="2287"/>
              <a:ext cx="67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00, 10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814" name="Text Box 22"/>
          <p:cNvSpPr txBox="1"/>
          <p:nvPr/>
        </p:nvSpPr>
        <p:spPr>
          <a:xfrm>
            <a:off x="847725" y="4378325"/>
            <a:ext cx="7567613" cy="18002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56515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为防止</a:t>
            </a:r>
            <a:r>
              <a:rPr lang="en-US" altLang="zh-CN" dirty="0">
                <a:latin typeface="Times New Roman" panose="02020603050405020304" pitchFamily="18" charset="0"/>
              </a:rPr>
              <a:t>"</a:t>
            </a:r>
            <a:r>
              <a:rPr lang="zh-CN" altLang="en-US" dirty="0">
                <a:latin typeface="Times New Roman" panose="02020603050405020304" pitchFamily="18" charset="0"/>
              </a:rPr>
              <a:t>空翻</a:t>
            </a:r>
            <a:r>
              <a:rPr lang="en-US" altLang="zh-CN" dirty="0">
                <a:latin typeface="Times New Roman" panose="02020603050405020304" pitchFamily="18" charset="0"/>
              </a:rPr>
              <a:t>"</a:t>
            </a:r>
            <a:r>
              <a:rPr lang="zh-CN" altLang="en-US" dirty="0">
                <a:latin typeface="Times New Roman" panose="02020603050405020304" pitchFamily="18" charset="0"/>
              </a:rPr>
              <a:t>，实际数字电路中使用的</a:t>
            </a:r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触发器是主从式集成</a:t>
            </a:r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触发器，它使用"前沿采样，后沿定局"的方式，无空翻，功能较全，使用灵活。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" name="Group 48"/>
          <p:cNvGrpSpPr/>
          <p:nvPr/>
        </p:nvGrpSpPr>
        <p:grpSpPr>
          <a:xfrm>
            <a:off x="5970588" y="712788"/>
            <a:ext cx="2654300" cy="2490787"/>
            <a:chOff x="3761" y="449"/>
            <a:chExt cx="1672" cy="1569"/>
          </a:xfrm>
        </p:grpSpPr>
        <p:sp>
          <p:nvSpPr>
            <p:cNvPr id="31752" name="AutoShape 46"/>
            <p:cNvSpPr/>
            <p:nvPr/>
          </p:nvSpPr>
          <p:spPr>
            <a:xfrm>
              <a:off x="4098" y="1296"/>
              <a:ext cx="247" cy="266"/>
            </a:xfrm>
            <a:prstGeom prst="rightBracket">
              <a:avLst>
                <a:gd name="adj" fmla="val 8974"/>
              </a:avLst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1753" name="AutoShape 47"/>
            <p:cNvSpPr/>
            <p:nvPr/>
          </p:nvSpPr>
          <p:spPr>
            <a:xfrm flipH="1">
              <a:off x="5120" y="1299"/>
              <a:ext cx="247" cy="266"/>
            </a:xfrm>
            <a:prstGeom prst="rightBracket">
              <a:avLst>
                <a:gd name="adj" fmla="val 8974"/>
              </a:avLst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1754" name="Oval 25"/>
            <p:cNvSpPr/>
            <p:nvPr/>
          </p:nvSpPr>
          <p:spPr>
            <a:xfrm>
              <a:off x="4761" y="959"/>
              <a:ext cx="601" cy="256"/>
            </a:xfrm>
            <a:prstGeom prst="ellipse">
              <a:avLst/>
            </a:prstGeom>
            <a:solidFill>
              <a:srgbClr val="CCFFFF">
                <a:alpha val="50195"/>
              </a:srgbClr>
            </a:solidFill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1755" name="Rectangle 26"/>
            <p:cNvSpPr/>
            <p:nvPr/>
          </p:nvSpPr>
          <p:spPr>
            <a:xfrm>
              <a:off x="4461" y="125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56" name="Rectangle 27"/>
            <p:cNvSpPr/>
            <p:nvPr/>
          </p:nvSpPr>
          <p:spPr>
            <a:xfrm>
              <a:off x="4083" y="906"/>
              <a:ext cx="1281" cy="700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1757" name="Line 28"/>
            <p:cNvSpPr/>
            <p:nvPr/>
          </p:nvSpPr>
          <p:spPr>
            <a:xfrm flipH="1" flipV="1">
              <a:off x="3854" y="662"/>
              <a:ext cx="244" cy="2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8" name="Line 29"/>
            <p:cNvSpPr/>
            <p:nvPr/>
          </p:nvSpPr>
          <p:spPr>
            <a:xfrm>
              <a:off x="4097" y="1262"/>
              <a:ext cx="127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9" name="Line 30"/>
            <p:cNvSpPr/>
            <p:nvPr/>
          </p:nvSpPr>
          <p:spPr>
            <a:xfrm>
              <a:off x="4421" y="907"/>
              <a:ext cx="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0" name="Text Box 31"/>
            <p:cNvSpPr txBox="1"/>
            <p:nvPr/>
          </p:nvSpPr>
          <p:spPr>
            <a:xfrm>
              <a:off x="4085" y="605"/>
              <a:ext cx="13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defTabSz="914400">
                <a:tabLst>
                  <a:tab pos="758825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00  01  11  10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61" name="Text Box 32"/>
            <p:cNvSpPr txBox="1"/>
            <p:nvPr/>
          </p:nvSpPr>
          <p:spPr>
            <a:xfrm>
              <a:off x="3830" y="938"/>
              <a:ext cx="184" cy="6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defTabSz="914400">
                <a:lnSpc>
                  <a:spcPct val="110000"/>
                </a:lnSpc>
                <a:tabLst>
                  <a:tab pos="758825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62" name="Text Box 33"/>
            <p:cNvSpPr txBox="1"/>
            <p:nvPr/>
          </p:nvSpPr>
          <p:spPr>
            <a:xfrm>
              <a:off x="3840" y="449"/>
              <a:ext cx="3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JK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63" name="Text Box 34"/>
            <p:cNvSpPr txBox="1"/>
            <p:nvPr/>
          </p:nvSpPr>
          <p:spPr>
            <a:xfrm>
              <a:off x="3761" y="649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64" name="Line 35"/>
            <p:cNvSpPr/>
            <p:nvPr/>
          </p:nvSpPr>
          <p:spPr>
            <a:xfrm>
              <a:off x="4733" y="907"/>
              <a:ext cx="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5" name="Line 36"/>
            <p:cNvSpPr/>
            <p:nvPr/>
          </p:nvSpPr>
          <p:spPr>
            <a:xfrm>
              <a:off x="5066" y="918"/>
              <a:ext cx="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6" name="Text Box 37"/>
            <p:cNvSpPr txBox="1"/>
            <p:nvPr/>
          </p:nvSpPr>
          <p:spPr>
            <a:xfrm>
              <a:off x="4794" y="893"/>
              <a:ext cx="254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67" name="Text Box 38"/>
            <p:cNvSpPr txBox="1"/>
            <p:nvPr/>
          </p:nvSpPr>
          <p:spPr>
            <a:xfrm>
              <a:off x="4385" y="1691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1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="1" i="1" baseline="30000" dirty="0">
                  <a:latin typeface="Times New Roman" panose="02020603050405020304" pitchFamily="18" charset="0"/>
                </a:rPr>
                <a:t>(n+1)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68" name="Text Box 39" descr="羊皮纸"/>
            <p:cNvSpPr txBox="1"/>
            <p:nvPr/>
          </p:nvSpPr>
          <p:spPr>
            <a:xfrm>
              <a:off x="4141" y="918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69" name="Text Box 40" descr="羊皮纸"/>
            <p:cNvSpPr txBox="1"/>
            <p:nvPr/>
          </p:nvSpPr>
          <p:spPr>
            <a:xfrm>
              <a:off x="4141" y="1261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70" name="Text Box 41" descr="羊皮纸"/>
            <p:cNvSpPr txBox="1"/>
            <p:nvPr/>
          </p:nvSpPr>
          <p:spPr>
            <a:xfrm>
              <a:off x="4463" y="929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71" name="Text Box 42" descr="羊皮纸"/>
            <p:cNvSpPr txBox="1"/>
            <p:nvPr/>
          </p:nvSpPr>
          <p:spPr>
            <a:xfrm>
              <a:off x="5083" y="860"/>
              <a:ext cx="11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72" name="Text Box 43" descr="羊皮纸"/>
            <p:cNvSpPr txBox="1"/>
            <p:nvPr/>
          </p:nvSpPr>
          <p:spPr>
            <a:xfrm>
              <a:off x="5105" y="929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73" name="Text Box 44" descr="羊皮纸"/>
            <p:cNvSpPr txBox="1"/>
            <p:nvPr/>
          </p:nvSpPr>
          <p:spPr>
            <a:xfrm>
              <a:off x="5105" y="1261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1774" name="Text Box 45" descr="羊皮纸"/>
            <p:cNvSpPr txBox="1"/>
            <p:nvPr/>
          </p:nvSpPr>
          <p:spPr>
            <a:xfrm>
              <a:off x="4795" y="1261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14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 build="p"/>
      <p:bldP spid="3381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2320925" y="828675"/>
            <a:ext cx="5241925" cy="52197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6.2.4   </a:t>
            </a:r>
            <a:r>
              <a:rPr kumimoji="1" lang="en-US" altLang="en-US" b="1" kern="1200" cap="none" spc="0" normalizeH="0" baseline="0" noProof="0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电平触发式</a:t>
            </a:r>
            <a:r>
              <a:rPr kumimoji="1" lang="en-US" altLang="zh-CN" b="1" kern="1200" cap="none" spc="0" normalizeH="0" baseline="0" noProof="0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zh-CN" altLang="zh-CN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endParaRPr kumimoji="1" lang="zh-CN" altLang="en-US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9" name="Text Box 3"/>
          <p:cNvSpPr txBox="1"/>
          <p:nvPr/>
        </p:nvSpPr>
        <p:spPr>
          <a:xfrm>
            <a:off x="952500" y="1679575"/>
            <a:ext cx="7356475" cy="17589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669925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电平触发式</a:t>
            </a:r>
            <a:r>
              <a:rPr lang="en-US" altLang="zh-CN" dirty="0">
                <a:latin typeface="Times New Roman" panose="02020603050405020304" pitchFamily="18" charset="0"/>
              </a:rPr>
              <a:t>T</a:t>
            </a:r>
            <a:r>
              <a:rPr lang="zh-CN" altLang="zh-CN" dirty="0">
                <a:latin typeface="Times New Roman" panose="02020603050405020304" pitchFamily="18" charset="0"/>
              </a:rPr>
              <a:t>触发器实际上是</a:t>
            </a:r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触发器的一种特殊形式。如果把</a:t>
            </a:r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触发器的</a:t>
            </a:r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端连在一起就形成了</a:t>
            </a:r>
            <a:r>
              <a:rPr lang="en-US" altLang="zh-CN" dirty="0">
                <a:latin typeface="Times New Roman" panose="02020603050405020304" pitchFamily="18" charset="0"/>
              </a:rPr>
              <a:t>T</a:t>
            </a:r>
            <a:r>
              <a:rPr lang="zh-CN" altLang="zh-CN" dirty="0">
                <a:latin typeface="Times New Roman" panose="02020603050405020304" pitchFamily="18" charset="0"/>
              </a:rPr>
              <a:t>触发器。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824" name="Text Box 8"/>
          <p:cNvSpPr txBox="1"/>
          <p:nvPr/>
        </p:nvSpPr>
        <p:spPr>
          <a:xfrm>
            <a:off x="1093788" y="3722688"/>
            <a:ext cx="7073900" cy="1203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565150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其功能表和状态表是</a:t>
            </a:r>
            <a:r>
              <a:rPr lang="en-US" altLang="zh-CN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zh-CN" dirty="0">
                <a:latin typeface="Times New Roman" panose="02020603050405020304" pitchFamily="18" charset="0"/>
              </a:rPr>
              <a:t>触发器功能表和状态表的一部分。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825" name="Text Box 9"/>
          <p:cNvSpPr txBox="1"/>
          <p:nvPr/>
        </p:nvSpPr>
        <p:spPr>
          <a:xfrm>
            <a:off x="1641475" y="5041900"/>
            <a:ext cx="5062538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T</a:t>
            </a:r>
            <a:r>
              <a:rPr lang="zh-CN" altLang="zh-CN" dirty="0">
                <a:latin typeface="Times New Roman" panose="02020603050405020304" pitchFamily="18" charset="0"/>
              </a:rPr>
              <a:t>触发器又称"计数"触发器。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4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  <p:bldP spid="34824" grpId="0" build="p"/>
      <p:bldP spid="3482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Freeform 34" descr="羊皮纸"/>
          <p:cNvSpPr/>
          <p:nvPr/>
        </p:nvSpPr>
        <p:spPr>
          <a:xfrm>
            <a:off x="1489075" y="2324100"/>
            <a:ext cx="3068638" cy="1728788"/>
          </a:xfrm>
          <a:custGeom>
            <a:avLst/>
            <a:gdLst>
              <a:gd name="txL" fmla="*/ 0 w 1933"/>
              <a:gd name="txT" fmla="*/ 0 h 1089"/>
              <a:gd name="txR" fmla="*/ 1933 w 1933"/>
              <a:gd name="txB" fmla="*/ 1089 h 1089"/>
            </a:gdLst>
            <a:ahLst/>
            <a:cxnLst>
              <a:cxn ang="0">
                <a:pos x="0" y="141128791"/>
              </a:cxn>
              <a:cxn ang="0">
                <a:pos x="1764109662" y="2147483647"/>
              </a:cxn>
              <a:cxn ang="0">
                <a:pos x="2147483647" y="2147483647"/>
              </a:cxn>
              <a:cxn ang="0">
                <a:pos x="2147483647" y="2099291557"/>
              </a:cxn>
              <a:cxn ang="0">
                <a:pos x="2147483647" y="335181672"/>
              </a:cxn>
              <a:cxn ang="0">
                <a:pos x="2147483647" y="0"/>
              </a:cxn>
              <a:cxn ang="0">
                <a:pos x="335181630" y="27722521"/>
              </a:cxn>
              <a:cxn ang="0">
                <a:pos x="0" y="141128791"/>
              </a:cxn>
            </a:cxnLst>
            <a:rect l="txL" t="txT" r="txR" b="txB"/>
            <a:pathLst>
              <a:path w="1933" h="1089">
                <a:moveTo>
                  <a:pt x="0" y="56"/>
                </a:moveTo>
                <a:lnTo>
                  <a:pt x="700" y="1089"/>
                </a:lnTo>
                <a:lnTo>
                  <a:pt x="1333" y="1078"/>
                </a:lnTo>
                <a:lnTo>
                  <a:pt x="1378" y="833"/>
                </a:lnTo>
                <a:lnTo>
                  <a:pt x="1933" y="133"/>
                </a:lnTo>
                <a:lnTo>
                  <a:pt x="1922" y="0"/>
                </a:lnTo>
                <a:lnTo>
                  <a:pt x="133" y="11"/>
                </a:lnTo>
                <a:lnTo>
                  <a:pt x="0" y="56"/>
                </a:lnTo>
                <a:close/>
              </a:path>
            </a:pathLst>
          </a:custGeom>
          <a:blipFill rotWithShape="1">
            <a:blip r:embed="rId1"/>
          </a:blipFill>
          <a:ln w="381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3795" name="Rectangle 18" descr="羊皮纸"/>
          <p:cNvSpPr/>
          <p:nvPr/>
        </p:nvSpPr>
        <p:spPr>
          <a:xfrm>
            <a:off x="568325" y="1952625"/>
            <a:ext cx="4783138" cy="3209925"/>
          </a:xfrm>
          <a:prstGeom prst="rect">
            <a:avLst/>
          </a:prstGeom>
          <a:blipFill rotWithShape="1">
            <a:blip r:embed="rId1"/>
          </a:blipFill>
          <a:ln w="38100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796" name="Text Box 55"/>
          <p:cNvSpPr txBox="1"/>
          <p:nvPr/>
        </p:nvSpPr>
        <p:spPr>
          <a:xfrm>
            <a:off x="1816100" y="4492625"/>
            <a:ext cx="441325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K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3797" name="Rectangle 42"/>
          <p:cNvSpPr/>
          <p:nvPr/>
        </p:nvSpPr>
        <p:spPr>
          <a:xfrm>
            <a:off x="1644650" y="2698750"/>
            <a:ext cx="935038" cy="546100"/>
          </a:xfrm>
          <a:prstGeom prst="rect">
            <a:avLst/>
          </a:prstGeom>
          <a:solidFill>
            <a:srgbClr val="CCFFFF"/>
          </a:solidFill>
          <a:ln w="38100" cap="flat" cmpd="sng">
            <a:solidFill>
              <a:srgbClr val="3333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798" name="Rectangle 43"/>
          <p:cNvSpPr/>
          <p:nvPr/>
        </p:nvSpPr>
        <p:spPr>
          <a:xfrm>
            <a:off x="3479800" y="2698750"/>
            <a:ext cx="935038" cy="546100"/>
          </a:xfrm>
          <a:prstGeom prst="rect">
            <a:avLst/>
          </a:prstGeom>
          <a:solidFill>
            <a:srgbClr val="CCFFFF"/>
          </a:solidFill>
          <a:ln w="38100" cap="flat" cmpd="sng">
            <a:solidFill>
              <a:srgbClr val="3333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799" name="Oval 44"/>
          <p:cNvSpPr/>
          <p:nvPr/>
        </p:nvSpPr>
        <p:spPr>
          <a:xfrm>
            <a:off x="2063750" y="2587625"/>
            <a:ext cx="114300" cy="114300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800" name="Oval 45"/>
          <p:cNvSpPr/>
          <p:nvPr/>
        </p:nvSpPr>
        <p:spPr>
          <a:xfrm>
            <a:off x="3898900" y="2587625"/>
            <a:ext cx="114300" cy="114300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801" name="Line 46"/>
          <p:cNvSpPr/>
          <p:nvPr/>
        </p:nvSpPr>
        <p:spPr>
          <a:xfrm flipV="1">
            <a:off x="2120900" y="1709738"/>
            <a:ext cx="0" cy="88265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2" name="Line 47"/>
          <p:cNvSpPr/>
          <p:nvPr/>
        </p:nvSpPr>
        <p:spPr>
          <a:xfrm flipV="1">
            <a:off x="1874838" y="3227388"/>
            <a:ext cx="0" cy="547687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3" name="Freeform 48"/>
          <p:cNvSpPr/>
          <p:nvPr/>
        </p:nvSpPr>
        <p:spPr>
          <a:xfrm>
            <a:off x="2314575" y="2416175"/>
            <a:ext cx="1658938" cy="1198563"/>
          </a:xfrm>
          <a:custGeom>
            <a:avLst/>
            <a:gdLst>
              <a:gd name="txL" fmla="*/ 0 w 1045"/>
              <a:gd name="txT" fmla="*/ 0 h 800"/>
              <a:gd name="txR" fmla="*/ 1045 w 1045"/>
              <a:gd name="txB" fmla="*/ 800 h 800"/>
            </a:gdLst>
            <a:ahLst/>
            <a:cxnLst>
              <a:cxn ang="0">
                <a:pos x="0" y="1248005222"/>
              </a:cxn>
              <a:cxn ang="0">
                <a:pos x="0" y="1795691581"/>
              </a:cxn>
              <a:cxn ang="0">
                <a:pos x="700603649" y="1795691581"/>
              </a:cxn>
              <a:cxn ang="0">
                <a:pos x="1708666452" y="0"/>
              </a:cxn>
              <a:cxn ang="0">
                <a:pos x="2147483647" y="0"/>
              </a:cxn>
            </a:cxnLst>
            <a:rect l="txL" t="txT" r="txR" b="txB"/>
            <a:pathLst>
              <a:path w="1045" h="800">
                <a:moveTo>
                  <a:pt x="0" y="556"/>
                </a:moveTo>
                <a:lnTo>
                  <a:pt x="0" y="800"/>
                </a:lnTo>
                <a:lnTo>
                  <a:pt x="278" y="800"/>
                </a:lnTo>
                <a:lnTo>
                  <a:pt x="678" y="0"/>
                </a:lnTo>
                <a:lnTo>
                  <a:pt x="1045" y="0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3804" name="Line 49"/>
          <p:cNvSpPr/>
          <p:nvPr/>
        </p:nvSpPr>
        <p:spPr>
          <a:xfrm flipV="1">
            <a:off x="3956050" y="1763713"/>
            <a:ext cx="0" cy="828675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5" name="Freeform 50"/>
          <p:cNvSpPr/>
          <p:nvPr/>
        </p:nvSpPr>
        <p:spPr>
          <a:xfrm flipH="1">
            <a:off x="2114550" y="2427288"/>
            <a:ext cx="1624013" cy="1198562"/>
          </a:xfrm>
          <a:custGeom>
            <a:avLst/>
            <a:gdLst>
              <a:gd name="txL" fmla="*/ 0 w 1045"/>
              <a:gd name="txT" fmla="*/ 0 h 800"/>
              <a:gd name="txR" fmla="*/ 1045 w 1045"/>
              <a:gd name="txB" fmla="*/ 800 h 800"/>
            </a:gdLst>
            <a:ahLst/>
            <a:cxnLst>
              <a:cxn ang="0">
                <a:pos x="0" y="1248004181"/>
              </a:cxn>
              <a:cxn ang="0">
                <a:pos x="0" y="1795688585"/>
              </a:cxn>
              <a:cxn ang="0">
                <a:pos x="671415151" y="1795688585"/>
              </a:cxn>
              <a:cxn ang="0">
                <a:pos x="1637480652" y="0"/>
              </a:cxn>
              <a:cxn ang="0">
                <a:pos x="2147483647" y="0"/>
              </a:cxn>
            </a:cxnLst>
            <a:rect l="txL" t="txT" r="txR" b="txB"/>
            <a:pathLst>
              <a:path w="1045" h="800">
                <a:moveTo>
                  <a:pt x="0" y="556"/>
                </a:moveTo>
                <a:lnTo>
                  <a:pt x="0" y="800"/>
                </a:lnTo>
                <a:lnTo>
                  <a:pt x="278" y="800"/>
                </a:lnTo>
                <a:lnTo>
                  <a:pt x="678" y="0"/>
                </a:lnTo>
                <a:lnTo>
                  <a:pt x="1045" y="0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3806" name="Line 51"/>
          <p:cNvSpPr/>
          <p:nvPr/>
        </p:nvSpPr>
        <p:spPr>
          <a:xfrm flipV="1">
            <a:off x="4186238" y="3227388"/>
            <a:ext cx="0" cy="547687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7" name="Text Box 52"/>
          <p:cNvSpPr txBox="1"/>
          <p:nvPr/>
        </p:nvSpPr>
        <p:spPr>
          <a:xfrm>
            <a:off x="1889125" y="2714625"/>
            <a:ext cx="460375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&amp;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3808" name="Text Box 53"/>
          <p:cNvSpPr txBox="1"/>
          <p:nvPr/>
        </p:nvSpPr>
        <p:spPr>
          <a:xfrm>
            <a:off x="3706813" y="2714625"/>
            <a:ext cx="460375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&amp;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3809" name="Text Box 54"/>
          <p:cNvSpPr txBox="1"/>
          <p:nvPr/>
        </p:nvSpPr>
        <p:spPr>
          <a:xfrm>
            <a:off x="1093788" y="2730500"/>
            <a:ext cx="561975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grpSp>
        <p:nvGrpSpPr>
          <p:cNvPr id="33810" name="Group 56"/>
          <p:cNvGrpSpPr/>
          <p:nvPr/>
        </p:nvGrpSpPr>
        <p:grpSpPr>
          <a:xfrm>
            <a:off x="1709738" y="1550988"/>
            <a:ext cx="441325" cy="519112"/>
            <a:chOff x="1086" y="2275"/>
            <a:chExt cx="278" cy="327"/>
          </a:xfrm>
        </p:grpSpPr>
        <p:sp>
          <p:nvSpPr>
            <p:cNvPr id="33861" name="Text Box 57"/>
            <p:cNvSpPr txBox="1"/>
            <p:nvPr/>
          </p:nvSpPr>
          <p:spPr>
            <a:xfrm>
              <a:off x="1086" y="2275"/>
              <a:ext cx="27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3862" name="Line 58"/>
            <p:cNvSpPr/>
            <p:nvPr/>
          </p:nvSpPr>
          <p:spPr>
            <a:xfrm>
              <a:off x="1144" y="2322"/>
              <a:ext cx="15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811" name="Oval 59"/>
          <p:cNvSpPr/>
          <p:nvPr/>
        </p:nvSpPr>
        <p:spPr>
          <a:xfrm>
            <a:off x="2046288" y="2376488"/>
            <a:ext cx="114300" cy="114300"/>
          </a:xfrm>
          <a:prstGeom prst="ellipse">
            <a:avLst/>
          </a:prstGeom>
          <a:solidFill>
            <a:srgbClr val="3333FF"/>
          </a:solidFill>
          <a:ln w="1905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812" name="Oval 60"/>
          <p:cNvSpPr/>
          <p:nvPr/>
        </p:nvSpPr>
        <p:spPr>
          <a:xfrm>
            <a:off x="3881438" y="2359025"/>
            <a:ext cx="114300" cy="114300"/>
          </a:xfrm>
          <a:prstGeom prst="ellipse">
            <a:avLst/>
          </a:prstGeom>
          <a:solidFill>
            <a:srgbClr val="3333FF"/>
          </a:solidFill>
          <a:ln w="1905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813" name="Text Box 61"/>
          <p:cNvSpPr txBox="1"/>
          <p:nvPr/>
        </p:nvSpPr>
        <p:spPr>
          <a:xfrm>
            <a:off x="4356100" y="2730500"/>
            <a:ext cx="561975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sp>
        <p:nvSpPr>
          <p:cNvPr id="33814" name="Text Box 62"/>
          <p:cNvSpPr txBox="1"/>
          <p:nvPr/>
        </p:nvSpPr>
        <p:spPr>
          <a:xfrm>
            <a:off x="4165600" y="4494213"/>
            <a:ext cx="322263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J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3815" name="Text Box 63"/>
          <p:cNvSpPr txBox="1"/>
          <p:nvPr/>
        </p:nvSpPr>
        <p:spPr>
          <a:xfrm>
            <a:off x="3970338" y="1531938"/>
            <a:ext cx="441325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sp>
        <p:nvSpPr>
          <p:cNvPr id="33816" name="Rectangle 64"/>
          <p:cNvSpPr/>
          <p:nvPr/>
        </p:nvSpPr>
        <p:spPr>
          <a:xfrm>
            <a:off x="1417638" y="3792538"/>
            <a:ext cx="935037" cy="546100"/>
          </a:xfrm>
          <a:prstGeom prst="rect">
            <a:avLst/>
          </a:prstGeom>
          <a:solidFill>
            <a:srgbClr val="CCFFFF"/>
          </a:solidFill>
          <a:ln w="38100" cap="flat" cmpd="sng">
            <a:solidFill>
              <a:srgbClr val="3333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817" name="Text Box 65"/>
          <p:cNvSpPr txBox="1"/>
          <p:nvPr/>
        </p:nvSpPr>
        <p:spPr>
          <a:xfrm>
            <a:off x="1662113" y="3808413"/>
            <a:ext cx="460375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&amp;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3818" name="Oval 66"/>
          <p:cNvSpPr/>
          <p:nvPr/>
        </p:nvSpPr>
        <p:spPr>
          <a:xfrm>
            <a:off x="1817688" y="3698875"/>
            <a:ext cx="114300" cy="114300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819" name="Line 67"/>
          <p:cNvSpPr/>
          <p:nvPr/>
        </p:nvSpPr>
        <p:spPr>
          <a:xfrm flipV="1">
            <a:off x="1873250" y="4337050"/>
            <a:ext cx="0" cy="512763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0" name="Rectangle 68"/>
          <p:cNvSpPr/>
          <p:nvPr/>
        </p:nvSpPr>
        <p:spPr>
          <a:xfrm>
            <a:off x="3711575" y="3792538"/>
            <a:ext cx="935038" cy="546100"/>
          </a:xfrm>
          <a:prstGeom prst="rect">
            <a:avLst/>
          </a:prstGeom>
          <a:solidFill>
            <a:srgbClr val="CCFFFF"/>
          </a:solidFill>
          <a:ln w="38100" cap="flat" cmpd="sng">
            <a:solidFill>
              <a:srgbClr val="3333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821" name="Text Box 69"/>
          <p:cNvSpPr txBox="1"/>
          <p:nvPr/>
        </p:nvSpPr>
        <p:spPr>
          <a:xfrm>
            <a:off x="3956050" y="3808413"/>
            <a:ext cx="460375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&amp;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3822" name="Oval 70"/>
          <p:cNvSpPr/>
          <p:nvPr/>
        </p:nvSpPr>
        <p:spPr>
          <a:xfrm>
            <a:off x="4111625" y="3698875"/>
            <a:ext cx="114300" cy="114300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823" name="Line 71"/>
          <p:cNvSpPr/>
          <p:nvPr/>
        </p:nvSpPr>
        <p:spPr>
          <a:xfrm flipV="1">
            <a:off x="4189413" y="4337050"/>
            <a:ext cx="0" cy="4953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4" name="Freeform 72"/>
          <p:cNvSpPr/>
          <p:nvPr/>
        </p:nvSpPr>
        <p:spPr>
          <a:xfrm>
            <a:off x="2174875" y="4321175"/>
            <a:ext cx="1674813" cy="193675"/>
          </a:xfrm>
          <a:custGeom>
            <a:avLst/>
            <a:gdLst>
              <a:gd name="txL" fmla="*/ 0 w 1178"/>
              <a:gd name="txT" fmla="*/ 0 h 133"/>
              <a:gd name="txR" fmla="*/ 1178 w 1178"/>
              <a:gd name="txB" fmla="*/ 133 h 133"/>
            </a:gdLst>
            <a:ahLst/>
            <a:cxnLst>
              <a:cxn ang="0">
                <a:pos x="0" y="23325460"/>
              </a:cxn>
              <a:cxn ang="0">
                <a:pos x="0" y="282030117"/>
              </a:cxn>
              <a:cxn ang="0">
                <a:pos x="2147483647" y="282030117"/>
              </a:cxn>
              <a:cxn ang="0">
                <a:pos x="2147483647" y="0"/>
              </a:cxn>
            </a:cxnLst>
            <a:rect l="txL" t="txT" r="txR" b="txB"/>
            <a:pathLst>
              <a:path w="1178" h="133">
                <a:moveTo>
                  <a:pt x="0" y="11"/>
                </a:moveTo>
                <a:lnTo>
                  <a:pt x="0" y="133"/>
                </a:lnTo>
                <a:lnTo>
                  <a:pt x="1178" y="133"/>
                </a:lnTo>
                <a:lnTo>
                  <a:pt x="1178" y="0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3825" name="Line 73"/>
          <p:cNvSpPr/>
          <p:nvPr/>
        </p:nvSpPr>
        <p:spPr>
          <a:xfrm flipV="1">
            <a:off x="3005138" y="4530725"/>
            <a:ext cx="0" cy="319088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6" name="Oval 74"/>
          <p:cNvSpPr/>
          <p:nvPr/>
        </p:nvSpPr>
        <p:spPr>
          <a:xfrm>
            <a:off x="2946400" y="4476750"/>
            <a:ext cx="114300" cy="114300"/>
          </a:xfrm>
          <a:prstGeom prst="ellipse">
            <a:avLst/>
          </a:prstGeom>
          <a:solidFill>
            <a:srgbClr val="3333FF"/>
          </a:solidFill>
          <a:ln w="1905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827" name="Text Box 75"/>
          <p:cNvSpPr txBox="1"/>
          <p:nvPr/>
        </p:nvSpPr>
        <p:spPr>
          <a:xfrm>
            <a:off x="2981325" y="4460875"/>
            <a:ext cx="619125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CP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3828" name="Text Box 76"/>
          <p:cNvSpPr txBox="1"/>
          <p:nvPr/>
        </p:nvSpPr>
        <p:spPr>
          <a:xfrm>
            <a:off x="882650" y="3805238"/>
            <a:ext cx="561975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sp>
        <p:nvSpPr>
          <p:cNvPr id="33829" name="Text Box 77"/>
          <p:cNvSpPr txBox="1"/>
          <p:nvPr/>
        </p:nvSpPr>
        <p:spPr>
          <a:xfrm>
            <a:off x="4622800" y="3805238"/>
            <a:ext cx="561975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sp>
        <p:nvSpPr>
          <p:cNvPr id="33830" name="Freeform 78"/>
          <p:cNvSpPr/>
          <p:nvPr/>
        </p:nvSpPr>
        <p:spPr>
          <a:xfrm>
            <a:off x="904875" y="2043113"/>
            <a:ext cx="3052763" cy="2592387"/>
          </a:xfrm>
          <a:custGeom>
            <a:avLst/>
            <a:gdLst>
              <a:gd name="txL" fmla="*/ 0 w 1923"/>
              <a:gd name="txT" fmla="*/ 0 h 1633"/>
              <a:gd name="txR" fmla="*/ 1923 w 1923"/>
              <a:gd name="txB" fmla="*/ 1633 h 1633"/>
            </a:gdLst>
            <a:ahLst/>
            <a:cxnLst>
              <a:cxn ang="0">
                <a:pos x="1066027062" y="2147483647"/>
              </a:cxn>
              <a:cxn ang="0">
                <a:pos x="1066027062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</a:cxnLst>
            <a:rect l="txL" t="txT" r="txR" b="txB"/>
            <a:pathLst>
              <a:path w="1923" h="1633">
                <a:moveTo>
                  <a:pt x="423" y="1456"/>
                </a:moveTo>
                <a:lnTo>
                  <a:pt x="423" y="1633"/>
                </a:lnTo>
                <a:lnTo>
                  <a:pt x="0" y="1633"/>
                </a:lnTo>
                <a:lnTo>
                  <a:pt x="0" y="0"/>
                </a:lnTo>
                <a:lnTo>
                  <a:pt x="1923" y="0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3831" name="Oval 79"/>
          <p:cNvSpPr/>
          <p:nvPr/>
        </p:nvSpPr>
        <p:spPr>
          <a:xfrm>
            <a:off x="3881438" y="1989138"/>
            <a:ext cx="114300" cy="114300"/>
          </a:xfrm>
          <a:prstGeom prst="ellipse">
            <a:avLst/>
          </a:prstGeom>
          <a:solidFill>
            <a:srgbClr val="3333FF"/>
          </a:solidFill>
          <a:ln w="1905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832" name="Freeform 80"/>
          <p:cNvSpPr/>
          <p:nvPr/>
        </p:nvSpPr>
        <p:spPr>
          <a:xfrm flipH="1">
            <a:off x="2097088" y="2212975"/>
            <a:ext cx="3052762" cy="2398713"/>
          </a:xfrm>
          <a:custGeom>
            <a:avLst/>
            <a:gdLst>
              <a:gd name="txL" fmla="*/ 0 w 1923"/>
              <a:gd name="txT" fmla="*/ 0 h 1633"/>
              <a:gd name="txR" fmla="*/ 1923 w 1923"/>
              <a:gd name="txB" fmla="*/ 1633 h 1633"/>
            </a:gdLst>
            <a:ahLst/>
            <a:cxnLst>
              <a:cxn ang="0">
                <a:pos x="1066025125" y="2147483647"/>
              </a:cxn>
              <a:cxn ang="0">
                <a:pos x="1066025125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</a:cxnLst>
            <a:rect l="txL" t="txT" r="txR" b="txB"/>
            <a:pathLst>
              <a:path w="1923" h="1633">
                <a:moveTo>
                  <a:pt x="423" y="1456"/>
                </a:moveTo>
                <a:lnTo>
                  <a:pt x="423" y="1633"/>
                </a:lnTo>
                <a:lnTo>
                  <a:pt x="0" y="1633"/>
                </a:lnTo>
                <a:lnTo>
                  <a:pt x="0" y="0"/>
                </a:lnTo>
                <a:lnTo>
                  <a:pt x="1923" y="0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3833" name="Oval 81"/>
          <p:cNvSpPr/>
          <p:nvPr/>
        </p:nvSpPr>
        <p:spPr>
          <a:xfrm>
            <a:off x="2046288" y="2146300"/>
            <a:ext cx="114300" cy="114300"/>
          </a:xfrm>
          <a:prstGeom prst="ellipse">
            <a:avLst/>
          </a:prstGeom>
          <a:solidFill>
            <a:srgbClr val="3333FF"/>
          </a:solidFill>
          <a:ln w="1905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4450" name="Line 82"/>
          <p:cNvSpPr/>
          <p:nvPr/>
        </p:nvSpPr>
        <p:spPr>
          <a:xfrm>
            <a:off x="1860550" y="4854575"/>
            <a:ext cx="0" cy="201613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314452" name="Line 84"/>
          <p:cNvSpPr/>
          <p:nvPr/>
        </p:nvSpPr>
        <p:spPr>
          <a:xfrm>
            <a:off x="4184650" y="4829175"/>
            <a:ext cx="0" cy="201613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314453" name="Line 85"/>
          <p:cNvSpPr/>
          <p:nvPr/>
        </p:nvSpPr>
        <p:spPr>
          <a:xfrm>
            <a:off x="1860550" y="5041900"/>
            <a:ext cx="3200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33837" name="Text Box 86" descr="羊皮纸"/>
          <p:cNvSpPr txBox="1"/>
          <p:nvPr/>
        </p:nvSpPr>
        <p:spPr>
          <a:xfrm>
            <a:off x="5607050" y="4800600"/>
            <a:ext cx="887413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T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14455" name="Oval 87"/>
          <p:cNvSpPr/>
          <p:nvPr/>
        </p:nvSpPr>
        <p:spPr>
          <a:xfrm>
            <a:off x="4130675" y="4953000"/>
            <a:ext cx="88900" cy="168275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  <p:txBody>
          <a:bodyPr wrap="none" lIns="90000" tIns="46800" rIns="90000" bIns="46800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3839" name="Group 88"/>
          <p:cNvGrpSpPr/>
          <p:nvPr/>
        </p:nvGrpSpPr>
        <p:grpSpPr>
          <a:xfrm>
            <a:off x="5545138" y="2609850"/>
            <a:ext cx="2841625" cy="1714500"/>
            <a:chOff x="1074" y="579"/>
            <a:chExt cx="1790" cy="1080"/>
          </a:xfrm>
        </p:grpSpPr>
        <p:sp>
          <p:nvSpPr>
            <p:cNvPr id="33845" name="Rectangle 89"/>
            <p:cNvSpPr/>
            <p:nvPr/>
          </p:nvSpPr>
          <p:spPr>
            <a:xfrm>
              <a:off x="1770" y="579"/>
              <a:ext cx="554" cy="715"/>
            </a:xfrm>
            <a:prstGeom prst="rect">
              <a:avLst/>
            </a:prstGeom>
            <a:noFill/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46" name="Line 90"/>
            <p:cNvSpPr/>
            <p:nvPr/>
          </p:nvSpPr>
          <p:spPr>
            <a:xfrm flipH="1" flipV="1">
              <a:off x="1770" y="893"/>
              <a:ext cx="59" cy="43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47" name="Line 91"/>
            <p:cNvSpPr/>
            <p:nvPr/>
          </p:nvSpPr>
          <p:spPr>
            <a:xfrm flipH="1">
              <a:off x="1770" y="936"/>
              <a:ext cx="59" cy="55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48" name="Line 92"/>
            <p:cNvSpPr/>
            <p:nvPr/>
          </p:nvSpPr>
          <p:spPr>
            <a:xfrm>
              <a:off x="1440" y="784"/>
              <a:ext cx="330" cy="0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49" name="Line 93"/>
            <p:cNvSpPr/>
            <p:nvPr/>
          </p:nvSpPr>
          <p:spPr>
            <a:xfrm>
              <a:off x="1322" y="936"/>
              <a:ext cx="448" cy="0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0" name="Rectangle 94"/>
            <p:cNvSpPr/>
            <p:nvPr/>
          </p:nvSpPr>
          <p:spPr>
            <a:xfrm>
              <a:off x="1393" y="622"/>
              <a:ext cx="11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3851" name="Rectangle 95"/>
            <p:cNvSpPr/>
            <p:nvPr/>
          </p:nvSpPr>
          <p:spPr>
            <a:xfrm>
              <a:off x="1074" y="828"/>
              <a:ext cx="235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CP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3852" name="Line 96"/>
            <p:cNvSpPr/>
            <p:nvPr/>
          </p:nvSpPr>
          <p:spPr>
            <a:xfrm>
              <a:off x="2324" y="784"/>
              <a:ext cx="341" cy="0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3" name="Line 97"/>
            <p:cNvSpPr/>
            <p:nvPr/>
          </p:nvSpPr>
          <p:spPr>
            <a:xfrm>
              <a:off x="2324" y="1099"/>
              <a:ext cx="341" cy="0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4" name="Rectangle 98"/>
            <p:cNvSpPr/>
            <p:nvPr/>
          </p:nvSpPr>
          <p:spPr>
            <a:xfrm>
              <a:off x="2725" y="676"/>
              <a:ext cx="1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3855" name="Rectangle 99"/>
            <p:cNvSpPr/>
            <p:nvPr/>
          </p:nvSpPr>
          <p:spPr>
            <a:xfrm>
              <a:off x="2725" y="1034"/>
              <a:ext cx="1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3856" name="Line 100"/>
            <p:cNvSpPr/>
            <p:nvPr/>
          </p:nvSpPr>
          <p:spPr>
            <a:xfrm>
              <a:off x="2725" y="1044"/>
              <a:ext cx="105" cy="0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7" name="Rectangle 101"/>
            <p:cNvSpPr/>
            <p:nvPr/>
          </p:nvSpPr>
          <p:spPr>
            <a:xfrm>
              <a:off x="1641" y="1419"/>
              <a:ext cx="6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3858" name="Rectangle 102"/>
            <p:cNvSpPr/>
            <p:nvPr/>
          </p:nvSpPr>
          <p:spPr>
            <a:xfrm>
              <a:off x="1688" y="1419"/>
              <a:ext cx="9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3859" name="Rectangle 103"/>
            <p:cNvSpPr/>
            <p:nvPr/>
          </p:nvSpPr>
          <p:spPr>
            <a:xfrm>
              <a:off x="1770" y="1419"/>
              <a:ext cx="112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) 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3860" name="Rectangle 104"/>
            <p:cNvSpPr/>
            <p:nvPr/>
          </p:nvSpPr>
          <p:spPr>
            <a:xfrm>
              <a:off x="1853" y="1429"/>
              <a:ext cx="76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逻辑符号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05"/>
          <p:cNvGrpSpPr/>
          <p:nvPr/>
        </p:nvGrpSpPr>
        <p:grpSpPr>
          <a:xfrm>
            <a:off x="5410200" y="5508625"/>
            <a:ext cx="2630488" cy="519113"/>
            <a:chOff x="1893" y="1000"/>
            <a:chExt cx="1657" cy="327"/>
          </a:xfrm>
        </p:grpSpPr>
        <p:sp>
          <p:nvSpPr>
            <p:cNvPr id="33842" name="Rectangle 106"/>
            <p:cNvSpPr/>
            <p:nvPr/>
          </p:nvSpPr>
          <p:spPr>
            <a:xfrm>
              <a:off x="1893" y="1000"/>
              <a:ext cx="165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n+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1)</a:t>
              </a:r>
              <a:r>
                <a:rPr lang="zh-CN" altLang="en-US" dirty="0">
                  <a:latin typeface="Times New Roman" panose="02020603050405020304" pitchFamily="18" charset="0"/>
                </a:rPr>
                <a:t>＝</a:t>
              </a:r>
              <a:r>
                <a:rPr lang="en-US" altLang="zh-CN" i="1" dirty="0">
                  <a:latin typeface="Times New Roman" panose="02020603050405020304" pitchFamily="18" charset="0"/>
                </a:rPr>
                <a:t>TQ</a:t>
              </a:r>
              <a:r>
                <a:rPr lang="zh-CN" altLang="en-US" dirty="0">
                  <a:latin typeface="Times New Roman" panose="02020603050405020304" pitchFamily="18" charset="0"/>
                </a:rPr>
                <a:t>＋</a:t>
              </a:r>
              <a:r>
                <a:rPr lang="en-US" altLang="zh-CN" i="1" dirty="0">
                  <a:latin typeface="Times New Roman" panose="02020603050405020304" pitchFamily="18" charset="0"/>
                </a:rPr>
                <a:t>TQ</a:t>
              </a:r>
              <a:endParaRPr lang="en-US" altLang="zh-CN" i="1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43" name="Line 107"/>
            <p:cNvSpPr/>
            <p:nvPr/>
          </p:nvSpPr>
          <p:spPr>
            <a:xfrm>
              <a:off x="2834" y="103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44" name="Line 108"/>
            <p:cNvSpPr/>
            <p:nvPr/>
          </p:nvSpPr>
          <p:spPr>
            <a:xfrm>
              <a:off x="3201" y="103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841" name="Rectangle 109" descr="羊皮纸"/>
          <p:cNvSpPr/>
          <p:nvPr/>
        </p:nvSpPr>
        <p:spPr>
          <a:xfrm>
            <a:off x="822325" y="5518150"/>
            <a:ext cx="46656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p>
            <a:r>
              <a:rPr lang="zh-CN" altLang="zh-CN" dirty="0">
                <a:latin typeface="Times New Roman" panose="02020603050405020304" pitchFamily="18" charset="0"/>
              </a:rPr>
              <a:t>因此</a:t>
            </a:r>
            <a:r>
              <a:rPr lang="en-US" altLang="zh-CN" dirty="0">
                <a:latin typeface="Times New Roman" panose="02020603050405020304" pitchFamily="18" charset="0"/>
              </a:rPr>
              <a:t>T</a:t>
            </a:r>
            <a:r>
              <a:rPr lang="zh-CN" altLang="zh-CN" dirty="0">
                <a:latin typeface="Times New Roman" panose="02020603050405020304" pitchFamily="18" charset="0"/>
              </a:rPr>
              <a:t>触发器的次态方程为：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1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1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45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5394" name="Text Box 2"/>
          <p:cNvSpPr txBox="1"/>
          <p:nvPr/>
        </p:nvSpPr>
        <p:spPr>
          <a:xfrm>
            <a:off x="1158875" y="1500188"/>
            <a:ext cx="7162800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zh-CN" dirty="0">
                <a:latin typeface="Times New Roman" panose="02020603050405020304" pitchFamily="18" charset="0"/>
              </a:rPr>
              <a:t>时，</a:t>
            </a:r>
            <a:r>
              <a:rPr lang="en-US" altLang="zh-CN" dirty="0">
                <a:latin typeface="Times New Roman" panose="02020603050405020304" pitchFamily="18" charset="0"/>
              </a:rPr>
              <a:t>T</a:t>
            </a:r>
            <a:r>
              <a:rPr lang="zh-CN" altLang="zh-CN" dirty="0">
                <a:latin typeface="Times New Roman" panose="02020603050405020304" pitchFamily="18" charset="0"/>
              </a:rPr>
              <a:t>触发器的状态保持不变；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5395" name="Text Box 3"/>
          <p:cNvSpPr txBox="1"/>
          <p:nvPr/>
        </p:nvSpPr>
        <p:spPr>
          <a:xfrm>
            <a:off x="1158875" y="2292350"/>
            <a:ext cx="2219325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latin typeface="Times New Roman" panose="02020603050405020304" pitchFamily="18" charset="0"/>
              </a:rPr>
              <a:t>时，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5396" name="Text Box 4"/>
          <p:cNvSpPr txBox="1"/>
          <p:nvPr/>
        </p:nvSpPr>
        <p:spPr>
          <a:xfrm>
            <a:off x="1266825" y="2997200"/>
            <a:ext cx="3592513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T=0, </a:t>
            </a:r>
            <a:r>
              <a:rPr lang="zh-CN" altLang="en-US" dirty="0">
                <a:latin typeface="Times New Roman" panose="02020603050405020304" pitchFamily="18" charset="0"/>
              </a:rPr>
              <a:t>次态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现</a:t>
            </a:r>
            <a:r>
              <a:rPr lang="zh-CN" altLang="zh-CN" dirty="0">
                <a:latin typeface="Times New Roman" panose="02020603050405020304" pitchFamily="18" charset="0"/>
              </a:rPr>
              <a:t>态；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5397" name="Text Box 5"/>
          <p:cNvSpPr txBox="1"/>
          <p:nvPr/>
        </p:nvSpPr>
        <p:spPr>
          <a:xfrm>
            <a:off x="1266825" y="3736975"/>
            <a:ext cx="6948488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T=1, </a:t>
            </a:r>
            <a:r>
              <a:rPr lang="zh-CN" altLang="en-US" dirty="0">
                <a:latin typeface="Times New Roman" panose="02020603050405020304" pitchFamily="18" charset="0"/>
              </a:rPr>
              <a:t>则次态与现态相反，触发器翻转。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539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539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5397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 advAuto="1000" build="p"/>
      <p:bldP spid="315395" grpId="0" build="p"/>
      <p:bldP spid="315396" grpId="0" build="p"/>
      <p:bldP spid="31539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2410" name="Text Box 90"/>
          <p:cNvSpPr txBox="1"/>
          <p:nvPr/>
        </p:nvSpPr>
        <p:spPr>
          <a:xfrm>
            <a:off x="2624138" y="1198563"/>
            <a:ext cx="2535237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T</a:t>
            </a:r>
            <a:r>
              <a:rPr lang="zh-CN" altLang="zh-CN" dirty="0">
                <a:latin typeface="Times New Roman" panose="02020603050405020304" pitchFamily="18" charset="0"/>
              </a:rPr>
              <a:t>触发器功能表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843" name="Line 93"/>
          <p:cNvSpPr/>
          <p:nvPr/>
        </p:nvSpPr>
        <p:spPr>
          <a:xfrm>
            <a:off x="1701800" y="1717675"/>
            <a:ext cx="5986463" cy="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4" name="Line 94"/>
          <p:cNvSpPr/>
          <p:nvPr/>
        </p:nvSpPr>
        <p:spPr>
          <a:xfrm>
            <a:off x="1701800" y="2254250"/>
            <a:ext cx="5986463" cy="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5" name="Line 95"/>
          <p:cNvSpPr/>
          <p:nvPr/>
        </p:nvSpPr>
        <p:spPr>
          <a:xfrm>
            <a:off x="1747838" y="3181350"/>
            <a:ext cx="5986462" cy="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6" name="Line 96"/>
          <p:cNvSpPr/>
          <p:nvPr/>
        </p:nvSpPr>
        <p:spPr>
          <a:xfrm>
            <a:off x="3662363" y="1719263"/>
            <a:ext cx="0" cy="1423987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7" name="Line 97"/>
          <p:cNvSpPr/>
          <p:nvPr/>
        </p:nvSpPr>
        <p:spPr>
          <a:xfrm flipH="1">
            <a:off x="5559425" y="1701800"/>
            <a:ext cx="14288" cy="1446213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8" name="Text Box 98"/>
          <p:cNvSpPr txBox="1"/>
          <p:nvPr/>
        </p:nvSpPr>
        <p:spPr>
          <a:xfrm>
            <a:off x="2052638" y="1720850"/>
            <a:ext cx="668337" cy="561975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T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5849" name="Text Box 99"/>
          <p:cNvSpPr txBox="1"/>
          <p:nvPr/>
        </p:nvSpPr>
        <p:spPr>
          <a:xfrm>
            <a:off x="4235450" y="1720850"/>
            <a:ext cx="981075" cy="561975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</a:rPr>
              <a:t>+1)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5850" name="Text Box 100"/>
          <p:cNvSpPr txBox="1"/>
          <p:nvPr/>
        </p:nvSpPr>
        <p:spPr>
          <a:xfrm>
            <a:off x="5791200" y="1697038"/>
            <a:ext cx="1606550" cy="561975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功能说明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851" name="Text Box 101"/>
          <p:cNvSpPr txBox="1"/>
          <p:nvPr/>
        </p:nvSpPr>
        <p:spPr>
          <a:xfrm>
            <a:off x="2322513" y="2220913"/>
            <a:ext cx="346075" cy="8604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5852" name="Text Box 102"/>
          <p:cNvSpPr txBox="1"/>
          <p:nvPr/>
        </p:nvSpPr>
        <p:spPr>
          <a:xfrm>
            <a:off x="4421188" y="2220913"/>
            <a:ext cx="530225" cy="860425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Q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Q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5853" name="Text Box 103"/>
          <p:cNvSpPr txBox="1"/>
          <p:nvPr/>
        </p:nvSpPr>
        <p:spPr>
          <a:xfrm>
            <a:off x="5994400" y="2228850"/>
            <a:ext cx="895350" cy="860425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不变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翻转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854" name="Line 104"/>
          <p:cNvSpPr/>
          <p:nvPr/>
        </p:nvSpPr>
        <p:spPr>
          <a:xfrm>
            <a:off x="4522788" y="2686050"/>
            <a:ext cx="23653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5855" name="Picture 1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7288" y="3668713"/>
            <a:ext cx="4367212" cy="2722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1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241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41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5698" name="Text Box 2"/>
          <p:cNvSpPr txBox="1">
            <a:spLocks noChangeArrowheads="1"/>
          </p:cNvSpPr>
          <p:nvPr/>
        </p:nvSpPr>
        <p:spPr bwMode="auto">
          <a:xfrm>
            <a:off x="1665288" y="350838"/>
            <a:ext cx="7035800" cy="58356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6.3  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主从触发式</a:t>
            </a:r>
            <a:r>
              <a:rPr kumimoji="1" lang="zh-CN" altLang="zh-CN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（脉冲触发）</a:t>
            </a:r>
            <a:endParaRPr kumimoji="1" lang="zh-CN" altLang="en-US" sz="32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5699" name="Text Box 3"/>
          <p:cNvSpPr txBox="1"/>
          <p:nvPr/>
        </p:nvSpPr>
        <p:spPr>
          <a:xfrm>
            <a:off x="315913" y="1255713"/>
            <a:ext cx="8462962" cy="129698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indent="565150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主从触发式触发器由于采用了主、从触发器结构，可以有效地防止空翻，在每个</a:t>
            </a:r>
            <a:r>
              <a:rPr lang="en-US" altLang="zh-CN" sz="2400" i="1" dirty="0">
                <a:latin typeface="Times New Roman" panose="02020603050405020304" pitchFamily="18" charset="0"/>
              </a:rPr>
              <a:t>CLK</a:t>
            </a:r>
            <a:r>
              <a:rPr lang="zh-CN" altLang="en-US" sz="2400" dirty="0">
                <a:latin typeface="Times New Roman" panose="02020603050405020304" pitchFamily="18" charset="0"/>
              </a:rPr>
              <a:t>期间输出端的状态只改变一次，提高了触发器的工作可靠性。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85766" name="Text Box 70"/>
          <p:cNvSpPr txBox="1">
            <a:spLocks noChangeArrowheads="1"/>
          </p:cNvSpPr>
          <p:nvPr/>
        </p:nvSpPr>
        <p:spPr bwMode="auto">
          <a:xfrm>
            <a:off x="528638" y="825500"/>
            <a:ext cx="4473575" cy="52197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6.3.1  </a:t>
            </a:r>
            <a:r>
              <a:rPr kumimoji="1" lang="zh-CN" altLang="en-US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主从</a:t>
            </a:r>
            <a:r>
              <a:rPr kumimoji="1" lang="en-US" altLang="zh-CN" sz="24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zh-CN" altLang="en-US" sz="24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1" lang="en-US" altLang="zh-CN" sz="24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zh-CN" altLang="zh-CN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endParaRPr kumimoji="1" lang="zh-CN" altLang="en-US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71"/>
          <p:cNvGrpSpPr/>
          <p:nvPr/>
        </p:nvGrpSpPr>
        <p:grpSpPr>
          <a:xfrm>
            <a:off x="1198563" y="2533650"/>
            <a:ext cx="6651625" cy="4359275"/>
            <a:chOff x="2692" y="11394"/>
            <a:chExt cx="4973" cy="3376"/>
          </a:xfrm>
        </p:grpSpPr>
        <p:grpSp>
          <p:nvGrpSpPr>
            <p:cNvPr id="36870" name="Group 72"/>
            <p:cNvGrpSpPr/>
            <p:nvPr/>
          </p:nvGrpSpPr>
          <p:grpSpPr>
            <a:xfrm>
              <a:off x="2692" y="11394"/>
              <a:ext cx="4964" cy="3017"/>
              <a:chOff x="2692" y="11394"/>
              <a:chExt cx="4964" cy="3017"/>
            </a:xfrm>
          </p:grpSpPr>
          <p:grpSp>
            <p:nvGrpSpPr>
              <p:cNvPr id="36872" name="Group 73"/>
              <p:cNvGrpSpPr/>
              <p:nvPr/>
            </p:nvGrpSpPr>
            <p:grpSpPr>
              <a:xfrm>
                <a:off x="2692" y="11394"/>
                <a:ext cx="2882" cy="3017"/>
                <a:chOff x="2692" y="11394"/>
                <a:chExt cx="2882" cy="3017"/>
              </a:xfrm>
            </p:grpSpPr>
            <p:sp>
              <p:nvSpPr>
                <p:cNvPr id="36886" name="Line 74"/>
                <p:cNvSpPr/>
                <p:nvPr/>
              </p:nvSpPr>
              <p:spPr>
                <a:xfrm>
                  <a:off x="2989" y="12551"/>
                  <a:ext cx="0" cy="143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87" name="Rectangle 75"/>
                <p:cNvSpPr/>
                <p:nvPr/>
              </p:nvSpPr>
              <p:spPr>
                <a:xfrm>
                  <a:off x="4486" y="12547"/>
                  <a:ext cx="563" cy="3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p>
                  <a:pPr algn="just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CP</a:t>
                  </a:r>
                  <a:r>
                    <a:rPr lang="en-US" altLang="zh-CN" sz="2000" dirty="0">
                      <a:latin typeface="宋体" panose="02010600030101010101" pitchFamily="2" charset="-122"/>
                    </a:rPr>
                    <a:t>′</a:t>
                  </a:r>
                  <a:endParaRPr lang="en-US" altLang="zh-CN" sz="4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888" name="Rectangle 76"/>
                <p:cNvSpPr/>
                <p:nvPr/>
              </p:nvSpPr>
              <p:spPr>
                <a:xfrm>
                  <a:off x="3670" y="13926"/>
                  <a:ext cx="296" cy="40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p>
                  <a:pPr algn="just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S</a:t>
                  </a:r>
                  <a:endParaRPr lang="en-US" altLang="zh-CN" sz="4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889" name="Rectangle 77"/>
                <p:cNvSpPr/>
                <p:nvPr/>
              </p:nvSpPr>
              <p:spPr>
                <a:xfrm>
                  <a:off x="3645" y="11705"/>
                  <a:ext cx="1929" cy="625"/>
                </a:xfrm>
                <a:prstGeom prst="rect">
                  <a:avLst/>
                </a:prstGeom>
                <a:solidFill>
                  <a:srgbClr val="CCFFFF"/>
                </a:solidFill>
                <a:ln w="9525" cap="flat" cmpd="sng">
                  <a:solidFill>
                    <a:srgbClr val="3366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just">
                    <a:lnSpc>
                      <a:spcPct val="96000"/>
                    </a:lnSpc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          </a:t>
                  </a: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Q</a:t>
                  </a:r>
                  <a:r>
                    <a:rPr lang="en-US" altLang="zh-CN" sz="2000" dirty="0">
                      <a:latin typeface="Times New Roman" panose="02020603050405020304" pitchFamily="18" charset="0"/>
                    </a:rPr>
                    <a:t>     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  <a:p>
                  <a:pPr algn="ctr">
                    <a:lnSpc>
                      <a:spcPct val="96000"/>
                    </a:lnSpc>
                  </a:pPr>
                  <a:r>
                    <a:rPr lang="zh-CN" altLang="en-US" sz="1800" dirty="0">
                      <a:latin typeface="Times New Roman" panose="02020603050405020304" pitchFamily="18" charset="0"/>
                    </a:rPr>
                    <a:t>从触发器</a:t>
                  </a:r>
                  <a:endParaRPr lang="zh-CN" altLang="en-US" sz="1800" dirty="0">
                    <a:latin typeface="Times New Roman" panose="02020603050405020304" pitchFamily="18" charset="0"/>
                  </a:endParaRPr>
                </a:p>
                <a:p>
                  <a:pPr algn="just">
                    <a:lnSpc>
                      <a:spcPct val="96000"/>
                    </a:lnSpc>
                  </a:pPr>
                  <a:r>
                    <a:rPr lang="zh-CN" altLang="en-US" sz="2000" dirty="0">
                      <a:latin typeface="Times New Roman" panose="02020603050405020304" pitchFamily="18" charset="0"/>
                    </a:rPr>
                    <a:t> 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  <a:p>
                  <a:pPr algn="just">
                    <a:lnSpc>
                      <a:spcPct val="96000"/>
                    </a:lnSpc>
                  </a:pPr>
                  <a:endParaRPr lang="zh-CN" altLang="en-US" sz="2000" dirty="0">
                    <a:latin typeface="Times New Roman" panose="02020603050405020304" pitchFamily="18" charset="0"/>
                  </a:endParaRPr>
                </a:p>
                <a:p>
                  <a:pPr algn="just">
                    <a:lnSpc>
                      <a:spcPct val="96000"/>
                    </a:lnSpc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sz="2000" dirty="0">
                      <a:latin typeface="宋体" panose="02010600030101010101" pitchFamily="2" charset="-122"/>
                    </a:rPr>
                    <a:t>′           </a:t>
                  </a:r>
                  <a:r>
                    <a:rPr lang="en-US" altLang="zh-CN" sz="2000" dirty="0">
                      <a:latin typeface="Times New Roman" panose="02020603050405020304" pitchFamily="18" charset="0"/>
                    </a:rPr>
                    <a:t>R</a:t>
                  </a:r>
                  <a:r>
                    <a:rPr lang="en-US" altLang="zh-CN" sz="2000" dirty="0">
                      <a:latin typeface="宋体" panose="02010600030101010101" pitchFamily="2" charset="-122"/>
                    </a:rPr>
                    <a:t>′</a:t>
                  </a:r>
                  <a:endParaRPr lang="en-US" altLang="zh-CN" sz="4800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6890" name="Group 78"/>
                <p:cNvGrpSpPr/>
                <p:nvPr/>
              </p:nvGrpSpPr>
              <p:grpSpPr>
                <a:xfrm>
                  <a:off x="4535" y="12254"/>
                  <a:ext cx="180" cy="70"/>
                  <a:chOff x="3480" y="9360"/>
                  <a:chExt cx="218" cy="105"/>
                </a:xfrm>
              </p:grpSpPr>
              <p:sp>
                <p:nvSpPr>
                  <p:cNvPr id="36913" name="Line 79"/>
                  <p:cNvSpPr/>
                  <p:nvPr/>
                </p:nvSpPr>
                <p:spPr>
                  <a:xfrm>
                    <a:off x="3585" y="9363"/>
                    <a:ext cx="113" cy="102"/>
                  </a:xfrm>
                  <a:prstGeom prst="line">
                    <a:avLst/>
                  </a:prstGeom>
                  <a:ln w="9525" cap="flat" cmpd="sng">
                    <a:solidFill>
                      <a:srgbClr val="3366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6914" name="Line 80"/>
                  <p:cNvSpPr/>
                  <p:nvPr/>
                </p:nvSpPr>
                <p:spPr>
                  <a:xfrm flipV="1">
                    <a:off x="3480" y="9360"/>
                    <a:ext cx="113" cy="102"/>
                  </a:xfrm>
                  <a:prstGeom prst="line">
                    <a:avLst/>
                  </a:prstGeom>
                  <a:ln w="9525" cap="flat" cmpd="sng">
                    <a:solidFill>
                      <a:srgbClr val="3366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6891" name="Line 81"/>
                <p:cNvSpPr/>
                <p:nvPr/>
              </p:nvSpPr>
              <p:spPr>
                <a:xfrm>
                  <a:off x="4621" y="12332"/>
                  <a:ext cx="0" cy="213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92" name="Line 82"/>
                <p:cNvSpPr/>
                <p:nvPr/>
              </p:nvSpPr>
              <p:spPr>
                <a:xfrm>
                  <a:off x="2989" y="12551"/>
                  <a:ext cx="1632" cy="0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93" name="Oval 83"/>
                <p:cNvSpPr/>
                <p:nvPr/>
              </p:nvSpPr>
              <p:spPr>
                <a:xfrm>
                  <a:off x="2965" y="12687"/>
                  <a:ext cx="58" cy="5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894" name="Rectangle 84"/>
                <p:cNvSpPr/>
                <p:nvPr/>
              </p:nvSpPr>
              <p:spPr>
                <a:xfrm>
                  <a:off x="2692" y="12735"/>
                  <a:ext cx="593" cy="305"/>
                </a:xfrm>
                <a:prstGeom prst="rect">
                  <a:avLst/>
                </a:prstGeom>
                <a:solidFill>
                  <a:srgbClr val="CCFFFF"/>
                </a:solidFill>
                <a:ln w="9525" cap="flat" cmpd="sng">
                  <a:solidFill>
                    <a:srgbClr val="3366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p>
                  <a:pPr algn="ctr">
                    <a:lnSpc>
                      <a:spcPct val="96000"/>
                    </a:lnSpc>
                  </a:pPr>
                  <a:r>
                    <a:rPr lang="en-US" altLang="zh-CN" sz="18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4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895" name="Rectangle 85"/>
                <p:cNvSpPr/>
                <p:nvPr/>
              </p:nvSpPr>
              <p:spPr>
                <a:xfrm>
                  <a:off x="3606" y="12945"/>
                  <a:ext cx="1930" cy="626"/>
                </a:xfrm>
                <a:prstGeom prst="rect">
                  <a:avLst/>
                </a:prstGeom>
                <a:solidFill>
                  <a:srgbClr val="CCFFFF"/>
                </a:solidFill>
                <a:ln w="9525" cap="flat" cmpd="sng">
                  <a:solidFill>
                    <a:srgbClr val="3366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just">
                    <a:lnSpc>
                      <a:spcPct val="96000"/>
                    </a:lnSpc>
                  </a:pP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          Q</a:t>
                  </a:r>
                  <a:r>
                    <a:rPr lang="en-US" altLang="zh-CN" sz="2000" dirty="0">
                      <a:latin typeface="宋体" panose="02010600030101010101" pitchFamily="2" charset="-122"/>
                    </a:rPr>
                    <a:t>′</a:t>
                  </a:r>
                  <a:r>
                    <a:rPr lang="en-US" altLang="zh-CN" sz="2000" dirty="0">
                      <a:latin typeface="Times New Roman" panose="02020603050405020304" pitchFamily="18" charset="0"/>
                    </a:rPr>
                    <a:t>    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  <a:p>
                  <a:pPr algn="ctr">
                    <a:lnSpc>
                      <a:spcPct val="96000"/>
                    </a:lnSpc>
                  </a:pPr>
                  <a:r>
                    <a:rPr lang="zh-CN" altLang="en-US" sz="1800" dirty="0">
                      <a:latin typeface="Times New Roman" panose="02020603050405020304" pitchFamily="18" charset="0"/>
                    </a:rPr>
                    <a:t>主触发器</a:t>
                  </a:r>
                  <a:endParaRPr lang="zh-CN" altLang="en-US" sz="1800" dirty="0">
                    <a:latin typeface="Times New Roman" panose="02020603050405020304" pitchFamily="18" charset="0"/>
                  </a:endParaRPr>
                </a:p>
                <a:p>
                  <a:endParaRPr lang="en-US" altLang="zh-CN" sz="4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896" name="Line 86"/>
                <p:cNvSpPr/>
                <p:nvPr/>
              </p:nvSpPr>
              <p:spPr>
                <a:xfrm flipH="1">
                  <a:off x="4212" y="12328"/>
                  <a:ext cx="1" cy="617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97" name="Line 87"/>
                <p:cNvSpPr/>
                <p:nvPr/>
              </p:nvSpPr>
              <p:spPr>
                <a:xfrm flipH="1">
                  <a:off x="4930" y="12337"/>
                  <a:ext cx="0" cy="604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36898" name="Group 88"/>
                <p:cNvGrpSpPr/>
                <p:nvPr/>
              </p:nvGrpSpPr>
              <p:grpSpPr>
                <a:xfrm>
                  <a:off x="4473" y="13495"/>
                  <a:ext cx="180" cy="71"/>
                  <a:chOff x="3480" y="9360"/>
                  <a:chExt cx="218" cy="105"/>
                </a:xfrm>
              </p:grpSpPr>
              <p:sp>
                <p:nvSpPr>
                  <p:cNvPr id="36911" name="Line 89"/>
                  <p:cNvSpPr/>
                  <p:nvPr/>
                </p:nvSpPr>
                <p:spPr>
                  <a:xfrm>
                    <a:off x="3585" y="9363"/>
                    <a:ext cx="113" cy="102"/>
                  </a:xfrm>
                  <a:prstGeom prst="line">
                    <a:avLst/>
                  </a:prstGeom>
                  <a:ln w="9525" cap="flat" cmpd="sng">
                    <a:solidFill>
                      <a:srgbClr val="3366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6912" name="Line 90"/>
                  <p:cNvSpPr/>
                  <p:nvPr/>
                </p:nvSpPr>
                <p:spPr>
                  <a:xfrm flipV="1">
                    <a:off x="3480" y="9360"/>
                    <a:ext cx="113" cy="102"/>
                  </a:xfrm>
                  <a:prstGeom prst="line">
                    <a:avLst/>
                  </a:prstGeom>
                  <a:ln w="9525" cap="flat" cmpd="sng">
                    <a:solidFill>
                      <a:srgbClr val="3366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6899" name="Line 91"/>
                <p:cNvSpPr/>
                <p:nvPr/>
              </p:nvSpPr>
              <p:spPr>
                <a:xfrm>
                  <a:off x="3966" y="13580"/>
                  <a:ext cx="0" cy="417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0" name="Line 92"/>
                <p:cNvSpPr/>
                <p:nvPr/>
              </p:nvSpPr>
              <p:spPr>
                <a:xfrm>
                  <a:off x="4560" y="13570"/>
                  <a:ext cx="0" cy="521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1" name="Line 93"/>
                <p:cNvSpPr/>
                <p:nvPr/>
              </p:nvSpPr>
              <p:spPr>
                <a:xfrm>
                  <a:off x="5079" y="13594"/>
                  <a:ext cx="0" cy="417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2" name="Line 94"/>
                <p:cNvSpPr/>
                <p:nvPr/>
              </p:nvSpPr>
              <p:spPr>
                <a:xfrm flipH="1">
                  <a:off x="3000" y="13029"/>
                  <a:ext cx="0" cy="795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3" name="Line 95"/>
                <p:cNvSpPr/>
                <p:nvPr/>
              </p:nvSpPr>
              <p:spPr>
                <a:xfrm>
                  <a:off x="3002" y="13822"/>
                  <a:ext cx="1533" cy="0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4" name="Oval 96"/>
                <p:cNvSpPr/>
                <p:nvPr/>
              </p:nvSpPr>
              <p:spPr>
                <a:xfrm>
                  <a:off x="4531" y="13800"/>
                  <a:ext cx="47" cy="54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05" name="Line 97"/>
                <p:cNvSpPr/>
                <p:nvPr/>
              </p:nvSpPr>
              <p:spPr>
                <a:xfrm>
                  <a:off x="4943" y="11394"/>
                  <a:ext cx="0" cy="313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6" name="Line 98"/>
                <p:cNvSpPr/>
                <p:nvPr/>
              </p:nvSpPr>
              <p:spPr>
                <a:xfrm>
                  <a:off x="4263" y="11394"/>
                  <a:ext cx="0" cy="313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7" name="Rectangle 99"/>
                <p:cNvSpPr/>
                <p:nvPr/>
              </p:nvSpPr>
              <p:spPr>
                <a:xfrm>
                  <a:off x="4609" y="13951"/>
                  <a:ext cx="297" cy="4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p>
                  <a:pPr algn="just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CP</a:t>
                  </a:r>
                  <a:endParaRPr lang="en-US" altLang="zh-CN" sz="4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08" name="Rectangle 100"/>
                <p:cNvSpPr/>
                <p:nvPr/>
              </p:nvSpPr>
              <p:spPr>
                <a:xfrm>
                  <a:off x="5189" y="13883"/>
                  <a:ext cx="296" cy="41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p>
                  <a:pPr algn="just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R</a:t>
                  </a:r>
                  <a:endParaRPr lang="en-US" altLang="zh-CN" sz="4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09" name="Oval 101"/>
                <p:cNvSpPr/>
                <p:nvPr/>
              </p:nvSpPr>
              <p:spPr>
                <a:xfrm>
                  <a:off x="4896" y="11599"/>
                  <a:ext cx="96" cy="9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10" name="Oval 102"/>
                <p:cNvSpPr/>
                <p:nvPr/>
              </p:nvSpPr>
              <p:spPr>
                <a:xfrm>
                  <a:off x="4880" y="12847"/>
                  <a:ext cx="96" cy="9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3" name="Group 103"/>
              <p:cNvGrpSpPr/>
              <p:nvPr/>
            </p:nvGrpSpPr>
            <p:grpSpPr>
              <a:xfrm>
                <a:off x="6384" y="11538"/>
                <a:ext cx="1272" cy="2229"/>
                <a:chOff x="6656" y="11130"/>
                <a:chExt cx="1272" cy="2229"/>
              </a:xfrm>
            </p:grpSpPr>
            <p:sp>
              <p:nvSpPr>
                <p:cNvPr id="36874" name="Rectangle 104"/>
                <p:cNvSpPr/>
                <p:nvPr/>
              </p:nvSpPr>
              <p:spPr>
                <a:xfrm>
                  <a:off x="6668" y="12081"/>
                  <a:ext cx="1260" cy="780"/>
                </a:xfrm>
                <a:prstGeom prst="rect">
                  <a:avLst/>
                </a:prstGeom>
                <a:solidFill>
                  <a:srgbClr val="CCFFFF"/>
                </a:solidFill>
                <a:ln w="9525" cap="flat" cmpd="sng">
                  <a:solidFill>
                    <a:srgbClr val="3366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p>
                  <a:pPr algn="just">
                    <a:spcBef>
                      <a:spcPts val="1240"/>
                    </a:spcBef>
                  </a:pPr>
                  <a:endParaRPr lang="en-US" altLang="zh-CN" sz="2000" i="1" dirty="0">
                    <a:latin typeface="Times New Roman" panose="02020603050405020304" pitchFamily="18" charset="0"/>
                  </a:endParaRPr>
                </a:p>
                <a:p>
                  <a:pPr algn="just">
                    <a:spcBef>
                      <a:spcPts val="1240"/>
                    </a:spcBef>
                  </a:pP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   S     C     R</a:t>
                  </a:r>
                  <a:endParaRPr lang="en-US" altLang="zh-CN" sz="4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875" name="Line 105"/>
                <p:cNvSpPr/>
                <p:nvPr/>
              </p:nvSpPr>
              <p:spPr>
                <a:xfrm flipV="1">
                  <a:off x="6864" y="11535"/>
                  <a:ext cx="0" cy="540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76" name="Line 106"/>
                <p:cNvSpPr/>
                <p:nvPr/>
              </p:nvSpPr>
              <p:spPr>
                <a:xfrm flipV="1">
                  <a:off x="7628" y="11544"/>
                  <a:ext cx="0" cy="528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77" name="Oval 107"/>
                <p:cNvSpPr/>
                <p:nvPr/>
              </p:nvSpPr>
              <p:spPr>
                <a:xfrm>
                  <a:off x="7583" y="11970"/>
                  <a:ext cx="102" cy="102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878" name="Line 108"/>
                <p:cNvSpPr/>
                <p:nvPr/>
              </p:nvSpPr>
              <p:spPr>
                <a:xfrm>
                  <a:off x="6864" y="12861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79" name="Line 109"/>
                <p:cNvSpPr/>
                <p:nvPr/>
              </p:nvSpPr>
              <p:spPr>
                <a:xfrm>
                  <a:off x="7262" y="12891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80" name="Line 110"/>
                <p:cNvSpPr/>
                <p:nvPr/>
              </p:nvSpPr>
              <p:spPr>
                <a:xfrm>
                  <a:off x="7643" y="12861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81" name="Oval 111"/>
                <p:cNvSpPr/>
                <p:nvPr/>
              </p:nvSpPr>
              <p:spPr>
                <a:xfrm>
                  <a:off x="7223" y="12861"/>
                  <a:ext cx="81" cy="81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882" name="Line 112"/>
                <p:cNvSpPr/>
                <p:nvPr/>
              </p:nvSpPr>
              <p:spPr>
                <a:xfrm flipH="1">
                  <a:off x="7152" y="12756"/>
                  <a:ext cx="108" cy="96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83" name="Line 113"/>
                <p:cNvSpPr/>
                <p:nvPr/>
              </p:nvSpPr>
              <p:spPr>
                <a:xfrm>
                  <a:off x="7272" y="12756"/>
                  <a:ext cx="96" cy="96"/>
                </a:xfrm>
                <a:prstGeom prst="line">
                  <a:avLst/>
                </a:prstGeom>
                <a:ln w="9525" cap="flat" cmpd="sng">
                  <a:solidFill>
                    <a:srgbClr val="3366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884" name="Text Box 114"/>
                <p:cNvSpPr txBox="1"/>
                <p:nvPr/>
              </p:nvSpPr>
              <p:spPr>
                <a:xfrm>
                  <a:off x="6656" y="11130"/>
                  <a:ext cx="408" cy="4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sz="4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885" name="Text Box 115"/>
                <p:cNvSpPr txBox="1"/>
                <p:nvPr/>
              </p:nvSpPr>
              <p:spPr>
                <a:xfrm>
                  <a:off x="7364" y="11195"/>
                  <a:ext cx="138" cy="6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just"/>
                  <a:endParaRPr lang="zh-CN" altLang="zh-CN" sz="48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6871" name="Text Box 116"/>
            <p:cNvSpPr txBox="1"/>
            <p:nvPr/>
          </p:nvSpPr>
          <p:spPr>
            <a:xfrm>
              <a:off x="3123" y="14132"/>
              <a:ext cx="4542" cy="6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zh-CN" altLang="en-US" sz="20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）                                                                         （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b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）</a:t>
              </a: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dirty="0">
                  <a:latin typeface="Times New Roman" panose="02020603050405020304" pitchFamily="18" charset="0"/>
                </a:rPr>
                <a:t>主从</a:t>
              </a:r>
              <a:r>
                <a:rPr lang="en-US" altLang="zh-CN" dirty="0">
                  <a:latin typeface="Times New Roman" panose="02020603050405020304" pitchFamily="18" charset="0"/>
                </a:rPr>
                <a:t>R</a:t>
              </a:r>
              <a:r>
                <a:rPr lang="zh-CN" altLang="en-US" dirty="0">
                  <a:latin typeface="Times New Roman" panose="02020603050405020304" pitchFamily="18" charset="0"/>
                </a:rPr>
                <a:t>－</a:t>
              </a:r>
              <a:r>
                <a:rPr lang="en-US" altLang="zh-CN" dirty="0">
                  <a:latin typeface="Times New Roman" panose="02020603050405020304" pitchFamily="18" charset="0"/>
                </a:rPr>
                <a:t>S</a:t>
              </a:r>
              <a:r>
                <a:rPr lang="zh-CN" altLang="en-US" dirty="0">
                  <a:latin typeface="Times New Roman" panose="02020603050405020304" pitchFamily="18" charset="0"/>
                </a:rPr>
                <a:t>触发器</a:t>
              </a:r>
              <a:endParaRPr lang="zh-CN" altLang="en-US" sz="66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5699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9" grpId="0" build="p"/>
      <p:bldP spid="285766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7890" name="Group 7"/>
          <p:cNvGrpSpPr/>
          <p:nvPr/>
        </p:nvGrpSpPr>
        <p:grpSpPr>
          <a:xfrm>
            <a:off x="528638" y="750888"/>
            <a:ext cx="3854450" cy="3895725"/>
            <a:chOff x="2692" y="11394"/>
            <a:chExt cx="2882" cy="3017"/>
          </a:xfrm>
        </p:grpSpPr>
        <p:sp>
          <p:nvSpPr>
            <p:cNvPr id="37894" name="Line 8"/>
            <p:cNvSpPr/>
            <p:nvPr/>
          </p:nvSpPr>
          <p:spPr>
            <a:xfrm>
              <a:off x="2989" y="12551"/>
              <a:ext cx="0" cy="143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895" name="Rectangle 9"/>
            <p:cNvSpPr/>
            <p:nvPr/>
          </p:nvSpPr>
          <p:spPr>
            <a:xfrm>
              <a:off x="4486" y="12547"/>
              <a:ext cx="563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000" dirty="0">
                  <a:latin typeface="宋体" panose="02010600030101010101" pitchFamily="2" charset="-122"/>
                </a:rPr>
                <a:t>′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7896" name="Rectangle 10"/>
            <p:cNvSpPr/>
            <p:nvPr/>
          </p:nvSpPr>
          <p:spPr>
            <a:xfrm>
              <a:off x="3670" y="13926"/>
              <a:ext cx="296" cy="40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S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7897" name="Rectangle 11"/>
            <p:cNvSpPr/>
            <p:nvPr/>
          </p:nvSpPr>
          <p:spPr>
            <a:xfrm>
              <a:off x="3645" y="11705"/>
              <a:ext cx="1929" cy="625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>
                <a:lnSpc>
                  <a:spcPct val="96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</a:rPr>
                <a:t>          </a:t>
              </a:r>
              <a:r>
                <a:rPr lang="en-US" altLang="zh-CN" sz="2000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 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algn="ctr">
                <a:lnSpc>
                  <a:spcPct val="96000"/>
                </a:lnSpc>
              </a:pPr>
              <a:r>
                <a:rPr lang="zh-CN" altLang="en-US" sz="1800" dirty="0">
                  <a:latin typeface="Times New Roman" panose="02020603050405020304" pitchFamily="18" charset="0"/>
                </a:rPr>
                <a:t>从触发器</a:t>
              </a:r>
              <a:endParaRPr lang="zh-CN" altLang="en-US" sz="1800" dirty="0">
                <a:latin typeface="Times New Roman" panose="02020603050405020304" pitchFamily="18" charset="0"/>
              </a:endParaRPr>
            </a:p>
            <a:p>
              <a:pPr algn="just">
                <a:lnSpc>
                  <a:spcPct val="96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 </a:t>
              </a: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algn="just">
                <a:lnSpc>
                  <a:spcPct val="96000"/>
                </a:lnSpc>
              </a:pP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algn="just">
                <a:lnSpc>
                  <a:spcPct val="96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dirty="0">
                  <a:latin typeface="宋体" panose="02010600030101010101" pitchFamily="2" charset="-122"/>
                </a:rPr>
                <a:t>′          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000" dirty="0">
                  <a:latin typeface="宋体" panose="02010600030101010101" pitchFamily="2" charset="-122"/>
                </a:rPr>
                <a:t>′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898" name="Group 12"/>
            <p:cNvGrpSpPr/>
            <p:nvPr/>
          </p:nvGrpSpPr>
          <p:grpSpPr>
            <a:xfrm>
              <a:off x="4535" y="12254"/>
              <a:ext cx="180" cy="70"/>
              <a:chOff x="3480" y="9360"/>
              <a:chExt cx="218" cy="105"/>
            </a:xfrm>
          </p:grpSpPr>
          <p:sp>
            <p:nvSpPr>
              <p:cNvPr id="37921" name="Line 13"/>
              <p:cNvSpPr/>
              <p:nvPr/>
            </p:nvSpPr>
            <p:spPr>
              <a:xfrm>
                <a:off x="3585" y="9363"/>
                <a:ext cx="113" cy="102"/>
              </a:xfrm>
              <a:prstGeom prst="line">
                <a:avLst/>
              </a:prstGeom>
              <a:ln w="9525" cap="flat" cmpd="sng">
                <a:solidFill>
                  <a:srgbClr val="3366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22" name="Line 14"/>
              <p:cNvSpPr/>
              <p:nvPr/>
            </p:nvSpPr>
            <p:spPr>
              <a:xfrm flipV="1">
                <a:off x="3480" y="9360"/>
                <a:ext cx="113" cy="102"/>
              </a:xfrm>
              <a:prstGeom prst="line">
                <a:avLst/>
              </a:prstGeom>
              <a:ln w="9525" cap="flat" cmpd="sng">
                <a:solidFill>
                  <a:srgbClr val="3366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899" name="Line 15"/>
            <p:cNvSpPr/>
            <p:nvPr/>
          </p:nvSpPr>
          <p:spPr>
            <a:xfrm>
              <a:off x="4621" y="12332"/>
              <a:ext cx="0" cy="213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0" name="Line 16"/>
            <p:cNvSpPr/>
            <p:nvPr/>
          </p:nvSpPr>
          <p:spPr>
            <a:xfrm>
              <a:off x="2989" y="12551"/>
              <a:ext cx="1632" cy="0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1" name="Oval 17"/>
            <p:cNvSpPr/>
            <p:nvPr/>
          </p:nvSpPr>
          <p:spPr>
            <a:xfrm>
              <a:off x="2965" y="12687"/>
              <a:ext cx="58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902" name="Rectangle 18"/>
            <p:cNvSpPr/>
            <p:nvPr/>
          </p:nvSpPr>
          <p:spPr>
            <a:xfrm>
              <a:off x="2692" y="12735"/>
              <a:ext cx="593" cy="305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>
                <a:lnSpc>
                  <a:spcPct val="96000"/>
                </a:lnSpc>
              </a:pPr>
              <a:r>
                <a:rPr lang="en-US" altLang="zh-CN" sz="1800" dirty="0">
                  <a:latin typeface="Times New Roman" panose="02020603050405020304" pitchFamily="18" charset="0"/>
                </a:rPr>
                <a:t>1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7903" name="Rectangle 19"/>
            <p:cNvSpPr/>
            <p:nvPr/>
          </p:nvSpPr>
          <p:spPr>
            <a:xfrm>
              <a:off x="3606" y="12945"/>
              <a:ext cx="1930" cy="626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>
                <a:lnSpc>
                  <a:spcPct val="96000"/>
                </a:lnSpc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         Q</a:t>
              </a:r>
              <a:r>
                <a:rPr lang="en-US" altLang="zh-CN" sz="2000" dirty="0">
                  <a:latin typeface="宋体" panose="02010600030101010101" pitchFamily="2" charset="-122"/>
                </a:rPr>
                <a:t>′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algn="ctr">
                <a:lnSpc>
                  <a:spcPct val="96000"/>
                </a:lnSpc>
              </a:pPr>
              <a:r>
                <a:rPr lang="zh-CN" altLang="en-US" sz="1800" dirty="0">
                  <a:latin typeface="Times New Roman" panose="02020603050405020304" pitchFamily="18" charset="0"/>
                </a:rPr>
                <a:t>主触发器</a:t>
              </a:r>
              <a:endParaRPr lang="zh-CN" altLang="en-US" sz="1800" dirty="0">
                <a:latin typeface="Times New Roman" panose="02020603050405020304" pitchFamily="18" charset="0"/>
              </a:endParaRPr>
            </a:p>
            <a:p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7904" name="Line 20"/>
            <p:cNvSpPr/>
            <p:nvPr/>
          </p:nvSpPr>
          <p:spPr>
            <a:xfrm flipH="1">
              <a:off x="4212" y="12328"/>
              <a:ext cx="1" cy="617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5" name="Line 21"/>
            <p:cNvSpPr/>
            <p:nvPr/>
          </p:nvSpPr>
          <p:spPr>
            <a:xfrm flipH="1">
              <a:off x="4930" y="12337"/>
              <a:ext cx="0" cy="604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906" name="Group 22"/>
            <p:cNvGrpSpPr/>
            <p:nvPr/>
          </p:nvGrpSpPr>
          <p:grpSpPr>
            <a:xfrm>
              <a:off x="4473" y="13495"/>
              <a:ext cx="180" cy="71"/>
              <a:chOff x="3480" y="9360"/>
              <a:chExt cx="218" cy="105"/>
            </a:xfrm>
          </p:grpSpPr>
          <p:sp>
            <p:nvSpPr>
              <p:cNvPr id="37919" name="Line 23"/>
              <p:cNvSpPr/>
              <p:nvPr/>
            </p:nvSpPr>
            <p:spPr>
              <a:xfrm>
                <a:off x="3585" y="9363"/>
                <a:ext cx="113" cy="102"/>
              </a:xfrm>
              <a:prstGeom prst="line">
                <a:avLst/>
              </a:prstGeom>
              <a:ln w="9525" cap="flat" cmpd="sng">
                <a:solidFill>
                  <a:srgbClr val="3366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20" name="Line 24"/>
              <p:cNvSpPr/>
              <p:nvPr/>
            </p:nvSpPr>
            <p:spPr>
              <a:xfrm flipV="1">
                <a:off x="3480" y="9360"/>
                <a:ext cx="113" cy="102"/>
              </a:xfrm>
              <a:prstGeom prst="line">
                <a:avLst/>
              </a:prstGeom>
              <a:ln w="9525" cap="flat" cmpd="sng">
                <a:solidFill>
                  <a:srgbClr val="3366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07" name="Line 25"/>
            <p:cNvSpPr/>
            <p:nvPr/>
          </p:nvSpPr>
          <p:spPr>
            <a:xfrm>
              <a:off x="3966" y="13580"/>
              <a:ext cx="0" cy="417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8" name="Line 26"/>
            <p:cNvSpPr/>
            <p:nvPr/>
          </p:nvSpPr>
          <p:spPr>
            <a:xfrm>
              <a:off x="4560" y="13570"/>
              <a:ext cx="0" cy="521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9" name="Line 27"/>
            <p:cNvSpPr/>
            <p:nvPr/>
          </p:nvSpPr>
          <p:spPr>
            <a:xfrm>
              <a:off x="5079" y="13594"/>
              <a:ext cx="0" cy="417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0" name="Line 28"/>
            <p:cNvSpPr/>
            <p:nvPr/>
          </p:nvSpPr>
          <p:spPr>
            <a:xfrm flipH="1">
              <a:off x="3000" y="13029"/>
              <a:ext cx="0" cy="795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1" name="Line 29"/>
            <p:cNvSpPr/>
            <p:nvPr/>
          </p:nvSpPr>
          <p:spPr>
            <a:xfrm>
              <a:off x="3002" y="13822"/>
              <a:ext cx="1533" cy="0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2" name="Oval 30"/>
            <p:cNvSpPr/>
            <p:nvPr/>
          </p:nvSpPr>
          <p:spPr>
            <a:xfrm>
              <a:off x="4531" y="13800"/>
              <a:ext cx="47" cy="5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913" name="Line 31"/>
            <p:cNvSpPr/>
            <p:nvPr/>
          </p:nvSpPr>
          <p:spPr>
            <a:xfrm>
              <a:off x="4943" y="11394"/>
              <a:ext cx="0" cy="313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4" name="Line 32"/>
            <p:cNvSpPr/>
            <p:nvPr/>
          </p:nvSpPr>
          <p:spPr>
            <a:xfrm>
              <a:off x="4263" y="11394"/>
              <a:ext cx="0" cy="313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5" name="Rectangle 33"/>
            <p:cNvSpPr/>
            <p:nvPr/>
          </p:nvSpPr>
          <p:spPr>
            <a:xfrm>
              <a:off x="4609" y="13951"/>
              <a:ext cx="297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CP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7916" name="Rectangle 34"/>
            <p:cNvSpPr/>
            <p:nvPr/>
          </p:nvSpPr>
          <p:spPr>
            <a:xfrm>
              <a:off x="5189" y="13883"/>
              <a:ext cx="296" cy="41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R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7917" name="Oval 35"/>
            <p:cNvSpPr/>
            <p:nvPr/>
          </p:nvSpPr>
          <p:spPr>
            <a:xfrm>
              <a:off x="4896" y="11599"/>
              <a:ext cx="96" cy="9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918" name="Oval 36"/>
            <p:cNvSpPr/>
            <p:nvPr/>
          </p:nvSpPr>
          <p:spPr>
            <a:xfrm>
              <a:off x="4880" y="12847"/>
              <a:ext cx="96" cy="9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7891" name="Text Box 50"/>
          <p:cNvSpPr txBox="1"/>
          <p:nvPr/>
        </p:nvSpPr>
        <p:spPr>
          <a:xfrm>
            <a:off x="1301750" y="4941888"/>
            <a:ext cx="27527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主从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6467" name="Text Box 51"/>
          <p:cNvSpPr txBox="1"/>
          <p:nvPr/>
        </p:nvSpPr>
        <p:spPr>
          <a:xfrm>
            <a:off x="5145088" y="633413"/>
            <a:ext cx="3611562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①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CP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时，主触发器按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b="1" i="1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变化</a:t>
            </a:r>
            <a:r>
              <a:rPr lang="zh-CN" altLang="en-US" b="1" i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而从触发器保持状态不变；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6468" name="Text Box 52"/>
          <p:cNvSpPr txBox="1"/>
          <p:nvPr/>
        </p:nvSpPr>
        <p:spPr>
          <a:xfrm>
            <a:off x="4960938" y="2557463"/>
            <a:ext cx="3916362" cy="265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②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CP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0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（下降沿），主触发器保持，从触发器随主触发器的状态翻转，故在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CP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的一个周期内，触发器的输出状态之可能改变一次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6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6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1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6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6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31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67" grpId="0"/>
      <p:bldP spid="31646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46" name="Rectangle 6"/>
          <p:cNvSpPr>
            <a:spLocks noChangeArrowheads="1"/>
          </p:cNvSpPr>
          <p:nvPr/>
        </p:nvSpPr>
        <p:spPr bwMode="auto">
          <a:xfrm>
            <a:off x="3995738" y="536575"/>
            <a:ext cx="16129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功能表：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pSp>
        <p:nvGrpSpPr>
          <p:cNvPr id="38915" name="Group 8"/>
          <p:cNvGrpSpPr>
            <a:grpSpLocks noChangeAspect="1"/>
          </p:cNvGrpSpPr>
          <p:nvPr/>
        </p:nvGrpSpPr>
        <p:grpSpPr>
          <a:xfrm>
            <a:off x="4067175" y="1135063"/>
            <a:ext cx="4835525" cy="5111750"/>
            <a:chOff x="2562" y="845"/>
            <a:chExt cx="3046" cy="3220"/>
          </a:xfrm>
        </p:grpSpPr>
        <p:sp>
          <p:nvSpPr>
            <p:cNvPr id="38947" name="AutoShape 7"/>
            <p:cNvSpPr>
              <a:spLocks noChangeAspect="1" noTextEdit="1"/>
            </p:cNvSpPr>
            <p:nvPr/>
          </p:nvSpPr>
          <p:spPr>
            <a:xfrm>
              <a:off x="2562" y="845"/>
              <a:ext cx="3046" cy="3220"/>
            </a:xfrm>
            <a:prstGeom prst="rect">
              <a:avLst/>
            </a:prstGeom>
            <a:noFill/>
            <a:ln w="57150" cap="flat" cmpd="thickThin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948" name="Rectangle 9"/>
            <p:cNvSpPr/>
            <p:nvPr/>
          </p:nvSpPr>
          <p:spPr>
            <a:xfrm>
              <a:off x="3057" y="949"/>
              <a:ext cx="93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49" name="Line 10"/>
            <p:cNvSpPr/>
            <p:nvPr/>
          </p:nvSpPr>
          <p:spPr>
            <a:xfrm>
              <a:off x="2933" y="1192"/>
              <a:ext cx="1250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0" name="Line 11"/>
            <p:cNvSpPr/>
            <p:nvPr/>
          </p:nvSpPr>
          <p:spPr>
            <a:xfrm>
              <a:off x="3870" y="879"/>
              <a:ext cx="0" cy="3125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1" name="Line 12"/>
            <p:cNvSpPr/>
            <p:nvPr/>
          </p:nvSpPr>
          <p:spPr>
            <a:xfrm>
              <a:off x="2933" y="4017"/>
              <a:ext cx="1250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2" name="Rectangle 13"/>
            <p:cNvSpPr/>
            <p:nvPr/>
          </p:nvSpPr>
          <p:spPr>
            <a:xfrm>
              <a:off x="3057" y="1561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53" name="Rectangle 14"/>
            <p:cNvSpPr/>
            <p:nvPr/>
          </p:nvSpPr>
          <p:spPr>
            <a:xfrm>
              <a:off x="3369" y="1561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54" name="Rectangle 15"/>
            <p:cNvSpPr/>
            <p:nvPr/>
          </p:nvSpPr>
          <p:spPr>
            <a:xfrm>
              <a:off x="4150" y="1561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55" name="Rectangle 16"/>
            <p:cNvSpPr/>
            <p:nvPr/>
          </p:nvSpPr>
          <p:spPr>
            <a:xfrm>
              <a:off x="3057" y="1874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56" name="Rectangle 17"/>
            <p:cNvSpPr/>
            <p:nvPr/>
          </p:nvSpPr>
          <p:spPr>
            <a:xfrm>
              <a:off x="3369" y="3123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57" name="Rectangle 18"/>
            <p:cNvSpPr/>
            <p:nvPr/>
          </p:nvSpPr>
          <p:spPr>
            <a:xfrm>
              <a:off x="3369" y="2186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58" name="Rectangle 19"/>
            <p:cNvSpPr/>
            <p:nvPr/>
          </p:nvSpPr>
          <p:spPr>
            <a:xfrm>
              <a:off x="3057" y="3123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59" name="Rectangle 20"/>
            <p:cNvSpPr/>
            <p:nvPr/>
          </p:nvSpPr>
          <p:spPr>
            <a:xfrm>
              <a:off x="3057" y="3436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60" name="Rectangle 21"/>
            <p:cNvSpPr/>
            <p:nvPr/>
          </p:nvSpPr>
          <p:spPr>
            <a:xfrm>
              <a:off x="3369" y="3436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61" name="Rectangle 22"/>
            <p:cNvSpPr/>
            <p:nvPr/>
          </p:nvSpPr>
          <p:spPr>
            <a:xfrm>
              <a:off x="3681" y="2811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62" name="Rectangle 23"/>
            <p:cNvSpPr/>
            <p:nvPr/>
          </p:nvSpPr>
          <p:spPr>
            <a:xfrm>
              <a:off x="3057" y="2186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63" name="Rectangle 24"/>
            <p:cNvSpPr/>
            <p:nvPr/>
          </p:nvSpPr>
          <p:spPr>
            <a:xfrm>
              <a:off x="3681" y="2186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64" name="Rectangle 25"/>
            <p:cNvSpPr/>
            <p:nvPr/>
          </p:nvSpPr>
          <p:spPr>
            <a:xfrm>
              <a:off x="3057" y="2499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65" name="Rectangle 26"/>
            <p:cNvSpPr/>
            <p:nvPr/>
          </p:nvSpPr>
          <p:spPr>
            <a:xfrm>
              <a:off x="3369" y="2811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66" name="Rectangle 27"/>
            <p:cNvSpPr/>
            <p:nvPr/>
          </p:nvSpPr>
          <p:spPr>
            <a:xfrm>
              <a:off x="3369" y="1874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67" name="Rectangle 28"/>
            <p:cNvSpPr/>
            <p:nvPr/>
          </p:nvSpPr>
          <p:spPr>
            <a:xfrm>
              <a:off x="3681" y="1561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68" name="Rectangle 29"/>
            <p:cNvSpPr/>
            <p:nvPr/>
          </p:nvSpPr>
          <p:spPr>
            <a:xfrm>
              <a:off x="3681" y="2499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69" name="Rectangle 30"/>
            <p:cNvSpPr/>
            <p:nvPr/>
          </p:nvSpPr>
          <p:spPr>
            <a:xfrm>
              <a:off x="3382" y="2499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70" name="Rectangle 31"/>
            <p:cNvSpPr/>
            <p:nvPr/>
          </p:nvSpPr>
          <p:spPr>
            <a:xfrm>
              <a:off x="3681" y="1874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71" name="Rectangle 32"/>
            <p:cNvSpPr/>
            <p:nvPr/>
          </p:nvSpPr>
          <p:spPr>
            <a:xfrm>
              <a:off x="3681" y="3123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72" name="Rectangle 33"/>
            <p:cNvSpPr/>
            <p:nvPr/>
          </p:nvSpPr>
          <p:spPr>
            <a:xfrm>
              <a:off x="3044" y="2811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73" name="Rectangle 34"/>
            <p:cNvSpPr/>
            <p:nvPr/>
          </p:nvSpPr>
          <p:spPr>
            <a:xfrm>
              <a:off x="3668" y="3748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74" name="Line 35"/>
            <p:cNvSpPr/>
            <p:nvPr/>
          </p:nvSpPr>
          <p:spPr>
            <a:xfrm>
              <a:off x="4173" y="1192"/>
              <a:ext cx="312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5" name="Line 36"/>
            <p:cNvSpPr/>
            <p:nvPr/>
          </p:nvSpPr>
          <p:spPr>
            <a:xfrm>
              <a:off x="4143" y="4017"/>
              <a:ext cx="938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6" name="Rectangle 37"/>
            <p:cNvSpPr/>
            <p:nvPr/>
          </p:nvSpPr>
          <p:spPr>
            <a:xfrm>
              <a:off x="3356" y="3748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77" name="Rectangle 38"/>
            <p:cNvSpPr/>
            <p:nvPr/>
          </p:nvSpPr>
          <p:spPr>
            <a:xfrm>
              <a:off x="3057" y="3748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78" name="Rectangle 39"/>
            <p:cNvSpPr/>
            <p:nvPr/>
          </p:nvSpPr>
          <p:spPr>
            <a:xfrm>
              <a:off x="3681" y="3436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79" name="Rectangle 40"/>
            <p:cNvSpPr/>
            <p:nvPr/>
          </p:nvSpPr>
          <p:spPr>
            <a:xfrm>
              <a:off x="4150" y="2499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80" name="Rectangle 41"/>
            <p:cNvSpPr/>
            <p:nvPr/>
          </p:nvSpPr>
          <p:spPr>
            <a:xfrm>
              <a:off x="3369" y="949"/>
              <a:ext cx="11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81" name="Rectangle 42"/>
            <p:cNvSpPr/>
            <p:nvPr/>
          </p:nvSpPr>
          <p:spPr>
            <a:xfrm>
              <a:off x="4150" y="2186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82" name="Rectangle 43"/>
            <p:cNvSpPr/>
            <p:nvPr/>
          </p:nvSpPr>
          <p:spPr>
            <a:xfrm>
              <a:off x="4137" y="2811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83" name="Rectangle 44"/>
            <p:cNvSpPr/>
            <p:nvPr/>
          </p:nvSpPr>
          <p:spPr>
            <a:xfrm>
              <a:off x="4137" y="3123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84" name="Rectangle 45"/>
            <p:cNvSpPr/>
            <p:nvPr/>
          </p:nvSpPr>
          <p:spPr>
            <a:xfrm>
              <a:off x="4137" y="1874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85" name="Rectangle 46"/>
            <p:cNvSpPr/>
            <p:nvPr/>
          </p:nvSpPr>
          <p:spPr>
            <a:xfrm>
              <a:off x="3629" y="962"/>
              <a:ext cx="121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86" name="Rectangle 47"/>
            <p:cNvSpPr/>
            <p:nvPr/>
          </p:nvSpPr>
          <p:spPr>
            <a:xfrm>
              <a:off x="4033" y="962"/>
              <a:ext cx="121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87" name="Rectangle 48"/>
            <p:cNvSpPr/>
            <p:nvPr/>
          </p:nvSpPr>
          <p:spPr>
            <a:xfrm>
              <a:off x="4163" y="949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88" name="Rectangle 49"/>
            <p:cNvSpPr/>
            <p:nvPr/>
          </p:nvSpPr>
          <p:spPr>
            <a:xfrm>
              <a:off x="4137" y="3436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89" name="Rectangle 50"/>
            <p:cNvSpPr/>
            <p:nvPr/>
          </p:nvSpPr>
          <p:spPr>
            <a:xfrm>
              <a:off x="4215" y="3358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90" name="Rectangle 51"/>
            <p:cNvSpPr/>
            <p:nvPr/>
          </p:nvSpPr>
          <p:spPr>
            <a:xfrm>
              <a:off x="4137" y="3748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91" name="Rectangle 52"/>
            <p:cNvSpPr/>
            <p:nvPr/>
          </p:nvSpPr>
          <p:spPr>
            <a:xfrm>
              <a:off x="4215" y="3670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92" name="Rectangle 53"/>
            <p:cNvSpPr/>
            <p:nvPr/>
          </p:nvSpPr>
          <p:spPr>
            <a:xfrm>
              <a:off x="4544" y="1462"/>
              <a:ext cx="238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6200" dirty="0">
                  <a:solidFill>
                    <a:srgbClr val="000000"/>
                  </a:solidFill>
                  <a:latin typeface="Symbol" panose="05050102010706020507" pitchFamily="18" charset="2"/>
                </a:rPr>
                <a:t>}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93" name="Line 54"/>
            <p:cNvSpPr/>
            <p:nvPr/>
          </p:nvSpPr>
          <p:spPr>
            <a:xfrm>
              <a:off x="4417" y="1192"/>
              <a:ext cx="625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4" name="Line 55"/>
            <p:cNvSpPr/>
            <p:nvPr/>
          </p:nvSpPr>
          <p:spPr>
            <a:xfrm>
              <a:off x="4485" y="879"/>
              <a:ext cx="0" cy="3125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5" name="Rectangle 56"/>
            <p:cNvSpPr/>
            <p:nvPr/>
          </p:nvSpPr>
          <p:spPr>
            <a:xfrm>
              <a:off x="4593" y="962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说明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996" name="Rectangle 57"/>
            <p:cNvSpPr/>
            <p:nvPr/>
          </p:nvSpPr>
          <p:spPr>
            <a:xfrm>
              <a:off x="4671" y="1730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储存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997" name="Rectangle 58"/>
            <p:cNvSpPr/>
            <p:nvPr/>
          </p:nvSpPr>
          <p:spPr>
            <a:xfrm>
              <a:off x="4544" y="2087"/>
              <a:ext cx="238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6200" dirty="0">
                  <a:solidFill>
                    <a:srgbClr val="000000"/>
                  </a:solidFill>
                  <a:latin typeface="Symbol" panose="05050102010706020507" pitchFamily="18" charset="2"/>
                </a:rPr>
                <a:t>}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8998" name="Rectangle 59"/>
            <p:cNvSpPr/>
            <p:nvPr/>
          </p:nvSpPr>
          <p:spPr>
            <a:xfrm>
              <a:off x="4658" y="2355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置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999" name="Rectangle 60"/>
            <p:cNvSpPr/>
            <p:nvPr/>
          </p:nvSpPr>
          <p:spPr>
            <a:xfrm>
              <a:off x="4840" y="2342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00" name="Rectangle 61"/>
            <p:cNvSpPr/>
            <p:nvPr/>
          </p:nvSpPr>
          <p:spPr>
            <a:xfrm>
              <a:off x="4918" y="2342"/>
              <a:ext cx="56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01" name="Rectangle 62"/>
            <p:cNvSpPr/>
            <p:nvPr/>
          </p:nvSpPr>
          <p:spPr>
            <a:xfrm>
              <a:off x="4983" y="2355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复位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002" name="Rectangle 63"/>
            <p:cNvSpPr/>
            <p:nvPr/>
          </p:nvSpPr>
          <p:spPr>
            <a:xfrm>
              <a:off x="5321" y="2355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）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003" name="Rectangle 64"/>
            <p:cNvSpPr/>
            <p:nvPr/>
          </p:nvSpPr>
          <p:spPr>
            <a:xfrm>
              <a:off x="4544" y="2711"/>
              <a:ext cx="238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6200" dirty="0">
                  <a:solidFill>
                    <a:srgbClr val="000000"/>
                  </a:solidFill>
                  <a:latin typeface="Symbol" panose="05050102010706020507" pitchFamily="18" charset="2"/>
                </a:rPr>
                <a:t>}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04" name="Rectangle 65"/>
            <p:cNvSpPr/>
            <p:nvPr/>
          </p:nvSpPr>
          <p:spPr>
            <a:xfrm>
              <a:off x="4658" y="2980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置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005" name="Rectangle 66"/>
            <p:cNvSpPr/>
            <p:nvPr/>
          </p:nvSpPr>
          <p:spPr>
            <a:xfrm>
              <a:off x="4840" y="2967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06" name="Rectangle 67"/>
            <p:cNvSpPr/>
            <p:nvPr/>
          </p:nvSpPr>
          <p:spPr>
            <a:xfrm>
              <a:off x="4918" y="2967"/>
              <a:ext cx="56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07" name="Rectangle 68"/>
            <p:cNvSpPr/>
            <p:nvPr/>
          </p:nvSpPr>
          <p:spPr>
            <a:xfrm>
              <a:off x="4983" y="2980"/>
              <a:ext cx="33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置位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008" name="Rectangle 69"/>
            <p:cNvSpPr/>
            <p:nvPr/>
          </p:nvSpPr>
          <p:spPr>
            <a:xfrm>
              <a:off x="5321" y="2980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）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009" name="Rectangle 70"/>
            <p:cNvSpPr/>
            <p:nvPr/>
          </p:nvSpPr>
          <p:spPr>
            <a:xfrm>
              <a:off x="4531" y="3336"/>
              <a:ext cx="238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6200" dirty="0">
                  <a:solidFill>
                    <a:srgbClr val="000000"/>
                  </a:solidFill>
                  <a:latin typeface="Symbol" panose="05050102010706020507" pitchFamily="18" charset="2"/>
                </a:rPr>
                <a:t>}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10" name="Rectangle 71"/>
            <p:cNvSpPr/>
            <p:nvPr/>
          </p:nvSpPr>
          <p:spPr>
            <a:xfrm>
              <a:off x="4658" y="3605"/>
              <a:ext cx="50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不定态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011" name="Freeform 72"/>
            <p:cNvSpPr/>
            <p:nvPr/>
          </p:nvSpPr>
          <p:spPr>
            <a:xfrm>
              <a:off x="2660" y="893"/>
              <a:ext cx="312" cy="3124"/>
            </a:xfrm>
            <a:custGeom>
              <a:avLst/>
              <a:gdLst>
                <a:gd name="txL" fmla="*/ 0 w 312"/>
                <a:gd name="txT" fmla="*/ 0 h 3124"/>
                <a:gd name="txR" fmla="*/ 312 w 312"/>
                <a:gd name="txB" fmla="*/ 3124 h 3124"/>
              </a:gdLst>
              <a:ahLst/>
              <a:cxnLst>
                <a:cxn ang="0">
                  <a:pos x="312" y="0"/>
                </a:cxn>
                <a:cxn ang="0">
                  <a:pos x="312" y="3124"/>
                </a:cxn>
                <a:cxn ang="0">
                  <a:pos x="0" y="3124"/>
                </a:cxn>
              </a:cxnLst>
              <a:rect l="txL" t="txT" r="txR" b="txB"/>
              <a:pathLst>
                <a:path w="312" h="3124">
                  <a:moveTo>
                    <a:pt x="312" y="0"/>
                  </a:moveTo>
                  <a:lnTo>
                    <a:pt x="312" y="3124"/>
                  </a:lnTo>
                  <a:lnTo>
                    <a:pt x="0" y="3124"/>
                  </a:lnTo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12" name="Line 73"/>
            <p:cNvSpPr/>
            <p:nvPr/>
          </p:nvSpPr>
          <p:spPr>
            <a:xfrm flipH="1">
              <a:off x="2621" y="1192"/>
              <a:ext cx="312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3" name="Rectangle 74"/>
            <p:cNvSpPr/>
            <p:nvPr/>
          </p:nvSpPr>
          <p:spPr>
            <a:xfrm>
              <a:off x="2666" y="962"/>
              <a:ext cx="9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8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14" name="Rectangle 75"/>
            <p:cNvSpPr/>
            <p:nvPr/>
          </p:nvSpPr>
          <p:spPr>
            <a:xfrm>
              <a:off x="2757" y="962"/>
              <a:ext cx="88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8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15" name="Rectangle 76"/>
            <p:cNvSpPr/>
            <p:nvPr/>
          </p:nvSpPr>
          <p:spPr>
            <a:xfrm>
              <a:off x="2692" y="1249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×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16" name="Rectangle 77"/>
            <p:cNvSpPr/>
            <p:nvPr/>
          </p:nvSpPr>
          <p:spPr>
            <a:xfrm>
              <a:off x="3590" y="1249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×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17" name="Rectangle 78"/>
            <p:cNvSpPr/>
            <p:nvPr/>
          </p:nvSpPr>
          <p:spPr>
            <a:xfrm>
              <a:off x="3044" y="1262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×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18" name="Rectangle 79"/>
            <p:cNvSpPr/>
            <p:nvPr/>
          </p:nvSpPr>
          <p:spPr>
            <a:xfrm>
              <a:off x="3317" y="1249"/>
              <a:ext cx="16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×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19" name="Rectangle 80"/>
            <p:cNvSpPr/>
            <p:nvPr/>
          </p:nvSpPr>
          <p:spPr>
            <a:xfrm>
              <a:off x="4501" y="1262"/>
              <a:ext cx="676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1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保持原态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020" name="Rectangle 81"/>
            <p:cNvSpPr/>
            <p:nvPr/>
          </p:nvSpPr>
          <p:spPr>
            <a:xfrm>
              <a:off x="4098" y="1236"/>
              <a:ext cx="121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021" name="Line 82"/>
            <p:cNvSpPr/>
            <p:nvPr/>
          </p:nvSpPr>
          <p:spPr>
            <a:xfrm>
              <a:off x="2660" y="1777"/>
              <a:ext cx="39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2" name="Freeform 83"/>
            <p:cNvSpPr/>
            <p:nvPr/>
          </p:nvSpPr>
          <p:spPr>
            <a:xfrm>
              <a:off x="2699" y="1582"/>
              <a:ext cx="195" cy="195"/>
            </a:xfrm>
            <a:custGeom>
              <a:avLst/>
              <a:gdLst>
                <a:gd name="txL" fmla="*/ 0 w 195"/>
                <a:gd name="txT" fmla="*/ 0 h 195"/>
                <a:gd name="txR" fmla="*/ 195 w 195"/>
                <a:gd name="txB" fmla="*/ 195 h 195"/>
              </a:gdLst>
              <a:ahLst/>
              <a:cxnLst>
                <a:cxn ang="0">
                  <a:pos x="0" y="195"/>
                </a:cxn>
                <a:cxn ang="0">
                  <a:pos x="0" y="0"/>
                </a:cxn>
                <a:cxn ang="0">
                  <a:pos x="156" y="0"/>
                </a:cxn>
                <a:cxn ang="0">
                  <a:pos x="156" y="195"/>
                </a:cxn>
                <a:cxn ang="0">
                  <a:pos x="195" y="195"/>
                </a:cxn>
              </a:cxnLst>
              <a:rect l="txL" t="txT" r="txR" b="txB"/>
              <a:pathLst>
                <a:path w="195" h="195">
                  <a:moveTo>
                    <a:pt x="0" y="195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95"/>
                  </a:lnTo>
                  <a:lnTo>
                    <a:pt x="195" y="195"/>
                  </a:lnTo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23" name="Freeform 84"/>
            <p:cNvSpPr/>
            <p:nvPr/>
          </p:nvSpPr>
          <p:spPr>
            <a:xfrm>
              <a:off x="2816" y="1660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24" name="Freeform 85"/>
            <p:cNvSpPr/>
            <p:nvPr/>
          </p:nvSpPr>
          <p:spPr>
            <a:xfrm>
              <a:off x="2816" y="1660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25" name="Line 86"/>
            <p:cNvSpPr/>
            <p:nvPr/>
          </p:nvSpPr>
          <p:spPr>
            <a:xfrm>
              <a:off x="2660" y="2090"/>
              <a:ext cx="39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6" name="Freeform 87"/>
            <p:cNvSpPr/>
            <p:nvPr/>
          </p:nvSpPr>
          <p:spPr>
            <a:xfrm>
              <a:off x="2699" y="1895"/>
              <a:ext cx="195" cy="195"/>
            </a:xfrm>
            <a:custGeom>
              <a:avLst/>
              <a:gdLst>
                <a:gd name="txL" fmla="*/ 0 w 195"/>
                <a:gd name="txT" fmla="*/ 0 h 195"/>
                <a:gd name="txR" fmla="*/ 195 w 195"/>
                <a:gd name="txB" fmla="*/ 195 h 195"/>
              </a:gdLst>
              <a:ahLst/>
              <a:cxnLst>
                <a:cxn ang="0">
                  <a:pos x="0" y="195"/>
                </a:cxn>
                <a:cxn ang="0">
                  <a:pos x="0" y="0"/>
                </a:cxn>
                <a:cxn ang="0">
                  <a:pos x="156" y="0"/>
                </a:cxn>
                <a:cxn ang="0">
                  <a:pos x="156" y="195"/>
                </a:cxn>
                <a:cxn ang="0">
                  <a:pos x="195" y="195"/>
                </a:cxn>
              </a:cxnLst>
              <a:rect l="txL" t="txT" r="txR" b="txB"/>
              <a:pathLst>
                <a:path w="195" h="195">
                  <a:moveTo>
                    <a:pt x="0" y="195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95"/>
                  </a:lnTo>
                  <a:lnTo>
                    <a:pt x="195" y="195"/>
                  </a:lnTo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27" name="Freeform 88"/>
            <p:cNvSpPr/>
            <p:nvPr/>
          </p:nvSpPr>
          <p:spPr>
            <a:xfrm>
              <a:off x="2816" y="1973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28" name="Freeform 89"/>
            <p:cNvSpPr/>
            <p:nvPr/>
          </p:nvSpPr>
          <p:spPr>
            <a:xfrm>
              <a:off x="2816" y="1973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29" name="Line 90"/>
            <p:cNvSpPr/>
            <p:nvPr/>
          </p:nvSpPr>
          <p:spPr>
            <a:xfrm>
              <a:off x="2660" y="2402"/>
              <a:ext cx="39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0" name="Freeform 91"/>
            <p:cNvSpPr/>
            <p:nvPr/>
          </p:nvSpPr>
          <p:spPr>
            <a:xfrm>
              <a:off x="2699" y="2207"/>
              <a:ext cx="195" cy="195"/>
            </a:xfrm>
            <a:custGeom>
              <a:avLst/>
              <a:gdLst>
                <a:gd name="txL" fmla="*/ 0 w 195"/>
                <a:gd name="txT" fmla="*/ 0 h 195"/>
                <a:gd name="txR" fmla="*/ 195 w 195"/>
                <a:gd name="txB" fmla="*/ 195 h 195"/>
              </a:gdLst>
              <a:ahLst/>
              <a:cxnLst>
                <a:cxn ang="0">
                  <a:pos x="0" y="195"/>
                </a:cxn>
                <a:cxn ang="0">
                  <a:pos x="0" y="0"/>
                </a:cxn>
                <a:cxn ang="0">
                  <a:pos x="156" y="0"/>
                </a:cxn>
                <a:cxn ang="0">
                  <a:pos x="156" y="195"/>
                </a:cxn>
                <a:cxn ang="0">
                  <a:pos x="195" y="195"/>
                </a:cxn>
              </a:cxnLst>
              <a:rect l="txL" t="txT" r="txR" b="txB"/>
              <a:pathLst>
                <a:path w="195" h="195">
                  <a:moveTo>
                    <a:pt x="0" y="195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95"/>
                  </a:lnTo>
                  <a:lnTo>
                    <a:pt x="195" y="195"/>
                  </a:lnTo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31" name="Freeform 92"/>
            <p:cNvSpPr/>
            <p:nvPr/>
          </p:nvSpPr>
          <p:spPr>
            <a:xfrm>
              <a:off x="2816" y="2285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32" name="Freeform 93"/>
            <p:cNvSpPr/>
            <p:nvPr/>
          </p:nvSpPr>
          <p:spPr>
            <a:xfrm>
              <a:off x="2816" y="2285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33" name="Line 94"/>
            <p:cNvSpPr/>
            <p:nvPr/>
          </p:nvSpPr>
          <p:spPr>
            <a:xfrm>
              <a:off x="2660" y="2715"/>
              <a:ext cx="39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4" name="Freeform 95"/>
            <p:cNvSpPr/>
            <p:nvPr/>
          </p:nvSpPr>
          <p:spPr>
            <a:xfrm>
              <a:off x="2699" y="2520"/>
              <a:ext cx="195" cy="195"/>
            </a:xfrm>
            <a:custGeom>
              <a:avLst/>
              <a:gdLst>
                <a:gd name="txL" fmla="*/ 0 w 195"/>
                <a:gd name="txT" fmla="*/ 0 h 195"/>
                <a:gd name="txR" fmla="*/ 195 w 195"/>
                <a:gd name="txB" fmla="*/ 195 h 195"/>
              </a:gdLst>
              <a:ahLst/>
              <a:cxnLst>
                <a:cxn ang="0">
                  <a:pos x="0" y="195"/>
                </a:cxn>
                <a:cxn ang="0">
                  <a:pos x="0" y="0"/>
                </a:cxn>
                <a:cxn ang="0">
                  <a:pos x="156" y="0"/>
                </a:cxn>
                <a:cxn ang="0">
                  <a:pos x="156" y="195"/>
                </a:cxn>
                <a:cxn ang="0">
                  <a:pos x="195" y="195"/>
                </a:cxn>
              </a:cxnLst>
              <a:rect l="txL" t="txT" r="txR" b="txB"/>
              <a:pathLst>
                <a:path w="195" h="195">
                  <a:moveTo>
                    <a:pt x="0" y="195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95"/>
                  </a:lnTo>
                  <a:lnTo>
                    <a:pt x="195" y="195"/>
                  </a:lnTo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35" name="Freeform 96"/>
            <p:cNvSpPr/>
            <p:nvPr/>
          </p:nvSpPr>
          <p:spPr>
            <a:xfrm>
              <a:off x="2816" y="2598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36" name="Freeform 97"/>
            <p:cNvSpPr/>
            <p:nvPr/>
          </p:nvSpPr>
          <p:spPr>
            <a:xfrm>
              <a:off x="2816" y="2598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37" name="Line 98"/>
            <p:cNvSpPr/>
            <p:nvPr/>
          </p:nvSpPr>
          <p:spPr>
            <a:xfrm>
              <a:off x="2660" y="3027"/>
              <a:ext cx="39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8" name="Freeform 99"/>
            <p:cNvSpPr/>
            <p:nvPr/>
          </p:nvSpPr>
          <p:spPr>
            <a:xfrm>
              <a:off x="2699" y="2832"/>
              <a:ext cx="195" cy="195"/>
            </a:xfrm>
            <a:custGeom>
              <a:avLst/>
              <a:gdLst>
                <a:gd name="txL" fmla="*/ 0 w 195"/>
                <a:gd name="txT" fmla="*/ 0 h 195"/>
                <a:gd name="txR" fmla="*/ 195 w 195"/>
                <a:gd name="txB" fmla="*/ 195 h 195"/>
              </a:gdLst>
              <a:ahLst/>
              <a:cxnLst>
                <a:cxn ang="0">
                  <a:pos x="0" y="195"/>
                </a:cxn>
                <a:cxn ang="0">
                  <a:pos x="0" y="0"/>
                </a:cxn>
                <a:cxn ang="0">
                  <a:pos x="156" y="0"/>
                </a:cxn>
                <a:cxn ang="0">
                  <a:pos x="156" y="195"/>
                </a:cxn>
                <a:cxn ang="0">
                  <a:pos x="195" y="195"/>
                </a:cxn>
              </a:cxnLst>
              <a:rect l="txL" t="txT" r="txR" b="txB"/>
              <a:pathLst>
                <a:path w="195" h="195">
                  <a:moveTo>
                    <a:pt x="0" y="195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95"/>
                  </a:lnTo>
                  <a:lnTo>
                    <a:pt x="195" y="195"/>
                  </a:lnTo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39" name="Freeform 100"/>
            <p:cNvSpPr/>
            <p:nvPr/>
          </p:nvSpPr>
          <p:spPr>
            <a:xfrm>
              <a:off x="2816" y="2910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40" name="Freeform 101"/>
            <p:cNvSpPr/>
            <p:nvPr/>
          </p:nvSpPr>
          <p:spPr>
            <a:xfrm>
              <a:off x="2816" y="2910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41" name="Line 102"/>
            <p:cNvSpPr/>
            <p:nvPr/>
          </p:nvSpPr>
          <p:spPr>
            <a:xfrm>
              <a:off x="2660" y="3340"/>
              <a:ext cx="39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42" name="Freeform 103"/>
            <p:cNvSpPr/>
            <p:nvPr/>
          </p:nvSpPr>
          <p:spPr>
            <a:xfrm>
              <a:off x="2699" y="3144"/>
              <a:ext cx="195" cy="196"/>
            </a:xfrm>
            <a:custGeom>
              <a:avLst/>
              <a:gdLst>
                <a:gd name="txL" fmla="*/ 0 w 195"/>
                <a:gd name="txT" fmla="*/ 0 h 196"/>
                <a:gd name="txR" fmla="*/ 195 w 195"/>
                <a:gd name="txB" fmla="*/ 196 h 196"/>
              </a:gdLst>
              <a:ahLst/>
              <a:cxnLst>
                <a:cxn ang="0">
                  <a:pos x="0" y="196"/>
                </a:cxn>
                <a:cxn ang="0">
                  <a:pos x="0" y="0"/>
                </a:cxn>
                <a:cxn ang="0">
                  <a:pos x="156" y="0"/>
                </a:cxn>
                <a:cxn ang="0">
                  <a:pos x="156" y="196"/>
                </a:cxn>
                <a:cxn ang="0">
                  <a:pos x="195" y="196"/>
                </a:cxn>
              </a:cxnLst>
              <a:rect l="txL" t="txT" r="txR" b="txB"/>
              <a:pathLst>
                <a:path w="195" h="196">
                  <a:moveTo>
                    <a:pt x="0" y="196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96"/>
                  </a:lnTo>
                  <a:lnTo>
                    <a:pt x="195" y="196"/>
                  </a:lnTo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43" name="Freeform 104"/>
            <p:cNvSpPr/>
            <p:nvPr/>
          </p:nvSpPr>
          <p:spPr>
            <a:xfrm>
              <a:off x="2816" y="3223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44" name="Freeform 105"/>
            <p:cNvSpPr/>
            <p:nvPr/>
          </p:nvSpPr>
          <p:spPr>
            <a:xfrm>
              <a:off x="2816" y="3223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45" name="Line 106"/>
            <p:cNvSpPr/>
            <p:nvPr/>
          </p:nvSpPr>
          <p:spPr>
            <a:xfrm>
              <a:off x="2660" y="3652"/>
              <a:ext cx="39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46" name="Freeform 107"/>
            <p:cNvSpPr/>
            <p:nvPr/>
          </p:nvSpPr>
          <p:spPr>
            <a:xfrm>
              <a:off x="2699" y="3457"/>
              <a:ext cx="195" cy="195"/>
            </a:xfrm>
            <a:custGeom>
              <a:avLst/>
              <a:gdLst>
                <a:gd name="txL" fmla="*/ 0 w 195"/>
                <a:gd name="txT" fmla="*/ 0 h 195"/>
                <a:gd name="txR" fmla="*/ 195 w 195"/>
                <a:gd name="txB" fmla="*/ 195 h 195"/>
              </a:gdLst>
              <a:ahLst/>
              <a:cxnLst>
                <a:cxn ang="0">
                  <a:pos x="0" y="195"/>
                </a:cxn>
                <a:cxn ang="0">
                  <a:pos x="0" y="0"/>
                </a:cxn>
                <a:cxn ang="0">
                  <a:pos x="156" y="0"/>
                </a:cxn>
                <a:cxn ang="0">
                  <a:pos x="156" y="195"/>
                </a:cxn>
                <a:cxn ang="0">
                  <a:pos x="195" y="195"/>
                </a:cxn>
              </a:cxnLst>
              <a:rect l="txL" t="txT" r="txR" b="txB"/>
              <a:pathLst>
                <a:path w="195" h="195">
                  <a:moveTo>
                    <a:pt x="0" y="195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95"/>
                  </a:lnTo>
                  <a:lnTo>
                    <a:pt x="195" y="195"/>
                  </a:lnTo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47" name="Freeform 108"/>
            <p:cNvSpPr/>
            <p:nvPr/>
          </p:nvSpPr>
          <p:spPr>
            <a:xfrm>
              <a:off x="2816" y="3535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48" name="Freeform 109"/>
            <p:cNvSpPr/>
            <p:nvPr/>
          </p:nvSpPr>
          <p:spPr>
            <a:xfrm>
              <a:off x="2816" y="3535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39" y="78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8">
                  <a:moveTo>
                    <a:pt x="0" y="0"/>
                  </a:moveTo>
                  <a:lnTo>
                    <a:pt x="39" y="78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49" name="Line 110"/>
            <p:cNvSpPr/>
            <p:nvPr/>
          </p:nvSpPr>
          <p:spPr>
            <a:xfrm>
              <a:off x="2660" y="3965"/>
              <a:ext cx="39" cy="0"/>
            </a:xfrm>
            <a:prstGeom prst="line">
              <a:avLst/>
            </a:prstGeom>
            <a:ln w="33338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50" name="Freeform 111"/>
            <p:cNvSpPr/>
            <p:nvPr/>
          </p:nvSpPr>
          <p:spPr>
            <a:xfrm>
              <a:off x="2699" y="3769"/>
              <a:ext cx="195" cy="196"/>
            </a:xfrm>
            <a:custGeom>
              <a:avLst/>
              <a:gdLst>
                <a:gd name="txL" fmla="*/ 0 w 195"/>
                <a:gd name="txT" fmla="*/ 0 h 196"/>
                <a:gd name="txR" fmla="*/ 195 w 195"/>
                <a:gd name="txB" fmla="*/ 196 h 196"/>
              </a:gdLst>
              <a:ahLst/>
              <a:cxnLst>
                <a:cxn ang="0">
                  <a:pos x="0" y="196"/>
                </a:cxn>
                <a:cxn ang="0">
                  <a:pos x="0" y="0"/>
                </a:cxn>
                <a:cxn ang="0">
                  <a:pos x="156" y="0"/>
                </a:cxn>
                <a:cxn ang="0">
                  <a:pos x="156" y="196"/>
                </a:cxn>
                <a:cxn ang="0">
                  <a:pos x="195" y="196"/>
                </a:cxn>
              </a:cxnLst>
              <a:rect l="txL" t="txT" r="txR" b="txB"/>
              <a:pathLst>
                <a:path w="195" h="196">
                  <a:moveTo>
                    <a:pt x="0" y="196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96"/>
                  </a:lnTo>
                  <a:lnTo>
                    <a:pt x="195" y="196"/>
                  </a:lnTo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51" name="Freeform 112"/>
            <p:cNvSpPr/>
            <p:nvPr/>
          </p:nvSpPr>
          <p:spPr>
            <a:xfrm>
              <a:off x="2816" y="3847"/>
              <a:ext cx="78" cy="79"/>
            </a:xfrm>
            <a:custGeom>
              <a:avLst/>
              <a:gdLst>
                <a:gd name="txL" fmla="*/ 0 w 78"/>
                <a:gd name="txT" fmla="*/ 0 h 79"/>
                <a:gd name="txR" fmla="*/ 78 w 78"/>
                <a:gd name="txB" fmla="*/ 79 h 79"/>
              </a:gdLst>
              <a:ahLst/>
              <a:cxnLst>
                <a:cxn ang="0">
                  <a:pos x="0" y="0"/>
                </a:cxn>
                <a:cxn ang="0">
                  <a:pos x="39" y="79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9">
                  <a:moveTo>
                    <a:pt x="0" y="0"/>
                  </a:moveTo>
                  <a:lnTo>
                    <a:pt x="39" y="79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052" name="Freeform 113"/>
            <p:cNvSpPr/>
            <p:nvPr/>
          </p:nvSpPr>
          <p:spPr>
            <a:xfrm>
              <a:off x="2816" y="3847"/>
              <a:ext cx="78" cy="79"/>
            </a:xfrm>
            <a:custGeom>
              <a:avLst/>
              <a:gdLst>
                <a:gd name="txL" fmla="*/ 0 w 78"/>
                <a:gd name="txT" fmla="*/ 0 h 79"/>
                <a:gd name="txR" fmla="*/ 78 w 78"/>
                <a:gd name="txB" fmla="*/ 79 h 79"/>
              </a:gdLst>
              <a:ahLst/>
              <a:cxnLst>
                <a:cxn ang="0">
                  <a:pos x="0" y="0"/>
                </a:cxn>
                <a:cxn ang="0">
                  <a:pos x="39" y="79"/>
                </a:cxn>
                <a:cxn ang="0">
                  <a:pos x="78" y="0"/>
                </a:cxn>
                <a:cxn ang="0">
                  <a:pos x="0" y="0"/>
                </a:cxn>
              </a:cxnLst>
              <a:rect l="txL" t="txT" r="txR" b="txB"/>
              <a:pathLst>
                <a:path w="78" h="79">
                  <a:moveTo>
                    <a:pt x="0" y="0"/>
                  </a:moveTo>
                  <a:lnTo>
                    <a:pt x="39" y="79"/>
                  </a:lnTo>
                  <a:lnTo>
                    <a:pt x="7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3338" cap="rnd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8916" name="Group 114"/>
          <p:cNvGrpSpPr/>
          <p:nvPr/>
        </p:nvGrpSpPr>
        <p:grpSpPr>
          <a:xfrm>
            <a:off x="46038" y="966788"/>
            <a:ext cx="3854450" cy="3895725"/>
            <a:chOff x="2692" y="11394"/>
            <a:chExt cx="2882" cy="3017"/>
          </a:xfrm>
        </p:grpSpPr>
        <p:sp>
          <p:nvSpPr>
            <p:cNvPr id="38918" name="Line 115"/>
            <p:cNvSpPr/>
            <p:nvPr/>
          </p:nvSpPr>
          <p:spPr>
            <a:xfrm>
              <a:off x="2989" y="12551"/>
              <a:ext cx="0" cy="143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9" name="Rectangle 116"/>
            <p:cNvSpPr/>
            <p:nvPr/>
          </p:nvSpPr>
          <p:spPr>
            <a:xfrm>
              <a:off x="4486" y="12547"/>
              <a:ext cx="563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000" dirty="0">
                  <a:latin typeface="宋体" panose="02010600030101010101" pitchFamily="2" charset="-122"/>
                </a:rPr>
                <a:t>′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8920" name="Rectangle 117"/>
            <p:cNvSpPr/>
            <p:nvPr/>
          </p:nvSpPr>
          <p:spPr>
            <a:xfrm>
              <a:off x="3670" y="13926"/>
              <a:ext cx="296" cy="40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S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8921" name="Rectangle 118"/>
            <p:cNvSpPr/>
            <p:nvPr/>
          </p:nvSpPr>
          <p:spPr>
            <a:xfrm>
              <a:off x="3645" y="11705"/>
              <a:ext cx="1929" cy="625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>
                <a:lnSpc>
                  <a:spcPct val="96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</a:rPr>
                <a:t>          </a:t>
              </a:r>
              <a:r>
                <a:rPr lang="en-US" altLang="zh-CN" sz="2000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 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algn="ctr">
                <a:lnSpc>
                  <a:spcPct val="96000"/>
                </a:lnSpc>
              </a:pPr>
              <a:r>
                <a:rPr lang="zh-CN" altLang="en-US" sz="1800" dirty="0">
                  <a:latin typeface="Times New Roman" panose="02020603050405020304" pitchFamily="18" charset="0"/>
                </a:rPr>
                <a:t>从触发器</a:t>
              </a:r>
              <a:endParaRPr lang="zh-CN" altLang="en-US" sz="1800" dirty="0">
                <a:latin typeface="Times New Roman" panose="02020603050405020304" pitchFamily="18" charset="0"/>
              </a:endParaRPr>
            </a:p>
            <a:p>
              <a:pPr algn="just">
                <a:lnSpc>
                  <a:spcPct val="96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 </a:t>
              </a: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algn="just">
                <a:lnSpc>
                  <a:spcPct val="96000"/>
                </a:lnSpc>
              </a:pP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algn="just">
                <a:lnSpc>
                  <a:spcPct val="96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dirty="0">
                  <a:latin typeface="宋体" panose="02010600030101010101" pitchFamily="2" charset="-122"/>
                </a:rPr>
                <a:t>′          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000" dirty="0">
                  <a:latin typeface="宋体" panose="02010600030101010101" pitchFamily="2" charset="-122"/>
                </a:rPr>
                <a:t>′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8922" name="Group 119"/>
            <p:cNvGrpSpPr/>
            <p:nvPr/>
          </p:nvGrpSpPr>
          <p:grpSpPr>
            <a:xfrm>
              <a:off x="4535" y="12254"/>
              <a:ext cx="180" cy="70"/>
              <a:chOff x="3480" y="9360"/>
              <a:chExt cx="218" cy="105"/>
            </a:xfrm>
          </p:grpSpPr>
          <p:sp>
            <p:nvSpPr>
              <p:cNvPr id="38945" name="Line 120"/>
              <p:cNvSpPr/>
              <p:nvPr/>
            </p:nvSpPr>
            <p:spPr>
              <a:xfrm>
                <a:off x="3585" y="9363"/>
                <a:ext cx="113" cy="102"/>
              </a:xfrm>
              <a:prstGeom prst="line">
                <a:avLst/>
              </a:prstGeom>
              <a:ln w="9525" cap="flat" cmpd="sng">
                <a:solidFill>
                  <a:srgbClr val="3366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46" name="Line 121"/>
              <p:cNvSpPr/>
              <p:nvPr/>
            </p:nvSpPr>
            <p:spPr>
              <a:xfrm flipV="1">
                <a:off x="3480" y="9360"/>
                <a:ext cx="113" cy="102"/>
              </a:xfrm>
              <a:prstGeom prst="line">
                <a:avLst/>
              </a:prstGeom>
              <a:ln w="9525" cap="flat" cmpd="sng">
                <a:solidFill>
                  <a:srgbClr val="3366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8923" name="Line 122"/>
            <p:cNvSpPr/>
            <p:nvPr/>
          </p:nvSpPr>
          <p:spPr>
            <a:xfrm>
              <a:off x="4621" y="12332"/>
              <a:ext cx="0" cy="213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4" name="Line 123"/>
            <p:cNvSpPr/>
            <p:nvPr/>
          </p:nvSpPr>
          <p:spPr>
            <a:xfrm>
              <a:off x="2989" y="12551"/>
              <a:ext cx="1632" cy="0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5" name="Oval 124"/>
            <p:cNvSpPr/>
            <p:nvPr/>
          </p:nvSpPr>
          <p:spPr>
            <a:xfrm>
              <a:off x="2965" y="12687"/>
              <a:ext cx="58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926" name="Rectangle 125"/>
            <p:cNvSpPr/>
            <p:nvPr/>
          </p:nvSpPr>
          <p:spPr>
            <a:xfrm>
              <a:off x="2692" y="12735"/>
              <a:ext cx="593" cy="305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>
                <a:lnSpc>
                  <a:spcPct val="96000"/>
                </a:lnSpc>
              </a:pPr>
              <a:r>
                <a:rPr lang="en-US" altLang="zh-CN" sz="1800" dirty="0">
                  <a:latin typeface="Times New Roman" panose="02020603050405020304" pitchFamily="18" charset="0"/>
                </a:rPr>
                <a:t>1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8927" name="Rectangle 126"/>
            <p:cNvSpPr/>
            <p:nvPr/>
          </p:nvSpPr>
          <p:spPr>
            <a:xfrm>
              <a:off x="3606" y="12945"/>
              <a:ext cx="1930" cy="626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>
                <a:lnSpc>
                  <a:spcPct val="96000"/>
                </a:lnSpc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         Q</a:t>
              </a:r>
              <a:r>
                <a:rPr lang="en-US" altLang="zh-CN" sz="2000" dirty="0">
                  <a:latin typeface="宋体" panose="02010600030101010101" pitchFamily="2" charset="-122"/>
                </a:rPr>
                <a:t>′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algn="ctr">
                <a:lnSpc>
                  <a:spcPct val="96000"/>
                </a:lnSpc>
              </a:pPr>
              <a:r>
                <a:rPr lang="zh-CN" altLang="en-US" sz="1800" dirty="0">
                  <a:latin typeface="Times New Roman" panose="02020603050405020304" pitchFamily="18" charset="0"/>
                </a:rPr>
                <a:t>主触发器</a:t>
              </a:r>
              <a:endParaRPr lang="zh-CN" altLang="en-US" sz="1800" dirty="0">
                <a:latin typeface="Times New Roman" panose="02020603050405020304" pitchFamily="18" charset="0"/>
              </a:endParaRPr>
            </a:p>
            <a:p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8928" name="Line 127"/>
            <p:cNvSpPr/>
            <p:nvPr/>
          </p:nvSpPr>
          <p:spPr>
            <a:xfrm flipH="1">
              <a:off x="4212" y="12328"/>
              <a:ext cx="1" cy="617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9" name="Line 128"/>
            <p:cNvSpPr/>
            <p:nvPr/>
          </p:nvSpPr>
          <p:spPr>
            <a:xfrm flipH="1">
              <a:off x="4930" y="12337"/>
              <a:ext cx="0" cy="604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8930" name="Group 129"/>
            <p:cNvGrpSpPr/>
            <p:nvPr/>
          </p:nvGrpSpPr>
          <p:grpSpPr>
            <a:xfrm>
              <a:off x="4473" y="13495"/>
              <a:ext cx="180" cy="71"/>
              <a:chOff x="3480" y="9360"/>
              <a:chExt cx="218" cy="105"/>
            </a:xfrm>
          </p:grpSpPr>
          <p:sp>
            <p:nvSpPr>
              <p:cNvPr id="38943" name="Line 130"/>
              <p:cNvSpPr/>
              <p:nvPr/>
            </p:nvSpPr>
            <p:spPr>
              <a:xfrm>
                <a:off x="3585" y="9363"/>
                <a:ext cx="113" cy="102"/>
              </a:xfrm>
              <a:prstGeom prst="line">
                <a:avLst/>
              </a:prstGeom>
              <a:ln w="9525" cap="flat" cmpd="sng">
                <a:solidFill>
                  <a:srgbClr val="3366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44" name="Line 131"/>
              <p:cNvSpPr/>
              <p:nvPr/>
            </p:nvSpPr>
            <p:spPr>
              <a:xfrm flipV="1">
                <a:off x="3480" y="9360"/>
                <a:ext cx="113" cy="102"/>
              </a:xfrm>
              <a:prstGeom prst="line">
                <a:avLst/>
              </a:prstGeom>
              <a:ln w="9525" cap="flat" cmpd="sng">
                <a:solidFill>
                  <a:srgbClr val="3366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8931" name="Line 132"/>
            <p:cNvSpPr/>
            <p:nvPr/>
          </p:nvSpPr>
          <p:spPr>
            <a:xfrm>
              <a:off x="3966" y="13580"/>
              <a:ext cx="0" cy="417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2" name="Line 133"/>
            <p:cNvSpPr/>
            <p:nvPr/>
          </p:nvSpPr>
          <p:spPr>
            <a:xfrm>
              <a:off x="4560" y="13570"/>
              <a:ext cx="0" cy="521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3" name="Line 134"/>
            <p:cNvSpPr/>
            <p:nvPr/>
          </p:nvSpPr>
          <p:spPr>
            <a:xfrm>
              <a:off x="5079" y="13594"/>
              <a:ext cx="0" cy="417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4" name="Line 135"/>
            <p:cNvSpPr/>
            <p:nvPr/>
          </p:nvSpPr>
          <p:spPr>
            <a:xfrm flipH="1">
              <a:off x="3000" y="13029"/>
              <a:ext cx="0" cy="795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5" name="Line 136"/>
            <p:cNvSpPr/>
            <p:nvPr/>
          </p:nvSpPr>
          <p:spPr>
            <a:xfrm>
              <a:off x="3002" y="13822"/>
              <a:ext cx="1533" cy="0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6" name="Oval 137"/>
            <p:cNvSpPr/>
            <p:nvPr/>
          </p:nvSpPr>
          <p:spPr>
            <a:xfrm>
              <a:off x="4531" y="13800"/>
              <a:ext cx="47" cy="5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937" name="Line 138"/>
            <p:cNvSpPr/>
            <p:nvPr/>
          </p:nvSpPr>
          <p:spPr>
            <a:xfrm>
              <a:off x="4943" y="11394"/>
              <a:ext cx="0" cy="313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8" name="Line 139"/>
            <p:cNvSpPr/>
            <p:nvPr/>
          </p:nvSpPr>
          <p:spPr>
            <a:xfrm>
              <a:off x="4263" y="11394"/>
              <a:ext cx="0" cy="313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9" name="Rectangle 140"/>
            <p:cNvSpPr/>
            <p:nvPr/>
          </p:nvSpPr>
          <p:spPr>
            <a:xfrm>
              <a:off x="4609" y="13951"/>
              <a:ext cx="297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CP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8940" name="Rectangle 141"/>
            <p:cNvSpPr/>
            <p:nvPr/>
          </p:nvSpPr>
          <p:spPr>
            <a:xfrm>
              <a:off x="5189" y="13883"/>
              <a:ext cx="296" cy="41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R</a:t>
              </a:r>
              <a:endParaRPr lang="en-US" altLang="zh-CN" sz="4800" dirty="0">
                <a:latin typeface="Times New Roman" panose="02020603050405020304" pitchFamily="18" charset="0"/>
              </a:endParaRPr>
            </a:p>
          </p:txBody>
        </p:sp>
        <p:sp>
          <p:nvSpPr>
            <p:cNvPr id="38941" name="Oval 142"/>
            <p:cNvSpPr/>
            <p:nvPr/>
          </p:nvSpPr>
          <p:spPr>
            <a:xfrm>
              <a:off x="4896" y="11599"/>
              <a:ext cx="96" cy="9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942" name="Oval 143"/>
            <p:cNvSpPr/>
            <p:nvPr/>
          </p:nvSpPr>
          <p:spPr>
            <a:xfrm>
              <a:off x="4880" y="12847"/>
              <a:ext cx="96" cy="9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917" name="Text Box 144"/>
          <p:cNvSpPr txBox="1"/>
          <p:nvPr/>
        </p:nvSpPr>
        <p:spPr>
          <a:xfrm>
            <a:off x="819150" y="5157788"/>
            <a:ext cx="27527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主从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触发器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"/>
          <p:cNvGrpSpPr/>
          <p:nvPr/>
        </p:nvGrpSpPr>
        <p:grpSpPr>
          <a:xfrm>
            <a:off x="311150" y="1098550"/>
            <a:ext cx="5843588" cy="5588000"/>
            <a:chOff x="196" y="976"/>
            <a:chExt cx="3681" cy="3326"/>
          </a:xfrm>
        </p:grpSpPr>
        <p:sp>
          <p:nvSpPr>
            <p:cNvPr id="39964" name="Text Box 4"/>
            <p:cNvSpPr txBox="1"/>
            <p:nvPr/>
          </p:nvSpPr>
          <p:spPr>
            <a:xfrm>
              <a:off x="1394" y="3992"/>
              <a:ext cx="278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K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965" name="Text Box 5"/>
            <p:cNvSpPr txBox="1"/>
            <p:nvPr/>
          </p:nvSpPr>
          <p:spPr>
            <a:xfrm>
              <a:off x="2874" y="3993"/>
              <a:ext cx="203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J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9966" name="Line 6"/>
            <p:cNvSpPr/>
            <p:nvPr/>
          </p:nvSpPr>
          <p:spPr>
            <a:xfrm flipV="1">
              <a:off x="1430" y="3894"/>
              <a:ext cx="0" cy="323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7" name="Line 7"/>
            <p:cNvSpPr/>
            <p:nvPr/>
          </p:nvSpPr>
          <p:spPr>
            <a:xfrm flipV="1">
              <a:off x="2889" y="3894"/>
              <a:ext cx="0" cy="31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8" name="Line 8"/>
            <p:cNvSpPr/>
            <p:nvPr/>
          </p:nvSpPr>
          <p:spPr>
            <a:xfrm flipV="1">
              <a:off x="2155" y="4016"/>
              <a:ext cx="0" cy="201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9" name="Text Box 9"/>
            <p:cNvSpPr txBox="1"/>
            <p:nvPr/>
          </p:nvSpPr>
          <p:spPr>
            <a:xfrm>
              <a:off x="2142" y="3981"/>
              <a:ext cx="390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CP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9970" name="Group 10"/>
            <p:cNvGrpSpPr/>
            <p:nvPr/>
          </p:nvGrpSpPr>
          <p:grpSpPr>
            <a:xfrm>
              <a:off x="494" y="976"/>
              <a:ext cx="3383" cy="3107"/>
              <a:chOff x="494" y="218"/>
              <a:chExt cx="3383" cy="3865"/>
            </a:xfrm>
          </p:grpSpPr>
          <p:sp>
            <p:nvSpPr>
              <p:cNvPr id="39973" name="Rectangle 11"/>
              <p:cNvSpPr/>
              <p:nvPr/>
            </p:nvSpPr>
            <p:spPr>
              <a:xfrm>
                <a:off x="1290" y="953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74" name="Rectangle 12"/>
              <p:cNvSpPr/>
              <p:nvPr/>
            </p:nvSpPr>
            <p:spPr>
              <a:xfrm>
                <a:off x="2446" y="953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75" name="Oval 13"/>
              <p:cNvSpPr/>
              <p:nvPr/>
            </p:nvSpPr>
            <p:spPr>
              <a:xfrm>
                <a:off x="1554" y="883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76" name="Oval 14"/>
              <p:cNvSpPr/>
              <p:nvPr/>
            </p:nvSpPr>
            <p:spPr>
              <a:xfrm>
                <a:off x="2710" y="883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77" name="Line 15"/>
              <p:cNvSpPr/>
              <p:nvPr/>
            </p:nvSpPr>
            <p:spPr>
              <a:xfrm flipV="1">
                <a:off x="1590" y="330"/>
                <a:ext cx="0" cy="556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8" name="Line 16"/>
              <p:cNvSpPr/>
              <p:nvPr/>
            </p:nvSpPr>
            <p:spPr>
              <a:xfrm flipV="1">
                <a:off x="1435" y="1286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9" name="Freeform 17"/>
              <p:cNvSpPr/>
              <p:nvPr/>
            </p:nvSpPr>
            <p:spPr>
              <a:xfrm>
                <a:off x="1712" y="775"/>
                <a:ext cx="1045" cy="755"/>
              </a:xfrm>
              <a:custGeom>
                <a:avLst/>
                <a:gdLst>
                  <a:gd name="txL" fmla="*/ 0 w 1045"/>
                  <a:gd name="txT" fmla="*/ 0 h 800"/>
                  <a:gd name="txR" fmla="*/ 1045 w 1045"/>
                  <a:gd name="txB" fmla="*/ 800 h 800"/>
                </a:gdLst>
                <a:ahLst/>
                <a:cxnLst>
                  <a:cxn ang="0">
                    <a:pos x="0" y="495"/>
                  </a:cxn>
                  <a:cxn ang="0">
                    <a:pos x="0" y="713"/>
                  </a:cxn>
                  <a:cxn ang="0">
                    <a:pos x="278" y="713"/>
                  </a:cxn>
                  <a:cxn ang="0">
                    <a:pos x="678" y="0"/>
                  </a:cxn>
                  <a:cxn ang="0">
                    <a:pos x="1045" y="0"/>
                  </a:cxn>
                </a:cxnLst>
                <a:rect l="txL" t="txT" r="txR" b="txB"/>
                <a:pathLst>
                  <a:path w="1045" h="800">
                    <a:moveTo>
                      <a:pt x="0" y="556"/>
                    </a:moveTo>
                    <a:lnTo>
                      <a:pt x="0" y="800"/>
                    </a:lnTo>
                    <a:lnTo>
                      <a:pt x="278" y="800"/>
                    </a:lnTo>
                    <a:lnTo>
                      <a:pt x="678" y="0"/>
                    </a:lnTo>
                    <a:lnTo>
                      <a:pt x="1045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9980" name="Line 18"/>
              <p:cNvSpPr/>
              <p:nvPr/>
            </p:nvSpPr>
            <p:spPr>
              <a:xfrm flipV="1">
                <a:off x="2746" y="364"/>
                <a:ext cx="0" cy="52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81" name="Freeform 19"/>
              <p:cNvSpPr/>
              <p:nvPr/>
            </p:nvSpPr>
            <p:spPr>
              <a:xfrm flipH="1">
                <a:off x="1586" y="782"/>
                <a:ext cx="1023" cy="755"/>
              </a:xfrm>
              <a:custGeom>
                <a:avLst/>
                <a:gdLst>
                  <a:gd name="txL" fmla="*/ 0 w 1045"/>
                  <a:gd name="txT" fmla="*/ 0 h 800"/>
                  <a:gd name="txR" fmla="*/ 1045 w 1045"/>
                  <a:gd name="txB" fmla="*/ 800 h 800"/>
                </a:gdLst>
                <a:ahLst/>
                <a:cxnLst>
                  <a:cxn ang="0">
                    <a:pos x="0" y="495"/>
                  </a:cxn>
                  <a:cxn ang="0">
                    <a:pos x="0" y="713"/>
                  </a:cxn>
                  <a:cxn ang="0">
                    <a:pos x="266" y="713"/>
                  </a:cxn>
                  <a:cxn ang="0">
                    <a:pos x="650" y="0"/>
                  </a:cxn>
                  <a:cxn ang="0">
                    <a:pos x="1001" y="0"/>
                  </a:cxn>
                </a:cxnLst>
                <a:rect l="txL" t="txT" r="txR" b="txB"/>
                <a:pathLst>
                  <a:path w="1045" h="800">
                    <a:moveTo>
                      <a:pt x="0" y="556"/>
                    </a:moveTo>
                    <a:lnTo>
                      <a:pt x="0" y="800"/>
                    </a:lnTo>
                    <a:lnTo>
                      <a:pt x="278" y="800"/>
                    </a:lnTo>
                    <a:lnTo>
                      <a:pt x="678" y="0"/>
                    </a:lnTo>
                    <a:lnTo>
                      <a:pt x="1045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9982" name="Line 20"/>
              <p:cNvSpPr/>
              <p:nvPr/>
            </p:nvSpPr>
            <p:spPr>
              <a:xfrm flipV="1">
                <a:off x="2891" y="1286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83" name="Text Box 21"/>
              <p:cNvSpPr txBox="1"/>
              <p:nvPr/>
            </p:nvSpPr>
            <p:spPr>
              <a:xfrm>
                <a:off x="1444" y="962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4" name="Text Box 22"/>
              <p:cNvSpPr txBox="1"/>
              <p:nvPr/>
            </p:nvSpPr>
            <p:spPr>
              <a:xfrm>
                <a:off x="2589" y="962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985" name="Group 23"/>
              <p:cNvGrpSpPr/>
              <p:nvPr/>
            </p:nvGrpSpPr>
            <p:grpSpPr>
              <a:xfrm>
                <a:off x="1331" y="230"/>
                <a:ext cx="278" cy="384"/>
                <a:chOff x="1086" y="2275"/>
                <a:chExt cx="278" cy="384"/>
              </a:xfrm>
            </p:grpSpPr>
            <p:sp>
              <p:nvSpPr>
                <p:cNvPr id="40046" name="Text Box 24"/>
                <p:cNvSpPr txBox="1"/>
                <p:nvPr/>
              </p:nvSpPr>
              <p:spPr>
                <a:xfrm>
                  <a:off x="1086" y="2275"/>
                  <a:ext cx="278" cy="384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i="1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47" name="Line 25"/>
                <p:cNvSpPr/>
                <p:nvPr/>
              </p:nvSpPr>
              <p:spPr>
                <a:xfrm>
                  <a:off x="1144" y="2322"/>
                  <a:ext cx="155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9986" name="Oval 26"/>
              <p:cNvSpPr/>
              <p:nvPr/>
            </p:nvSpPr>
            <p:spPr>
              <a:xfrm>
                <a:off x="1543" y="750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7" name="Oval 27"/>
              <p:cNvSpPr/>
              <p:nvPr/>
            </p:nvSpPr>
            <p:spPr>
              <a:xfrm>
                <a:off x="2699" y="739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8" name="Text Box 28"/>
              <p:cNvSpPr txBox="1"/>
              <p:nvPr/>
            </p:nvSpPr>
            <p:spPr>
              <a:xfrm>
                <a:off x="3539" y="2992"/>
                <a:ext cx="338" cy="38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9" name="Text Box 29"/>
              <p:cNvSpPr txBox="1"/>
              <p:nvPr/>
            </p:nvSpPr>
            <p:spPr>
              <a:xfrm>
                <a:off x="2755" y="218"/>
                <a:ext cx="278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Q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0" name="Rectangle 30"/>
              <p:cNvSpPr/>
              <p:nvPr/>
            </p:nvSpPr>
            <p:spPr>
              <a:xfrm>
                <a:off x="1147" y="1642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1" name="Text Box 31"/>
              <p:cNvSpPr txBox="1"/>
              <p:nvPr/>
            </p:nvSpPr>
            <p:spPr>
              <a:xfrm>
                <a:off x="1301" y="1652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2" name="Oval 32"/>
              <p:cNvSpPr/>
              <p:nvPr/>
            </p:nvSpPr>
            <p:spPr>
              <a:xfrm>
                <a:off x="1399" y="1583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3" name="Line 33"/>
              <p:cNvSpPr/>
              <p:nvPr/>
            </p:nvSpPr>
            <p:spPr>
              <a:xfrm flipV="1">
                <a:off x="1433" y="1985"/>
                <a:ext cx="1" cy="39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94" name="Rectangle 34"/>
              <p:cNvSpPr/>
              <p:nvPr/>
            </p:nvSpPr>
            <p:spPr>
              <a:xfrm>
                <a:off x="2592" y="1642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5" name="Text Box 35"/>
              <p:cNvSpPr txBox="1"/>
              <p:nvPr/>
            </p:nvSpPr>
            <p:spPr>
              <a:xfrm>
                <a:off x="2746" y="1652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6" name="Oval 36"/>
              <p:cNvSpPr/>
              <p:nvPr/>
            </p:nvSpPr>
            <p:spPr>
              <a:xfrm>
                <a:off x="2844" y="1583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7" name="Line 37"/>
              <p:cNvSpPr/>
              <p:nvPr/>
            </p:nvSpPr>
            <p:spPr>
              <a:xfrm flipH="1" flipV="1">
                <a:off x="2893" y="1985"/>
                <a:ext cx="1" cy="384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98" name="Freeform 38"/>
              <p:cNvSpPr/>
              <p:nvPr/>
            </p:nvSpPr>
            <p:spPr>
              <a:xfrm>
                <a:off x="1624" y="1975"/>
                <a:ext cx="1055" cy="122"/>
              </a:xfrm>
              <a:custGeom>
                <a:avLst/>
                <a:gdLst>
                  <a:gd name="txL" fmla="*/ 0 w 1178"/>
                  <a:gd name="txT" fmla="*/ 0 h 133"/>
                  <a:gd name="txR" fmla="*/ 1178 w 1178"/>
                  <a:gd name="txB" fmla="*/ 133 h 133"/>
                </a:gdLst>
                <a:ahLst/>
                <a:cxnLst>
                  <a:cxn ang="0">
                    <a:pos x="0" y="9"/>
                  </a:cxn>
                  <a:cxn ang="0">
                    <a:pos x="0" y="112"/>
                  </a:cxn>
                  <a:cxn ang="0">
                    <a:pos x="945" y="112"/>
                  </a:cxn>
                  <a:cxn ang="0">
                    <a:pos x="945" y="0"/>
                  </a:cxn>
                </a:cxnLst>
                <a:rect l="txL" t="txT" r="txR" b="txB"/>
                <a:pathLst>
                  <a:path w="1178" h="133">
                    <a:moveTo>
                      <a:pt x="0" y="11"/>
                    </a:moveTo>
                    <a:lnTo>
                      <a:pt x="0" y="133"/>
                    </a:lnTo>
                    <a:lnTo>
                      <a:pt x="1178" y="133"/>
                    </a:lnTo>
                    <a:lnTo>
                      <a:pt x="1178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9999" name="Line 39"/>
              <p:cNvSpPr/>
              <p:nvPr/>
            </p:nvSpPr>
            <p:spPr>
              <a:xfrm flipH="1" flipV="1">
                <a:off x="2153" y="2107"/>
                <a:ext cx="11" cy="1409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000" name="Oval 40"/>
              <p:cNvSpPr/>
              <p:nvPr/>
            </p:nvSpPr>
            <p:spPr>
              <a:xfrm>
                <a:off x="2110" y="2073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01" name="Freeform 41"/>
              <p:cNvSpPr/>
              <p:nvPr/>
            </p:nvSpPr>
            <p:spPr>
              <a:xfrm>
                <a:off x="836" y="540"/>
                <a:ext cx="1923" cy="3543"/>
              </a:xfrm>
              <a:custGeom>
                <a:avLst/>
                <a:gdLst>
                  <a:gd name="txL" fmla="*/ 0 w 1923"/>
                  <a:gd name="txT" fmla="*/ 0 h 1633"/>
                  <a:gd name="txR" fmla="*/ 1923 w 1923"/>
                  <a:gd name="txB" fmla="*/ 1633 h 1633"/>
                </a:gdLst>
                <a:ahLst/>
                <a:cxnLst>
                  <a:cxn ang="0">
                    <a:pos x="423" y="6854"/>
                  </a:cxn>
                  <a:cxn ang="0">
                    <a:pos x="423" y="7687"/>
                  </a:cxn>
                  <a:cxn ang="0">
                    <a:pos x="0" y="7687"/>
                  </a:cxn>
                  <a:cxn ang="0">
                    <a:pos x="0" y="0"/>
                  </a:cxn>
                  <a:cxn ang="0">
                    <a:pos x="1923" y="0"/>
                  </a:cxn>
                </a:cxnLst>
                <a:rect l="txL" t="txT" r="txR" b="txB"/>
                <a:pathLst>
                  <a:path w="1923" h="1633">
                    <a:moveTo>
                      <a:pt x="423" y="1456"/>
                    </a:moveTo>
                    <a:lnTo>
                      <a:pt x="423" y="1633"/>
                    </a:lnTo>
                    <a:lnTo>
                      <a:pt x="0" y="1633"/>
                    </a:lnTo>
                    <a:lnTo>
                      <a:pt x="0" y="0"/>
                    </a:lnTo>
                    <a:lnTo>
                      <a:pt x="1923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02" name="Oval 42"/>
              <p:cNvSpPr/>
              <p:nvPr/>
            </p:nvSpPr>
            <p:spPr>
              <a:xfrm>
                <a:off x="2699" y="506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03" name="Freeform 43"/>
              <p:cNvSpPr/>
              <p:nvPr/>
            </p:nvSpPr>
            <p:spPr>
              <a:xfrm flipH="1">
                <a:off x="1575" y="647"/>
                <a:ext cx="1966" cy="3421"/>
              </a:xfrm>
              <a:custGeom>
                <a:avLst/>
                <a:gdLst>
                  <a:gd name="txL" fmla="*/ 0 w 1923"/>
                  <a:gd name="txT" fmla="*/ 0 h 1633"/>
                  <a:gd name="txR" fmla="*/ 1923 w 1923"/>
                  <a:gd name="txB" fmla="*/ 1633 h 1633"/>
                </a:gdLst>
                <a:ahLst/>
                <a:cxnLst>
                  <a:cxn ang="0">
                    <a:pos x="442" y="6389"/>
                  </a:cxn>
                  <a:cxn ang="0">
                    <a:pos x="442" y="7167"/>
                  </a:cxn>
                  <a:cxn ang="0">
                    <a:pos x="0" y="7167"/>
                  </a:cxn>
                  <a:cxn ang="0">
                    <a:pos x="0" y="0"/>
                  </a:cxn>
                  <a:cxn ang="0">
                    <a:pos x="2010" y="0"/>
                  </a:cxn>
                </a:cxnLst>
                <a:rect l="txL" t="txT" r="txR" b="txB"/>
                <a:pathLst>
                  <a:path w="1923" h="1633">
                    <a:moveTo>
                      <a:pt x="423" y="1456"/>
                    </a:moveTo>
                    <a:lnTo>
                      <a:pt x="423" y="1633"/>
                    </a:lnTo>
                    <a:lnTo>
                      <a:pt x="0" y="1633"/>
                    </a:lnTo>
                    <a:lnTo>
                      <a:pt x="0" y="0"/>
                    </a:lnTo>
                    <a:lnTo>
                      <a:pt x="1923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04" name="Oval 44"/>
              <p:cNvSpPr/>
              <p:nvPr/>
            </p:nvSpPr>
            <p:spPr>
              <a:xfrm>
                <a:off x="1543" y="605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05" name="Rectangle 45"/>
              <p:cNvSpPr/>
              <p:nvPr/>
            </p:nvSpPr>
            <p:spPr>
              <a:xfrm>
                <a:off x="1286" y="2862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06" name="Rectangle 46"/>
              <p:cNvSpPr/>
              <p:nvPr/>
            </p:nvSpPr>
            <p:spPr>
              <a:xfrm>
                <a:off x="2442" y="2862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07" name="Oval 47"/>
              <p:cNvSpPr/>
              <p:nvPr/>
            </p:nvSpPr>
            <p:spPr>
              <a:xfrm>
                <a:off x="1550" y="2792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08" name="Oval 48"/>
              <p:cNvSpPr/>
              <p:nvPr/>
            </p:nvSpPr>
            <p:spPr>
              <a:xfrm>
                <a:off x="2706" y="2792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09" name="Line 49"/>
              <p:cNvSpPr/>
              <p:nvPr/>
            </p:nvSpPr>
            <p:spPr>
              <a:xfrm flipH="1" flipV="1">
                <a:off x="1585" y="2342"/>
                <a:ext cx="1" cy="453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010" name="Line 50"/>
              <p:cNvSpPr/>
              <p:nvPr/>
            </p:nvSpPr>
            <p:spPr>
              <a:xfrm flipV="1">
                <a:off x="1431" y="3195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011" name="Freeform 51"/>
              <p:cNvSpPr/>
              <p:nvPr/>
            </p:nvSpPr>
            <p:spPr>
              <a:xfrm>
                <a:off x="1708" y="2684"/>
                <a:ext cx="1045" cy="755"/>
              </a:xfrm>
              <a:custGeom>
                <a:avLst/>
                <a:gdLst>
                  <a:gd name="txL" fmla="*/ 0 w 1045"/>
                  <a:gd name="txT" fmla="*/ 0 h 800"/>
                  <a:gd name="txR" fmla="*/ 1045 w 1045"/>
                  <a:gd name="txB" fmla="*/ 800 h 800"/>
                </a:gdLst>
                <a:ahLst/>
                <a:cxnLst>
                  <a:cxn ang="0">
                    <a:pos x="0" y="495"/>
                  </a:cxn>
                  <a:cxn ang="0">
                    <a:pos x="0" y="713"/>
                  </a:cxn>
                  <a:cxn ang="0">
                    <a:pos x="278" y="713"/>
                  </a:cxn>
                  <a:cxn ang="0">
                    <a:pos x="678" y="0"/>
                  </a:cxn>
                  <a:cxn ang="0">
                    <a:pos x="1045" y="0"/>
                  </a:cxn>
                </a:cxnLst>
                <a:rect l="txL" t="txT" r="txR" b="txB"/>
                <a:pathLst>
                  <a:path w="1045" h="800">
                    <a:moveTo>
                      <a:pt x="0" y="556"/>
                    </a:moveTo>
                    <a:lnTo>
                      <a:pt x="0" y="800"/>
                    </a:lnTo>
                    <a:lnTo>
                      <a:pt x="278" y="800"/>
                    </a:lnTo>
                    <a:lnTo>
                      <a:pt x="678" y="0"/>
                    </a:lnTo>
                    <a:lnTo>
                      <a:pt x="1045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12" name="Line 52"/>
              <p:cNvSpPr/>
              <p:nvPr/>
            </p:nvSpPr>
            <p:spPr>
              <a:xfrm flipV="1">
                <a:off x="2742" y="2369"/>
                <a:ext cx="0" cy="426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013" name="Freeform 53"/>
              <p:cNvSpPr/>
              <p:nvPr/>
            </p:nvSpPr>
            <p:spPr>
              <a:xfrm flipH="1">
                <a:off x="1582" y="2691"/>
                <a:ext cx="1023" cy="755"/>
              </a:xfrm>
              <a:custGeom>
                <a:avLst/>
                <a:gdLst>
                  <a:gd name="txL" fmla="*/ 0 w 1045"/>
                  <a:gd name="txT" fmla="*/ 0 h 800"/>
                  <a:gd name="txR" fmla="*/ 1045 w 1045"/>
                  <a:gd name="txB" fmla="*/ 800 h 800"/>
                </a:gdLst>
                <a:ahLst/>
                <a:cxnLst>
                  <a:cxn ang="0">
                    <a:pos x="0" y="495"/>
                  </a:cxn>
                  <a:cxn ang="0">
                    <a:pos x="0" y="713"/>
                  </a:cxn>
                  <a:cxn ang="0">
                    <a:pos x="266" y="713"/>
                  </a:cxn>
                  <a:cxn ang="0">
                    <a:pos x="650" y="0"/>
                  </a:cxn>
                  <a:cxn ang="0">
                    <a:pos x="1001" y="0"/>
                  </a:cxn>
                </a:cxnLst>
                <a:rect l="txL" t="txT" r="txR" b="txB"/>
                <a:pathLst>
                  <a:path w="1045" h="800">
                    <a:moveTo>
                      <a:pt x="0" y="556"/>
                    </a:moveTo>
                    <a:lnTo>
                      <a:pt x="0" y="800"/>
                    </a:lnTo>
                    <a:lnTo>
                      <a:pt x="278" y="800"/>
                    </a:lnTo>
                    <a:lnTo>
                      <a:pt x="678" y="0"/>
                    </a:lnTo>
                    <a:lnTo>
                      <a:pt x="1045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14" name="Line 54"/>
              <p:cNvSpPr/>
              <p:nvPr/>
            </p:nvSpPr>
            <p:spPr>
              <a:xfrm flipV="1">
                <a:off x="2887" y="3195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015" name="Text Box 55"/>
              <p:cNvSpPr txBox="1"/>
              <p:nvPr/>
            </p:nvSpPr>
            <p:spPr>
              <a:xfrm>
                <a:off x="1440" y="2873"/>
                <a:ext cx="290" cy="38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6" name="Text Box 56"/>
              <p:cNvSpPr txBox="1"/>
              <p:nvPr/>
            </p:nvSpPr>
            <p:spPr>
              <a:xfrm>
                <a:off x="2585" y="2873"/>
                <a:ext cx="290" cy="38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7" name="Oval 57"/>
              <p:cNvSpPr/>
              <p:nvPr/>
            </p:nvSpPr>
            <p:spPr>
              <a:xfrm>
                <a:off x="1539" y="2659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8" name="Oval 58"/>
              <p:cNvSpPr/>
              <p:nvPr/>
            </p:nvSpPr>
            <p:spPr>
              <a:xfrm>
                <a:off x="2695" y="2648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9" name="Text Box 59"/>
              <p:cNvSpPr txBox="1"/>
              <p:nvPr/>
            </p:nvSpPr>
            <p:spPr>
              <a:xfrm>
                <a:off x="494" y="3000"/>
                <a:ext cx="363" cy="38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0" name="Rectangle 60"/>
              <p:cNvSpPr/>
              <p:nvPr/>
            </p:nvSpPr>
            <p:spPr>
              <a:xfrm>
                <a:off x="1143" y="3551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1" name="Text Box 61"/>
              <p:cNvSpPr txBox="1"/>
              <p:nvPr/>
            </p:nvSpPr>
            <p:spPr>
              <a:xfrm>
                <a:off x="1297" y="3561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2" name="Oval 62"/>
              <p:cNvSpPr/>
              <p:nvPr/>
            </p:nvSpPr>
            <p:spPr>
              <a:xfrm>
                <a:off x="1395" y="3492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3" name="Rectangle 63"/>
              <p:cNvSpPr/>
              <p:nvPr/>
            </p:nvSpPr>
            <p:spPr>
              <a:xfrm>
                <a:off x="2588" y="3551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4" name="Text Box 64"/>
              <p:cNvSpPr txBox="1"/>
              <p:nvPr/>
            </p:nvSpPr>
            <p:spPr>
              <a:xfrm>
                <a:off x="2742" y="3561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5" name="Oval 65"/>
              <p:cNvSpPr/>
              <p:nvPr/>
            </p:nvSpPr>
            <p:spPr>
              <a:xfrm>
                <a:off x="2840" y="3492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6" name="Freeform 66"/>
              <p:cNvSpPr/>
              <p:nvPr/>
            </p:nvSpPr>
            <p:spPr>
              <a:xfrm>
                <a:off x="1620" y="3884"/>
                <a:ext cx="1055" cy="122"/>
              </a:xfrm>
              <a:custGeom>
                <a:avLst/>
                <a:gdLst>
                  <a:gd name="txL" fmla="*/ 0 w 1178"/>
                  <a:gd name="txT" fmla="*/ 0 h 133"/>
                  <a:gd name="txR" fmla="*/ 1178 w 1178"/>
                  <a:gd name="txB" fmla="*/ 133 h 133"/>
                </a:gdLst>
                <a:ahLst/>
                <a:cxnLst>
                  <a:cxn ang="0">
                    <a:pos x="0" y="9"/>
                  </a:cxn>
                  <a:cxn ang="0">
                    <a:pos x="0" y="112"/>
                  </a:cxn>
                  <a:cxn ang="0">
                    <a:pos x="945" y="112"/>
                  </a:cxn>
                  <a:cxn ang="0">
                    <a:pos x="945" y="0"/>
                  </a:cxn>
                </a:cxnLst>
                <a:rect l="txL" t="txT" r="txR" b="txB"/>
                <a:pathLst>
                  <a:path w="1178" h="133">
                    <a:moveTo>
                      <a:pt x="0" y="11"/>
                    </a:moveTo>
                    <a:lnTo>
                      <a:pt x="0" y="133"/>
                    </a:lnTo>
                    <a:lnTo>
                      <a:pt x="1178" y="133"/>
                    </a:lnTo>
                    <a:lnTo>
                      <a:pt x="1178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027" name="Oval 67"/>
              <p:cNvSpPr/>
              <p:nvPr/>
            </p:nvSpPr>
            <p:spPr>
              <a:xfrm>
                <a:off x="2118" y="3982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8" name="Oval 68"/>
              <p:cNvSpPr/>
              <p:nvPr/>
            </p:nvSpPr>
            <p:spPr>
              <a:xfrm>
                <a:off x="3277" y="3263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9" name="Oval 69"/>
              <p:cNvSpPr/>
              <p:nvPr/>
            </p:nvSpPr>
            <p:spPr>
              <a:xfrm>
                <a:off x="975" y="3284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30" name="Line 70"/>
              <p:cNvSpPr/>
              <p:nvPr/>
            </p:nvSpPr>
            <p:spPr>
              <a:xfrm>
                <a:off x="1433" y="2359"/>
                <a:ext cx="143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31" name="Line 71"/>
              <p:cNvSpPr/>
              <p:nvPr/>
            </p:nvSpPr>
            <p:spPr>
              <a:xfrm>
                <a:off x="2741" y="2369"/>
                <a:ext cx="153" cy="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32" name="Rectangle 72"/>
              <p:cNvSpPr/>
              <p:nvPr/>
            </p:nvSpPr>
            <p:spPr>
              <a:xfrm>
                <a:off x="1879" y="3564"/>
                <a:ext cx="576" cy="309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33" name="Oval 73"/>
              <p:cNvSpPr/>
              <p:nvPr/>
            </p:nvSpPr>
            <p:spPr>
              <a:xfrm>
                <a:off x="2125" y="3495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34" name="Line 74"/>
              <p:cNvSpPr/>
              <p:nvPr/>
            </p:nvSpPr>
            <p:spPr>
              <a:xfrm>
                <a:off x="2158" y="3868"/>
                <a:ext cx="0" cy="128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35" name="Text Box 75"/>
              <p:cNvSpPr txBox="1"/>
              <p:nvPr/>
            </p:nvSpPr>
            <p:spPr>
              <a:xfrm>
                <a:off x="2052" y="3532"/>
                <a:ext cx="228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36" name="Line 76"/>
              <p:cNvSpPr/>
              <p:nvPr/>
            </p:nvSpPr>
            <p:spPr>
              <a:xfrm flipH="1">
                <a:off x="1564" y="1298"/>
                <a:ext cx="0" cy="127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37" name="Line 77"/>
              <p:cNvSpPr/>
              <p:nvPr/>
            </p:nvSpPr>
            <p:spPr>
              <a:xfrm>
                <a:off x="1006" y="1425"/>
                <a:ext cx="564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38" name="Line 78"/>
              <p:cNvSpPr/>
              <p:nvPr/>
            </p:nvSpPr>
            <p:spPr>
              <a:xfrm>
                <a:off x="1558" y="3207"/>
                <a:ext cx="0" cy="12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39" name="Line 79"/>
              <p:cNvSpPr/>
              <p:nvPr/>
            </p:nvSpPr>
            <p:spPr>
              <a:xfrm flipV="1">
                <a:off x="691" y="3322"/>
                <a:ext cx="867" cy="1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40" name="Line 80"/>
              <p:cNvSpPr/>
              <p:nvPr/>
            </p:nvSpPr>
            <p:spPr>
              <a:xfrm flipH="1">
                <a:off x="1013" y="1419"/>
                <a:ext cx="6" cy="191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41" name="Line 81"/>
              <p:cNvSpPr/>
              <p:nvPr/>
            </p:nvSpPr>
            <p:spPr>
              <a:xfrm>
                <a:off x="2741" y="1298"/>
                <a:ext cx="0" cy="11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42" name="Line 82"/>
              <p:cNvSpPr/>
              <p:nvPr/>
            </p:nvSpPr>
            <p:spPr>
              <a:xfrm>
                <a:off x="2728" y="1425"/>
                <a:ext cx="570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43" name="Line 83"/>
              <p:cNvSpPr/>
              <p:nvPr/>
            </p:nvSpPr>
            <p:spPr>
              <a:xfrm>
                <a:off x="3304" y="1419"/>
                <a:ext cx="6" cy="1898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44" name="Line 84"/>
              <p:cNvSpPr/>
              <p:nvPr/>
            </p:nvSpPr>
            <p:spPr>
              <a:xfrm>
                <a:off x="2734" y="3207"/>
                <a:ext cx="0" cy="12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0045" name="Line 85"/>
              <p:cNvSpPr/>
              <p:nvPr/>
            </p:nvSpPr>
            <p:spPr>
              <a:xfrm>
                <a:off x="2734" y="3317"/>
                <a:ext cx="946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39971" name="Text Box 86" descr="羊皮纸"/>
            <p:cNvSpPr txBox="1"/>
            <p:nvPr/>
          </p:nvSpPr>
          <p:spPr>
            <a:xfrm>
              <a:off x="196" y="1484"/>
              <a:ext cx="786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（从）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972" name="Text Box 87" descr="羊皮纸"/>
            <p:cNvSpPr txBox="1"/>
            <p:nvPr/>
          </p:nvSpPr>
          <p:spPr>
            <a:xfrm>
              <a:off x="198" y="3014"/>
              <a:ext cx="786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（主）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84760" name="Text Box 88" descr="羊皮纸"/>
          <p:cNvSpPr txBox="1"/>
          <p:nvPr/>
        </p:nvSpPr>
        <p:spPr>
          <a:xfrm>
            <a:off x="6388100" y="4181475"/>
            <a:ext cx="2393950" cy="13731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p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前沿采样，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后沿定态；无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空翻现象。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89"/>
          <p:cNvGrpSpPr/>
          <p:nvPr/>
        </p:nvGrpSpPr>
        <p:grpSpPr>
          <a:xfrm>
            <a:off x="6270625" y="1411288"/>
            <a:ext cx="1949450" cy="2349500"/>
            <a:chOff x="3950" y="889"/>
            <a:chExt cx="1228" cy="1480"/>
          </a:xfrm>
        </p:grpSpPr>
        <p:sp>
          <p:nvSpPr>
            <p:cNvPr id="39942" name="Rectangle 90" descr="羊皮纸"/>
            <p:cNvSpPr/>
            <p:nvPr/>
          </p:nvSpPr>
          <p:spPr>
            <a:xfrm>
              <a:off x="4240" y="1216"/>
              <a:ext cx="576" cy="847"/>
            </a:xfrm>
            <a:prstGeom prst="rect">
              <a:avLst/>
            </a:prstGeom>
            <a:blipFill rotWithShape="1">
              <a:blip r:embed="rId1"/>
            </a:blip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943" name="Line 91"/>
            <p:cNvSpPr/>
            <p:nvPr/>
          </p:nvSpPr>
          <p:spPr>
            <a:xfrm>
              <a:off x="3950" y="1655"/>
              <a:ext cx="240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9944" name="Line 92"/>
            <p:cNvSpPr/>
            <p:nvPr/>
          </p:nvSpPr>
          <p:spPr>
            <a:xfrm>
              <a:off x="3957" y="1394"/>
              <a:ext cx="282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9945" name="Line 93"/>
            <p:cNvSpPr/>
            <p:nvPr/>
          </p:nvSpPr>
          <p:spPr>
            <a:xfrm>
              <a:off x="4848" y="1915"/>
              <a:ext cx="277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9946" name="Line 94"/>
            <p:cNvSpPr/>
            <p:nvPr/>
          </p:nvSpPr>
          <p:spPr>
            <a:xfrm>
              <a:off x="4821" y="1375"/>
              <a:ext cx="331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9947" name="Line 95"/>
            <p:cNvSpPr/>
            <p:nvPr/>
          </p:nvSpPr>
          <p:spPr>
            <a:xfrm>
              <a:off x="4533" y="2108"/>
              <a:ext cx="0" cy="261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9948" name="Line 96"/>
            <p:cNvSpPr/>
            <p:nvPr/>
          </p:nvSpPr>
          <p:spPr>
            <a:xfrm>
              <a:off x="4500" y="889"/>
              <a:ext cx="5" cy="277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9949" name="Oval 97" descr="羊皮纸"/>
            <p:cNvSpPr/>
            <p:nvPr/>
          </p:nvSpPr>
          <p:spPr>
            <a:xfrm>
              <a:off x="4473" y="1155"/>
              <a:ext cx="59" cy="66"/>
            </a:xfrm>
            <a:prstGeom prst="ellipse">
              <a:avLst/>
            </a:prstGeom>
            <a:blipFill rotWithShape="1">
              <a:blip r:embed="rId1"/>
            </a:blip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950" name="Oval 98" descr="羊皮纸"/>
            <p:cNvSpPr/>
            <p:nvPr/>
          </p:nvSpPr>
          <p:spPr>
            <a:xfrm>
              <a:off x="4500" y="2063"/>
              <a:ext cx="59" cy="66"/>
            </a:xfrm>
            <a:prstGeom prst="ellipse">
              <a:avLst/>
            </a:prstGeom>
            <a:blipFill rotWithShape="1">
              <a:blip r:embed="rId1"/>
            </a:blip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951" name="Oval 99" descr="羊皮纸"/>
            <p:cNvSpPr/>
            <p:nvPr/>
          </p:nvSpPr>
          <p:spPr>
            <a:xfrm>
              <a:off x="4811" y="1884"/>
              <a:ext cx="59" cy="66"/>
            </a:xfrm>
            <a:prstGeom prst="ellipse">
              <a:avLst/>
            </a:prstGeom>
            <a:blipFill rotWithShape="1">
              <a:blip r:embed="rId1"/>
            </a:blip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952" name="AutoShape 100" descr="羊皮纸"/>
            <p:cNvSpPr/>
            <p:nvPr/>
          </p:nvSpPr>
          <p:spPr>
            <a:xfrm rot="5400000" flipH="1">
              <a:off x="4242" y="1583"/>
              <a:ext cx="139" cy="138"/>
            </a:xfrm>
            <a:prstGeom prst="flowChartExtract">
              <a:avLst/>
            </a:prstGeom>
            <a:blipFill rotWithShape="1">
              <a:blip r:embed="rId1"/>
            </a:blip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953" name="Text Box 101" descr="羊皮纸"/>
            <p:cNvSpPr txBox="1"/>
            <p:nvPr/>
          </p:nvSpPr>
          <p:spPr>
            <a:xfrm>
              <a:off x="4229" y="1260"/>
              <a:ext cx="1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J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54" name="Text Box 102" descr="羊皮纸"/>
            <p:cNvSpPr txBox="1"/>
            <p:nvPr/>
          </p:nvSpPr>
          <p:spPr>
            <a:xfrm>
              <a:off x="4381" y="1528"/>
              <a:ext cx="310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CP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55" name="Text Box 103" descr="羊皮纸"/>
            <p:cNvSpPr txBox="1"/>
            <p:nvPr/>
          </p:nvSpPr>
          <p:spPr>
            <a:xfrm>
              <a:off x="4412" y="1178"/>
              <a:ext cx="27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D</a:t>
              </a:r>
              <a:endParaRPr lang="en-US" altLang="zh-CN" sz="20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56" name="Text Box 104" descr="羊皮纸"/>
            <p:cNvSpPr txBox="1"/>
            <p:nvPr/>
          </p:nvSpPr>
          <p:spPr>
            <a:xfrm>
              <a:off x="4421" y="1818"/>
              <a:ext cx="29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D</a:t>
              </a:r>
              <a:endParaRPr lang="en-US" altLang="zh-CN" sz="2000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9957" name="Group 105"/>
            <p:cNvGrpSpPr/>
            <p:nvPr/>
          </p:nvGrpSpPr>
          <p:grpSpPr>
            <a:xfrm>
              <a:off x="4927" y="1669"/>
              <a:ext cx="230" cy="250"/>
              <a:chOff x="5290" y="1474"/>
              <a:chExt cx="230" cy="250"/>
            </a:xfrm>
          </p:grpSpPr>
          <p:sp>
            <p:nvSpPr>
              <p:cNvPr id="39962" name="Text Box 106" descr="羊皮纸"/>
              <p:cNvSpPr txBox="1"/>
              <p:nvPr/>
            </p:nvSpPr>
            <p:spPr>
              <a:xfrm>
                <a:off x="5290" y="1474"/>
                <a:ext cx="230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>
                <a:spAutoFit/>
              </a:bodyPr>
              <a:p>
                <a:r>
                  <a:rPr lang="en-US" altLang="zh-CN" sz="2000" dirty="0">
                    <a:latin typeface="Times New Roman" panose="02020603050405020304" pitchFamily="18" charset="0"/>
                  </a:rPr>
                  <a:t>Q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63" name="Line 107"/>
              <p:cNvSpPr/>
              <p:nvPr/>
            </p:nvSpPr>
            <p:spPr>
              <a:xfrm>
                <a:off x="5352" y="1527"/>
                <a:ext cx="10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39958" name="Text Box 108" descr="羊皮纸"/>
            <p:cNvSpPr txBox="1"/>
            <p:nvPr/>
          </p:nvSpPr>
          <p:spPr>
            <a:xfrm>
              <a:off x="4948" y="1124"/>
              <a:ext cx="230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Q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59" name="Line 109"/>
            <p:cNvSpPr/>
            <p:nvPr/>
          </p:nvSpPr>
          <p:spPr>
            <a:xfrm>
              <a:off x="3959" y="1918"/>
              <a:ext cx="282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9960" name="Text Box 110" descr="羊皮纸"/>
            <p:cNvSpPr txBox="1"/>
            <p:nvPr/>
          </p:nvSpPr>
          <p:spPr>
            <a:xfrm>
              <a:off x="4226" y="1778"/>
              <a:ext cx="1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K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61" name="Oval 111" descr="羊皮纸"/>
            <p:cNvSpPr/>
            <p:nvPr/>
          </p:nvSpPr>
          <p:spPr>
            <a:xfrm>
              <a:off x="4171" y="1620"/>
              <a:ext cx="59" cy="66"/>
            </a:xfrm>
            <a:prstGeom prst="ellipse">
              <a:avLst/>
            </a:prstGeom>
            <a:blipFill rotWithShape="1">
              <a:blip r:embed="rId1"/>
            </a:blip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84784" name="Text Box 112"/>
          <p:cNvSpPr txBox="1">
            <a:spLocks noChangeArrowheads="1"/>
          </p:cNvSpPr>
          <p:nvPr/>
        </p:nvSpPr>
        <p:spPr bwMode="auto">
          <a:xfrm>
            <a:off x="1358900" y="588963"/>
            <a:ext cx="4727575" cy="52197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主从</a:t>
            </a:r>
            <a:r>
              <a:rPr kumimoji="1" lang="en-US" altLang="zh-CN" sz="24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zh-CN" altLang="en-US" sz="24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1" lang="en-US" altLang="zh-CN" sz="24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zh-CN" altLang="zh-CN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endParaRPr kumimoji="1" lang="zh-CN" altLang="en-US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2000" fill="hold"/>
                                        <p:tgtEl>
                                          <p:spTgt spid="2847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760" grpId="0"/>
      <p:bldP spid="284760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8468" name="Text Box 4"/>
          <p:cNvSpPr txBox="1"/>
          <p:nvPr/>
        </p:nvSpPr>
        <p:spPr>
          <a:xfrm>
            <a:off x="5299075" y="620713"/>
            <a:ext cx="24479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u="sng" dirty="0">
                <a:latin typeface="Times New Roman" panose="02020603050405020304" pitchFamily="18" charset="0"/>
                <a:ea typeface="楷体_GB2312" pitchFamily="49" charset="-122"/>
              </a:rPr>
              <a:t>工作原理：</a:t>
            </a:r>
            <a:endParaRPr lang="zh-CN" altLang="en-US" b="1" u="sng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8469" name="Text Box 5"/>
          <p:cNvSpPr txBox="1"/>
          <p:nvPr/>
        </p:nvSpPr>
        <p:spPr>
          <a:xfrm>
            <a:off x="5370513" y="1196975"/>
            <a:ext cx="31686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①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8470" name="Text Box 6"/>
          <p:cNvSpPr txBox="1"/>
          <p:nvPr/>
        </p:nvSpPr>
        <p:spPr>
          <a:xfrm>
            <a:off x="5299075" y="1773238"/>
            <a:ext cx="3097213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主触发器保持原态，则触发器（从触发器）也保持原态。即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8471" name="Text Box 7"/>
          <p:cNvSpPr txBox="1"/>
          <p:nvPr/>
        </p:nvSpPr>
        <p:spPr>
          <a:xfrm>
            <a:off x="5624513" y="3624263"/>
            <a:ext cx="31686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Q*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-323850" y="749300"/>
            <a:ext cx="5843588" cy="5588000"/>
            <a:chOff x="196" y="976"/>
            <a:chExt cx="3681" cy="3326"/>
          </a:xfrm>
        </p:grpSpPr>
        <p:sp>
          <p:nvSpPr>
            <p:cNvPr id="40967" name="Text Box 9"/>
            <p:cNvSpPr txBox="1"/>
            <p:nvPr/>
          </p:nvSpPr>
          <p:spPr>
            <a:xfrm>
              <a:off x="1394" y="3992"/>
              <a:ext cx="278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K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40968" name="Text Box 10"/>
            <p:cNvSpPr txBox="1"/>
            <p:nvPr/>
          </p:nvSpPr>
          <p:spPr>
            <a:xfrm>
              <a:off x="2874" y="3993"/>
              <a:ext cx="203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J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40969" name="Line 11"/>
            <p:cNvSpPr/>
            <p:nvPr/>
          </p:nvSpPr>
          <p:spPr>
            <a:xfrm flipV="1">
              <a:off x="1430" y="3894"/>
              <a:ext cx="0" cy="323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0" name="Line 12"/>
            <p:cNvSpPr/>
            <p:nvPr/>
          </p:nvSpPr>
          <p:spPr>
            <a:xfrm flipV="1">
              <a:off x="2889" y="3894"/>
              <a:ext cx="0" cy="31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1" name="Line 13"/>
            <p:cNvSpPr/>
            <p:nvPr/>
          </p:nvSpPr>
          <p:spPr>
            <a:xfrm flipV="1">
              <a:off x="2155" y="4016"/>
              <a:ext cx="0" cy="201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2" name="Text Box 14"/>
            <p:cNvSpPr txBox="1"/>
            <p:nvPr/>
          </p:nvSpPr>
          <p:spPr>
            <a:xfrm>
              <a:off x="2142" y="3981"/>
              <a:ext cx="390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CP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0973" name="Group 15"/>
            <p:cNvGrpSpPr/>
            <p:nvPr/>
          </p:nvGrpSpPr>
          <p:grpSpPr>
            <a:xfrm>
              <a:off x="494" y="976"/>
              <a:ext cx="3383" cy="3107"/>
              <a:chOff x="494" y="218"/>
              <a:chExt cx="3383" cy="3865"/>
            </a:xfrm>
          </p:grpSpPr>
          <p:sp>
            <p:nvSpPr>
              <p:cNvPr id="40976" name="Rectangle 16"/>
              <p:cNvSpPr/>
              <p:nvPr/>
            </p:nvSpPr>
            <p:spPr>
              <a:xfrm>
                <a:off x="1290" y="953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77" name="Rectangle 17"/>
              <p:cNvSpPr/>
              <p:nvPr/>
            </p:nvSpPr>
            <p:spPr>
              <a:xfrm>
                <a:off x="2446" y="953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78" name="Oval 18"/>
              <p:cNvSpPr/>
              <p:nvPr/>
            </p:nvSpPr>
            <p:spPr>
              <a:xfrm>
                <a:off x="1554" y="883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79" name="Oval 19"/>
              <p:cNvSpPr/>
              <p:nvPr/>
            </p:nvSpPr>
            <p:spPr>
              <a:xfrm>
                <a:off x="2710" y="883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80" name="Line 20"/>
              <p:cNvSpPr/>
              <p:nvPr/>
            </p:nvSpPr>
            <p:spPr>
              <a:xfrm flipV="1">
                <a:off x="1590" y="330"/>
                <a:ext cx="0" cy="556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81" name="Line 21"/>
              <p:cNvSpPr/>
              <p:nvPr/>
            </p:nvSpPr>
            <p:spPr>
              <a:xfrm flipV="1">
                <a:off x="1435" y="1286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82" name="Freeform 22"/>
              <p:cNvSpPr/>
              <p:nvPr/>
            </p:nvSpPr>
            <p:spPr>
              <a:xfrm>
                <a:off x="1712" y="775"/>
                <a:ext cx="1045" cy="755"/>
              </a:xfrm>
              <a:custGeom>
                <a:avLst/>
                <a:gdLst>
                  <a:gd name="txL" fmla="*/ 0 w 1045"/>
                  <a:gd name="txT" fmla="*/ 0 h 800"/>
                  <a:gd name="txR" fmla="*/ 1045 w 1045"/>
                  <a:gd name="txB" fmla="*/ 800 h 800"/>
                </a:gdLst>
                <a:ahLst/>
                <a:cxnLst>
                  <a:cxn ang="0">
                    <a:pos x="0" y="495"/>
                  </a:cxn>
                  <a:cxn ang="0">
                    <a:pos x="0" y="713"/>
                  </a:cxn>
                  <a:cxn ang="0">
                    <a:pos x="278" y="713"/>
                  </a:cxn>
                  <a:cxn ang="0">
                    <a:pos x="678" y="0"/>
                  </a:cxn>
                  <a:cxn ang="0">
                    <a:pos x="1045" y="0"/>
                  </a:cxn>
                </a:cxnLst>
                <a:rect l="txL" t="txT" r="txR" b="txB"/>
                <a:pathLst>
                  <a:path w="1045" h="800">
                    <a:moveTo>
                      <a:pt x="0" y="556"/>
                    </a:moveTo>
                    <a:lnTo>
                      <a:pt x="0" y="800"/>
                    </a:lnTo>
                    <a:lnTo>
                      <a:pt x="278" y="800"/>
                    </a:lnTo>
                    <a:lnTo>
                      <a:pt x="678" y="0"/>
                    </a:lnTo>
                    <a:lnTo>
                      <a:pt x="1045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983" name="Line 23"/>
              <p:cNvSpPr/>
              <p:nvPr/>
            </p:nvSpPr>
            <p:spPr>
              <a:xfrm flipV="1">
                <a:off x="2746" y="364"/>
                <a:ext cx="0" cy="52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84" name="Freeform 24"/>
              <p:cNvSpPr/>
              <p:nvPr/>
            </p:nvSpPr>
            <p:spPr>
              <a:xfrm flipH="1">
                <a:off x="1586" y="782"/>
                <a:ext cx="1023" cy="755"/>
              </a:xfrm>
              <a:custGeom>
                <a:avLst/>
                <a:gdLst>
                  <a:gd name="txL" fmla="*/ 0 w 1045"/>
                  <a:gd name="txT" fmla="*/ 0 h 800"/>
                  <a:gd name="txR" fmla="*/ 1045 w 1045"/>
                  <a:gd name="txB" fmla="*/ 800 h 800"/>
                </a:gdLst>
                <a:ahLst/>
                <a:cxnLst>
                  <a:cxn ang="0">
                    <a:pos x="0" y="495"/>
                  </a:cxn>
                  <a:cxn ang="0">
                    <a:pos x="0" y="713"/>
                  </a:cxn>
                  <a:cxn ang="0">
                    <a:pos x="266" y="713"/>
                  </a:cxn>
                  <a:cxn ang="0">
                    <a:pos x="650" y="0"/>
                  </a:cxn>
                  <a:cxn ang="0">
                    <a:pos x="1001" y="0"/>
                  </a:cxn>
                </a:cxnLst>
                <a:rect l="txL" t="txT" r="txR" b="txB"/>
                <a:pathLst>
                  <a:path w="1045" h="800">
                    <a:moveTo>
                      <a:pt x="0" y="556"/>
                    </a:moveTo>
                    <a:lnTo>
                      <a:pt x="0" y="800"/>
                    </a:lnTo>
                    <a:lnTo>
                      <a:pt x="278" y="800"/>
                    </a:lnTo>
                    <a:lnTo>
                      <a:pt x="678" y="0"/>
                    </a:lnTo>
                    <a:lnTo>
                      <a:pt x="1045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0985" name="Line 25"/>
              <p:cNvSpPr/>
              <p:nvPr/>
            </p:nvSpPr>
            <p:spPr>
              <a:xfrm flipV="1">
                <a:off x="2891" y="1286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86" name="Text Box 26"/>
              <p:cNvSpPr txBox="1"/>
              <p:nvPr/>
            </p:nvSpPr>
            <p:spPr>
              <a:xfrm>
                <a:off x="1444" y="962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87" name="Text Box 27"/>
              <p:cNvSpPr txBox="1"/>
              <p:nvPr/>
            </p:nvSpPr>
            <p:spPr>
              <a:xfrm>
                <a:off x="2589" y="962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0988" name="Group 28"/>
              <p:cNvGrpSpPr/>
              <p:nvPr/>
            </p:nvGrpSpPr>
            <p:grpSpPr>
              <a:xfrm>
                <a:off x="1331" y="230"/>
                <a:ext cx="278" cy="384"/>
                <a:chOff x="1086" y="2275"/>
                <a:chExt cx="278" cy="384"/>
              </a:xfrm>
            </p:grpSpPr>
            <p:sp>
              <p:nvSpPr>
                <p:cNvPr id="41049" name="Text Box 29"/>
                <p:cNvSpPr txBox="1"/>
                <p:nvPr/>
              </p:nvSpPr>
              <p:spPr>
                <a:xfrm>
                  <a:off x="1086" y="2275"/>
                  <a:ext cx="278" cy="384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i="1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50" name="Line 30"/>
                <p:cNvSpPr/>
                <p:nvPr/>
              </p:nvSpPr>
              <p:spPr>
                <a:xfrm>
                  <a:off x="1144" y="2322"/>
                  <a:ext cx="155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0989" name="Oval 31"/>
              <p:cNvSpPr/>
              <p:nvPr/>
            </p:nvSpPr>
            <p:spPr>
              <a:xfrm>
                <a:off x="1543" y="750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0" name="Oval 32"/>
              <p:cNvSpPr/>
              <p:nvPr/>
            </p:nvSpPr>
            <p:spPr>
              <a:xfrm>
                <a:off x="2699" y="739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1" name="Text Box 33"/>
              <p:cNvSpPr txBox="1"/>
              <p:nvPr/>
            </p:nvSpPr>
            <p:spPr>
              <a:xfrm>
                <a:off x="3539" y="2992"/>
                <a:ext cx="338" cy="38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2" name="Text Box 34"/>
              <p:cNvSpPr txBox="1"/>
              <p:nvPr/>
            </p:nvSpPr>
            <p:spPr>
              <a:xfrm>
                <a:off x="2755" y="218"/>
                <a:ext cx="278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Q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3" name="Rectangle 35"/>
              <p:cNvSpPr/>
              <p:nvPr/>
            </p:nvSpPr>
            <p:spPr>
              <a:xfrm>
                <a:off x="1147" y="1642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4" name="Text Box 36"/>
              <p:cNvSpPr txBox="1"/>
              <p:nvPr/>
            </p:nvSpPr>
            <p:spPr>
              <a:xfrm>
                <a:off x="1301" y="1652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5" name="Oval 37"/>
              <p:cNvSpPr/>
              <p:nvPr/>
            </p:nvSpPr>
            <p:spPr>
              <a:xfrm>
                <a:off x="1399" y="1583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6" name="Line 38"/>
              <p:cNvSpPr/>
              <p:nvPr/>
            </p:nvSpPr>
            <p:spPr>
              <a:xfrm flipV="1">
                <a:off x="1433" y="1985"/>
                <a:ext cx="1" cy="39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97" name="Rectangle 39"/>
              <p:cNvSpPr/>
              <p:nvPr/>
            </p:nvSpPr>
            <p:spPr>
              <a:xfrm>
                <a:off x="2592" y="1642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8" name="Text Box 40"/>
              <p:cNvSpPr txBox="1"/>
              <p:nvPr/>
            </p:nvSpPr>
            <p:spPr>
              <a:xfrm>
                <a:off x="2746" y="1652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9" name="Oval 41"/>
              <p:cNvSpPr/>
              <p:nvPr/>
            </p:nvSpPr>
            <p:spPr>
              <a:xfrm>
                <a:off x="2844" y="1583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0" name="Line 42"/>
              <p:cNvSpPr/>
              <p:nvPr/>
            </p:nvSpPr>
            <p:spPr>
              <a:xfrm flipH="1" flipV="1">
                <a:off x="2893" y="1985"/>
                <a:ext cx="1" cy="384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01" name="Freeform 43"/>
              <p:cNvSpPr/>
              <p:nvPr/>
            </p:nvSpPr>
            <p:spPr>
              <a:xfrm>
                <a:off x="1624" y="1975"/>
                <a:ext cx="1055" cy="122"/>
              </a:xfrm>
              <a:custGeom>
                <a:avLst/>
                <a:gdLst>
                  <a:gd name="txL" fmla="*/ 0 w 1178"/>
                  <a:gd name="txT" fmla="*/ 0 h 133"/>
                  <a:gd name="txR" fmla="*/ 1178 w 1178"/>
                  <a:gd name="txB" fmla="*/ 133 h 133"/>
                </a:gdLst>
                <a:ahLst/>
                <a:cxnLst>
                  <a:cxn ang="0">
                    <a:pos x="0" y="9"/>
                  </a:cxn>
                  <a:cxn ang="0">
                    <a:pos x="0" y="112"/>
                  </a:cxn>
                  <a:cxn ang="0">
                    <a:pos x="945" y="112"/>
                  </a:cxn>
                  <a:cxn ang="0">
                    <a:pos x="945" y="0"/>
                  </a:cxn>
                </a:cxnLst>
                <a:rect l="txL" t="txT" r="txR" b="txB"/>
                <a:pathLst>
                  <a:path w="1178" h="133">
                    <a:moveTo>
                      <a:pt x="0" y="11"/>
                    </a:moveTo>
                    <a:lnTo>
                      <a:pt x="0" y="133"/>
                    </a:lnTo>
                    <a:lnTo>
                      <a:pt x="1178" y="133"/>
                    </a:lnTo>
                    <a:lnTo>
                      <a:pt x="1178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02" name="Line 44"/>
              <p:cNvSpPr/>
              <p:nvPr/>
            </p:nvSpPr>
            <p:spPr>
              <a:xfrm flipH="1" flipV="1">
                <a:off x="2153" y="2107"/>
                <a:ext cx="11" cy="1409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03" name="Oval 45"/>
              <p:cNvSpPr/>
              <p:nvPr/>
            </p:nvSpPr>
            <p:spPr>
              <a:xfrm>
                <a:off x="2110" y="2073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4" name="Freeform 46"/>
              <p:cNvSpPr/>
              <p:nvPr/>
            </p:nvSpPr>
            <p:spPr>
              <a:xfrm>
                <a:off x="836" y="540"/>
                <a:ext cx="1923" cy="3543"/>
              </a:xfrm>
              <a:custGeom>
                <a:avLst/>
                <a:gdLst>
                  <a:gd name="txL" fmla="*/ 0 w 1923"/>
                  <a:gd name="txT" fmla="*/ 0 h 1633"/>
                  <a:gd name="txR" fmla="*/ 1923 w 1923"/>
                  <a:gd name="txB" fmla="*/ 1633 h 1633"/>
                </a:gdLst>
                <a:ahLst/>
                <a:cxnLst>
                  <a:cxn ang="0">
                    <a:pos x="423" y="6854"/>
                  </a:cxn>
                  <a:cxn ang="0">
                    <a:pos x="423" y="7687"/>
                  </a:cxn>
                  <a:cxn ang="0">
                    <a:pos x="0" y="7687"/>
                  </a:cxn>
                  <a:cxn ang="0">
                    <a:pos x="0" y="0"/>
                  </a:cxn>
                  <a:cxn ang="0">
                    <a:pos x="1923" y="0"/>
                  </a:cxn>
                </a:cxnLst>
                <a:rect l="txL" t="txT" r="txR" b="txB"/>
                <a:pathLst>
                  <a:path w="1923" h="1633">
                    <a:moveTo>
                      <a:pt x="423" y="1456"/>
                    </a:moveTo>
                    <a:lnTo>
                      <a:pt x="423" y="1633"/>
                    </a:lnTo>
                    <a:lnTo>
                      <a:pt x="0" y="1633"/>
                    </a:lnTo>
                    <a:lnTo>
                      <a:pt x="0" y="0"/>
                    </a:lnTo>
                    <a:lnTo>
                      <a:pt x="1923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05" name="Oval 47"/>
              <p:cNvSpPr/>
              <p:nvPr/>
            </p:nvSpPr>
            <p:spPr>
              <a:xfrm>
                <a:off x="2699" y="506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6" name="Freeform 48"/>
              <p:cNvSpPr/>
              <p:nvPr/>
            </p:nvSpPr>
            <p:spPr>
              <a:xfrm flipH="1">
                <a:off x="1575" y="647"/>
                <a:ext cx="1966" cy="3421"/>
              </a:xfrm>
              <a:custGeom>
                <a:avLst/>
                <a:gdLst>
                  <a:gd name="txL" fmla="*/ 0 w 1923"/>
                  <a:gd name="txT" fmla="*/ 0 h 1633"/>
                  <a:gd name="txR" fmla="*/ 1923 w 1923"/>
                  <a:gd name="txB" fmla="*/ 1633 h 1633"/>
                </a:gdLst>
                <a:ahLst/>
                <a:cxnLst>
                  <a:cxn ang="0">
                    <a:pos x="442" y="6389"/>
                  </a:cxn>
                  <a:cxn ang="0">
                    <a:pos x="442" y="7167"/>
                  </a:cxn>
                  <a:cxn ang="0">
                    <a:pos x="0" y="7167"/>
                  </a:cxn>
                  <a:cxn ang="0">
                    <a:pos x="0" y="0"/>
                  </a:cxn>
                  <a:cxn ang="0">
                    <a:pos x="2010" y="0"/>
                  </a:cxn>
                </a:cxnLst>
                <a:rect l="txL" t="txT" r="txR" b="txB"/>
                <a:pathLst>
                  <a:path w="1923" h="1633">
                    <a:moveTo>
                      <a:pt x="423" y="1456"/>
                    </a:moveTo>
                    <a:lnTo>
                      <a:pt x="423" y="1633"/>
                    </a:lnTo>
                    <a:lnTo>
                      <a:pt x="0" y="1633"/>
                    </a:lnTo>
                    <a:lnTo>
                      <a:pt x="0" y="0"/>
                    </a:lnTo>
                    <a:lnTo>
                      <a:pt x="1923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07" name="Oval 49"/>
              <p:cNvSpPr/>
              <p:nvPr/>
            </p:nvSpPr>
            <p:spPr>
              <a:xfrm>
                <a:off x="1543" y="605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8" name="Rectangle 50"/>
              <p:cNvSpPr/>
              <p:nvPr/>
            </p:nvSpPr>
            <p:spPr>
              <a:xfrm>
                <a:off x="1286" y="2862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9" name="Rectangle 51"/>
              <p:cNvSpPr/>
              <p:nvPr/>
            </p:nvSpPr>
            <p:spPr>
              <a:xfrm>
                <a:off x="2442" y="2862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0" name="Oval 52"/>
              <p:cNvSpPr/>
              <p:nvPr/>
            </p:nvSpPr>
            <p:spPr>
              <a:xfrm>
                <a:off x="1550" y="2792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1" name="Oval 53"/>
              <p:cNvSpPr/>
              <p:nvPr/>
            </p:nvSpPr>
            <p:spPr>
              <a:xfrm>
                <a:off x="2706" y="2792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2" name="Line 54"/>
              <p:cNvSpPr/>
              <p:nvPr/>
            </p:nvSpPr>
            <p:spPr>
              <a:xfrm flipH="1" flipV="1">
                <a:off x="1585" y="2342"/>
                <a:ext cx="1" cy="453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13" name="Line 55"/>
              <p:cNvSpPr/>
              <p:nvPr/>
            </p:nvSpPr>
            <p:spPr>
              <a:xfrm flipV="1">
                <a:off x="1431" y="3195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14" name="Freeform 56"/>
              <p:cNvSpPr/>
              <p:nvPr/>
            </p:nvSpPr>
            <p:spPr>
              <a:xfrm>
                <a:off x="1708" y="2684"/>
                <a:ext cx="1045" cy="755"/>
              </a:xfrm>
              <a:custGeom>
                <a:avLst/>
                <a:gdLst>
                  <a:gd name="txL" fmla="*/ 0 w 1045"/>
                  <a:gd name="txT" fmla="*/ 0 h 800"/>
                  <a:gd name="txR" fmla="*/ 1045 w 1045"/>
                  <a:gd name="txB" fmla="*/ 800 h 800"/>
                </a:gdLst>
                <a:ahLst/>
                <a:cxnLst>
                  <a:cxn ang="0">
                    <a:pos x="0" y="495"/>
                  </a:cxn>
                  <a:cxn ang="0">
                    <a:pos x="0" y="713"/>
                  </a:cxn>
                  <a:cxn ang="0">
                    <a:pos x="278" y="713"/>
                  </a:cxn>
                  <a:cxn ang="0">
                    <a:pos x="678" y="0"/>
                  </a:cxn>
                  <a:cxn ang="0">
                    <a:pos x="1045" y="0"/>
                  </a:cxn>
                </a:cxnLst>
                <a:rect l="txL" t="txT" r="txR" b="txB"/>
                <a:pathLst>
                  <a:path w="1045" h="800">
                    <a:moveTo>
                      <a:pt x="0" y="556"/>
                    </a:moveTo>
                    <a:lnTo>
                      <a:pt x="0" y="800"/>
                    </a:lnTo>
                    <a:lnTo>
                      <a:pt x="278" y="800"/>
                    </a:lnTo>
                    <a:lnTo>
                      <a:pt x="678" y="0"/>
                    </a:lnTo>
                    <a:lnTo>
                      <a:pt x="1045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15" name="Line 57"/>
              <p:cNvSpPr/>
              <p:nvPr/>
            </p:nvSpPr>
            <p:spPr>
              <a:xfrm flipV="1">
                <a:off x="2742" y="2369"/>
                <a:ext cx="0" cy="426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16" name="Freeform 58"/>
              <p:cNvSpPr/>
              <p:nvPr/>
            </p:nvSpPr>
            <p:spPr>
              <a:xfrm flipH="1">
                <a:off x="1582" y="2691"/>
                <a:ext cx="1023" cy="755"/>
              </a:xfrm>
              <a:custGeom>
                <a:avLst/>
                <a:gdLst>
                  <a:gd name="txL" fmla="*/ 0 w 1045"/>
                  <a:gd name="txT" fmla="*/ 0 h 800"/>
                  <a:gd name="txR" fmla="*/ 1045 w 1045"/>
                  <a:gd name="txB" fmla="*/ 800 h 800"/>
                </a:gdLst>
                <a:ahLst/>
                <a:cxnLst>
                  <a:cxn ang="0">
                    <a:pos x="0" y="495"/>
                  </a:cxn>
                  <a:cxn ang="0">
                    <a:pos x="0" y="713"/>
                  </a:cxn>
                  <a:cxn ang="0">
                    <a:pos x="266" y="713"/>
                  </a:cxn>
                  <a:cxn ang="0">
                    <a:pos x="650" y="0"/>
                  </a:cxn>
                  <a:cxn ang="0">
                    <a:pos x="1001" y="0"/>
                  </a:cxn>
                </a:cxnLst>
                <a:rect l="txL" t="txT" r="txR" b="txB"/>
                <a:pathLst>
                  <a:path w="1045" h="800">
                    <a:moveTo>
                      <a:pt x="0" y="556"/>
                    </a:moveTo>
                    <a:lnTo>
                      <a:pt x="0" y="800"/>
                    </a:lnTo>
                    <a:lnTo>
                      <a:pt x="278" y="800"/>
                    </a:lnTo>
                    <a:lnTo>
                      <a:pt x="678" y="0"/>
                    </a:lnTo>
                    <a:lnTo>
                      <a:pt x="1045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17" name="Line 59"/>
              <p:cNvSpPr/>
              <p:nvPr/>
            </p:nvSpPr>
            <p:spPr>
              <a:xfrm flipV="1">
                <a:off x="2887" y="3195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018" name="Text Box 60"/>
              <p:cNvSpPr txBox="1"/>
              <p:nvPr/>
            </p:nvSpPr>
            <p:spPr>
              <a:xfrm>
                <a:off x="1440" y="2873"/>
                <a:ext cx="290" cy="38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9" name="Text Box 61"/>
              <p:cNvSpPr txBox="1"/>
              <p:nvPr/>
            </p:nvSpPr>
            <p:spPr>
              <a:xfrm>
                <a:off x="2585" y="2873"/>
                <a:ext cx="290" cy="38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0" name="Oval 62"/>
              <p:cNvSpPr/>
              <p:nvPr/>
            </p:nvSpPr>
            <p:spPr>
              <a:xfrm>
                <a:off x="1539" y="2659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1" name="Oval 63"/>
              <p:cNvSpPr/>
              <p:nvPr/>
            </p:nvSpPr>
            <p:spPr>
              <a:xfrm>
                <a:off x="2695" y="2648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2" name="Text Box 64"/>
              <p:cNvSpPr txBox="1"/>
              <p:nvPr/>
            </p:nvSpPr>
            <p:spPr>
              <a:xfrm>
                <a:off x="494" y="3000"/>
                <a:ext cx="363" cy="38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3" name="Rectangle 65"/>
              <p:cNvSpPr/>
              <p:nvPr/>
            </p:nvSpPr>
            <p:spPr>
              <a:xfrm>
                <a:off x="1143" y="3551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4" name="Text Box 66"/>
              <p:cNvSpPr txBox="1"/>
              <p:nvPr/>
            </p:nvSpPr>
            <p:spPr>
              <a:xfrm>
                <a:off x="1297" y="3561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5" name="Oval 67"/>
              <p:cNvSpPr/>
              <p:nvPr/>
            </p:nvSpPr>
            <p:spPr>
              <a:xfrm>
                <a:off x="1395" y="3492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6" name="Rectangle 68"/>
              <p:cNvSpPr/>
              <p:nvPr/>
            </p:nvSpPr>
            <p:spPr>
              <a:xfrm>
                <a:off x="2588" y="3551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7" name="Text Box 69"/>
              <p:cNvSpPr txBox="1"/>
              <p:nvPr/>
            </p:nvSpPr>
            <p:spPr>
              <a:xfrm>
                <a:off x="2742" y="3561"/>
                <a:ext cx="290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8" name="Oval 70"/>
              <p:cNvSpPr/>
              <p:nvPr/>
            </p:nvSpPr>
            <p:spPr>
              <a:xfrm>
                <a:off x="2840" y="3492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9" name="Freeform 71"/>
              <p:cNvSpPr/>
              <p:nvPr/>
            </p:nvSpPr>
            <p:spPr>
              <a:xfrm>
                <a:off x="1620" y="3884"/>
                <a:ext cx="1055" cy="122"/>
              </a:xfrm>
              <a:custGeom>
                <a:avLst/>
                <a:gdLst>
                  <a:gd name="txL" fmla="*/ 0 w 1178"/>
                  <a:gd name="txT" fmla="*/ 0 h 133"/>
                  <a:gd name="txR" fmla="*/ 1178 w 1178"/>
                  <a:gd name="txB" fmla="*/ 133 h 133"/>
                </a:gdLst>
                <a:ahLst/>
                <a:cxnLst>
                  <a:cxn ang="0">
                    <a:pos x="0" y="9"/>
                  </a:cxn>
                  <a:cxn ang="0">
                    <a:pos x="0" y="112"/>
                  </a:cxn>
                  <a:cxn ang="0">
                    <a:pos x="945" y="112"/>
                  </a:cxn>
                  <a:cxn ang="0">
                    <a:pos x="945" y="0"/>
                  </a:cxn>
                </a:cxnLst>
                <a:rect l="txL" t="txT" r="txR" b="txB"/>
                <a:pathLst>
                  <a:path w="1178" h="133">
                    <a:moveTo>
                      <a:pt x="0" y="11"/>
                    </a:moveTo>
                    <a:lnTo>
                      <a:pt x="0" y="133"/>
                    </a:lnTo>
                    <a:lnTo>
                      <a:pt x="1178" y="133"/>
                    </a:lnTo>
                    <a:lnTo>
                      <a:pt x="1178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30" name="Oval 72"/>
              <p:cNvSpPr/>
              <p:nvPr/>
            </p:nvSpPr>
            <p:spPr>
              <a:xfrm>
                <a:off x="2118" y="3982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1" name="Oval 73"/>
              <p:cNvSpPr/>
              <p:nvPr/>
            </p:nvSpPr>
            <p:spPr>
              <a:xfrm>
                <a:off x="3277" y="3263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2" name="Oval 74"/>
              <p:cNvSpPr/>
              <p:nvPr/>
            </p:nvSpPr>
            <p:spPr>
              <a:xfrm>
                <a:off x="975" y="3284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3" name="Line 75"/>
              <p:cNvSpPr/>
              <p:nvPr/>
            </p:nvSpPr>
            <p:spPr>
              <a:xfrm>
                <a:off x="1433" y="2359"/>
                <a:ext cx="143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34" name="Line 76"/>
              <p:cNvSpPr/>
              <p:nvPr/>
            </p:nvSpPr>
            <p:spPr>
              <a:xfrm>
                <a:off x="2741" y="2369"/>
                <a:ext cx="153" cy="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35" name="Rectangle 77"/>
              <p:cNvSpPr/>
              <p:nvPr/>
            </p:nvSpPr>
            <p:spPr>
              <a:xfrm>
                <a:off x="1879" y="3564"/>
                <a:ext cx="576" cy="309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6" name="Oval 78"/>
              <p:cNvSpPr/>
              <p:nvPr/>
            </p:nvSpPr>
            <p:spPr>
              <a:xfrm>
                <a:off x="2125" y="3495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7" name="Line 79"/>
              <p:cNvSpPr/>
              <p:nvPr/>
            </p:nvSpPr>
            <p:spPr>
              <a:xfrm>
                <a:off x="2158" y="3868"/>
                <a:ext cx="0" cy="128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38" name="Text Box 80"/>
              <p:cNvSpPr txBox="1"/>
              <p:nvPr/>
            </p:nvSpPr>
            <p:spPr>
              <a:xfrm>
                <a:off x="2052" y="3532"/>
                <a:ext cx="228" cy="3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9" name="Line 81"/>
              <p:cNvSpPr/>
              <p:nvPr/>
            </p:nvSpPr>
            <p:spPr>
              <a:xfrm flipH="1">
                <a:off x="1564" y="1298"/>
                <a:ext cx="0" cy="127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40" name="Line 82"/>
              <p:cNvSpPr/>
              <p:nvPr/>
            </p:nvSpPr>
            <p:spPr>
              <a:xfrm>
                <a:off x="1006" y="1425"/>
                <a:ext cx="564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41" name="Line 83"/>
              <p:cNvSpPr/>
              <p:nvPr/>
            </p:nvSpPr>
            <p:spPr>
              <a:xfrm>
                <a:off x="1558" y="3207"/>
                <a:ext cx="0" cy="12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42" name="Line 84"/>
              <p:cNvSpPr/>
              <p:nvPr/>
            </p:nvSpPr>
            <p:spPr>
              <a:xfrm flipV="1">
                <a:off x="691" y="3322"/>
                <a:ext cx="867" cy="1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43" name="Line 85"/>
              <p:cNvSpPr/>
              <p:nvPr/>
            </p:nvSpPr>
            <p:spPr>
              <a:xfrm flipH="1">
                <a:off x="1013" y="1419"/>
                <a:ext cx="6" cy="191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44" name="Line 86"/>
              <p:cNvSpPr/>
              <p:nvPr/>
            </p:nvSpPr>
            <p:spPr>
              <a:xfrm>
                <a:off x="2741" y="1298"/>
                <a:ext cx="0" cy="11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45" name="Line 87"/>
              <p:cNvSpPr/>
              <p:nvPr/>
            </p:nvSpPr>
            <p:spPr>
              <a:xfrm>
                <a:off x="2728" y="1425"/>
                <a:ext cx="570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46" name="Line 88"/>
              <p:cNvSpPr/>
              <p:nvPr/>
            </p:nvSpPr>
            <p:spPr>
              <a:xfrm>
                <a:off x="3304" y="1419"/>
                <a:ext cx="6" cy="1898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47" name="Line 89"/>
              <p:cNvSpPr/>
              <p:nvPr/>
            </p:nvSpPr>
            <p:spPr>
              <a:xfrm>
                <a:off x="2734" y="3207"/>
                <a:ext cx="0" cy="12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41048" name="Line 90"/>
              <p:cNvSpPr/>
              <p:nvPr/>
            </p:nvSpPr>
            <p:spPr>
              <a:xfrm>
                <a:off x="2734" y="3317"/>
                <a:ext cx="946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40974" name="Text Box 91" descr="羊皮纸"/>
            <p:cNvSpPr txBox="1"/>
            <p:nvPr/>
          </p:nvSpPr>
          <p:spPr>
            <a:xfrm>
              <a:off x="196" y="1484"/>
              <a:ext cx="786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（从）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0975" name="Text Box 92" descr="羊皮纸"/>
            <p:cNvSpPr txBox="1"/>
            <p:nvPr/>
          </p:nvSpPr>
          <p:spPr>
            <a:xfrm>
              <a:off x="198" y="3014"/>
              <a:ext cx="786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（主）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3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8" grpId="0"/>
      <p:bldP spid="318469" grpId="0"/>
      <p:bldP spid="318470" grpId="0"/>
      <p:bldP spid="31847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0514" name="Rectangle 2"/>
          <p:cNvSpPr>
            <a:spLocks noGrp="1"/>
          </p:cNvSpPr>
          <p:nvPr>
            <p:ph type="title"/>
          </p:nvPr>
        </p:nvSpPr>
        <p:spPr>
          <a:xfrm>
            <a:off x="250825" y="620713"/>
            <a:ext cx="2819400" cy="558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en-US" altLang="zh-CN" sz="2800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zh-CN" altLang="en-US" sz="2800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i="1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0515" name="Object 3"/>
          <p:cNvGraphicFramePr>
            <a:graphicFrameLocks noChangeAspect="1"/>
          </p:cNvGraphicFramePr>
          <p:nvPr/>
        </p:nvGraphicFramePr>
        <p:xfrm>
          <a:off x="3851275" y="342900"/>
          <a:ext cx="5003800" cy="275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2878455" imgH="1433830" progId="Visio.Drawing.11">
                  <p:embed/>
                </p:oleObj>
              </mc:Choice>
              <mc:Fallback>
                <p:oleObj name="" r:id="rId1" imgW="2878455" imgH="1433830" progId="Visio.Drawing.11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rcRect l="2681"/>
                      <a:stretch>
                        <a:fillRect/>
                      </a:stretch>
                    </p:blipFill>
                    <p:spPr>
                      <a:xfrm>
                        <a:off x="3851275" y="342900"/>
                        <a:ext cx="5003800" cy="2751138"/>
                      </a:xfrm>
                      <a:prstGeom prst="rect">
                        <a:avLst/>
                      </a:prstGeom>
                      <a:noFill/>
                      <a:ln w="57150" cap="flat" cmpd="thickThin">
                        <a:solidFill>
                          <a:srgbClr val="FF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16" name="Rectangle 4"/>
          <p:cNvSpPr/>
          <p:nvPr/>
        </p:nvSpPr>
        <p:spPr>
          <a:xfrm>
            <a:off x="4217988" y="447675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1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0517" name="Rectangle 5"/>
          <p:cNvSpPr/>
          <p:nvPr/>
        </p:nvSpPr>
        <p:spPr>
          <a:xfrm>
            <a:off x="4216400" y="1527175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b="1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0518" name="Text Box 6"/>
          <p:cNvSpPr txBox="1"/>
          <p:nvPr/>
        </p:nvSpPr>
        <p:spPr>
          <a:xfrm>
            <a:off x="323850" y="1196975"/>
            <a:ext cx="28082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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endParaRPr lang="en-US" altLang="en-US" b="1" i="1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0522" name="AutoShape 10"/>
          <p:cNvSpPr/>
          <p:nvPr/>
        </p:nvSpPr>
        <p:spPr>
          <a:xfrm>
            <a:off x="234950" y="2181225"/>
            <a:ext cx="649288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0523" name="Text Box 11"/>
          <p:cNvSpPr txBox="1"/>
          <p:nvPr/>
        </p:nvSpPr>
        <p:spPr>
          <a:xfrm>
            <a:off x="1027113" y="1892300"/>
            <a:ext cx="29527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主触发器保持原态</a:t>
            </a:r>
            <a:r>
              <a:rPr lang="zh-CN" altLang="en-US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baseline="-25000" dirty="0">
                <a:latin typeface="Times New Roman" panose="02020603050405020304" pitchFamily="18" charset="0"/>
                <a:ea typeface="楷体_GB2312" pitchFamily="49" charset="-122"/>
              </a:rPr>
              <a:t>主</a:t>
            </a:r>
            <a:r>
              <a:rPr lang="zh-CN" altLang="en-US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= 0</a:t>
            </a:r>
            <a:endParaRPr lang="en-US" altLang="zh-CN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0524" name="AutoShape 12"/>
          <p:cNvSpPr/>
          <p:nvPr/>
        </p:nvSpPr>
        <p:spPr>
          <a:xfrm>
            <a:off x="219075" y="3276600"/>
            <a:ext cx="649288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939800" y="3132138"/>
            <a:ext cx="7907338" cy="946150"/>
            <a:chOff x="612" y="2659"/>
            <a:chExt cx="4808" cy="596"/>
          </a:xfrm>
        </p:grpSpPr>
        <p:sp>
          <p:nvSpPr>
            <p:cNvPr id="42008" name="Text Box 14"/>
            <p:cNvSpPr txBox="1"/>
            <p:nvPr/>
          </p:nvSpPr>
          <p:spPr>
            <a:xfrm>
              <a:off x="612" y="2659"/>
              <a:ext cx="4808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在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CLK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的     ，从触发器也保持状态不变，即</a:t>
              </a:r>
              <a:r>
                <a:rPr lang="zh-CN" altLang="en-US" b="1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Q = 0</a:t>
              </a:r>
              <a:endParaRPr lang="en-US" altLang="zh-CN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42009" name="Group 15"/>
            <p:cNvGrpSpPr/>
            <p:nvPr/>
          </p:nvGrpSpPr>
          <p:grpSpPr>
            <a:xfrm>
              <a:off x="1610" y="2704"/>
              <a:ext cx="227" cy="273"/>
              <a:chOff x="1927" y="3475"/>
              <a:chExt cx="227" cy="273"/>
            </a:xfrm>
          </p:grpSpPr>
          <p:sp>
            <p:nvSpPr>
              <p:cNvPr id="42010" name="Line 16"/>
              <p:cNvSpPr/>
              <p:nvPr/>
            </p:nvSpPr>
            <p:spPr>
              <a:xfrm>
                <a:off x="1927" y="3475"/>
                <a:ext cx="1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1" name="Line 17"/>
              <p:cNvSpPr/>
              <p:nvPr/>
            </p:nvSpPr>
            <p:spPr>
              <a:xfrm>
                <a:off x="2064" y="3475"/>
                <a:ext cx="0" cy="18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2012" name="Line 18"/>
              <p:cNvSpPr/>
              <p:nvPr/>
            </p:nvSpPr>
            <p:spPr>
              <a:xfrm>
                <a:off x="2064" y="3657"/>
                <a:ext cx="0" cy="9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3" name="Line 19"/>
              <p:cNvSpPr/>
              <p:nvPr/>
            </p:nvSpPr>
            <p:spPr>
              <a:xfrm>
                <a:off x="2064" y="3748"/>
                <a:ext cx="9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20532" name="Text Box 20"/>
          <p:cNvSpPr txBox="1"/>
          <p:nvPr/>
        </p:nvSpPr>
        <p:spPr>
          <a:xfrm>
            <a:off x="147638" y="3925888"/>
            <a:ext cx="28082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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lang="en-US" altLang="en-US" b="1" i="1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0535" name="AutoShape 23"/>
          <p:cNvSpPr/>
          <p:nvPr/>
        </p:nvSpPr>
        <p:spPr>
          <a:xfrm>
            <a:off x="247650" y="4824413"/>
            <a:ext cx="649288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0536" name="Rectangle 24"/>
          <p:cNvSpPr/>
          <p:nvPr/>
        </p:nvSpPr>
        <p:spPr>
          <a:xfrm>
            <a:off x="1044575" y="4613275"/>
            <a:ext cx="77009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时，主触发器翻转为“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0”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，即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baseline="-25000" dirty="0">
                <a:latin typeface="Times New Roman" panose="02020603050405020304" pitchFamily="18" charset="0"/>
                <a:ea typeface="楷体_GB2312" pitchFamily="49" charset="-122"/>
              </a:rPr>
              <a:t>主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0537" name="AutoShape 25"/>
          <p:cNvSpPr/>
          <p:nvPr/>
        </p:nvSpPr>
        <p:spPr>
          <a:xfrm>
            <a:off x="219075" y="5862638"/>
            <a:ext cx="649288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" name="Group 26"/>
          <p:cNvGrpSpPr/>
          <p:nvPr/>
        </p:nvGrpSpPr>
        <p:grpSpPr>
          <a:xfrm>
            <a:off x="1011238" y="5575300"/>
            <a:ext cx="5184775" cy="946150"/>
            <a:chOff x="748" y="3702"/>
            <a:chExt cx="3266" cy="596"/>
          </a:xfrm>
        </p:grpSpPr>
        <p:sp>
          <p:nvSpPr>
            <p:cNvPr id="42002" name="Text Box 27"/>
            <p:cNvSpPr txBox="1"/>
            <p:nvPr/>
          </p:nvSpPr>
          <p:spPr>
            <a:xfrm>
              <a:off x="748" y="3702"/>
              <a:ext cx="3266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在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CLK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的     ，从触发器由“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1”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翻转为“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0”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，即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Q= 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42003" name="Group 28"/>
            <p:cNvGrpSpPr/>
            <p:nvPr/>
          </p:nvGrpSpPr>
          <p:grpSpPr>
            <a:xfrm>
              <a:off x="1746" y="3748"/>
              <a:ext cx="227" cy="273"/>
              <a:chOff x="1927" y="3475"/>
              <a:chExt cx="227" cy="273"/>
            </a:xfrm>
          </p:grpSpPr>
          <p:sp>
            <p:nvSpPr>
              <p:cNvPr id="42004" name="Line 29"/>
              <p:cNvSpPr/>
              <p:nvPr/>
            </p:nvSpPr>
            <p:spPr>
              <a:xfrm>
                <a:off x="1927" y="3475"/>
                <a:ext cx="1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05" name="Line 30"/>
              <p:cNvSpPr/>
              <p:nvPr/>
            </p:nvSpPr>
            <p:spPr>
              <a:xfrm>
                <a:off x="2064" y="3475"/>
                <a:ext cx="0" cy="18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2006" name="Line 31"/>
              <p:cNvSpPr/>
              <p:nvPr/>
            </p:nvSpPr>
            <p:spPr>
              <a:xfrm>
                <a:off x="2064" y="3657"/>
                <a:ext cx="0" cy="9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07" name="Line 32"/>
              <p:cNvSpPr/>
              <p:nvPr/>
            </p:nvSpPr>
            <p:spPr>
              <a:xfrm>
                <a:off x="2064" y="3748"/>
                <a:ext cx="9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20545" name="AutoShape 33"/>
          <p:cNvSpPr/>
          <p:nvPr/>
        </p:nvSpPr>
        <p:spPr>
          <a:xfrm>
            <a:off x="6269038" y="5934075"/>
            <a:ext cx="649287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0546" name="Rectangle 34"/>
          <p:cNvSpPr/>
          <p:nvPr/>
        </p:nvSpPr>
        <p:spPr>
          <a:xfrm>
            <a:off x="7493000" y="5862638"/>
            <a:ext cx="911225" cy="519112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Q= </a:t>
            </a:r>
            <a:r>
              <a:rPr lang="en-US" altLang="zh-CN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1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2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2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2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2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0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0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4" grpId="0"/>
      <p:bldP spid="320516" grpId="0"/>
      <p:bldP spid="320517" grpId="0"/>
      <p:bldP spid="320518" grpId="0"/>
      <p:bldP spid="320522" grpId="0" animBg="1"/>
      <p:bldP spid="320523" grpId="0"/>
      <p:bldP spid="320524" grpId="0" animBg="1"/>
      <p:bldP spid="320532" grpId="0"/>
      <p:bldP spid="320535" grpId="0" animBg="1"/>
      <p:bldP spid="320536" grpId="0"/>
      <p:bldP spid="320537" grpId="0" animBg="1"/>
      <p:bldP spid="320545" grpId="0" animBg="1"/>
      <p:bldP spid="32054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2562" name="Rectangle 2"/>
          <p:cNvSpPr>
            <a:spLocks noGrp="1"/>
          </p:cNvSpPr>
          <p:nvPr>
            <p:ph type="title"/>
          </p:nvPr>
        </p:nvSpPr>
        <p:spPr>
          <a:xfrm>
            <a:off x="179388" y="549275"/>
            <a:ext cx="3457575" cy="49212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2563" name="Object 3"/>
          <p:cNvGraphicFramePr>
            <a:graphicFrameLocks noChangeAspect="1"/>
          </p:cNvGraphicFramePr>
          <p:nvPr/>
        </p:nvGraphicFramePr>
        <p:xfrm>
          <a:off x="4060825" y="358775"/>
          <a:ext cx="5003800" cy="275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2878455" imgH="1433830" progId="Visio.Drawing.11">
                  <p:embed/>
                </p:oleObj>
              </mc:Choice>
              <mc:Fallback>
                <p:oleObj name="" r:id="rId1" imgW="2878455" imgH="1433830" progId="Visio.Drawing.11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rcRect l="2681"/>
                      <a:stretch>
                        <a:fillRect/>
                      </a:stretch>
                    </p:blipFill>
                    <p:spPr>
                      <a:xfrm>
                        <a:off x="4060825" y="358775"/>
                        <a:ext cx="5003800" cy="2751138"/>
                      </a:xfrm>
                      <a:prstGeom prst="rect">
                        <a:avLst/>
                      </a:prstGeom>
                      <a:noFill/>
                      <a:ln w="57150" cap="flat" cmpd="thickThin">
                        <a:solidFill>
                          <a:srgbClr val="FF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4" name="Rectangle 4"/>
          <p:cNvSpPr/>
          <p:nvPr/>
        </p:nvSpPr>
        <p:spPr>
          <a:xfrm>
            <a:off x="4427538" y="431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b="1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2565" name="Rectangle 5"/>
          <p:cNvSpPr/>
          <p:nvPr/>
        </p:nvSpPr>
        <p:spPr>
          <a:xfrm>
            <a:off x="4425950" y="15113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1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2566" name="Text Box 6"/>
          <p:cNvSpPr txBox="1"/>
          <p:nvPr/>
        </p:nvSpPr>
        <p:spPr>
          <a:xfrm>
            <a:off x="250825" y="981075"/>
            <a:ext cx="28082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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endParaRPr lang="en-US" altLang="en-US" b="1" i="1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2570" name="AutoShape 10"/>
          <p:cNvSpPr/>
          <p:nvPr/>
        </p:nvSpPr>
        <p:spPr>
          <a:xfrm>
            <a:off x="236538" y="1968500"/>
            <a:ext cx="649287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2571" name="Text Box 11"/>
          <p:cNvSpPr txBox="1"/>
          <p:nvPr/>
        </p:nvSpPr>
        <p:spPr>
          <a:xfrm>
            <a:off x="957263" y="1752600"/>
            <a:ext cx="309562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时，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baseline="-25000" dirty="0">
                <a:latin typeface="Times New Roman" panose="02020603050405020304" pitchFamily="18" charset="0"/>
                <a:ea typeface="楷体_GB2312" pitchFamily="49" charset="-122"/>
              </a:rPr>
              <a:t>主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baseline="-25000" dirty="0">
                <a:latin typeface="Times New Roman" panose="02020603050405020304" pitchFamily="18" charset="0"/>
                <a:ea typeface="楷体_GB2312" pitchFamily="49" charset="-122"/>
              </a:rPr>
              <a:t>主</a:t>
            </a:r>
            <a:r>
              <a:rPr lang="zh-CN" altLang="en-US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</a:t>
            </a:r>
            <a:r>
              <a:rPr lang="zh-CN" altLang="en-US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2572" name="AutoShape 12"/>
          <p:cNvSpPr/>
          <p:nvPr/>
        </p:nvSpPr>
        <p:spPr>
          <a:xfrm>
            <a:off x="250825" y="3441700"/>
            <a:ext cx="649288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971550" y="3224213"/>
            <a:ext cx="7632700" cy="946150"/>
            <a:chOff x="612" y="2659"/>
            <a:chExt cx="4808" cy="596"/>
          </a:xfrm>
        </p:grpSpPr>
        <p:sp>
          <p:nvSpPr>
            <p:cNvPr id="43032" name="Text Box 14"/>
            <p:cNvSpPr txBox="1"/>
            <p:nvPr/>
          </p:nvSpPr>
          <p:spPr>
            <a:xfrm>
              <a:off x="612" y="2659"/>
              <a:ext cx="4808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在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CLK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的     ，从触发器由“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0 ”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翻转为“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1”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，即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Q= 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43033" name="Group 15"/>
            <p:cNvGrpSpPr/>
            <p:nvPr/>
          </p:nvGrpSpPr>
          <p:grpSpPr>
            <a:xfrm>
              <a:off x="1610" y="2704"/>
              <a:ext cx="227" cy="273"/>
              <a:chOff x="1927" y="3475"/>
              <a:chExt cx="227" cy="273"/>
            </a:xfrm>
          </p:grpSpPr>
          <p:sp>
            <p:nvSpPr>
              <p:cNvPr id="43034" name="Line 16"/>
              <p:cNvSpPr/>
              <p:nvPr/>
            </p:nvSpPr>
            <p:spPr>
              <a:xfrm>
                <a:off x="1927" y="3475"/>
                <a:ext cx="1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35" name="Line 17"/>
              <p:cNvSpPr/>
              <p:nvPr/>
            </p:nvSpPr>
            <p:spPr>
              <a:xfrm>
                <a:off x="2064" y="3475"/>
                <a:ext cx="0" cy="18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3036" name="Line 18"/>
              <p:cNvSpPr/>
              <p:nvPr/>
            </p:nvSpPr>
            <p:spPr>
              <a:xfrm>
                <a:off x="2064" y="3657"/>
                <a:ext cx="0" cy="9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37" name="Line 19"/>
              <p:cNvSpPr/>
              <p:nvPr/>
            </p:nvSpPr>
            <p:spPr>
              <a:xfrm>
                <a:off x="2064" y="3748"/>
                <a:ext cx="9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22580" name="Text Box 20"/>
          <p:cNvSpPr txBox="1"/>
          <p:nvPr/>
        </p:nvSpPr>
        <p:spPr>
          <a:xfrm>
            <a:off x="179388" y="4724400"/>
            <a:ext cx="28082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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lang="en-US" altLang="en-US" b="1" i="1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2583" name="AutoShape 23"/>
          <p:cNvSpPr/>
          <p:nvPr/>
        </p:nvSpPr>
        <p:spPr>
          <a:xfrm>
            <a:off x="3125788" y="4906963"/>
            <a:ext cx="649287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2584" name="Rectangle 24"/>
          <p:cNvSpPr/>
          <p:nvPr/>
        </p:nvSpPr>
        <p:spPr>
          <a:xfrm>
            <a:off x="3844925" y="4691063"/>
            <a:ext cx="25923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baseline="-25000" dirty="0">
                <a:latin typeface="Times New Roman" panose="02020603050405020304" pitchFamily="18" charset="0"/>
                <a:ea typeface="楷体_GB2312" pitchFamily="49" charset="-122"/>
              </a:rPr>
              <a:t>主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= Q</a:t>
            </a:r>
            <a:r>
              <a:rPr lang="zh-CN" altLang="en-US" b="1" baseline="-25000" dirty="0">
                <a:latin typeface="Times New Roman" panose="02020603050405020304" pitchFamily="18" charset="0"/>
                <a:ea typeface="楷体_GB2312" pitchFamily="49" charset="-122"/>
              </a:rPr>
              <a:t>主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2585" name="AutoShape 25"/>
          <p:cNvSpPr/>
          <p:nvPr/>
        </p:nvSpPr>
        <p:spPr>
          <a:xfrm>
            <a:off x="250825" y="6021388"/>
            <a:ext cx="649288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" name="Group 26"/>
          <p:cNvGrpSpPr/>
          <p:nvPr/>
        </p:nvGrpSpPr>
        <p:grpSpPr>
          <a:xfrm>
            <a:off x="1042988" y="5876925"/>
            <a:ext cx="5184775" cy="519113"/>
            <a:chOff x="748" y="3702"/>
            <a:chExt cx="3266" cy="327"/>
          </a:xfrm>
        </p:grpSpPr>
        <p:sp>
          <p:nvSpPr>
            <p:cNvPr id="43026" name="Text Box 27"/>
            <p:cNvSpPr txBox="1"/>
            <p:nvPr/>
          </p:nvSpPr>
          <p:spPr>
            <a:xfrm>
              <a:off x="748" y="3702"/>
              <a:ext cx="32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在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CLK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的     ，即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Q= 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 , Q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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 = 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43027" name="Group 28"/>
            <p:cNvGrpSpPr/>
            <p:nvPr/>
          </p:nvGrpSpPr>
          <p:grpSpPr>
            <a:xfrm>
              <a:off x="1746" y="3748"/>
              <a:ext cx="227" cy="273"/>
              <a:chOff x="1927" y="3475"/>
              <a:chExt cx="227" cy="273"/>
            </a:xfrm>
          </p:grpSpPr>
          <p:sp>
            <p:nvSpPr>
              <p:cNvPr id="43028" name="Line 29"/>
              <p:cNvSpPr/>
              <p:nvPr/>
            </p:nvSpPr>
            <p:spPr>
              <a:xfrm>
                <a:off x="1927" y="3475"/>
                <a:ext cx="1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29" name="Line 30"/>
              <p:cNvSpPr/>
              <p:nvPr/>
            </p:nvSpPr>
            <p:spPr>
              <a:xfrm>
                <a:off x="2064" y="3475"/>
                <a:ext cx="0" cy="18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3030" name="Line 31"/>
              <p:cNvSpPr/>
              <p:nvPr/>
            </p:nvSpPr>
            <p:spPr>
              <a:xfrm>
                <a:off x="2064" y="3657"/>
                <a:ext cx="0" cy="9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31" name="Line 32"/>
              <p:cNvSpPr/>
              <p:nvPr/>
            </p:nvSpPr>
            <p:spPr>
              <a:xfrm>
                <a:off x="2064" y="3748"/>
                <a:ext cx="9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22593" name="AutoShape 33"/>
          <p:cNvSpPr/>
          <p:nvPr/>
        </p:nvSpPr>
        <p:spPr>
          <a:xfrm>
            <a:off x="6227763" y="6021388"/>
            <a:ext cx="649287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2594" name="Rectangle 34"/>
          <p:cNvSpPr/>
          <p:nvPr/>
        </p:nvSpPr>
        <p:spPr>
          <a:xfrm>
            <a:off x="7019925" y="5876925"/>
            <a:ext cx="911225" cy="519113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Q= </a:t>
            </a:r>
            <a:r>
              <a:rPr lang="en-US" altLang="zh-CN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b="1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2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2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2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2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2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2" grpId="0"/>
      <p:bldP spid="322564" grpId="0"/>
      <p:bldP spid="322565" grpId="0"/>
      <p:bldP spid="322566" grpId="0"/>
      <p:bldP spid="322570" grpId="0" animBg="1"/>
      <p:bldP spid="322571" grpId="0"/>
      <p:bldP spid="322572" grpId="0" animBg="1"/>
      <p:bldP spid="322580" grpId="0"/>
      <p:bldP spid="322583" grpId="0" animBg="1"/>
      <p:bldP spid="322584" grpId="0"/>
      <p:bldP spid="322585" grpId="0" animBg="1"/>
      <p:bldP spid="322593" grpId="0" animBg="1"/>
      <p:bldP spid="32259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3586" name="Rectangle 2"/>
          <p:cNvSpPr>
            <a:spLocks noGrp="1"/>
          </p:cNvSpPr>
          <p:nvPr>
            <p:ph type="title"/>
          </p:nvPr>
        </p:nvSpPr>
        <p:spPr>
          <a:xfrm>
            <a:off x="250825" y="476250"/>
            <a:ext cx="3132138" cy="5762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④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3587" name="Object 3"/>
          <p:cNvGraphicFramePr>
            <a:graphicFrameLocks noChangeAspect="1"/>
          </p:cNvGraphicFramePr>
          <p:nvPr/>
        </p:nvGraphicFramePr>
        <p:xfrm>
          <a:off x="3997325" y="422275"/>
          <a:ext cx="5003800" cy="275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2878455" imgH="1433830" progId="Visio.Drawing.11">
                  <p:embed/>
                </p:oleObj>
              </mc:Choice>
              <mc:Fallback>
                <p:oleObj name="" r:id="rId1" imgW="2878455" imgH="1433830" progId="Visio.Drawing.11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rcRect l="2681"/>
                      <a:stretch>
                        <a:fillRect/>
                      </a:stretch>
                    </p:blipFill>
                    <p:spPr>
                      <a:xfrm>
                        <a:off x="3997325" y="422275"/>
                        <a:ext cx="5003800" cy="2751138"/>
                      </a:xfrm>
                      <a:prstGeom prst="rect">
                        <a:avLst/>
                      </a:prstGeom>
                      <a:noFill/>
                      <a:ln w="57150" cap="flat" cmpd="thickThin">
                        <a:solidFill>
                          <a:srgbClr val="FF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88" name="Rectangle 4"/>
          <p:cNvSpPr/>
          <p:nvPr/>
        </p:nvSpPr>
        <p:spPr>
          <a:xfrm>
            <a:off x="4364038" y="4953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b="1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589" name="Rectangle 5"/>
          <p:cNvSpPr/>
          <p:nvPr/>
        </p:nvSpPr>
        <p:spPr>
          <a:xfrm>
            <a:off x="4362450" y="1574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b="1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590" name="Text Box 6"/>
          <p:cNvSpPr txBox="1"/>
          <p:nvPr/>
        </p:nvSpPr>
        <p:spPr>
          <a:xfrm>
            <a:off x="323850" y="981075"/>
            <a:ext cx="28082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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endParaRPr lang="en-US" altLang="en-US" b="1" i="1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3594" name="AutoShape 10"/>
          <p:cNvSpPr/>
          <p:nvPr/>
        </p:nvSpPr>
        <p:spPr>
          <a:xfrm>
            <a:off x="0" y="2201863"/>
            <a:ext cx="649288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3595" name="Text Box 11"/>
          <p:cNvSpPr txBox="1"/>
          <p:nvPr/>
        </p:nvSpPr>
        <p:spPr>
          <a:xfrm>
            <a:off x="720725" y="1697038"/>
            <a:ext cx="3097213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时，主触发器翻转为“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1”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即  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baseline="-25000" dirty="0">
                <a:latin typeface="Times New Roman" panose="02020603050405020304" pitchFamily="18" charset="0"/>
                <a:ea typeface="楷体_GB2312" pitchFamily="49" charset="-122"/>
              </a:rPr>
              <a:t>主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596" name="AutoShape 12"/>
          <p:cNvSpPr/>
          <p:nvPr/>
        </p:nvSpPr>
        <p:spPr>
          <a:xfrm>
            <a:off x="250825" y="3544888"/>
            <a:ext cx="649288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971550" y="3255963"/>
            <a:ext cx="7632700" cy="946150"/>
            <a:chOff x="612" y="2659"/>
            <a:chExt cx="4808" cy="596"/>
          </a:xfrm>
        </p:grpSpPr>
        <p:sp>
          <p:nvSpPr>
            <p:cNvPr id="44056" name="Text Box 14"/>
            <p:cNvSpPr txBox="1"/>
            <p:nvPr/>
          </p:nvSpPr>
          <p:spPr>
            <a:xfrm>
              <a:off x="612" y="2659"/>
              <a:ext cx="4808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在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CLK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的     ，从触发器由“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0 ”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翻转为“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1”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，即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Q= 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44057" name="Group 15"/>
            <p:cNvGrpSpPr/>
            <p:nvPr/>
          </p:nvGrpSpPr>
          <p:grpSpPr>
            <a:xfrm>
              <a:off x="1610" y="2704"/>
              <a:ext cx="227" cy="273"/>
              <a:chOff x="1927" y="3475"/>
              <a:chExt cx="227" cy="273"/>
            </a:xfrm>
          </p:grpSpPr>
          <p:sp>
            <p:nvSpPr>
              <p:cNvPr id="44058" name="Line 16"/>
              <p:cNvSpPr/>
              <p:nvPr/>
            </p:nvSpPr>
            <p:spPr>
              <a:xfrm>
                <a:off x="1927" y="3475"/>
                <a:ext cx="1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59" name="Line 17"/>
              <p:cNvSpPr/>
              <p:nvPr/>
            </p:nvSpPr>
            <p:spPr>
              <a:xfrm>
                <a:off x="2064" y="3475"/>
                <a:ext cx="0" cy="18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4060" name="Line 18"/>
              <p:cNvSpPr/>
              <p:nvPr/>
            </p:nvSpPr>
            <p:spPr>
              <a:xfrm>
                <a:off x="2064" y="3657"/>
                <a:ext cx="0" cy="9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61" name="Line 19"/>
              <p:cNvSpPr/>
              <p:nvPr/>
            </p:nvSpPr>
            <p:spPr>
              <a:xfrm>
                <a:off x="2064" y="3748"/>
                <a:ext cx="9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23604" name="Text Box 20"/>
          <p:cNvSpPr txBox="1"/>
          <p:nvPr/>
        </p:nvSpPr>
        <p:spPr>
          <a:xfrm>
            <a:off x="179388" y="4724400"/>
            <a:ext cx="28082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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lang="en-US" altLang="en-US" b="1" i="1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3607" name="AutoShape 23"/>
          <p:cNvSpPr/>
          <p:nvPr/>
        </p:nvSpPr>
        <p:spPr>
          <a:xfrm>
            <a:off x="3394075" y="4902200"/>
            <a:ext cx="882650" cy="215900"/>
          </a:xfrm>
          <a:prstGeom prst="rightArrow">
            <a:avLst>
              <a:gd name="adj1" fmla="val 50000"/>
              <a:gd name="adj2" fmla="val 102205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3608" name="Rectangle 24"/>
          <p:cNvSpPr/>
          <p:nvPr/>
        </p:nvSpPr>
        <p:spPr>
          <a:xfrm>
            <a:off x="4113213" y="4254500"/>
            <a:ext cx="455136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时，主触发器翻转为“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0”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，即  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b="1" baseline="-25000" dirty="0">
                <a:latin typeface="Times New Roman" panose="02020603050405020304" pitchFamily="18" charset="0"/>
                <a:ea typeface="楷体_GB2312" pitchFamily="49" charset="-122"/>
              </a:rPr>
              <a:t>主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609" name="AutoShape 25"/>
          <p:cNvSpPr/>
          <p:nvPr/>
        </p:nvSpPr>
        <p:spPr>
          <a:xfrm>
            <a:off x="250825" y="6021388"/>
            <a:ext cx="649288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" name="Group 26"/>
          <p:cNvGrpSpPr/>
          <p:nvPr/>
        </p:nvGrpSpPr>
        <p:grpSpPr>
          <a:xfrm>
            <a:off x="1042988" y="5876925"/>
            <a:ext cx="5184775" cy="519113"/>
            <a:chOff x="748" y="3702"/>
            <a:chExt cx="3266" cy="327"/>
          </a:xfrm>
        </p:grpSpPr>
        <p:sp>
          <p:nvSpPr>
            <p:cNvPr id="44050" name="Text Box 27"/>
            <p:cNvSpPr txBox="1"/>
            <p:nvPr/>
          </p:nvSpPr>
          <p:spPr>
            <a:xfrm>
              <a:off x="748" y="3702"/>
              <a:ext cx="32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在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CLK</a:t>
              </a: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的     ，即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Q= 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, Q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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 = 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44051" name="Group 28"/>
            <p:cNvGrpSpPr/>
            <p:nvPr/>
          </p:nvGrpSpPr>
          <p:grpSpPr>
            <a:xfrm>
              <a:off x="1746" y="3748"/>
              <a:ext cx="227" cy="273"/>
              <a:chOff x="1927" y="3475"/>
              <a:chExt cx="227" cy="273"/>
            </a:xfrm>
          </p:grpSpPr>
          <p:sp>
            <p:nvSpPr>
              <p:cNvPr id="44052" name="Line 29"/>
              <p:cNvSpPr/>
              <p:nvPr/>
            </p:nvSpPr>
            <p:spPr>
              <a:xfrm>
                <a:off x="1927" y="3475"/>
                <a:ext cx="13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53" name="Line 30"/>
              <p:cNvSpPr/>
              <p:nvPr/>
            </p:nvSpPr>
            <p:spPr>
              <a:xfrm>
                <a:off x="2064" y="3475"/>
                <a:ext cx="0" cy="18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4054" name="Line 31"/>
              <p:cNvSpPr/>
              <p:nvPr/>
            </p:nvSpPr>
            <p:spPr>
              <a:xfrm>
                <a:off x="2064" y="3657"/>
                <a:ext cx="0" cy="9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55" name="Line 32"/>
              <p:cNvSpPr/>
              <p:nvPr/>
            </p:nvSpPr>
            <p:spPr>
              <a:xfrm>
                <a:off x="2064" y="3748"/>
                <a:ext cx="9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23617" name="AutoShape 33"/>
          <p:cNvSpPr/>
          <p:nvPr/>
        </p:nvSpPr>
        <p:spPr>
          <a:xfrm>
            <a:off x="6227763" y="6021388"/>
            <a:ext cx="649287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3618" name="Rectangle 34"/>
          <p:cNvSpPr/>
          <p:nvPr/>
        </p:nvSpPr>
        <p:spPr>
          <a:xfrm>
            <a:off x="7019925" y="5870575"/>
            <a:ext cx="1584325" cy="519113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>
            <a:spAutoFit/>
          </a:bodyPr>
          <a:p>
            <a:r>
              <a:rPr lang="en-US" altLang="zh-CN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Q= Q </a:t>
            </a:r>
            <a:r>
              <a:rPr lang="en-US" altLang="zh-CN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</a:t>
            </a:r>
            <a:endParaRPr lang="en-US" altLang="en-US" b="1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2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2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2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2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2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2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3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3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/>
      <p:bldP spid="323588" grpId="0"/>
      <p:bldP spid="323589" grpId="0"/>
      <p:bldP spid="323590" grpId="0"/>
      <p:bldP spid="323594" grpId="0" animBg="1"/>
      <p:bldP spid="323595" grpId="0"/>
      <p:bldP spid="323596" grpId="0" animBg="1"/>
      <p:bldP spid="323604" grpId="0"/>
      <p:bldP spid="323607" grpId="0" animBg="1"/>
      <p:bldP spid="323608" grpId="0"/>
      <p:bldP spid="323609" grpId="0" animBg="1"/>
      <p:bldP spid="323617" grpId="0" animBg="1"/>
      <p:bldP spid="32361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24610" name="Object 2"/>
          <p:cNvGraphicFramePr>
            <a:graphicFrameLocks noChangeAspect="1"/>
          </p:cNvGraphicFramePr>
          <p:nvPr/>
        </p:nvGraphicFramePr>
        <p:xfrm>
          <a:off x="5724525" y="2309813"/>
          <a:ext cx="3168650" cy="272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1873885" imgH="1410970" progId="Visio.Drawing.11">
                  <p:embed/>
                </p:oleObj>
              </mc:Choice>
              <mc:Fallback>
                <p:oleObj name="" r:id="rId1" imgW="1873885" imgH="1410970" progId="Visio.Drawing.11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rcRect l="6644" r="5727"/>
                      <a:stretch>
                        <a:fillRect/>
                      </a:stretch>
                    </p:blipFill>
                    <p:spPr>
                      <a:xfrm>
                        <a:off x="5724525" y="2309813"/>
                        <a:ext cx="3168650" cy="2725737"/>
                      </a:xfrm>
                      <a:prstGeom prst="rect">
                        <a:avLst/>
                      </a:prstGeom>
                      <a:noFill/>
                      <a:ln w="57150" cap="flat" cmpd="thickThin">
                        <a:solidFill>
                          <a:srgbClr val="FF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2" name="AutoShape 4"/>
          <p:cNvSpPr/>
          <p:nvPr/>
        </p:nvSpPr>
        <p:spPr>
          <a:xfrm>
            <a:off x="4859338" y="3594100"/>
            <a:ext cx="720725" cy="215900"/>
          </a:xfrm>
          <a:prstGeom prst="rightArrow">
            <a:avLst>
              <a:gd name="adj1" fmla="val 50000"/>
              <a:gd name="adj2" fmla="val 83455"/>
            </a:avLst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250825" y="620713"/>
            <a:ext cx="4422775" cy="5276850"/>
            <a:chOff x="158" y="831"/>
            <a:chExt cx="2786" cy="3324"/>
          </a:xfrm>
        </p:grpSpPr>
        <p:graphicFrame>
          <p:nvGraphicFramePr>
            <p:cNvPr id="45061" name="Object 7"/>
            <p:cNvGraphicFramePr>
              <a:graphicFrameLocks noChangeAspect="1"/>
            </p:cNvGraphicFramePr>
            <p:nvPr/>
          </p:nvGraphicFramePr>
          <p:xfrm>
            <a:off x="158" y="1207"/>
            <a:ext cx="2786" cy="29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3" imgW="2653030" imgH="3048000" progId="Visio.Drawing.11">
                    <p:embed/>
                  </p:oleObj>
                </mc:Choice>
                <mc:Fallback>
                  <p:oleObj name="" r:id="rId3" imgW="2653030" imgH="3048000" progId="Visio.Drawing.11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4"/>
                        <a:srcRect b="8005"/>
                        <a:stretch>
                          <a:fillRect/>
                        </a:stretch>
                      </p:blipFill>
                      <p:spPr>
                        <a:xfrm>
                          <a:off x="158" y="1207"/>
                          <a:ext cx="2786" cy="2948"/>
                        </a:xfrm>
                        <a:prstGeom prst="rect">
                          <a:avLst/>
                        </a:prstGeom>
                        <a:noFill/>
                        <a:ln w="57150" cap="flat" cmpd="thickThin">
                          <a:solidFill>
                            <a:srgbClr val="FF66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2" name="Rectangle 8"/>
            <p:cNvSpPr/>
            <p:nvPr/>
          </p:nvSpPr>
          <p:spPr>
            <a:xfrm>
              <a:off x="204" y="831"/>
              <a:ext cx="7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功能表</a:t>
              </a:r>
              <a:endParaRPr lang="zh-CN" altLang="en-US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Line 2"/>
          <p:cNvSpPr/>
          <p:nvPr/>
        </p:nvSpPr>
        <p:spPr>
          <a:xfrm>
            <a:off x="857250" y="3302000"/>
            <a:ext cx="971550" cy="0"/>
          </a:xfrm>
          <a:prstGeom prst="line">
            <a:avLst/>
          </a:prstGeom>
          <a:ln w="38100">
            <a:noFill/>
          </a:ln>
        </p:spPr>
      </p:sp>
      <p:sp>
        <p:nvSpPr>
          <p:cNvPr id="283748" name="Text Box 100"/>
          <p:cNvSpPr txBox="1">
            <a:spLocks noChangeArrowheads="1"/>
          </p:cNvSpPr>
          <p:nvPr/>
        </p:nvSpPr>
        <p:spPr bwMode="auto">
          <a:xfrm>
            <a:off x="2012950" y="477838"/>
            <a:ext cx="5465763" cy="58356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6.4  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边沿触发式</a:t>
            </a:r>
            <a:r>
              <a:rPr kumimoji="1" lang="zh-CN" altLang="zh-CN" sz="32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endParaRPr kumimoji="1" lang="zh-CN" altLang="en-US" sz="32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4" name="Rectangle 101" descr="羊皮纸"/>
          <p:cNvSpPr/>
          <p:nvPr/>
        </p:nvSpPr>
        <p:spPr>
          <a:xfrm>
            <a:off x="361950" y="1171575"/>
            <a:ext cx="8342313" cy="521652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 indent="276225" defTabSz="914400">
              <a:tabLst>
                <a:tab pos="619125" algn="l"/>
              </a:tabLst>
            </a:pP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</a:rPr>
              <a:t>主从触发器虽然解决空翻问题，但是在</a:t>
            </a:r>
            <a:r>
              <a:rPr lang="en-US" altLang="zh-CN" i="1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的期间要求输入端信号状态保持不变。否则，其次态就不能按特性表来确定。如果是干扰信号混入输入端，将使触发器产生不必要的翻转，可靠性降低。为了提高触发器的可靠性，增强抗干扰能力，人们又设计出边沿触发方式的触发器。边沿触发器方式是指只在</a:t>
            </a:r>
            <a:r>
              <a:rPr lang="en-US" altLang="zh-CN" i="1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的上升沿或下降沿时刻，触发器才依据此刻的输入决定其次态。而在</a:t>
            </a:r>
            <a:r>
              <a:rPr lang="en-US" altLang="zh-CN" i="1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期间，输入的任何变化都不会引起触发器状态的变化。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276225" defTabSz="914400">
              <a:tabLst>
                <a:tab pos="619125" algn="l"/>
              </a:tabLst>
            </a:pPr>
            <a:r>
              <a:rPr lang="zh-CN" altLang="en-US" dirty="0">
                <a:latin typeface="Times New Roman" panose="02020603050405020304" pitchFamily="18" charset="0"/>
              </a:rPr>
              <a:t>         实现边沿触发的方法有两种：一种是利用触发器内部门电路的延迟时间不同来实现；另一种是靠直流反馈原理即维持阻塞原理来实现。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792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38" y="1566863"/>
            <a:ext cx="4154487" cy="4213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23" name="Text Box 3"/>
          <p:cNvSpPr txBox="1"/>
          <p:nvPr/>
        </p:nvSpPr>
        <p:spPr>
          <a:xfrm>
            <a:off x="546100" y="5816600"/>
            <a:ext cx="383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i="1" dirty="0">
                <a:latin typeface="Times New Roman" panose="02020603050405020304" pitchFamily="18" charset="0"/>
              </a:rPr>
              <a:t>CLK</a:t>
            </a:r>
            <a:r>
              <a:rPr lang="zh-CN" altLang="en-US" sz="2400" dirty="0">
                <a:latin typeface="Times New Roman" panose="02020603050405020304" pitchFamily="18" charset="0"/>
              </a:rPr>
              <a:t>下降沿时刻有效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37925" name="Text Box 5"/>
          <p:cNvSpPr txBox="1"/>
          <p:nvPr/>
        </p:nvSpPr>
        <p:spPr>
          <a:xfrm>
            <a:off x="5067300" y="1408113"/>
            <a:ext cx="2771775" cy="588962"/>
          </a:xfrm>
          <a:prstGeom prst="rect">
            <a:avLst/>
          </a:prstGeom>
          <a:solidFill>
            <a:srgbClr val="00FFCC"/>
          </a:soli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工作原理</a:t>
            </a:r>
            <a:endParaRPr lang="zh-CN" altLang="en-US" sz="2400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337926" name="Text Box 6"/>
          <p:cNvSpPr txBox="1"/>
          <p:nvPr/>
        </p:nvSpPr>
        <p:spPr>
          <a:xfrm>
            <a:off x="4356100" y="2449513"/>
            <a:ext cx="426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zh-CN" altLang="en-US" sz="2400" dirty="0"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）</a:t>
            </a:r>
            <a:r>
              <a:rPr lang="en-US" altLang="zh-CN" sz="2400" i="1" dirty="0">
                <a:latin typeface="Times New Roman" panose="02020603050405020304" pitchFamily="18" charset="0"/>
              </a:rPr>
              <a:t>CLK</a:t>
            </a:r>
            <a:r>
              <a:rPr lang="zh-CN" altLang="en-US" sz="2400" dirty="0">
                <a:latin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时，有：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37927" name="Text Box 7"/>
          <p:cNvSpPr txBox="1"/>
          <p:nvPr/>
        </p:nvSpPr>
        <p:spPr>
          <a:xfrm>
            <a:off x="4481513" y="3800475"/>
            <a:ext cx="4267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en-US" altLang="zh-CN" sz="240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</a:rPr>
              <a:t>则触发器状态保持不变，此时</a:t>
            </a:r>
            <a:r>
              <a:rPr lang="en-US" altLang="zh-CN" sz="2400" dirty="0">
                <a:latin typeface="Times New Roman" panose="02020603050405020304" pitchFamily="18" charset="0"/>
              </a:rPr>
              <a:t>G</a:t>
            </a:r>
            <a:r>
              <a:rPr lang="en-US" altLang="zh-CN" sz="1400" dirty="0">
                <a:latin typeface="Times New Roman" panose="02020603050405020304" pitchFamily="18" charset="0"/>
              </a:rPr>
              <a:t>7</a:t>
            </a:r>
            <a:r>
              <a:rPr lang="zh-CN" altLang="en-US" sz="1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G</a:t>
            </a:r>
            <a:r>
              <a:rPr lang="en-US" altLang="zh-CN" sz="1400" dirty="0">
                <a:latin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</a:rPr>
              <a:t>的输出为：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7928" name="Object 8"/>
          <p:cNvGraphicFramePr>
            <a:graphicFrameLocks noChangeAspect="1"/>
          </p:cNvGraphicFramePr>
          <p:nvPr/>
        </p:nvGraphicFramePr>
        <p:xfrm>
          <a:off x="5003800" y="4721225"/>
          <a:ext cx="1422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2" imgW="723900" imgH="228600" progId="Equation.3">
                  <p:embed/>
                </p:oleObj>
              </mc:Choice>
              <mc:Fallback>
                <p:oleObj name="" r:id="rId2" imgW="723900" imgH="2286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03800" y="4721225"/>
                        <a:ext cx="1422400" cy="44450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29" name="Object 9"/>
          <p:cNvGraphicFramePr>
            <a:graphicFrameLocks noChangeAspect="1"/>
          </p:cNvGraphicFramePr>
          <p:nvPr/>
        </p:nvGraphicFramePr>
        <p:xfrm>
          <a:off x="6804025" y="4721225"/>
          <a:ext cx="1397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4" imgW="711200" imgH="228600" progId="Equation.3">
                  <p:embed/>
                </p:oleObj>
              </mc:Choice>
              <mc:Fallback>
                <p:oleObj name="" r:id="rId4" imgW="711200" imgH="2286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04025" y="4721225"/>
                        <a:ext cx="1397000" cy="44450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30" name="Object 10"/>
          <p:cNvGraphicFramePr>
            <a:graphicFrameLocks noChangeAspect="1"/>
          </p:cNvGraphicFramePr>
          <p:nvPr/>
        </p:nvGraphicFramePr>
        <p:xfrm>
          <a:off x="4959350" y="2933700"/>
          <a:ext cx="29972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6" imgW="1600200" imgH="431800" progId="Equation.3">
                  <p:embed/>
                </p:oleObj>
              </mc:Choice>
              <mc:Fallback>
                <p:oleObj name="" r:id="rId6" imgW="1600200" imgH="4318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59350" y="2933700"/>
                        <a:ext cx="2997200" cy="803275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31" name="Text Box 11"/>
          <p:cNvSpPr txBox="1"/>
          <p:nvPr/>
        </p:nvSpPr>
        <p:spPr>
          <a:xfrm>
            <a:off x="4500563" y="5389563"/>
            <a:ext cx="4267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en-US" altLang="zh-CN" sz="2400" dirty="0">
                <a:latin typeface="Times New Roman" panose="02020603050405020304" pitchFamily="18" charset="0"/>
              </a:rPr>
              <a:t>       </a:t>
            </a:r>
            <a:r>
              <a:rPr lang="zh-CN" altLang="en-US" sz="2400" dirty="0">
                <a:latin typeface="Times New Roman" panose="02020603050405020304" pitchFamily="18" charset="0"/>
              </a:rPr>
              <a:t>此将作为触发器状态转移的准备条件。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7932" name="Object 12"/>
          <p:cNvGraphicFramePr>
            <a:graphicFrameLocks noChangeAspect="1"/>
          </p:cNvGraphicFramePr>
          <p:nvPr/>
        </p:nvGraphicFramePr>
        <p:xfrm>
          <a:off x="1193800" y="3943350"/>
          <a:ext cx="26987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8" imgW="165100" imgH="177800" progId="Equation.3">
                  <p:embed/>
                </p:oleObj>
              </mc:Choice>
              <mc:Fallback>
                <p:oleObj name="" r:id="rId8" imgW="165100" imgH="1778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93800" y="3943350"/>
                        <a:ext cx="269875" cy="288925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33" name="Object 13"/>
          <p:cNvGraphicFramePr>
            <a:graphicFrameLocks noChangeAspect="1"/>
          </p:cNvGraphicFramePr>
          <p:nvPr/>
        </p:nvGraphicFramePr>
        <p:xfrm>
          <a:off x="3208338" y="3963988"/>
          <a:ext cx="290512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0" imgW="177800" imgH="165100" progId="Equation.3">
                  <p:embed/>
                </p:oleObj>
              </mc:Choice>
              <mc:Fallback>
                <p:oleObj name="" r:id="rId10" imgW="177800" imgH="1651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208338" y="3963988"/>
                        <a:ext cx="290512" cy="268287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7" name="Text Box 14" descr="羊皮纸"/>
          <p:cNvSpPr txBox="1"/>
          <p:nvPr/>
        </p:nvSpPr>
        <p:spPr>
          <a:xfrm>
            <a:off x="430213" y="482600"/>
            <a:ext cx="6300787" cy="52324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r>
              <a:rPr lang="en-US" altLang="zh-CN" b="1" dirty="0">
                <a:latin typeface="Times New Roman" panose="02020603050405020304" pitchFamily="18" charset="0"/>
              </a:rPr>
              <a:t>6.4.1</a:t>
            </a:r>
            <a:r>
              <a:rPr lang="zh-CN" altLang="en-US" b="1" dirty="0">
                <a:latin typeface="Times New Roman" panose="02020603050405020304" pitchFamily="18" charset="0"/>
              </a:rPr>
              <a:t>利用传输延迟的边沿触发器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3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75"/>
                                        <p:tgtEl>
                                          <p:spTgt spid="33792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3" grpId="0" build="p"/>
      <p:bldP spid="337925" grpId="0" animBg="1"/>
      <p:bldP spid="337926" grpId="0"/>
      <p:bldP spid="337927" grpId="0"/>
      <p:bldP spid="33793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13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3" y="2144713"/>
            <a:ext cx="4154487" cy="4213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947" name="Text Box 3"/>
          <p:cNvSpPr txBox="1"/>
          <p:nvPr/>
        </p:nvSpPr>
        <p:spPr>
          <a:xfrm>
            <a:off x="4356100" y="1196975"/>
            <a:ext cx="426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zh-CN" altLang="en-US" sz="2400" dirty="0"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）</a:t>
            </a:r>
            <a:r>
              <a:rPr lang="en-US" altLang="zh-CN" sz="2400" i="1" dirty="0">
                <a:latin typeface="Times New Roman" panose="02020603050405020304" pitchFamily="18" charset="0"/>
              </a:rPr>
              <a:t>CLK</a:t>
            </a:r>
            <a:r>
              <a:rPr lang="zh-CN" altLang="en-US" sz="2400" dirty="0">
                <a:latin typeface="Times New Roman" panose="02020603050405020304" pitchFamily="18" charset="0"/>
              </a:rPr>
              <a:t>由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跳变到</a:t>
            </a: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时，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38948" name="Text Box 4"/>
          <p:cNvSpPr txBox="1"/>
          <p:nvPr/>
        </p:nvSpPr>
        <p:spPr>
          <a:xfrm>
            <a:off x="4500563" y="1628775"/>
            <a:ext cx="42672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en-US" altLang="zh-CN" sz="2400" dirty="0">
                <a:latin typeface="Times New Roman" panose="02020603050405020304" pitchFamily="18" charset="0"/>
              </a:rPr>
              <a:t>        CLK</a:t>
            </a:r>
            <a:r>
              <a:rPr lang="zh-CN" altLang="en-US" sz="2400" dirty="0">
                <a:latin typeface="Times New Roman" panose="02020603050405020304" pitchFamily="18" charset="0"/>
              </a:rPr>
              <a:t>首先封锁了</a:t>
            </a:r>
            <a:r>
              <a:rPr lang="en-US" altLang="zh-CN" sz="2400" dirty="0">
                <a:latin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</a:rPr>
              <a:t>门，使其输出为</a:t>
            </a: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，这样由余下的门就构成类似两个与非门组成的钟控</a:t>
            </a:r>
            <a:r>
              <a:rPr lang="en-US" altLang="zh-CN" sz="2400" dirty="0">
                <a:latin typeface="Times New Roman" panose="02020603050405020304" pitchFamily="18" charset="0"/>
              </a:rPr>
              <a:t>JK</a:t>
            </a:r>
            <a:r>
              <a:rPr lang="zh-CN" altLang="en-US" sz="2400" dirty="0">
                <a:latin typeface="Times New Roman" panose="02020603050405020304" pitchFamily="18" charset="0"/>
              </a:rPr>
              <a:t>触发器。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8949" name="Object 5"/>
          <p:cNvGraphicFramePr>
            <a:graphicFrameLocks noChangeAspect="1"/>
          </p:cNvGraphicFramePr>
          <p:nvPr/>
        </p:nvGraphicFramePr>
        <p:xfrm>
          <a:off x="5435600" y="3357563"/>
          <a:ext cx="22971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" imgW="1168400" imgH="228600" progId="Equation.3">
                  <p:embed/>
                </p:oleObj>
              </mc:Choice>
              <mc:Fallback>
                <p:oleObj name="" r:id="rId2" imgW="1168400" imgH="2286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35600" y="3357563"/>
                        <a:ext cx="2297113" cy="44450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0" name="Text Box 6"/>
          <p:cNvSpPr txBox="1"/>
          <p:nvPr/>
        </p:nvSpPr>
        <p:spPr>
          <a:xfrm>
            <a:off x="4552950" y="3933825"/>
            <a:ext cx="4267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en-US" altLang="zh-CN" sz="2400" dirty="0">
                <a:latin typeface="Times New Roman" panose="02020603050405020304" pitchFamily="18" charset="0"/>
              </a:rPr>
              <a:t>       </a:t>
            </a:r>
            <a:r>
              <a:rPr lang="zh-CN" altLang="en-US" sz="2400" dirty="0">
                <a:latin typeface="Times New Roman" panose="02020603050405020304" pitchFamily="18" charset="0"/>
              </a:rPr>
              <a:t>此时触发器将具有</a:t>
            </a:r>
            <a:r>
              <a:rPr lang="en-US" altLang="zh-CN" sz="2400" dirty="0">
                <a:latin typeface="Times New Roman" panose="02020603050405020304" pitchFamily="18" charset="0"/>
              </a:rPr>
              <a:t>JK</a:t>
            </a:r>
            <a:r>
              <a:rPr lang="zh-CN" altLang="en-US" sz="2400" dirty="0">
                <a:latin typeface="Times New Roman" panose="02020603050405020304" pitchFamily="18" charset="0"/>
              </a:rPr>
              <a:t>触发器的功能。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874713" y="4521200"/>
          <a:ext cx="26987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4" imgW="165100" imgH="177800" progId="Equation.3">
                  <p:embed/>
                </p:oleObj>
              </mc:Choice>
              <mc:Fallback>
                <p:oleObj name="" r:id="rId4" imgW="165100" imgH="1778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4713" y="4521200"/>
                        <a:ext cx="269875" cy="288925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/>
        </p:nvGraphicFramePr>
        <p:xfrm>
          <a:off x="3179763" y="4594225"/>
          <a:ext cx="290512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6" imgW="177800" imgH="165100" progId="Equation.3">
                  <p:embed/>
                </p:oleObj>
              </mc:Choice>
              <mc:Fallback>
                <p:oleObj name="" r:id="rId6" imgW="177800" imgH="1651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79763" y="4594225"/>
                        <a:ext cx="290512" cy="268288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3" name="Text Box 9"/>
          <p:cNvSpPr txBox="1"/>
          <p:nvPr/>
        </p:nvSpPr>
        <p:spPr>
          <a:xfrm>
            <a:off x="214313" y="525463"/>
            <a:ext cx="4267200" cy="46672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just"/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电路正常工作的条件：</a:t>
            </a:r>
            <a:endParaRPr lang="zh-CN" altLang="en-US" sz="24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954" name="Text Box 10"/>
          <p:cNvSpPr txBox="1"/>
          <p:nvPr/>
        </p:nvSpPr>
        <p:spPr>
          <a:xfrm>
            <a:off x="212725" y="974725"/>
            <a:ext cx="4267200" cy="83185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just"/>
            <a:r>
              <a:rPr lang="en-US" altLang="zh-CN" sz="2400" dirty="0">
                <a:latin typeface="Times New Roman" panose="02020603050405020304" pitchFamily="18" charset="0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</a:rPr>
              <a:t>与非门</a:t>
            </a:r>
            <a:r>
              <a:rPr lang="en-US" altLang="zh-CN" sz="2400" dirty="0">
                <a:latin typeface="Times New Roman" panose="02020603050405020304" pitchFamily="18" charset="0"/>
              </a:rPr>
              <a:t>G</a:t>
            </a:r>
            <a:r>
              <a:rPr lang="en-US" altLang="zh-CN" sz="1400" dirty="0">
                <a:latin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</a:rPr>
              <a:t>G</a:t>
            </a:r>
            <a:r>
              <a:rPr lang="en-US" altLang="zh-CN" sz="1400" dirty="0">
                <a:latin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</a:rPr>
              <a:t>的平均延迟时间比基本触发器延迟时间长。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38955" name="Text Box 11"/>
          <p:cNvSpPr txBox="1"/>
          <p:nvPr/>
        </p:nvSpPr>
        <p:spPr>
          <a:xfrm>
            <a:off x="4830763" y="3286125"/>
            <a:ext cx="5032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zh-CN" altLang="en-US" sz="2400" dirty="0">
                <a:latin typeface="Times New Roman" panose="02020603050405020304" pitchFamily="18" charset="0"/>
              </a:rPr>
              <a:t>则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38956" name="Text Box 12"/>
          <p:cNvSpPr txBox="1"/>
          <p:nvPr/>
        </p:nvSpPr>
        <p:spPr>
          <a:xfrm>
            <a:off x="4572000" y="4767263"/>
            <a:ext cx="4267200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en-US" altLang="zh-CN" sz="2400" dirty="0">
                <a:latin typeface="Times New Roman" panose="02020603050405020304" pitchFamily="18" charset="0"/>
              </a:rPr>
              <a:t>       </a:t>
            </a:r>
            <a:r>
              <a:rPr lang="zh-CN" altLang="en-US" sz="2400" dirty="0">
                <a:latin typeface="Times New Roman" panose="02020603050405020304" pitchFamily="18" charset="0"/>
              </a:rPr>
              <a:t>此后</a:t>
            </a:r>
            <a:r>
              <a:rPr lang="en-US" altLang="zh-CN" sz="2400" dirty="0">
                <a:latin typeface="Times New Roman" panose="02020603050405020304" pitchFamily="18" charset="0"/>
              </a:rPr>
              <a:t>G</a:t>
            </a:r>
            <a:r>
              <a:rPr lang="en-US" altLang="zh-CN" sz="1800" dirty="0">
                <a:latin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</a:rPr>
              <a:t>G</a:t>
            </a:r>
            <a:r>
              <a:rPr lang="en-US" altLang="zh-CN" sz="1800" dirty="0">
                <a:latin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</a:rPr>
              <a:t>门被</a:t>
            </a:r>
            <a:r>
              <a:rPr lang="en-US" altLang="zh-CN" sz="2400" dirty="0">
                <a:latin typeface="Times New Roman" panose="02020603050405020304" pitchFamily="18" charset="0"/>
              </a:rPr>
              <a:t>CLK</a:t>
            </a:r>
            <a:r>
              <a:rPr lang="zh-CN" altLang="en-US" sz="2400" dirty="0">
                <a:latin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封锁，输出为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，触发器状态维持不变，触发器在完成一次状态转移后，不再发生多次翻转现象。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8959" name="Object 15"/>
          <p:cNvGraphicFramePr>
            <a:graphicFrameLocks noChangeAspect="1"/>
          </p:cNvGraphicFramePr>
          <p:nvPr/>
        </p:nvGraphicFramePr>
        <p:xfrm>
          <a:off x="5019675" y="590550"/>
          <a:ext cx="1422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8" imgW="723900" imgH="228600" progId="Equation.3">
                  <p:embed/>
                </p:oleObj>
              </mc:Choice>
              <mc:Fallback>
                <p:oleObj name="" r:id="rId8" imgW="723900" imgH="2286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19675" y="590550"/>
                        <a:ext cx="1422400" cy="44450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60" name="Object 16"/>
          <p:cNvGraphicFramePr>
            <a:graphicFrameLocks noChangeAspect="1"/>
          </p:cNvGraphicFramePr>
          <p:nvPr/>
        </p:nvGraphicFramePr>
        <p:xfrm>
          <a:off x="6819900" y="590550"/>
          <a:ext cx="1397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0" imgW="711200" imgH="228600" progId="Equation.3">
                  <p:embed/>
                </p:oleObj>
              </mc:Choice>
              <mc:Fallback>
                <p:oleObj name="" r:id="rId10" imgW="711200" imgH="2286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19900" y="590550"/>
                        <a:ext cx="1397000" cy="44450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8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8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8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8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7" grpId="0"/>
      <p:bldP spid="338948" grpId="0"/>
      <p:bldP spid="338950" grpId="0"/>
      <p:bldP spid="338953" grpId="0" animBg="1"/>
      <p:bldP spid="338954" grpId="0" animBg="1"/>
      <p:bldP spid="338955" grpId="0"/>
      <p:bldP spid="33895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Line 2"/>
          <p:cNvSpPr/>
          <p:nvPr/>
        </p:nvSpPr>
        <p:spPr>
          <a:xfrm>
            <a:off x="857250" y="3302000"/>
            <a:ext cx="971550" cy="0"/>
          </a:xfrm>
          <a:prstGeom prst="line">
            <a:avLst/>
          </a:prstGeom>
          <a:ln w="38100">
            <a:noFill/>
          </a:ln>
        </p:spPr>
      </p:sp>
      <p:grpSp>
        <p:nvGrpSpPr>
          <p:cNvPr id="49155" name="Group 100"/>
          <p:cNvGrpSpPr/>
          <p:nvPr/>
        </p:nvGrpSpPr>
        <p:grpSpPr>
          <a:xfrm>
            <a:off x="352425" y="1360488"/>
            <a:ext cx="8123238" cy="4994275"/>
            <a:chOff x="2192" y="5757"/>
            <a:chExt cx="6832" cy="3949"/>
          </a:xfrm>
        </p:grpSpPr>
        <p:grpSp>
          <p:nvGrpSpPr>
            <p:cNvPr id="49156" name="Group 101"/>
            <p:cNvGrpSpPr/>
            <p:nvPr/>
          </p:nvGrpSpPr>
          <p:grpSpPr>
            <a:xfrm>
              <a:off x="7209" y="6201"/>
              <a:ext cx="1815" cy="2241"/>
              <a:chOff x="7209" y="6201"/>
              <a:chExt cx="1815" cy="2241"/>
            </a:xfrm>
          </p:grpSpPr>
          <p:sp>
            <p:nvSpPr>
              <p:cNvPr id="49237" name="Rectangle 102"/>
              <p:cNvSpPr/>
              <p:nvPr/>
            </p:nvSpPr>
            <p:spPr>
              <a:xfrm>
                <a:off x="8664" y="8034"/>
                <a:ext cx="360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i="1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38" name="Rectangle 103"/>
              <p:cNvSpPr/>
              <p:nvPr/>
            </p:nvSpPr>
            <p:spPr>
              <a:xfrm>
                <a:off x="8334" y="8034"/>
                <a:ext cx="240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K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39" name="Rectangle 104"/>
              <p:cNvSpPr/>
              <p:nvPr/>
            </p:nvSpPr>
            <p:spPr>
              <a:xfrm>
                <a:off x="7824" y="8034"/>
                <a:ext cx="360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CP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40" name="Rectangle 105"/>
              <p:cNvSpPr/>
              <p:nvPr/>
            </p:nvSpPr>
            <p:spPr>
              <a:xfrm>
                <a:off x="7434" y="6201"/>
                <a:ext cx="360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Q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41" name="Rectangle 106"/>
              <p:cNvSpPr/>
              <p:nvPr/>
            </p:nvSpPr>
            <p:spPr>
              <a:xfrm>
                <a:off x="8354" y="6204"/>
                <a:ext cx="360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42" name="Rectangle 107"/>
              <p:cNvSpPr/>
              <p:nvPr/>
            </p:nvSpPr>
            <p:spPr>
              <a:xfrm>
                <a:off x="7242" y="8034"/>
                <a:ext cx="300" cy="3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i="1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43" name="Rectangle 108"/>
              <p:cNvSpPr/>
              <p:nvPr/>
            </p:nvSpPr>
            <p:spPr>
              <a:xfrm>
                <a:off x="7209" y="6864"/>
                <a:ext cx="1725" cy="780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 algn="just">
                  <a:lnSpc>
                    <a:spcPct val="96000"/>
                  </a:lnSpc>
                </a:pP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algn="just">
                  <a:lnSpc>
                    <a:spcPct val="96000"/>
                  </a:lnSpc>
                </a:pP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algn="just">
                  <a:lnSpc>
                    <a:spcPct val="80000"/>
                  </a:lnSpc>
                </a:pPr>
                <a:r>
                  <a:rPr lang="en-US" altLang="zh-CN" sz="2400" i="1" dirty="0">
                    <a:latin typeface="Times New Roman" panose="02020603050405020304" pitchFamily="18" charset="0"/>
                  </a:rPr>
                  <a:t>S  J   C   K  R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44" name="Line 109"/>
              <p:cNvSpPr/>
              <p:nvPr/>
            </p:nvSpPr>
            <p:spPr>
              <a:xfrm>
                <a:off x="8004" y="7641"/>
                <a:ext cx="0" cy="397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45" name="Line 110"/>
              <p:cNvSpPr/>
              <p:nvPr/>
            </p:nvSpPr>
            <p:spPr>
              <a:xfrm>
                <a:off x="7539" y="6549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46" name="Line 111"/>
              <p:cNvSpPr/>
              <p:nvPr/>
            </p:nvSpPr>
            <p:spPr>
              <a:xfrm>
                <a:off x="8469" y="6552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47" name="Oval 112"/>
              <p:cNvSpPr/>
              <p:nvPr/>
            </p:nvSpPr>
            <p:spPr>
              <a:xfrm>
                <a:off x="8441" y="6803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48" name="Line 113"/>
              <p:cNvSpPr/>
              <p:nvPr/>
            </p:nvSpPr>
            <p:spPr>
              <a:xfrm>
                <a:off x="8409" y="7650"/>
                <a:ext cx="0" cy="369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49" name="Line 114"/>
              <p:cNvSpPr/>
              <p:nvPr/>
            </p:nvSpPr>
            <p:spPr>
              <a:xfrm>
                <a:off x="8754" y="7656"/>
                <a:ext cx="0" cy="369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50" name="Line 115"/>
              <p:cNvSpPr/>
              <p:nvPr/>
            </p:nvSpPr>
            <p:spPr>
              <a:xfrm>
                <a:off x="7374" y="7701"/>
                <a:ext cx="0" cy="369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51" name="Oval 116"/>
              <p:cNvSpPr/>
              <p:nvPr/>
            </p:nvSpPr>
            <p:spPr>
              <a:xfrm>
                <a:off x="8723" y="76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52" name="Oval 117"/>
              <p:cNvSpPr/>
              <p:nvPr/>
            </p:nvSpPr>
            <p:spPr>
              <a:xfrm>
                <a:off x="7351" y="76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53" name="Line 118"/>
              <p:cNvSpPr/>
              <p:nvPr/>
            </p:nvSpPr>
            <p:spPr>
              <a:xfrm>
                <a:off x="7644" y="7656"/>
                <a:ext cx="0" cy="397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54" name="Oval 119"/>
              <p:cNvSpPr/>
              <p:nvPr/>
            </p:nvSpPr>
            <p:spPr>
              <a:xfrm>
                <a:off x="7974" y="7649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55" name="Rectangle 120"/>
              <p:cNvSpPr/>
              <p:nvPr/>
            </p:nvSpPr>
            <p:spPr>
              <a:xfrm>
                <a:off x="7569" y="8034"/>
                <a:ext cx="179" cy="4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J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56" name="AutoShape 121"/>
              <p:cNvSpPr/>
              <p:nvPr/>
            </p:nvSpPr>
            <p:spPr>
              <a:xfrm>
                <a:off x="7936" y="7559"/>
                <a:ext cx="136" cy="84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9157" name="Group 122"/>
            <p:cNvGrpSpPr/>
            <p:nvPr/>
          </p:nvGrpSpPr>
          <p:grpSpPr>
            <a:xfrm>
              <a:off x="2192" y="5757"/>
              <a:ext cx="4437" cy="3429"/>
              <a:chOff x="2192" y="5757"/>
              <a:chExt cx="4437" cy="3429"/>
            </a:xfrm>
          </p:grpSpPr>
          <p:sp>
            <p:nvSpPr>
              <p:cNvPr id="49159" name="Rectangle 123"/>
              <p:cNvSpPr/>
              <p:nvPr/>
            </p:nvSpPr>
            <p:spPr>
              <a:xfrm>
                <a:off x="5502" y="5757"/>
                <a:ext cx="322" cy="3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60" name="Rectangle 124"/>
              <p:cNvSpPr/>
              <p:nvPr/>
            </p:nvSpPr>
            <p:spPr>
              <a:xfrm>
                <a:off x="6307" y="6971"/>
                <a:ext cx="32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dirty="0">
                    <a:latin typeface="Times New Roman" panose="02020603050405020304" pitchFamily="18" charset="0"/>
                  </a:rPr>
                  <a:t>6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61" name="Rectangle 125"/>
              <p:cNvSpPr/>
              <p:nvPr/>
            </p:nvSpPr>
            <p:spPr>
              <a:xfrm>
                <a:off x="4618" y="6958"/>
                <a:ext cx="32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dirty="0">
                    <a:latin typeface="Times New Roman" panose="02020603050405020304" pitchFamily="18" charset="0"/>
                  </a:rPr>
                  <a:t>5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62" name="Rectangle 126"/>
              <p:cNvSpPr/>
              <p:nvPr/>
            </p:nvSpPr>
            <p:spPr>
              <a:xfrm>
                <a:off x="5691" y="7968"/>
                <a:ext cx="321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dirty="0">
                    <a:latin typeface="Times New Roman" panose="02020603050405020304" pitchFamily="18" charset="0"/>
                  </a:rPr>
                  <a:t>2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63" name="Rectangle 127"/>
              <p:cNvSpPr/>
              <p:nvPr/>
            </p:nvSpPr>
            <p:spPr>
              <a:xfrm>
                <a:off x="2835" y="7955"/>
                <a:ext cx="322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dirty="0">
                    <a:latin typeface="Times New Roman" panose="02020603050405020304" pitchFamily="18" charset="0"/>
                  </a:rPr>
                  <a:t>1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64" name="Rectangle 128"/>
              <p:cNvSpPr/>
              <p:nvPr/>
            </p:nvSpPr>
            <p:spPr>
              <a:xfrm>
                <a:off x="2192" y="6971"/>
                <a:ext cx="32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dirty="0">
                    <a:latin typeface="Times New Roman" panose="02020603050405020304" pitchFamily="18" charset="0"/>
                  </a:rPr>
                  <a:t>3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65" name="Rectangle 129"/>
              <p:cNvSpPr/>
              <p:nvPr/>
            </p:nvSpPr>
            <p:spPr>
              <a:xfrm>
                <a:off x="3948" y="6946"/>
                <a:ext cx="32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dirty="0">
                    <a:latin typeface="Times New Roman" panose="02020603050405020304" pitchFamily="18" charset="0"/>
                  </a:rPr>
                  <a:t>4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66" name="Rectangle 130"/>
              <p:cNvSpPr/>
              <p:nvPr/>
            </p:nvSpPr>
            <p:spPr>
              <a:xfrm>
                <a:off x="3050" y="7638"/>
                <a:ext cx="32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S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67" name="Rectangle 131"/>
              <p:cNvSpPr/>
              <p:nvPr/>
            </p:nvSpPr>
            <p:spPr>
              <a:xfrm>
                <a:off x="5047" y="7651"/>
                <a:ext cx="32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R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68" name="Rectangle 132"/>
              <p:cNvSpPr/>
              <p:nvPr/>
            </p:nvSpPr>
            <p:spPr>
              <a:xfrm>
                <a:off x="5986" y="8854"/>
                <a:ext cx="356" cy="3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i="1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69" name="Rectangle 133"/>
              <p:cNvSpPr/>
              <p:nvPr/>
            </p:nvSpPr>
            <p:spPr>
              <a:xfrm>
                <a:off x="2500" y="8867"/>
                <a:ext cx="322" cy="3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i="1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70" name="Rectangle 134"/>
              <p:cNvSpPr/>
              <p:nvPr/>
            </p:nvSpPr>
            <p:spPr>
              <a:xfrm>
                <a:off x="3278" y="8867"/>
                <a:ext cx="32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J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71" name="Rectangle 135"/>
              <p:cNvSpPr/>
              <p:nvPr/>
            </p:nvSpPr>
            <p:spPr>
              <a:xfrm>
                <a:off x="4216" y="8854"/>
                <a:ext cx="32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000" i="1" dirty="0">
                    <a:latin typeface="Times New Roman" panose="02020603050405020304" pitchFamily="18" charset="0"/>
                  </a:rPr>
                  <a:t>CP</a:t>
                </a:r>
                <a:endParaRPr lang="en-US" altLang="zh-CN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72" name="Rectangle 136"/>
              <p:cNvSpPr/>
              <p:nvPr/>
            </p:nvSpPr>
            <p:spPr>
              <a:xfrm>
                <a:off x="5248" y="8859"/>
                <a:ext cx="32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K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73" name="Rectangle 137"/>
              <p:cNvSpPr/>
              <p:nvPr/>
            </p:nvSpPr>
            <p:spPr>
              <a:xfrm>
                <a:off x="3108" y="5757"/>
                <a:ext cx="321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Q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74" name="Rectangle 138"/>
              <p:cNvSpPr/>
              <p:nvPr/>
            </p:nvSpPr>
            <p:spPr>
              <a:xfrm>
                <a:off x="2447" y="6709"/>
                <a:ext cx="1447" cy="524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 algn="just">
                  <a:lnSpc>
                    <a:spcPct val="96000"/>
                  </a:lnSpc>
                </a:pPr>
                <a:r>
                  <a:rPr lang="en-US" altLang="zh-CN" sz="24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algn="just">
                  <a:lnSpc>
                    <a:spcPct val="96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75" name="Line 139"/>
              <p:cNvSpPr/>
              <p:nvPr/>
            </p:nvSpPr>
            <p:spPr>
              <a:xfrm>
                <a:off x="2447" y="6971"/>
                <a:ext cx="1447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76" name="Line 140"/>
              <p:cNvSpPr/>
              <p:nvPr/>
            </p:nvSpPr>
            <p:spPr>
              <a:xfrm>
                <a:off x="3157" y="6971"/>
                <a:ext cx="0" cy="262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77" name="Rectangle 141"/>
              <p:cNvSpPr/>
              <p:nvPr/>
            </p:nvSpPr>
            <p:spPr>
              <a:xfrm>
                <a:off x="4793" y="6709"/>
                <a:ext cx="1447" cy="524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 algn="just">
                  <a:lnSpc>
                    <a:spcPct val="96000"/>
                  </a:lnSpc>
                </a:pPr>
                <a:r>
                  <a:rPr lang="en-US" altLang="zh-CN" sz="24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algn="just">
                  <a:lnSpc>
                    <a:spcPct val="96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78" name="Line 142"/>
              <p:cNvSpPr/>
              <p:nvPr/>
            </p:nvSpPr>
            <p:spPr>
              <a:xfrm>
                <a:off x="4793" y="6971"/>
                <a:ext cx="1447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79" name="Line 143"/>
              <p:cNvSpPr/>
              <p:nvPr/>
            </p:nvSpPr>
            <p:spPr>
              <a:xfrm>
                <a:off x="5516" y="6971"/>
                <a:ext cx="0" cy="262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0" name="Line 144"/>
              <p:cNvSpPr/>
              <p:nvPr/>
            </p:nvSpPr>
            <p:spPr>
              <a:xfrm>
                <a:off x="3157" y="6054"/>
                <a:ext cx="0" cy="655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1" name="Line 145"/>
              <p:cNvSpPr/>
              <p:nvPr/>
            </p:nvSpPr>
            <p:spPr>
              <a:xfrm>
                <a:off x="3171" y="6319"/>
                <a:ext cx="866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2" name="Line 146"/>
              <p:cNvSpPr/>
              <p:nvPr/>
            </p:nvSpPr>
            <p:spPr>
              <a:xfrm>
                <a:off x="4055" y="6316"/>
                <a:ext cx="644" cy="1178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3" name="Line 147"/>
              <p:cNvSpPr/>
              <p:nvPr/>
            </p:nvSpPr>
            <p:spPr>
              <a:xfrm flipV="1">
                <a:off x="4028" y="6316"/>
                <a:ext cx="644" cy="1178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4" name="Line 148"/>
              <p:cNvSpPr/>
              <p:nvPr/>
            </p:nvSpPr>
            <p:spPr>
              <a:xfrm>
                <a:off x="4685" y="6319"/>
                <a:ext cx="866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5" name="Line 149"/>
              <p:cNvSpPr/>
              <p:nvPr/>
            </p:nvSpPr>
            <p:spPr>
              <a:xfrm>
                <a:off x="5557" y="6047"/>
                <a:ext cx="0" cy="654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6" name="Line 150"/>
              <p:cNvSpPr/>
              <p:nvPr/>
            </p:nvSpPr>
            <p:spPr>
              <a:xfrm>
                <a:off x="2929" y="7233"/>
                <a:ext cx="0" cy="261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7" name="Line 151"/>
              <p:cNvSpPr/>
              <p:nvPr/>
            </p:nvSpPr>
            <p:spPr>
              <a:xfrm>
                <a:off x="2916" y="7482"/>
                <a:ext cx="1126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8" name="Line 152"/>
              <p:cNvSpPr/>
              <p:nvPr/>
            </p:nvSpPr>
            <p:spPr>
              <a:xfrm>
                <a:off x="4685" y="7482"/>
                <a:ext cx="993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9" name="Line 153"/>
              <p:cNvSpPr/>
              <p:nvPr/>
            </p:nvSpPr>
            <p:spPr>
              <a:xfrm>
                <a:off x="5690" y="7221"/>
                <a:ext cx="0" cy="261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90" name="Line 154"/>
              <p:cNvSpPr/>
              <p:nvPr/>
            </p:nvSpPr>
            <p:spPr>
              <a:xfrm>
                <a:off x="2715" y="7233"/>
                <a:ext cx="0" cy="392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91" name="Line 155"/>
              <p:cNvSpPr/>
              <p:nvPr/>
            </p:nvSpPr>
            <p:spPr>
              <a:xfrm>
                <a:off x="5914" y="7233"/>
                <a:ext cx="0" cy="392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92" name="Line 156"/>
              <p:cNvSpPr/>
              <p:nvPr/>
            </p:nvSpPr>
            <p:spPr>
              <a:xfrm>
                <a:off x="2714" y="7641"/>
                <a:ext cx="3208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93" name="Line 157"/>
              <p:cNvSpPr/>
              <p:nvPr/>
            </p:nvSpPr>
            <p:spPr>
              <a:xfrm>
                <a:off x="2591" y="7245"/>
                <a:ext cx="0" cy="1608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94" name="Line 158"/>
              <p:cNvSpPr/>
              <p:nvPr/>
            </p:nvSpPr>
            <p:spPr>
              <a:xfrm>
                <a:off x="6136" y="7233"/>
                <a:ext cx="0" cy="1608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95" name="Line 159"/>
              <p:cNvSpPr/>
              <p:nvPr/>
            </p:nvSpPr>
            <p:spPr>
              <a:xfrm>
                <a:off x="4028" y="7482"/>
                <a:ext cx="0" cy="1023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96" name="Line 160"/>
              <p:cNvSpPr/>
              <p:nvPr/>
            </p:nvSpPr>
            <p:spPr>
              <a:xfrm>
                <a:off x="4696" y="7482"/>
                <a:ext cx="0" cy="999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97" name="Line 161"/>
              <p:cNvSpPr/>
              <p:nvPr/>
            </p:nvSpPr>
            <p:spPr>
              <a:xfrm>
                <a:off x="4377" y="7628"/>
                <a:ext cx="0" cy="1251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98" name="Line 162"/>
              <p:cNvSpPr/>
              <p:nvPr/>
            </p:nvSpPr>
            <p:spPr>
              <a:xfrm>
                <a:off x="4940" y="7233"/>
                <a:ext cx="0" cy="261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99" name="Line 163"/>
              <p:cNvSpPr/>
              <p:nvPr/>
            </p:nvSpPr>
            <p:spPr>
              <a:xfrm>
                <a:off x="3734" y="7228"/>
                <a:ext cx="0" cy="261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0" name="Line 164"/>
              <p:cNvSpPr/>
              <p:nvPr/>
            </p:nvSpPr>
            <p:spPr>
              <a:xfrm>
                <a:off x="5342" y="7233"/>
                <a:ext cx="0" cy="689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1" name="Line 165"/>
              <p:cNvSpPr/>
              <p:nvPr/>
            </p:nvSpPr>
            <p:spPr>
              <a:xfrm>
                <a:off x="3345" y="7233"/>
                <a:ext cx="0" cy="689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2" name="Line 166"/>
              <p:cNvSpPr/>
              <p:nvPr/>
            </p:nvSpPr>
            <p:spPr>
              <a:xfrm>
                <a:off x="5112" y="7245"/>
                <a:ext cx="0" cy="309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3" name="Line 167"/>
              <p:cNvSpPr/>
              <p:nvPr/>
            </p:nvSpPr>
            <p:spPr>
              <a:xfrm>
                <a:off x="5122" y="7557"/>
                <a:ext cx="1011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4" name="Line 168"/>
              <p:cNvSpPr/>
              <p:nvPr/>
            </p:nvSpPr>
            <p:spPr>
              <a:xfrm>
                <a:off x="5377" y="8305"/>
                <a:ext cx="0" cy="571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5" name="Line 169"/>
              <p:cNvSpPr/>
              <p:nvPr/>
            </p:nvSpPr>
            <p:spPr>
              <a:xfrm>
                <a:off x="3273" y="8293"/>
                <a:ext cx="0" cy="57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6" name="Line 170"/>
              <p:cNvSpPr/>
              <p:nvPr/>
            </p:nvSpPr>
            <p:spPr>
              <a:xfrm>
                <a:off x="5543" y="8305"/>
                <a:ext cx="0" cy="393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7" name="Line 171"/>
              <p:cNvSpPr/>
              <p:nvPr/>
            </p:nvSpPr>
            <p:spPr>
              <a:xfrm>
                <a:off x="3117" y="8293"/>
                <a:ext cx="0" cy="299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8" name="Line 172"/>
              <p:cNvSpPr/>
              <p:nvPr/>
            </p:nvSpPr>
            <p:spPr>
              <a:xfrm>
                <a:off x="3130" y="8580"/>
                <a:ext cx="3005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09" name="Line 173"/>
              <p:cNvSpPr/>
              <p:nvPr/>
            </p:nvSpPr>
            <p:spPr>
              <a:xfrm>
                <a:off x="2608" y="8703"/>
                <a:ext cx="2949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10" name="Line 174"/>
              <p:cNvSpPr/>
              <p:nvPr/>
            </p:nvSpPr>
            <p:spPr>
              <a:xfrm>
                <a:off x="3431" y="8293"/>
                <a:ext cx="0" cy="214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11" name="Line 175"/>
              <p:cNvSpPr/>
              <p:nvPr/>
            </p:nvSpPr>
            <p:spPr>
              <a:xfrm>
                <a:off x="3420" y="8498"/>
                <a:ext cx="618" cy="4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12" name="Line 176"/>
              <p:cNvSpPr/>
              <p:nvPr/>
            </p:nvSpPr>
            <p:spPr>
              <a:xfrm>
                <a:off x="4692" y="8496"/>
                <a:ext cx="516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13" name="Line 177"/>
              <p:cNvSpPr/>
              <p:nvPr/>
            </p:nvSpPr>
            <p:spPr>
              <a:xfrm>
                <a:off x="5210" y="8293"/>
                <a:ext cx="0" cy="214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14" name="Line 178"/>
              <p:cNvSpPr/>
              <p:nvPr/>
            </p:nvSpPr>
            <p:spPr>
              <a:xfrm>
                <a:off x="3586" y="8411"/>
                <a:ext cx="1480" cy="1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15" name="Line 179"/>
              <p:cNvSpPr/>
              <p:nvPr/>
            </p:nvSpPr>
            <p:spPr>
              <a:xfrm>
                <a:off x="3586" y="8280"/>
                <a:ext cx="0" cy="131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16" name="Line 180"/>
              <p:cNvSpPr/>
              <p:nvPr/>
            </p:nvSpPr>
            <p:spPr>
              <a:xfrm>
                <a:off x="5071" y="8285"/>
                <a:ext cx="0" cy="131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17" name="Line 181"/>
              <p:cNvSpPr/>
              <p:nvPr/>
            </p:nvSpPr>
            <p:spPr>
              <a:xfrm flipV="1">
                <a:off x="2581" y="7557"/>
                <a:ext cx="961" cy="0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18" name="Line 182"/>
              <p:cNvSpPr/>
              <p:nvPr/>
            </p:nvSpPr>
            <p:spPr>
              <a:xfrm>
                <a:off x="3542" y="7245"/>
                <a:ext cx="0" cy="309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219" name="Oval 183"/>
              <p:cNvSpPr/>
              <p:nvPr/>
            </p:nvSpPr>
            <p:spPr>
              <a:xfrm>
                <a:off x="5321" y="7846"/>
                <a:ext cx="51" cy="4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0" name="Oval 184"/>
              <p:cNvSpPr/>
              <p:nvPr/>
            </p:nvSpPr>
            <p:spPr>
              <a:xfrm>
                <a:off x="5530" y="6646"/>
                <a:ext cx="51" cy="4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1" name="Oval 185"/>
              <p:cNvSpPr/>
              <p:nvPr/>
            </p:nvSpPr>
            <p:spPr>
              <a:xfrm>
                <a:off x="3130" y="6651"/>
                <a:ext cx="51" cy="4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2" name="Oval 186"/>
              <p:cNvSpPr/>
              <p:nvPr/>
            </p:nvSpPr>
            <p:spPr>
              <a:xfrm>
                <a:off x="3318" y="7849"/>
                <a:ext cx="51" cy="4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3" name="Oval 187"/>
              <p:cNvSpPr/>
              <p:nvPr/>
            </p:nvSpPr>
            <p:spPr>
              <a:xfrm>
                <a:off x="3144" y="6304"/>
                <a:ext cx="51" cy="47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4" name="Oval 188"/>
              <p:cNvSpPr/>
              <p:nvPr/>
            </p:nvSpPr>
            <p:spPr>
              <a:xfrm>
                <a:off x="2567" y="7532"/>
                <a:ext cx="51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5" name="Oval 189"/>
              <p:cNvSpPr/>
              <p:nvPr/>
            </p:nvSpPr>
            <p:spPr>
              <a:xfrm>
                <a:off x="3707" y="7461"/>
                <a:ext cx="51" cy="47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6" name="Oval 190"/>
              <p:cNvSpPr/>
              <p:nvPr/>
            </p:nvSpPr>
            <p:spPr>
              <a:xfrm>
                <a:off x="4356" y="8381"/>
                <a:ext cx="51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7" name="Oval 191"/>
              <p:cNvSpPr/>
              <p:nvPr/>
            </p:nvSpPr>
            <p:spPr>
              <a:xfrm>
                <a:off x="4015" y="7457"/>
                <a:ext cx="51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8" name="Oval 192"/>
              <p:cNvSpPr/>
              <p:nvPr/>
            </p:nvSpPr>
            <p:spPr>
              <a:xfrm>
                <a:off x="4350" y="7613"/>
                <a:ext cx="51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29" name="Oval 193"/>
              <p:cNvSpPr/>
              <p:nvPr/>
            </p:nvSpPr>
            <p:spPr>
              <a:xfrm>
                <a:off x="4658" y="7462"/>
                <a:ext cx="51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30" name="Oval 194"/>
              <p:cNvSpPr/>
              <p:nvPr/>
            </p:nvSpPr>
            <p:spPr>
              <a:xfrm>
                <a:off x="6106" y="8559"/>
                <a:ext cx="51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31" name="Oval 195"/>
              <p:cNvSpPr/>
              <p:nvPr/>
            </p:nvSpPr>
            <p:spPr>
              <a:xfrm>
                <a:off x="4913" y="7462"/>
                <a:ext cx="51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32" name="Oval 196"/>
              <p:cNvSpPr/>
              <p:nvPr/>
            </p:nvSpPr>
            <p:spPr>
              <a:xfrm>
                <a:off x="6106" y="7525"/>
                <a:ext cx="51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33" name="Oval 197"/>
              <p:cNvSpPr/>
              <p:nvPr/>
            </p:nvSpPr>
            <p:spPr>
              <a:xfrm>
                <a:off x="5530" y="6296"/>
                <a:ext cx="51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34" name="Oval 198"/>
              <p:cNvSpPr/>
              <p:nvPr/>
            </p:nvSpPr>
            <p:spPr>
              <a:xfrm>
                <a:off x="2567" y="8673"/>
                <a:ext cx="51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35" name="Rectangle 199"/>
              <p:cNvSpPr/>
              <p:nvPr/>
            </p:nvSpPr>
            <p:spPr>
              <a:xfrm>
                <a:off x="5007" y="7905"/>
                <a:ext cx="643" cy="393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236" name="Rectangle 200"/>
              <p:cNvSpPr/>
              <p:nvPr/>
            </p:nvSpPr>
            <p:spPr>
              <a:xfrm>
                <a:off x="3023" y="7905"/>
                <a:ext cx="644" cy="393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9158" name="Text Box 201"/>
            <p:cNvSpPr txBox="1"/>
            <p:nvPr/>
          </p:nvSpPr>
          <p:spPr>
            <a:xfrm>
              <a:off x="3080" y="9007"/>
              <a:ext cx="4818" cy="6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zh-CN" altLang="en-US" sz="24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）                                                     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）</a:t>
              </a:r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负沿触发</a:t>
              </a:r>
              <a:r>
                <a:rPr lang="en-US" altLang="zh-CN" b="1" dirty="0">
                  <a:latin typeface="Times New Roman" panose="02020603050405020304" pitchFamily="18" charset="0"/>
                </a:rPr>
                <a:t>J</a:t>
              </a:r>
              <a:r>
                <a:rPr lang="zh-CN" altLang="en-US" b="1" dirty="0">
                  <a:latin typeface="Times New Roman" panose="02020603050405020304" pitchFamily="18" charset="0"/>
                </a:rPr>
                <a:t>－</a:t>
              </a:r>
              <a:r>
                <a:rPr lang="en-US" altLang="zh-CN" b="1" dirty="0">
                  <a:latin typeface="Times New Roman" panose="02020603050405020304" pitchFamily="18" charset="0"/>
                </a:rPr>
                <a:t>K</a:t>
              </a:r>
              <a:r>
                <a:rPr lang="zh-CN" altLang="en-US" b="1" dirty="0">
                  <a:latin typeface="Times New Roman" panose="02020603050405020304" pitchFamily="18" charset="0"/>
                </a:rPr>
                <a:t>触发器</a:t>
              </a:r>
              <a:endParaRPr lang="zh-CN" altLang="en-US" sz="66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0755" name="Rectangle 3"/>
          <p:cNvSpPr/>
          <p:nvPr/>
        </p:nvSpPr>
        <p:spPr>
          <a:xfrm>
            <a:off x="684213" y="1628775"/>
            <a:ext cx="5508625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76225" defTabSz="914400">
              <a:buNone/>
              <a:tabLst>
                <a:tab pos="5256530" algn="r"/>
              </a:tabLst>
            </a:pPr>
            <a:r>
              <a:rPr lang="en-US" altLang="zh-CN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电路结构与工作原理</a:t>
            </a:r>
            <a:endParaRPr lang="zh-CN" altLang="en-US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179" name="Rectangle 4"/>
          <p:cNvSpPr/>
          <p:nvPr/>
        </p:nvSpPr>
        <p:spPr>
          <a:xfrm>
            <a:off x="8670925" y="4475163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0180" name="Rectangle 5"/>
          <p:cNvSpPr/>
          <p:nvPr/>
        </p:nvSpPr>
        <p:spPr>
          <a:xfrm>
            <a:off x="8670925" y="5392738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30758" name="AutoShape 6"/>
          <p:cNvSpPr/>
          <p:nvPr/>
        </p:nvSpPr>
        <p:spPr>
          <a:xfrm>
            <a:off x="4930775" y="3216275"/>
            <a:ext cx="1368425" cy="1908175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66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400" dirty="0">
              <a:solidFill>
                <a:srgbClr val="000066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30759" name="AutoShape 7"/>
          <p:cNvSpPr/>
          <p:nvPr/>
        </p:nvSpPr>
        <p:spPr>
          <a:xfrm>
            <a:off x="2914650" y="2387600"/>
            <a:ext cx="1187450" cy="1692275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3366CC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400" dirty="0">
              <a:solidFill>
                <a:srgbClr val="000066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30760" name="AutoShape 8"/>
          <p:cNvSpPr/>
          <p:nvPr/>
        </p:nvSpPr>
        <p:spPr>
          <a:xfrm>
            <a:off x="2913063" y="4367213"/>
            <a:ext cx="1223962" cy="1692275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3366CC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400" dirty="0">
              <a:solidFill>
                <a:srgbClr val="000066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30761" name="Rectangle 9"/>
          <p:cNvSpPr/>
          <p:nvPr/>
        </p:nvSpPr>
        <p:spPr>
          <a:xfrm>
            <a:off x="5184775" y="5483225"/>
            <a:ext cx="3452813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</a:ln>
        </p:spPr>
        <p:txBody>
          <a:bodyPr wrap="none">
            <a:spAutoFit/>
          </a:bodyPr>
          <a:p>
            <a:pPr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由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个基本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SR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锁存器组成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142875" y="2927350"/>
            <a:ext cx="2049463" cy="908050"/>
            <a:chOff x="204" y="1786"/>
            <a:chExt cx="1291" cy="572"/>
          </a:xfrm>
        </p:grpSpPr>
        <p:sp>
          <p:nvSpPr>
            <p:cNvPr id="50193" name="AutoShape 11"/>
            <p:cNvSpPr/>
            <p:nvPr/>
          </p:nvSpPr>
          <p:spPr>
            <a:xfrm>
              <a:off x="249" y="2047"/>
              <a:ext cx="1178" cy="283"/>
            </a:xfrm>
            <a:prstGeom prst="wedgeRoundRectCallout">
              <a:avLst>
                <a:gd name="adj1" fmla="val 89815"/>
                <a:gd name="adj2" fmla="val -33394"/>
                <a:gd name="adj3" fmla="val 16667"/>
              </a:avLst>
            </a:prstGeom>
            <a:solidFill>
              <a:schemeClr val="bg1"/>
            </a:solidFill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ctr"/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置</a:t>
              </a:r>
              <a:r>
                <a:rPr lang="en-US" altLang="zh-CN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维持线</a:t>
              </a:r>
              <a:endPara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0194" name="AutoShape 12"/>
            <p:cNvSpPr/>
            <p:nvPr/>
          </p:nvSpPr>
          <p:spPr>
            <a:xfrm>
              <a:off x="204" y="1786"/>
              <a:ext cx="1291" cy="572"/>
            </a:xfrm>
            <a:prstGeom prst="wedgeRoundRectCallout">
              <a:avLst>
                <a:gd name="adj1" fmla="val 82611"/>
                <a:gd name="adj2" fmla="val 101889"/>
                <a:gd name="adj3" fmla="val 16667"/>
              </a:avLst>
            </a:prstGeom>
            <a:solidFill>
              <a:schemeClr val="bg1"/>
            </a:solidFill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ctr"/>
              <a:r>
                <a:rPr lang="zh-CN" altLang="en-US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接受</a:t>
              </a:r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lang="zh-CN" altLang="en-US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</a:t>
              </a:r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CP</a:t>
              </a:r>
              <a:r>
                <a:rPr lang="zh-CN" altLang="en-US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输入信号</a:t>
              </a:r>
              <a:endPara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6911975" y="2100263"/>
            <a:ext cx="2232025" cy="908050"/>
            <a:chOff x="4354" y="2240"/>
            <a:chExt cx="1406" cy="572"/>
          </a:xfrm>
        </p:grpSpPr>
        <p:sp>
          <p:nvSpPr>
            <p:cNvPr id="50190" name="AutoShape 14"/>
            <p:cNvSpPr/>
            <p:nvPr/>
          </p:nvSpPr>
          <p:spPr>
            <a:xfrm>
              <a:off x="4354" y="2240"/>
              <a:ext cx="1406" cy="572"/>
            </a:xfrm>
            <a:prstGeom prst="wedgeRoundRectCallout">
              <a:avLst>
                <a:gd name="adj1" fmla="val -96019"/>
                <a:gd name="adj2" fmla="val 78319"/>
                <a:gd name="adj3" fmla="val 16667"/>
              </a:avLst>
            </a:prstGeom>
            <a:solidFill>
              <a:schemeClr val="bg1"/>
            </a:solidFill>
            <a:ln w="28575" cap="flat" cmpd="sng">
              <a:solidFill>
                <a:srgbClr val="FF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ctr"/>
              <a:r>
                <a:rPr lang="zh-CN" altLang="en-US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根据      </a:t>
              </a:r>
              <a:r>
                <a:rPr lang="zh-CN" altLang="en-US" sz="2400" b="1" dirty="0">
                  <a:solidFill>
                    <a:srgbClr val="000066"/>
                  </a:solidFill>
                  <a:latin typeface="Tahoma" panose="020B0604030504040204" pitchFamily="34" charset="0"/>
                  <a:ea typeface="楷体_GB2312" pitchFamily="49" charset="-122"/>
                </a:rPr>
                <a:t>确定触发器的状态 </a:t>
              </a:r>
              <a:endParaRPr lang="zh-CN" altLang="en-US" sz="2400" b="1" dirty="0">
                <a:solidFill>
                  <a:srgbClr val="000066"/>
                </a:solidFill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50191" name="Object 15"/>
            <p:cNvGraphicFramePr>
              <a:graphicFrameLocks noChangeAspect="1"/>
            </p:cNvGraphicFramePr>
            <p:nvPr/>
          </p:nvGraphicFramePr>
          <p:xfrm>
            <a:off x="5050" y="2274"/>
            <a:ext cx="166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" imgW="215900" imgH="279400" progId="Equation.3">
                    <p:embed/>
                  </p:oleObj>
                </mc:Choice>
                <mc:Fallback>
                  <p:oleObj name="" r:id="rId1" imgW="215900" imgH="2794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050" y="2274"/>
                          <a:ext cx="166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92" name="Object 16"/>
            <p:cNvGraphicFramePr>
              <a:graphicFrameLocks noChangeAspect="1"/>
            </p:cNvGraphicFramePr>
            <p:nvPr/>
          </p:nvGraphicFramePr>
          <p:xfrm>
            <a:off x="4891" y="2251"/>
            <a:ext cx="17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3" imgW="139700" imgH="215900" progId="Equation.3">
                    <p:embed/>
                  </p:oleObj>
                </mc:Choice>
                <mc:Fallback>
                  <p:oleObj name="" r:id="rId3" imgW="139700" imgH="2159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91" y="2251"/>
                          <a:ext cx="17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87" name="Rectangle 17"/>
          <p:cNvSpPr/>
          <p:nvPr/>
        </p:nvSpPr>
        <p:spPr>
          <a:xfrm>
            <a:off x="-180975" y="2246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0770" name="Object 18"/>
          <p:cNvGraphicFramePr>
            <a:graphicFrameLocks noChangeAspect="1"/>
          </p:cNvGraphicFramePr>
          <p:nvPr/>
        </p:nvGraphicFramePr>
        <p:xfrm>
          <a:off x="1979613" y="2097088"/>
          <a:ext cx="4554537" cy="417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5" imgW="2249170" imgH="2057400" progId="Word.Picture.8">
                  <p:embed/>
                </p:oleObj>
              </mc:Choice>
              <mc:Fallback>
                <p:oleObj name="" r:id="rId5" imgW="2249170" imgH="2057400" progId="Word.Picture.8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79613" y="2097088"/>
                        <a:ext cx="4554537" cy="4173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9" name="Text Box 19" descr="羊皮纸"/>
          <p:cNvSpPr txBox="1"/>
          <p:nvPr/>
        </p:nvSpPr>
        <p:spPr>
          <a:xfrm>
            <a:off x="460375" y="833438"/>
            <a:ext cx="3738245" cy="52324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p>
            <a:r>
              <a:rPr lang="en-US" altLang="zh-CN" b="1" dirty="0">
                <a:latin typeface="Times New Roman" panose="02020603050405020304" pitchFamily="18" charset="0"/>
              </a:rPr>
              <a:t>6.4.2 </a:t>
            </a:r>
            <a:r>
              <a:rPr lang="zh-CN" altLang="en-US" b="1" dirty="0">
                <a:latin typeface="Times New Roman" panose="02020603050405020304" pitchFamily="18" charset="0"/>
              </a:rPr>
              <a:t>维持阻塞</a:t>
            </a:r>
            <a:r>
              <a:rPr lang="en-US" altLang="zh-CN" b="1" dirty="0">
                <a:latin typeface="Times New Roman" panose="02020603050405020304" pitchFamily="18" charset="0"/>
              </a:rPr>
              <a:t>D</a:t>
            </a:r>
            <a:r>
              <a:rPr lang="zh-CN" altLang="en-US" b="1" dirty="0">
                <a:latin typeface="Times New Roman" panose="02020603050405020304" pitchFamily="18" charset="0"/>
              </a:rPr>
              <a:t>触发器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3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/>
      <p:bldP spid="330758" grpId="0" animBg="1"/>
      <p:bldP spid="330759" grpId="0" animBg="1"/>
      <p:bldP spid="330760" grpId="0" animBg="1"/>
      <p:bldP spid="33076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/>
          <p:nvPr/>
        </p:nvSpPr>
        <p:spPr>
          <a:xfrm>
            <a:off x="3132138" y="1773238"/>
            <a:ext cx="5868987" cy="49323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1779" name="Oval 3"/>
          <p:cNvSpPr/>
          <p:nvPr/>
        </p:nvSpPr>
        <p:spPr>
          <a:xfrm>
            <a:off x="3671888" y="3759200"/>
            <a:ext cx="468312" cy="431800"/>
          </a:xfrm>
          <a:prstGeom prst="ellipse">
            <a:avLst/>
          </a:prstGeom>
          <a:solidFill>
            <a:srgbClr val="0033CC"/>
          </a:solidFill>
          <a:ln w="9525" cap="flat" cmpd="sng">
            <a:solidFill>
              <a:srgbClr val="D6009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1780" name="Oval 4"/>
          <p:cNvSpPr/>
          <p:nvPr/>
        </p:nvSpPr>
        <p:spPr>
          <a:xfrm>
            <a:off x="6019800" y="3463925"/>
            <a:ext cx="387350" cy="396875"/>
          </a:xfrm>
          <a:prstGeom prst="ellipse">
            <a:avLst/>
          </a:prstGeom>
          <a:solidFill>
            <a:srgbClr val="0033CC"/>
          </a:solidFill>
          <a:ln w="9525" cap="flat" cmpd="sng">
            <a:solidFill>
              <a:srgbClr val="D6009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1781" name="Oval 5"/>
          <p:cNvSpPr/>
          <p:nvPr/>
        </p:nvSpPr>
        <p:spPr>
          <a:xfrm>
            <a:off x="6048375" y="4984750"/>
            <a:ext cx="404813" cy="388938"/>
          </a:xfrm>
          <a:prstGeom prst="ellipse">
            <a:avLst/>
          </a:prstGeom>
          <a:solidFill>
            <a:srgbClr val="0033CC"/>
          </a:solidFill>
          <a:ln w="9525" cap="flat" cmpd="sng">
            <a:solidFill>
              <a:srgbClr val="D6009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1782" name="Oval 6"/>
          <p:cNvSpPr/>
          <p:nvPr/>
        </p:nvSpPr>
        <p:spPr>
          <a:xfrm>
            <a:off x="5616575" y="1700213"/>
            <a:ext cx="468313" cy="468312"/>
          </a:xfrm>
          <a:prstGeom prst="ellipse">
            <a:avLst/>
          </a:prstGeom>
          <a:solidFill>
            <a:srgbClr val="0033CC"/>
          </a:solidFill>
          <a:ln w="9525" cap="flat" cmpd="sng">
            <a:solidFill>
              <a:srgbClr val="D6009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5975350" y="6216650"/>
            <a:ext cx="508000" cy="488950"/>
            <a:chOff x="2172" y="3129"/>
            <a:chExt cx="161" cy="204"/>
          </a:xfrm>
        </p:grpSpPr>
        <p:sp>
          <p:nvSpPr>
            <p:cNvPr id="51336" name="Oval 8"/>
            <p:cNvSpPr/>
            <p:nvPr/>
          </p:nvSpPr>
          <p:spPr>
            <a:xfrm>
              <a:off x="2172" y="3129"/>
              <a:ext cx="161" cy="204"/>
            </a:xfrm>
            <a:prstGeom prst="ellipse">
              <a:avLst/>
            </a:prstGeom>
            <a:solidFill>
              <a:srgbClr val="0033CC"/>
            </a:solidFill>
            <a:ln w="9525" cap="flat" cmpd="sng">
              <a:solidFill>
                <a:srgbClr val="D6009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D</a:t>
              </a:r>
              <a:endPara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1337" name="Line 9"/>
            <p:cNvSpPr/>
            <p:nvPr/>
          </p:nvSpPr>
          <p:spPr>
            <a:xfrm>
              <a:off x="2200" y="3152"/>
              <a:ext cx="85" cy="0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208" name="AutoShape 10"/>
          <p:cNvSpPr>
            <a:spLocks noChangeAspect="1" noTextEdit="1"/>
          </p:cNvSpPr>
          <p:nvPr/>
        </p:nvSpPr>
        <p:spPr>
          <a:xfrm>
            <a:off x="3132138" y="1592263"/>
            <a:ext cx="5857875" cy="51292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09" name="Rectangle 11"/>
          <p:cNvSpPr/>
          <p:nvPr/>
        </p:nvSpPr>
        <p:spPr>
          <a:xfrm>
            <a:off x="3313113" y="1660525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10" name="Rectangle 12"/>
          <p:cNvSpPr/>
          <p:nvPr/>
        </p:nvSpPr>
        <p:spPr>
          <a:xfrm>
            <a:off x="5362575" y="2139950"/>
            <a:ext cx="82550" cy="1984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11" name="Rectangle 13"/>
          <p:cNvSpPr/>
          <p:nvPr/>
        </p:nvSpPr>
        <p:spPr>
          <a:xfrm>
            <a:off x="5481638" y="1981200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12" name="Rectangle 14"/>
          <p:cNvSpPr/>
          <p:nvPr/>
        </p:nvSpPr>
        <p:spPr>
          <a:xfrm>
            <a:off x="5210175" y="1987550"/>
            <a:ext cx="374650" cy="5397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13" name="Rectangle 15"/>
          <p:cNvSpPr/>
          <p:nvPr/>
        </p:nvSpPr>
        <p:spPr>
          <a:xfrm>
            <a:off x="5210175" y="1987550"/>
            <a:ext cx="374650" cy="539750"/>
          </a:xfrm>
          <a:prstGeom prst="rect">
            <a:avLst/>
          </a:prstGeom>
          <a:noFill/>
          <a:ln w="222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14" name="Rectangle 16"/>
          <p:cNvSpPr/>
          <p:nvPr/>
        </p:nvSpPr>
        <p:spPr>
          <a:xfrm>
            <a:off x="5257800" y="2019300"/>
            <a:ext cx="2095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&amp;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15" name="Rectangle 17"/>
          <p:cNvSpPr/>
          <p:nvPr/>
        </p:nvSpPr>
        <p:spPr>
          <a:xfrm>
            <a:off x="5551488" y="2019300"/>
            <a:ext cx="65087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16" name="Rectangle 18"/>
          <p:cNvSpPr/>
          <p:nvPr/>
        </p:nvSpPr>
        <p:spPr>
          <a:xfrm>
            <a:off x="3162300" y="4094163"/>
            <a:ext cx="169863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17" name="Rectangle 19"/>
          <p:cNvSpPr/>
          <p:nvPr/>
        </p:nvSpPr>
        <p:spPr>
          <a:xfrm>
            <a:off x="3446463" y="4081463"/>
            <a:ext cx="15557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18" name="Rectangle 20"/>
          <p:cNvSpPr/>
          <p:nvPr/>
        </p:nvSpPr>
        <p:spPr>
          <a:xfrm>
            <a:off x="3624263" y="4473575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19" name="Freeform 21"/>
          <p:cNvSpPr/>
          <p:nvPr/>
        </p:nvSpPr>
        <p:spPr>
          <a:xfrm>
            <a:off x="4197350" y="4175125"/>
            <a:ext cx="80963" cy="84138"/>
          </a:xfrm>
          <a:custGeom>
            <a:avLst/>
            <a:gdLst>
              <a:gd name="txL" fmla="*/ 0 w 36"/>
              <a:gd name="txT" fmla="*/ 0 h 40"/>
              <a:gd name="txR" fmla="*/ 36 w 36"/>
              <a:gd name="txB" fmla="*/ 40 h 40"/>
            </a:gdLst>
            <a:ahLst/>
            <a:cxnLst>
              <a:cxn ang="0">
                <a:pos x="91042894" y="0"/>
              </a:cxn>
              <a:cxn ang="0">
                <a:pos x="50579385" y="17698428"/>
              </a:cxn>
              <a:cxn ang="0">
                <a:pos x="15173816" y="35396857"/>
              </a:cxn>
              <a:cxn ang="0">
                <a:pos x="0" y="48669626"/>
              </a:cxn>
              <a:cxn ang="0">
                <a:pos x="0" y="79640824"/>
              </a:cxn>
              <a:cxn ang="0">
                <a:pos x="0" y="128310450"/>
              </a:cxn>
              <a:cxn ang="0">
                <a:pos x="15173816" y="146008878"/>
              </a:cxn>
              <a:cxn ang="0">
                <a:pos x="50579385" y="163707307"/>
              </a:cxn>
              <a:cxn ang="0">
                <a:pos x="91042894" y="176980076"/>
              </a:cxn>
              <a:cxn ang="0">
                <a:pos x="126446214" y="163707307"/>
              </a:cxn>
              <a:cxn ang="0">
                <a:pos x="161851784" y="146008878"/>
              </a:cxn>
              <a:cxn ang="0">
                <a:pos x="182083538" y="128310450"/>
              </a:cxn>
              <a:cxn ang="0">
                <a:pos x="182083538" y="79640824"/>
              </a:cxn>
              <a:cxn ang="0">
                <a:pos x="182083538" y="48669626"/>
              </a:cxn>
              <a:cxn ang="0">
                <a:pos x="161851784" y="35396857"/>
              </a:cxn>
              <a:cxn ang="0">
                <a:pos x="126446214" y="17698428"/>
              </a:cxn>
              <a:cxn ang="0">
                <a:pos x="91042894" y="0"/>
              </a:cxn>
            </a:cxnLst>
            <a:rect l="txL" t="txT" r="txR" b="txB"/>
            <a:pathLst>
              <a:path w="36" h="40">
                <a:moveTo>
                  <a:pt x="18" y="0"/>
                </a:moveTo>
                <a:lnTo>
                  <a:pt x="10" y="4"/>
                </a:lnTo>
                <a:lnTo>
                  <a:pt x="3" y="8"/>
                </a:lnTo>
                <a:lnTo>
                  <a:pt x="0" y="11"/>
                </a:lnTo>
                <a:lnTo>
                  <a:pt x="0" y="18"/>
                </a:lnTo>
                <a:lnTo>
                  <a:pt x="0" y="29"/>
                </a:lnTo>
                <a:lnTo>
                  <a:pt x="3" y="33"/>
                </a:lnTo>
                <a:lnTo>
                  <a:pt x="10" y="37"/>
                </a:lnTo>
                <a:lnTo>
                  <a:pt x="18" y="40"/>
                </a:lnTo>
                <a:lnTo>
                  <a:pt x="25" y="37"/>
                </a:lnTo>
                <a:lnTo>
                  <a:pt x="32" y="33"/>
                </a:lnTo>
                <a:lnTo>
                  <a:pt x="36" y="29"/>
                </a:lnTo>
                <a:lnTo>
                  <a:pt x="36" y="18"/>
                </a:lnTo>
                <a:lnTo>
                  <a:pt x="36" y="11"/>
                </a:lnTo>
                <a:lnTo>
                  <a:pt x="32" y="8"/>
                </a:lnTo>
                <a:lnTo>
                  <a:pt x="25" y="4"/>
                </a:lnTo>
                <a:lnTo>
                  <a:pt x="18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20" name="Freeform 22"/>
          <p:cNvSpPr/>
          <p:nvPr/>
        </p:nvSpPr>
        <p:spPr>
          <a:xfrm>
            <a:off x="4197350" y="4175125"/>
            <a:ext cx="80963" cy="84138"/>
          </a:xfrm>
          <a:custGeom>
            <a:avLst/>
            <a:gdLst>
              <a:gd name="txL" fmla="*/ 0 w 36"/>
              <a:gd name="txT" fmla="*/ 0 h 40"/>
              <a:gd name="txR" fmla="*/ 36 w 36"/>
              <a:gd name="txB" fmla="*/ 40 h 40"/>
            </a:gdLst>
            <a:ahLst/>
            <a:cxnLst>
              <a:cxn ang="0">
                <a:pos x="91042894" y="0"/>
              </a:cxn>
              <a:cxn ang="0">
                <a:pos x="50579385" y="17698428"/>
              </a:cxn>
              <a:cxn ang="0">
                <a:pos x="15173816" y="35396857"/>
              </a:cxn>
              <a:cxn ang="0">
                <a:pos x="0" y="48669626"/>
              </a:cxn>
              <a:cxn ang="0">
                <a:pos x="0" y="79640824"/>
              </a:cxn>
              <a:cxn ang="0">
                <a:pos x="0" y="128310450"/>
              </a:cxn>
              <a:cxn ang="0">
                <a:pos x="15173816" y="146008878"/>
              </a:cxn>
              <a:cxn ang="0">
                <a:pos x="50579385" y="163707307"/>
              </a:cxn>
              <a:cxn ang="0">
                <a:pos x="91042894" y="176980076"/>
              </a:cxn>
              <a:cxn ang="0">
                <a:pos x="126446214" y="163707307"/>
              </a:cxn>
              <a:cxn ang="0">
                <a:pos x="161851784" y="146008878"/>
              </a:cxn>
              <a:cxn ang="0">
                <a:pos x="182083538" y="128310450"/>
              </a:cxn>
              <a:cxn ang="0">
                <a:pos x="182083538" y="79640824"/>
              </a:cxn>
              <a:cxn ang="0">
                <a:pos x="182083538" y="48669626"/>
              </a:cxn>
              <a:cxn ang="0">
                <a:pos x="161851784" y="35396857"/>
              </a:cxn>
              <a:cxn ang="0">
                <a:pos x="126446214" y="17698428"/>
              </a:cxn>
              <a:cxn ang="0">
                <a:pos x="91042894" y="0"/>
              </a:cxn>
            </a:cxnLst>
            <a:rect l="txL" t="txT" r="txR" b="txB"/>
            <a:pathLst>
              <a:path w="36" h="40">
                <a:moveTo>
                  <a:pt x="18" y="0"/>
                </a:moveTo>
                <a:lnTo>
                  <a:pt x="10" y="4"/>
                </a:lnTo>
                <a:lnTo>
                  <a:pt x="3" y="8"/>
                </a:lnTo>
                <a:lnTo>
                  <a:pt x="0" y="11"/>
                </a:lnTo>
                <a:lnTo>
                  <a:pt x="0" y="18"/>
                </a:lnTo>
                <a:lnTo>
                  <a:pt x="0" y="29"/>
                </a:lnTo>
                <a:lnTo>
                  <a:pt x="3" y="33"/>
                </a:lnTo>
                <a:lnTo>
                  <a:pt x="10" y="37"/>
                </a:lnTo>
                <a:lnTo>
                  <a:pt x="18" y="40"/>
                </a:lnTo>
                <a:lnTo>
                  <a:pt x="25" y="37"/>
                </a:lnTo>
                <a:lnTo>
                  <a:pt x="32" y="33"/>
                </a:lnTo>
                <a:lnTo>
                  <a:pt x="36" y="29"/>
                </a:lnTo>
                <a:lnTo>
                  <a:pt x="36" y="18"/>
                </a:lnTo>
                <a:lnTo>
                  <a:pt x="36" y="11"/>
                </a:lnTo>
                <a:lnTo>
                  <a:pt x="32" y="8"/>
                </a:lnTo>
                <a:lnTo>
                  <a:pt x="25" y="4"/>
                </a:lnTo>
                <a:lnTo>
                  <a:pt x="18" y="0"/>
                </a:lnTo>
              </a:path>
            </a:pathLst>
          </a:custGeom>
          <a:noFill/>
          <a:ln w="1111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21" name="Rectangle 23"/>
          <p:cNvSpPr/>
          <p:nvPr/>
        </p:nvSpPr>
        <p:spPr>
          <a:xfrm>
            <a:off x="6080125" y="2132013"/>
            <a:ext cx="185738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22" name="Rectangle 24"/>
          <p:cNvSpPr/>
          <p:nvPr/>
        </p:nvSpPr>
        <p:spPr>
          <a:xfrm>
            <a:off x="6334125" y="2292350"/>
            <a:ext cx="84138" cy="1984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23" name="Rectangle 25"/>
          <p:cNvSpPr/>
          <p:nvPr/>
        </p:nvSpPr>
        <p:spPr>
          <a:xfrm>
            <a:off x="6453188" y="2132013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24" name="Rectangle 26"/>
          <p:cNvSpPr/>
          <p:nvPr/>
        </p:nvSpPr>
        <p:spPr>
          <a:xfrm>
            <a:off x="5210175" y="3105150"/>
            <a:ext cx="374650" cy="53816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25" name="Rectangle 27"/>
          <p:cNvSpPr/>
          <p:nvPr/>
        </p:nvSpPr>
        <p:spPr>
          <a:xfrm>
            <a:off x="5210175" y="3105150"/>
            <a:ext cx="374650" cy="538163"/>
          </a:xfrm>
          <a:prstGeom prst="rect">
            <a:avLst/>
          </a:prstGeom>
          <a:noFill/>
          <a:ln w="222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26" name="Rectangle 28"/>
          <p:cNvSpPr/>
          <p:nvPr/>
        </p:nvSpPr>
        <p:spPr>
          <a:xfrm>
            <a:off x="5257800" y="3135313"/>
            <a:ext cx="2095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&amp;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27" name="Rectangle 29"/>
          <p:cNvSpPr/>
          <p:nvPr/>
        </p:nvSpPr>
        <p:spPr>
          <a:xfrm>
            <a:off x="5551488" y="3135313"/>
            <a:ext cx="65087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28" name="Freeform 30"/>
          <p:cNvSpPr/>
          <p:nvPr/>
        </p:nvSpPr>
        <p:spPr>
          <a:xfrm>
            <a:off x="4867275" y="2405063"/>
            <a:ext cx="1147763" cy="2319337"/>
          </a:xfrm>
          <a:custGeom>
            <a:avLst/>
            <a:gdLst>
              <a:gd name="txL" fmla="*/ 0 w 520"/>
              <a:gd name="txT" fmla="*/ 0 h 1103"/>
              <a:gd name="txR" fmla="*/ 520 w 520"/>
              <a:gd name="txB" fmla="*/ 1103 h 1103"/>
            </a:gdLst>
            <a:ahLst/>
            <a:cxnLst>
              <a:cxn ang="0">
                <a:pos x="774631870" y="0"/>
              </a:cxn>
              <a:cxn ang="0">
                <a:pos x="0" y="0"/>
              </a:cxn>
              <a:cxn ang="0">
                <a:pos x="0" y="512901507"/>
              </a:cxn>
              <a:cxn ang="0">
                <a:pos x="2147483647" y="1233618132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701552476" y="2147483647"/>
              </a:cxn>
            </a:cxnLst>
            <a:rect l="txL" t="txT" r="txR" b="txB"/>
            <a:pathLst>
              <a:path w="520" h="1103">
                <a:moveTo>
                  <a:pt x="159" y="0"/>
                </a:moveTo>
                <a:lnTo>
                  <a:pt x="0" y="0"/>
                </a:lnTo>
                <a:lnTo>
                  <a:pt x="0" y="116"/>
                </a:lnTo>
                <a:lnTo>
                  <a:pt x="520" y="279"/>
                </a:lnTo>
                <a:lnTo>
                  <a:pt x="520" y="676"/>
                </a:lnTo>
                <a:lnTo>
                  <a:pt x="0" y="907"/>
                </a:lnTo>
                <a:lnTo>
                  <a:pt x="0" y="1103"/>
                </a:lnTo>
                <a:lnTo>
                  <a:pt x="144" y="1103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29" name="Freeform 31"/>
          <p:cNvSpPr/>
          <p:nvPr/>
        </p:nvSpPr>
        <p:spPr>
          <a:xfrm>
            <a:off x="4867275" y="2260600"/>
            <a:ext cx="1139825" cy="966788"/>
          </a:xfrm>
          <a:custGeom>
            <a:avLst/>
            <a:gdLst>
              <a:gd name="txL" fmla="*/ 0 w 516"/>
              <a:gd name="txT" fmla="*/ 0 h 460"/>
              <a:gd name="txR" fmla="*/ 516 w 516"/>
              <a:gd name="txB" fmla="*/ 460 h 460"/>
            </a:gdLst>
            <a:ahLst/>
            <a:cxnLst>
              <a:cxn ang="0">
                <a:pos x="1741988362" y="0"/>
              </a:cxn>
              <a:cxn ang="0">
                <a:pos x="2147483647" y="0"/>
              </a:cxn>
              <a:cxn ang="0">
                <a:pos x="2147483647" y="799512659"/>
              </a:cxn>
              <a:cxn ang="0">
                <a:pos x="0" y="1537184513"/>
              </a:cxn>
              <a:cxn ang="0">
                <a:pos x="0" y="2031910950"/>
              </a:cxn>
              <a:cxn ang="0">
                <a:pos x="775843092" y="2031910950"/>
              </a:cxn>
            </a:cxnLst>
            <a:rect l="txL" t="txT" r="txR" b="txB"/>
            <a:pathLst>
              <a:path w="516" h="460">
                <a:moveTo>
                  <a:pt x="357" y="0"/>
                </a:moveTo>
                <a:lnTo>
                  <a:pt x="516" y="0"/>
                </a:lnTo>
                <a:lnTo>
                  <a:pt x="516" y="181"/>
                </a:lnTo>
                <a:lnTo>
                  <a:pt x="0" y="348"/>
                </a:lnTo>
                <a:lnTo>
                  <a:pt x="0" y="460"/>
                </a:lnTo>
                <a:lnTo>
                  <a:pt x="159" y="460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30" name="Freeform 32"/>
          <p:cNvSpPr/>
          <p:nvPr/>
        </p:nvSpPr>
        <p:spPr>
          <a:xfrm>
            <a:off x="5584825" y="2208213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04360359" y="0"/>
              </a:cxn>
              <a:cxn ang="0">
                <a:pos x="89453328" y="17542686"/>
              </a:cxn>
              <a:cxn ang="0">
                <a:pos x="69575059" y="17542686"/>
              </a:cxn>
              <a:cxn ang="0">
                <a:pos x="34787529" y="30698129"/>
              </a:cxn>
              <a:cxn ang="0">
                <a:pos x="0" y="65781406"/>
              </a:cxn>
              <a:cxn ang="0">
                <a:pos x="0" y="96479536"/>
              </a:cxn>
              <a:cxn ang="0">
                <a:pos x="0" y="109637073"/>
              </a:cxn>
              <a:cxn ang="0">
                <a:pos x="0" y="127177665"/>
              </a:cxn>
              <a:cxn ang="0">
                <a:pos x="0" y="144720351"/>
              </a:cxn>
              <a:cxn ang="0">
                <a:pos x="34787529" y="175418480"/>
              </a:cxn>
              <a:cxn ang="0">
                <a:pos x="69575059" y="206116609"/>
              </a:cxn>
              <a:cxn ang="0">
                <a:pos x="89453328" y="206116609"/>
              </a:cxn>
              <a:cxn ang="0">
                <a:pos x="104360359" y="206116609"/>
              </a:cxn>
              <a:cxn ang="0">
                <a:pos x="144116898" y="206116609"/>
              </a:cxn>
              <a:cxn ang="0">
                <a:pos x="159026157" y="206116609"/>
              </a:cxn>
              <a:cxn ang="0">
                <a:pos x="193813687" y="175418480"/>
              </a:cxn>
              <a:cxn ang="0">
                <a:pos x="213691956" y="144720351"/>
              </a:cxn>
              <a:cxn ang="0">
                <a:pos x="233570226" y="127177665"/>
              </a:cxn>
              <a:cxn ang="0">
                <a:pos x="233570226" y="109637073"/>
              </a:cxn>
              <a:cxn ang="0">
                <a:pos x="233570226" y="96479536"/>
              </a:cxn>
              <a:cxn ang="0">
                <a:pos x="213691956" y="65781406"/>
              </a:cxn>
              <a:cxn ang="0">
                <a:pos x="193813687" y="30698129"/>
              </a:cxn>
              <a:cxn ang="0">
                <a:pos x="159026157" y="17542686"/>
              </a:cxn>
              <a:cxn ang="0">
                <a:pos x="144116898" y="17542686"/>
              </a:cxn>
              <a:cxn ang="0">
                <a:pos x="104360359" y="0"/>
              </a:cxn>
            </a:cxnLst>
            <a:rect l="txL" t="txT" r="txR" b="txB"/>
            <a:pathLst>
              <a:path w="47" h="47">
                <a:moveTo>
                  <a:pt x="21" y="0"/>
                </a:moveTo>
                <a:lnTo>
                  <a:pt x="18" y="4"/>
                </a:lnTo>
                <a:lnTo>
                  <a:pt x="14" y="4"/>
                </a:lnTo>
                <a:lnTo>
                  <a:pt x="7" y="7"/>
                </a:lnTo>
                <a:lnTo>
                  <a:pt x="0" y="15"/>
                </a:lnTo>
                <a:lnTo>
                  <a:pt x="0" y="22"/>
                </a:lnTo>
                <a:lnTo>
                  <a:pt x="0" y="25"/>
                </a:lnTo>
                <a:lnTo>
                  <a:pt x="0" y="29"/>
                </a:lnTo>
                <a:lnTo>
                  <a:pt x="0" y="33"/>
                </a:lnTo>
                <a:lnTo>
                  <a:pt x="7" y="40"/>
                </a:lnTo>
                <a:lnTo>
                  <a:pt x="14" y="47"/>
                </a:lnTo>
                <a:lnTo>
                  <a:pt x="18" y="47"/>
                </a:lnTo>
                <a:lnTo>
                  <a:pt x="21" y="47"/>
                </a:lnTo>
                <a:lnTo>
                  <a:pt x="29" y="47"/>
                </a:lnTo>
                <a:lnTo>
                  <a:pt x="32" y="47"/>
                </a:lnTo>
                <a:lnTo>
                  <a:pt x="39" y="40"/>
                </a:lnTo>
                <a:lnTo>
                  <a:pt x="43" y="33"/>
                </a:lnTo>
                <a:lnTo>
                  <a:pt x="47" y="29"/>
                </a:lnTo>
                <a:lnTo>
                  <a:pt x="47" y="25"/>
                </a:lnTo>
                <a:lnTo>
                  <a:pt x="47" y="22"/>
                </a:lnTo>
                <a:lnTo>
                  <a:pt x="43" y="15"/>
                </a:lnTo>
                <a:lnTo>
                  <a:pt x="39" y="7"/>
                </a:lnTo>
                <a:lnTo>
                  <a:pt x="32" y="4"/>
                </a:lnTo>
                <a:lnTo>
                  <a:pt x="29" y="4"/>
                </a:lnTo>
                <a:lnTo>
                  <a:pt x="21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31" name="Freeform 33"/>
          <p:cNvSpPr/>
          <p:nvPr/>
        </p:nvSpPr>
        <p:spPr>
          <a:xfrm>
            <a:off x="5584825" y="2208213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04360359" y="0"/>
              </a:cxn>
              <a:cxn ang="0">
                <a:pos x="89453328" y="17542686"/>
              </a:cxn>
              <a:cxn ang="0">
                <a:pos x="69575059" y="17542686"/>
              </a:cxn>
              <a:cxn ang="0">
                <a:pos x="34787529" y="30698129"/>
              </a:cxn>
              <a:cxn ang="0">
                <a:pos x="0" y="65781406"/>
              </a:cxn>
              <a:cxn ang="0">
                <a:pos x="0" y="96479536"/>
              </a:cxn>
              <a:cxn ang="0">
                <a:pos x="0" y="109637073"/>
              </a:cxn>
              <a:cxn ang="0">
                <a:pos x="0" y="127177665"/>
              </a:cxn>
              <a:cxn ang="0">
                <a:pos x="0" y="144720351"/>
              </a:cxn>
              <a:cxn ang="0">
                <a:pos x="34787529" y="175418480"/>
              </a:cxn>
              <a:cxn ang="0">
                <a:pos x="69575059" y="206116609"/>
              </a:cxn>
              <a:cxn ang="0">
                <a:pos x="89453328" y="206116609"/>
              </a:cxn>
              <a:cxn ang="0">
                <a:pos x="104360359" y="206116609"/>
              </a:cxn>
              <a:cxn ang="0">
                <a:pos x="144116898" y="206116609"/>
              </a:cxn>
              <a:cxn ang="0">
                <a:pos x="159026157" y="206116609"/>
              </a:cxn>
              <a:cxn ang="0">
                <a:pos x="193813687" y="175418480"/>
              </a:cxn>
              <a:cxn ang="0">
                <a:pos x="213691956" y="144720351"/>
              </a:cxn>
              <a:cxn ang="0">
                <a:pos x="233570226" y="127177665"/>
              </a:cxn>
              <a:cxn ang="0">
                <a:pos x="233570226" y="109637073"/>
              </a:cxn>
              <a:cxn ang="0">
                <a:pos x="233570226" y="96479536"/>
              </a:cxn>
              <a:cxn ang="0">
                <a:pos x="213691956" y="65781406"/>
              </a:cxn>
              <a:cxn ang="0">
                <a:pos x="193813687" y="30698129"/>
              </a:cxn>
              <a:cxn ang="0">
                <a:pos x="159026157" y="17542686"/>
              </a:cxn>
              <a:cxn ang="0">
                <a:pos x="144116898" y="17542686"/>
              </a:cxn>
              <a:cxn ang="0">
                <a:pos x="104360359" y="0"/>
              </a:cxn>
            </a:cxnLst>
            <a:rect l="txL" t="txT" r="txR" b="txB"/>
            <a:pathLst>
              <a:path w="47" h="47">
                <a:moveTo>
                  <a:pt x="21" y="0"/>
                </a:moveTo>
                <a:lnTo>
                  <a:pt x="18" y="4"/>
                </a:lnTo>
                <a:lnTo>
                  <a:pt x="14" y="4"/>
                </a:lnTo>
                <a:lnTo>
                  <a:pt x="7" y="7"/>
                </a:lnTo>
                <a:lnTo>
                  <a:pt x="0" y="15"/>
                </a:lnTo>
                <a:lnTo>
                  <a:pt x="0" y="22"/>
                </a:lnTo>
                <a:lnTo>
                  <a:pt x="0" y="25"/>
                </a:lnTo>
                <a:lnTo>
                  <a:pt x="0" y="29"/>
                </a:lnTo>
                <a:lnTo>
                  <a:pt x="0" y="33"/>
                </a:lnTo>
                <a:lnTo>
                  <a:pt x="7" y="40"/>
                </a:lnTo>
                <a:lnTo>
                  <a:pt x="14" y="47"/>
                </a:lnTo>
                <a:lnTo>
                  <a:pt x="18" y="47"/>
                </a:lnTo>
                <a:lnTo>
                  <a:pt x="21" y="47"/>
                </a:lnTo>
                <a:lnTo>
                  <a:pt x="29" y="47"/>
                </a:lnTo>
                <a:lnTo>
                  <a:pt x="32" y="47"/>
                </a:lnTo>
                <a:lnTo>
                  <a:pt x="39" y="40"/>
                </a:lnTo>
                <a:lnTo>
                  <a:pt x="43" y="33"/>
                </a:lnTo>
                <a:lnTo>
                  <a:pt x="47" y="29"/>
                </a:lnTo>
                <a:lnTo>
                  <a:pt x="47" y="25"/>
                </a:lnTo>
                <a:lnTo>
                  <a:pt x="47" y="22"/>
                </a:lnTo>
                <a:lnTo>
                  <a:pt x="43" y="15"/>
                </a:lnTo>
                <a:lnTo>
                  <a:pt x="39" y="7"/>
                </a:lnTo>
                <a:lnTo>
                  <a:pt x="32" y="4"/>
                </a:lnTo>
                <a:lnTo>
                  <a:pt x="29" y="4"/>
                </a:lnTo>
                <a:lnTo>
                  <a:pt x="21" y="0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32" name="Rectangle 34"/>
          <p:cNvSpPr/>
          <p:nvPr/>
        </p:nvSpPr>
        <p:spPr>
          <a:xfrm>
            <a:off x="5256213" y="4327525"/>
            <a:ext cx="360362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233" name="Rectangle 35"/>
          <p:cNvSpPr/>
          <p:nvPr/>
        </p:nvSpPr>
        <p:spPr>
          <a:xfrm>
            <a:off x="5362575" y="4738688"/>
            <a:ext cx="82550" cy="1984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34" name="Rectangle 36"/>
          <p:cNvSpPr/>
          <p:nvPr/>
        </p:nvSpPr>
        <p:spPr>
          <a:xfrm>
            <a:off x="5481638" y="4578350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35" name="Freeform 37"/>
          <p:cNvSpPr/>
          <p:nvPr/>
        </p:nvSpPr>
        <p:spPr>
          <a:xfrm>
            <a:off x="4564063" y="2085975"/>
            <a:ext cx="654050" cy="3009900"/>
          </a:xfrm>
          <a:custGeom>
            <a:avLst/>
            <a:gdLst>
              <a:gd name="txL" fmla="*/ 0 w 296"/>
              <a:gd name="txT" fmla="*/ 0 h 1432"/>
              <a:gd name="txR" fmla="*/ 296 w 296"/>
              <a:gd name="txB" fmla="*/ 1432 h 1432"/>
            </a:gdLst>
            <a:ahLst/>
            <a:cxnLst>
              <a:cxn ang="0">
                <a:pos x="1445207441" y="0"/>
              </a:cxn>
              <a:cxn ang="0">
                <a:pos x="0" y="0"/>
              </a:cxn>
              <a:cxn ang="0">
                <a:pos x="0" y="2147483647"/>
              </a:cxn>
              <a:cxn ang="0">
                <a:pos x="1445207441" y="2147483647"/>
              </a:cxn>
            </a:cxnLst>
            <a:rect l="txL" t="txT" r="txR" b="txB"/>
            <a:pathLst>
              <a:path w="296" h="1432">
                <a:moveTo>
                  <a:pt x="296" y="0"/>
                </a:moveTo>
                <a:lnTo>
                  <a:pt x="0" y="0"/>
                </a:lnTo>
                <a:lnTo>
                  <a:pt x="0" y="1432"/>
                </a:lnTo>
                <a:lnTo>
                  <a:pt x="296" y="1432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36" name="Freeform 38"/>
          <p:cNvSpPr/>
          <p:nvPr/>
        </p:nvSpPr>
        <p:spPr>
          <a:xfrm>
            <a:off x="4244975" y="3538538"/>
            <a:ext cx="3243263" cy="1374775"/>
          </a:xfrm>
          <a:custGeom>
            <a:avLst/>
            <a:gdLst>
              <a:gd name="txL" fmla="*/ 0 w 1469"/>
              <a:gd name="txT" fmla="*/ 0 h 654"/>
              <a:gd name="txR" fmla="*/ 1469 w 1469"/>
              <a:gd name="txB" fmla="*/ 654 h 654"/>
            </a:gdLst>
            <a:ahLst/>
            <a:cxnLst>
              <a:cxn ang="0">
                <a:pos x="2095989071" y="0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txL" t="txT" r="txR" b="txB"/>
            <a:pathLst>
              <a:path w="1469" h="654">
                <a:moveTo>
                  <a:pt x="430" y="0"/>
                </a:moveTo>
                <a:lnTo>
                  <a:pt x="0" y="0"/>
                </a:lnTo>
                <a:lnTo>
                  <a:pt x="0" y="654"/>
                </a:lnTo>
                <a:lnTo>
                  <a:pt x="1469" y="654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37" name="Rectangle 39"/>
          <p:cNvSpPr/>
          <p:nvPr/>
        </p:nvSpPr>
        <p:spPr>
          <a:xfrm>
            <a:off x="5210175" y="4625975"/>
            <a:ext cx="374650" cy="53816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38" name="Rectangle 40"/>
          <p:cNvSpPr/>
          <p:nvPr/>
        </p:nvSpPr>
        <p:spPr>
          <a:xfrm>
            <a:off x="5210175" y="4625975"/>
            <a:ext cx="374650" cy="538163"/>
          </a:xfrm>
          <a:prstGeom prst="rect">
            <a:avLst/>
          </a:prstGeom>
          <a:noFill/>
          <a:ln w="222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39" name="Rectangle 41"/>
          <p:cNvSpPr/>
          <p:nvPr/>
        </p:nvSpPr>
        <p:spPr>
          <a:xfrm>
            <a:off x="5257800" y="4648200"/>
            <a:ext cx="2095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&amp;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40" name="Rectangle 42"/>
          <p:cNvSpPr/>
          <p:nvPr/>
        </p:nvSpPr>
        <p:spPr>
          <a:xfrm>
            <a:off x="5551488" y="4648200"/>
            <a:ext cx="65087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41" name="Freeform 43"/>
          <p:cNvSpPr/>
          <p:nvPr/>
        </p:nvSpPr>
        <p:spPr>
          <a:xfrm>
            <a:off x="5584825" y="4852988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04360359" y="0"/>
              </a:cxn>
              <a:cxn ang="0">
                <a:pos x="89453328" y="0"/>
              </a:cxn>
              <a:cxn ang="0">
                <a:pos x="69575059" y="17542686"/>
              </a:cxn>
              <a:cxn ang="0">
                <a:pos x="34787529" y="30698129"/>
              </a:cxn>
              <a:cxn ang="0">
                <a:pos x="0" y="65781406"/>
              </a:cxn>
              <a:cxn ang="0">
                <a:pos x="0" y="78938944"/>
              </a:cxn>
              <a:cxn ang="0">
                <a:pos x="0" y="109637073"/>
              </a:cxn>
              <a:cxn ang="0">
                <a:pos x="0" y="127177665"/>
              </a:cxn>
              <a:cxn ang="0">
                <a:pos x="0" y="144720351"/>
              </a:cxn>
              <a:cxn ang="0">
                <a:pos x="34787529" y="175418480"/>
              </a:cxn>
              <a:cxn ang="0">
                <a:pos x="69575059" y="206116609"/>
              </a:cxn>
              <a:cxn ang="0">
                <a:pos x="89453328" y="206116609"/>
              </a:cxn>
              <a:cxn ang="0">
                <a:pos x="104360359" y="206116609"/>
              </a:cxn>
              <a:cxn ang="0">
                <a:pos x="144116898" y="206116609"/>
              </a:cxn>
              <a:cxn ang="0">
                <a:pos x="159026157" y="206116609"/>
              </a:cxn>
              <a:cxn ang="0">
                <a:pos x="193813687" y="175418480"/>
              </a:cxn>
              <a:cxn ang="0">
                <a:pos x="213691956" y="144720351"/>
              </a:cxn>
              <a:cxn ang="0">
                <a:pos x="233570226" y="127177665"/>
              </a:cxn>
              <a:cxn ang="0">
                <a:pos x="233570226" y="109637073"/>
              </a:cxn>
              <a:cxn ang="0">
                <a:pos x="233570226" y="78938944"/>
              </a:cxn>
              <a:cxn ang="0">
                <a:pos x="213691956" y="65781406"/>
              </a:cxn>
              <a:cxn ang="0">
                <a:pos x="193813687" y="30698129"/>
              </a:cxn>
              <a:cxn ang="0">
                <a:pos x="159026157" y="17542686"/>
              </a:cxn>
              <a:cxn ang="0">
                <a:pos x="144116898" y="0"/>
              </a:cxn>
              <a:cxn ang="0">
                <a:pos x="104360359" y="0"/>
              </a:cxn>
            </a:cxnLst>
            <a:rect l="txL" t="txT" r="txR" b="txB"/>
            <a:pathLst>
              <a:path w="47" h="47">
                <a:moveTo>
                  <a:pt x="21" y="0"/>
                </a:moveTo>
                <a:lnTo>
                  <a:pt x="18" y="0"/>
                </a:lnTo>
                <a:lnTo>
                  <a:pt x="14" y="4"/>
                </a:lnTo>
                <a:lnTo>
                  <a:pt x="7" y="7"/>
                </a:lnTo>
                <a:lnTo>
                  <a:pt x="0" y="15"/>
                </a:lnTo>
                <a:lnTo>
                  <a:pt x="0" y="18"/>
                </a:lnTo>
                <a:lnTo>
                  <a:pt x="0" y="25"/>
                </a:lnTo>
                <a:lnTo>
                  <a:pt x="0" y="29"/>
                </a:lnTo>
                <a:lnTo>
                  <a:pt x="0" y="33"/>
                </a:lnTo>
                <a:lnTo>
                  <a:pt x="7" y="40"/>
                </a:lnTo>
                <a:lnTo>
                  <a:pt x="14" y="47"/>
                </a:lnTo>
                <a:lnTo>
                  <a:pt x="18" y="47"/>
                </a:lnTo>
                <a:lnTo>
                  <a:pt x="21" y="47"/>
                </a:lnTo>
                <a:lnTo>
                  <a:pt x="29" y="47"/>
                </a:lnTo>
                <a:lnTo>
                  <a:pt x="32" y="47"/>
                </a:lnTo>
                <a:lnTo>
                  <a:pt x="39" y="40"/>
                </a:lnTo>
                <a:lnTo>
                  <a:pt x="43" y="33"/>
                </a:lnTo>
                <a:lnTo>
                  <a:pt x="47" y="29"/>
                </a:lnTo>
                <a:lnTo>
                  <a:pt x="47" y="25"/>
                </a:lnTo>
                <a:lnTo>
                  <a:pt x="47" y="18"/>
                </a:lnTo>
                <a:lnTo>
                  <a:pt x="43" y="15"/>
                </a:lnTo>
                <a:lnTo>
                  <a:pt x="39" y="7"/>
                </a:lnTo>
                <a:lnTo>
                  <a:pt x="32" y="4"/>
                </a:lnTo>
                <a:lnTo>
                  <a:pt x="29" y="0"/>
                </a:lnTo>
                <a:lnTo>
                  <a:pt x="21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42" name="Freeform 44"/>
          <p:cNvSpPr/>
          <p:nvPr/>
        </p:nvSpPr>
        <p:spPr>
          <a:xfrm>
            <a:off x="5584825" y="4852988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04360359" y="0"/>
              </a:cxn>
              <a:cxn ang="0">
                <a:pos x="89453328" y="0"/>
              </a:cxn>
              <a:cxn ang="0">
                <a:pos x="69575059" y="17542686"/>
              </a:cxn>
              <a:cxn ang="0">
                <a:pos x="34787529" y="30698129"/>
              </a:cxn>
              <a:cxn ang="0">
                <a:pos x="0" y="65781406"/>
              </a:cxn>
              <a:cxn ang="0">
                <a:pos x="0" y="78938944"/>
              </a:cxn>
              <a:cxn ang="0">
                <a:pos x="0" y="109637073"/>
              </a:cxn>
              <a:cxn ang="0">
                <a:pos x="0" y="127177665"/>
              </a:cxn>
              <a:cxn ang="0">
                <a:pos x="0" y="144720351"/>
              </a:cxn>
              <a:cxn ang="0">
                <a:pos x="34787529" y="175418480"/>
              </a:cxn>
              <a:cxn ang="0">
                <a:pos x="69575059" y="206116609"/>
              </a:cxn>
              <a:cxn ang="0">
                <a:pos x="89453328" y="206116609"/>
              </a:cxn>
              <a:cxn ang="0">
                <a:pos x="104360359" y="206116609"/>
              </a:cxn>
              <a:cxn ang="0">
                <a:pos x="144116898" y="206116609"/>
              </a:cxn>
              <a:cxn ang="0">
                <a:pos x="159026157" y="206116609"/>
              </a:cxn>
              <a:cxn ang="0">
                <a:pos x="193813687" y="175418480"/>
              </a:cxn>
              <a:cxn ang="0">
                <a:pos x="213691956" y="144720351"/>
              </a:cxn>
              <a:cxn ang="0">
                <a:pos x="233570226" y="127177665"/>
              </a:cxn>
              <a:cxn ang="0">
                <a:pos x="233570226" y="109637073"/>
              </a:cxn>
              <a:cxn ang="0">
                <a:pos x="233570226" y="78938944"/>
              </a:cxn>
              <a:cxn ang="0">
                <a:pos x="213691956" y="65781406"/>
              </a:cxn>
              <a:cxn ang="0">
                <a:pos x="193813687" y="30698129"/>
              </a:cxn>
              <a:cxn ang="0">
                <a:pos x="159026157" y="17542686"/>
              </a:cxn>
              <a:cxn ang="0">
                <a:pos x="144116898" y="0"/>
              </a:cxn>
              <a:cxn ang="0">
                <a:pos x="104360359" y="0"/>
              </a:cxn>
            </a:cxnLst>
            <a:rect l="txL" t="txT" r="txR" b="txB"/>
            <a:pathLst>
              <a:path w="47" h="47">
                <a:moveTo>
                  <a:pt x="21" y="0"/>
                </a:moveTo>
                <a:lnTo>
                  <a:pt x="18" y="0"/>
                </a:lnTo>
                <a:lnTo>
                  <a:pt x="14" y="4"/>
                </a:lnTo>
                <a:lnTo>
                  <a:pt x="7" y="7"/>
                </a:lnTo>
                <a:lnTo>
                  <a:pt x="0" y="15"/>
                </a:lnTo>
                <a:lnTo>
                  <a:pt x="0" y="18"/>
                </a:lnTo>
                <a:lnTo>
                  <a:pt x="0" y="25"/>
                </a:lnTo>
                <a:lnTo>
                  <a:pt x="0" y="29"/>
                </a:lnTo>
                <a:lnTo>
                  <a:pt x="0" y="33"/>
                </a:lnTo>
                <a:lnTo>
                  <a:pt x="7" y="40"/>
                </a:lnTo>
                <a:lnTo>
                  <a:pt x="14" y="47"/>
                </a:lnTo>
                <a:lnTo>
                  <a:pt x="18" y="47"/>
                </a:lnTo>
                <a:lnTo>
                  <a:pt x="21" y="47"/>
                </a:lnTo>
                <a:lnTo>
                  <a:pt x="29" y="47"/>
                </a:lnTo>
                <a:lnTo>
                  <a:pt x="32" y="47"/>
                </a:lnTo>
                <a:lnTo>
                  <a:pt x="39" y="40"/>
                </a:lnTo>
                <a:lnTo>
                  <a:pt x="43" y="33"/>
                </a:lnTo>
                <a:lnTo>
                  <a:pt x="47" y="29"/>
                </a:lnTo>
                <a:lnTo>
                  <a:pt x="47" y="25"/>
                </a:lnTo>
                <a:lnTo>
                  <a:pt x="47" y="18"/>
                </a:lnTo>
                <a:lnTo>
                  <a:pt x="43" y="15"/>
                </a:lnTo>
                <a:lnTo>
                  <a:pt x="39" y="7"/>
                </a:lnTo>
                <a:lnTo>
                  <a:pt x="32" y="4"/>
                </a:lnTo>
                <a:lnTo>
                  <a:pt x="29" y="0"/>
                </a:lnTo>
                <a:lnTo>
                  <a:pt x="21" y="0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43" name="Line 45"/>
          <p:cNvSpPr/>
          <p:nvPr/>
        </p:nvSpPr>
        <p:spPr>
          <a:xfrm flipH="1">
            <a:off x="3719513" y="4221163"/>
            <a:ext cx="525462" cy="3175"/>
          </a:xfrm>
          <a:prstGeom prst="line">
            <a:avLst/>
          </a:prstGeom>
          <a:ln w="1746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44" name="Line 46"/>
          <p:cNvSpPr/>
          <p:nvPr/>
        </p:nvSpPr>
        <p:spPr>
          <a:xfrm>
            <a:off x="5648325" y="3370263"/>
            <a:ext cx="1809750" cy="1587"/>
          </a:xfrm>
          <a:prstGeom prst="line">
            <a:avLst/>
          </a:prstGeom>
          <a:ln w="1746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45" name="Freeform 47"/>
          <p:cNvSpPr/>
          <p:nvPr/>
        </p:nvSpPr>
        <p:spPr>
          <a:xfrm>
            <a:off x="5584825" y="3325813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04360359" y="0"/>
              </a:cxn>
              <a:cxn ang="0">
                <a:pos x="89453328" y="0"/>
              </a:cxn>
              <a:cxn ang="0">
                <a:pos x="69575059" y="13155444"/>
              </a:cxn>
              <a:cxn ang="0">
                <a:pos x="34787529" y="30698129"/>
              </a:cxn>
              <a:cxn ang="0">
                <a:pos x="0" y="61396259"/>
              </a:cxn>
              <a:cxn ang="0">
                <a:pos x="0" y="78938944"/>
              </a:cxn>
              <a:cxn ang="0">
                <a:pos x="0" y="109637073"/>
              </a:cxn>
              <a:cxn ang="0">
                <a:pos x="0" y="122792517"/>
              </a:cxn>
              <a:cxn ang="0">
                <a:pos x="0" y="140335203"/>
              </a:cxn>
              <a:cxn ang="0">
                <a:pos x="34787529" y="171033332"/>
              </a:cxn>
              <a:cxn ang="0">
                <a:pos x="69575059" y="188573923"/>
              </a:cxn>
              <a:cxn ang="0">
                <a:pos x="89453328" y="206116609"/>
              </a:cxn>
              <a:cxn ang="0">
                <a:pos x="104360359" y="206116609"/>
              </a:cxn>
              <a:cxn ang="0">
                <a:pos x="144116898" y="206116609"/>
              </a:cxn>
              <a:cxn ang="0">
                <a:pos x="159026157" y="188573923"/>
              </a:cxn>
              <a:cxn ang="0">
                <a:pos x="193813687" y="171033332"/>
              </a:cxn>
              <a:cxn ang="0">
                <a:pos x="213691956" y="140335203"/>
              </a:cxn>
              <a:cxn ang="0">
                <a:pos x="233570226" y="122792517"/>
              </a:cxn>
              <a:cxn ang="0">
                <a:pos x="233570226" y="109637073"/>
              </a:cxn>
              <a:cxn ang="0">
                <a:pos x="233570226" y="78938944"/>
              </a:cxn>
              <a:cxn ang="0">
                <a:pos x="213691956" y="61396259"/>
              </a:cxn>
              <a:cxn ang="0">
                <a:pos x="193813687" y="30698129"/>
              </a:cxn>
              <a:cxn ang="0">
                <a:pos x="159026157" y="13155444"/>
              </a:cxn>
              <a:cxn ang="0">
                <a:pos x="144116898" y="0"/>
              </a:cxn>
              <a:cxn ang="0">
                <a:pos x="104360359" y="0"/>
              </a:cxn>
            </a:cxnLst>
            <a:rect l="txL" t="txT" r="txR" b="txB"/>
            <a:pathLst>
              <a:path w="47" h="47">
                <a:moveTo>
                  <a:pt x="21" y="0"/>
                </a:moveTo>
                <a:lnTo>
                  <a:pt x="18" y="0"/>
                </a:lnTo>
                <a:lnTo>
                  <a:pt x="14" y="3"/>
                </a:lnTo>
                <a:lnTo>
                  <a:pt x="7" y="7"/>
                </a:lnTo>
                <a:lnTo>
                  <a:pt x="0" y="14"/>
                </a:lnTo>
                <a:lnTo>
                  <a:pt x="0" y="18"/>
                </a:lnTo>
                <a:lnTo>
                  <a:pt x="0" y="25"/>
                </a:lnTo>
                <a:lnTo>
                  <a:pt x="0" y="28"/>
                </a:lnTo>
                <a:lnTo>
                  <a:pt x="0" y="32"/>
                </a:lnTo>
                <a:lnTo>
                  <a:pt x="7" y="39"/>
                </a:lnTo>
                <a:lnTo>
                  <a:pt x="14" y="43"/>
                </a:lnTo>
                <a:lnTo>
                  <a:pt x="18" y="47"/>
                </a:lnTo>
                <a:lnTo>
                  <a:pt x="21" y="47"/>
                </a:lnTo>
                <a:lnTo>
                  <a:pt x="29" y="47"/>
                </a:lnTo>
                <a:lnTo>
                  <a:pt x="32" y="43"/>
                </a:lnTo>
                <a:lnTo>
                  <a:pt x="39" y="39"/>
                </a:lnTo>
                <a:lnTo>
                  <a:pt x="43" y="32"/>
                </a:lnTo>
                <a:lnTo>
                  <a:pt x="47" y="28"/>
                </a:lnTo>
                <a:lnTo>
                  <a:pt x="47" y="25"/>
                </a:lnTo>
                <a:lnTo>
                  <a:pt x="47" y="18"/>
                </a:lnTo>
                <a:lnTo>
                  <a:pt x="43" y="14"/>
                </a:lnTo>
                <a:lnTo>
                  <a:pt x="39" y="7"/>
                </a:lnTo>
                <a:lnTo>
                  <a:pt x="32" y="3"/>
                </a:lnTo>
                <a:lnTo>
                  <a:pt x="29" y="0"/>
                </a:lnTo>
                <a:lnTo>
                  <a:pt x="21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46" name="Freeform 48"/>
          <p:cNvSpPr/>
          <p:nvPr/>
        </p:nvSpPr>
        <p:spPr>
          <a:xfrm>
            <a:off x="5584825" y="3325813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04360359" y="0"/>
              </a:cxn>
              <a:cxn ang="0">
                <a:pos x="89453328" y="0"/>
              </a:cxn>
              <a:cxn ang="0">
                <a:pos x="69575059" y="13155444"/>
              </a:cxn>
              <a:cxn ang="0">
                <a:pos x="34787529" y="30698129"/>
              </a:cxn>
              <a:cxn ang="0">
                <a:pos x="0" y="61396259"/>
              </a:cxn>
              <a:cxn ang="0">
                <a:pos x="0" y="78938944"/>
              </a:cxn>
              <a:cxn ang="0">
                <a:pos x="0" y="109637073"/>
              </a:cxn>
              <a:cxn ang="0">
                <a:pos x="0" y="122792517"/>
              </a:cxn>
              <a:cxn ang="0">
                <a:pos x="0" y="140335203"/>
              </a:cxn>
              <a:cxn ang="0">
                <a:pos x="34787529" y="171033332"/>
              </a:cxn>
              <a:cxn ang="0">
                <a:pos x="69575059" y="188573923"/>
              </a:cxn>
              <a:cxn ang="0">
                <a:pos x="89453328" y="206116609"/>
              </a:cxn>
              <a:cxn ang="0">
                <a:pos x="104360359" y="206116609"/>
              </a:cxn>
              <a:cxn ang="0">
                <a:pos x="144116898" y="206116609"/>
              </a:cxn>
              <a:cxn ang="0">
                <a:pos x="159026157" y="188573923"/>
              </a:cxn>
              <a:cxn ang="0">
                <a:pos x="193813687" y="171033332"/>
              </a:cxn>
              <a:cxn ang="0">
                <a:pos x="213691956" y="140335203"/>
              </a:cxn>
              <a:cxn ang="0">
                <a:pos x="233570226" y="122792517"/>
              </a:cxn>
              <a:cxn ang="0">
                <a:pos x="233570226" y="109637073"/>
              </a:cxn>
              <a:cxn ang="0">
                <a:pos x="233570226" y="78938944"/>
              </a:cxn>
              <a:cxn ang="0">
                <a:pos x="213691956" y="61396259"/>
              </a:cxn>
              <a:cxn ang="0">
                <a:pos x="193813687" y="30698129"/>
              </a:cxn>
              <a:cxn ang="0">
                <a:pos x="159026157" y="13155444"/>
              </a:cxn>
              <a:cxn ang="0">
                <a:pos x="144116898" y="0"/>
              </a:cxn>
              <a:cxn ang="0">
                <a:pos x="104360359" y="0"/>
              </a:cxn>
            </a:cxnLst>
            <a:rect l="txL" t="txT" r="txR" b="txB"/>
            <a:pathLst>
              <a:path w="47" h="47">
                <a:moveTo>
                  <a:pt x="21" y="0"/>
                </a:moveTo>
                <a:lnTo>
                  <a:pt x="18" y="0"/>
                </a:lnTo>
                <a:lnTo>
                  <a:pt x="14" y="3"/>
                </a:lnTo>
                <a:lnTo>
                  <a:pt x="7" y="7"/>
                </a:lnTo>
                <a:lnTo>
                  <a:pt x="0" y="14"/>
                </a:lnTo>
                <a:lnTo>
                  <a:pt x="0" y="18"/>
                </a:lnTo>
                <a:lnTo>
                  <a:pt x="0" y="25"/>
                </a:lnTo>
                <a:lnTo>
                  <a:pt x="0" y="28"/>
                </a:lnTo>
                <a:lnTo>
                  <a:pt x="0" y="32"/>
                </a:lnTo>
                <a:lnTo>
                  <a:pt x="7" y="39"/>
                </a:lnTo>
                <a:lnTo>
                  <a:pt x="14" y="43"/>
                </a:lnTo>
                <a:lnTo>
                  <a:pt x="18" y="47"/>
                </a:lnTo>
                <a:lnTo>
                  <a:pt x="21" y="47"/>
                </a:lnTo>
                <a:lnTo>
                  <a:pt x="29" y="47"/>
                </a:lnTo>
                <a:lnTo>
                  <a:pt x="32" y="43"/>
                </a:lnTo>
                <a:lnTo>
                  <a:pt x="39" y="39"/>
                </a:lnTo>
                <a:lnTo>
                  <a:pt x="43" y="32"/>
                </a:lnTo>
                <a:lnTo>
                  <a:pt x="47" y="28"/>
                </a:lnTo>
                <a:lnTo>
                  <a:pt x="47" y="25"/>
                </a:lnTo>
                <a:lnTo>
                  <a:pt x="47" y="18"/>
                </a:lnTo>
                <a:lnTo>
                  <a:pt x="43" y="14"/>
                </a:lnTo>
                <a:lnTo>
                  <a:pt x="39" y="7"/>
                </a:lnTo>
                <a:lnTo>
                  <a:pt x="32" y="3"/>
                </a:lnTo>
                <a:lnTo>
                  <a:pt x="29" y="0"/>
                </a:lnTo>
                <a:lnTo>
                  <a:pt x="21" y="0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47" name="Rectangle 49"/>
          <p:cNvSpPr/>
          <p:nvPr/>
        </p:nvSpPr>
        <p:spPr>
          <a:xfrm>
            <a:off x="7458075" y="3255963"/>
            <a:ext cx="382588" cy="54133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48" name="Rectangle 50"/>
          <p:cNvSpPr/>
          <p:nvPr/>
        </p:nvSpPr>
        <p:spPr>
          <a:xfrm>
            <a:off x="7458075" y="3255963"/>
            <a:ext cx="382588" cy="541337"/>
          </a:xfrm>
          <a:prstGeom prst="rect">
            <a:avLst/>
          </a:prstGeom>
          <a:noFill/>
          <a:ln w="222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49" name="Rectangle 51"/>
          <p:cNvSpPr/>
          <p:nvPr/>
        </p:nvSpPr>
        <p:spPr>
          <a:xfrm>
            <a:off x="7505700" y="3287713"/>
            <a:ext cx="211138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&amp;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50" name="Rectangle 52"/>
          <p:cNvSpPr/>
          <p:nvPr/>
        </p:nvSpPr>
        <p:spPr>
          <a:xfrm>
            <a:off x="7800975" y="3287713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51" name="Line 53"/>
          <p:cNvSpPr/>
          <p:nvPr/>
        </p:nvSpPr>
        <p:spPr>
          <a:xfrm>
            <a:off x="7880350" y="3530600"/>
            <a:ext cx="1012825" cy="1588"/>
          </a:xfrm>
          <a:prstGeom prst="line">
            <a:avLst/>
          </a:prstGeom>
          <a:ln w="1746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52" name="Freeform 54"/>
          <p:cNvSpPr/>
          <p:nvPr/>
        </p:nvSpPr>
        <p:spPr>
          <a:xfrm>
            <a:off x="7832725" y="3478213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24238628" y="0"/>
              </a:cxn>
              <a:cxn ang="0">
                <a:pos x="89453328" y="0"/>
              </a:cxn>
              <a:cxn ang="0">
                <a:pos x="69575059" y="13155444"/>
              </a:cxn>
              <a:cxn ang="0">
                <a:pos x="34787529" y="30698129"/>
              </a:cxn>
              <a:cxn ang="0">
                <a:pos x="14909260" y="61396259"/>
              </a:cxn>
              <a:cxn ang="0">
                <a:pos x="0" y="78938944"/>
              </a:cxn>
              <a:cxn ang="0">
                <a:pos x="0" y="109637073"/>
              </a:cxn>
              <a:cxn ang="0">
                <a:pos x="0" y="127177665"/>
              </a:cxn>
              <a:cxn ang="0">
                <a:pos x="14909260" y="140335203"/>
              </a:cxn>
              <a:cxn ang="0">
                <a:pos x="34787529" y="175418480"/>
              </a:cxn>
              <a:cxn ang="0">
                <a:pos x="69575059" y="206116609"/>
              </a:cxn>
              <a:cxn ang="0">
                <a:pos x="89453328" y="206116609"/>
              </a:cxn>
              <a:cxn ang="0">
                <a:pos x="124238628" y="206116609"/>
              </a:cxn>
              <a:cxn ang="0">
                <a:pos x="139147888" y="206116609"/>
              </a:cxn>
              <a:cxn ang="0">
                <a:pos x="159026157" y="206116609"/>
              </a:cxn>
              <a:cxn ang="0">
                <a:pos x="193813687" y="175418480"/>
              </a:cxn>
              <a:cxn ang="0">
                <a:pos x="233570226" y="140335203"/>
              </a:cxn>
              <a:cxn ang="0">
                <a:pos x="233570226" y="127177665"/>
              </a:cxn>
              <a:cxn ang="0">
                <a:pos x="233570226" y="109637073"/>
              </a:cxn>
              <a:cxn ang="0">
                <a:pos x="233570226" y="78938944"/>
              </a:cxn>
              <a:cxn ang="0">
                <a:pos x="233570226" y="61396259"/>
              </a:cxn>
              <a:cxn ang="0">
                <a:pos x="193813687" y="30698129"/>
              </a:cxn>
              <a:cxn ang="0">
                <a:pos x="159026157" y="13155444"/>
              </a:cxn>
              <a:cxn ang="0">
                <a:pos x="139147888" y="0"/>
              </a:cxn>
              <a:cxn ang="0">
                <a:pos x="124238628" y="0"/>
              </a:cxn>
            </a:cxnLst>
            <a:rect l="txL" t="txT" r="txR" b="txB"/>
            <a:pathLst>
              <a:path w="47" h="47">
                <a:moveTo>
                  <a:pt x="25" y="0"/>
                </a:moveTo>
                <a:lnTo>
                  <a:pt x="18" y="0"/>
                </a:lnTo>
                <a:lnTo>
                  <a:pt x="14" y="3"/>
                </a:lnTo>
                <a:lnTo>
                  <a:pt x="7" y="7"/>
                </a:lnTo>
                <a:lnTo>
                  <a:pt x="3" y="14"/>
                </a:lnTo>
                <a:lnTo>
                  <a:pt x="0" y="18"/>
                </a:lnTo>
                <a:lnTo>
                  <a:pt x="0" y="25"/>
                </a:lnTo>
                <a:lnTo>
                  <a:pt x="0" y="29"/>
                </a:lnTo>
                <a:lnTo>
                  <a:pt x="3" y="32"/>
                </a:lnTo>
                <a:lnTo>
                  <a:pt x="7" y="40"/>
                </a:lnTo>
                <a:lnTo>
                  <a:pt x="14" y="47"/>
                </a:lnTo>
                <a:lnTo>
                  <a:pt x="18" y="47"/>
                </a:lnTo>
                <a:lnTo>
                  <a:pt x="25" y="47"/>
                </a:lnTo>
                <a:lnTo>
                  <a:pt x="28" y="47"/>
                </a:lnTo>
                <a:lnTo>
                  <a:pt x="32" y="47"/>
                </a:lnTo>
                <a:lnTo>
                  <a:pt x="39" y="40"/>
                </a:lnTo>
                <a:lnTo>
                  <a:pt x="47" y="32"/>
                </a:lnTo>
                <a:lnTo>
                  <a:pt x="47" y="29"/>
                </a:lnTo>
                <a:lnTo>
                  <a:pt x="47" y="25"/>
                </a:lnTo>
                <a:lnTo>
                  <a:pt x="47" y="18"/>
                </a:lnTo>
                <a:lnTo>
                  <a:pt x="47" y="14"/>
                </a:lnTo>
                <a:lnTo>
                  <a:pt x="39" y="7"/>
                </a:lnTo>
                <a:lnTo>
                  <a:pt x="32" y="3"/>
                </a:lnTo>
                <a:lnTo>
                  <a:pt x="28" y="0"/>
                </a:lnTo>
                <a:lnTo>
                  <a:pt x="25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53" name="Freeform 55"/>
          <p:cNvSpPr/>
          <p:nvPr/>
        </p:nvSpPr>
        <p:spPr>
          <a:xfrm>
            <a:off x="7832725" y="3478213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24238628" y="0"/>
              </a:cxn>
              <a:cxn ang="0">
                <a:pos x="89453328" y="0"/>
              </a:cxn>
              <a:cxn ang="0">
                <a:pos x="69575059" y="13155444"/>
              </a:cxn>
              <a:cxn ang="0">
                <a:pos x="34787529" y="30698129"/>
              </a:cxn>
              <a:cxn ang="0">
                <a:pos x="14909260" y="61396259"/>
              </a:cxn>
              <a:cxn ang="0">
                <a:pos x="0" y="78938944"/>
              </a:cxn>
              <a:cxn ang="0">
                <a:pos x="0" y="109637073"/>
              </a:cxn>
              <a:cxn ang="0">
                <a:pos x="0" y="127177665"/>
              </a:cxn>
              <a:cxn ang="0">
                <a:pos x="14909260" y="140335203"/>
              </a:cxn>
              <a:cxn ang="0">
                <a:pos x="34787529" y="175418480"/>
              </a:cxn>
              <a:cxn ang="0">
                <a:pos x="69575059" y="206116609"/>
              </a:cxn>
              <a:cxn ang="0">
                <a:pos x="89453328" y="206116609"/>
              </a:cxn>
              <a:cxn ang="0">
                <a:pos x="124238628" y="206116609"/>
              </a:cxn>
              <a:cxn ang="0">
                <a:pos x="139147888" y="206116609"/>
              </a:cxn>
              <a:cxn ang="0">
                <a:pos x="159026157" y="206116609"/>
              </a:cxn>
              <a:cxn ang="0">
                <a:pos x="193813687" y="175418480"/>
              </a:cxn>
              <a:cxn ang="0">
                <a:pos x="233570226" y="140335203"/>
              </a:cxn>
              <a:cxn ang="0">
                <a:pos x="233570226" y="127177665"/>
              </a:cxn>
              <a:cxn ang="0">
                <a:pos x="233570226" y="109637073"/>
              </a:cxn>
              <a:cxn ang="0">
                <a:pos x="233570226" y="78938944"/>
              </a:cxn>
              <a:cxn ang="0">
                <a:pos x="233570226" y="61396259"/>
              </a:cxn>
              <a:cxn ang="0">
                <a:pos x="193813687" y="30698129"/>
              </a:cxn>
              <a:cxn ang="0">
                <a:pos x="159026157" y="13155444"/>
              </a:cxn>
              <a:cxn ang="0">
                <a:pos x="139147888" y="0"/>
              </a:cxn>
              <a:cxn ang="0">
                <a:pos x="124238628" y="0"/>
              </a:cxn>
            </a:cxnLst>
            <a:rect l="txL" t="txT" r="txR" b="txB"/>
            <a:pathLst>
              <a:path w="47" h="47">
                <a:moveTo>
                  <a:pt x="25" y="0"/>
                </a:moveTo>
                <a:lnTo>
                  <a:pt x="18" y="0"/>
                </a:lnTo>
                <a:lnTo>
                  <a:pt x="14" y="3"/>
                </a:lnTo>
                <a:lnTo>
                  <a:pt x="7" y="7"/>
                </a:lnTo>
                <a:lnTo>
                  <a:pt x="3" y="14"/>
                </a:lnTo>
                <a:lnTo>
                  <a:pt x="0" y="18"/>
                </a:lnTo>
                <a:lnTo>
                  <a:pt x="0" y="25"/>
                </a:lnTo>
                <a:lnTo>
                  <a:pt x="0" y="29"/>
                </a:lnTo>
                <a:lnTo>
                  <a:pt x="3" y="32"/>
                </a:lnTo>
                <a:lnTo>
                  <a:pt x="7" y="40"/>
                </a:lnTo>
                <a:lnTo>
                  <a:pt x="14" y="47"/>
                </a:lnTo>
                <a:lnTo>
                  <a:pt x="18" y="47"/>
                </a:lnTo>
                <a:lnTo>
                  <a:pt x="25" y="47"/>
                </a:lnTo>
                <a:lnTo>
                  <a:pt x="28" y="47"/>
                </a:lnTo>
                <a:lnTo>
                  <a:pt x="32" y="47"/>
                </a:lnTo>
                <a:lnTo>
                  <a:pt x="39" y="40"/>
                </a:lnTo>
                <a:lnTo>
                  <a:pt x="47" y="32"/>
                </a:lnTo>
                <a:lnTo>
                  <a:pt x="47" y="29"/>
                </a:lnTo>
                <a:lnTo>
                  <a:pt x="47" y="25"/>
                </a:lnTo>
                <a:lnTo>
                  <a:pt x="47" y="18"/>
                </a:lnTo>
                <a:lnTo>
                  <a:pt x="47" y="14"/>
                </a:lnTo>
                <a:lnTo>
                  <a:pt x="39" y="7"/>
                </a:lnTo>
                <a:lnTo>
                  <a:pt x="32" y="3"/>
                </a:lnTo>
                <a:lnTo>
                  <a:pt x="28" y="0"/>
                </a:lnTo>
                <a:lnTo>
                  <a:pt x="25" y="0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54" name="Rectangle 56"/>
          <p:cNvSpPr/>
          <p:nvPr/>
        </p:nvSpPr>
        <p:spPr>
          <a:xfrm>
            <a:off x="7458075" y="4487863"/>
            <a:ext cx="382588" cy="53816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55" name="Rectangle 57"/>
          <p:cNvSpPr/>
          <p:nvPr/>
        </p:nvSpPr>
        <p:spPr>
          <a:xfrm>
            <a:off x="7458075" y="4487863"/>
            <a:ext cx="382588" cy="538162"/>
          </a:xfrm>
          <a:prstGeom prst="rect">
            <a:avLst/>
          </a:prstGeom>
          <a:noFill/>
          <a:ln w="222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56" name="Rectangle 58"/>
          <p:cNvSpPr/>
          <p:nvPr/>
        </p:nvSpPr>
        <p:spPr>
          <a:xfrm>
            <a:off x="7505700" y="4518025"/>
            <a:ext cx="211138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&amp;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57" name="Rectangle 59"/>
          <p:cNvSpPr/>
          <p:nvPr/>
        </p:nvSpPr>
        <p:spPr>
          <a:xfrm>
            <a:off x="7800975" y="4518025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58" name="Freeform 60"/>
          <p:cNvSpPr/>
          <p:nvPr/>
        </p:nvSpPr>
        <p:spPr>
          <a:xfrm>
            <a:off x="7154863" y="3681413"/>
            <a:ext cx="1228725" cy="1035050"/>
          </a:xfrm>
          <a:custGeom>
            <a:avLst/>
            <a:gdLst>
              <a:gd name="txL" fmla="*/ 0 w 556"/>
              <a:gd name="txT" fmla="*/ 0 h 492"/>
              <a:gd name="txR" fmla="*/ 556 w 556"/>
              <a:gd name="txB" fmla="*/ 492 h 492"/>
            </a:gdLst>
            <a:ahLst/>
            <a:cxnLst>
              <a:cxn ang="0">
                <a:pos x="634897235" y="0"/>
              </a:cxn>
              <a:cxn ang="0">
                <a:pos x="0" y="0"/>
              </a:cxn>
              <a:cxn ang="0">
                <a:pos x="0" y="610761547"/>
              </a:cxn>
              <a:cxn ang="0">
                <a:pos x="2147483647" y="1314465114"/>
              </a:cxn>
              <a:cxn ang="0">
                <a:pos x="2147483647" y="2147483647"/>
              </a:cxn>
            </a:cxnLst>
            <a:rect l="txL" t="txT" r="txR" b="txB"/>
            <a:pathLst>
              <a:path w="556" h="492">
                <a:moveTo>
                  <a:pt x="130" y="0"/>
                </a:moveTo>
                <a:lnTo>
                  <a:pt x="0" y="0"/>
                </a:lnTo>
                <a:lnTo>
                  <a:pt x="0" y="138"/>
                </a:lnTo>
                <a:lnTo>
                  <a:pt x="556" y="297"/>
                </a:lnTo>
                <a:lnTo>
                  <a:pt x="556" y="492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59" name="Freeform 61"/>
          <p:cNvSpPr/>
          <p:nvPr/>
        </p:nvSpPr>
        <p:spPr>
          <a:xfrm>
            <a:off x="7140575" y="3524250"/>
            <a:ext cx="1233488" cy="1025525"/>
          </a:xfrm>
          <a:custGeom>
            <a:avLst/>
            <a:gdLst>
              <a:gd name="txL" fmla="*/ 0 w 559"/>
              <a:gd name="txT" fmla="*/ 0 h 488"/>
              <a:gd name="txR" fmla="*/ 559 w 559"/>
              <a:gd name="txB" fmla="*/ 488 h 488"/>
            </a:gdLst>
            <a:ahLst/>
            <a:cxnLst>
              <a:cxn ang="0">
                <a:pos x="647585613" y="2147483647"/>
              </a:cxn>
              <a:cxn ang="0">
                <a:pos x="0" y="2147483647"/>
              </a:cxn>
              <a:cxn ang="0">
                <a:pos x="0" y="1545684730"/>
              </a:cxn>
              <a:cxn ang="0">
                <a:pos x="2147483647" y="861167807"/>
              </a:cxn>
              <a:cxn ang="0">
                <a:pos x="2147483647" y="0"/>
              </a:cxn>
            </a:cxnLst>
            <a:rect l="txL" t="txT" r="txR" b="txB"/>
            <a:pathLst>
              <a:path w="559" h="488">
                <a:moveTo>
                  <a:pt x="133" y="488"/>
                </a:moveTo>
                <a:lnTo>
                  <a:pt x="0" y="488"/>
                </a:lnTo>
                <a:lnTo>
                  <a:pt x="0" y="350"/>
                </a:lnTo>
                <a:lnTo>
                  <a:pt x="559" y="195"/>
                </a:lnTo>
                <a:lnTo>
                  <a:pt x="559" y="0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60" name="Freeform 62"/>
          <p:cNvSpPr/>
          <p:nvPr/>
        </p:nvSpPr>
        <p:spPr>
          <a:xfrm>
            <a:off x="5975350" y="3332163"/>
            <a:ext cx="87313" cy="84137"/>
          </a:xfrm>
          <a:custGeom>
            <a:avLst/>
            <a:gdLst>
              <a:gd name="txL" fmla="*/ 0 w 39"/>
              <a:gd name="txT" fmla="*/ 0 h 40"/>
              <a:gd name="txR" fmla="*/ 39 w 39"/>
              <a:gd name="txB" fmla="*/ 40 h 40"/>
            </a:gdLst>
            <a:ahLst/>
            <a:cxnLst>
              <a:cxn ang="0">
                <a:pos x="90218956" y="0"/>
              </a:cxn>
              <a:cxn ang="0">
                <a:pos x="50122140" y="0"/>
              </a:cxn>
              <a:cxn ang="0">
                <a:pos x="15035746" y="17698218"/>
              </a:cxn>
              <a:cxn ang="0">
                <a:pos x="0" y="48669048"/>
              </a:cxn>
              <a:cxn ang="0">
                <a:pos x="0" y="79639877"/>
              </a:cxn>
              <a:cxn ang="0">
                <a:pos x="0" y="110610707"/>
              </a:cxn>
              <a:cxn ang="0">
                <a:pos x="15035746" y="146005040"/>
              </a:cxn>
              <a:cxn ang="0">
                <a:pos x="50122140" y="159277651"/>
              </a:cxn>
              <a:cxn ang="0">
                <a:pos x="90218956" y="176975869"/>
              </a:cxn>
              <a:cxn ang="0">
                <a:pos x="125305349" y="159277651"/>
              </a:cxn>
              <a:cxn ang="0">
                <a:pos x="160389503" y="146005040"/>
              </a:cxn>
              <a:cxn ang="0">
                <a:pos x="180440150" y="110610707"/>
              </a:cxn>
              <a:cxn ang="0">
                <a:pos x="195475897" y="79639877"/>
              </a:cxn>
              <a:cxn ang="0">
                <a:pos x="180440150" y="48669048"/>
              </a:cxn>
              <a:cxn ang="0">
                <a:pos x="160389503" y="17698218"/>
              </a:cxn>
              <a:cxn ang="0">
                <a:pos x="125305349" y="0"/>
              </a:cxn>
              <a:cxn ang="0">
                <a:pos x="90218956" y="0"/>
              </a:cxn>
            </a:cxnLst>
            <a:rect l="txL" t="txT" r="txR" b="txB"/>
            <a:pathLst>
              <a:path w="39" h="40">
                <a:moveTo>
                  <a:pt x="18" y="0"/>
                </a:moveTo>
                <a:lnTo>
                  <a:pt x="10" y="0"/>
                </a:lnTo>
                <a:lnTo>
                  <a:pt x="3" y="4"/>
                </a:lnTo>
                <a:lnTo>
                  <a:pt x="0" y="11"/>
                </a:lnTo>
                <a:lnTo>
                  <a:pt x="0" y="18"/>
                </a:lnTo>
                <a:lnTo>
                  <a:pt x="0" y="25"/>
                </a:lnTo>
                <a:lnTo>
                  <a:pt x="3" y="33"/>
                </a:lnTo>
                <a:lnTo>
                  <a:pt x="10" y="36"/>
                </a:lnTo>
                <a:lnTo>
                  <a:pt x="18" y="40"/>
                </a:lnTo>
                <a:lnTo>
                  <a:pt x="25" y="36"/>
                </a:lnTo>
                <a:lnTo>
                  <a:pt x="32" y="33"/>
                </a:lnTo>
                <a:lnTo>
                  <a:pt x="36" y="25"/>
                </a:lnTo>
                <a:lnTo>
                  <a:pt x="39" y="18"/>
                </a:lnTo>
                <a:lnTo>
                  <a:pt x="36" y="11"/>
                </a:lnTo>
                <a:lnTo>
                  <a:pt x="32" y="4"/>
                </a:lnTo>
                <a:lnTo>
                  <a:pt x="25" y="0"/>
                </a:lnTo>
                <a:lnTo>
                  <a:pt x="18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61" name="Freeform 63"/>
          <p:cNvSpPr/>
          <p:nvPr/>
        </p:nvSpPr>
        <p:spPr>
          <a:xfrm>
            <a:off x="5975350" y="3332163"/>
            <a:ext cx="87313" cy="84137"/>
          </a:xfrm>
          <a:custGeom>
            <a:avLst/>
            <a:gdLst>
              <a:gd name="txL" fmla="*/ 0 w 39"/>
              <a:gd name="txT" fmla="*/ 0 h 40"/>
              <a:gd name="txR" fmla="*/ 39 w 39"/>
              <a:gd name="txB" fmla="*/ 40 h 40"/>
            </a:gdLst>
            <a:ahLst/>
            <a:cxnLst>
              <a:cxn ang="0">
                <a:pos x="90218956" y="0"/>
              </a:cxn>
              <a:cxn ang="0">
                <a:pos x="50122140" y="0"/>
              </a:cxn>
              <a:cxn ang="0">
                <a:pos x="15035746" y="17698218"/>
              </a:cxn>
              <a:cxn ang="0">
                <a:pos x="0" y="48669048"/>
              </a:cxn>
              <a:cxn ang="0">
                <a:pos x="0" y="79639877"/>
              </a:cxn>
              <a:cxn ang="0">
                <a:pos x="0" y="110610707"/>
              </a:cxn>
              <a:cxn ang="0">
                <a:pos x="15035746" y="146005040"/>
              </a:cxn>
              <a:cxn ang="0">
                <a:pos x="50122140" y="159277651"/>
              </a:cxn>
              <a:cxn ang="0">
                <a:pos x="90218956" y="176975869"/>
              </a:cxn>
              <a:cxn ang="0">
                <a:pos x="125305349" y="159277651"/>
              </a:cxn>
              <a:cxn ang="0">
                <a:pos x="160389503" y="146005040"/>
              </a:cxn>
              <a:cxn ang="0">
                <a:pos x="180440150" y="110610707"/>
              </a:cxn>
              <a:cxn ang="0">
                <a:pos x="195475897" y="79639877"/>
              </a:cxn>
              <a:cxn ang="0">
                <a:pos x="180440150" y="48669048"/>
              </a:cxn>
              <a:cxn ang="0">
                <a:pos x="160389503" y="17698218"/>
              </a:cxn>
              <a:cxn ang="0">
                <a:pos x="125305349" y="0"/>
              </a:cxn>
              <a:cxn ang="0">
                <a:pos x="90218956" y="0"/>
              </a:cxn>
            </a:cxnLst>
            <a:rect l="txL" t="txT" r="txR" b="txB"/>
            <a:pathLst>
              <a:path w="39" h="40">
                <a:moveTo>
                  <a:pt x="18" y="0"/>
                </a:moveTo>
                <a:lnTo>
                  <a:pt x="10" y="0"/>
                </a:lnTo>
                <a:lnTo>
                  <a:pt x="3" y="4"/>
                </a:lnTo>
                <a:lnTo>
                  <a:pt x="0" y="11"/>
                </a:lnTo>
                <a:lnTo>
                  <a:pt x="0" y="18"/>
                </a:lnTo>
                <a:lnTo>
                  <a:pt x="0" y="25"/>
                </a:lnTo>
                <a:lnTo>
                  <a:pt x="3" y="33"/>
                </a:lnTo>
                <a:lnTo>
                  <a:pt x="10" y="36"/>
                </a:lnTo>
                <a:lnTo>
                  <a:pt x="18" y="40"/>
                </a:lnTo>
                <a:lnTo>
                  <a:pt x="25" y="36"/>
                </a:lnTo>
                <a:lnTo>
                  <a:pt x="32" y="33"/>
                </a:lnTo>
                <a:lnTo>
                  <a:pt x="36" y="25"/>
                </a:lnTo>
                <a:lnTo>
                  <a:pt x="39" y="18"/>
                </a:lnTo>
                <a:lnTo>
                  <a:pt x="36" y="11"/>
                </a:lnTo>
                <a:lnTo>
                  <a:pt x="32" y="4"/>
                </a:lnTo>
                <a:lnTo>
                  <a:pt x="25" y="0"/>
                </a:lnTo>
                <a:lnTo>
                  <a:pt x="18" y="0"/>
                </a:lnTo>
              </a:path>
            </a:pathLst>
          </a:custGeom>
          <a:noFill/>
          <a:ln w="1111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62" name="Freeform 64"/>
          <p:cNvSpPr/>
          <p:nvPr/>
        </p:nvSpPr>
        <p:spPr>
          <a:xfrm>
            <a:off x="8326438" y="3478213"/>
            <a:ext cx="87312" cy="84137"/>
          </a:xfrm>
          <a:custGeom>
            <a:avLst/>
            <a:gdLst>
              <a:gd name="txL" fmla="*/ 0 w 40"/>
              <a:gd name="txT" fmla="*/ 0 h 40"/>
              <a:gd name="txR" fmla="*/ 40 w 40"/>
              <a:gd name="txB" fmla="*/ 40 h 40"/>
            </a:gdLst>
            <a:ahLst/>
            <a:cxnLst>
              <a:cxn ang="0">
                <a:pos x="104822422" y="0"/>
              </a:cxn>
              <a:cxn ang="0">
                <a:pos x="71469238" y="13272612"/>
              </a:cxn>
              <a:cxn ang="0">
                <a:pos x="38116054" y="30970830"/>
              </a:cxn>
              <a:cxn ang="0">
                <a:pos x="19058027" y="61941659"/>
              </a:cxn>
              <a:cxn ang="0">
                <a:pos x="0" y="97335992"/>
              </a:cxn>
              <a:cxn ang="0">
                <a:pos x="19058027" y="128306822"/>
              </a:cxn>
              <a:cxn ang="0">
                <a:pos x="38116054" y="159277651"/>
              </a:cxn>
              <a:cxn ang="0">
                <a:pos x="71469238" y="176975869"/>
              </a:cxn>
              <a:cxn ang="0">
                <a:pos x="104822422" y="176975869"/>
              </a:cxn>
              <a:cxn ang="0">
                <a:pos x="138173423" y="176975869"/>
              </a:cxn>
              <a:cxn ang="0">
                <a:pos x="157231450" y="159277651"/>
              </a:cxn>
              <a:cxn ang="0">
                <a:pos x="190584634" y="128306822"/>
              </a:cxn>
              <a:cxn ang="0">
                <a:pos x="190584634" y="97335992"/>
              </a:cxn>
              <a:cxn ang="0">
                <a:pos x="190584634" y="61941659"/>
              </a:cxn>
              <a:cxn ang="0">
                <a:pos x="157231450" y="30970830"/>
              </a:cxn>
              <a:cxn ang="0">
                <a:pos x="138173423" y="13272612"/>
              </a:cxn>
              <a:cxn ang="0">
                <a:pos x="104822422" y="0"/>
              </a:cxn>
            </a:cxnLst>
            <a:rect l="txL" t="txT" r="txR" b="txB"/>
            <a:pathLst>
              <a:path w="40" h="40">
                <a:moveTo>
                  <a:pt x="22" y="0"/>
                </a:moveTo>
                <a:lnTo>
                  <a:pt x="15" y="3"/>
                </a:lnTo>
                <a:lnTo>
                  <a:pt x="8" y="7"/>
                </a:lnTo>
                <a:lnTo>
                  <a:pt x="4" y="14"/>
                </a:lnTo>
                <a:lnTo>
                  <a:pt x="0" y="22"/>
                </a:lnTo>
                <a:lnTo>
                  <a:pt x="4" y="29"/>
                </a:lnTo>
                <a:lnTo>
                  <a:pt x="8" y="36"/>
                </a:lnTo>
                <a:lnTo>
                  <a:pt x="15" y="40"/>
                </a:lnTo>
                <a:lnTo>
                  <a:pt x="22" y="40"/>
                </a:lnTo>
                <a:lnTo>
                  <a:pt x="29" y="40"/>
                </a:lnTo>
                <a:lnTo>
                  <a:pt x="33" y="36"/>
                </a:lnTo>
                <a:lnTo>
                  <a:pt x="40" y="29"/>
                </a:lnTo>
                <a:lnTo>
                  <a:pt x="40" y="22"/>
                </a:lnTo>
                <a:lnTo>
                  <a:pt x="40" y="14"/>
                </a:lnTo>
                <a:lnTo>
                  <a:pt x="33" y="7"/>
                </a:lnTo>
                <a:lnTo>
                  <a:pt x="29" y="3"/>
                </a:lnTo>
                <a:lnTo>
                  <a:pt x="22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63" name="Freeform 65"/>
          <p:cNvSpPr/>
          <p:nvPr/>
        </p:nvSpPr>
        <p:spPr>
          <a:xfrm>
            <a:off x="8326438" y="3478213"/>
            <a:ext cx="87312" cy="84137"/>
          </a:xfrm>
          <a:custGeom>
            <a:avLst/>
            <a:gdLst>
              <a:gd name="txL" fmla="*/ 0 w 40"/>
              <a:gd name="txT" fmla="*/ 0 h 40"/>
              <a:gd name="txR" fmla="*/ 40 w 40"/>
              <a:gd name="txB" fmla="*/ 40 h 40"/>
            </a:gdLst>
            <a:ahLst/>
            <a:cxnLst>
              <a:cxn ang="0">
                <a:pos x="104822422" y="0"/>
              </a:cxn>
              <a:cxn ang="0">
                <a:pos x="71469238" y="13272612"/>
              </a:cxn>
              <a:cxn ang="0">
                <a:pos x="38116054" y="30970830"/>
              </a:cxn>
              <a:cxn ang="0">
                <a:pos x="19058027" y="61941659"/>
              </a:cxn>
              <a:cxn ang="0">
                <a:pos x="0" y="97335992"/>
              </a:cxn>
              <a:cxn ang="0">
                <a:pos x="19058027" y="128306822"/>
              </a:cxn>
              <a:cxn ang="0">
                <a:pos x="38116054" y="159277651"/>
              </a:cxn>
              <a:cxn ang="0">
                <a:pos x="71469238" y="176975869"/>
              </a:cxn>
              <a:cxn ang="0">
                <a:pos x="104822422" y="176975869"/>
              </a:cxn>
              <a:cxn ang="0">
                <a:pos x="138173423" y="176975869"/>
              </a:cxn>
              <a:cxn ang="0">
                <a:pos x="157231450" y="159277651"/>
              </a:cxn>
              <a:cxn ang="0">
                <a:pos x="190584634" y="128306822"/>
              </a:cxn>
              <a:cxn ang="0">
                <a:pos x="190584634" y="97335992"/>
              </a:cxn>
              <a:cxn ang="0">
                <a:pos x="190584634" y="61941659"/>
              </a:cxn>
              <a:cxn ang="0">
                <a:pos x="157231450" y="30970830"/>
              </a:cxn>
              <a:cxn ang="0">
                <a:pos x="138173423" y="13272612"/>
              </a:cxn>
              <a:cxn ang="0">
                <a:pos x="104822422" y="0"/>
              </a:cxn>
            </a:cxnLst>
            <a:rect l="txL" t="txT" r="txR" b="txB"/>
            <a:pathLst>
              <a:path w="40" h="40">
                <a:moveTo>
                  <a:pt x="22" y="0"/>
                </a:moveTo>
                <a:lnTo>
                  <a:pt x="15" y="3"/>
                </a:lnTo>
                <a:lnTo>
                  <a:pt x="8" y="7"/>
                </a:lnTo>
                <a:lnTo>
                  <a:pt x="4" y="14"/>
                </a:lnTo>
                <a:lnTo>
                  <a:pt x="0" y="22"/>
                </a:lnTo>
                <a:lnTo>
                  <a:pt x="4" y="29"/>
                </a:lnTo>
                <a:lnTo>
                  <a:pt x="8" y="36"/>
                </a:lnTo>
                <a:lnTo>
                  <a:pt x="15" y="40"/>
                </a:lnTo>
                <a:lnTo>
                  <a:pt x="22" y="40"/>
                </a:lnTo>
                <a:lnTo>
                  <a:pt x="29" y="40"/>
                </a:lnTo>
                <a:lnTo>
                  <a:pt x="33" y="36"/>
                </a:lnTo>
                <a:lnTo>
                  <a:pt x="40" y="29"/>
                </a:lnTo>
                <a:lnTo>
                  <a:pt x="40" y="22"/>
                </a:lnTo>
                <a:lnTo>
                  <a:pt x="40" y="14"/>
                </a:lnTo>
                <a:lnTo>
                  <a:pt x="33" y="7"/>
                </a:lnTo>
                <a:lnTo>
                  <a:pt x="29" y="3"/>
                </a:lnTo>
                <a:lnTo>
                  <a:pt x="22" y="0"/>
                </a:lnTo>
              </a:path>
            </a:pathLst>
          </a:custGeom>
          <a:noFill/>
          <a:ln w="1111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64" name="Freeform 66"/>
          <p:cNvSpPr/>
          <p:nvPr/>
        </p:nvSpPr>
        <p:spPr>
          <a:xfrm>
            <a:off x="8343900" y="4706938"/>
            <a:ext cx="85725" cy="84137"/>
          </a:xfrm>
          <a:custGeom>
            <a:avLst/>
            <a:gdLst>
              <a:gd name="txL" fmla="*/ 0 w 39"/>
              <a:gd name="txT" fmla="*/ 0 h 40"/>
              <a:gd name="txR" fmla="*/ 39 w 39"/>
              <a:gd name="txB" fmla="*/ 40 h 40"/>
            </a:gdLst>
            <a:ahLst/>
            <a:cxnLst>
              <a:cxn ang="0">
                <a:pos x="101463231" y="0"/>
              </a:cxn>
              <a:cxn ang="0">
                <a:pos x="67641421" y="17698218"/>
              </a:cxn>
              <a:cxn ang="0">
                <a:pos x="33821810" y="35394332"/>
              </a:cxn>
              <a:cxn ang="0">
                <a:pos x="14494119" y="48669048"/>
              </a:cxn>
              <a:cxn ang="0">
                <a:pos x="0" y="84063380"/>
              </a:cxn>
              <a:cxn ang="0">
                <a:pos x="14494119" y="128306822"/>
              </a:cxn>
              <a:cxn ang="0">
                <a:pos x="33821810" y="146005040"/>
              </a:cxn>
              <a:cxn ang="0">
                <a:pos x="67641421" y="163703257"/>
              </a:cxn>
              <a:cxn ang="0">
                <a:pos x="101463231" y="176975869"/>
              </a:cxn>
              <a:cxn ang="0">
                <a:pos x="135282842" y="163703257"/>
              </a:cxn>
              <a:cxn ang="0">
                <a:pos x="154608335" y="146005040"/>
              </a:cxn>
              <a:cxn ang="0">
                <a:pos x="188430144" y="128306822"/>
              </a:cxn>
              <a:cxn ang="0">
                <a:pos x="188430144" y="84063380"/>
              </a:cxn>
              <a:cxn ang="0">
                <a:pos x="188430144" y="48669048"/>
              </a:cxn>
              <a:cxn ang="0">
                <a:pos x="154608335" y="35394332"/>
              </a:cxn>
              <a:cxn ang="0">
                <a:pos x="135282842" y="17698218"/>
              </a:cxn>
              <a:cxn ang="0">
                <a:pos x="101463231" y="0"/>
              </a:cxn>
            </a:cxnLst>
            <a:rect l="txL" t="txT" r="txR" b="txB"/>
            <a:pathLst>
              <a:path w="39" h="40">
                <a:moveTo>
                  <a:pt x="21" y="0"/>
                </a:moveTo>
                <a:lnTo>
                  <a:pt x="14" y="4"/>
                </a:lnTo>
                <a:lnTo>
                  <a:pt x="7" y="8"/>
                </a:lnTo>
                <a:lnTo>
                  <a:pt x="3" y="11"/>
                </a:lnTo>
                <a:lnTo>
                  <a:pt x="0" y="19"/>
                </a:lnTo>
                <a:lnTo>
                  <a:pt x="3" y="29"/>
                </a:lnTo>
                <a:lnTo>
                  <a:pt x="7" y="33"/>
                </a:lnTo>
                <a:lnTo>
                  <a:pt x="14" y="37"/>
                </a:lnTo>
                <a:lnTo>
                  <a:pt x="21" y="40"/>
                </a:lnTo>
                <a:lnTo>
                  <a:pt x="28" y="37"/>
                </a:lnTo>
                <a:lnTo>
                  <a:pt x="32" y="33"/>
                </a:lnTo>
                <a:lnTo>
                  <a:pt x="39" y="29"/>
                </a:lnTo>
                <a:lnTo>
                  <a:pt x="39" y="19"/>
                </a:lnTo>
                <a:lnTo>
                  <a:pt x="39" y="11"/>
                </a:lnTo>
                <a:lnTo>
                  <a:pt x="32" y="8"/>
                </a:lnTo>
                <a:lnTo>
                  <a:pt x="28" y="4"/>
                </a:lnTo>
                <a:lnTo>
                  <a:pt x="21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65" name="Freeform 67"/>
          <p:cNvSpPr/>
          <p:nvPr/>
        </p:nvSpPr>
        <p:spPr>
          <a:xfrm>
            <a:off x="8343900" y="4706938"/>
            <a:ext cx="85725" cy="84137"/>
          </a:xfrm>
          <a:custGeom>
            <a:avLst/>
            <a:gdLst>
              <a:gd name="txL" fmla="*/ 0 w 39"/>
              <a:gd name="txT" fmla="*/ 0 h 40"/>
              <a:gd name="txR" fmla="*/ 39 w 39"/>
              <a:gd name="txB" fmla="*/ 40 h 40"/>
            </a:gdLst>
            <a:ahLst/>
            <a:cxnLst>
              <a:cxn ang="0">
                <a:pos x="101463231" y="0"/>
              </a:cxn>
              <a:cxn ang="0">
                <a:pos x="67641421" y="17698218"/>
              </a:cxn>
              <a:cxn ang="0">
                <a:pos x="33821810" y="35394332"/>
              </a:cxn>
              <a:cxn ang="0">
                <a:pos x="14494119" y="48669048"/>
              </a:cxn>
              <a:cxn ang="0">
                <a:pos x="0" y="84063380"/>
              </a:cxn>
              <a:cxn ang="0">
                <a:pos x="14494119" y="128306822"/>
              </a:cxn>
              <a:cxn ang="0">
                <a:pos x="33821810" y="146005040"/>
              </a:cxn>
              <a:cxn ang="0">
                <a:pos x="67641421" y="163703257"/>
              </a:cxn>
              <a:cxn ang="0">
                <a:pos x="101463231" y="176975869"/>
              </a:cxn>
              <a:cxn ang="0">
                <a:pos x="135282842" y="163703257"/>
              </a:cxn>
              <a:cxn ang="0">
                <a:pos x="154608335" y="146005040"/>
              </a:cxn>
              <a:cxn ang="0">
                <a:pos x="188430144" y="128306822"/>
              </a:cxn>
              <a:cxn ang="0">
                <a:pos x="188430144" y="84063380"/>
              </a:cxn>
              <a:cxn ang="0">
                <a:pos x="188430144" y="48669048"/>
              </a:cxn>
              <a:cxn ang="0">
                <a:pos x="154608335" y="35394332"/>
              </a:cxn>
              <a:cxn ang="0">
                <a:pos x="135282842" y="17698218"/>
              </a:cxn>
              <a:cxn ang="0">
                <a:pos x="101463231" y="0"/>
              </a:cxn>
            </a:cxnLst>
            <a:rect l="txL" t="txT" r="txR" b="txB"/>
            <a:pathLst>
              <a:path w="39" h="40">
                <a:moveTo>
                  <a:pt x="21" y="0"/>
                </a:moveTo>
                <a:lnTo>
                  <a:pt x="14" y="4"/>
                </a:lnTo>
                <a:lnTo>
                  <a:pt x="7" y="8"/>
                </a:lnTo>
                <a:lnTo>
                  <a:pt x="3" y="11"/>
                </a:lnTo>
                <a:lnTo>
                  <a:pt x="0" y="19"/>
                </a:lnTo>
                <a:lnTo>
                  <a:pt x="3" y="29"/>
                </a:lnTo>
                <a:lnTo>
                  <a:pt x="7" y="33"/>
                </a:lnTo>
                <a:lnTo>
                  <a:pt x="14" y="37"/>
                </a:lnTo>
                <a:lnTo>
                  <a:pt x="21" y="40"/>
                </a:lnTo>
                <a:lnTo>
                  <a:pt x="28" y="37"/>
                </a:lnTo>
                <a:lnTo>
                  <a:pt x="32" y="33"/>
                </a:lnTo>
                <a:lnTo>
                  <a:pt x="39" y="29"/>
                </a:lnTo>
                <a:lnTo>
                  <a:pt x="39" y="19"/>
                </a:lnTo>
                <a:lnTo>
                  <a:pt x="39" y="11"/>
                </a:lnTo>
                <a:lnTo>
                  <a:pt x="32" y="8"/>
                </a:lnTo>
                <a:lnTo>
                  <a:pt x="28" y="4"/>
                </a:lnTo>
                <a:lnTo>
                  <a:pt x="21" y="0"/>
                </a:lnTo>
              </a:path>
            </a:pathLst>
          </a:custGeom>
          <a:noFill/>
          <a:ln w="1111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66" name="Line 68"/>
          <p:cNvSpPr/>
          <p:nvPr/>
        </p:nvSpPr>
        <p:spPr>
          <a:xfrm>
            <a:off x="7880350" y="4752975"/>
            <a:ext cx="1012825" cy="3175"/>
          </a:xfrm>
          <a:prstGeom prst="line">
            <a:avLst/>
          </a:prstGeom>
          <a:ln w="1746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67" name="Freeform 69"/>
          <p:cNvSpPr/>
          <p:nvPr/>
        </p:nvSpPr>
        <p:spPr>
          <a:xfrm>
            <a:off x="7832725" y="4706938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24238628" y="0"/>
              </a:cxn>
              <a:cxn ang="0">
                <a:pos x="89453328" y="0"/>
              </a:cxn>
              <a:cxn ang="0">
                <a:pos x="69575059" y="0"/>
              </a:cxn>
              <a:cxn ang="0">
                <a:pos x="34787529" y="35083277"/>
              </a:cxn>
              <a:cxn ang="0">
                <a:pos x="14909260" y="65781406"/>
              </a:cxn>
              <a:cxn ang="0">
                <a:pos x="0" y="83324092"/>
              </a:cxn>
              <a:cxn ang="0">
                <a:pos x="0" y="96479536"/>
              </a:cxn>
              <a:cxn ang="0">
                <a:pos x="0" y="114022221"/>
              </a:cxn>
              <a:cxn ang="0">
                <a:pos x="14909260" y="144720351"/>
              </a:cxn>
              <a:cxn ang="0">
                <a:pos x="34787529" y="175418480"/>
              </a:cxn>
              <a:cxn ang="0">
                <a:pos x="69575059" y="192961165"/>
              </a:cxn>
              <a:cxn ang="0">
                <a:pos x="89453328" y="206116609"/>
              </a:cxn>
              <a:cxn ang="0">
                <a:pos x="124238628" y="206116609"/>
              </a:cxn>
              <a:cxn ang="0">
                <a:pos x="139147888" y="206116609"/>
              </a:cxn>
              <a:cxn ang="0">
                <a:pos x="159026157" y="192961165"/>
              </a:cxn>
              <a:cxn ang="0">
                <a:pos x="193813687" y="175418480"/>
              </a:cxn>
              <a:cxn ang="0">
                <a:pos x="233570226" y="144720351"/>
              </a:cxn>
              <a:cxn ang="0">
                <a:pos x="233570226" y="114022221"/>
              </a:cxn>
              <a:cxn ang="0">
                <a:pos x="233570226" y="96479536"/>
              </a:cxn>
              <a:cxn ang="0">
                <a:pos x="233570226" y="83324092"/>
              </a:cxn>
              <a:cxn ang="0">
                <a:pos x="233570226" y="65781406"/>
              </a:cxn>
              <a:cxn ang="0">
                <a:pos x="193813687" y="35083277"/>
              </a:cxn>
              <a:cxn ang="0">
                <a:pos x="159026157" y="0"/>
              </a:cxn>
              <a:cxn ang="0">
                <a:pos x="139147888" y="0"/>
              </a:cxn>
              <a:cxn ang="0">
                <a:pos x="124238628" y="0"/>
              </a:cxn>
            </a:cxnLst>
            <a:rect l="txL" t="txT" r="txR" b="txB"/>
            <a:pathLst>
              <a:path w="47" h="47">
                <a:moveTo>
                  <a:pt x="25" y="0"/>
                </a:moveTo>
                <a:lnTo>
                  <a:pt x="18" y="0"/>
                </a:lnTo>
                <a:lnTo>
                  <a:pt x="14" y="0"/>
                </a:lnTo>
                <a:lnTo>
                  <a:pt x="7" y="8"/>
                </a:lnTo>
                <a:lnTo>
                  <a:pt x="3" y="15"/>
                </a:lnTo>
                <a:lnTo>
                  <a:pt x="0" y="19"/>
                </a:lnTo>
                <a:lnTo>
                  <a:pt x="0" y="22"/>
                </a:lnTo>
                <a:lnTo>
                  <a:pt x="0" y="26"/>
                </a:lnTo>
                <a:lnTo>
                  <a:pt x="3" y="33"/>
                </a:lnTo>
                <a:lnTo>
                  <a:pt x="7" y="40"/>
                </a:lnTo>
                <a:lnTo>
                  <a:pt x="14" y="44"/>
                </a:lnTo>
                <a:lnTo>
                  <a:pt x="18" y="47"/>
                </a:lnTo>
                <a:lnTo>
                  <a:pt x="25" y="47"/>
                </a:lnTo>
                <a:lnTo>
                  <a:pt x="28" y="47"/>
                </a:lnTo>
                <a:lnTo>
                  <a:pt x="32" y="44"/>
                </a:lnTo>
                <a:lnTo>
                  <a:pt x="39" y="40"/>
                </a:lnTo>
                <a:lnTo>
                  <a:pt x="47" y="33"/>
                </a:lnTo>
                <a:lnTo>
                  <a:pt x="47" y="26"/>
                </a:lnTo>
                <a:lnTo>
                  <a:pt x="47" y="22"/>
                </a:lnTo>
                <a:lnTo>
                  <a:pt x="47" y="19"/>
                </a:lnTo>
                <a:lnTo>
                  <a:pt x="47" y="15"/>
                </a:lnTo>
                <a:lnTo>
                  <a:pt x="39" y="8"/>
                </a:lnTo>
                <a:lnTo>
                  <a:pt x="32" y="0"/>
                </a:lnTo>
                <a:lnTo>
                  <a:pt x="28" y="0"/>
                </a:lnTo>
                <a:lnTo>
                  <a:pt x="25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68" name="Freeform 70"/>
          <p:cNvSpPr/>
          <p:nvPr/>
        </p:nvSpPr>
        <p:spPr>
          <a:xfrm>
            <a:off x="7832725" y="4706938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24238628" y="0"/>
              </a:cxn>
              <a:cxn ang="0">
                <a:pos x="89453328" y="0"/>
              </a:cxn>
              <a:cxn ang="0">
                <a:pos x="69575059" y="0"/>
              </a:cxn>
              <a:cxn ang="0">
                <a:pos x="34787529" y="35083277"/>
              </a:cxn>
              <a:cxn ang="0">
                <a:pos x="14909260" y="65781406"/>
              </a:cxn>
              <a:cxn ang="0">
                <a:pos x="0" y="83324092"/>
              </a:cxn>
              <a:cxn ang="0">
                <a:pos x="0" y="96479536"/>
              </a:cxn>
              <a:cxn ang="0">
                <a:pos x="0" y="114022221"/>
              </a:cxn>
              <a:cxn ang="0">
                <a:pos x="14909260" y="144720351"/>
              </a:cxn>
              <a:cxn ang="0">
                <a:pos x="34787529" y="175418480"/>
              </a:cxn>
              <a:cxn ang="0">
                <a:pos x="69575059" y="192961165"/>
              </a:cxn>
              <a:cxn ang="0">
                <a:pos x="89453328" y="206116609"/>
              </a:cxn>
              <a:cxn ang="0">
                <a:pos x="124238628" y="206116609"/>
              </a:cxn>
              <a:cxn ang="0">
                <a:pos x="139147888" y="206116609"/>
              </a:cxn>
              <a:cxn ang="0">
                <a:pos x="159026157" y="192961165"/>
              </a:cxn>
              <a:cxn ang="0">
                <a:pos x="193813687" y="175418480"/>
              </a:cxn>
              <a:cxn ang="0">
                <a:pos x="233570226" y="144720351"/>
              </a:cxn>
              <a:cxn ang="0">
                <a:pos x="233570226" y="114022221"/>
              </a:cxn>
              <a:cxn ang="0">
                <a:pos x="233570226" y="96479536"/>
              </a:cxn>
              <a:cxn ang="0">
                <a:pos x="233570226" y="83324092"/>
              </a:cxn>
              <a:cxn ang="0">
                <a:pos x="233570226" y="65781406"/>
              </a:cxn>
              <a:cxn ang="0">
                <a:pos x="193813687" y="35083277"/>
              </a:cxn>
              <a:cxn ang="0">
                <a:pos x="159026157" y="0"/>
              </a:cxn>
              <a:cxn ang="0">
                <a:pos x="139147888" y="0"/>
              </a:cxn>
              <a:cxn ang="0">
                <a:pos x="124238628" y="0"/>
              </a:cxn>
            </a:cxnLst>
            <a:rect l="txL" t="txT" r="txR" b="txB"/>
            <a:pathLst>
              <a:path w="47" h="47">
                <a:moveTo>
                  <a:pt x="25" y="0"/>
                </a:moveTo>
                <a:lnTo>
                  <a:pt x="18" y="0"/>
                </a:lnTo>
                <a:lnTo>
                  <a:pt x="14" y="0"/>
                </a:lnTo>
                <a:lnTo>
                  <a:pt x="7" y="8"/>
                </a:lnTo>
                <a:lnTo>
                  <a:pt x="3" y="15"/>
                </a:lnTo>
                <a:lnTo>
                  <a:pt x="0" y="19"/>
                </a:lnTo>
                <a:lnTo>
                  <a:pt x="0" y="22"/>
                </a:lnTo>
                <a:lnTo>
                  <a:pt x="0" y="26"/>
                </a:lnTo>
                <a:lnTo>
                  <a:pt x="3" y="33"/>
                </a:lnTo>
                <a:lnTo>
                  <a:pt x="7" y="40"/>
                </a:lnTo>
                <a:lnTo>
                  <a:pt x="14" y="44"/>
                </a:lnTo>
                <a:lnTo>
                  <a:pt x="18" y="47"/>
                </a:lnTo>
                <a:lnTo>
                  <a:pt x="25" y="47"/>
                </a:lnTo>
                <a:lnTo>
                  <a:pt x="28" y="47"/>
                </a:lnTo>
                <a:lnTo>
                  <a:pt x="32" y="44"/>
                </a:lnTo>
                <a:lnTo>
                  <a:pt x="39" y="40"/>
                </a:lnTo>
                <a:lnTo>
                  <a:pt x="47" y="33"/>
                </a:lnTo>
                <a:lnTo>
                  <a:pt x="47" y="26"/>
                </a:lnTo>
                <a:lnTo>
                  <a:pt x="47" y="22"/>
                </a:lnTo>
                <a:lnTo>
                  <a:pt x="47" y="19"/>
                </a:lnTo>
                <a:lnTo>
                  <a:pt x="47" y="15"/>
                </a:lnTo>
                <a:lnTo>
                  <a:pt x="39" y="8"/>
                </a:lnTo>
                <a:lnTo>
                  <a:pt x="32" y="0"/>
                </a:lnTo>
                <a:lnTo>
                  <a:pt x="28" y="0"/>
                </a:lnTo>
                <a:lnTo>
                  <a:pt x="25" y="0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69" name="Rectangle 71"/>
          <p:cNvSpPr/>
          <p:nvPr/>
        </p:nvSpPr>
        <p:spPr>
          <a:xfrm>
            <a:off x="7745413" y="3251200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70" name="Rectangle 72"/>
          <p:cNvSpPr/>
          <p:nvPr/>
        </p:nvSpPr>
        <p:spPr>
          <a:xfrm>
            <a:off x="6080125" y="2982913"/>
            <a:ext cx="185738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71" name="Rectangle 73"/>
          <p:cNvSpPr/>
          <p:nvPr/>
        </p:nvSpPr>
        <p:spPr>
          <a:xfrm>
            <a:off x="6334125" y="3143250"/>
            <a:ext cx="84138" cy="196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72" name="Rectangle 74"/>
          <p:cNvSpPr/>
          <p:nvPr/>
        </p:nvSpPr>
        <p:spPr>
          <a:xfrm>
            <a:off x="6453188" y="2982913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73" name="Rectangle 75"/>
          <p:cNvSpPr/>
          <p:nvPr/>
        </p:nvSpPr>
        <p:spPr>
          <a:xfrm>
            <a:off x="6080125" y="4518025"/>
            <a:ext cx="185738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74" name="Rectangle 76"/>
          <p:cNvSpPr/>
          <p:nvPr/>
        </p:nvSpPr>
        <p:spPr>
          <a:xfrm>
            <a:off x="6334125" y="4678363"/>
            <a:ext cx="84138" cy="1984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75" name="Rectangle 77"/>
          <p:cNvSpPr/>
          <p:nvPr/>
        </p:nvSpPr>
        <p:spPr>
          <a:xfrm>
            <a:off x="6453188" y="4518025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76" name="Rectangle 78"/>
          <p:cNvSpPr/>
          <p:nvPr/>
        </p:nvSpPr>
        <p:spPr>
          <a:xfrm>
            <a:off x="6773863" y="3014663"/>
            <a:ext cx="141287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77" name="Rectangle 79"/>
          <p:cNvSpPr/>
          <p:nvPr/>
        </p:nvSpPr>
        <p:spPr>
          <a:xfrm>
            <a:off x="6962775" y="3014663"/>
            <a:ext cx="65088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78" name="Rectangle 80"/>
          <p:cNvSpPr/>
          <p:nvPr/>
        </p:nvSpPr>
        <p:spPr>
          <a:xfrm>
            <a:off x="6754813" y="4541838"/>
            <a:ext cx="1714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79" name="Freeform 81"/>
          <p:cNvSpPr/>
          <p:nvPr/>
        </p:nvSpPr>
        <p:spPr>
          <a:xfrm>
            <a:off x="4867275" y="5087938"/>
            <a:ext cx="1179513" cy="987425"/>
          </a:xfrm>
          <a:custGeom>
            <a:avLst/>
            <a:gdLst>
              <a:gd name="txL" fmla="*/ 0 w 534"/>
              <a:gd name="txT" fmla="*/ 0 h 470"/>
              <a:gd name="txR" fmla="*/ 534 w 534"/>
              <a:gd name="txB" fmla="*/ 470 h 470"/>
            </a:gdLst>
            <a:ahLst/>
            <a:cxnLst>
              <a:cxn ang="0">
                <a:pos x="0" y="0"/>
              </a:cxn>
              <a:cxn ang="0">
                <a:pos x="0" y="542896770"/>
              </a:cxn>
              <a:cxn ang="0">
                <a:pos x="2147483647" y="1213795333"/>
              </a:cxn>
              <a:cxn ang="0">
                <a:pos x="2147483647" y="2074485384"/>
              </a:cxn>
              <a:cxn ang="0">
                <a:pos x="1707618962" y="2074485384"/>
              </a:cxn>
            </a:cxnLst>
            <a:rect l="txL" t="txT" r="txR" b="txB"/>
            <a:pathLst>
              <a:path w="534" h="470">
                <a:moveTo>
                  <a:pt x="0" y="0"/>
                </a:moveTo>
                <a:lnTo>
                  <a:pt x="0" y="123"/>
                </a:lnTo>
                <a:lnTo>
                  <a:pt x="534" y="275"/>
                </a:lnTo>
                <a:lnTo>
                  <a:pt x="534" y="470"/>
                </a:lnTo>
                <a:lnTo>
                  <a:pt x="350" y="470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80" name="Freeform 82"/>
          <p:cNvSpPr/>
          <p:nvPr/>
        </p:nvSpPr>
        <p:spPr>
          <a:xfrm>
            <a:off x="5584825" y="6022975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04360359" y="0"/>
              </a:cxn>
              <a:cxn ang="0">
                <a:pos x="89453328" y="0"/>
              </a:cxn>
              <a:cxn ang="0">
                <a:pos x="69575059" y="0"/>
              </a:cxn>
              <a:cxn ang="0">
                <a:pos x="34787529" y="30698129"/>
              </a:cxn>
              <a:cxn ang="0">
                <a:pos x="0" y="61396259"/>
              </a:cxn>
              <a:cxn ang="0">
                <a:pos x="0" y="78938944"/>
              </a:cxn>
              <a:cxn ang="0">
                <a:pos x="0" y="96479536"/>
              </a:cxn>
              <a:cxn ang="0">
                <a:pos x="0" y="109637073"/>
              </a:cxn>
              <a:cxn ang="0">
                <a:pos x="0" y="140335203"/>
              </a:cxn>
              <a:cxn ang="0">
                <a:pos x="34787529" y="175418480"/>
              </a:cxn>
              <a:cxn ang="0">
                <a:pos x="69575059" y="188573923"/>
              </a:cxn>
              <a:cxn ang="0">
                <a:pos x="89453328" y="188573923"/>
              </a:cxn>
              <a:cxn ang="0">
                <a:pos x="104360359" y="206116609"/>
              </a:cxn>
              <a:cxn ang="0">
                <a:pos x="144116898" y="188573923"/>
              </a:cxn>
              <a:cxn ang="0">
                <a:pos x="159026157" y="188573923"/>
              </a:cxn>
              <a:cxn ang="0">
                <a:pos x="193813687" y="175418480"/>
              </a:cxn>
              <a:cxn ang="0">
                <a:pos x="213691956" y="140335203"/>
              </a:cxn>
              <a:cxn ang="0">
                <a:pos x="233570226" y="109637073"/>
              </a:cxn>
              <a:cxn ang="0">
                <a:pos x="233570226" y="96479536"/>
              </a:cxn>
              <a:cxn ang="0">
                <a:pos x="233570226" y="78938944"/>
              </a:cxn>
              <a:cxn ang="0">
                <a:pos x="213691956" y="61396259"/>
              </a:cxn>
              <a:cxn ang="0">
                <a:pos x="193813687" y="30698129"/>
              </a:cxn>
              <a:cxn ang="0">
                <a:pos x="159026157" y="0"/>
              </a:cxn>
              <a:cxn ang="0">
                <a:pos x="144116898" y="0"/>
              </a:cxn>
              <a:cxn ang="0">
                <a:pos x="104360359" y="0"/>
              </a:cxn>
            </a:cxnLst>
            <a:rect l="txL" t="txT" r="txR" b="txB"/>
            <a:pathLst>
              <a:path w="47" h="47">
                <a:moveTo>
                  <a:pt x="21" y="0"/>
                </a:moveTo>
                <a:lnTo>
                  <a:pt x="18" y="0"/>
                </a:lnTo>
                <a:lnTo>
                  <a:pt x="14" y="0"/>
                </a:lnTo>
                <a:lnTo>
                  <a:pt x="7" y="7"/>
                </a:lnTo>
                <a:lnTo>
                  <a:pt x="0" y="14"/>
                </a:lnTo>
                <a:lnTo>
                  <a:pt x="0" y="18"/>
                </a:lnTo>
                <a:lnTo>
                  <a:pt x="0" y="22"/>
                </a:lnTo>
                <a:lnTo>
                  <a:pt x="0" y="25"/>
                </a:lnTo>
                <a:lnTo>
                  <a:pt x="0" y="32"/>
                </a:lnTo>
                <a:lnTo>
                  <a:pt x="7" y="40"/>
                </a:lnTo>
                <a:lnTo>
                  <a:pt x="14" y="43"/>
                </a:lnTo>
                <a:lnTo>
                  <a:pt x="18" y="43"/>
                </a:lnTo>
                <a:lnTo>
                  <a:pt x="21" y="47"/>
                </a:lnTo>
                <a:lnTo>
                  <a:pt x="29" y="43"/>
                </a:lnTo>
                <a:lnTo>
                  <a:pt x="32" y="43"/>
                </a:lnTo>
                <a:lnTo>
                  <a:pt x="39" y="40"/>
                </a:lnTo>
                <a:lnTo>
                  <a:pt x="43" y="32"/>
                </a:lnTo>
                <a:lnTo>
                  <a:pt x="47" y="25"/>
                </a:lnTo>
                <a:lnTo>
                  <a:pt x="47" y="22"/>
                </a:lnTo>
                <a:lnTo>
                  <a:pt x="47" y="18"/>
                </a:lnTo>
                <a:lnTo>
                  <a:pt x="43" y="14"/>
                </a:lnTo>
                <a:lnTo>
                  <a:pt x="39" y="7"/>
                </a:lnTo>
                <a:lnTo>
                  <a:pt x="32" y="0"/>
                </a:lnTo>
                <a:lnTo>
                  <a:pt x="29" y="0"/>
                </a:lnTo>
                <a:lnTo>
                  <a:pt x="21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81" name="Freeform 83"/>
          <p:cNvSpPr/>
          <p:nvPr/>
        </p:nvSpPr>
        <p:spPr>
          <a:xfrm>
            <a:off x="5584825" y="6022975"/>
            <a:ext cx="104775" cy="98425"/>
          </a:xfrm>
          <a:custGeom>
            <a:avLst/>
            <a:gdLst>
              <a:gd name="txL" fmla="*/ 0 w 47"/>
              <a:gd name="txT" fmla="*/ 0 h 47"/>
              <a:gd name="txR" fmla="*/ 47 w 47"/>
              <a:gd name="txB" fmla="*/ 47 h 47"/>
            </a:gdLst>
            <a:ahLst/>
            <a:cxnLst>
              <a:cxn ang="0">
                <a:pos x="104360359" y="0"/>
              </a:cxn>
              <a:cxn ang="0">
                <a:pos x="89453328" y="0"/>
              </a:cxn>
              <a:cxn ang="0">
                <a:pos x="69575059" y="0"/>
              </a:cxn>
              <a:cxn ang="0">
                <a:pos x="34787529" y="30698129"/>
              </a:cxn>
              <a:cxn ang="0">
                <a:pos x="0" y="61396259"/>
              </a:cxn>
              <a:cxn ang="0">
                <a:pos x="0" y="78938944"/>
              </a:cxn>
              <a:cxn ang="0">
                <a:pos x="0" y="96479536"/>
              </a:cxn>
              <a:cxn ang="0">
                <a:pos x="0" y="109637073"/>
              </a:cxn>
              <a:cxn ang="0">
                <a:pos x="0" y="140335203"/>
              </a:cxn>
              <a:cxn ang="0">
                <a:pos x="34787529" y="175418480"/>
              </a:cxn>
              <a:cxn ang="0">
                <a:pos x="69575059" y="188573923"/>
              </a:cxn>
              <a:cxn ang="0">
                <a:pos x="89453328" y="188573923"/>
              </a:cxn>
              <a:cxn ang="0">
                <a:pos x="104360359" y="206116609"/>
              </a:cxn>
              <a:cxn ang="0">
                <a:pos x="144116898" y="188573923"/>
              </a:cxn>
              <a:cxn ang="0">
                <a:pos x="159026157" y="188573923"/>
              </a:cxn>
              <a:cxn ang="0">
                <a:pos x="193813687" y="175418480"/>
              </a:cxn>
              <a:cxn ang="0">
                <a:pos x="213691956" y="140335203"/>
              </a:cxn>
              <a:cxn ang="0">
                <a:pos x="233570226" y="109637073"/>
              </a:cxn>
              <a:cxn ang="0">
                <a:pos x="233570226" y="96479536"/>
              </a:cxn>
              <a:cxn ang="0">
                <a:pos x="233570226" y="78938944"/>
              </a:cxn>
              <a:cxn ang="0">
                <a:pos x="213691956" y="61396259"/>
              </a:cxn>
              <a:cxn ang="0">
                <a:pos x="193813687" y="30698129"/>
              </a:cxn>
              <a:cxn ang="0">
                <a:pos x="159026157" y="0"/>
              </a:cxn>
              <a:cxn ang="0">
                <a:pos x="144116898" y="0"/>
              </a:cxn>
              <a:cxn ang="0">
                <a:pos x="104360359" y="0"/>
              </a:cxn>
            </a:cxnLst>
            <a:rect l="txL" t="txT" r="txR" b="txB"/>
            <a:pathLst>
              <a:path w="47" h="47">
                <a:moveTo>
                  <a:pt x="21" y="0"/>
                </a:moveTo>
                <a:lnTo>
                  <a:pt x="18" y="0"/>
                </a:lnTo>
                <a:lnTo>
                  <a:pt x="14" y="0"/>
                </a:lnTo>
                <a:lnTo>
                  <a:pt x="7" y="7"/>
                </a:lnTo>
                <a:lnTo>
                  <a:pt x="0" y="14"/>
                </a:lnTo>
                <a:lnTo>
                  <a:pt x="0" y="18"/>
                </a:lnTo>
                <a:lnTo>
                  <a:pt x="0" y="22"/>
                </a:lnTo>
                <a:lnTo>
                  <a:pt x="0" y="25"/>
                </a:lnTo>
                <a:lnTo>
                  <a:pt x="0" y="32"/>
                </a:lnTo>
                <a:lnTo>
                  <a:pt x="7" y="40"/>
                </a:lnTo>
                <a:lnTo>
                  <a:pt x="14" y="43"/>
                </a:lnTo>
                <a:lnTo>
                  <a:pt x="18" y="43"/>
                </a:lnTo>
                <a:lnTo>
                  <a:pt x="21" y="47"/>
                </a:lnTo>
                <a:lnTo>
                  <a:pt x="29" y="43"/>
                </a:lnTo>
                <a:lnTo>
                  <a:pt x="32" y="43"/>
                </a:lnTo>
                <a:lnTo>
                  <a:pt x="39" y="40"/>
                </a:lnTo>
                <a:lnTo>
                  <a:pt x="43" y="32"/>
                </a:lnTo>
                <a:lnTo>
                  <a:pt x="47" y="25"/>
                </a:lnTo>
                <a:lnTo>
                  <a:pt x="47" y="22"/>
                </a:lnTo>
                <a:lnTo>
                  <a:pt x="47" y="18"/>
                </a:lnTo>
                <a:lnTo>
                  <a:pt x="43" y="14"/>
                </a:lnTo>
                <a:lnTo>
                  <a:pt x="39" y="7"/>
                </a:lnTo>
                <a:lnTo>
                  <a:pt x="32" y="0"/>
                </a:lnTo>
                <a:lnTo>
                  <a:pt x="29" y="0"/>
                </a:lnTo>
                <a:lnTo>
                  <a:pt x="21" y="0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82" name="Freeform 84"/>
          <p:cNvSpPr/>
          <p:nvPr/>
        </p:nvSpPr>
        <p:spPr>
          <a:xfrm>
            <a:off x="4867275" y="4899025"/>
            <a:ext cx="1169988" cy="993775"/>
          </a:xfrm>
          <a:custGeom>
            <a:avLst/>
            <a:gdLst>
              <a:gd name="txL" fmla="*/ 0 w 530"/>
              <a:gd name="txT" fmla="*/ 0 h 473"/>
              <a:gd name="txR" fmla="*/ 530 w 530"/>
              <a:gd name="txB" fmla="*/ 473 h 473"/>
            </a:gdLst>
            <a:ahLst/>
            <a:cxnLst>
              <a:cxn ang="0">
                <a:pos x="789452714" y="2087925477"/>
              </a:cxn>
              <a:cxn ang="0">
                <a:pos x="0" y="2087925477"/>
              </a:cxn>
              <a:cxn ang="0">
                <a:pos x="0" y="1611190810"/>
              </a:cxn>
              <a:cxn ang="0">
                <a:pos x="2147483647" y="829873559"/>
              </a:cxn>
              <a:cxn ang="0">
                <a:pos x="2147483647" y="0"/>
              </a:cxn>
            </a:cxnLst>
            <a:rect l="txL" t="txT" r="txR" b="txB"/>
            <a:pathLst>
              <a:path w="530" h="473">
                <a:moveTo>
                  <a:pt x="162" y="473"/>
                </a:moveTo>
                <a:lnTo>
                  <a:pt x="0" y="473"/>
                </a:lnTo>
                <a:lnTo>
                  <a:pt x="0" y="365"/>
                </a:lnTo>
                <a:lnTo>
                  <a:pt x="530" y="188"/>
                </a:lnTo>
                <a:lnTo>
                  <a:pt x="530" y="0"/>
                </a:lnTo>
              </a:path>
            </a:pathLst>
          </a:custGeom>
          <a:noFill/>
          <a:ln w="1746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83" name="Freeform 85"/>
          <p:cNvSpPr/>
          <p:nvPr/>
        </p:nvSpPr>
        <p:spPr>
          <a:xfrm>
            <a:off x="5997575" y="4875213"/>
            <a:ext cx="88900" cy="76200"/>
          </a:xfrm>
          <a:custGeom>
            <a:avLst/>
            <a:gdLst>
              <a:gd name="txL" fmla="*/ 0 w 40"/>
              <a:gd name="txT" fmla="*/ 0 h 36"/>
              <a:gd name="txR" fmla="*/ 40 w 40"/>
              <a:gd name="txB" fmla="*/ 36 h 36"/>
            </a:gdLst>
            <a:ahLst/>
            <a:cxnLst>
              <a:cxn ang="0">
                <a:pos x="88911113" y="0"/>
              </a:cxn>
              <a:cxn ang="0">
                <a:pos x="54335680" y="0"/>
              </a:cxn>
              <a:cxn ang="0">
                <a:pos x="39516050" y="17921817"/>
              </a:cxn>
              <a:cxn ang="0">
                <a:pos x="0" y="49282350"/>
              </a:cxn>
              <a:cxn ang="0">
                <a:pos x="0" y="80645000"/>
              </a:cxn>
              <a:cxn ang="0">
                <a:pos x="0" y="112007650"/>
              </a:cxn>
              <a:cxn ang="0">
                <a:pos x="39516050" y="147849167"/>
              </a:cxn>
              <a:cxn ang="0">
                <a:pos x="54335680" y="161290000"/>
              </a:cxn>
              <a:cxn ang="0">
                <a:pos x="88911113" y="161290000"/>
              </a:cxn>
              <a:cxn ang="0">
                <a:pos x="128427163" y="161290000"/>
              </a:cxn>
              <a:cxn ang="0">
                <a:pos x="163004818" y="147849167"/>
              </a:cxn>
              <a:cxn ang="0">
                <a:pos x="182762843" y="112007650"/>
              </a:cxn>
              <a:cxn ang="0">
                <a:pos x="197580250" y="80645000"/>
              </a:cxn>
              <a:cxn ang="0">
                <a:pos x="182762843" y="49282350"/>
              </a:cxn>
              <a:cxn ang="0">
                <a:pos x="163004818" y="17921817"/>
              </a:cxn>
              <a:cxn ang="0">
                <a:pos x="128427163" y="0"/>
              </a:cxn>
              <a:cxn ang="0">
                <a:pos x="88911113" y="0"/>
              </a:cxn>
            </a:cxnLst>
            <a:rect l="txL" t="txT" r="txR" b="txB"/>
            <a:pathLst>
              <a:path w="40" h="36">
                <a:moveTo>
                  <a:pt x="18" y="0"/>
                </a:moveTo>
                <a:lnTo>
                  <a:pt x="11" y="0"/>
                </a:lnTo>
                <a:lnTo>
                  <a:pt x="8" y="4"/>
                </a:lnTo>
                <a:lnTo>
                  <a:pt x="0" y="11"/>
                </a:lnTo>
                <a:lnTo>
                  <a:pt x="0" y="18"/>
                </a:lnTo>
                <a:lnTo>
                  <a:pt x="0" y="25"/>
                </a:lnTo>
                <a:lnTo>
                  <a:pt x="8" y="33"/>
                </a:lnTo>
                <a:lnTo>
                  <a:pt x="11" y="36"/>
                </a:lnTo>
                <a:lnTo>
                  <a:pt x="18" y="36"/>
                </a:lnTo>
                <a:lnTo>
                  <a:pt x="26" y="36"/>
                </a:lnTo>
                <a:lnTo>
                  <a:pt x="33" y="33"/>
                </a:lnTo>
                <a:lnTo>
                  <a:pt x="37" y="25"/>
                </a:lnTo>
                <a:lnTo>
                  <a:pt x="40" y="18"/>
                </a:lnTo>
                <a:lnTo>
                  <a:pt x="37" y="11"/>
                </a:lnTo>
                <a:lnTo>
                  <a:pt x="33" y="4"/>
                </a:lnTo>
                <a:lnTo>
                  <a:pt x="26" y="0"/>
                </a:lnTo>
                <a:lnTo>
                  <a:pt x="18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284" name="Freeform 86"/>
          <p:cNvSpPr/>
          <p:nvPr/>
        </p:nvSpPr>
        <p:spPr>
          <a:xfrm>
            <a:off x="5997575" y="4875213"/>
            <a:ext cx="88900" cy="76200"/>
          </a:xfrm>
          <a:custGeom>
            <a:avLst/>
            <a:gdLst>
              <a:gd name="txL" fmla="*/ 0 w 40"/>
              <a:gd name="txT" fmla="*/ 0 h 36"/>
              <a:gd name="txR" fmla="*/ 40 w 40"/>
              <a:gd name="txB" fmla="*/ 36 h 36"/>
            </a:gdLst>
            <a:ahLst/>
            <a:cxnLst>
              <a:cxn ang="0">
                <a:pos x="88911113" y="0"/>
              </a:cxn>
              <a:cxn ang="0">
                <a:pos x="54335680" y="0"/>
              </a:cxn>
              <a:cxn ang="0">
                <a:pos x="39516050" y="17921817"/>
              </a:cxn>
              <a:cxn ang="0">
                <a:pos x="0" y="49282350"/>
              </a:cxn>
              <a:cxn ang="0">
                <a:pos x="0" y="80645000"/>
              </a:cxn>
              <a:cxn ang="0">
                <a:pos x="0" y="112007650"/>
              </a:cxn>
              <a:cxn ang="0">
                <a:pos x="39516050" y="147849167"/>
              </a:cxn>
              <a:cxn ang="0">
                <a:pos x="54335680" y="161290000"/>
              </a:cxn>
              <a:cxn ang="0">
                <a:pos x="88911113" y="161290000"/>
              </a:cxn>
              <a:cxn ang="0">
                <a:pos x="128427163" y="161290000"/>
              </a:cxn>
              <a:cxn ang="0">
                <a:pos x="163004818" y="147849167"/>
              </a:cxn>
              <a:cxn ang="0">
                <a:pos x="182762843" y="112007650"/>
              </a:cxn>
              <a:cxn ang="0">
                <a:pos x="197580250" y="80645000"/>
              </a:cxn>
              <a:cxn ang="0">
                <a:pos x="182762843" y="49282350"/>
              </a:cxn>
              <a:cxn ang="0">
                <a:pos x="163004818" y="17921817"/>
              </a:cxn>
              <a:cxn ang="0">
                <a:pos x="128427163" y="0"/>
              </a:cxn>
              <a:cxn ang="0">
                <a:pos x="88911113" y="0"/>
              </a:cxn>
            </a:cxnLst>
            <a:rect l="txL" t="txT" r="txR" b="txB"/>
            <a:pathLst>
              <a:path w="40" h="36">
                <a:moveTo>
                  <a:pt x="18" y="0"/>
                </a:moveTo>
                <a:lnTo>
                  <a:pt x="11" y="0"/>
                </a:lnTo>
                <a:lnTo>
                  <a:pt x="8" y="4"/>
                </a:lnTo>
                <a:lnTo>
                  <a:pt x="0" y="11"/>
                </a:lnTo>
                <a:lnTo>
                  <a:pt x="0" y="18"/>
                </a:lnTo>
                <a:lnTo>
                  <a:pt x="0" y="25"/>
                </a:lnTo>
                <a:lnTo>
                  <a:pt x="8" y="33"/>
                </a:lnTo>
                <a:lnTo>
                  <a:pt x="11" y="36"/>
                </a:lnTo>
                <a:lnTo>
                  <a:pt x="18" y="36"/>
                </a:lnTo>
                <a:lnTo>
                  <a:pt x="26" y="36"/>
                </a:lnTo>
                <a:lnTo>
                  <a:pt x="33" y="33"/>
                </a:lnTo>
                <a:lnTo>
                  <a:pt x="37" y="25"/>
                </a:lnTo>
                <a:lnTo>
                  <a:pt x="40" y="18"/>
                </a:lnTo>
                <a:lnTo>
                  <a:pt x="37" y="11"/>
                </a:lnTo>
                <a:lnTo>
                  <a:pt x="33" y="4"/>
                </a:lnTo>
                <a:lnTo>
                  <a:pt x="26" y="0"/>
                </a:lnTo>
                <a:lnTo>
                  <a:pt x="18" y="0"/>
                </a:lnTo>
              </a:path>
            </a:pathLst>
          </a:custGeom>
          <a:noFill/>
          <a:ln w="1111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85" name="Rectangle 87"/>
          <p:cNvSpPr/>
          <p:nvPr/>
        </p:nvSpPr>
        <p:spPr>
          <a:xfrm>
            <a:off x="6080125" y="5900738"/>
            <a:ext cx="185738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86" name="Rectangle 88"/>
          <p:cNvSpPr/>
          <p:nvPr/>
        </p:nvSpPr>
        <p:spPr>
          <a:xfrm>
            <a:off x="6334125" y="6061075"/>
            <a:ext cx="84138" cy="196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87" name="Rectangle 89"/>
          <p:cNvSpPr/>
          <p:nvPr/>
        </p:nvSpPr>
        <p:spPr>
          <a:xfrm>
            <a:off x="6453188" y="5900738"/>
            <a:ext cx="63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88" name="Line 90"/>
          <p:cNvSpPr/>
          <p:nvPr/>
        </p:nvSpPr>
        <p:spPr>
          <a:xfrm flipH="1">
            <a:off x="3719513" y="6221413"/>
            <a:ext cx="1498600" cy="1587"/>
          </a:xfrm>
          <a:prstGeom prst="line">
            <a:avLst/>
          </a:prstGeom>
          <a:ln w="1746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89" name="Rectangle 91"/>
          <p:cNvSpPr/>
          <p:nvPr/>
        </p:nvSpPr>
        <p:spPr>
          <a:xfrm>
            <a:off x="3382963" y="6084888"/>
            <a:ext cx="1841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90" name="Rectangle 92"/>
          <p:cNvSpPr/>
          <p:nvPr/>
        </p:nvSpPr>
        <p:spPr>
          <a:xfrm>
            <a:off x="3638550" y="6084888"/>
            <a:ext cx="61913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91" name="Rectangle 93"/>
          <p:cNvSpPr/>
          <p:nvPr/>
        </p:nvSpPr>
        <p:spPr>
          <a:xfrm>
            <a:off x="8796338" y="3346450"/>
            <a:ext cx="374650" cy="4127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92" name="Rectangle 94"/>
          <p:cNvSpPr/>
          <p:nvPr/>
        </p:nvSpPr>
        <p:spPr>
          <a:xfrm>
            <a:off x="8859838" y="3363913"/>
            <a:ext cx="1841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93" name="Rectangle 95"/>
          <p:cNvSpPr/>
          <p:nvPr/>
        </p:nvSpPr>
        <p:spPr>
          <a:xfrm>
            <a:off x="8796338" y="4578350"/>
            <a:ext cx="374650" cy="40481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94" name="Rectangle 96"/>
          <p:cNvSpPr/>
          <p:nvPr/>
        </p:nvSpPr>
        <p:spPr>
          <a:xfrm>
            <a:off x="8859838" y="4578350"/>
            <a:ext cx="1841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95" name="Line 97"/>
          <p:cNvSpPr/>
          <p:nvPr/>
        </p:nvSpPr>
        <p:spPr>
          <a:xfrm>
            <a:off x="8859838" y="4602163"/>
            <a:ext cx="241300" cy="1587"/>
          </a:xfrm>
          <a:prstGeom prst="line">
            <a:avLst/>
          </a:prstGeom>
          <a:ln w="1111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96" name="Rectangle 98"/>
          <p:cNvSpPr/>
          <p:nvPr/>
        </p:nvSpPr>
        <p:spPr>
          <a:xfrm>
            <a:off x="5210175" y="5788025"/>
            <a:ext cx="374650" cy="53816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97" name="Rectangle 99"/>
          <p:cNvSpPr/>
          <p:nvPr/>
        </p:nvSpPr>
        <p:spPr>
          <a:xfrm>
            <a:off x="5210175" y="5788025"/>
            <a:ext cx="374650" cy="538163"/>
          </a:xfrm>
          <a:prstGeom prst="rect">
            <a:avLst/>
          </a:prstGeom>
          <a:noFill/>
          <a:ln w="222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98" name="Rectangle 100"/>
          <p:cNvSpPr/>
          <p:nvPr/>
        </p:nvSpPr>
        <p:spPr>
          <a:xfrm>
            <a:off x="5257800" y="5816600"/>
            <a:ext cx="2095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&amp;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299" name="Rectangle 101"/>
          <p:cNvSpPr/>
          <p:nvPr/>
        </p:nvSpPr>
        <p:spPr>
          <a:xfrm>
            <a:off x="5551488" y="5816600"/>
            <a:ext cx="65087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300" name="Freeform 102"/>
          <p:cNvSpPr/>
          <p:nvPr/>
        </p:nvSpPr>
        <p:spPr>
          <a:xfrm>
            <a:off x="4818063" y="5049838"/>
            <a:ext cx="88900" cy="84137"/>
          </a:xfrm>
          <a:custGeom>
            <a:avLst/>
            <a:gdLst>
              <a:gd name="txL" fmla="*/ 0 w 40"/>
              <a:gd name="txT" fmla="*/ 0 h 40"/>
              <a:gd name="txR" fmla="*/ 40 w 40"/>
              <a:gd name="txB" fmla="*/ 40 h 40"/>
            </a:gdLst>
            <a:ahLst/>
            <a:cxnLst>
              <a:cxn ang="0">
                <a:pos x="88911113" y="0"/>
              </a:cxn>
              <a:cxn ang="0">
                <a:pos x="54335680" y="17698218"/>
              </a:cxn>
              <a:cxn ang="0">
                <a:pos x="34577655" y="30970830"/>
              </a:cxn>
              <a:cxn ang="0">
                <a:pos x="19758025" y="48669048"/>
              </a:cxn>
              <a:cxn ang="0">
                <a:pos x="0" y="79639877"/>
              </a:cxn>
              <a:cxn ang="0">
                <a:pos x="19758025" y="128306822"/>
              </a:cxn>
              <a:cxn ang="0">
                <a:pos x="34577655" y="146005040"/>
              </a:cxn>
              <a:cxn ang="0">
                <a:pos x="54335680" y="159277651"/>
              </a:cxn>
              <a:cxn ang="0">
                <a:pos x="88911113" y="176975869"/>
              </a:cxn>
              <a:cxn ang="0">
                <a:pos x="143246793" y="159277651"/>
              </a:cxn>
              <a:cxn ang="0">
                <a:pos x="163004818" y="146005040"/>
              </a:cxn>
              <a:cxn ang="0">
                <a:pos x="177822225" y="128306822"/>
              </a:cxn>
              <a:cxn ang="0">
                <a:pos x="197580250" y="79639877"/>
              </a:cxn>
              <a:cxn ang="0">
                <a:pos x="177822225" y="48669048"/>
              </a:cxn>
              <a:cxn ang="0">
                <a:pos x="163004818" y="30970830"/>
              </a:cxn>
              <a:cxn ang="0">
                <a:pos x="143246793" y="17698218"/>
              </a:cxn>
              <a:cxn ang="0">
                <a:pos x="88911113" y="0"/>
              </a:cxn>
            </a:cxnLst>
            <a:rect l="txL" t="txT" r="txR" b="txB"/>
            <a:pathLst>
              <a:path w="40" h="40">
                <a:moveTo>
                  <a:pt x="18" y="0"/>
                </a:moveTo>
                <a:lnTo>
                  <a:pt x="11" y="4"/>
                </a:lnTo>
                <a:lnTo>
                  <a:pt x="7" y="7"/>
                </a:lnTo>
                <a:lnTo>
                  <a:pt x="4" y="11"/>
                </a:lnTo>
                <a:lnTo>
                  <a:pt x="0" y="18"/>
                </a:lnTo>
                <a:lnTo>
                  <a:pt x="4" y="29"/>
                </a:lnTo>
                <a:lnTo>
                  <a:pt x="7" y="33"/>
                </a:lnTo>
                <a:lnTo>
                  <a:pt x="11" y="36"/>
                </a:lnTo>
                <a:lnTo>
                  <a:pt x="18" y="40"/>
                </a:lnTo>
                <a:lnTo>
                  <a:pt x="29" y="36"/>
                </a:lnTo>
                <a:lnTo>
                  <a:pt x="33" y="33"/>
                </a:lnTo>
                <a:lnTo>
                  <a:pt x="36" y="29"/>
                </a:lnTo>
                <a:lnTo>
                  <a:pt x="40" y="18"/>
                </a:lnTo>
                <a:lnTo>
                  <a:pt x="36" y="11"/>
                </a:lnTo>
                <a:lnTo>
                  <a:pt x="33" y="7"/>
                </a:lnTo>
                <a:lnTo>
                  <a:pt x="29" y="4"/>
                </a:lnTo>
                <a:lnTo>
                  <a:pt x="18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1301" name="Freeform 103"/>
          <p:cNvSpPr/>
          <p:nvPr/>
        </p:nvSpPr>
        <p:spPr>
          <a:xfrm>
            <a:off x="4818063" y="5049838"/>
            <a:ext cx="88900" cy="84137"/>
          </a:xfrm>
          <a:custGeom>
            <a:avLst/>
            <a:gdLst>
              <a:gd name="txL" fmla="*/ 0 w 40"/>
              <a:gd name="txT" fmla="*/ 0 h 40"/>
              <a:gd name="txR" fmla="*/ 40 w 40"/>
              <a:gd name="txB" fmla="*/ 40 h 40"/>
            </a:gdLst>
            <a:ahLst/>
            <a:cxnLst>
              <a:cxn ang="0">
                <a:pos x="88911113" y="0"/>
              </a:cxn>
              <a:cxn ang="0">
                <a:pos x="54335680" y="17698218"/>
              </a:cxn>
              <a:cxn ang="0">
                <a:pos x="34577655" y="30970830"/>
              </a:cxn>
              <a:cxn ang="0">
                <a:pos x="19758025" y="48669048"/>
              </a:cxn>
              <a:cxn ang="0">
                <a:pos x="0" y="79639877"/>
              </a:cxn>
              <a:cxn ang="0">
                <a:pos x="19758025" y="128306822"/>
              </a:cxn>
              <a:cxn ang="0">
                <a:pos x="34577655" y="146005040"/>
              </a:cxn>
              <a:cxn ang="0">
                <a:pos x="54335680" y="159277651"/>
              </a:cxn>
              <a:cxn ang="0">
                <a:pos x="88911113" y="176975869"/>
              </a:cxn>
              <a:cxn ang="0">
                <a:pos x="143246793" y="159277651"/>
              </a:cxn>
              <a:cxn ang="0">
                <a:pos x="163004818" y="146005040"/>
              </a:cxn>
              <a:cxn ang="0">
                <a:pos x="177822225" y="128306822"/>
              </a:cxn>
              <a:cxn ang="0">
                <a:pos x="197580250" y="79639877"/>
              </a:cxn>
              <a:cxn ang="0">
                <a:pos x="177822225" y="48669048"/>
              </a:cxn>
              <a:cxn ang="0">
                <a:pos x="163004818" y="30970830"/>
              </a:cxn>
              <a:cxn ang="0">
                <a:pos x="143246793" y="17698218"/>
              </a:cxn>
              <a:cxn ang="0">
                <a:pos x="88911113" y="0"/>
              </a:cxn>
            </a:cxnLst>
            <a:rect l="txL" t="txT" r="txR" b="txB"/>
            <a:pathLst>
              <a:path w="40" h="40">
                <a:moveTo>
                  <a:pt x="18" y="0"/>
                </a:moveTo>
                <a:lnTo>
                  <a:pt x="11" y="4"/>
                </a:lnTo>
                <a:lnTo>
                  <a:pt x="7" y="7"/>
                </a:lnTo>
                <a:lnTo>
                  <a:pt x="4" y="11"/>
                </a:lnTo>
                <a:lnTo>
                  <a:pt x="0" y="18"/>
                </a:lnTo>
                <a:lnTo>
                  <a:pt x="4" y="29"/>
                </a:lnTo>
                <a:lnTo>
                  <a:pt x="7" y="33"/>
                </a:lnTo>
                <a:lnTo>
                  <a:pt x="11" y="36"/>
                </a:lnTo>
                <a:lnTo>
                  <a:pt x="18" y="40"/>
                </a:lnTo>
                <a:lnTo>
                  <a:pt x="29" y="36"/>
                </a:lnTo>
                <a:lnTo>
                  <a:pt x="33" y="33"/>
                </a:lnTo>
                <a:lnTo>
                  <a:pt x="36" y="29"/>
                </a:lnTo>
                <a:lnTo>
                  <a:pt x="40" y="18"/>
                </a:lnTo>
                <a:lnTo>
                  <a:pt x="36" y="11"/>
                </a:lnTo>
                <a:lnTo>
                  <a:pt x="33" y="7"/>
                </a:lnTo>
                <a:lnTo>
                  <a:pt x="29" y="4"/>
                </a:lnTo>
                <a:lnTo>
                  <a:pt x="18" y="0"/>
                </a:lnTo>
              </a:path>
            </a:pathLst>
          </a:custGeom>
          <a:noFill/>
          <a:ln w="11113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302" name="Line 104"/>
          <p:cNvSpPr/>
          <p:nvPr/>
        </p:nvSpPr>
        <p:spPr>
          <a:xfrm>
            <a:off x="6764338" y="4532313"/>
            <a:ext cx="238125" cy="3175"/>
          </a:xfrm>
          <a:prstGeom prst="line">
            <a:avLst/>
          </a:prstGeom>
          <a:ln w="1111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1881" name="Rectangle 105"/>
          <p:cNvSpPr/>
          <p:nvPr/>
        </p:nvSpPr>
        <p:spPr>
          <a:xfrm>
            <a:off x="215900" y="1808163"/>
            <a:ext cx="10683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CP = 0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1882" name="Rectangle 106"/>
          <p:cNvSpPr/>
          <p:nvPr/>
        </p:nvSpPr>
        <p:spPr>
          <a:xfrm flipV="1">
            <a:off x="5221288" y="3111500"/>
            <a:ext cx="360362" cy="539750"/>
          </a:xfrm>
          <a:prstGeom prst="rect">
            <a:avLst/>
          </a:prstGeom>
          <a:solidFill>
            <a:srgbClr val="D60093">
              <a:alpha val="50980"/>
            </a:srgbClr>
          </a:solidFill>
          <a:ln w="19050" cap="flat" cmpd="sng">
            <a:solidFill>
              <a:srgbClr val="D60093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1883" name="Rectangle 107"/>
          <p:cNvSpPr/>
          <p:nvPr/>
        </p:nvSpPr>
        <p:spPr>
          <a:xfrm flipV="1">
            <a:off x="5219700" y="4624388"/>
            <a:ext cx="360363" cy="541337"/>
          </a:xfrm>
          <a:prstGeom prst="rect">
            <a:avLst/>
          </a:prstGeom>
          <a:solidFill>
            <a:srgbClr val="D60093">
              <a:alpha val="50980"/>
            </a:srgbClr>
          </a:solidFill>
          <a:ln w="19050" cap="flat" cmpd="sng">
            <a:solidFill>
              <a:srgbClr val="D60093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08"/>
          <p:cNvGrpSpPr/>
          <p:nvPr/>
        </p:nvGrpSpPr>
        <p:grpSpPr>
          <a:xfrm>
            <a:off x="4862513" y="2427288"/>
            <a:ext cx="1152525" cy="973137"/>
            <a:chOff x="22" y="1525"/>
            <a:chExt cx="726" cy="583"/>
          </a:xfrm>
        </p:grpSpPr>
        <p:sp>
          <p:nvSpPr>
            <p:cNvPr id="51331" name="Line 109"/>
            <p:cNvSpPr/>
            <p:nvPr/>
          </p:nvSpPr>
          <p:spPr>
            <a:xfrm flipH="1">
              <a:off x="45" y="1525"/>
              <a:ext cx="226" cy="0"/>
            </a:xfrm>
            <a:prstGeom prst="line">
              <a:avLst/>
            </a:prstGeom>
            <a:ln w="3810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2" name="Line 110"/>
            <p:cNvSpPr/>
            <p:nvPr/>
          </p:nvSpPr>
          <p:spPr>
            <a:xfrm rot="-5400000" flipH="1">
              <a:off x="626" y="1986"/>
              <a:ext cx="243" cy="0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3" name="Line 111"/>
            <p:cNvSpPr/>
            <p:nvPr/>
          </p:nvSpPr>
          <p:spPr>
            <a:xfrm flipH="1" flipV="1">
              <a:off x="22" y="1661"/>
              <a:ext cx="726" cy="204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4" name="Line 112"/>
            <p:cNvSpPr/>
            <p:nvPr/>
          </p:nvSpPr>
          <p:spPr>
            <a:xfrm rot="-5400000" flipH="1">
              <a:off x="626" y="1986"/>
              <a:ext cx="243" cy="0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5" name="Line 113"/>
            <p:cNvSpPr/>
            <p:nvPr/>
          </p:nvSpPr>
          <p:spPr>
            <a:xfrm flipV="1">
              <a:off x="45" y="1525"/>
              <a:ext cx="0" cy="136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114"/>
          <p:cNvGrpSpPr/>
          <p:nvPr/>
        </p:nvGrpSpPr>
        <p:grpSpPr>
          <a:xfrm flipV="1">
            <a:off x="4859338" y="4905375"/>
            <a:ext cx="1152525" cy="973138"/>
            <a:chOff x="22" y="1525"/>
            <a:chExt cx="726" cy="583"/>
          </a:xfrm>
        </p:grpSpPr>
        <p:sp>
          <p:nvSpPr>
            <p:cNvPr id="51326" name="Line 115"/>
            <p:cNvSpPr/>
            <p:nvPr/>
          </p:nvSpPr>
          <p:spPr>
            <a:xfrm flipH="1">
              <a:off x="45" y="1525"/>
              <a:ext cx="226" cy="0"/>
            </a:xfrm>
            <a:prstGeom prst="line">
              <a:avLst/>
            </a:prstGeom>
            <a:ln w="3810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27" name="Line 116"/>
            <p:cNvSpPr/>
            <p:nvPr/>
          </p:nvSpPr>
          <p:spPr>
            <a:xfrm rot="-5400000" flipH="1">
              <a:off x="626" y="1986"/>
              <a:ext cx="243" cy="0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28" name="Line 117"/>
            <p:cNvSpPr/>
            <p:nvPr/>
          </p:nvSpPr>
          <p:spPr>
            <a:xfrm flipH="1" flipV="1">
              <a:off x="22" y="1661"/>
              <a:ext cx="726" cy="204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29" name="Line 118"/>
            <p:cNvSpPr/>
            <p:nvPr/>
          </p:nvSpPr>
          <p:spPr>
            <a:xfrm rot="-5400000" flipH="1">
              <a:off x="626" y="1986"/>
              <a:ext cx="243" cy="0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0" name="Line 119"/>
            <p:cNvSpPr/>
            <p:nvPr/>
          </p:nvSpPr>
          <p:spPr>
            <a:xfrm flipV="1">
              <a:off x="45" y="1525"/>
              <a:ext cx="0" cy="136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1896" name="Rectangle 120"/>
          <p:cNvSpPr/>
          <p:nvPr/>
        </p:nvSpPr>
        <p:spPr>
          <a:xfrm flipV="1">
            <a:off x="5221288" y="5805488"/>
            <a:ext cx="358775" cy="541337"/>
          </a:xfrm>
          <a:prstGeom prst="rect">
            <a:avLst/>
          </a:prstGeom>
          <a:solidFill>
            <a:srgbClr val="00A87C">
              <a:alpha val="45097"/>
            </a:srgbClr>
          </a:solidFill>
          <a:ln w="19050" cap="flat" cmpd="sng">
            <a:solidFill>
              <a:srgbClr val="00A87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1897" name="Rectangle 121"/>
          <p:cNvSpPr/>
          <p:nvPr/>
        </p:nvSpPr>
        <p:spPr>
          <a:xfrm flipV="1">
            <a:off x="5219700" y="1989138"/>
            <a:ext cx="360363" cy="541337"/>
          </a:xfrm>
          <a:prstGeom prst="rect">
            <a:avLst/>
          </a:prstGeom>
          <a:solidFill>
            <a:srgbClr val="00A87C">
              <a:alpha val="50980"/>
            </a:srgbClr>
          </a:solidFill>
          <a:ln w="19050" cap="flat" cmpd="sng">
            <a:solidFill>
              <a:srgbClr val="00A87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10" name="Rectangle 122"/>
          <p:cNvSpPr/>
          <p:nvPr/>
        </p:nvSpPr>
        <p:spPr>
          <a:xfrm>
            <a:off x="2484438" y="1555750"/>
            <a:ext cx="2328862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32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31899" name="Text Box 123"/>
          <p:cNvSpPr txBox="1"/>
          <p:nvPr/>
        </p:nvSpPr>
        <p:spPr>
          <a:xfrm>
            <a:off x="-36512" y="2528888"/>
            <a:ext cx="1692275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4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30000" dirty="0">
                <a:solidFill>
                  <a:srgbClr val="000099"/>
                </a:solidFill>
                <a:latin typeface="Times New Roman" panose="02020603050405020304" pitchFamily="18" charset="0"/>
              </a:rPr>
              <a:t>n+1</a:t>
            </a:r>
            <a:r>
              <a:rPr lang="en-US" altLang="zh-CN" sz="24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=Q</a:t>
            </a:r>
            <a:r>
              <a:rPr lang="en-US" altLang="zh-CN" sz="2400" b="1" baseline="30000" dirty="0">
                <a:solidFill>
                  <a:srgbClr val="000099"/>
                </a:solidFill>
                <a:latin typeface="Times New Roman" panose="02020603050405020304" pitchFamily="18" charset="0"/>
              </a:rPr>
              <a:t>n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1900" name="Rectangle 124"/>
          <p:cNvSpPr/>
          <p:nvPr/>
        </p:nvSpPr>
        <p:spPr>
          <a:xfrm>
            <a:off x="276225" y="4760913"/>
            <a:ext cx="2927350" cy="11874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D </a:t>
            </a: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信号进入触发器</a:t>
            </a:r>
            <a:r>
              <a:rPr lang="en-US" altLang="zh-CN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endParaRPr lang="en-US" altLang="zh-CN" sz="2400" b="1" dirty="0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为状态刷新作好准备</a:t>
            </a:r>
            <a:endParaRPr lang="zh-CN" altLang="en-US" sz="2400" b="1" dirty="0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" name="Group 125"/>
          <p:cNvGrpSpPr/>
          <p:nvPr/>
        </p:nvGrpSpPr>
        <p:grpSpPr>
          <a:xfrm>
            <a:off x="250825" y="4124325"/>
            <a:ext cx="2246313" cy="457200"/>
            <a:chOff x="4218" y="1366"/>
            <a:chExt cx="1415" cy="288"/>
          </a:xfrm>
        </p:grpSpPr>
        <p:sp>
          <p:nvSpPr>
            <p:cNvPr id="51322" name="Rectangle 126"/>
            <p:cNvSpPr/>
            <p:nvPr/>
          </p:nvSpPr>
          <p:spPr>
            <a:xfrm>
              <a:off x="4898" y="1366"/>
              <a:ext cx="7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i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2" charset="-122"/>
                </a:rPr>
                <a:t>Q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2" charset="-122"/>
                </a:rPr>
                <a:t>1 </a:t>
              </a:r>
              <a:r>
                <a:rPr lang="en-US" altLang="zh-CN" sz="2400" b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2" charset="-122"/>
                </a:rPr>
                <a:t>= </a:t>
              </a:r>
              <a:r>
                <a:rPr lang="en-US" altLang="zh-CN" sz="2400" b="1" i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2" charset="-122"/>
                </a:rPr>
                <a:t>D</a:t>
              </a:r>
              <a:endParaRPr lang="en-US" altLang="zh-CN" sz="2400" b="1" i="1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grpSp>
          <p:nvGrpSpPr>
            <p:cNvPr id="51323" name="Group 127"/>
            <p:cNvGrpSpPr/>
            <p:nvPr/>
          </p:nvGrpSpPr>
          <p:grpSpPr>
            <a:xfrm>
              <a:off x="4218" y="1366"/>
              <a:ext cx="735" cy="288"/>
              <a:chOff x="4422" y="2341"/>
              <a:chExt cx="735" cy="288"/>
            </a:xfrm>
          </p:grpSpPr>
          <p:sp>
            <p:nvSpPr>
              <p:cNvPr id="51324" name="Rectangle 128"/>
              <p:cNvSpPr/>
              <p:nvPr/>
            </p:nvSpPr>
            <p:spPr>
              <a:xfrm>
                <a:off x="4422" y="2341"/>
                <a:ext cx="73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400" b="1" i="1" dirty="0">
                    <a:solidFill>
                      <a:srgbClr val="000099"/>
                    </a:solidFill>
                    <a:latin typeface="Arial" panose="020B0604020202020204" pitchFamily="34" charset="0"/>
                    <a:ea typeface="黑体" panose="02010609060101010101" pitchFamily="2" charset="-122"/>
                  </a:rPr>
                  <a:t>Q</a:t>
                </a:r>
                <a:r>
                  <a:rPr lang="en-US" altLang="zh-CN" sz="2400" b="1" baseline="-25000" dirty="0">
                    <a:solidFill>
                      <a:srgbClr val="000099"/>
                    </a:solidFill>
                    <a:latin typeface="Arial" panose="020B0604020202020204" pitchFamily="34" charset="0"/>
                    <a:ea typeface="黑体" panose="02010609060101010101" pitchFamily="2" charset="-122"/>
                  </a:rPr>
                  <a:t>4</a:t>
                </a:r>
                <a:r>
                  <a:rPr lang="en-US" altLang="zh-CN" sz="2400" b="1" dirty="0">
                    <a:solidFill>
                      <a:srgbClr val="000099"/>
                    </a:solidFill>
                    <a:latin typeface="Arial" panose="020B0604020202020204" pitchFamily="34" charset="0"/>
                    <a:ea typeface="黑体" panose="02010609060101010101" pitchFamily="2" charset="-122"/>
                  </a:rPr>
                  <a:t>= </a:t>
                </a:r>
                <a:r>
                  <a:rPr lang="en-US" altLang="zh-CN" sz="2400" b="1" i="1" dirty="0">
                    <a:solidFill>
                      <a:srgbClr val="000099"/>
                    </a:solidFill>
                    <a:latin typeface="Arial" panose="020B0604020202020204" pitchFamily="34" charset="0"/>
                    <a:ea typeface="黑体" panose="02010609060101010101" pitchFamily="2" charset="-122"/>
                  </a:rPr>
                  <a:t>D</a:t>
                </a:r>
                <a:endParaRPr lang="en-US" altLang="zh-CN" sz="2400" b="1" i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51325" name="Line 129"/>
              <p:cNvSpPr/>
              <p:nvPr/>
            </p:nvSpPr>
            <p:spPr>
              <a:xfrm>
                <a:off x="4853" y="2364"/>
                <a:ext cx="1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31906" name="Rectangle 130"/>
          <p:cNvSpPr/>
          <p:nvPr/>
        </p:nvSpPr>
        <p:spPr>
          <a:xfrm>
            <a:off x="539750" y="1052513"/>
            <a:ext cx="55800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、工作原理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1907" name="Rectangle 131"/>
          <p:cNvSpPr/>
          <p:nvPr/>
        </p:nvSpPr>
        <p:spPr>
          <a:xfrm>
            <a:off x="250825" y="3176588"/>
            <a:ext cx="2808288" cy="63976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触发器</a:t>
            </a:r>
            <a:r>
              <a:rPr lang="en-US" altLang="zh-CN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状态不变</a:t>
            </a:r>
            <a:endParaRPr lang="zh-CN" altLang="en-US" sz="2400" b="1" dirty="0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316" name="Rectangle 132"/>
          <p:cNvSpPr/>
          <p:nvPr/>
        </p:nvSpPr>
        <p:spPr>
          <a:xfrm>
            <a:off x="5219700" y="3643313"/>
            <a:ext cx="360363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317" name="Rectangle 133"/>
          <p:cNvSpPr/>
          <p:nvPr/>
        </p:nvSpPr>
        <p:spPr>
          <a:xfrm>
            <a:off x="5219700" y="1663700"/>
            <a:ext cx="360363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318" name="Rectangle 134"/>
          <p:cNvSpPr/>
          <p:nvPr/>
        </p:nvSpPr>
        <p:spPr>
          <a:xfrm>
            <a:off x="5219700" y="6272213"/>
            <a:ext cx="360363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319" name="Rectangle 135"/>
          <p:cNvSpPr/>
          <p:nvPr/>
        </p:nvSpPr>
        <p:spPr>
          <a:xfrm>
            <a:off x="7451725" y="2887663"/>
            <a:ext cx="360363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320" name="Rectangle 136"/>
          <p:cNvSpPr/>
          <p:nvPr/>
        </p:nvSpPr>
        <p:spPr>
          <a:xfrm>
            <a:off x="7451725" y="4184650"/>
            <a:ext cx="360363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321" name="Line 138"/>
          <p:cNvSpPr/>
          <p:nvPr/>
        </p:nvSpPr>
        <p:spPr>
          <a:xfrm>
            <a:off x="6732588" y="3033713"/>
            <a:ext cx="2524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1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3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3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3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33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33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3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3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9" grpId="0" animBg="1"/>
      <p:bldP spid="331780" grpId="0" animBg="1"/>
      <p:bldP spid="331781" grpId="0" animBg="1"/>
      <p:bldP spid="331782" grpId="0" animBg="1"/>
      <p:bldP spid="331881" grpId="0"/>
      <p:bldP spid="331882" grpId="0" animBg="1"/>
      <p:bldP spid="331883" grpId="0" animBg="1"/>
      <p:bldP spid="331896" grpId="0" animBg="1"/>
      <p:bldP spid="331897" grpId="0" animBg="1"/>
      <p:bldP spid="331899" grpId="0" animBg="1"/>
      <p:bldP spid="331900" grpId="0" animBg="1"/>
      <p:bldP spid="331906" grpId="0"/>
      <p:bldP spid="33190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/>
          <p:nvPr/>
        </p:nvSpPr>
        <p:spPr>
          <a:xfrm>
            <a:off x="2627313" y="1671638"/>
            <a:ext cx="6516687" cy="49688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2803" name="Oval 3"/>
          <p:cNvSpPr/>
          <p:nvPr/>
        </p:nvSpPr>
        <p:spPr>
          <a:xfrm>
            <a:off x="8682038" y="3421063"/>
            <a:ext cx="387350" cy="396875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2804" name="Oval 4"/>
          <p:cNvSpPr/>
          <p:nvPr/>
        </p:nvSpPr>
        <p:spPr>
          <a:xfrm>
            <a:off x="8637588" y="4651375"/>
            <a:ext cx="404812" cy="388938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2805" name="Oval 5"/>
          <p:cNvSpPr/>
          <p:nvPr/>
        </p:nvSpPr>
        <p:spPr>
          <a:xfrm>
            <a:off x="5835650" y="4400550"/>
            <a:ext cx="468313" cy="468313"/>
          </a:xfrm>
          <a:prstGeom prst="ellipse">
            <a:avLst/>
          </a:prstGeom>
          <a:solidFill>
            <a:srgbClr val="0033CC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5864225" y="2889250"/>
            <a:ext cx="508000" cy="488950"/>
            <a:chOff x="2172" y="3129"/>
            <a:chExt cx="161" cy="204"/>
          </a:xfrm>
        </p:grpSpPr>
        <p:sp>
          <p:nvSpPr>
            <p:cNvPr id="52369" name="Oval 7"/>
            <p:cNvSpPr/>
            <p:nvPr/>
          </p:nvSpPr>
          <p:spPr>
            <a:xfrm>
              <a:off x="2172" y="3129"/>
              <a:ext cx="161" cy="204"/>
            </a:xfrm>
            <a:prstGeom prst="ellipse">
              <a:avLst/>
            </a:prstGeom>
            <a:solidFill>
              <a:srgbClr val="0033CC"/>
            </a:solidFill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D</a:t>
              </a:r>
              <a:endPara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2370" name="Line 8"/>
            <p:cNvSpPr/>
            <p:nvPr/>
          </p:nvSpPr>
          <p:spPr>
            <a:xfrm>
              <a:off x="2200" y="3152"/>
              <a:ext cx="85" cy="0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2231" name="Group 9"/>
          <p:cNvGrpSpPr/>
          <p:nvPr/>
        </p:nvGrpSpPr>
        <p:grpSpPr>
          <a:xfrm>
            <a:off x="2663825" y="1557338"/>
            <a:ext cx="6018213" cy="5465762"/>
            <a:chOff x="90" y="1570"/>
            <a:chExt cx="2725" cy="2600"/>
          </a:xfrm>
        </p:grpSpPr>
        <p:sp>
          <p:nvSpPr>
            <p:cNvPr id="52258" name="AutoShape 10"/>
            <p:cNvSpPr>
              <a:spLocks noChangeAspect="1" noTextEdit="1"/>
            </p:cNvSpPr>
            <p:nvPr/>
          </p:nvSpPr>
          <p:spPr>
            <a:xfrm>
              <a:off x="158" y="1570"/>
              <a:ext cx="2653" cy="24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59" name="Rectangle 11"/>
            <p:cNvSpPr/>
            <p:nvPr/>
          </p:nvSpPr>
          <p:spPr>
            <a:xfrm>
              <a:off x="158" y="159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60" name="Rectangle 12"/>
            <p:cNvSpPr/>
            <p:nvPr/>
          </p:nvSpPr>
          <p:spPr>
            <a:xfrm>
              <a:off x="1050" y="1570"/>
              <a:ext cx="8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61" name="Rectangle 13"/>
            <p:cNvSpPr/>
            <p:nvPr/>
          </p:nvSpPr>
          <p:spPr>
            <a:xfrm>
              <a:off x="1086" y="1827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62" name="Rectangle 14"/>
            <p:cNvSpPr/>
            <p:nvPr/>
          </p:nvSpPr>
          <p:spPr>
            <a:xfrm>
              <a:off x="1140" y="1751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63" name="Rectangle 15"/>
            <p:cNvSpPr/>
            <p:nvPr/>
          </p:nvSpPr>
          <p:spPr>
            <a:xfrm>
              <a:off x="1017" y="1754"/>
              <a:ext cx="170" cy="25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64" name="Rectangle 16"/>
            <p:cNvSpPr/>
            <p:nvPr/>
          </p:nvSpPr>
          <p:spPr>
            <a:xfrm>
              <a:off x="1017" y="1754"/>
              <a:ext cx="170" cy="257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65" name="Rectangle 17"/>
            <p:cNvSpPr/>
            <p:nvPr/>
          </p:nvSpPr>
          <p:spPr>
            <a:xfrm>
              <a:off x="1039" y="1769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66" name="Rectangle 18"/>
            <p:cNvSpPr/>
            <p:nvPr/>
          </p:nvSpPr>
          <p:spPr>
            <a:xfrm>
              <a:off x="1172" y="176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67" name="Rectangle 19"/>
            <p:cNvSpPr/>
            <p:nvPr/>
          </p:nvSpPr>
          <p:spPr>
            <a:xfrm>
              <a:off x="90" y="2756"/>
              <a:ext cx="77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68" name="Rectangle 20"/>
            <p:cNvSpPr/>
            <p:nvPr/>
          </p:nvSpPr>
          <p:spPr>
            <a:xfrm>
              <a:off x="219" y="2750"/>
              <a:ext cx="70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69" name="Rectangle 21"/>
            <p:cNvSpPr/>
            <p:nvPr/>
          </p:nvSpPr>
          <p:spPr>
            <a:xfrm>
              <a:off x="299" y="293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70" name="Freeform 22"/>
            <p:cNvSpPr/>
            <p:nvPr/>
          </p:nvSpPr>
          <p:spPr>
            <a:xfrm>
              <a:off x="559" y="2795"/>
              <a:ext cx="36" cy="40"/>
            </a:xfrm>
            <a:custGeom>
              <a:avLst/>
              <a:gdLst>
                <a:gd name="txL" fmla="*/ 0 w 36"/>
                <a:gd name="txT" fmla="*/ 0 h 40"/>
                <a:gd name="txR" fmla="*/ 36 w 36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4"/>
                </a:cxn>
                <a:cxn ang="0">
                  <a:pos x="3" y="8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9"/>
                </a:cxn>
                <a:cxn ang="0">
                  <a:pos x="3" y="33"/>
                </a:cxn>
                <a:cxn ang="0">
                  <a:pos x="10" y="37"/>
                </a:cxn>
                <a:cxn ang="0">
                  <a:pos x="18" y="40"/>
                </a:cxn>
                <a:cxn ang="0">
                  <a:pos x="25" y="37"/>
                </a:cxn>
                <a:cxn ang="0">
                  <a:pos x="32" y="33"/>
                </a:cxn>
                <a:cxn ang="0">
                  <a:pos x="36" y="29"/>
                </a:cxn>
                <a:cxn ang="0">
                  <a:pos x="36" y="18"/>
                </a:cxn>
                <a:cxn ang="0">
                  <a:pos x="36" y="11"/>
                </a:cxn>
                <a:cxn ang="0">
                  <a:pos x="32" y="8"/>
                </a:cxn>
                <a:cxn ang="0">
                  <a:pos x="25" y="4"/>
                </a:cxn>
                <a:cxn ang="0">
                  <a:pos x="18" y="0"/>
                </a:cxn>
              </a:cxnLst>
              <a:rect l="txL" t="txT" r="txR" b="txB"/>
              <a:pathLst>
                <a:path w="36" h="40">
                  <a:moveTo>
                    <a:pt x="18" y="0"/>
                  </a:moveTo>
                  <a:lnTo>
                    <a:pt x="10" y="4"/>
                  </a:lnTo>
                  <a:lnTo>
                    <a:pt x="3" y="8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3" y="33"/>
                  </a:lnTo>
                  <a:lnTo>
                    <a:pt x="10" y="37"/>
                  </a:lnTo>
                  <a:lnTo>
                    <a:pt x="18" y="40"/>
                  </a:lnTo>
                  <a:lnTo>
                    <a:pt x="25" y="37"/>
                  </a:lnTo>
                  <a:lnTo>
                    <a:pt x="32" y="33"/>
                  </a:lnTo>
                  <a:lnTo>
                    <a:pt x="36" y="29"/>
                  </a:lnTo>
                  <a:lnTo>
                    <a:pt x="36" y="18"/>
                  </a:lnTo>
                  <a:lnTo>
                    <a:pt x="36" y="11"/>
                  </a:lnTo>
                  <a:lnTo>
                    <a:pt x="32" y="8"/>
                  </a:lnTo>
                  <a:lnTo>
                    <a:pt x="25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71" name="Freeform 23"/>
            <p:cNvSpPr/>
            <p:nvPr/>
          </p:nvSpPr>
          <p:spPr>
            <a:xfrm>
              <a:off x="559" y="2795"/>
              <a:ext cx="36" cy="40"/>
            </a:xfrm>
            <a:custGeom>
              <a:avLst/>
              <a:gdLst>
                <a:gd name="txL" fmla="*/ 0 w 36"/>
                <a:gd name="txT" fmla="*/ 0 h 40"/>
                <a:gd name="txR" fmla="*/ 36 w 36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4"/>
                </a:cxn>
                <a:cxn ang="0">
                  <a:pos x="3" y="8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9"/>
                </a:cxn>
                <a:cxn ang="0">
                  <a:pos x="3" y="33"/>
                </a:cxn>
                <a:cxn ang="0">
                  <a:pos x="10" y="37"/>
                </a:cxn>
                <a:cxn ang="0">
                  <a:pos x="18" y="40"/>
                </a:cxn>
                <a:cxn ang="0">
                  <a:pos x="25" y="37"/>
                </a:cxn>
                <a:cxn ang="0">
                  <a:pos x="32" y="33"/>
                </a:cxn>
                <a:cxn ang="0">
                  <a:pos x="36" y="29"/>
                </a:cxn>
                <a:cxn ang="0">
                  <a:pos x="36" y="18"/>
                </a:cxn>
                <a:cxn ang="0">
                  <a:pos x="36" y="11"/>
                </a:cxn>
                <a:cxn ang="0">
                  <a:pos x="32" y="8"/>
                </a:cxn>
                <a:cxn ang="0">
                  <a:pos x="25" y="4"/>
                </a:cxn>
                <a:cxn ang="0">
                  <a:pos x="18" y="0"/>
                </a:cxn>
              </a:cxnLst>
              <a:rect l="txL" t="txT" r="txR" b="txB"/>
              <a:pathLst>
                <a:path w="36" h="40">
                  <a:moveTo>
                    <a:pt x="18" y="0"/>
                  </a:moveTo>
                  <a:lnTo>
                    <a:pt x="10" y="4"/>
                  </a:lnTo>
                  <a:lnTo>
                    <a:pt x="3" y="8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3" y="33"/>
                  </a:lnTo>
                  <a:lnTo>
                    <a:pt x="10" y="37"/>
                  </a:lnTo>
                  <a:lnTo>
                    <a:pt x="18" y="40"/>
                  </a:lnTo>
                  <a:lnTo>
                    <a:pt x="25" y="37"/>
                  </a:lnTo>
                  <a:lnTo>
                    <a:pt x="32" y="33"/>
                  </a:lnTo>
                  <a:lnTo>
                    <a:pt x="36" y="29"/>
                  </a:lnTo>
                  <a:lnTo>
                    <a:pt x="36" y="18"/>
                  </a:lnTo>
                  <a:lnTo>
                    <a:pt x="36" y="11"/>
                  </a:lnTo>
                  <a:lnTo>
                    <a:pt x="32" y="8"/>
                  </a:lnTo>
                  <a:lnTo>
                    <a:pt x="25" y="4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72" name="Rectangle 24"/>
            <p:cNvSpPr/>
            <p:nvPr/>
          </p:nvSpPr>
          <p:spPr>
            <a:xfrm>
              <a:off x="1411" y="1823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73" name="Rectangle 25"/>
            <p:cNvSpPr/>
            <p:nvPr/>
          </p:nvSpPr>
          <p:spPr>
            <a:xfrm>
              <a:off x="1526" y="1899"/>
              <a:ext cx="38" cy="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74" name="Rectangle 26"/>
            <p:cNvSpPr/>
            <p:nvPr/>
          </p:nvSpPr>
          <p:spPr>
            <a:xfrm>
              <a:off x="1580" y="1823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75" name="Rectangle 27"/>
            <p:cNvSpPr/>
            <p:nvPr/>
          </p:nvSpPr>
          <p:spPr>
            <a:xfrm>
              <a:off x="1017" y="2286"/>
              <a:ext cx="170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76" name="Rectangle 28"/>
            <p:cNvSpPr/>
            <p:nvPr/>
          </p:nvSpPr>
          <p:spPr>
            <a:xfrm>
              <a:off x="1017" y="2286"/>
              <a:ext cx="170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77" name="Rectangle 29"/>
            <p:cNvSpPr/>
            <p:nvPr/>
          </p:nvSpPr>
          <p:spPr>
            <a:xfrm>
              <a:off x="1039" y="2300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78" name="Rectangle 30"/>
            <p:cNvSpPr/>
            <p:nvPr/>
          </p:nvSpPr>
          <p:spPr>
            <a:xfrm>
              <a:off x="1172" y="2300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79" name="Freeform 31"/>
            <p:cNvSpPr/>
            <p:nvPr/>
          </p:nvSpPr>
          <p:spPr>
            <a:xfrm>
              <a:off x="862" y="1953"/>
              <a:ext cx="520" cy="1103"/>
            </a:xfrm>
            <a:custGeom>
              <a:avLst/>
              <a:gdLst>
                <a:gd name="txL" fmla="*/ 0 w 520"/>
                <a:gd name="txT" fmla="*/ 0 h 1103"/>
                <a:gd name="txR" fmla="*/ 520 w 520"/>
                <a:gd name="txB" fmla="*/ 1103 h 1103"/>
              </a:gdLst>
              <a:ahLst/>
              <a:cxnLst>
                <a:cxn ang="0">
                  <a:pos x="159" y="0"/>
                </a:cxn>
                <a:cxn ang="0">
                  <a:pos x="0" y="0"/>
                </a:cxn>
                <a:cxn ang="0">
                  <a:pos x="0" y="116"/>
                </a:cxn>
                <a:cxn ang="0">
                  <a:pos x="520" y="279"/>
                </a:cxn>
                <a:cxn ang="0">
                  <a:pos x="520" y="676"/>
                </a:cxn>
                <a:cxn ang="0">
                  <a:pos x="0" y="907"/>
                </a:cxn>
                <a:cxn ang="0">
                  <a:pos x="0" y="1103"/>
                </a:cxn>
                <a:cxn ang="0">
                  <a:pos x="144" y="1103"/>
                </a:cxn>
              </a:cxnLst>
              <a:rect l="txL" t="txT" r="txR" b="txB"/>
              <a:pathLst>
                <a:path w="520" h="1103">
                  <a:moveTo>
                    <a:pt x="159" y="0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520" y="279"/>
                  </a:lnTo>
                  <a:lnTo>
                    <a:pt x="520" y="676"/>
                  </a:lnTo>
                  <a:lnTo>
                    <a:pt x="0" y="907"/>
                  </a:lnTo>
                  <a:lnTo>
                    <a:pt x="0" y="1103"/>
                  </a:lnTo>
                  <a:lnTo>
                    <a:pt x="144" y="1103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80" name="Freeform 32"/>
            <p:cNvSpPr/>
            <p:nvPr/>
          </p:nvSpPr>
          <p:spPr>
            <a:xfrm>
              <a:off x="862" y="1884"/>
              <a:ext cx="516" cy="460"/>
            </a:xfrm>
            <a:custGeom>
              <a:avLst/>
              <a:gdLst>
                <a:gd name="txL" fmla="*/ 0 w 516"/>
                <a:gd name="txT" fmla="*/ 0 h 460"/>
                <a:gd name="txR" fmla="*/ 516 w 516"/>
                <a:gd name="txB" fmla="*/ 460 h 460"/>
              </a:gdLst>
              <a:ahLst/>
              <a:cxnLst>
                <a:cxn ang="0">
                  <a:pos x="357" y="0"/>
                </a:cxn>
                <a:cxn ang="0">
                  <a:pos x="516" y="0"/>
                </a:cxn>
                <a:cxn ang="0">
                  <a:pos x="516" y="181"/>
                </a:cxn>
                <a:cxn ang="0">
                  <a:pos x="0" y="348"/>
                </a:cxn>
                <a:cxn ang="0">
                  <a:pos x="0" y="460"/>
                </a:cxn>
                <a:cxn ang="0">
                  <a:pos x="159" y="460"/>
                </a:cxn>
              </a:cxnLst>
              <a:rect l="txL" t="txT" r="txR" b="txB"/>
              <a:pathLst>
                <a:path w="516" h="460">
                  <a:moveTo>
                    <a:pt x="357" y="0"/>
                  </a:moveTo>
                  <a:lnTo>
                    <a:pt x="516" y="0"/>
                  </a:lnTo>
                  <a:lnTo>
                    <a:pt x="516" y="181"/>
                  </a:lnTo>
                  <a:lnTo>
                    <a:pt x="0" y="348"/>
                  </a:lnTo>
                  <a:lnTo>
                    <a:pt x="0" y="460"/>
                  </a:lnTo>
                  <a:lnTo>
                    <a:pt x="159" y="46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81" name="Freeform 33"/>
            <p:cNvSpPr/>
            <p:nvPr/>
          </p:nvSpPr>
          <p:spPr>
            <a:xfrm>
              <a:off x="1187" y="1859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4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4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4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4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82" name="Freeform 34"/>
            <p:cNvSpPr/>
            <p:nvPr/>
          </p:nvSpPr>
          <p:spPr>
            <a:xfrm>
              <a:off x="1187" y="1859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4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4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4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4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83" name="Rectangle 35"/>
            <p:cNvSpPr/>
            <p:nvPr/>
          </p:nvSpPr>
          <p:spPr>
            <a:xfrm>
              <a:off x="1050" y="2546"/>
              <a:ext cx="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84" name="Rectangle 36"/>
            <p:cNvSpPr/>
            <p:nvPr/>
          </p:nvSpPr>
          <p:spPr>
            <a:xfrm>
              <a:off x="1086" y="2803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85" name="Rectangle 37"/>
            <p:cNvSpPr/>
            <p:nvPr/>
          </p:nvSpPr>
          <p:spPr>
            <a:xfrm>
              <a:off x="1140" y="272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86" name="Rectangle 38"/>
            <p:cNvSpPr/>
            <p:nvPr/>
          </p:nvSpPr>
          <p:spPr>
            <a:xfrm>
              <a:off x="1050" y="2806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87" name="Rectangle 39"/>
            <p:cNvSpPr/>
            <p:nvPr/>
          </p:nvSpPr>
          <p:spPr>
            <a:xfrm>
              <a:off x="1086" y="3063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88" name="Rectangle 40"/>
            <p:cNvSpPr/>
            <p:nvPr/>
          </p:nvSpPr>
          <p:spPr>
            <a:xfrm>
              <a:off x="1140" y="298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89" name="Freeform 41"/>
            <p:cNvSpPr/>
            <p:nvPr/>
          </p:nvSpPr>
          <p:spPr>
            <a:xfrm>
              <a:off x="725" y="1801"/>
              <a:ext cx="296" cy="1432"/>
            </a:xfrm>
            <a:custGeom>
              <a:avLst/>
              <a:gdLst>
                <a:gd name="txL" fmla="*/ 0 w 296"/>
                <a:gd name="txT" fmla="*/ 0 h 1432"/>
                <a:gd name="txR" fmla="*/ 296 w 296"/>
                <a:gd name="txB" fmla="*/ 1432 h 1432"/>
              </a:gdLst>
              <a:ahLst/>
              <a:cxnLst>
                <a:cxn ang="0">
                  <a:pos x="296" y="0"/>
                </a:cxn>
                <a:cxn ang="0">
                  <a:pos x="0" y="0"/>
                </a:cxn>
                <a:cxn ang="0">
                  <a:pos x="0" y="1432"/>
                </a:cxn>
                <a:cxn ang="0">
                  <a:pos x="296" y="1432"/>
                </a:cxn>
              </a:cxnLst>
              <a:rect l="txL" t="txT" r="txR" b="txB"/>
              <a:pathLst>
                <a:path w="296" h="1432">
                  <a:moveTo>
                    <a:pt x="296" y="0"/>
                  </a:moveTo>
                  <a:lnTo>
                    <a:pt x="0" y="0"/>
                  </a:lnTo>
                  <a:lnTo>
                    <a:pt x="0" y="1432"/>
                  </a:lnTo>
                  <a:lnTo>
                    <a:pt x="296" y="1432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90" name="Freeform 42"/>
            <p:cNvSpPr/>
            <p:nvPr/>
          </p:nvSpPr>
          <p:spPr>
            <a:xfrm>
              <a:off x="580" y="2492"/>
              <a:ext cx="1469" cy="654"/>
            </a:xfrm>
            <a:custGeom>
              <a:avLst/>
              <a:gdLst>
                <a:gd name="txL" fmla="*/ 0 w 1469"/>
                <a:gd name="txT" fmla="*/ 0 h 654"/>
                <a:gd name="txR" fmla="*/ 1469 w 1469"/>
                <a:gd name="txB" fmla="*/ 654 h 654"/>
              </a:gdLst>
              <a:ahLst/>
              <a:cxnLst>
                <a:cxn ang="0">
                  <a:pos x="430" y="0"/>
                </a:cxn>
                <a:cxn ang="0">
                  <a:pos x="0" y="0"/>
                </a:cxn>
                <a:cxn ang="0">
                  <a:pos x="0" y="654"/>
                </a:cxn>
                <a:cxn ang="0">
                  <a:pos x="1469" y="654"/>
                </a:cxn>
              </a:cxnLst>
              <a:rect l="txL" t="txT" r="txR" b="txB"/>
              <a:pathLst>
                <a:path w="1469" h="654">
                  <a:moveTo>
                    <a:pt x="430" y="0"/>
                  </a:moveTo>
                  <a:lnTo>
                    <a:pt x="0" y="0"/>
                  </a:lnTo>
                  <a:lnTo>
                    <a:pt x="0" y="654"/>
                  </a:lnTo>
                  <a:lnTo>
                    <a:pt x="1469" y="654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91" name="Rectangle 43"/>
            <p:cNvSpPr/>
            <p:nvPr/>
          </p:nvSpPr>
          <p:spPr>
            <a:xfrm>
              <a:off x="1017" y="3009"/>
              <a:ext cx="170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92" name="Rectangle 44"/>
            <p:cNvSpPr/>
            <p:nvPr/>
          </p:nvSpPr>
          <p:spPr>
            <a:xfrm>
              <a:off x="1017" y="3009"/>
              <a:ext cx="170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93" name="Rectangle 45"/>
            <p:cNvSpPr/>
            <p:nvPr/>
          </p:nvSpPr>
          <p:spPr>
            <a:xfrm>
              <a:off x="1039" y="3020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94" name="Rectangle 46"/>
            <p:cNvSpPr/>
            <p:nvPr/>
          </p:nvSpPr>
          <p:spPr>
            <a:xfrm>
              <a:off x="1172" y="3020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295" name="Freeform 47"/>
            <p:cNvSpPr/>
            <p:nvPr/>
          </p:nvSpPr>
          <p:spPr>
            <a:xfrm>
              <a:off x="1187" y="3117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96" name="Freeform 48"/>
            <p:cNvSpPr/>
            <p:nvPr/>
          </p:nvSpPr>
          <p:spPr>
            <a:xfrm>
              <a:off x="1187" y="3117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0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97" name="Line 49"/>
            <p:cNvSpPr/>
            <p:nvPr/>
          </p:nvSpPr>
          <p:spPr>
            <a:xfrm flipH="1">
              <a:off x="342" y="2817"/>
              <a:ext cx="238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8" name="Line 50"/>
            <p:cNvSpPr/>
            <p:nvPr/>
          </p:nvSpPr>
          <p:spPr>
            <a:xfrm>
              <a:off x="1216" y="2412"/>
              <a:ext cx="81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9" name="Freeform 51"/>
            <p:cNvSpPr/>
            <p:nvPr/>
          </p:nvSpPr>
          <p:spPr>
            <a:xfrm>
              <a:off x="1187" y="2391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8"/>
                </a:cxn>
                <a:cxn ang="0">
                  <a:pos x="0" y="32"/>
                </a:cxn>
                <a:cxn ang="0">
                  <a:pos x="7" y="39"/>
                </a:cxn>
                <a:cxn ang="0">
                  <a:pos x="14" y="43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3"/>
                </a:cxn>
                <a:cxn ang="0">
                  <a:pos x="39" y="39"/>
                </a:cxn>
                <a:cxn ang="0">
                  <a:pos x="43" y="32"/>
                </a:cxn>
                <a:cxn ang="0">
                  <a:pos x="47" y="28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2"/>
                  </a:lnTo>
                  <a:lnTo>
                    <a:pt x="7" y="39"/>
                  </a:lnTo>
                  <a:lnTo>
                    <a:pt x="14" y="43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3"/>
                  </a:lnTo>
                  <a:lnTo>
                    <a:pt x="39" y="39"/>
                  </a:lnTo>
                  <a:lnTo>
                    <a:pt x="43" y="32"/>
                  </a:lnTo>
                  <a:lnTo>
                    <a:pt x="47" y="28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00" name="Freeform 52"/>
            <p:cNvSpPr/>
            <p:nvPr/>
          </p:nvSpPr>
          <p:spPr>
            <a:xfrm>
              <a:off x="1187" y="2391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8"/>
                </a:cxn>
                <a:cxn ang="0">
                  <a:pos x="0" y="32"/>
                </a:cxn>
                <a:cxn ang="0">
                  <a:pos x="7" y="39"/>
                </a:cxn>
                <a:cxn ang="0">
                  <a:pos x="14" y="43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3"/>
                </a:cxn>
                <a:cxn ang="0">
                  <a:pos x="39" y="39"/>
                </a:cxn>
                <a:cxn ang="0">
                  <a:pos x="43" y="32"/>
                </a:cxn>
                <a:cxn ang="0">
                  <a:pos x="47" y="28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2"/>
                  </a:lnTo>
                  <a:lnTo>
                    <a:pt x="7" y="39"/>
                  </a:lnTo>
                  <a:lnTo>
                    <a:pt x="14" y="43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3"/>
                  </a:lnTo>
                  <a:lnTo>
                    <a:pt x="39" y="39"/>
                  </a:lnTo>
                  <a:lnTo>
                    <a:pt x="43" y="32"/>
                  </a:lnTo>
                  <a:lnTo>
                    <a:pt x="47" y="28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01" name="Rectangle 53"/>
            <p:cNvSpPr/>
            <p:nvPr/>
          </p:nvSpPr>
          <p:spPr>
            <a:xfrm>
              <a:off x="2035" y="2358"/>
              <a:ext cx="173" cy="25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02" name="Rectangle 54"/>
            <p:cNvSpPr/>
            <p:nvPr/>
          </p:nvSpPr>
          <p:spPr>
            <a:xfrm>
              <a:off x="2035" y="2358"/>
              <a:ext cx="173" cy="257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03" name="Rectangle 55"/>
            <p:cNvSpPr/>
            <p:nvPr/>
          </p:nvSpPr>
          <p:spPr>
            <a:xfrm>
              <a:off x="2057" y="2373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04" name="Rectangle 56"/>
            <p:cNvSpPr/>
            <p:nvPr/>
          </p:nvSpPr>
          <p:spPr>
            <a:xfrm>
              <a:off x="2190" y="2373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05" name="Line 57"/>
            <p:cNvSpPr/>
            <p:nvPr/>
          </p:nvSpPr>
          <p:spPr>
            <a:xfrm>
              <a:off x="2226" y="2488"/>
              <a:ext cx="45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06" name="Freeform 58"/>
            <p:cNvSpPr/>
            <p:nvPr/>
          </p:nvSpPr>
          <p:spPr>
            <a:xfrm>
              <a:off x="2205" y="2463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3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3" y="32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7" y="32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7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3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7" y="32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7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8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07" name="Freeform 59"/>
            <p:cNvSpPr/>
            <p:nvPr/>
          </p:nvSpPr>
          <p:spPr>
            <a:xfrm>
              <a:off x="2205" y="2463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3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3" y="32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7" y="32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7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3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7" y="32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7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8" y="0"/>
                  </a:lnTo>
                  <a:lnTo>
                    <a:pt x="25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08" name="Rectangle 60"/>
            <p:cNvSpPr/>
            <p:nvPr/>
          </p:nvSpPr>
          <p:spPr>
            <a:xfrm>
              <a:off x="2035" y="2944"/>
              <a:ext cx="173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09" name="Rectangle 61"/>
            <p:cNvSpPr/>
            <p:nvPr/>
          </p:nvSpPr>
          <p:spPr>
            <a:xfrm>
              <a:off x="2035" y="2944"/>
              <a:ext cx="173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10" name="Rectangle 62"/>
            <p:cNvSpPr/>
            <p:nvPr/>
          </p:nvSpPr>
          <p:spPr>
            <a:xfrm>
              <a:off x="2057" y="2958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11" name="Rectangle 63"/>
            <p:cNvSpPr/>
            <p:nvPr/>
          </p:nvSpPr>
          <p:spPr>
            <a:xfrm>
              <a:off x="2190" y="295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12" name="Freeform 64"/>
            <p:cNvSpPr/>
            <p:nvPr/>
          </p:nvSpPr>
          <p:spPr>
            <a:xfrm>
              <a:off x="1898" y="2560"/>
              <a:ext cx="556" cy="492"/>
            </a:xfrm>
            <a:custGeom>
              <a:avLst/>
              <a:gdLst>
                <a:gd name="txL" fmla="*/ 0 w 556"/>
                <a:gd name="txT" fmla="*/ 0 h 492"/>
                <a:gd name="txR" fmla="*/ 556 w 556"/>
                <a:gd name="txB" fmla="*/ 492 h 492"/>
              </a:gdLst>
              <a:ahLst/>
              <a:cxnLst>
                <a:cxn ang="0">
                  <a:pos x="130" y="0"/>
                </a:cxn>
                <a:cxn ang="0">
                  <a:pos x="0" y="0"/>
                </a:cxn>
                <a:cxn ang="0">
                  <a:pos x="0" y="138"/>
                </a:cxn>
                <a:cxn ang="0">
                  <a:pos x="556" y="297"/>
                </a:cxn>
                <a:cxn ang="0">
                  <a:pos x="556" y="492"/>
                </a:cxn>
              </a:cxnLst>
              <a:rect l="txL" t="txT" r="txR" b="txB"/>
              <a:pathLst>
                <a:path w="556" h="492">
                  <a:moveTo>
                    <a:pt x="130" y="0"/>
                  </a:moveTo>
                  <a:lnTo>
                    <a:pt x="0" y="0"/>
                  </a:lnTo>
                  <a:lnTo>
                    <a:pt x="0" y="138"/>
                  </a:lnTo>
                  <a:lnTo>
                    <a:pt x="556" y="297"/>
                  </a:lnTo>
                  <a:lnTo>
                    <a:pt x="556" y="492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13" name="Freeform 65"/>
            <p:cNvSpPr/>
            <p:nvPr/>
          </p:nvSpPr>
          <p:spPr>
            <a:xfrm>
              <a:off x="1891" y="2485"/>
              <a:ext cx="559" cy="488"/>
            </a:xfrm>
            <a:custGeom>
              <a:avLst/>
              <a:gdLst>
                <a:gd name="txL" fmla="*/ 0 w 559"/>
                <a:gd name="txT" fmla="*/ 0 h 488"/>
                <a:gd name="txR" fmla="*/ 559 w 559"/>
                <a:gd name="txB" fmla="*/ 488 h 488"/>
              </a:gdLst>
              <a:ahLst/>
              <a:cxnLst>
                <a:cxn ang="0">
                  <a:pos x="133" y="488"/>
                </a:cxn>
                <a:cxn ang="0">
                  <a:pos x="0" y="488"/>
                </a:cxn>
                <a:cxn ang="0">
                  <a:pos x="0" y="350"/>
                </a:cxn>
                <a:cxn ang="0">
                  <a:pos x="559" y="195"/>
                </a:cxn>
                <a:cxn ang="0">
                  <a:pos x="559" y="0"/>
                </a:cxn>
              </a:cxnLst>
              <a:rect l="txL" t="txT" r="txR" b="txB"/>
              <a:pathLst>
                <a:path w="559" h="488">
                  <a:moveTo>
                    <a:pt x="133" y="488"/>
                  </a:moveTo>
                  <a:lnTo>
                    <a:pt x="0" y="488"/>
                  </a:lnTo>
                  <a:lnTo>
                    <a:pt x="0" y="350"/>
                  </a:lnTo>
                  <a:lnTo>
                    <a:pt x="559" y="195"/>
                  </a:lnTo>
                  <a:lnTo>
                    <a:pt x="559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14" name="Freeform 66"/>
            <p:cNvSpPr/>
            <p:nvPr/>
          </p:nvSpPr>
          <p:spPr>
            <a:xfrm>
              <a:off x="1364" y="2394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0"/>
                </a:cxn>
                <a:cxn ang="0">
                  <a:pos x="3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3" y="33"/>
                </a:cxn>
                <a:cxn ang="0">
                  <a:pos x="10" y="36"/>
                </a:cxn>
                <a:cxn ang="0">
                  <a:pos x="18" y="40"/>
                </a:cxn>
                <a:cxn ang="0">
                  <a:pos x="25" y="36"/>
                </a:cxn>
                <a:cxn ang="0">
                  <a:pos x="32" y="33"/>
                </a:cxn>
                <a:cxn ang="0">
                  <a:pos x="36" y="25"/>
                </a:cxn>
                <a:cxn ang="0">
                  <a:pos x="39" y="18"/>
                </a:cxn>
                <a:cxn ang="0">
                  <a:pos x="36" y="11"/>
                </a:cxn>
                <a:cxn ang="0">
                  <a:pos x="32" y="4"/>
                </a:cxn>
                <a:cxn ang="0">
                  <a:pos x="25" y="0"/>
                </a:cxn>
                <a:cxn ang="0">
                  <a:pos x="18" y="0"/>
                </a:cxn>
              </a:cxnLst>
              <a:rect l="txL" t="txT" r="txR" b="txB"/>
              <a:pathLst>
                <a:path w="39" h="40">
                  <a:moveTo>
                    <a:pt x="18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5" y="36"/>
                  </a:lnTo>
                  <a:lnTo>
                    <a:pt x="32" y="33"/>
                  </a:lnTo>
                  <a:lnTo>
                    <a:pt x="36" y="25"/>
                  </a:lnTo>
                  <a:lnTo>
                    <a:pt x="39" y="18"/>
                  </a:lnTo>
                  <a:lnTo>
                    <a:pt x="36" y="11"/>
                  </a:lnTo>
                  <a:lnTo>
                    <a:pt x="32" y="4"/>
                  </a:lnTo>
                  <a:lnTo>
                    <a:pt x="25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15" name="Freeform 67"/>
            <p:cNvSpPr/>
            <p:nvPr/>
          </p:nvSpPr>
          <p:spPr>
            <a:xfrm>
              <a:off x="1364" y="2394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0"/>
                </a:cxn>
                <a:cxn ang="0">
                  <a:pos x="3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3" y="33"/>
                </a:cxn>
                <a:cxn ang="0">
                  <a:pos x="10" y="36"/>
                </a:cxn>
                <a:cxn ang="0">
                  <a:pos x="18" y="40"/>
                </a:cxn>
                <a:cxn ang="0">
                  <a:pos x="25" y="36"/>
                </a:cxn>
                <a:cxn ang="0">
                  <a:pos x="32" y="33"/>
                </a:cxn>
                <a:cxn ang="0">
                  <a:pos x="36" y="25"/>
                </a:cxn>
                <a:cxn ang="0">
                  <a:pos x="39" y="18"/>
                </a:cxn>
                <a:cxn ang="0">
                  <a:pos x="36" y="11"/>
                </a:cxn>
                <a:cxn ang="0">
                  <a:pos x="32" y="4"/>
                </a:cxn>
                <a:cxn ang="0">
                  <a:pos x="25" y="0"/>
                </a:cxn>
                <a:cxn ang="0">
                  <a:pos x="18" y="0"/>
                </a:cxn>
              </a:cxnLst>
              <a:rect l="txL" t="txT" r="txR" b="txB"/>
              <a:pathLst>
                <a:path w="39" h="40">
                  <a:moveTo>
                    <a:pt x="18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5" y="36"/>
                  </a:lnTo>
                  <a:lnTo>
                    <a:pt x="32" y="33"/>
                  </a:lnTo>
                  <a:lnTo>
                    <a:pt x="36" y="25"/>
                  </a:lnTo>
                  <a:lnTo>
                    <a:pt x="39" y="18"/>
                  </a:lnTo>
                  <a:lnTo>
                    <a:pt x="36" y="11"/>
                  </a:lnTo>
                  <a:lnTo>
                    <a:pt x="32" y="4"/>
                  </a:lnTo>
                  <a:lnTo>
                    <a:pt x="25" y="0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16" name="Freeform 68"/>
            <p:cNvSpPr/>
            <p:nvPr/>
          </p:nvSpPr>
          <p:spPr>
            <a:xfrm>
              <a:off x="2428" y="2463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22" y="0"/>
                </a:cxn>
                <a:cxn ang="0">
                  <a:pos x="15" y="3"/>
                </a:cxn>
                <a:cxn ang="0">
                  <a:pos x="8" y="7"/>
                </a:cxn>
                <a:cxn ang="0">
                  <a:pos x="4" y="14"/>
                </a:cxn>
                <a:cxn ang="0">
                  <a:pos x="0" y="22"/>
                </a:cxn>
                <a:cxn ang="0">
                  <a:pos x="4" y="29"/>
                </a:cxn>
                <a:cxn ang="0">
                  <a:pos x="8" y="36"/>
                </a:cxn>
                <a:cxn ang="0">
                  <a:pos x="15" y="40"/>
                </a:cxn>
                <a:cxn ang="0">
                  <a:pos x="22" y="40"/>
                </a:cxn>
                <a:cxn ang="0">
                  <a:pos x="29" y="40"/>
                </a:cxn>
                <a:cxn ang="0">
                  <a:pos x="33" y="36"/>
                </a:cxn>
                <a:cxn ang="0">
                  <a:pos x="40" y="29"/>
                </a:cxn>
                <a:cxn ang="0">
                  <a:pos x="40" y="22"/>
                </a:cxn>
                <a:cxn ang="0">
                  <a:pos x="40" y="14"/>
                </a:cxn>
                <a:cxn ang="0">
                  <a:pos x="33" y="7"/>
                </a:cxn>
                <a:cxn ang="0">
                  <a:pos x="29" y="3"/>
                </a:cxn>
                <a:cxn ang="0">
                  <a:pos x="22" y="0"/>
                </a:cxn>
              </a:cxnLst>
              <a:rect l="txL" t="txT" r="txR" b="txB"/>
              <a:pathLst>
                <a:path w="40" h="40">
                  <a:moveTo>
                    <a:pt x="22" y="0"/>
                  </a:moveTo>
                  <a:lnTo>
                    <a:pt x="15" y="3"/>
                  </a:lnTo>
                  <a:lnTo>
                    <a:pt x="8" y="7"/>
                  </a:lnTo>
                  <a:lnTo>
                    <a:pt x="4" y="14"/>
                  </a:lnTo>
                  <a:lnTo>
                    <a:pt x="0" y="22"/>
                  </a:lnTo>
                  <a:lnTo>
                    <a:pt x="4" y="29"/>
                  </a:lnTo>
                  <a:lnTo>
                    <a:pt x="8" y="36"/>
                  </a:lnTo>
                  <a:lnTo>
                    <a:pt x="15" y="40"/>
                  </a:lnTo>
                  <a:lnTo>
                    <a:pt x="22" y="40"/>
                  </a:lnTo>
                  <a:lnTo>
                    <a:pt x="29" y="40"/>
                  </a:lnTo>
                  <a:lnTo>
                    <a:pt x="33" y="36"/>
                  </a:lnTo>
                  <a:lnTo>
                    <a:pt x="40" y="29"/>
                  </a:lnTo>
                  <a:lnTo>
                    <a:pt x="40" y="22"/>
                  </a:lnTo>
                  <a:lnTo>
                    <a:pt x="40" y="14"/>
                  </a:lnTo>
                  <a:lnTo>
                    <a:pt x="33" y="7"/>
                  </a:lnTo>
                  <a:lnTo>
                    <a:pt x="29" y="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17" name="Freeform 69"/>
            <p:cNvSpPr/>
            <p:nvPr/>
          </p:nvSpPr>
          <p:spPr>
            <a:xfrm>
              <a:off x="2428" y="2463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22" y="0"/>
                </a:cxn>
                <a:cxn ang="0">
                  <a:pos x="15" y="3"/>
                </a:cxn>
                <a:cxn ang="0">
                  <a:pos x="8" y="7"/>
                </a:cxn>
                <a:cxn ang="0">
                  <a:pos x="4" y="14"/>
                </a:cxn>
                <a:cxn ang="0">
                  <a:pos x="0" y="22"/>
                </a:cxn>
                <a:cxn ang="0">
                  <a:pos x="4" y="29"/>
                </a:cxn>
                <a:cxn ang="0">
                  <a:pos x="8" y="36"/>
                </a:cxn>
                <a:cxn ang="0">
                  <a:pos x="15" y="40"/>
                </a:cxn>
                <a:cxn ang="0">
                  <a:pos x="22" y="40"/>
                </a:cxn>
                <a:cxn ang="0">
                  <a:pos x="29" y="40"/>
                </a:cxn>
                <a:cxn ang="0">
                  <a:pos x="33" y="36"/>
                </a:cxn>
                <a:cxn ang="0">
                  <a:pos x="40" y="29"/>
                </a:cxn>
                <a:cxn ang="0">
                  <a:pos x="40" y="22"/>
                </a:cxn>
                <a:cxn ang="0">
                  <a:pos x="40" y="14"/>
                </a:cxn>
                <a:cxn ang="0">
                  <a:pos x="33" y="7"/>
                </a:cxn>
                <a:cxn ang="0">
                  <a:pos x="29" y="3"/>
                </a:cxn>
                <a:cxn ang="0">
                  <a:pos x="22" y="0"/>
                </a:cxn>
              </a:cxnLst>
              <a:rect l="txL" t="txT" r="txR" b="txB"/>
              <a:pathLst>
                <a:path w="40" h="40">
                  <a:moveTo>
                    <a:pt x="22" y="0"/>
                  </a:moveTo>
                  <a:lnTo>
                    <a:pt x="15" y="3"/>
                  </a:lnTo>
                  <a:lnTo>
                    <a:pt x="8" y="7"/>
                  </a:lnTo>
                  <a:lnTo>
                    <a:pt x="4" y="14"/>
                  </a:lnTo>
                  <a:lnTo>
                    <a:pt x="0" y="22"/>
                  </a:lnTo>
                  <a:lnTo>
                    <a:pt x="4" y="29"/>
                  </a:lnTo>
                  <a:lnTo>
                    <a:pt x="8" y="36"/>
                  </a:lnTo>
                  <a:lnTo>
                    <a:pt x="15" y="40"/>
                  </a:lnTo>
                  <a:lnTo>
                    <a:pt x="22" y="40"/>
                  </a:lnTo>
                  <a:lnTo>
                    <a:pt x="29" y="40"/>
                  </a:lnTo>
                  <a:lnTo>
                    <a:pt x="33" y="36"/>
                  </a:lnTo>
                  <a:lnTo>
                    <a:pt x="40" y="29"/>
                  </a:lnTo>
                  <a:lnTo>
                    <a:pt x="40" y="22"/>
                  </a:lnTo>
                  <a:lnTo>
                    <a:pt x="40" y="14"/>
                  </a:lnTo>
                  <a:lnTo>
                    <a:pt x="33" y="7"/>
                  </a:lnTo>
                  <a:lnTo>
                    <a:pt x="29" y="3"/>
                  </a:lnTo>
                  <a:lnTo>
                    <a:pt x="22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18" name="Freeform 70"/>
            <p:cNvSpPr/>
            <p:nvPr/>
          </p:nvSpPr>
          <p:spPr>
            <a:xfrm>
              <a:off x="2436" y="3048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21" y="0"/>
                </a:cxn>
                <a:cxn ang="0">
                  <a:pos x="14" y="4"/>
                </a:cxn>
                <a:cxn ang="0">
                  <a:pos x="7" y="8"/>
                </a:cxn>
                <a:cxn ang="0">
                  <a:pos x="3" y="11"/>
                </a:cxn>
                <a:cxn ang="0">
                  <a:pos x="0" y="19"/>
                </a:cxn>
                <a:cxn ang="0">
                  <a:pos x="3" y="29"/>
                </a:cxn>
                <a:cxn ang="0">
                  <a:pos x="7" y="33"/>
                </a:cxn>
                <a:cxn ang="0">
                  <a:pos x="14" y="37"/>
                </a:cxn>
                <a:cxn ang="0">
                  <a:pos x="21" y="40"/>
                </a:cxn>
                <a:cxn ang="0">
                  <a:pos x="28" y="37"/>
                </a:cxn>
                <a:cxn ang="0">
                  <a:pos x="32" y="33"/>
                </a:cxn>
                <a:cxn ang="0">
                  <a:pos x="39" y="29"/>
                </a:cxn>
                <a:cxn ang="0">
                  <a:pos x="39" y="19"/>
                </a:cxn>
                <a:cxn ang="0">
                  <a:pos x="39" y="11"/>
                </a:cxn>
                <a:cxn ang="0">
                  <a:pos x="32" y="8"/>
                </a:cxn>
                <a:cxn ang="0">
                  <a:pos x="28" y="4"/>
                </a:cxn>
                <a:cxn ang="0">
                  <a:pos x="21" y="0"/>
                </a:cxn>
              </a:cxnLst>
              <a:rect l="txL" t="txT" r="txR" b="txB"/>
              <a:pathLst>
                <a:path w="39" h="40">
                  <a:moveTo>
                    <a:pt x="21" y="0"/>
                  </a:moveTo>
                  <a:lnTo>
                    <a:pt x="14" y="4"/>
                  </a:lnTo>
                  <a:lnTo>
                    <a:pt x="7" y="8"/>
                  </a:lnTo>
                  <a:lnTo>
                    <a:pt x="3" y="11"/>
                  </a:lnTo>
                  <a:lnTo>
                    <a:pt x="0" y="19"/>
                  </a:lnTo>
                  <a:lnTo>
                    <a:pt x="3" y="29"/>
                  </a:lnTo>
                  <a:lnTo>
                    <a:pt x="7" y="33"/>
                  </a:lnTo>
                  <a:lnTo>
                    <a:pt x="14" y="37"/>
                  </a:lnTo>
                  <a:lnTo>
                    <a:pt x="21" y="40"/>
                  </a:lnTo>
                  <a:lnTo>
                    <a:pt x="28" y="37"/>
                  </a:lnTo>
                  <a:lnTo>
                    <a:pt x="32" y="33"/>
                  </a:lnTo>
                  <a:lnTo>
                    <a:pt x="39" y="29"/>
                  </a:lnTo>
                  <a:lnTo>
                    <a:pt x="39" y="19"/>
                  </a:lnTo>
                  <a:lnTo>
                    <a:pt x="39" y="11"/>
                  </a:lnTo>
                  <a:lnTo>
                    <a:pt x="32" y="8"/>
                  </a:lnTo>
                  <a:lnTo>
                    <a:pt x="28" y="4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19" name="Freeform 71"/>
            <p:cNvSpPr/>
            <p:nvPr/>
          </p:nvSpPr>
          <p:spPr>
            <a:xfrm>
              <a:off x="2436" y="3048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21" y="0"/>
                </a:cxn>
                <a:cxn ang="0">
                  <a:pos x="14" y="4"/>
                </a:cxn>
                <a:cxn ang="0">
                  <a:pos x="7" y="8"/>
                </a:cxn>
                <a:cxn ang="0">
                  <a:pos x="3" y="11"/>
                </a:cxn>
                <a:cxn ang="0">
                  <a:pos x="0" y="19"/>
                </a:cxn>
                <a:cxn ang="0">
                  <a:pos x="3" y="29"/>
                </a:cxn>
                <a:cxn ang="0">
                  <a:pos x="7" y="33"/>
                </a:cxn>
                <a:cxn ang="0">
                  <a:pos x="14" y="37"/>
                </a:cxn>
                <a:cxn ang="0">
                  <a:pos x="21" y="40"/>
                </a:cxn>
                <a:cxn ang="0">
                  <a:pos x="28" y="37"/>
                </a:cxn>
                <a:cxn ang="0">
                  <a:pos x="32" y="33"/>
                </a:cxn>
                <a:cxn ang="0">
                  <a:pos x="39" y="29"/>
                </a:cxn>
                <a:cxn ang="0">
                  <a:pos x="39" y="19"/>
                </a:cxn>
                <a:cxn ang="0">
                  <a:pos x="39" y="11"/>
                </a:cxn>
                <a:cxn ang="0">
                  <a:pos x="32" y="8"/>
                </a:cxn>
                <a:cxn ang="0">
                  <a:pos x="28" y="4"/>
                </a:cxn>
                <a:cxn ang="0">
                  <a:pos x="21" y="0"/>
                </a:cxn>
              </a:cxnLst>
              <a:rect l="txL" t="txT" r="txR" b="txB"/>
              <a:pathLst>
                <a:path w="39" h="40">
                  <a:moveTo>
                    <a:pt x="21" y="0"/>
                  </a:moveTo>
                  <a:lnTo>
                    <a:pt x="14" y="4"/>
                  </a:lnTo>
                  <a:lnTo>
                    <a:pt x="7" y="8"/>
                  </a:lnTo>
                  <a:lnTo>
                    <a:pt x="3" y="11"/>
                  </a:lnTo>
                  <a:lnTo>
                    <a:pt x="0" y="19"/>
                  </a:lnTo>
                  <a:lnTo>
                    <a:pt x="3" y="29"/>
                  </a:lnTo>
                  <a:lnTo>
                    <a:pt x="7" y="33"/>
                  </a:lnTo>
                  <a:lnTo>
                    <a:pt x="14" y="37"/>
                  </a:lnTo>
                  <a:lnTo>
                    <a:pt x="21" y="40"/>
                  </a:lnTo>
                  <a:lnTo>
                    <a:pt x="28" y="37"/>
                  </a:lnTo>
                  <a:lnTo>
                    <a:pt x="32" y="33"/>
                  </a:lnTo>
                  <a:lnTo>
                    <a:pt x="39" y="29"/>
                  </a:lnTo>
                  <a:lnTo>
                    <a:pt x="39" y="19"/>
                  </a:lnTo>
                  <a:lnTo>
                    <a:pt x="39" y="11"/>
                  </a:lnTo>
                  <a:lnTo>
                    <a:pt x="32" y="8"/>
                  </a:lnTo>
                  <a:lnTo>
                    <a:pt x="28" y="4"/>
                  </a:lnTo>
                  <a:lnTo>
                    <a:pt x="21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20" name="Line 72"/>
            <p:cNvSpPr/>
            <p:nvPr/>
          </p:nvSpPr>
          <p:spPr>
            <a:xfrm>
              <a:off x="2226" y="3070"/>
              <a:ext cx="45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21" name="Freeform 73"/>
            <p:cNvSpPr/>
            <p:nvPr/>
          </p:nvSpPr>
          <p:spPr>
            <a:xfrm>
              <a:off x="2205" y="3048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8"/>
                </a:cxn>
                <a:cxn ang="0">
                  <a:pos x="3" y="15"/>
                </a:cxn>
                <a:cxn ang="0">
                  <a:pos x="0" y="19"/>
                </a:cxn>
                <a:cxn ang="0">
                  <a:pos x="0" y="22"/>
                </a:cxn>
                <a:cxn ang="0">
                  <a:pos x="0" y="26"/>
                </a:cxn>
                <a:cxn ang="0">
                  <a:pos x="3" y="33"/>
                </a:cxn>
                <a:cxn ang="0">
                  <a:pos x="7" y="40"/>
                </a:cxn>
                <a:cxn ang="0">
                  <a:pos x="14" y="44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4"/>
                </a:cxn>
                <a:cxn ang="0">
                  <a:pos x="39" y="40"/>
                </a:cxn>
                <a:cxn ang="0">
                  <a:pos x="47" y="33"/>
                </a:cxn>
                <a:cxn ang="0">
                  <a:pos x="47" y="26"/>
                </a:cxn>
                <a:cxn ang="0">
                  <a:pos x="47" y="22"/>
                </a:cxn>
                <a:cxn ang="0">
                  <a:pos x="47" y="19"/>
                </a:cxn>
                <a:cxn ang="0">
                  <a:pos x="47" y="15"/>
                </a:cxn>
                <a:cxn ang="0">
                  <a:pos x="39" y="8"/>
                </a:cxn>
                <a:cxn ang="0">
                  <a:pos x="32" y="0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8"/>
                  </a:lnTo>
                  <a:lnTo>
                    <a:pt x="3" y="15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3" y="33"/>
                  </a:lnTo>
                  <a:lnTo>
                    <a:pt x="7" y="40"/>
                  </a:lnTo>
                  <a:lnTo>
                    <a:pt x="14" y="44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4"/>
                  </a:lnTo>
                  <a:lnTo>
                    <a:pt x="39" y="40"/>
                  </a:lnTo>
                  <a:lnTo>
                    <a:pt x="47" y="33"/>
                  </a:lnTo>
                  <a:lnTo>
                    <a:pt x="47" y="26"/>
                  </a:lnTo>
                  <a:lnTo>
                    <a:pt x="47" y="22"/>
                  </a:lnTo>
                  <a:lnTo>
                    <a:pt x="47" y="19"/>
                  </a:lnTo>
                  <a:lnTo>
                    <a:pt x="47" y="15"/>
                  </a:lnTo>
                  <a:lnTo>
                    <a:pt x="39" y="8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22" name="Freeform 74"/>
            <p:cNvSpPr/>
            <p:nvPr/>
          </p:nvSpPr>
          <p:spPr>
            <a:xfrm>
              <a:off x="2205" y="3048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8"/>
                </a:cxn>
                <a:cxn ang="0">
                  <a:pos x="3" y="15"/>
                </a:cxn>
                <a:cxn ang="0">
                  <a:pos x="0" y="19"/>
                </a:cxn>
                <a:cxn ang="0">
                  <a:pos x="0" y="22"/>
                </a:cxn>
                <a:cxn ang="0">
                  <a:pos x="0" y="26"/>
                </a:cxn>
                <a:cxn ang="0">
                  <a:pos x="3" y="33"/>
                </a:cxn>
                <a:cxn ang="0">
                  <a:pos x="7" y="40"/>
                </a:cxn>
                <a:cxn ang="0">
                  <a:pos x="14" y="44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4"/>
                </a:cxn>
                <a:cxn ang="0">
                  <a:pos x="39" y="40"/>
                </a:cxn>
                <a:cxn ang="0">
                  <a:pos x="47" y="33"/>
                </a:cxn>
                <a:cxn ang="0">
                  <a:pos x="47" y="26"/>
                </a:cxn>
                <a:cxn ang="0">
                  <a:pos x="47" y="22"/>
                </a:cxn>
                <a:cxn ang="0">
                  <a:pos x="47" y="19"/>
                </a:cxn>
                <a:cxn ang="0">
                  <a:pos x="47" y="15"/>
                </a:cxn>
                <a:cxn ang="0">
                  <a:pos x="39" y="8"/>
                </a:cxn>
                <a:cxn ang="0">
                  <a:pos x="32" y="0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8"/>
                  </a:lnTo>
                  <a:lnTo>
                    <a:pt x="3" y="15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3" y="33"/>
                  </a:lnTo>
                  <a:lnTo>
                    <a:pt x="7" y="40"/>
                  </a:lnTo>
                  <a:lnTo>
                    <a:pt x="14" y="44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4"/>
                  </a:lnTo>
                  <a:lnTo>
                    <a:pt x="39" y="40"/>
                  </a:lnTo>
                  <a:lnTo>
                    <a:pt x="47" y="33"/>
                  </a:lnTo>
                  <a:lnTo>
                    <a:pt x="47" y="26"/>
                  </a:lnTo>
                  <a:lnTo>
                    <a:pt x="47" y="22"/>
                  </a:lnTo>
                  <a:lnTo>
                    <a:pt x="47" y="19"/>
                  </a:lnTo>
                  <a:lnTo>
                    <a:pt x="47" y="15"/>
                  </a:lnTo>
                  <a:lnTo>
                    <a:pt x="39" y="8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23" name="Rectangle 75"/>
            <p:cNvSpPr/>
            <p:nvPr/>
          </p:nvSpPr>
          <p:spPr>
            <a:xfrm>
              <a:off x="2075" y="2174"/>
              <a:ext cx="8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24" name="Rectangle 76"/>
            <p:cNvSpPr/>
            <p:nvPr/>
          </p:nvSpPr>
          <p:spPr>
            <a:xfrm>
              <a:off x="2111" y="2430"/>
              <a:ext cx="38" cy="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25" name="Rectangle 77"/>
            <p:cNvSpPr/>
            <p:nvPr/>
          </p:nvSpPr>
          <p:spPr>
            <a:xfrm>
              <a:off x="2165" y="2355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26" name="Rectangle 78"/>
            <p:cNvSpPr/>
            <p:nvPr/>
          </p:nvSpPr>
          <p:spPr>
            <a:xfrm>
              <a:off x="1411" y="2228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27" name="Rectangle 79"/>
            <p:cNvSpPr/>
            <p:nvPr/>
          </p:nvSpPr>
          <p:spPr>
            <a:xfrm>
              <a:off x="1526" y="2304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28" name="Rectangle 80"/>
            <p:cNvSpPr/>
            <p:nvPr/>
          </p:nvSpPr>
          <p:spPr>
            <a:xfrm>
              <a:off x="1580" y="222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29" name="Rectangle 81"/>
            <p:cNvSpPr/>
            <p:nvPr/>
          </p:nvSpPr>
          <p:spPr>
            <a:xfrm>
              <a:off x="1411" y="2958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30" name="Rectangle 82"/>
            <p:cNvSpPr/>
            <p:nvPr/>
          </p:nvSpPr>
          <p:spPr>
            <a:xfrm>
              <a:off x="1526" y="3034"/>
              <a:ext cx="38" cy="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31" name="Rectangle 83"/>
            <p:cNvSpPr/>
            <p:nvPr/>
          </p:nvSpPr>
          <p:spPr>
            <a:xfrm>
              <a:off x="1580" y="295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32" name="Rectangle 84"/>
            <p:cNvSpPr/>
            <p:nvPr/>
          </p:nvSpPr>
          <p:spPr>
            <a:xfrm>
              <a:off x="1725" y="2243"/>
              <a:ext cx="6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33" name="Rectangle 85"/>
            <p:cNvSpPr/>
            <p:nvPr/>
          </p:nvSpPr>
          <p:spPr>
            <a:xfrm>
              <a:off x="1811" y="2243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34" name="Rectangle 86"/>
            <p:cNvSpPr/>
            <p:nvPr/>
          </p:nvSpPr>
          <p:spPr>
            <a:xfrm>
              <a:off x="1717" y="2969"/>
              <a:ext cx="77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35" name="Rectangle 87"/>
            <p:cNvSpPr/>
            <p:nvPr/>
          </p:nvSpPr>
          <p:spPr>
            <a:xfrm>
              <a:off x="1822" y="296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36" name="Rectangle 88"/>
            <p:cNvSpPr/>
            <p:nvPr/>
          </p:nvSpPr>
          <p:spPr>
            <a:xfrm>
              <a:off x="1050" y="3815"/>
              <a:ext cx="8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37" name="Rectangle 89"/>
            <p:cNvSpPr/>
            <p:nvPr/>
          </p:nvSpPr>
          <p:spPr>
            <a:xfrm>
              <a:off x="1086" y="4075"/>
              <a:ext cx="38" cy="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38" name="Rectangle 90"/>
            <p:cNvSpPr/>
            <p:nvPr/>
          </p:nvSpPr>
          <p:spPr>
            <a:xfrm>
              <a:off x="1140" y="399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39" name="Freeform 91"/>
            <p:cNvSpPr/>
            <p:nvPr/>
          </p:nvSpPr>
          <p:spPr>
            <a:xfrm>
              <a:off x="862" y="3229"/>
              <a:ext cx="534" cy="470"/>
            </a:xfrm>
            <a:custGeom>
              <a:avLst/>
              <a:gdLst>
                <a:gd name="txL" fmla="*/ 0 w 534"/>
                <a:gd name="txT" fmla="*/ 0 h 470"/>
                <a:gd name="txR" fmla="*/ 534 w 534"/>
                <a:gd name="txB" fmla="*/ 470 h 470"/>
              </a:gdLst>
              <a:ahLst/>
              <a:cxnLst>
                <a:cxn ang="0">
                  <a:pos x="0" y="0"/>
                </a:cxn>
                <a:cxn ang="0">
                  <a:pos x="0" y="123"/>
                </a:cxn>
                <a:cxn ang="0">
                  <a:pos x="534" y="275"/>
                </a:cxn>
                <a:cxn ang="0">
                  <a:pos x="534" y="470"/>
                </a:cxn>
                <a:cxn ang="0">
                  <a:pos x="350" y="470"/>
                </a:cxn>
              </a:cxnLst>
              <a:rect l="txL" t="txT" r="txR" b="txB"/>
              <a:pathLst>
                <a:path w="534" h="470">
                  <a:moveTo>
                    <a:pt x="0" y="0"/>
                  </a:moveTo>
                  <a:lnTo>
                    <a:pt x="0" y="123"/>
                  </a:lnTo>
                  <a:lnTo>
                    <a:pt x="534" y="275"/>
                  </a:lnTo>
                  <a:lnTo>
                    <a:pt x="534" y="470"/>
                  </a:lnTo>
                  <a:lnTo>
                    <a:pt x="350" y="47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40" name="Freeform 92"/>
            <p:cNvSpPr/>
            <p:nvPr/>
          </p:nvSpPr>
          <p:spPr>
            <a:xfrm>
              <a:off x="1187" y="3674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32"/>
                </a:cxn>
                <a:cxn ang="0">
                  <a:pos x="7" y="40"/>
                </a:cxn>
                <a:cxn ang="0">
                  <a:pos x="14" y="43"/>
                </a:cxn>
                <a:cxn ang="0">
                  <a:pos x="18" y="43"/>
                </a:cxn>
                <a:cxn ang="0">
                  <a:pos x="21" y="47"/>
                </a:cxn>
                <a:cxn ang="0">
                  <a:pos x="29" y="43"/>
                </a:cxn>
                <a:cxn ang="0">
                  <a:pos x="32" y="43"/>
                </a:cxn>
                <a:cxn ang="0">
                  <a:pos x="39" y="40"/>
                </a:cxn>
                <a:cxn ang="0">
                  <a:pos x="43" y="32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0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32"/>
                  </a:lnTo>
                  <a:lnTo>
                    <a:pt x="7" y="40"/>
                  </a:lnTo>
                  <a:lnTo>
                    <a:pt x="14" y="43"/>
                  </a:lnTo>
                  <a:lnTo>
                    <a:pt x="18" y="43"/>
                  </a:lnTo>
                  <a:lnTo>
                    <a:pt x="21" y="47"/>
                  </a:lnTo>
                  <a:lnTo>
                    <a:pt x="29" y="43"/>
                  </a:lnTo>
                  <a:lnTo>
                    <a:pt x="32" y="43"/>
                  </a:lnTo>
                  <a:lnTo>
                    <a:pt x="39" y="40"/>
                  </a:lnTo>
                  <a:lnTo>
                    <a:pt x="43" y="32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41" name="Freeform 93"/>
            <p:cNvSpPr/>
            <p:nvPr/>
          </p:nvSpPr>
          <p:spPr>
            <a:xfrm>
              <a:off x="1187" y="3674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32"/>
                </a:cxn>
                <a:cxn ang="0">
                  <a:pos x="7" y="40"/>
                </a:cxn>
                <a:cxn ang="0">
                  <a:pos x="14" y="43"/>
                </a:cxn>
                <a:cxn ang="0">
                  <a:pos x="18" y="43"/>
                </a:cxn>
                <a:cxn ang="0">
                  <a:pos x="21" y="47"/>
                </a:cxn>
                <a:cxn ang="0">
                  <a:pos x="29" y="43"/>
                </a:cxn>
                <a:cxn ang="0">
                  <a:pos x="32" y="43"/>
                </a:cxn>
                <a:cxn ang="0">
                  <a:pos x="39" y="40"/>
                </a:cxn>
                <a:cxn ang="0">
                  <a:pos x="43" y="32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0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32"/>
                  </a:lnTo>
                  <a:lnTo>
                    <a:pt x="7" y="40"/>
                  </a:lnTo>
                  <a:lnTo>
                    <a:pt x="14" y="43"/>
                  </a:lnTo>
                  <a:lnTo>
                    <a:pt x="18" y="43"/>
                  </a:lnTo>
                  <a:lnTo>
                    <a:pt x="21" y="47"/>
                  </a:lnTo>
                  <a:lnTo>
                    <a:pt x="29" y="43"/>
                  </a:lnTo>
                  <a:lnTo>
                    <a:pt x="32" y="43"/>
                  </a:lnTo>
                  <a:lnTo>
                    <a:pt x="39" y="40"/>
                  </a:lnTo>
                  <a:lnTo>
                    <a:pt x="43" y="32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42" name="Freeform 94"/>
            <p:cNvSpPr/>
            <p:nvPr/>
          </p:nvSpPr>
          <p:spPr>
            <a:xfrm>
              <a:off x="862" y="3139"/>
              <a:ext cx="530" cy="473"/>
            </a:xfrm>
            <a:custGeom>
              <a:avLst/>
              <a:gdLst>
                <a:gd name="txL" fmla="*/ 0 w 530"/>
                <a:gd name="txT" fmla="*/ 0 h 473"/>
                <a:gd name="txR" fmla="*/ 530 w 530"/>
                <a:gd name="txB" fmla="*/ 473 h 473"/>
              </a:gdLst>
              <a:ahLst/>
              <a:cxnLst>
                <a:cxn ang="0">
                  <a:pos x="162" y="473"/>
                </a:cxn>
                <a:cxn ang="0">
                  <a:pos x="0" y="473"/>
                </a:cxn>
                <a:cxn ang="0">
                  <a:pos x="0" y="365"/>
                </a:cxn>
                <a:cxn ang="0">
                  <a:pos x="530" y="188"/>
                </a:cxn>
                <a:cxn ang="0">
                  <a:pos x="530" y="0"/>
                </a:cxn>
              </a:cxnLst>
              <a:rect l="txL" t="txT" r="txR" b="txB"/>
              <a:pathLst>
                <a:path w="530" h="473">
                  <a:moveTo>
                    <a:pt x="162" y="473"/>
                  </a:moveTo>
                  <a:lnTo>
                    <a:pt x="0" y="473"/>
                  </a:lnTo>
                  <a:lnTo>
                    <a:pt x="0" y="365"/>
                  </a:lnTo>
                  <a:lnTo>
                    <a:pt x="530" y="188"/>
                  </a:lnTo>
                  <a:lnTo>
                    <a:pt x="530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43" name="Freeform 95"/>
            <p:cNvSpPr/>
            <p:nvPr/>
          </p:nvSpPr>
          <p:spPr>
            <a:xfrm>
              <a:off x="1374" y="3128"/>
              <a:ext cx="40" cy="36"/>
            </a:xfrm>
            <a:custGeom>
              <a:avLst/>
              <a:gdLst>
                <a:gd name="txL" fmla="*/ 0 w 40"/>
                <a:gd name="txT" fmla="*/ 0 h 36"/>
                <a:gd name="txR" fmla="*/ 40 w 40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11" y="0"/>
                </a:cxn>
                <a:cxn ang="0">
                  <a:pos x="8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8" y="33"/>
                </a:cxn>
                <a:cxn ang="0">
                  <a:pos x="11" y="36"/>
                </a:cxn>
                <a:cxn ang="0">
                  <a:pos x="18" y="36"/>
                </a:cxn>
                <a:cxn ang="0">
                  <a:pos x="26" y="36"/>
                </a:cxn>
                <a:cxn ang="0">
                  <a:pos x="33" y="33"/>
                </a:cxn>
                <a:cxn ang="0">
                  <a:pos x="37" y="25"/>
                </a:cxn>
                <a:cxn ang="0">
                  <a:pos x="40" y="18"/>
                </a:cxn>
                <a:cxn ang="0">
                  <a:pos x="37" y="11"/>
                </a:cxn>
                <a:cxn ang="0">
                  <a:pos x="33" y="4"/>
                </a:cxn>
                <a:cxn ang="0">
                  <a:pos x="26" y="0"/>
                </a:cxn>
                <a:cxn ang="0">
                  <a:pos x="18" y="0"/>
                </a:cxn>
              </a:cxnLst>
              <a:rect l="txL" t="txT" r="txR" b="txB"/>
              <a:pathLst>
                <a:path w="40" h="36">
                  <a:moveTo>
                    <a:pt x="18" y="0"/>
                  </a:moveTo>
                  <a:lnTo>
                    <a:pt x="11" y="0"/>
                  </a:lnTo>
                  <a:lnTo>
                    <a:pt x="8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8" y="33"/>
                  </a:lnTo>
                  <a:lnTo>
                    <a:pt x="11" y="36"/>
                  </a:lnTo>
                  <a:lnTo>
                    <a:pt x="18" y="36"/>
                  </a:lnTo>
                  <a:lnTo>
                    <a:pt x="26" y="36"/>
                  </a:lnTo>
                  <a:lnTo>
                    <a:pt x="33" y="33"/>
                  </a:lnTo>
                  <a:lnTo>
                    <a:pt x="37" y="25"/>
                  </a:lnTo>
                  <a:lnTo>
                    <a:pt x="40" y="18"/>
                  </a:lnTo>
                  <a:lnTo>
                    <a:pt x="37" y="11"/>
                  </a:lnTo>
                  <a:lnTo>
                    <a:pt x="33" y="4"/>
                  </a:lnTo>
                  <a:lnTo>
                    <a:pt x="26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44" name="Freeform 96"/>
            <p:cNvSpPr/>
            <p:nvPr/>
          </p:nvSpPr>
          <p:spPr>
            <a:xfrm>
              <a:off x="1374" y="3128"/>
              <a:ext cx="40" cy="36"/>
            </a:xfrm>
            <a:custGeom>
              <a:avLst/>
              <a:gdLst>
                <a:gd name="txL" fmla="*/ 0 w 40"/>
                <a:gd name="txT" fmla="*/ 0 h 36"/>
                <a:gd name="txR" fmla="*/ 40 w 40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11" y="0"/>
                </a:cxn>
                <a:cxn ang="0">
                  <a:pos x="8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8" y="33"/>
                </a:cxn>
                <a:cxn ang="0">
                  <a:pos x="11" y="36"/>
                </a:cxn>
                <a:cxn ang="0">
                  <a:pos x="18" y="36"/>
                </a:cxn>
                <a:cxn ang="0">
                  <a:pos x="26" y="36"/>
                </a:cxn>
                <a:cxn ang="0">
                  <a:pos x="33" y="33"/>
                </a:cxn>
                <a:cxn ang="0">
                  <a:pos x="37" y="25"/>
                </a:cxn>
                <a:cxn ang="0">
                  <a:pos x="40" y="18"/>
                </a:cxn>
                <a:cxn ang="0">
                  <a:pos x="37" y="11"/>
                </a:cxn>
                <a:cxn ang="0">
                  <a:pos x="33" y="4"/>
                </a:cxn>
                <a:cxn ang="0">
                  <a:pos x="26" y="0"/>
                </a:cxn>
                <a:cxn ang="0">
                  <a:pos x="18" y="0"/>
                </a:cxn>
              </a:cxnLst>
              <a:rect l="txL" t="txT" r="txR" b="txB"/>
              <a:pathLst>
                <a:path w="40" h="36">
                  <a:moveTo>
                    <a:pt x="18" y="0"/>
                  </a:moveTo>
                  <a:lnTo>
                    <a:pt x="11" y="0"/>
                  </a:lnTo>
                  <a:lnTo>
                    <a:pt x="8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8" y="33"/>
                  </a:lnTo>
                  <a:lnTo>
                    <a:pt x="11" y="36"/>
                  </a:lnTo>
                  <a:lnTo>
                    <a:pt x="18" y="36"/>
                  </a:lnTo>
                  <a:lnTo>
                    <a:pt x="26" y="36"/>
                  </a:lnTo>
                  <a:lnTo>
                    <a:pt x="33" y="33"/>
                  </a:lnTo>
                  <a:lnTo>
                    <a:pt x="37" y="25"/>
                  </a:lnTo>
                  <a:lnTo>
                    <a:pt x="40" y="18"/>
                  </a:lnTo>
                  <a:lnTo>
                    <a:pt x="37" y="11"/>
                  </a:lnTo>
                  <a:lnTo>
                    <a:pt x="33" y="4"/>
                  </a:lnTo>
                  <a:lnTo>
                    <a:pt x="26" y="0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45" name="Rectangle 97"/>
            <p:cNvSpPr/>
            <p:nvPr/>
          </p:nvSpPr>
          <p:spPr>
            <a:xfrm>
              <a:off x="1411" y="3616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46" name="Rectangle 98"/>
            <p:cNvSpPr/>
            <p:nvPr/>
          </p:nvSpPr>
          <p:spPr>
            <a:xfrm>
              <a:off x="1526" y="3692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47" name="Rectangle 99"/>
            <p:cNvSpPr/>
            <p:nvPr/>
          </p:nvSpPr>
          <p:spPr>
            <a:xfrm>
              <a:off x="1580" y="3616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48" name="Line 100"/>
            <p:cNvSpPr/>
            <p:nvPr/>
          </p:nvSpPr>
          <p:spPr>
            <a:xfrm flipH="1">
              <a:off x="342" y="3768"/>
              <a:ext cx="67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49" name="Rectangle 101"/>
            <p:cNvSpPr/>
            <p:nvPr/>
          </p:nvSpPr>
          <p:spPr>
            <a:xfrm>
              <a:off x="190" y="3703"/>
              <a:ext cx="83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50" name="Rectangle 102"/>
            <p:cNvSpPr/>
            <p:nvPr/>
          </p:nvSpPr>
          <p:spPr>
            <a:xfrm>
              <a:off x="306" y="3703"/>
              <a:ext cx="28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51" name="Rectangle 103"/>
            <p:cNvSpPr/>
            <p:nvPr/>
          </p:nvSpPr>
          <p:spPr>
            <a:xfrm>
              <a:off x="2075" y="3204"/>
              <a:ext cx="8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52" name="Rectangle 104"/>
            <p:cNvSpPr/>
            <p:nvPr/>
          </p:nvSpPr>
          <p:spPr>
            <a:xfrm>
              <a:off x="2111" y="3464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53" name="Rectangle 105"/>
            <p:cNvSpPr/>
            <p:nvPr/>
          </p:nvSpPr>
          <p:spPr>
            <a:xfrm>
              <a:off x="2165" y="338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54" name="Rectangle 106"/>
            <p:cNvSpPr/>
            <p:nvPr/>
          </p:nvSpPr>
          <p:spPr>
            <a:xfrm>
              <a:off x="2641" y="2401"/>
              <a:ext cx="170" cy="19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55" name="Rectangle 107"/>
            <p:cNvSpPr/>
            <p:nvPr/>
          </p:nvSpPr>
          <p:spPr>
            <a:xfrm>
              <a:off x="2670" y="2409"/>
              <a:ext cx="83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56" name="Rectangle 108"/>
            <p:cNvSpPr/>
            <p:nvPr/>
          </p:nvSpPr>
          <p:spPr>
            <a:xfrm>
              <a:off x="2786" y="240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57" name="Rectangle 109"/>
            <p:cNvSpPr/>
            <p:nvPr/>
          </p:nvSpPr>
          <p:spPr>
            <a:xfrm>
              <a:off x="2641" y="2987"/>
              <a:ext cx="170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58" name="Rectangle 110"/>
            <p:cNvSpPr/>
            <p:nvPr/>
          </p:nvSpPr>
          <p:spPr>
            <a:xfrm>
              <a:off x="2670" y="2987"/>
              <a:ext cx="83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59" name="Rectangle 111"/>
            <p:cNvSpPr/>
            <p:nvPr/>
          </p:nvSpPr>
          <p:spPr>
            <a:xfrm>
              <a:off x="2786" y="298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60" name="Line 112"/>
            <p:cNvSpPr/>
            <p:nvPr/>
          </p:nvSpPr>
          <p:spPr>
            <a:xfrm>
              <a:off x="2670" y="2998"/>
              <a:ext cx="109" cy="1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61" name="Rectangle 113"/>
            <p:cNvSpPr/>
            <p:nvPr/>
          </p:nvSpPr>
          <p:spPr>
            <a:xfrm>
              <a:off x="1017" y="3562"/>
              <a:ext cx="170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62" name="Rectangle 114"/>
            <p:cNvSpPr/>
            <p:nvPr/>
          </p:nvSpPr>
          <p:spPr>
            <a:xfrm>
              <a:off x="1017" y="3562"/>
              <a:ext cx="170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63" name="Rectangle 115"/>
            <p:cNvSpPr/>
            <p:nvPr/>
          </p:nvSpPr>
          <p:spPr>
            <a:xfrm>
              <a:off x="1039" y="3576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64" name="Rectangle 116"/>
            <p:cNvSpPr/>
            <p:nvPr/>
          </p:nvSpPr>
          <p:spPr>
            <a:xfrm>
              <a:off x="1172" y="3576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2365" name="Freeform 117"/>
            <p:cNvSpPr/>
            <p:nvPr/>
          </p:nvSpPr>
          <p:spPr>
            <a:xfrm>
              <a:off x="840" y="3211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1" y="4"/>
                </a:cxn>
                <a:cxn ang="0">
                  <a:pos x="7" y="7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4" y="29"/>
                </a:cxn>
                <a:cxn ang="0">
                  <a:pos x="7" y="33"/>
                </a:cxn>
                <a:cxn ang="0">
                  <a:pos x="11" y="36"/>
                </a:cxn>
                <a:cxn ang="0">
                  <a:pos x="18" y="40"/>
                </a:cxn>
                <a:cxn ang="0">
                  <a:pos x="29" y="36"/>
                </a:cxn>
                <a:cxn ang="0">
                  <a:pos x="33" y="33"/>
                </a:cxn>
                <a:cxn ang="0">
                  <a:pos x="36" y="29"/>
                </a:cxn>
                <a:cxn ang="0">
                  <a:pos x="40" y="18"/>
                </a:cxn>
                <a:cxn ang="0">
                  <a:pos x="36" y="11"/>
                </a:cxn>
                <a:cxn ang="0">
                  <a:pos x="33" y="7"/>
                </a:cxn>
                <a:cxn ang="0">
                  <a:pos x="29" y="4"/>
                </a:cxn>
                <a:cxn ang="0">
                  <a:pos x="18" y="0"/>
                </a:cxn>
              </a:cxnLst>
              <a:rect l="txL" t="txT" r="txR" b="txB"/>
              <a:pathLst>
                <a:path w="40" h="40">
                  <a:moveTo>
                    <a:pt x="18" y="0"/>
                  </a:moveTo>
                  <a:lnTo>
                    <a:pt x="11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0" y="18"/>
                  </a:lnTo>
                  <a:lnTo>
                    <a:pt x="4" y="29"/>
                  </a:lnTo>
                  <a:lnTo>
                    <a:pt x="7" y="33"/>
                  </a:lnTo>
                  <a:lnTo>
                    <a:pt x="11" y="36"/>
                  </a:lnTo>
                  <a:lnTo>
                    <a:pt x="18" y="40"/>
                  </a:lnTo>
                  <a:lnTo>
                    <a:pt x="29" y="36"/>
                  </a:lnTo>
                  <a:lnTo>
                    <a:pt x="33" y="33"/>
                  </a:lnTo>
                  <a:lnTo>
                    <a:pt x="36" y="29"/>
                  </a:lnTo>
                  <a:lnTo>
                    <a:pt x="40" y="18"/>
                  </a:lnTo>
                  <a:lnTo>
                    <a:pt x="36" y="11"/>
                  </a:lnTo>
                  <a:lnTo>
                    <a:pt x="33" y="7"/>
                  </a:lnTo>
                  <a:lnTo>
                    <a:pt x="29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66" name="Freeform 118"/>
            <p:cNvSpPr/>
            <p:nvPr/>
          </p:nvSpPr>
          <p:spPr>
            <a:xfrm>
              <a:off x="840" y="3211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1" y="4"/>
                </a:cxn>
                <a:cxn ang="0">
                  <a:pos x="7" y="7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4" y="29"/>
                </a:cxn>
                <a:cxn ang="0">
                  <a:pos x="7" y="33"/>
                </a:cxn>
                <a:cxn ang="0">
                  <a:pos x="11" y="36"/>
                </a:cxn>
                <a:cxn ang="0">
                  <a:pos x="18" y="40"/>
                </a:cxn>
                <a:cxn ang="0">
                  <a:pos x="29" y="36"/>
                </a:cxn>
                <a:cxn ang="0">
                  <a:pos x="33" y="33"/>
                </a:cxn>
                <a:cxn ang="0">
                  <a:pos x="36" y="29"/>
                </a:cxn>
                <a:cxn ang="0">
                  <a:pos x="40" y="18"/>
                </a:cxn>
                <a:cxn ang="0">
                  <a:pos x="36" y="11"/>
                </a:cxn>
                <a:cxn ang="0">
                  <a:pos x="33" y="7"/>
                </a:cxn>
                <a:cxn ang="0">
                  <a:pos x="29" y="4"/>
                </a:cxn>
                <a:cxn ang="0">
                  <a:pos x="18" y="0"/>
                </a:cxn>
              </a:cxnLst>
              <a:rect l="txL" t="txT" r="txR" b="txB"/>
              <a:pathLst>
                <a:path w="40" h="40">
                  <a:moveTo>
                    <a:pt x="18" y="0"/>
                  </a:moveTo>
                  <a:lnTo>
                    <a:pt x="11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0" y="18"/>
                  </a:lnTo>
                  <a:lnTo>
                    <a:pt x="4" y="29"/>
                  </a:lnTo>
                  <a:lnTo>
                    <a:pt x="7" y="33"/>
                  </a:lnTo>
                  <a:lnTo>
                    <a:pt x="11" y="36"/>
                  </a:lnTo>
                  <a:lnTo>
                    <a:pt x="18" y="40"/>
                  </a:lnTo>
                  <a:lnTo>
                    <a:pt x="29" y="36"/>
                  </a:lnTo>
                  <a:lnTo>
                    <a:pt x="33" y="33"/>
                  </a:lnTo>
                  <a:lnTo>
                    <a:pt x="36" y="29"/>
                  </a:lnTo>
                  <a:lnTo>
                    <a:pt x="40" y="18"/>
                  </a:lnTo>
                  <a:lnTo>
                    <a:pt x="36" y="11"/>
                  </a:lnTo>
                  <a:lnTo>
                    <a:pt x="33" y="7"/>
                  </a:lnTo>
                  <a:lnTo>
                    <a:pt x="29" y="4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367" name="Line 119"/>
            <p:cNvSpPr/>
            <p:nvPr/>
          </p:nvSpPr>
          <p:spPr>
            <a:xfrm>
              <a:off x="1725" y="2242"/>
              <a:ext cx="108" cy="1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68" name="Line 120"/>
            <p:cNvSpPr/>
            <p:nvPr/>
          </p:nvSpPr>
          <p:spPr>
            <a:xfrm>
              <a:off x="1721" y="2965"/>
              <a:ext cx="108" cy="1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2921" name="Rectangle 121"/>
          <p:cNvSpPr/>
          <p:nvPr/>
        </p:nvSpPr>
        <p:spPr>
          <a:xfrm>
            <a:off x="0" y="1881188"/>
            <a:ext cx="29876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CP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跳变为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2922" name="Rectangle 122"/>
          <p:cNvSpPr/>
          <p:nvPr/>
        </p:nvSpPr>
        <p:spPr>
          <a:xfrm flipV="1">
            <a:off x="4714875" y="3060700"/>
            <a:ext cx="360363" cy="539750"/>
          </a:xfrm>
          <a:prstGeom prst="rect">
            <a:avLst/>
          </a:prstGeom>
          <a:solidFill>
            <a:srgbClr val="00D69E">
              <a:alpha val="50980"/>
            </a:srgbClr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2923" name="Rectangle 123"/>
          <p:cNvSpPr/>
          <p:nvPr/>
        </p:nvSpPr>
        <p:spPr>
          <a:xfrm flipV="1">
            <a:off x="4714875" y="4579938"/>
            <a:ext cx="396875" cy="541337"/>
          </a:xfrm>
          <a:prstGeom prst="rect">
            <a:avLst/>
          </a:prstGeom>
          <a:solidFill>
            <a:srgbClr val="00D69E">
              <a:alpha val="50980"/>
            </a:srgbClr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24"/>
          <p:cNvGrpSpPr/>
          <p:nvPr/>
        </p:nvGrpSpPr>
        <p:grpSpPr>
          <a:xfrm>
            <a:off x="3201988" y="3636963"/>
            <a:ext cx="533400" cy="477837"/>
            <a:chOff x="2767" y="3436"/>
            <a:chExt cx="198" cy="198"/>
          </a:xfrm>
        </p:grpSpPr>
        <p:sp>
          <p:nvSpPr>
            <p:cNvPr id="52253" name="Oval 125"/>
            <p:cNvSpPr/>
            <p:nvPr/>
          </p:nvSpPr>
          <p:spPr>
            <a:xfrm>
              <a:off x="2767" y="3436"/>
              <a:ext cx="198" cy="198"/>
            </a:xfrm>
            <a:prstGeom prst="ellipse">
              <a:avLst/>
            </a:prstGeom>
            <a:solidFill>
              <a:schemeClr val="bg1">
                <a:alpha val="50195"/>
              </a:schemeClr>
            </a:solidFill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54" name="Line 126"/>
            <p:cNvSpPr/>
            <p:nvPr/>
          </p:nvSpPr>
          <p:spPr>
            <a:xfrm>
              <a:off x="2852" y="3464"/>
              <a:ext cx="84" cy="1"/>
            </a:xfrm>
            <a:prstGeom prst="line">
              <a:avLst/>
            </a:prstGeom>
            <a:ln w="28575" cap="flat" cmpd="sng">
              <a:solidFill>
                <a:srgbClr val="CC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5" name="Freeform 127"/>
            <p:cNvSpPr/>
            <p:nvPr/>
          </p:nvSpPr>
          <p:spPr>
            <a:xfrm flipV="1">
              <a:off x="2836" y="3464"/>
              <a:ext cx="31" cy="105"/>
            </a:xfrm>
            <a:custGeom>
              <a:avLst/>
              <a:gdLst>
                <a:gd name="txL" fmla="*/ 0 w 31"/>
                <a:gd name="txT" fmla="*/ 0 h 122"/>
                <a:gd name="txR" fmla="*/ 31 w 31"/>
                <a:gd name="txB" fmla="*/ 122 h 122"/>
              </a:gdLst>
              <a:ahLst/>
              <a:cxnLst>
                <a:cxn ang="0">
                  <a:pos x="0" y="0"/>
                </a:cxn>
                <a:cxn ang="0">
                  <a:pos x="31" y="0"/>
                </a:cxn>
                <a:cxn ang="0">
                  <a:pos x="16" y="90"/>
                </a:cxn>
                <a:cxn ang="0">
                  <a:pos x="0" y="0"/>
                </a:cxn>
              </a:cxnLst>
              <a:rect l="txL" t="txT" r="txR" b="txB"/>
              <a:pathLst>
                <a:path w="31" h="122">
                  <a:moveTo>
                    <a:pt x="0" y="0"/>
                  </a:moveTo>
                  <a:lnTo>
                    <a:pt x="31" y="0"/>
                  </a:lnTo>
                  <a:lnTo>
                    <a:pt x="16" y="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195"/>
              </a:schemeClr>
            </a:solidFill>
            <a:ln w="28575" cap="flat" cmpd="sng">
              <a:solidFill>
                <a:srgbClr val="CC3399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56" name="Line 128"/>
            <p:cNvSpPr/>
            <p:nvPr/>
          </p:nvSpPr>
          <p:spPr>
            <a:xfrm>
              <a:off x="2852" y="3464"/>
              <a:ext cx="1" cy="134"/>
            </a:xfrm>
            <a:prstGeom prst="line">
              <a:avLst/>
            </a:prstGeom>
            <a:ln w="28575" cap="flat" cmpd="sng">
              <a:solidFill>
                <a:srgbClr val="CC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7" name="Line 129"/>
            <p:cNvSpPr/>
            <p:nvPr/>
          </p:nvSpPr>
          <p:spPr>
            <a:xfrm>
              <a:off x="2795" y="3606"/>
              <a:ext cx="57" cy="1"/>
            </a:xfrm>
            <a:prstGeom prst="line">
              <a:avLst/>
            </a:prstGeom>
            <a:ln w="28575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2930" name="Oval 130"/>
          <p:cNvSpPr/>
          <p:nvPr/>
        </p:nvSpPr>
        <p:spPr>
          <a:xfrm>
            <a:off x="6478588" y="2889250"/>
            <a:ext cx="431800" cy="431800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2931" name="Oval 131"/>
          <p:cNvSpPr/>
          <p:nvPr/>
        </p:nvSpPr>
        <p:spPr>
          <a:xfrm>
            <a:off x="6484938" y="4437063"/>
            <a:ext cx="427037" cy="439737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2932" name="Oval 132"/>
          <p:cNvSpPr/>
          <p:nvPr/>
        </p:nvSpPr>
        <p:spPr>
          <a:xfrm>
            <a:off x="3240088" y="5734050"/>
            <a:ext cx="431800" cy="431800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2239" name="Oval 133"/>
          <p:cNvSpPr/>
          <p:nvPr/>
        </p:nvSpPr>
        <p:spPr>
          <a:xfrm>
            <a:off x="5219700" y="1736725"/>
            <a:ext cx="468313" cy="468313"/>
          </a:xfrm>
          <a:prstGeom prst="ellipse">
            <a:avLst/>
          </a:prstGeom>
          <a:solidFill>
            <a:srgbClr val="CC0066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2240" name="Group 134"/>
          <p:cNvGrpSpPr/>
          <p:nvPr/>
        </p:nvGrpSpPr>
        <p:grpSpPr>
          <a:xfrm>
            <a:off x="5184775" y="6057900"/>
            <a:ext cx="508000" cy="488950"/>
            <a:chOff x="2172" y="3129"/>
            <a:chExt cx="161" cy="204"/>
          </a:xfrm>
        </p:grpSpPr>
        <p:sp>
          <p:nvSpPr>
            <p:cNvPr id="52251" name="Oval 135"/>
            <p:cNvSpPr/>
            <p:nvPr/>
          </p:nvSpPr>
          <p:spPr>
            <a:xfrm>
              <a:off x="2172" y="3129"/>
              <a:ext cx="161" cy="204"/>
            </a:xfrm>
            <a:prstGeom prst="ellipse">
              <a:avLst/>
            </a:prstGeom>
            <a:solidFill>
              <a:srgbClr val="CC0066"/>
            </a:solidFill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D</a:t>
              </a:r>
              <a:endPara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2252" name="Line 136"/>
            <p:cNvSpPr/>
            <p:nvPr/>
          </p:nvSpPr>
          <p:spPr>
            <a:xfrm>
              <a:off x="2200" y="3152"/>
              <a:ext cx="85" cy="0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332937" name="Object 137"/>
          <p:cNvGraphicFramePr>
            <a:graphicFrameLocks noChangeAspect="1"/>
          </p:cNvGraphicFramePr>
          <p:nvPr/>
        </p:nvGraphicFramePr>
        <p:xfrm>
          <a:off x="250825" y="2600325"/>
          <a:ext cx="19145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558800" imgH="215900" progId="Equation.DSMT4">
                  <p:embed/>
                </p:oleObj>
              </mc:Choice>
              <mc:Fallback>
                <p:oleObj name="" r:id="rId1" imgW="558800" imgH="2159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2600325"/>
                        <a:ext cx="1914525" cy="639763"/>
                      </a:xfrm>
                      <a:prstGeom prst="rect">
                        <a:avLst/>
                      </a:prstGeom>
                      <a:solidFill>
                        <a:srgbClr val="FFFFFF">
                          <a:alpha val="0"/>
                        </a:srgbClr>
                      </a:solidFill>
                      <a:ln w="9525" cap="flat" cmpd="sng">
                        <a:solidFill>
                          <a:srgbClr val="FFFFFF">
                            <a:alpha val="0"/>
                          </a:srgbClr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938" name="Rectangle 138"/>
          <p:cNvSpPr/>
          <p:nvPr/>
        </p:nvSpPr>
        <p:spPr>
          <a:xfrm>
            <a:off x="0" y="3465513"/>
            <a:ext cx="2627313" cy="173513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CP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脉冲的上升沿，触法器按此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前的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信号刷新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243" name="Oval 139"/>
          <p:cNvSpPr/>
          <p:nvPr/>
        </p:nvSpPr>
        <p:spPr>
          <a:xfrm>
            <a:off x="5508625" y="2852738"/>
            <a:ext cx="387350" cy="396875"/>
          </a:xfrm>
          <a:prstGeom prst="ellipse">
            <a:avLst/>
          </a:prstGeom>
          <a:solidFill>
            <a:srgbClr val="0033CC"/>
          </a:solidFill>
          <a:ln w="9525" cap="flat" cmpd="sng">
            <a:solidFill>
              <a:srgbClr val="D6009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2244" name="Oval 140"/>
          <p:cNvSpPr/>
          <p:nvPr/>
        </p:nvSpPr>
        <p:spPr>
          <a:xfrm>
            <a:off x="5364163" y="4400550"/>
            <a:ext cx="404812" cy="388938"/>
          </a:xfrm>
          <a:prstGeom prst="ellipse">
            <a:avLst/>
          </a:prstGeom>
          <a:solidFill>
            <a:srgbClr val="0033CC"/>
          </a:solidFill>
          <a:ln w="9525" cap="flat" cmpd="sng">
            <a:solidFill>
              <a:srgbClr val="D6009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2245" name="Rectangle 141"/>
          <p:cNvSpPr/>
          <p:nvPr/>
        </p:nvSpPr>
        <p:spPr>
          <a:xfrm>
            <a:off x="4679950" y="3608388"/>
            <a:ext cx="360363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246" name="Rectangle 142"/>
          <p:cNvSpPr/>
          <p:nvPr/>
        </p:nvSpPr>
        <p:spPr>
          <a:xfrm>
            <a:off x="4787900" y="6273800"/>
            <a:ext cx="360363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247" name="Rectangle 143"/>
          <p:cNvSpPr/>
          <p:nvPr/>
        </p:nvSpPr>
        <p:spPr>
          <a:xfrm>
            <a:off x="7056438" y="5013325"/>
            <a:ext cx="360362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248" name="Rectangle 144"/>
          <p:cNvSpPr/>
          <p:nvPr/>
        </p:nvSpPr>
        <p:spPr>
          <a:xfrm>
            <a:off x="7056438" y="2816225"/>
            <a:ext cx="360362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249" name="Rectangle 145"/>
          <p:cNvSpPr/>
          <p:nvPr/>
        </p:nvSpPr>
        <p:spPr>
          <a:xfrm>
            <a:off x="4751388" y="4257675"/>
            <a:ext cx="360362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250" name="Rectangle 146"/>
          <p:cNvSpPr/>
          <p:nvPr/>
        </p:nvSpPr>
        <p:spPr>
          <a:xfrm>
            <a:off x="792163" y="1052513"/>
            <a:ext cx="55800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、工作原理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32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33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33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3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3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3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33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3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3" grpId="0" animBg="1"/>
      <p:bldP spid="332804" grpId="0" animBg="1"/>
      <p:bldP spid="332805" grpId="0" animBg="1"/>
      <p:bldP spid="332921" grpId="0"/>
      <p:bldP spid="332922" grpId="0" animBg="1"/>
      <p:bldP spid="332923" grpId="0" animBg="1"/>
      <p:bldP spid="332930" grpId="0" animBg="1"/>
      <p:bldP spid="332931" grpId="0" animBg="1"/>
      <p:bldP spid="332932" grpId="0" animBg="1"/>
      <p:bldP spid="33293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/>
          <p:nvPr/>
        </p:nvSpPr>
        <p:spPr>
          <a:xfrm>
            <a:off x="503238" y="1700213"/>
            <a:ext cx="8208962" cy="46085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633788" y="4806950"/>
            <a:ext cx="1225550" cy="1008063"/>
            <a:chOff x="362" y="3249"/>
            <a:chExt cx="772" cy="635"/>
          </a:xfrm>
        </p:grpSpPr>
        <p:sp>
          <p:nvSpPr>
            <p:cNvPr id="53393" name="Line 4"/>
            <p:cNvSpPr/>
            <p:nvPr/>
          </p:nvSpPr>
          <p:spPr>
            <a:xfrm>
              <a:off x="1112" y="3249"/>
              <a:ext cx="0" cy="249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94" name="Line 5"/>
            <p:cNvSpPr/>
            <p:nvPr/>
          </p:nvSpPr>
          <p:spPr>
            <a:xfrm flipH="1">
              <a:off x="363" y="3475"/>
              <a:ext cx="771" cy="250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95" name="Line 6"/>
            <p:cNvSpPr/>
            <p:nvPr/>
          </p:nvSpPr>
          <p:spPr>
            <a:xfrm>
              <a:off x="363" y="3725"/>
              <a:ext cx="0" cy="159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96" name="Line 7"/>
            <p:cNvSpPr/>
            <p:nvPr/>
          </p:nvSpPr>
          <p:spPr>
            <a:xfrm>
              <a:off x="362" y="3884"/>
              <a:ext cx="295" cy="0"/>
            </a:xfrm>
            <a:prstGeom prst="line">
              <a:avLst/>
            </a:prstGeom>
            <a:ln w="5715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3252" name="Group 8"/>
          <p:cNvGrpSpPr/>
          <p:nvPr/>
        </p:nvGrpSpPr>
        <p:grpSpPr>
          <a:xfrm>
            <a:off x="1908175" y="1484313"/>
            <a:ext cx="6018213" cy="5632450"/>
            <a:chOff x="90" y="1570"/>
            <a:chExt cx="2725" cy="2679"/>
          </a:xfrm>
        </p:grpSpPr>
        <p:sp>
          <p:nvSpPr>
            <p:cNvPr id="53282" name="AutoShape 9"/>
            <p:cNvSpPr>
              <a:spLocks noChangeAspect="1" noTextEdit="1"/>
            </p:cNvSpPr>
            <p:nvPr/>
          </p:nvSpPr>
          <p:spPr>
            <a:xfrm>
              <a:off x="158" y="1570"/>
              <a:ext cx="2653" cy="24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83" name="Rectangle 10"/>
            <p:cNvSpPr/>
            <p:nvPr/>
          </p:nvSpPr>
          <p:spPr>
            <a:xfrm>
              <a:off x="158" y="159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84" name="Rectangle 11"/>
            <p:cNvSpPr/>
            <p:nvPr/>
          </p:nvSpPr>
          <p:spPr>
            <a:xfrm>
              <a:off x="1050" y="1570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85" name="Rectangle 12"/>
            <p:cNvSpPr/>
            <p:nvPr/>
          </p:nvSpPr>
          <p:spPr>
            <a:xfrm>
              <a:off x="1086" y="1827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86" name="Rectangle 13"/>
            <p:cNvSpPr/>
            <p:nvPr/>
          </p:nvSpPr>
          <p:spPr>
            <a:xfrm>
              <a:off x="1140" y="1751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87" name="Rectangle 14"/>
            <p:cNvSpPr/>
            <p:nvPr/>
          </p:nvSpPr>
          <p:spPr>
            <a:xfrm>
              <a:off x="1017" y="1754"/>
              <a:ext cx="170" cy="25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288" name="Rectangle 15"/>
            <p:cNvSpPr/>
            <p:nvPr/>
          </p:nvSpPr>
          <p:spPr>
            <a:xfrm>
              <a:off x="1017" y="1754"/>
              <a:ext cx="170" cy="257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289" name="Rectangle 16"/>
            <p:cNvSpPr/>
            <p:nvPr/>
          </p:nvSpPr>
          <p:spPr>
            <a:xfrm>
              <a:off x="1039" y="1769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90" name="Rectangle 17"/>
            <p:cNvSpPr/>
            <p:nvPr/>
          </p:nvSpPr>
          <p:spPr>
            <a:xfrm>
              <a:off x="1172" y="176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91" name="Rectangle 18"/>
            <p:cNvSpPr/>
            <p:nvPr/>
          </p:nvSpPr>
          <p:spPr>
            <a:xfrm>
              <a:off x="90" y="2756"/>
              <a:ext cx="77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92" name="Rectangle 19"/>
            <p:cNvSpPr/>
            <p:nvPr/>
          </p:nvSpPr>
          <p:spPr>
            <a:xfrm>
              <a:off x="219" y="2750"/>
              <a:ext cx="70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93" name="Rectangle 20"/>
            <p:cNvSpPr/>
            <p:nvPr/>
          </p:nvSpPr>
          <p:spPr>
            <a:xfrm>
              <a:off x="299" y="293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94" name="Freeform 21"/>
            <p:cNvSpPr/>
            <p:nvPr/>
          </p:nvSpPr>
          <p:spPr>
            <a:xfrm>
              <a:off x="559" y="2795"/>
              <a:ext cx="36" cy="40"/>
            </a:xfrm>
            <a:custGeom>
              <a:avLst/>
              <a:gdLst>
                <a:gd name="txL" fmla="*/ 0 w 36"/>
                <a:gd name="txT" fmla="*/ 0 h 40"/>
                <a:gd name="txR" fmla="*/ 36 w 36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4"/>
                </a:cxn>
                <a:cxn ang="0">
                  <a:pos x="3" y="8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9"/>
                </a:cxn>
                <a:cxn ang="0">
                  <a:pos x="3" y="33"/>
                </a:cxn>
                <a:cxn ang="0">
                  <a:pos x="10" y="37"/>
                </a:cxn>
                <a:cxn ang="0">
                  <a:pos x="18" y="40"/>
                </a:cxn>
                <a:cxn ang="0">
                  <a:pos x="25" y="37"/>
                </a:cxn>
                <a:cxn ang="0">
                  <a:pos x="32" y="33"/>
                </a:cxn>
                <a:cxn ang="0">
                  <a:pos x="36" y="29"/>
                </a:cxn>
                <a:cxn ang="0">
                  <a:pos x="36" y="18"/>
                </a:cxn>
                <a:cxn ang="0">
                  <a:pos x="36" y="11"/>
                </a:cxn>
                <a:cxn ang="0">
                  <a:pos x="32" y="8"/>
                </a:cxn>
                <a:cxn ang="0">
                  <a:pos x="25" y="4"/>
                </a:cxn>
                <a:cxn ang="0">
                  <a:pos x="18" y="0"/>
                </a:cxn>
              </a:cxnLst>
              <a:rect l="txL" t="txT" r="txR" b="txB"/>
              <a:pathLst>
                <a:path w="36" h="40">
                  <a:moveTo>
                    <a:pt x="18" y="0"/>
                  </a:moveTo>
                  <a:lnTo>
                    <a:pt x="10" y="4"/>
                  </a:lnTo>
                  <a:lnTo>
                    <a:pt x="3" y="8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3" y="33"/>
                  </a:lnTo>
                  <a:lnTo>
                    <a:pt x="10" y="37"/>
                  </a:lnTo>
                  <a:lnTo>
                    <a:pt x="18" y="40"/>
                  </a:lnTo>
                  <a:lnTo>
                    <a:pt x="25" y="37"/>
                  </a:lnTo>
                  <a:lnTo>
                    <a:pt x="32" y="33"/>
                  </a:lnTo>
                  <a:lnTo>
                    <a:pt x="36" y="29"/>
                  </a:lnTo>
                  <a:lnTo>
                    <a:pt x="36" y="18"/>
                  </a:lnTo>
                  <a:lnTo>
                    <a:pt x="36" y="11"/>
                  </a:lnTo>
                  <a:lnTo>
                    <a:pt x="32" y="8"/>
                  </a:lnTo>
                  <a:lnTo>
                    <a:pt x="25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95" name="Freeform 22"/>
            <p:cNvSpPr/>
            <p:nvPr/>
          </p:nvSpPr>
          <p:spPr>
            <a:xfrm>
              <a:off x="559" y="2795"/>
              <a:ext cx="36" cy="40"/>
            </a:xfrm>
            <a:custGeom>
              <a:avLst/>
              <a:gdLst>
                <a:gd name="txL" fmla="*/ 0 w 36"/>
                <a:gd name="txT" fmla="*/ 0 h 40"/>
                <a:gd name="txR" fmla="*/ 36 w 36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4"/>
                </a:cxn>
                <a:cxn ang="0">
                  <a:pos x="3" y="8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9"/>
                </a:cxn>
                <a:cxn ang="0">
                  <a:pos x="3" y="33"/>
                </a:cxn>
                <a:cxn ang="0">
                  <a:pos x="10" y="37"/>
                </a:cxn>
                <a:cxn ang="0">
                  <a:pos x="18" y="40"/>
                </a:cxn>
                <a:cxn ang="0">
                  <a:pos x="25" y="37"/>
                </a:cxn>
                <a:cxn ang="0">
                  <a:pos x="32" y="33"/>
                </a:cxn>
                <a:cxn ang="0">
                  <a:pos x="36" y="29"/>
                </a:cxn>
                <a:cxn ang="0">
                  <a:pos x="36" y="18"/>
                </a:cxn>
                <a:cxn ang="0">
                  <a:pos x="36" y="11"/>
                </a:cxn>
                <a:cxn ang="0">
                  <a:pos x="32" y="8"/>
                </a:cxn>
                <a:cxn ang="0">
                  <a:pos x="25" y="4"/>
                </a:cxn>
                <a:cxn ang="0">
                  <a:pos x="18" y="0"/>
                </a:cxn>
              </a:cxnLst>
              <a:rect l="txL" t="txT" r="txR" b="txB"/>
              <a:pathLst>
                <a:path w="36" h="40">
                  <a:moveTo>
                    <a:pt x="18" y="0"/>
                  </a:moveTo>
                  <a:lnTo>
                    <a:pt x="10" y="4"/>
                  </a:lnTo>
                  <a:lnTo>
                    <a:pt x="3" y="8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3" y="33"/>
                  </a:lnTo>
                  <a:lnTo>
                    <a:pt x="10" y="37"/>
                  </a:lnTo>
                  <a:lnTo>
                    <a:pt x="18" y="40"/>
                  </a:lnTo>
                  <a:lnTo>
                    <a:pt x="25" y="37"/>
                  </a:lnTo>
                  <a:lnTo>
                    <a:pt x="32" y="33"/>
                  </a:lnTo>
                  <a:lnTo>
                    <a:pt x="36" y="29"/>
                  </a:lnTo>
                  <a:lnTo>
                    <a:pt x="36" y="18"/>
                  </a:lnTo>
                  <a:lnTo>
                    <a:pt x="36" y="11"/>
                  </a:lnTo>
                  <a:lnTo>
                    <a:pt x="32" y="8"/>
                  </a:lnTo>
                  <a:lnTo>
                    <a:pt x="25" y="4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96" name="Rectangle 23"/>
            <p:cNvSpPr/>
            <p:nvPr/>
          </p:nvSpPr>
          <p:spPr>
            <a:xfrm>
              <a:off x="1411" y="1823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97" name="Rectangle 24"/>
            <p:cNvSpPr/>
            <p:nvPr/>
          </p:nvSpPr>
          <p:spPr>
            <a:xfrm>
              <a:off x="1526" y="1899"/>
              <a:ext cx="38" cy="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98" name="Rectangle 25"/>
            <p:cNvSpPr/>
            <p:nvPr/>
          </p:nvSpPr>
          <p:spPr>
            <a:xfrm>
              <a:off x="1580" y="1823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299" name="Rectangle 26"/>
            <p:cNvSpPr/>
            <p:nvPr/>
          </p:nvSpPr>
          <p:spPr>
            <a:xfrm>
              <a:off x="1017" y="2286"/>
              <a:ext cx="170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00" name="Rectangle 27"/>
            <p:cNvSpPr/>
            <p:nvPr/>
          </p:nvSpPr>
          <p:spPr>
            <a:xfrm>
              <a:off x="1017" y="2286"/>
              <a:ext cx="170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01" name="Rectangle 28"/>
            <p:cNvSpPr/>
            <p:nvPr/>
          </p:nvSpPr>
          <p:spPr>
            <a:xfrm>
              <a:off x="1039" y="2300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02" name="Rectangle 29"/>
            <p:cNvSpPr/>
            <p:nvPr/>
          </p:nvSpPr>
          <p:spPr>
            <a:xfrm>
              <a:off x="1172" y="2300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03" name="Freeform 30"/>
            <p:cNvSpPr/>
            <p:nvPr/>
          </p:nvSpPr>
          <p:spPr>
            <a:xfrm>
              <a:off x="862" y="1953"/>
              <a:ext cx="520" cy="1103"/>
            </a:xfrm>
            <a:custGeom>
              <a:avLst/>
              <a:gdLst>
                <a:gd name="txL" fmla="*/ 0 w 520"/>
                <a:gd name="txT" fmla="*/ 0 h 1103"/>
                <a:gd name="txR" fmla="*/ 520 w 520"/>
                <a:gd name="txB" fmla="*/ 1103 h 1103"/>
              </a:gdLst>
              <a:ahLst/>
              <a:cxnLst>
                <a:cxn ang="0">
                  <a:pos x="159" y="0"/>
                </a:cxn>
                <a:cxn ang="0">
                  <a:pos x="0" y="0"/>
                </a:cxn>
                <a:cxn ang="0">
                  <a:pos x="0" y="116"/>
                </a:cxn>
                <a:cxn ang="0">
                  <a:pos x="520" y="279"/>
                </a:cxn>
                <a:cxn ang="0">
                  <a:pos x="520" y="676"/>
                </a:cxn>
                <a:cxn ang="0">
                  <a:pos x="0" y="907"/>
                </a:cxn>
                <a:cxn ang="0">
                  <a:pos x="0" y="1103"/>
                </a:cxn>
                <a:cxn ang="0">
                  <a:pos x="144" y="1103"/>
                </a:cxn>
              </a:cxnLst>
              <a:rect l="txL" t="txT" r="txR" b="txB"/>
              <a:pathLst>
                <a:path w="520" h="1103">
                  <a:moveTo>
                    <a:pt x="159" y="0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520" y="279"/>
                  </a:lnTo>
                  <a:lnTo>
                    <a:pt x="520" y="676"/>
                  </a:lnTo>
                  <a:lnTo>
                    <a:pt x="0" y="907"/>
                  </a:lnTo>
                  <a:lnTo>
                    <a:pt x="0" y="1103"/>
                  </a:lnTo>
                  <a:lnTo>
                    <a:pt x="144" y="1103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04" name="Freeform 31"/>
            <p:cNvSpPr/>
            <p:nvPr/>
          </p:nvSpPr>
          <p:spPr>
            <a:xfrm>
              <a:off x="862" y="1884"/>
              <a:ext cx="516" cy="460"/>
            </a:xfrm>
            <a:custGeom>
              <a:avLst/>
              <a:gdLst>
                <a:gd name="txL" fmla="*/ 0 w 516"/>
                <a:gd name="txT" fmla="*/ 0 h 460"/>
                <a:gd name="txR" fmla="*/ 516 w 516"/>
                <a:gd name="txB" fmla="*/ 460 h 460"/>
              </a:gdLst>
              <a:ahLst/>
              <a:cxnLst>
                <a:cxn ang="0">
                  <a:pos x="357" y="0"/>
                </a:cxn>
                <a:cxn ang="0">
                  <a:pos x="516" y="0"/>
                </a:cxn>
                <a:cxn ang="0">
                  <a:pos x="516" y="181"/>
                </a:cxn>
                <a:cxn ang="0">
                  <a:pos x="0" y="348"/>
                </a:cxn>
                <a:cxn ang="0">
                  <a:pos x="0" y="460"/>
                </a:cxn>
                <a:cxn ang="0">
                  <a:pos x="159" y="460"/>
                </a:cxn>
              </a:cxnLst>
              <a:rect l="txL" t="txT" r="txR" b="txB"/>
              <a:pathLst>
                <a:path w="516" h="460">
                  <a:moveTo>
                    <a:pt x="357" y="0"/>
                  </a:moveTo>
                  <a:lnTo>
                    <a:pt x="516" y="0"/>
                  </a:lnTo>
                  <a:lnTo>
                    <a:pt x="516" y="181"/>
                  </a:lnTo>
                  <a:lnTo>
                    <a:pt x="0" y="348"/>
                  </a:lnTo>
                  <a:lnTo>
                    <a:pt x="0" y="460"/>
                  </a:lnTo>
                  <a:lnTo>
                    <a:pt x="159" y="46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05" name="Freeform 32"/>
            <p:cNvSpPr/>
            <p:nvPr/>
          </p:nvSpPr>
          <p:spPr>
            <a:xfrm>
              <a:off x="1187" y="1859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4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4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4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4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06" name="Freeform 33"/>
            <p:cNvSpPr/>
            <p:nvPr/>
          </p:nvSpPr>
          <p:spPr>
            <a:xfrm>
              <a:off x="1187" y="1859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4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4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4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4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07" name="Rectangle 34"/>
            <p:cNvSpPr/>
            <p:nvPr/>
          </p:nvSpPr>
          <p:spPr>
            <a:xfrm>
              <a:off x="1050" y="2546"/>
              <a:ext cx="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08" name="Rectangle 35"/>
            <p:cNvSpPr/>
            <p:nvPr/>
          </p:nvSpPr>
          <p:spPr>
            <a:xfrm>
              <a:off x="1086" y="2803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09" name="Rectangle 36"/>
            <p:cNvSpPr/>
            <p:nvPr/>
          </p:nvSpPr>
          <p:spPr>
            <a:xfrm>
              <a:off x="1140" y="272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10" name="Rectangle 37"/>
            <p:cNvSpPr/>
            <p:nvPr/>
          </p:nvSpPr>
          <p:spPr>
            <a:xfrm>
              <a:off x="1050" y="2806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11" name="Rectangle 38"/>
            <p:cNvSpPr/>
            <p:nvPr/>
          </p:nvSpPr>
          <p:spPr>
            <a:xfrm>
              <a:off x="1086" y="3063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12" name="Rectangle 39"/>
            <p:cNvSpPr/>
            <p:nvPr/>
          </p:nvSpPr>
          <p:spPr>
            <a:xfrm>
              <a:off x="1140" y="298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13" name="Freeform 40"/>
            <p:cNvSpPr/>
            <p:nvPr/>
          </p:nvSpPr>
          <p:spPr>
            <a:xfrm>
              <a:off x="725" y="1801"/>
              <a:ext cx="296" cy="1432"/>
            </a:xfrm>
            <a:custGeom>
              <a:avLst/>
              <a:gdLst>
                <a:gd name="txL" fmla="*/ 0 w 296"/>
                <a:gd name="txT" fmla="*/ 0 h 1432"/>
                <a:gd name="txR" fmla="*/ 296 w 296"/>
                <a:gd name="txB" fmla="*/ 1432 h 1432"/>
              </a:gdLst>
              <a:ahLst/>
              <a:cxnLst>
                <a:cxn ang="0">
                  <a:pos x="296" y="0"/>
                </a:cxn>
                <a:cxn ang="0">
                  <a:pos x="0" y="0"/>
                </a:cxn>
                <a:cxn ang="0">
                  <a:pos x="0" y="1432"/>
                </a:cxn>
                <a:cxn ang="0">
                  <a:pos x="296" y="1432"/>
                </a:cxn>
              </a:cxnLst>
              <a:rect l="txL" t="txT" r="txR" b="txB"/>
              <a:pathLst>
                <a:path w="296" h="1432">
                  <a:moveTo>
                    <a:pt x="296" y="0"/>
                  </a:moveTo>
                  <a:lnTo>
                    <a:pt x="0" y="0"/>
                  </a:lnTo>
                  <a:lnTo>
                    <a:pt x="0" y="1432"/>
                  </a:lnTo>
                  <a:lnTo>
                    <a:pt x="296" y="1432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14" name="Freeform 41"/>
            <p:cNvSpPr/>
            <p:nvPr/>
          </p:nvSpPr>
          <p:spPr>
            <a:xfrm>
              <a:off x="580" y="2492"/>
              <a:ext cx="1469" cy="654"/>
            </a:xfrm>
            <a:custGeom>
              <a:avLst/>
              <a:gdLst>
                <a:gd name="txL" fmla="*/ 0 w 1469"/>
                <a:gd name="txT" fmla="*/ 0 h 654"/>
                <a:gd name="txR" fmla="*/ 1469 w 1469"/>
                <a:gd name="txB" fmla="*/ 654 h 654"/>
              </a:gdLst>
              <a:ahLst/>
              <a:cxnLst>
                <a:cxn ang="0">
                  <a:pos x="430" y="0"/>
                </a:cxn>
                <a:cxn ang="0">
                  <a:pos x="0" y="0"/>
                </a:cxn>
                <a:cxn ang="0">
                  <a:pos x="0" y="654"/>
                </a:cxn>
                <a:cxn ang="0">
                  <a:pos x="1469" y="654"/>
                </a:cxn>
              </a:cxnLst>
              <a:rect l="txL" t="txT" r="txR" b="txB"/>
              <a:pathLst>
                <a:path w="1469" h="654">
                  <a:moveTo>
                    <a:pt x="430" y="0"/>
                  </a:moveTo>
                  <a:lnTo>
                    <a:pt x="0" y="0"/>
                  </a:lnTo>
                  <a:lnTo>
                    <a:pt x="0" y="654"/>
                  </a:lnTo>
                  <a:lnTo>
                    <a:pt x="1469" y="654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15" name="Rectangle 42"/>
            <p:cNvSpPr/>
            <p:nvPr/>
          </p:nvSpPr>
          <p:spPr>
            <a:xfrm>
              <a:off x="1017" y="3009"/>
              <a:ext cx="170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16" name="Rectangle 43"/>
            <p:cNvSpPr/>
            <p:nvPr/>
          </p:nvSpPr>
          <p:spPr>
            <a:xfrm>
              <a:off x="1017" y="3009"/>
              <a:ext cx="170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17" name="Rectangle 44"/>
            <p:cNvSpPr/>
            <p:nvPr/>
          </p:nvSpPr>
          <p:spPr>
            <a:xfrm>
              <a:off x="1039" y="3020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18" name="Rectangle 45"/>
            <p:cNvSpPr/>
            <p:nvPr/>
          </p:nvSpPr>
          <p:spPr>
            <a:xfrm>
              <a:off x="1172" y="3020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19" name="Freeform 46"/>
            <p:cNvSpPr/>
            <p:nvPr/>
          </p:nvSpPr>
          <p:spPr>
            <a:xfrm>
              <a:off x="1187" y="3117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20" name="Freeform 47"/>
            <p:cNvSpPr/>
            <p:nvPr/>
          </p:nvSpPr>
          <p:spPr>
            <a:xfrm>
              <a:off x="1187" y="3117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0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21" name="Line 48"/>
            <p:cNvSpPr/>
            <p:nvPr/>
          </p:nvSpPr>
          <p:spPr>
            <a:xfrm flipH="1">
              <a:off x="342" y="2817"/>
              <a:ext cx="238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22" name="Line 49"/>
            <p:cNvSpPr/>
            <p:nvPr/>
          </p:nvSpPr>
          <p:spPr>
            <a:xfrm>
              <a:off x="1216" y="2412"/>
              <a:ext cx="81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23" name="Freeform 50"/>
            <p:cNvSpPr/>
            <p:nvPr/>
          </p:nvSpPr>
          <p:spPr>
            <a:xfrm>
              <a:off x="1187" y="2391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8"/>
                </a:cxn>
                <a:cxn ang="0">
                  <a:pos x="0" y="32"/>
                </a:cxn>
                <a:cxn ang="0">
                  <a:pos x="7" y="39"/>
                </a:cxn>
                <a:cxn ang="0">
                  <a:pos x="14" y="43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3"/>
                </a:cxn>
                <a:cxn ang="0">
                  <a:pos x="39" y="39"/>
                </a:cxn>
                <a:cxn ang="0">
                  <a:pos x="43" y="32"/>
                </a:cxn>
                <a:cxn ang="0">
                  <a:pos x="47" y="28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2"/>
                  </a:lnTo>
                  <a:lnTo>
                    <a:pt x="7" y="39"/>
                  </a:lnTo>
                  <a:lnTo>
                    <a:pt x="14" y="43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3"/>
                  </a:lnTo>
                  <a:lnTo>
                    <a:pt x="39" y="39"/>
                  </a:lnTo>
                  <a:lnTo>
                    <a:pt x="43" y="32"/>
                  </a:lnTo>
                  <a:lnTo>
                    <a:pt x="47" y="28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24" name="Freeform 51"/>
            <p:cNvSpPr/>
            <p:nvPr/>
          </p:nvSpPr>
          <p:spPr>
            <a:xfrm>
              <a:off x="1187" y="2391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8"/>
                </a:cxn>
                <a:cxn ang="0">
                  <a:pos x="0" y="32"/>
                </a:cxn>
                <a:cxn ang="0">
                  <a:pos x="7" y="39"/>
                </a:cxn>
                <a:cxn ang="0">
                  <a:pos x="14" y="43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3"/>
                </a:cxn>
                <a:cxn ang="0">
                  <a:pos x="39" y="39"/>
                </a:cxn>
                <a:cxn ang="0">
                  <a:pos x="43" y="32"/>
                </a:cxn>
                <a:cxn ang="0">
                  <a:pos x="47" y="28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2"/>
                  </a:lnTo>
                  <a:lnTo>
                    <a:pt x="7" y="39"/>
                  </a:lnTo>
                  <a:lnTo>
                    <a:pt x="14" y="43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3"/>
                  </a:lnTo>
                  <a:lnTo>
                    <a:pt x="39" y="39"/>
                  </a:lnTo>
                  <a:lnTo>
                    <a:pt x="43" y="32"/>
                  </a:lnTo>
                  <a:lnTo>
                    <a:pt x="47" y="28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25" name="Rectangle 52"/>
            <p:cNvSpPr/>
            <p:nvPr/>
          </p:nvSpPr>
          <p:spPr>
            <a:xfrm>
              <a:off x="2035" y="2358"/>
              <a:ext cx="173" cy="25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26" name="Rectangle 53"/>
            <p:cNvSpPr/>
            <p:nvPr/>
          </p:nvSpPr>
          <p:spPr>
            <a:xfrm>
              <a:off x="2035" y="2358"/>
              <a:ext cx="173" cy="257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27" name="Rectangle 54"/>
            <p:cNvSpPr/>
            <p:nvPr/>
          </p:nvSpPr>
          <p:spPr>
            <a:xfrm>
              <a:off x="2057" y="2373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28" name="Rectangle 55"/>
            <p:cNvSpPr/>
            <p:nvPr/>
          </p:nvSpPr>
          <p:spPr>
            <a:xfrm>
              <a:off x="2190" y="2373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29" name="Line 56"/>
            <p:cNvSpPr/>
            <p:nvPr/>
          </p:nvSpPr>
          <p:spPr>
            <a:xfrm>
              <a:off x="2226" y="2488"/>
              <a:ext cx="45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30" name="Freeform 57"/>
            <p:cNvSpPr/>
            <p:nvPr/>
          </p:nvSpPr>
          <p:spPr>
            <a:xfrm>
              <a:off x="2205" y="2463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3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3" y="32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7" y="32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7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3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7" y="32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7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8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31" name="Freeform 58"/>
            <p:cNvSpPr/>
            <p:nvPr/>
          </p:nvSpPr>
          <p:spPr>
            <a:xfrm>
              <a:off x="2205" y="2463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3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3" y="32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7" y="32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7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3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7" y="32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7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8" y="0"/>
                  </a:lnTo>
                  <a:lnTo>
                    <a:pt x="25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32" name="Rectangle 59"/>
            <p:cNvSpPr/>
            <p:nvPr/>
          </p:nvSpPr>
          <p:spPr>
            <a:xfrm>
              <a:off x="2035" y="2944"/>
              <a:ext cx="173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33" name="Rectangle 60"/>
            <p:cNvSpPr/>
            <p:nvPr/>
          </p:nvSpPr>
          <p:spPr>
            <a:xfrm>
              <a:off x="2035" y="2944"/>
              <a:ext cx="173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34" name="Rectangle 61"/>
            <p:cNvSpPr/>
            <p:nvPr/>
          </p:nvSpPr>
          <p:spPr>
            <a:xfrm>
              <a:off x="2057" y="2958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35" name="Rectangle 62"/>
            <p:cNvSpPr/>
            <p:nvPr/>
          </p:nvSpPr>
          <p:spPr>
            <a:xfrm>
              <a:off x="2190" y="295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36" name="Freeform 63"/>
            <p:cNvSpPr/>
            <p:nvPr/>
          </p:nvSpPr>
          <p:spPr>
            <a:xfrm>
              <a:off x="1898" y="2560"/>
              <a:ext cx="556" cy="492"/>
            </a:xfrm>
            <a:custGeom>
              <a:avLst/>
              <a:gdLst>
                <a:gd name="txL" fmla="*/ 0 w 556"/>
                <a:gd name="txT" fmla="*/ 0 h 492"/>
                <a:gd name="txR" fmla="*/ 556 w 556"/>
                <a:gd name="txB" fmla="*/ 492 h 492"/>
              </a:gdLst>
              <a:ahLst/>
              <a:cxnLst>
                <a:cxn ang="0">
                  <a:pos x="130" y="0"/>
                </a:cxn>
                <a:cxn ang="0">
                  <a:pos x="0" y="0"/>
                </a:cxn>
                <a:cxn ang="0">
                  <a:pos x="0" y="138"/>
                </a:cxn>
                <a:cxn ang="0">
                  <a:pos x="556" y="297"/>
                </a:cxn>
                <a:cxn ang="0">
                  <a:pos x="556" y="492"/>
                </a:cxn>
              </a:cxnLst>
              <a:rect l="txL" t="txT" r="txR" b="txB"/>
              <a:pathLst>
                <a:path w="556" h="492">
                  <a:moveTo>
                    <a:pt x="130" y="0"/>
                  </a:moveTo>
                  <a:lnTo>
                    <a:pt x="0" y="0"/>
                  </a:lnTo>
                  <a:lnTo>
                    <a:pt x="0" y="138"/>
                  </a:lnTo>
                  <a:lnTo>
                    <a:pt x="556" y="297"/>
                  </a:lnTo>
                  <a:lnTo>
                    <a:pt x="556" y="492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37" name="Freeform 64"/>
            <p:cNvSpPr/>
            <p:nvPr/>
          </p:nvSpPr>
          <p:spPr>
            <a:xfrm>
              <a:off x="1891" y="2485"/>
              <a:ext cx="559" cy="488"/>
            </a:xfrm>
            <a:custGeom>
              <a:avLst/>
              <a:gdLst>
                <a:gd name="txL" fmla="*/ 0 w 559"/>
                <a:gd name="txT" fmla="*/ 0 h 488"/>
                <a:gd name="txR" fmla="*/ 559 w 559"/>
                <a:gd name="txB" fmla="*/ 488 h 488"/>
              </a:gdLst>
              <a:ahLst/>
              <a:cxnLst>
                <a:cxn ang="0">
                  <a:pos x="133" y="488"/>
                </a:cxn>
                <a:cxn ang="0">
                  <a:pos x="0" y="488"/>
                </a:cxn>
                <a:cxn ang="0">
                  <a:pos x="0" y="350"/>
                </a:cxn>
                <a:cxn ang="0">
                  <a:pos x="559" y="195"/>
                </a:cxn>
                <a:cxn ang="0">
                  <a:pos x="559" y="0"/>
                </a:cxn>
              </a:cxnLst>
              <a:rect l="txL" t="txT" r="txR" b="txB"/>
              <a:pathLst>
                <a:path w="559" h="488">
                  <a:moveTo>
                    <a:pt x="133" y="488"/>
                  </a:moveTo>
                  <a:lnTo>
                    <a:pt x="0" y="488"/>
                  </a:lnTo>
                  <a:lnTo>
                    <a:pt x="0" y="350"/>
                  </a:lnTo>
                  <a:lnTo>
                    <a:pt x="559" y="195"/>
                  </a:lnTo>
                  <a:lnTo>
                    <a:pt x="559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38" name="Freeform 65"/>
            <p:cNvSpPr/>
            <p:nvPr/>
          </p:nvSpPr>
          <p:spPr>
            <a:xfrm>
              <a:off x="1364" y="2394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0"/>
                </a:cxn>
                <a:cxn ang="0">
                  <a:pos x="3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3" y="33"/>
                </a:cxn>
                <a:cxn ang="0">
                  <a:pos x="10" y="36"/>
                </a:cxn>
                <a:cxn ang="0">
                  <a:pos x="18" y="40"/>
                </a:cxn>
                <a:cxn ang="0">
                  <a:pos x="25" y="36"/>
                </a:cxn>
                <a:cxn ang="0">
                  <a:pos x="32" y="33"/>
                </a:cxn>
                <a:cxn ang="0">
                  <a:pos x="36" y="25"/>
                </a:cxn>
                <a:cxn ang="0">
                  <a:pos x="39" y="18"/>
                </a:cxn>
                <a:cxn ang="0">
                  <a:pos x="36" y="11"/>
                </a:cxn>
                <a:cxn ang="0">
                  <a:pos x="32" y="4"/>
                </a:cxn>
                <a:cxn ang="0">
                  <a:pos x="25" y="0"/>
                </a:cxn>
                <a:cxn ang="0">
                  <a:pos x="18" y="0"/>
                </a:cxn>
              </a:cxnLst>
              <a:rect l="txL" t="txT" r="txR" b="txB"/>
              <a:pathLst>
                <a:path w="39" h="40">
                  <a:moveTo>
                    <a:pt x="18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5" y="36"/>
                  </a:lnTo>
                  <a:lnTo>
                    <a:pt x="32" y="33"/>
                  </a:lnTo>
                  <a:lnTo>
                    <a:pt x="36" y="25"/>
                  </a:lnTo>
                  <a:lnTo>
                    <a:pt x="39" y="18"/>
                  </a:lnTo>
                  <a:lnTo>
                    <a:pt x="36" y="11"/>
                  </a:lnTo>
                  <a:lnTo>
                    <a:pt x="32" y="4"/>
                  </a:lnTo>
                  <a:lnTo>
                    <a:pt x="25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39" name="Freeform 66"/>
            <p:cNvSpPr/>
            <p:nvPr/>
          </p:nvSpPr>
          <p:spPr>
            <a:xfrm>
              <a:off x="1364" y="2394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0"/>
                </a:cxn>
                <a:cxn ang="0">
                  <a:pos x="3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3" y="33"/>
                </a:cxn>
                <a:cxn ang="0">
                  <a:pos x="10" y="36"/>
                </a:cxn>
                <a:cxn ang="0">
                  <a:pos x="18" y="40"/>
                </a:cxn>
                <a:cxn ang="0">
                  <a:pos x="25" y="36"/>
                </a:cxn>
                <a:cxn ang="0">
                  <a:pos x="32" y="33"/>
                </a:cxn>
                <a:cxn ang="0">
                  <a:pos x="36" y="25"/>
                </a:cxn>
                <a:cxn ang="0">
                  <a:pos x="39" y="18"/>
                </a:cxn>
                <a:cxn ang="0">
                  <a:pos x="36" y="11"/>
                </a:cxn>
                <a:cxn ang="0">
                  <a:pos x="32" y="4"/>
                </a:cxn>
                <a:cxn ang="0">
                  <a:pos x="25" y="0"/>
                </a:cxn>
                <a:cxn ang="0">
                  <a:pos x="18" y="0"/>
                </a:cxn>
              </a:cxnLst>
              <a:rect l="txL" t="txT" r="txR" b="txB"/>
              <a:pathLst>
                <a:path w="39" h="40">
                  <a:moveTo>
                    <a:pt x="18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5" y="36"/>
                  </a:lnTo>
                  <a:lnTo>
                    <a:pt x="32" y="33"/>
                  </a:lnTo>
                  <a:lnTo>
                    <a:pt x="36" y="25"/>
                  </a:lnTo>
                  <a:lnTo>
                    <a:pt x="39" y="18"/>
                  </a:lnTo>
                  <a:lnTo>
                    <a:pt x="36" y="11"/>
                  </a:lnTo>
                  <a:lnTo>
                    <a:pt x="32" y="4"/>
                  </a:lnTo>
                  <a:lnTo>
                    <a:pt x="25" y="0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40" name="Freeform 67"/>
            <p:cNvSpPr/>
            <p:nvPr/>
          </p:nvSpPr>
          <p:spPr>
            <a:xfrm>
              <a:off x="2428" y="2463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22" y="0"/>
                </a:cxn>
                <a:cxn ang="0">
                  <a:pos x="15" y="3"/>
                </a:cxn>
                <a:cxn ang="0">
                  <a:pos x="8" y="7"/>
                </a:cxn>
                <a:cxn ang="0">
                  <a:pos x="4" y="14"/>
                </a:cxn>
                <a:cxn ang="0">
                  <a:pos x="0" y="22"/>
                </a:cxn>
                <a:cxn ang="0">
                  <a:pos x="4" y="29"/>
                </a:cxn>
                <a:cxn ang="0">
                  <a:pos x="8" y="36"/>
                </a:cxn>
                <a:cxn ang="0">
                  <a:pos x="15" y="40"/>
                </a:cxn>
                <a:cxn ang="0">
                  <a:pos x="22" y="40"/>
                </a:cxn>
                <a:cxn ang="0">
                  <a:pos x="29" y="40"/>
                </a:cxn>
                <a:cxn ang="0">
                  <a:pos x="33" y="36"/>
                </a:cxn>
                <a:cxn ang="0">
                  <a:pos x="40" y="29"/>
                </a:cxn>
                <a:cxn ang="0">
                  <a:pos x="40" y="22"/>
                </a:cxn>
                <a:cxn ang="0">
                  <a:pos x="40" y="14"/>
                </a:cxn>
                <a:cxn ang="0">
                  <a:pos x="33" y="7"/>
                </a:cxn>
                <a:cxn ang="0">
                  <a:pos x="29" y="3"/>
                </a:cxn>
                <a:cxn ang="0">
                  <a:pos x="22" y="0"/>
                </a:cxn>
              </a:cxnLst>
              <a:rect l="txL" t="txT" r="txR" b="txB"/>
              <a:pathLst>
                <a:path w="40" h="40">
                  <a:moveTo>
                    <a:pt x="22" y="0"/>
                  </a:moveTo>
                  <a:lnTo>
                    <a:pt x="15" y="3"/>
                  </a:lnTo>
                  <a:lnTo>
                    <a:pt x="8" y="7"/>
                  </a:lnTo>
                  <a:lnTo>
                    <a:pt x="4" y="14"/>
                  </a:lnTo>
                  <a:lnTo>
                    <a:pt x="0" y="22"/>
                  </a:lnTo>
                  <a:lnTo>
                    <a:pt x="4" y="29"/>
                  </a:lnTo>
                  <a:lnTo>
                    <a:pt x="8" y="36"/>
                  </a:lnTo>
                  <a:lnTo>
                    <a:pt x="15" y="40"/>
                  </a:lnTo>
                  <a:lnTo>
                    <a:pt x="22" y="40"/>
                  </a:lnTo>
                  <a:lnTo>
                    <a:pt x="29" y="40"/>
                  </a:lnTo>
                  <a:lnTo>
                    <a:pt x="33" y="36"/>
                  </a:lnTo>
                  <a:lnTo>
                    <a:pt x="40" y="29"/>
                  </a:lnTo>
                  <a:lnTo>
                    <a:pt x="40" y="22"/>
                  </a:lnTo>
                  <a:lnTo>
                    <a:pt x="40" y="14"/>
                  </a:lnTo>
                  <a:lnTo>
                    <a:pt x="33" y="7"/>
                  </a:lnTo>
                  <a:lnTo>
                    <a:pt x="29" y="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41" name="Freeform 68"/>
            <p:cNvSpPr/>
            <p:nvPr/>
          </p:nvSpPr>
          <p:spPr>
            <a:xfrm>
              <a:off x="2428" y="2463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22" y="0"/>
                </a:cxn>
                <a:cxn ang="0">
                  <a:pos x="15" y="3"/>
                </a:cxn>
                <a:cxn ang="0">
                  <a:pos x="8" y="7"/>
                </a:cxn>
                <a:cxn ang="0">
                  <a:pos x="4" y="14"/>
                </a:cxn>
                <a:cxn ang="0">
                  <a:pos x="0" y="22"/>
                </a:cxn>
                <a:cxn ang="0">
                  <a:pos x="4" y="29"/>
                </a:cxn>
                <a:cxn ang="0">
                  <a:pos x="8" y="36"/>
                </a:cxn>
                <a:cxn ang="0">
                  <a:pos x="15" y="40"/>
                </a:cxn>
                <a:cxn ang="0">
                  <a:pos x="22" y="40"/>
                </a:cxn>
                <a:cxn ang="0">
                  <a:pos x="29" y="40"/>
                </a:cxn>
                <a:cxn ang="0">
                  <a:pos x="33" y="36"/>
                </a:cxn>
                <a:cxn ang="0">
                  <a:pos x="40" y="29"/>
                </a:cxn>
                <a:cxn ang="0">
                  <a:pos x="40" y="22"/>
                </a:cxn>
                <a:cxn ang="0">
                  <a:pos x="40" y="14"/>
                </a:cxn>
                <a:cxn ang="0">
                  <a:pos x="33" y="7"/>
                </a:cxn>
                <a:cxn ang="0">
                  <a:pos x="29" y="3"/>
                </a:cxn>
                <a:cxn ang="0">
                  <a:pos x="22" y="0"/>
                </a:cxn>
              </a:cxnLst>
              <a:rect l="txL" t="txT" r="txR" b="txB"/>
              <a:pathLst>
                <a:path w="40" h="40">
                  <a:moveTo>
                    <a:pt x="22" y="0"/>
                  </a:moveTo>
                  <a:lnTo>
                    <a:pt x="15" y="3"/>
                  </a:lnTo>
                  <a:lnTo>
                    <a:pt x="8" y="7"/>
                  </a:lnTo>
                  <a:lnTo>
                    <a:pt x="4" y="14"/>
                  </a:lnTo>
                  <a:lnTo>
                    <a:pt x="0" y="22"/>
                  </a:lnTo>
                  <a:lnTo>
                    <a:pt x="4" y="29"/>
                  </a:lnTo>
                  <a:lnTo>
                    <a:pt x="8" y="36"/>
                  </a:lnTo>
                  <a:lnTo>
                    <a:pt x="15" y="40"/>
                  </a:lnTo>
                  <a:lnTo>
                    <a:pt x="22" y="40"/>
                  </a:lnTo>
                  <a:lnTo>
                    <a:pt x="29" y="40"/>
                  </a:lnTo>
                  <a:lnTo>
                    <a:pt x="33" y="36"/>
                  </a:lnTo>
                  <a:lnTo>
                    <a:pt x="40" y="29"/>
                  </a:lnTo>
                  <a:lnTo>
                    <a:pt x="40" y="22"/>
                  </a:lnTo>
                  <a:lnTo>
                    <a:pt x="40" y="14"/>
                  </a:lnTo>
                  <a:lnTo>
                    <a:pt x="33" y="7"/>
                  </a:lnTo>
                  <a:lnTo>
                    <a:pt x="29" y="3"/>
                  </a:lnTo>
                  <a:lnTo>
                    <a:pt x="22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42" name="Freeform 69"/>
            <p:cNvSpPr/>
            <p:nvPr/>
          </p:nvSpPr>
          <p:spPr>
            <a:xfrm>
              <a:off x="2436" y="3048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21" y="0"/>
                </a:cxn>
                <a:cxn ang="0">
                  <a:pos x="14" y="4"/>
                </a:cxn>
                <a:cxn ang="0">
                  <a:pos x="7" y="8"/>
                </a:cxn>
                <a:cxn ang="0">
                  <a:pos x="3" y="11"/>
                </a:cxn>
                <a:cxn ang="0">
                  <a:pos x="0" y="19"/>
                </a:cxn>
                <a:cxn ang="0">
                  <a:pos x="3" y="29"/>
                </a:cxn>
                <a:cxn ang="0">
                  <a:pos x="7" y="33"/>
                </a:cxn>
                <a:cxn ang="0">
                  <a:pos x="14" y="37"/>
                </a:cxn>
                <a:cxn ang="0">
                  <a:pos x="21" y="40"/>
                </a:cxn>
                <a:cxn ang="0">
                  <a:pos x="28" y="37"/>
                </a:cxn>
                <a:cxn ang="0">
                  <a:pos x="32" y="33"/>
                </a:cxn>
                <a:cxn ang="0">
                  <a:pos x="39" y="29"/>
                </a:cxn>
                <a:cxn ang="0">
                  <a:pos x="39" y="19"/>
                </a:cxn>
                <a:cxn ang="0">
                  <a:pos x="39" y="11"/>
                </a:cxn>
                <a:cxn ang="0">
                  <a:pos x="32" y="8"/>
                </a:cxn>
                <a:cxn ang="0">
                  <a:pos x="28" y="4"/>
                </a:cxn>
                <a:cxn ang="0">
                  <a:pos x="21" y="0"/>
                </a:cxn>
              </a:cxnLst>
              <a:rect l="txL" t="txT" r="txR" b="txB"/>
              <a:pathLst>
                <a:path w="39" h="40">
                  <a:moveTo>
                    <a:pt x="21" y="0"/>
                  </a:moveTo>
                  <a:lnTo>
                    <a:pt x="14" y="4"/>
                  </a:lnTo>
                  <a:lnTo>
                    <a:pt x="7" y="8"/>
                  </a:lnTo>
                  <a:lnTo>
                    <a:pt x="3" y="11"/>
                  </a:lnTo>
                  <a:lnTo>
                    <a:pt x="0" y="19"/>
                  </a:lnTo>
                  <a:lnTo>
                    <a:pt x="3" y="29"/>
                  </a:lnTo>
                  <a:lnTo>
                    <a:pt x="7" y="33"/>
                  </a:lnTo>
                  <a:lnTo>
                    <a:pt x="14" y="37"/>
                  </a:lnTo>
                  <a:lnTo>
                    <a:pt x="21" y="40"/>
                  </a:lnTo>
                  <a:lnTo>
                    <a:pt x="28" y="37"/>
                  </a:lnTo>
                  <a:lnTo>
                    <a:pt x="32" y="33"/>
                  </a:lnTo>
                  <a:lnTo>
                    <a:pt x="39" y="29"/>
                  </a:lnTo>
                  <a:lnTo>
                    <a:pt x="39" y="19"/>
                  </a:lnTo>
                  <a:lnTo>
                    <a:pt x="39" y="11"/>
                  </a:lnTo>
                  <a:lnTo>
                    <a:pt x="32" y="8"/>
                  </a:lnTo>
                  <a:lnTo>
                    <a:pt x="28" y="4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43" name="Freeform 70"/>
            <p:cNvSpPr/>
            <p:nvPr/>
          </p:nvSpPr>
          <p:spPr>
            <a:xfrm>
              <a:off x="2436" y="3048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21" y="0"/>
                </a:cxn>
                <a:cxn ang="0">
                  <a:pos x="14" y="4"/>
                </a:cxn>
                <a:cxn ang="0">
                  <a:pos x="7" y="8"/>
                </a:cxn>
                <a:cxn ang="0">
                  <a:pos x="3" y="11"/>
                </a:cxn>
                <a:cxn ang="0">
                  <a:pos x="0" y="19"/>
                </a:cxn>
                <a:cxn ang="0">
                  <a:pos x="3" y="29"/>
                </a:cxn>
                <a:cxn ang="0">
                  <a:pos x="7" y="33"/>
                </a:cxn>
                <a:cxn ang="0">
                  <a:pos x="14" y="37"/>
                </a:cxn>
                <a:cxn ang="0">
                  <a:pos x="21" y="40"/>
                </a:cxn>
                <a:cxn ang="0">
                  <a:pos x="28" y="37"/>
                </a:cxn>
                <a:cxn ang="0">
                  <a:pos x="32" y="33"/>
                </a:cxn>
                <a:cxn ang="0">
                  <a:pos x="39" y="29"/>
                </a:cxn>
                <a:cxn ang="0">
                  <a:pos x="39" y="19"/>
                </a:cxn>
                <a:cxn ang="0">
                  <a:pos x="39" y="11"/>
                </a:cxn>
                <a:cxn ang="0">
                  <a:pos x="32" y="8"/>
                </a:cxn>
                <a:cxn ang="0">
                  <a:pos x="28" y="4"/>
                </a:cxn>
                <a:cxn ang="0">
                  <a:pos x="21" y="0"/>
                </a:cxn>
              </a:cxnLst>
              <a:rect l="txL" t="txT" r="txR" b="txB"/>
              <a:pathLst>
                <a:path w="39" h="40">
                  <a:moveTo>
                    <a:pt x="21" y="0"/>
                  </a:moveTo>
                  <a:lnTo>
                    <a:pt x="14" y="4"/>
                  </a:lnTo>
                  <a:lnTo>
                    <a:pt x="7" y="8"/>
                  </a:lnTo>
                  <a:lnTo>
                    <a:pt x="3" y="11"/>
                  </a:lnTo>
                  <a:lnTo>
                    <a:pt x="0" y="19"/>
                  </a:lnTo>
                  <a:lnTo>
                    <a:pt x="3" y="29"/>
                  </a:lnTo>
                  <a:lnTo>
                    <a:pt x="7" y="33"/>
                  </a:lnTo>
                  <a:lnTo>
                    <a:pt x="14" y="37"/>
                  </a:lnTo>
                  <a:lnTo>
                    <a:pt x="21" y="40"/>
                  </a:lnTo>
                  <a:lnTo>
                    <a:pt x="28" y="37"/>
                  </a:lnTo>
                  <a:lnTo>
                    <a:pt x="32" y="33"/>
                  </a:lnTo>
                  <a:lnTo>
                    <a:pt x="39" y="29"/>
                  </a:lnTo>
                  <a:lnTo>
                    <a:pt x="39" y="19"/>
                  </a:lnTo>
                  <a:lnTo>
                    <a:pt x="39" y="11"/>
                  </a:lnTo>
                  <a:lnTo>
                    <a:pt x="32" y="8"/>
                  </a:lnTo>
                  <a:lnTo>
                    <a:pt x="28" y="4"/>
                  </a:lnTo>
                  <a:lnTo>
                    <a:pt x="21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44" name="Line 71"/>
            <p:cNvSpPr/>
            <p:nvPr/>
          </p:nvSpPr>
          <p:spPr>
            <a:xfrm>
              <a:off x="2226" y="3070"/>
              <a:ext cx="45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45" name="Freeform 72"/>
            <p:cNvSpPr/>
            <p:nvPr/>
          </p:nvSpPr>
          <p:spPr>
            <a:xfrm>
              <a:off x="2205" y="3048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8"/>
                </a:cxn>
                <a:cxn ang="0">
                  <a:pos x="3" y="15"/>
                </a:cxn>
                <a:cxn ang="0">
                  <a:pos x="0" y="19"/>
                </a:cxn>
                <a:cxn ang="0">
                  <a:pos x="0" y="22"/>
                </a:cxn>
                <a:cxn ang="0">
                  <a:pos x="0" y="26"/>
                </a:cxn>
                <a:cxn ang="0">
                  <a:pos x="3" y="33"/>
                </a:cxn>
                <a:cxn ang="0">
                  <a:pos x="7" y="40"/>
                </a:cxn>
                <a:cxn ang="0">
                  <a:pos x="14" y="44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4"/>
                </a:cxn>
                <a:cxn ang="0">
                  <a:pos x="39" y="40"/>
                </a:cxn>
                <a:cxn ang="0">
                  <a:pos x="47" y="33"/>
                </a:cxn>
                <a:cxn ang="0">
                  <a:pos x="47" y="26"/>
                </a:cxn>
                <a:cxn ang="0">
                  <a:pos x="47" y="22"/>
                </a:cxn>
                <a:cxn ang="0">
                  <a:pos x="47" y="19"/>
                </a:cxn>
                <a:cxn ang="0">
                  <a:pos x="47" y="15"/>
                </a:cxn>
                <a:cxn ang="0">
                  <a:pos x="39" y="8"/>
                </a:cxn>
                <a:cxn ang="0">
                  <a:pos x="32" y="0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8"/>
                  </a:lnTo>
                  <a:lnTo>
                    <a:pt x="3" y="15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3" y="33"/>
                  </a:lnTo>
                  <a:lnTo>
                    <a:pt x="7" y="40"/>
                  </a:lnTo>
                  <a:lnTo>
                    <a:pt x="14" y="44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4"/>
                  </a:lnTo>
                  <a:lnTo>
                    <a:pt x="39" y="40"/>
                  </a:lnTo>
                  <a:lnTo>
                    <a:pt x="47" y="33"/>
                  </a:lnTo>
                  <a:lnTo>
                    <a:pt x="47" y="26"/>
                  </a:lnTo>
                  <a:lnTo>
                    <a:pt x="47" y="22"/>
                  </a:lnTo>
                  <a:lnTo>
                    <a:pt x="47" y="19"/>
                  </a:lnTo>
                  <a:lnTo>
                    <a:pt x="47" y="15"/>
                  </a:lnTo>
                  <a:lnTo>
                    <a:pt x="39" y="8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46" name="Freeform 73"/>
            <p:cNvSpPr/>
            <p:nvPr/>
          </p:nvSpPr>
          <p:spPr>
            <a:xfrm>
              <a:off x="2205" y="3048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8"/>
                </a:cxn>
                <a:cxn ang="0">
                  <a:pos x="3" y="15"/>
                </a:cxn>
                <a:cxn ang="0">
                  <a:pos x="0" y="19"/>
                </a:cxn>
                <a:cxn ang="0">
                  <a:pos x="0" y="22"/>
                </a:cxn>
                <a:cxn ang="0">
                  <a:pos x="0" y="26"/>
                </a:cxn>
                <a:cxn ang="0">
                  <a:pos x="3" y="33"/>
                </a:cxn>
                <a:cxn ang="0">
                  <a:pos x="7" y="40"/>
                </a:cxn>
                <a:cxn ang="0">
                  <a:pos x="14" y="44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4"/>
                </a:cxn>
                <a:cxn ang="0">
                  <a:pos x="39" y="40"/>
                </a:cxn>
                <a:cxn ang="0">
                  <a:pos x="47" y="33"/>
                </a:cxn>
                <a:cxn ang="0">
                  <a:pos x="47" y="26"/>
                </a:cxn>
                <a:cxn ang="0">
                  <a:pos x="47" y="22"/>
                </a:cxn>
                <a:cxn ang="0">
                  <a:pos x="47" y="19"/>
                </a:cxn>
                <a:cxn ang="0">
                  <a:pos x="47" y="15"/>
                </a:cxn>
                <a:cxn ang="0">
                  <a:pos x="39" y="8"/>
                </a:cxn>
                <a:cxn ang="0">
                  <a:pos x="32" y="0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8"/>
                  </a:lnTo>
                  <a:lnTo>
                    <a:pt x="3" y="15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3" y="33"/>
                  </a:lnTo>
                  <a:lnTo>
                    <a:pt x="7" y="40"/>
                  </a:lnTo>
                  <a:lnTo>
                    <a:pt x="14" y="44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4"/>
                  </a:lnTo>
                  <a:lnTo>
                    <a:pt x="39" y="40"/>
                  </a:lnTo>
                  <a:lnTo>
                    <a:pt x="47" y="33"/>
                  </a:lnTo>
                  <a:lnTo>
                    <a:pt x="47" y="26"/>
                  </a:lnTo>
                  <a:lnTo>
                    <a:pt x="47" y="22"/>
                  </a:lnTo>
                  <a:lnTo>
                    <a:pt x="47" y="19"/>
                  </a:lnTo>
                  <a:lnTo>
                    <a:pt x="47" y="15"/>
                  </a:lnTo>
                  <a:lnTo>
                    <a:pt x="39" y="8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47" name="Rectangle 74"/>
            <p:cNvSpPr/>
            <p:nvPr/>
          </p:nvSpPr>
          <p:spPr>
            <a:xfrm>
              <a:off x="2075" y="2174"/>
              <a:ext cx="8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48" name="Rectangle 75"/>
            <p:cNvSpPr/>
            <p:nvPr/>
          </p:nvSpPr>
          <p:spPr>
            <a:xfrm>
              <a:off x="2111" y="2430"/>
              <a:ext cx="38" cy="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49" name="Rectangle 76"/>
            <p:cNvSpPr/>
            <p:nvPr/>
          </p:nvSpPr>
          <p:spPr>
            <a:xfrm>
              <a:off x="2165" y="2355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50" name="Rectangle 77"/>
            <p:cNvSpPr/>
            <p:nvPr/>
          </p:nvSpPr>
          <p:spPr>
            <a:xfrm>
              <a:off x="1411" y="2228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51" name="Rectangle 78"/>
            <p:cNvSpPr/>
            <p:nvPr/>
          </p:nvSpPr>
          <p:spPr>
            <a:xfrm>
              <a:off x="1526" y="2304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52" name="Rectangle 79"/>
            <p:cNvSpPr/>
            <p:nvPr/>
          </p:nvSpPr>
          <p:spPr>
            <a:xfrm>
              <a:off x="1580" y="222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53" name="Rectangle 80"/>
            <p:cNvSpPr/>
            <p:nvPr/>
          </p:nvSpPr>
          <p:spPr>
            <a:xfrm>
              <a:off x="1411" y="2958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54" name="Rectangle 81"/>
            <p:cNvSpPr/>
            <p:nvPr/>
          </p:nvSpPr>
          <p:spPr>
            <a:xfrm>
              <a:off x="1526" y="3034"/>
              <a:ext cx="38" cy="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55" name="Rectangle 82"/>
            <p:cNvSpPr/>
            <p:nvPr/>
          </p:nvSpPr>
          <p:spPr>
            <a:xfrm>
              <a:off x="1580" y="295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56" name="Rectangle 83"/>
            <p:cNvSpPr/>
            <p:nvPr/>
          </p:nvSpPr>
          <p:spPr>
            <a:xfrm>
              <a:off x="1725" y="2243"/>
              <a:ext cx="6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57" name="Rectangle 84"/>
            <p:cNvSpPr/>
            <p:nvPr/>
          </p:nvSpPr>
          <p:spPr>
            <a:xfrm>
              <a:off x="1811" y="2243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58" name="Rectangle 85"/>
            <p:cNvSpPr/>
            <p:nvPr/>
          </p:nvSpPr>
          <p:spPr>
            <a:xfrm>
              <a:off x="1717" y="2969"/>
              <a:ext cx="77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59" name="Rectangle 86"/>
            <p:cNvSpPr/>
            <p:nvPr/>
          </p:nvSpPr>
          <p:spPr>
            <a:xfrm>
              <a:off x="1822" y="296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60" name="Rectangle 87"/>
            <p:cNvSpPr/>
            <p:nvPr/>
          </p:nvSpPr>
          <p:spPr>
            <a:xfrm>
              <a:off x="1050" y="3815"/>
              <a:ext cx="8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61" name="Rectangle 88"/>
            <p:cNvSpPr/>
            <p:nvPr/>
          </p:nvSpPr>
          <p:spPr>
            <a:xfrm>
              <a:off x="1086" y="4075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62" name="Rectangle 89"/>
            <p:cNvSpPr/>
            <p:nvPr/>
          </p:nvSpPr>
          <p:spPr>
            <a:xfrm>
              <a:off x="1140" y="399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63" name="Freeform 90"/>
            <p:cNvSpPr/>
            <p:nvPr/>
          </p:nvSpPr>
          <p:spPr>
            <a:xfrm>
              <a:off x="862" y="3229"/>
              <a:ext cx="534" cy="470"/>
            </a:xfrm>
            <a:custGeom>
              <a:avLst/>
              <a:gdLst>
                <a:gd name="txL" fmla="*/ 0 w 534"/>
                <a:gd name="txT" fmla="*/ 0 h 470"/>
                <a:gd name="txR" fmla="*/ 534 w 534"/>
                <a:gd name="txB" fmla="*/ 470 h 470"/>
              </a:gdLst>
              <a:ahLst/>
              <a:cxnLst>
                <a:cxn ang="0">
                  <a:pos x="0" y="0"/>
                </a:cxn>
                <a:cxn ang="0">
                  <a:pos x="0" y="123"/>
                </a:cxn>
                <a:cxn ang="0">
                  <a:pos x="534" y="275"/>
                </a:cxn>
                <a:cxn ang="0">
                  <a:pos x="534" y="470"/>
                </a:cxn>
                <a:cxn ang="0">
                  <a:pos x="350" y="470"/>
                </a:cxn>
              </a:cxnLst>
              <a:rect l="txL" t="txT" r="txR" b="txB"/>
              <a:pathLst>
                <a:path w="534" h="470">
                  <a:moveTo>
                    <a:pt x="0" y="0"/>
                  </a:moveTo>
                  <a:lnTo>
                    <a:pt x="0" y="123"/>
                  </a:lnTo>
                  <a:lnTo>
                    <a:pt x="534" y="275"/>
                  </a:lnTo>
                  <a:lnTo>
                    <a:pt x="534" y="470"/>
                  </a:lnTo>
                  <a:lnTo>
                    <a:pt x="350" y="470"/>
                  </a:lnTo>
                </a:path>
              </a:pathLst>
            </a:custGeom>
            <a:noFill/>
            <a:ln w="17463" cap="flat" cmpd="sng">
              <a:solidFill>
                <a:srgbClr val="0000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64" name="Freeform 91"/>
            <p:cNvSpPr/>
            <p:nvPr/>
          </p:nvSpPr>
          <p:spPr>
            <a:xfrm>
              <a:off x="1187" y="3674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32"/>
                </a:cxn>
                <a:cxn ang="0">
                  <a:pos x="7" y="40"/>
                </a:cxn>
                <a:cxn ang="0">
                  <a:pos x="14" y="43"/>
                </a:cxn>
                <a:cxn ang="0">
                  <a:pos x="18" y="43"/>
                </a:cxn>
                <a:cxn ang="0">
                  <a:pos x="21" y="47"/>
                </a:cxn>
                <a:cxn ang="0">
                  <a:pos x="29" y="43"/>
                </a:cxn>
                <a:cxn ang="0">
                  <a:pos x="32" y="43"/>
                </a:cxn>
                <a:cxn ang="0">
                  <a:pos x="39" y="40"/>
                </a:cxn>
                <a:cxn ang="0">
                  <a:pos x="43" y="32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0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32"/>
                  </a:lnTo>
                  <a:lnTo>
                    <a:pt x="7" y="40"/>
                  </a:lnTo>
                  <a:lnTo>
                    <a:pt x="14" y="43"/>
                  </a:lnTo>
                  <a:lnTo>
                    <a:pt x="18" y="43"/>
                  </a:lnTo>
                  <a:lnTo>
                    <a:pt x="21" y="47"/>
                  </a:lnTo>
                  <a:lnTo>
                    <a:pt x="29" y="43"/>
                  </a:lnTo>
                  <a:lnTo>
                    <a:pt x="32" y="43"/>
                  </a:lnTo>
                  <a:lnTo>
                    <a:pt x="39" y="40"/>
                  </a:lnTo>
                  <a:lnTo>
                    <a:pt x="43" y="32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65" name="Freeform 92"/>
            <p:cNvSpPr/>
            <p:nvPr/>
          </p:nvSpPr>
          <p:spPr>
            <a:xfrm>
              <a:off x="1187" y="3674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32"/>
                </a:cxn>
                <a:cxn ang="0">
                  <a:pos x="7" y="40"/>
                </a:cxn>
                <a:cxn ang="0">
                  <a:pos x="14" y="43"/>
                </a:cxn>
                <a:cxn ang="0">
                  <a:pos x="18" y="43"/>
                </a:cxn>
                <a:cxn ang="0">
                  <a:pos x="21" y="47"/>
                </a:cxn>
                <a:cxn ang="0">
                  <a:pos x="29" y="43"/>
                </a:cxn>
                <a:cxn ang="0">
                  <a:pos x="32" y="43"/>
                </a:cxn>
                <a:cxn ang="0">
                  <a:pos x="39" y="40"/>
                </a:cxn>
                <a:cxn ang="0">
                  <a:pos x="43" y="32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0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32"/>
                  </a:lnTo>
                  <a:lnTo>
                    <a:pt x="7" y="40"/>
                  </a:lnTo>
                  <a:lnTo>
                    <a:pt x="14" y="43"/>
                  </a:lnTo>
                  <a:lnTo>
                    <a:pt x="18" y="43"/>
                  </a:lnTo>
                  <a:lnTo>
                    <a:pt x="21" y="47"/>
                  </a:lnTo>
                  <a:lnTo>
                    <a:pt x="29" y="43"/>
                  </a:lnTo>
                  <a:lnTo>
                    <a:pt x="32" y="43"/>
                  </a:lnTo>
                  <a:lnTo>
                    <a:pt x="39" y="40"/>
                  </a:lnTo>
                  <a:lnTo>
                    <a:pt x="43" y="32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66" name="Freeform 93"/>
            <p:cNvSpPr/>
            <p:nvPr/>
          </p:nvSpPr>
          <p:spPr>
            <a:xfrm>
              <a:off x="862" y="3139"/>
              <a:ext cx="530" cy="473"/>
            </a:xfrm>
            <a:custGeom>
              <a:avLst/>
              <a:gdLst>
                <a:gd name="txL" fmla="*/ 0 w 530"/>
                <a:gd name="txT" fmla="*/ 0 h 473"/>
                <a:gd name="txR" fmla="*/ 530 w 530"/>
                <a:gd name="txB" fmla="*/ 473 h 473"/>
              </a:gdLst>
              <a:ahLst/>
              <a:cxnLst>
                <a:cxn ang="0">
                  <a:pos x="162" y="473"/>
                </a:cxn>
                <a:cxn ang="0">
                  <a:pos x="0" y="473"/>
                </a:cxn>
                <a:cxn ang="0">
                  <a:pos x="0" y="365"/>
                </a:cxn>
                <a:cxn ang="0">
                  <a:pos x="530" y="188"/>
                </a:cxn>
                <a:cxn ang="0">
                  <a:pos x="530" y="0"/>
                </a:cxn>
              </a:cxnLst>
              <a:rect l="txL" t="txT" r="txR" b="txB"/>
              <a:pathLst>
                <a:path w="530" h="473">
                  <a:moveTo>
                    <a:pt x="162" y="473"/>
                  </a:moveTo>
                  <a:lnTo>
                    <a:pt x="0" y="473"/>
                  </a:lnTo>
                  <a:lnTo>
                    <a:pt x="0" y="365"/>
                  </a:lnTo>
                  <a:lnTo>
                    <a:pt x="530" y="188"/>
                  </a:lnTo>
                  <a:lnTo>
                    <a:pt x="530" y="0"/>
                  </a:lnTo>
                </a:path>
              </a:pathLst>
            </a:custGeom>
            <a:noFill/>
            <a:ln w="17463" cap="flat" cmpd="sng">
              <a:solidFill>
                <a:srgbClr val="0000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67" name="Freeform 94"/>
            <p:cNvSpPr/>
            <p:nvPr/>
          </p:nvSpPr>
          <p:spPr>
            <a:xfrm>
              <a:off x="1374" y="3128"/>
              <a:ext cx="40" cy="36"/>
            </a:xfrm>
            <a:custGeom>
              <a:avLst/>
              <a:gdLst>
                <a:gd name="txL" fmla="*/ 0 w 40"/>
                <a:gd name="txT" fmla="*/ 0 h 36"/>
                <a:gd name="txR" fmla="*/ 40 w 40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11" y="0"/>
                </a:cxn>
                <a:cxn ang="0">
                  <a:pos x="8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8" y="33"/>
                </a:cxn>
                <a:cxn ang="0">
                  <a:pos x="11" y="36"/>
                </a:cxn>
                <a:cxn ang="0">
                  <a:pos x="18" y="36"/>
                </a:cxn>
                <a:cxn ang="0">
                  <a:pos x="26" y="36"/>
                </a:cxn>
                <a:cxn ang="0">
                  <a:pos x="33" y="33"/>
                </a:cxn>
                <a:cxn ang="0">
                  <a:pos x="37" y="25"/>
                </a:cxn>
                <a:cxn ang="0">
                  <a:pos x="40" y="18"/>
                </a:cxn>
                <a:cxn ang="0">
                  <a:pos x="37" y="11"/>
                </a:cxn>
                <a:cxn ang="0">
                  <a:pos x="33" y="4"/>
                </a:cxn>
                <a:cxn ang="0">
                  <a:pos x="26" y="0"/>
                </a:cxn>
                <a:cxn ang="0">
                  <a:pos x="18" y="0"/>
                </a:cxn>
              </a:cxnLst>
              <a:rect l="txL" t="txT" r="txR" b="txB"/>
              <a:pathLst>
                <a:path w="40" h="36">
                  <a:moveTo>
                    <a:pt x="18" y="0"/>
                  </a:moveTo>
                  <a:lnTo>
                    <a:pt x="11" y="0"/>
                  </a:lnTo>
                  <a:lnTo>
                    <a:pt x="8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8" y="33"/>
                  </a:lnTo>
                  <a:lnTo>
                    <a:pt x="11" y="36"/>
                  </a:lnTo>
                  <a:lnTo>
                    <a:pt x="18" y="36"/>
                  </a:lnTo>
                  <a:lnTo>
                    <a:pt x="26" y="36"/>
                  </a:lnTo>
                  <a:lnTo>
                    <a:pt x="33" y="33"/>
                  </a:lnTo>
                  <a:lnTo>
                    <a:pt x="37" y="25"/>
                  </a:lnTo>
                  <a:lnTo>
                    <a:pt x="40" y="18"/>
                  </a:lnTo>
                  <a:lnTo>
                    <a:pt x="37" y="11"/>
                  </a:lnTo>
                  <a:lnTo>
                    <a:pt x="33" y="4"/>
                  </a:lnTo>
                  <a:lnTo>
                    <a:pt x="26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68" name="Freeform 95"/>
            <p:cNvSpPr/>
            <p:nvPr/>
          </p:nvSpPr>
          <p:spPr>
            <a:xfrm>
              <a:off x="1374" y="3128"/>
              <a:ext cx="40" cy="36"/>
            </a:xfrm>
            <a:custGeom>
              <a:avLst/>
              <a:gdLst>
                <a:gd name="txL" fmla="*/ 0 w 40"/>
                <a:gd name="txT" fmla="*/ 0 h 36"/>
                <a:gd name="txR" fmla="*/ 40 w 40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11" y="0"/>
                </a:cxn>
                <a:cxn ang="0">
                  <a:pos x="8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8" y="33"/>
                </a:cxn>
                <a:cxn ang="0">
                  <a:pos x="11" y="36"/>
                </a:cxn>
                <a:cxn ang="0">
                  <a:pos x="18" y="36"/>
                </a:cxn>
                <a:cxn ang="0">
                  <a:pos x="26" y="36"/>
                </a:cxn>
                <a:cxn ang="0">
                  <a:pos x="33" y="33"/>
                </a:cxn>
                <a:cxn ang="0">
                  <a:pos x="37" y="25"/>
                </a:cxn>
                <a:cxn ang="0">
                  <a:pos x="40" y="18"/>
                </a:cxn>
                <a:cxn ang="0">
                  <a:pos x="37" y="11"/>
                </a:cxn>
                <a:cxn ang="0">
                  <a:pos x="33" y="4"/>
                </a:cxn>
                <a:cxn ang="0">
                  <a:pos x="26" y="0"/>
                </a:cxn>
                <a:cxn ang="0">
                  <a:pos x="18" y="0"/>
                </a:cxn>
              </a:cxnLst>
              <a:rect l="txL" t="txT" r="txR" b="txB"/>
              <a:pathLst>
                <a:path w="40" h="36">
                  <a:moveTo>
                    <a:pt x="18" y="0"/>
                  </a:moveTo>
                  <a:lnTo>
                    <a:pt x="11" y="0"/>
                  </a:lnTo>
                  <a:lnTo>
                    <a:pt x="8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8" y="33"/>
                  </a:lnTo>
                  <a:lnTo>
                    <a:pt x="11" y="36"/>
                  </a:lnTo>
                  <a:lnTo>
                    <a:pt x="18" y="36"/>
                  </a:lnTo>
                  <a:lnTo>
                    <a:pt x="26" y="36"/>
                  </a:lnTo>
                  <a:lnTo>
                    <a:pt x="33" y="33"/>
                  </a:lnTo>
                  <a:lnTo>
                    <a:pt x="37" y="25"/>
                  </a:lnTo>
                  <a:lnTo>
                    <a:pt x="40" y="18"/>
                  </a:lnTo>
                  <a:lnTo>
                    <a:pt x="37" y="11"/>
                  </a:lnTo>
                  <a:lnTo>
                    <a:pt x="33" y="4"/>
                  </a:lnTo>
                  <a:lnTo>
                    <a:pt x="26" y="0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69" name="Rectangle 96"/>
            <p:cNvSpPr/>
            <p:nvPr/>
          </p:nvSpPr>
          <p:spPr>
            <a:xfrm>
              <a:off x="1411" y="3616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70" name="Rectangle 97"/>
            <p:cNvSpPr/>
            <p:nvPr/>
          </p:nvSpPr>
          <p:spPr>
            <a:xfrm>
              <a:off x="1526" y="3692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71" name="Rectangle 98"/>
            <p:cNvSpPr/>
            <p:nvPr/>
          </p:nvSpPr>
          <p:spPr>
            <a:xfrm>
              <a:off x="1580" y="3616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72" name="Line 99"/>
            <p:cNvSpPr/>
            <p:nvPr/>
          </p:nvSpPr>
          <p:spPr>
            <a:xfrm flipH="1">
              <a:off x="342" y="3768"/>
              <a:ext cx="67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73" name="Rectangle 100"/>
            <p:cNvSpPr/>
            <p:nvPr/>
          </p:nvSpPr>
          <p:spPr>
            <a:xfrm>
              <a:off x="190" y="3703"/>
              <a:ext cx="83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74" name="Rectangle 101"/>
            <p:cNvSpPr/>
            <p:nvPr/>
          </p:nvSpPr>
          <p:spPr>
            <a:xfrm>
              <a:off x="306" y="3703"/>
              <a:ext cx="28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75" name="Rectangle 102"/>
            <p:cNvSpPr/>
            <p:nvPr/>
          </p:nvSpPr>
          <p:spPr>
            <a:xfrm>
              <a:off x="2075" y="3204"/>
              <a:ext cx="8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76" name="Rectangle 103"/>
            <p:cNvSpPr/>
            <p:nvPr/>
          </p:nvSpPr>
          <p:spPr>
            <a:xfrm>
              <a:off x="2111" y="3464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77" name="Rectangle 104"/>
            <p:cNvSpPr/>
            <p:nvPr/>
          </p:nvSpPr>
          <p:spPr>
            <a:xfrm>
              <a:off x="2165" y="338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78" name="Rectangle 105"/>
            <p:cNvSpPr/>
            <p:nvPr/>
          </p:nvSpPr>
          <p:spPr>
            <a:xfrm>
              <a:off x="2641" y="2401"/>
              <a:ext cx="170" cy="19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79" name="Rectangle 106"/>
            <p:cNvSpPr/>
            <p:nvPr/>
          </p:nvSpPr>
          <p:spPr>
            <a:xfrm>
              <a:off x="2670" y="2409"/>
              <a:ext cx="83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80" name="Rectangle 107"/>
            <p:cNvSpPr/>
            <p:nvPr/>
          </p:nvSpPr>
          <p:spPr>
            <a:xfrm>
              <a:off x="2786" y="240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81" name="Rectangle 108"/>
            <p:cNvSpPr/>
            <p:nvPr/>
          </p:nvSpPr>
          <p:spPr>
            <a:xfrm>
              <a:off x="2641" y="2987"/>
              <a:ext cx="170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82" name="Rectangle 109"/>
            <p:cNvSpPr/>
            <p:nvPr/>
          </p:nvSpPr>
          <p:spPr>
            <a:xfrm>
              <a:off x="2670" y="2987"/>
              <a:ext cx="83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83" name="Rectangle 110"/>
            <p:cNvSpPr/>
            <p:nvPr/>
          </p:nvSpPr>
          <p:spPr>
            <a:xfrm>
              <a:off x="2786" y="298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84" name="Line 111"/>
            <p:cNvSpPr/>
            <p:nvPr/>
          </p:nvSpPr>
          <p:spPr>
            <a:xfrm>
              <a:off x="2670" y="2998"/>
              <a:ext cx="109" cy="1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85" name="Rectangle 112"/>
            <p:cNvSpPr/>
            <p:nvPr/>
          </p:nvSpPr>
          <p:spPr>
            <a:xfrm>
              <a:off x="1017" y="3562"/>
              <a:ext cx="170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86" name="Rectangle 113"/>
            <p:cNvSpPr/>
            <p:nvPr/>
          </p:nvSpPr>
          <p:spPr>
            <a:xfrm>
              <a:off x="1017" y="3562"/>
              <a:ext cx="170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87" name="Rectangle 114"/>
            <p:cNvSpPr/>
            <p:nvPr/>
          </p:nvSpPr>
          <p:spPr>
            <a:xfrm>
              <a:off x="1039" y="3576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88" name="Rectangle 115"/>
            <p:cNvSpPr/>
            <p:nvPr/>
          </p:nvSpPr>
          <p:spPr>
            <a:xfrm>
              <a:off x="1172" y="3576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3389" name="Freeform 116"/>
            <p:cNvSpPr/>
            <p:nvPr/>
          </p:nvSpPr>
          <p:spPr>
            <a:xfrm>
              <a:off x="840" y="3211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1" y="4"/>
                </a:cxn>
                <a:cxn ang="0">
                  <a:pos x="7" y="7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4" y="29"/>
                </a:cxn>
                <a:cxn ang="0">
                  <a:pos x="7" y="33"/>
                </a:cxn>
                <a:cxn ang="0">
                  <a:pos x="11" y="36"/>
                </a:cxn>
                <a:cxn ang="0">
                  <a:pos x="18" y="40"/>
                </a:cxn>
                <a:cxn ang="0">
                  <a:pos x="29" y="36"/>
                </a:cxn>
                <a:cxn ang="0">
                  <a:pos x="33" y="33"/>
                </a:cxn>
                <a:cxn ang="0">
                  <a:pos x="36" y="29"/>
                </a:cxn>
                <a:cxn ang="0">
                  <a:pos x="40" y="18"/>
                </a:cxn>
                <a:cxn ang="0">
                  <a:pos x="36" y="11"/>
                </a:cxn>
                <a:cxn ang="0">
                  <a:pos x="33" y="7"/>
                </a:cxn>
                <a:cxn ang="0">
                  <a:pos x="29" y="4"/>
                </a:cxn>
                <a:cxn ang="0">
                  <a:pos x="18" y="0"/>
                </a:cxn>
              </a:cxnLst>
              <a:rect l="txL" t="txT" r="txR" b="txB"/>
              <a:pathLst>
                <a:path w="40" h="40">
                  <a:moveTo>
                    <a:pt x="18" y="0"/>
                  </a:moveTo>
                  <a:lnTo>
                    <a:pt x="11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0" y="18"/>
                  </a:lnTo>
                  <a:lnTo>
                    <a:pt x="4" y="29"/>
                  </a:lnTo>
                  <a:lnTo>
                    <a:pt x="7" y="33"/>
                  </a:lnTo>
                  <a:lnTo>
                    <a:pt x="11" y="36"/>
                  </a:lnTo>
                  <a:lnTo>
                    <a:pt x="18" y="40"/>
                  </a:lnTo>
                  <a:lnTo>
                    <a:pt x="29" y="36"/>
                  </a:lnTo>
                  <a:lnTo>
                    <a:pt x="33" y="33"/>
                  </a:lnTo>
                  <a:lnTo>
                    <a:pt x="36" y="29"/>
                  </a:lnTo>
                  <a:lnTo>
                    <a:pt x="40" y="18"/>
                  </a:lnTo>
                  <a:lnTo>
                    <a:pt x="36" y="11"/>
                  </a:lnTo>
                  <a:lnTo>
                    <a:pt x="33" y="7"/>
                  </a:lnTo>
                  <a:lnTo>
                    <a:pt x="29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90" name="Freeform 117"/>
            <p:cNvSpPr/>
            <p:nvPr/>
          </p:nvSpPr>
          <p:spPr>
            <a:xfrm>
              <a:off x="840" y="3211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1" y="4"/>
                </a:cxn>
                <a:cxn ang="0">
                  <a:pos x="7" y="7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4" y="29"/>
                </a:cxn>
                <a:cxn ang="0">
                  <a:pos x="7" y="33"/>
                </a:cxn>
                <a:cxn ang="0">
                  <a:pos x="11" y="36"/>
                </a:cxn>
                <a:cxn ang="0">
                  <a:pos x="18" y="40"/>
                </a:cxn>
                <a:cxn ang="0">
                  <a:pos x="29" y="36"/>
                </a:cxn>
                <a:cxn ang="0">
                  <a:pos x="33" y="33"/>
                </a:cxn>
                <a:cxn ang="0">
                  <a:pos x="36" y="29"/>
                </a:cxn>
                <a:cxn ang="0">
                  <a:pos x="40" y="18"/>
                </a:cxn>
                <a:cxn ang="0">
                  <a:pos x="36" y="11"/>
                </a:cxn>
                <a:cxn ang="0">
                  <a:pos x="33" y="7"/>
                </a:cxn>
                <a:cxn ang="0">
                  <a:pos x="29" y="4"/>
                </a:cxn>
                <a:cxn ang="0">
                  <a:pos x="18" y="0"/>
                </a:cxn>
              </a:cxnLst>
              <a:rect l="txL" t="txT" r="txR" b="txB"/>
              <a:pathLst>
                <a:path w="40" h="40">
                  <a:moveTo>
                    <a:pt x="18" y="0"/>
                  </a:moveTo>
                  <a:lnTo>
                    <a:pt x="11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0" y="18"/>
                  </a:lnTo>
                  <a:lnTo>
                    <a:pt x="4" y="29"/>
                  </a:lnTo>
                  <a:lnTo>
                    <a:pt x="7" y="33"/>
                  </a:lnTo>
                  <a:lnTo>
                    <a:pt x="11" y="36"/>
                  </a:lnTo>
                  <a:lnTo>
                    <a:pt x="18" y="40"/>
                  </a:lnTo>
                  <a:lnTo>
                    <a:pt x="29" y="36"/>
                  </a:lnTo>
                  <a:lnTo>
                    <a:pt x="33" y="33"/>
                  </a:lnTo>
                  <a:lnTo>
                    <a:pt x="36" y="29"/>
                  </a:lnTo>
                  <a:lnTo>
                    <a:pt x="40" y="18"/>
                  </a:lnTo>
                  <a:lnTo>
                    <a:pt x="36" y="11"/>
                  </a:lnTo>
                  <a:lnTo>
                    <a:pt x="33" y="7"/>
                  </a:lnTo>
                  <a:lnTo>
                    <a:pt x="29" y="4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91" name="Line 118"/>
            <p:cNvSpPr/>
            <p:nvPr/>
          </p:nvSpPr>
          <p:spPr>
            <a:xfrm>
              <a:off x="1725" y="2242"/>
              <a:ext cx="108" cy="1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92" name="Line 119"/>
            <p:cNvSpPr/>
            <p:nvPr/>
          </p:nvSpPr>
          <p:spPr>
            <a:xfrm>
              <a:off x="1721" y="2965"/>
              <a:ext cx="108" cy="1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3944" name="Rectangle 120"/>
          <p:cNvSpPr/>
          <p:nvPr/>
        </p:nvSpPr>
        <p:spPr>
          <a:xfrm>
            <a:off x="468313" y="995363"/>
            <a:ext cx="2303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CP =1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3945" name="Rectangle 121"/>
          <p:cNvSpPr/>
          <p:nvPr/>
        </p:nvSpPr>
        <p:spPr>
          <a:xfrm flipV="1">
            <a:off x="3995738" y="2997200"/>
            <a:ext cx="360362" cy="549275"/>
          </a:xfrm>
          <a:prstGeom prst="rect">
            <a:avLst/>
          </a:prstGeom>
          <a:solidFill>
            <a:srgbClr val="00D69E">
              <a:alpha val="43137"/>
            </a:srgbClr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3946" name="Rectangle 122"/>
          <p:cNvSpPr/>
          <p:nvPr/>
        </p:nvSpPr>
        <p:spPr>
          <a:xfrm flipV="1">
            <a:off x="3995738" y="4525963"/>
            <a:ext cx="360362" cy="541337"/>
          </a:xfrm>
          <a:prstGeom prst="rect">
            <a:avLst/>
          </a:prstGeom>
          <a:solidFill>
            <a:srgbClr val="00D69E">
              <a:alpha val="43137"/>
            </a:srgbClr>
          </a:solidFill>
          <a:ln w="19050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3947" name="AutoShape 123"/>
          <p:cNvSpPr/>
          <p:nvPr/>
        </p:nvSpPr>
        <p:spPr>
          <a:xfrm>
            <a:off x="5472113" y="5480050"/>
            <a:ext cx="1871662" cy="449263"/>
          </a:xfrm>
          <a:prstGeom prst="wedgeRoundRectCallout">
            <a:avLst>
              <a:gd name="adj1" fmla="val -76889"/>
              <a:gd name="adj2" fmla="val -119963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置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维持线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3948" name="Oval 124"/>
          <p:cNvSpPr/>
          <p:nvPr/>
        </p:nvSpPr>
        <p:spPr>
          <a:xfrm>
            <a:off x="2411413" y="4230688"/>
            <a:ext cx="387350" cy="396875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" name="Group 125"/>
          <p:cNvGrpSpPr/>
          <p:nvPr/>
        </p:nvGrpSpPr>
        <p:grpSpPr>
          <a:xfrm>
            <a:off x="3600450" y="3259138"/>
            <a:ext cx="1187450" cy="1357312"/>
            <a:chOff x="453" y="2341"/>
            <a:chExt cx="748" cy="862"/>
          </a:xfrm>
        </p:grpSpPr>
        <p:sp>
          <p:nvSpPr>
            <p:cNvPr id="53278" name="Line 126"/>
            <p:cNvSpPr/>
            <p:nvPr/>
          </p:nvSpPr>
          <p:spPr>
            <a:xfrm>
              <a:off x="1201" y="2341"/>
              <a:ext cx="0" cy="295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9" name="Line 127"/>
            <p:cNvSpPr/>
            <p:nvPr/>
          </p:nvSpPr>
          <p:spPr>
            <a:xfrm flipH="1">
              <a:off x="453" y="2635"/>
              <a:ext cx="748" cy="318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0" name="Line 128"/>
            <p:cNvSpPr/>
            <p:nvPr/>
          </p:nvSpPr>
          <p:spPr>
            <a:xfrm>
              <a:off x="453" y="2931"/>
              <a:ext cx="0" cy="272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1" name="Line 129"/>
            <p:cNvSpPr/>
            <p:nvPr/>
          </p:nvSpPr>
          <p:spPr>
            <a:xfrm>
              <a:off x="453" y="3203"/>
              <a:ext cx="204" cy="0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3259" name="Oval 130"/>
          <p:cNvSpPr/>
          <p:nvPr/>
        </p:nvSpPr>
        <p:spPr>
          <a:xfrm>
            <a:off x="5111750" y="2827338"/>
            <a:ext cx="431800" cy="431800"/>
          </a:xfrm>
          <a:prstGeom prst="ellipse">
            <a:avLst/>
          </a:prstGeom>
          <a:solidFill>
            <a:srgbClr val="CC0066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260" name="Oval 131"/>
          <p:cNvSpPr/>
          <p:nvPr/>
        </p:nvSpPr>
        <p:spPr>
          <a:xfrm>
            <a:off x="5111750" y="4329113"/>
            <a:ext cx="431800" cy="431800"/>
          </a:xfrm>
          <a:prstGeom prst="ellipse">
            <a:avLst/>
          </a:prstGeom>
          <a:solidFill>
            <a:srgbClr val="CC0066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" name="Group 132"/>
          <p:cNvGrpSpPr/>
          <p:nvPr/>
        </p:nvGrpSpPr>
        <p:grpSpPr>
          <a:xfrm>
            <a:off x="2014538" y="981075"/>
            <a:ext cx="6911975" cy="457200"/>
            <a:chOff x="1202" y="527"/>
            <a:chExt cx="4354" cy="288"/>
          </a:xfrm>
        </p:grpSpPr>
        <p:sp>
          <p:nvSpPr>
            <p:cNvPr id="53275" name="Rectangle 133"/>
            <p:cNvSpPr/>
            <p:nvPr/>
          </p:nvSpPr>
          <p:spPr>
            <a:xfrm>
              <a:off x="1202" y="527"/>
              <a:ext cx="43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lang="zh-CN" altLang="en-US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信号不影响     、     的状态，</a:t>
              </a:r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zh-CN" altLang="en-US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的状态不变</a:t>
              </a:r>
              <a:endPara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53276" name="Object 134"/>
            <p:cNvGraphicFramePr>
              <a:graphicFrameLocks noChangeAspect="1"/>
            </p:cNvGraphicFramePr>
            <p:nvPr/>
          </p:nvGraphicFramePr>
          <p:xfrm>
            <a:off x="2717" y="550"/>
            <a:ext cx="276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" imgW="215900" imgH="279400" progId="Equation.3">
                    <p:embed/>
                  </p:oleObj>
                </mc:Choice>
                <mc:Fallback>
                  <p:oleObj name="" r:id="rId1" imgW="215900" imgH="2794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17" y="550"/>
                          <a:ext cx="276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7" name="Object 135"/>
            <p:cNvGraphicFramePr>
              <a:graphicFrameLocks noChangeAspect="1"/>
            </p:cNvGraphicFramePr>
            <p:nvPr/>
          </p:nvGraphicFramePr>
          <p:xfrm>
            <a:off x="2369" y="527"/>
            <a:ext cx="28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3" imgW="139700" imgH="215900" progId="Equation.3">
                    <p:embed/>
                  </p:oleObj>
                </mc:Choice>
                <mc:Fallback>
                  <p:oleObj name="" r:id="rId3" imgW="139700" imgH="2159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69" y="527"/>
                          <a:ext cx="28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3960" name="Rectangle 136"/>
          <p:cNvSpPr/>
          <p:nvPr/>
        </p:nvSpPr>
        <p:spPr>
          <a:xfrm flipV="1">
            <a:off x="3959225" y="5661025"/>
            <a:ext cx="360363" cy="539750"/>
          </a:xfrm>
          <a:prstGeom prst="rect">
            <a:avLst/>
          </a:prstGeom>
          <a:solidFill>
            <a:srgbClr val="D60093">
              <a:alpha val="43137"/>
            </a:srgbClr>
          </a:solidFill>
          <a:ln w="19050" cap="flat" cmpd="sng">
            <a:solidFill>
              <a:srgbClr val="D60093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3263" name="Oval 137"/>
          <p:cNvSpPr/>
          <p:nvPr/>
        </p:nvSpPr>
        <p:spPr>
          <a:xfrm>
            <a:off x="7272338" y="2997200"/>
            <a:ext cx="387350" cy="396875"/>
          </a:xfrm>
          <a:prstGeom prst="ellipse">
            <a:avLst/>
          </a:prstGeom>
          <a:solidFill>
            <a:srgbClr val="D60093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3962" name="AutoShape 138"/>
          <p:cNvSpPr/>
          <p:nvPr/>
        </p:nvSpPr>
        <p:spPr>
          <a:xfrm>
            <a:off x="1547813" y="5229225"/>
            <a:ext cx="1871662" cy="449263"/>
          </a:xfrm>
          <a:prstGeom prst="wedgeRoundRectCallout">
            <a:avLst>
              <a:gd name="adj1" fmla="val 72394"/>
              <a:gd name="adj2" fmla="val -1944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置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阻塞线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265" name="Rectangle 139"/>
          <p:cNvSpPr/>
          <p:nvPr/>
        </p:nvSpPr>
        <p:spPr>
          <a:xfrm>
            <a:off x="647700" y="1844675"/>
            <a:ext cx="23034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如</a:t>
            </a:r>
            <a:r>
              <a:rPr lang="en-US" altLang="zh-CN" sz="2400" b="1" i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400" b="1" i="1" baseline="30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n+1</a:t>
            </a: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=0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266" name="Rectangle 140"/>
          <p:cNvSpPr/>
          <p:nvPr/>
        </p:nvSpPr>
        <p:spPr>
          <a:xfrm>
            <a:off x="4319588" y="1736725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7" name="Rectangle 141"/>
          <p:cNvSpPr/>
          <p:nvPr/>
        </p:nvSpPr>
        <p:spPr>
          <a:xfrm>
            <a:off x="3924300" y="3463925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8" name="Rectangle 142"/>
          <p:cNvSpPr/>
          <p:nvPr/>
        </p:nvSpPr>
        <p:spPr>
          <a:xfrm>
            <a:off x="3924300" y="4113213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9" name="Rectangle 143"/>
          <p:cNvSpPr/>
          <p:nvPr/>
        </p:nvSpPr>
        <p:spPr>
          <a:xfrm>
            <a:off x="3959225" y="6165850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0" name="Rectangle 144"/>
          <p:cNvSpPr/>
          <p:nvPr/>
        </p:nvSpPr>
        <p:spPr>
          <a:xfrm>
            <a:off x="6232525" y="2708275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1" name="Rectangle 145"/>
          <p:cNvSpPr/>
          <p:nvPr/>
        </p:nvSpPr>
        <p:spPr>
          <a:xfrm>
            <a:off x="6227763" y="4868863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3970" name="Oval 146"/>
          <p:cNvSpPr/>
          <p:nvPr/>
        </p:nvSpPr>
        <p:spPr>
          <a:xfrm>
            <a:off x="5148263" y="4724400"/>
            <a:ext cx="431800" cy="431800"/>
          </a:xfrm>
          <a:prstGeom prst="ellipse">
            <a:avLst/>
          </a:prstGeom>
          <a:solidFill>
            <a:srgbClr val="CC0066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3971" name="Oval 147"/>
          <p:cNvSpPr/>
          <p:nvPr/>
        </p:nvSpPr>
        <p:spPr>
          <a:xfrm>
            <a:off x="4427538" y="6021388"/>
            <a:ext cx="431800" cy="431800"/>
          </a:xfrm>
          <a:prstGeom prst="ellipse">
            <a:avLst/>
          </a:prstGeom>
          <a:solidFill>
            <a:srgbClr val="CC0066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3972" name="AutoShape 148"/>
          <p:cNvSpPr/>
          <p:nvPr/>
        </p:nvSpPr>
        <p:spPr>
          <a:xfrm>
            <a:off x="6229350" y="4799013"/>
            <a:ext cx="2735263" cy="663575"/>
          </a:xfrm>
          <a:prstGeom prst="wedgeRoundRectCallout">
            <a:avLst>
              <a:gd name="adj1" fmla="val -104380"/>
              <a:gd name="adj2" fmla="val 19921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不能改变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0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0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000" b="1" baseline="-250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/>
            <a:endParaRPr lang="en-US" altLang="zh-CN" sz="2000" b="1" baseline="-250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333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33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3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3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" dur="500"/>
                                        <p:tgtEl>
                                          <p:spTgt spid="333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3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33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944" grpId="0"/>
      <p:bldP spid="333945" grpId="0" animBg="1"/>
      <p:bldP spid="333946" grpId="0" animBg="1"/>
      <p:bldP spid="333947" grpId="0" animBg="1"/>
      <p:bldP spid="333948" grpId="0" animBg="1"/>
      <p:bldP spid="333960" grpId="0" animBg="1"/>
      <p:bldP spid="333962" grpId="0" animBg="1"/>
      <p:bldP spid="333970" grpId="0" animBg="1"/>
      <p:bldP spid="333971" grpId="0" animBg="1"/>
      <p:bldP spid="333972" grpId="0" animBg="1"/>
      <p:bldP spid="333972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/>
          <p:nvPr/>
        </p:nvSpPr>
        <p:spPr>
          <a:xfrm>
            <a:off x="503238" y="1700213"/>
            <a:ext cx="8208962" cy="46085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4275" name="Oval 3"/>
          <p:cNvSpPr/>
          <p:nvPr/>
        </p:nvSpPr>
        <p:spPr>
          <a:xfrm>
            <a:off x="7964488" y="3176588"/>
            <a:ext cx="387350" cy="396875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276" name="Group 4"/>
          <p:cNvGrpSpPr/>
          <p:nvPr/>
        </p:nvGrpSpPr>
        <p:grpSpPr>
          <a:xfrm>
            <a:off x="1936750" y="1484313"/>
            <a:ext cx="6018213" cy="5632450"/>
            <a:chOff x="90" y="1570"/>
            <a:chExt cx="2725" cy="2679"/>
          </a:xfrm>
        </p:grpSpPr>
        <p:sp>
          <p:nvSpPr>
            <p:cNvPr id="54314" name="AutoShape 5"/>
            <p:cNvSpPr>
              <a:spLocks noChangeAspect="1" noTextEdit="1"/>
            </p:cNvSpPr>
            <p:nvPr/>
          </p:nvSpPr>
          <p:spPr>
            <a:xfrm>
              <a:off x="158" y="1570"/>
              <a:ext cx="2653" cy="24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15" name="Rectangle 6"/>
            <p:cNvSpPr/>
            <p:nvPr/>
          </p:nvSpPr>
          <p:spPr>
            <a:xfrm>
              <a:off x="158" y="159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16" name="Rectangle 7"/>
            <p:cNvSpPr/>
            <p:nvPr/>
          </p:nvSpPr>
          <p:spPr>
            <a:xfrm>
              <a:off x="1050" y="1570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17" name="Rectangle 8"/>
            <p:cNvSpPr/>
            <p:nvPr/>
          </p:nvSpPr>
          <p:spPr>
            <a:xfrm>
              <a:off x="1086" y="1827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18" name="Rectangle 9"/>
            <p:cNvSpPr/>
            <p:nvPr/>
          </p:nvSpPr>
          <p:spPr>
            <a:xfrm>
              <a:off x="1140" y="1751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19" name="Rectangle 10"/>
            <p:cNvSpPr/>
            <p:nvPr/>
          </p:nvSpPr>
          <p:spPr>
            <a:xfrm>
              <a:off x="1017" y="1754"/>
              <a:ext cx="170" cy="25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20" name="Rectangle 11"/>
            <p:cNvSpPr/>
            <p:nvPr/>
          </p:nvSpPr>
          <p:spPr>
            <a:xfrm>
              <a:off x="1017" y="1754"/>
              <a:ext cx="170" cy="257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21" name="Rectangle 12"/>
            <p:cNvSpPr/>
            <p:nvPr/>
          </p:nvSpPr>
          <p:spPr>
            <a:xfrm>
              <a:off x="1039" y="1769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22" name="Rectangle 13"/>
            <p:cNvSpPr/>
            <p:nvPr/>
          </p:nvSpPr>
          <p:spPr>
            <a:xfrm>
              <a:off x="1172" y="176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23" name="Rectangle 14"/>
            <p:cNvSpPr/>
            <p:nvPr/>
          </p:nvSpPr>
          <p:spPr>
            <a:xfrm>
              <a:off x="90" y="2756"/>
              <a:ext cx="77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24" name="Rectangle 15"/>
            <p:cNvSpPr/>
            <p:nvPr/>
          </p:nvSpPr>
          <p:spPr>
            <a:xfrm>
              <a:off x="219" y="2750"/>
              <a:ext cx="70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25" name="Rectangle 16"/>
            <p:cNvSpPr/>
            <p:nvPr/>
          </p:nvSpPr>
          <p:spPr>
            <a:xfrm>
              <a:off x="299" y="293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26" name="Freeform 17"/>
            <p:cNvSpPr/>
            <p:nvPr/>
          </p:nvSpPr>
          <p:spPr>
            <a:xfrm>
              <a:off x="559" y="2795"/>
              <a:ext cx="36" cy="40"/>
            </a:xfrm>
            <a:custGeom>
              <a:avLst/>
              <a:gdLst>
                <a:gd name="txL" fmla="*/ 0 w 36"/>
                <a:gd name="txT" fmla="*/ 0 h 40"/>
                <a:gd name="txR" fmla="*/ 36 w 36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4"/>
                </a:cxn>
                <a:cxn ang="0">
                  <a:pos x="3" y="8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9"/>
                </a:cxn>
                <a:cxn ang="0">
                  <a:pos x="3" y="33"/>
                </a:cxn>
                <a:cxn ang="0">
                  <a:pos x="10" y="37"/>
                </a:cxn>
                <a:cxn ang="0">
                  <a:pos x="18" y="40"/>
                </a:cxn>
                <a:cxn ang="0">
                  <a:pos x="25" y="37"/>
                </a:cxn>
                <a:cxn ang="0">
                  <a:pos x="32" y="33"/>
                </a:cxn>
                <a:cxn ang="0">
                  <a:pos x="36" y="29"/>
                </a:cxn>
                <a:cxn ang="0">
                  <a:pos x="36" y="18"/>
                </a:cxn>
                <a:cxn ang="0">
                  <a:pos x="36" y="11"/>
                </a:cxn>
                <a:cxn ang="0">
                  <a:pos x="32" y="8"/>
                </a:cxn>
                <a:cxn ang="0">
                  <a:pos x="25" y="4"/>
                </a:cxn>
                <a:cxn ang="0">
                  <a:pos x="18" y="0"/>
                </a:cxn>
              </a:cxnLst>
              <a:rect l="txL" t="txT" r="txR" b="txB"/>
              <a:pathLst>
                <a:path w="36" h="40">
                  <a:moveTo>
                    <a:pt x="18" y="0"/>
                  </a:moveTo>
                  <a:lnTo>
                    <a:pt x="10" y="4"/>
                  </a:lnTo>
                  <a:lnTo>
                    <a:pt x="3" y="8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3" y="33"/>
                  </a:lnTo>
                  <a:lnTo>
                    <a:pt x="10" y="37"/>
                  </a:lnTo>
                  <a:lnTo>
                    <a:pt x="18" y="40"/>
                  </a:lnTo>
                  <a:lnTo>
                    <a:pt x="25" y="37"/>
                  </a:lnTo>
                  <a:lnTo>
                    <a:pt x="32" y="33"/>
                  </a:lnTo>
                  <a:lnTo>
                    <a:pt x="36" y="29"/>
                  </a:lnTo>
                  <a:lnTo>
                    <a:pt x="36" y="18"/>
                  </a:lnTo>
                  <a:lnTo>
                    <a:pt x="36" y="11"/>
                  </a:lnTo>
                  <a:lnTo>
                    <a:pt x="32" y="8"/>
                  </a:lnTo>
                  <a:lnTo>
                    <a:pt x="25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27" name="Freeform 18"/>
            <p:cNvSpPr/>
            <p:nvPr/>
          </p:nvSpPr>
          <p:spPr>
            <a:xfrm>
              <a:off x="559" y="2795"/>
              <a:ext cx="36" cy="40"/>
            </a:xfrm>
            <a:custGeom>
              <a:avLst/>
              <a:gdLst>
                <a:gd name="txL" fmla="*/ 0 w 36"/>
                <a:gd name="txT" fmla="*/ 0 h 40"/>
                <a:gd name="txR" fmla="*/ 36 w 36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4"/>
                </a:cxn>
                <a:cxn ang="0">
                  <a:pos x="3" y="8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9"/>
                </a:cxn>
                <a:cxn ang="0">
                  <a:pos x="3" y="33"/>
                </a:cxn>
                <a:cxn ang="0">
                  <a:pos x="10" y="37"/>
                </a:cxn>
                <a:cxn ang="0">
                  <a:pos x="18" y="40"/>
                </a:cxn>
                <a:cxn ang="0">
                  <a:pos x="25" y="37"/>
                </a:cxn>
                <a:cxn ang="0">
                  <a:pos x="32" y="33"/>
                </a:cxn>
                <a:cxn ang="0">
                  <a:pos x="36" y="29"/>
                </a:cxn>
                <a:cxn ang="0">
                  <a:pos x="36" y="18"/>
                </a:cxn>
                <a:cxn ang="0">
                  <a:pos x="36" y="11"/>
                </a:cxn>
                <a:cxn ang="0">
                  <a:pos x="32" y="8"/>
                </a:cxn>
                <a:cxn ang="0">
                  <a:pos x="25" y="4"/>
                </a:cxn>
                <a:cxn ang="0">
                  <a:pos x="18" y="0"/>
                </a:cxn>
              </a:cxnLst>
              <a:rect l="txL" t="txT" r="txR" b="txB"/>
              <a:pathLst>
                <a:path w="36" h="40">
                  <a:moveTo>
                    <a:pt x="18" y="0"/>
                  </a:moveTo>
                  <a:lnTo>
                    <a:pt x="10" y="4"/>
                  </a:lnTo>
                  <a:lnTo>
                    <a:pt x="3" y="8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3" y="33"/>
                  </a:lnTo>
                  <a:lnTo>
                    <a:pt x="10" y="37"/>
                  </a:lnTo>
                  <a:lnTo>
                    <a:pt x="18" y="40"/>
                  </a:lnTo>
                  <a:lnTo>
                    <a:pt x="25" y="37"/>
                  </a:lnTo>
                  <a:lnTo>
                    <a:pt x="32" y="33"/>
                  </a:lnTo>
                  <a:lnTo>
                    <a:pt x="36" y="29"/>
                  </a:lnTo>
                  <a:lnTo>
                    <a:pt x="36" y="18"/>
                  </a:lnTo>
                  <a:lnTo>
                    <a:pt x="36" y="11"/>
                  </a:lnTo>
                  <a:lnTo>
                    <a:pt x="32" y="8"/>
                  </a:lnTo>
                  <a:lnTo>
                    <a:pt x="25" y="4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28" name="Rectangle 19"/>
            <p:cNvSpPr/>
            <p:nvPr/>
          </p:nvSpPr>
          <p:spPr>
            <a:xfrm>
              <a:off x="1411" y="1823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29" name="Rectangle 20"/>
            <p:cNvSpPr/>
            <p:nvPr/>
          </p:nvSpPr>
          <p:spPr>
            <a:xfrm>
              <a:off x="1526" y="1899"/>
              <a:ext cx="38" cy="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30" name="Rectangle 21"/>
            <p:cNvSpPr/>
            <p:nvPr/>
          </p:nvSpPr>
          <p:spPr>
            <a:xfrm>
              <a:off x="1580" y="1823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31" name="Rectangle 22"/>
            <p:cNvSpPr/>
            <p:nvPr/>
          </p:nvSpPr>
          <p:spPr>
            <a:xfrm>
              <a:off x="1017" y="2286"/>
              <a:ext cx="170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32" name="Rectangle 23"/>
            <p:cNvSpPr/>
            <p:nvPr/>
          </p:nvSpPr>
          <p:spPr>
            <a:xfrm>
              <a:off x="1017" y="2286"/>
              <a:ext cx="170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33" name="Rectangle 24"/>
            <p:cNvSpPr/>
            <p:nvPr/>
          </p:nvSpPr>
          <p:spPr>
            <a:xfrm>
              <a:off x="1039" y="2300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34" name="Rectangle 25"/>
            <p:cNvSpPr/>
            <p:nvPr/>
          </p:nvSpPr>
          <p:spPr>
            <a:xfrm>
              <a:off x="1172" y="2300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35" name="Freeform 26"/>
            <p:cNvSpPr/>
            <p:nvPr/>
          </p:nvSpPr>
          <p:spPr>
            <a:xfrm>
              <a:off x="862" y="1953"/>
              <a:ext cx="520" cy="1103"/>
            </a:xfrm>
            <a:custGeom>
              <a:avLst/>
              <a:gdLst>
                <a:gd name="txL" fmla="*/ 0 w 520"/>
                <a:gd name="txT" fmla="*/ 0 h 1103"/>
                <a:gd name="txR" fmla="*/ 520 w 520"/>
                <a:gd name="txB" fmla="*/ 1103 h 1103"/>
              </a:gdLst>
              <a:ahLst/>
              <a:cxnLst>
                <a:cxn ang="0">
                  <a:pos x="159" y="0"/>
                </a:cxn>
                <a:cxn ang="0">
                  <a:pos x="0" y="0"/>
                </a:cxn>
                <a:cxn ang="0">
                  <a:pos x="0" y="116"/>
                </a:cxn>
                <a:cxn ang="0">
                  <a:pos x="520" y="279"/>
                </a:cxn>
                <a:cxn ang="0">
                  <a:pos x="520" y="676"/>
                </a:cxn>
                <a:cxn ang="0">
                  <a:pos x="0" y="907"/>
                </a:cxn>
                <a:cxn ang="0">
                  <a:pos x="0" y="1103"/>
                </a:cxn>
                <a:cxn ang="0">
                  <a:pos x="144" y="1103"/>
                </a:cxn>
              </a:cxnLst>
              <a:rect l="txL" t="txT" r="txR" b="txB"/>
              <a:pathLst>
                <a:path w="520" h="1103">
                  <a:moveTo>
                    <a:pt x="159" y="0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520" y="279"/>
                  </a:lnTo>
                  <a:lnTo>
                    <a:pt x="520" y="676"/>
                  </a:lnTo>
                  <a:lnTo>
                    <a:pt x="0" y="907"/>
                  </a:lnTo>
                  <a:lnTo>
                    <a:pt x="0" y="1103"/>
                  </a:lnTo>
                  <a:lnTo>
                    <a:pt x="144" y="1103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36" name="Freeform 27"/>
            <p:cNvSpPr/>
            <p:nvPr/>
          </p:nvSpPr>
          <p:spPr>
            <a:xfrm>
              <a:off x="862" y="1884"/>
              <a:ext cx="516" cy="460"/>
            </a:xfrm>
            <a:custGeom>
              <a:avLst/>
              <a:gdLst>
                <a:gd name="txL" fmla="*/ 0 w 516"/>
                <a:gd name="txT" fmla="*/ 0 h 460"/>
                <a:gd name="txR" fmla="*/ 516 w 516"/>
                <a:gd name="txB" fmla="*/ 460 h 460"/>
              </a:gdLst>
              <a:ahLst/>
              <a:cxnLst>
                <a:cxn ang="0">
                  <a:pos x="357" y="0"/>
                </a:cxn>
                <a:cxn ang="0">
                  <a:pos x="516" y="0"/>
                </a:cxn>
                <a:cxn ang="0">
                  <a:pos x="516" y="181"/>
                </a:cxn>
                <a:cxn ang="0">
                  <a:pos x="0" y="348"/>
                </a:cxn>
                <a:cxn ang="0">
                  <a:pos x="0" y="460"/>
                </a:cxn>
                <a:cxn ang="0">
                  <a:pos x="159" y="460"/>
                </a:cxn>
              </a:cxnLst>
              <a:rect l="txL" t="txT" r="txR" b="txB"/>
              <a:pathLst>
                <a:path w="516" h="460">
                  <a:moveTo>
                    <a:pt x="357" y="0"/>
                  </a:moveTo>
                  <a:lnTo>
                    <a:pt x="516" y="0"/>
                  </a:lnTo>
                  <a:lnTo>
                    <a:pt x="516" y="181"/>
                  </a:lnTo>
                  <a:lnTo>
                    <a:pt x="0" y="348"/>
                  </a:lnTo>
                  <a:lnTo>
                    <a:pt x="0" y="460"/>
                  </a:lnTo>
                  <a:lnTo>
                    <a:pt x="159" y="46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37" name="Freeform 28"/>
            <p:cNvSpPr/>
            <p:nvPr/>
          </p:nvSpPr>
          <p:spPr>
            <a:xfrm>
              <a:off x="1187" y="1859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4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4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4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4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38" name="Freeform 29"/>
            <p:cNvSpPr/>
            <p:nvPr/>
          </p:nvSpPr>
          <p:spPr>
            <a:xfrm>
              <a:off x="1187" y="1859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4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4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4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4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39" name="Rectangle 30"/>
            <p:cNvSpPr/>
            <p:nvPr/>
          </p:nvSpPr>
          <p:spPr>
            <a:xfrm>
              <a:off x="1050" y="2546"/>
              <a:ext cx="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40" name="Rectangle 31"/>
            <p:cNvSpPr/>
            <p:nvPr/>
          </p:nvSpPr>
          <p:spPr>
            <a:xfrm>
              <a:off x="1086" y="2803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41" name="Rectangle 32"/>
            <p:cNvSpPr/>
            <p:nvPr/>
          </p:nvSpPr>
          <p:spPr>
            <a:xfrm>
              <a:off x="1140" y="272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42" name="Rectangle 33"/>
            <p:cNvSpPr/>
            <p:nvPr/>
          </p:nvSpPr>
          <p:spPr>
            <a:xfrm>
              <a:off x="1050" y="2806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43" name="Rectangle 34"/>
            <p:cNvSpPr/>
            <p:nvPr/>
          </p:nvSpPr>
          <p:spPr>
            <a:xfrm>
              <a:off x="1086" y="3063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44" name="Rectangle 35"/>
            <p:cNvSpPr/>
            <p:nvPr/>
          </p:nvSpPr>
          <p:spPr>
            <a:xfrm>
              <a:off x="1140" y="298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45" name="Freeform 36"/>
            <p:cNvSpPr/>
            <p:nvPr/>
          </p:nvSpPr>
          <p:spPr>
            <a:xfrm>
              <a:off x="725" y="1801"/>
              <a:ext cx="296" cy="1432"/>
            </a:xfrm>
            <a:custGeom>
              <a:avLst/>
              <a:gdLst>
                <a:gd name="txL" fmla="*/ 0 w 296"/>
                <a:gd name="txT" fmla="*/ 0 h 1432"/>
                <a:gd name="txR" fmla="*/ 296 w 296"/>
                <a:gd name="txB" fmla="*/ 1432 h 1432"/>
              </a:gdLst>
              <a:ahLst/>
              <a:cxnLst>
                <a:cxn ang="0">
                  <a:pos x="296" y="0"/>
                </a:cxn>
                <a:cxn ang="0">
                  <a:pos x="0" y="0"/>
                </a:cxn>
                <a:cxn ang="0">
                  <a:pos x="0" y="1432"/>
                </a:cxn>
                <a:cxn ang="0">
                  <a:pos x="296" y="1432"/>
                </a:cxn>
              </a:cxnLst>
              <a:rect l="txL" t="txT" r="txR" b="txB"/>
              <a:pathLst>
                <a:path w="296" h="1432">
                  <a:moveTo>
                    <a:pt x="296" y="0"/>
                  </a:moveTo>
                  <a:lnTo>
                    <a:pt x="0" y="0"/>
                  </a:lnTo>
                  <a:lnTo>
                    <a:pt x="0" y="1432"/>
                  </a:lnTo>
                  <a:lnTo>
                    <a:pt x="296" y="1432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46" name="Freeform 37"/>
            <p:cNvSpPr/>
            <p:nvPr/>
          </p:nvSpPr>
          <p:spPr>
            <a:xfrm>
              <a:off x="580" y="2492"/>
              <a:ext cx="1469" cy="654"/>
            </a:xfrm>
            <a:custGeom>
              <a:avLst/>
              <a:gdLst>
                <a:gd name="txL" fmla="*/ 0 w 1469"/>
                <a:gd name="txT" fmla="*/ 0 h 654"/>
                <a:gd name="txR" fmla="*/ 1469 w 1469"/>
                <a:gd name="txB" fmla="*/ 654 h 654"/>
              </a:gdLst>
              <a:ahLst/>
              <a:cxnLst>
                <a:cxn ang="0">
                  <a:pos x="430" y="0"/>
                </a:cxn>
                <a:cxn ang="0">
                  <a:pos x="0" y="0"/>
                </a:cxn>
                <a:cxn ang="0">
                  <a:pos x="0" y="654"/>
                </a:cxn>
                <a:cxn ang="0">
                  <a:pos x="1469" y="654"/>
                </a:cxn>
              </a:cxnLst>
              <a:rect l="txL" t="txT" r="txR" b="txB"/>
              <a:pathLst>
                <a:path w="1469" h="654">
                  <a:moveTo>
                    <a:pt x="430" y="0"/>
                  </a:moveTo>
                  <a:lnTo>
                    <a:pt x="0" y="0"/>
                  </a:lnTo>
                  <a:lnTo>
                    <a:pt x="0" y="654"/>
                  </a:lnTo>
                  <a:lnTo>
                    <a:pt x="1469" y="654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47" name="Rectangle 38"/>
            <p:cNvSpPr/>
            <p:nvPr/>
          </p:nvSpPr>
          <p:spPr>
            <a:xfrm>
              <a:off x="1017" y="3009"/>
              <a:ext cx="170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48" name="Rectangle 39"/>
            <p:cNvSpPr/>
            <p:nvPr/>
          </p:nvSpPr>
          <p:spPr>
            <a:xfrm>
              <a:off x="1017" y="3009"/>
              <a:ext cx="170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49" name="Rectangle 40"/>
            <p:cNvSpPr/>
            <p:nvPr/>
          </p:nvSpPr>
          <p:spPr>
            <a:xfrm>
              <a:off x="1039" y="3020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50" name="Rectangle 41"/>
            <p:cNvSpPr/>
            <p:nvPr/>
          </p:nvSpPr>
          <p:spPr>
            <a:xfrm>
              <a:off x="1172" y="3020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51" name="Freeform 42"/>
            <p:cNvSpPr/>
            <p:nvPr/>
          </p:nvSpPr>
          <p:spPr>
            <a:xfrm>
              <a:off x="1187" y="3117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52" name="Freeform 43"/>
            <p:cNvSpPr/>
            <p:nvPr/>
          </p:nvSpPr>
          <p:spPr>
            <a:xfrm>
              <a:off x="1187" y="3117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4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0" y="33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3" y="33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5"/>
                </a:cxn>
                <a:cxn ang="0">
                  <a:pos x="39" y="7"/>
                </a:cxn>
                <a:cxn ang="0">
                  <a:pos x="32" y="4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5"/>
                  </a:lnTo>
                  <a:lnTo>
                    <a:pt x="39" y="7"/>
                  </a:lnTo>
                  <a:lnTo>
                    <a:pt x="32" y="4"/>
                  </a:lnTo>
                  <a:lnTo>
                    <a:pt x="29" y="0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53" name="Line 44"/>
            <p:cNvSpPr/>
            <p:nvPr/>
          </p:nvSpPr>
          <p:spPr>
            <a:xfrm flipH="1">
              <a:off x="342" y="2817"/>
              <a:ext cx="238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4" name="Line 45"/>
            <p:cNvSpPr/>
            <p:nvPr/>
          </p:nvSpPr>
          <p:spPr>
            <a:xfrm>
              <a:off x="1216" y="2412"/>
              <a:ext cx="81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5" name="Freeform 46"/>
            <p:cNvSpPr/>
            <p:nvPr/>
          </p:nvSpPr>
          <p:spPr>
            <a:xfrm>
              <a:off x="1187" y="2391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8"/>
                </a:cxn>
                <a:cxn ang="0">
                  <a:pos x="0" y="32"/>
                </a:cxn>
                <a:cxn ang="0">
                  <a:pos x="7" y="39"/>
                </a:cxn>
                <a:cxn ang="0">
                  <a:pos x="14" y="43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3"/>
                </a:cxn>
                <a:cxn ang="0">
                  <a:pos x="39" y="39"/>
                </a:cxn>
                <a:cxn ang="0">
                  <a:pos x="43" y="32"/>
                </a:cxn>
                <a:cxn ang="0">
                  <a:pos x="47" y="28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2"/>
                  </a:lnTo>
                  <a:lnTo>
                    <a:pt x="7" y="39"/>
                  </a:lnTo>
                  <a:lnTo>
                    <a:pt x="14" y="43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3"/>
                  </a:lnTo>
                  <a:lnTo>
                    <a:pt x="39" y="39"/>
                  </a:lnTo>
                  <a:lnTo>
                    <a:pt x="43" y="32"/>
                  </a:lnTo>
                  <a:lnTo>
                    <a:pt x="47" y="28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56" name="Freeform 47"/>
            <p:cNvSpPr/>
            <p:nvPr/>
          </p:nvSpPr>
          <p:spPr>
            <a:xfrm>
              <a:off x="1187" y="2391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8"/>
                </a:cxn>
                <a:cxn ang="0">
                  <a:pos x="0" y="32"/>
                </a:cxn>
                <a:cxn ang="0">
                  <a:pos x="7" y="39"/>
                </a:cxn>
                <a:cxn ang="0">
                  <a:pos x="14" y="43"/>
                </a:cxn>
                <a:cxn ang="0">
                  <a:pos x="18" y="47"/>
                </a:cxn>
                <a:cxn ang="0">
                  <a:pos x="21" y="47"/>
                </a:cxn>
                <a:cxn ang="0">
                  <a:pos x="29" y="47"/>
                </a:cxn>
                <a:cxn ang="0">
                  <a:pos x="32" y="43"/>
                </a:cxn>
                <a:cxn ang="0">
                  <a:pos x="39" y="39"/>
                </a:cxn>
                <a:cxn ang="0">
                  <a:pos x="43" y="32"/>
                </a:cxn>
                <a:cxn ang="0">
                  <a:pos x="47" y="28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2"/>
                  </a:lnTo>
                  <a:lnTo>
                    <a:pt x="7" y="39"/>
                  </a:lnTo>
                  <a:lnTo>
                    <a:pt x="14" y="43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9" y="47"/>
                  </a:lnTo>
                  <a:lnTo>
                    <a:pt x="32" y="43"/>
                  </a:lnTo>
                  <a:lnTo>
                    <a:pt x="39" y="39"/>
                  </a:lnTo>
                  <a:lnTo>
                    <a:pt x="43" y="32"/>
                  </a:lnTo>
                  <a:lnTo>
                    <a:pt x="47" y="28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57" name="Rectangle 48"/>
            <p:cNvSpPr/>
            <p:nvPr/>
          </p:nvSpPr>
          <p:spPr>
            <a:xfrm>
              <a:off x="2035" y="2358"/>
              <a:ext cx="173" cy="25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58" name="Rectangle 49"/>
            <p:cNvSpPr/>
            <p:nvPr/>
          </p:nvSpPr>
          <p:spPr>
            <a:xfrm>
              <a:off x="2035" y="2358"/>
              <a:ext cx="173" cy="257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59" name="Rectangle 50"/>
            <p:cNvSpPr/>
            <p:nvPr/>
          </p:nvSpPr>
          <p:spPr>
            <a:xfrm>
              <a:off x="2057" y="2373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60" name="Rectangle 51"/>
            <p:cNvSpPr/>
            <p:nvPr/>
          </p:nvSpPr>
          <p:spPr>
            <a:xfrm>
              <a:off x="2190" y="2373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61" name="Line 52"/>
            <p:cNvSpPr/>
            <p:nvPr/>
          </p:nvSpPr>
          <p:spPr>
            <a:xfrm>
              <a:off x="2226" y="2488"/>
              <a:ext cx="45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62" name="Freeform 53"/>
            <p:cNvSpPr/>
            <p:nvPr/>
          </p:nvSpPr>
          <p:spPr>
            <a:xfrm>
              <a:off x="2205" y="2463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3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3" y="32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7" y="32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7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3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7" y="32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7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8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63" name="Freeform 54"/>
            <p:cNvSpPr/>
            <p:nvPr/>
          </p:nvSpPr>
          <p:spPr>
            <a:xfrm>
              <a:off x="2205" y="2463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3"/>
                </a:cxn>
                <a:cxn ang="0">
                  <a:pos x="7" y="7"/>
                </a:cxn>
                <a:cxn ang="0">
                  <a:pos x="3" y="14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0" y="29"/>
                </a:cxn>
                <a:cxn ang="0">
                  <a:pos x="3" y="32"/>
                </a:cxn>
                <a:cxn ang="0">
                  <a:pos x="7" y="40"/>
                </a:cxn>
                <a:cxn ang="0">
                  <a:pos x="14" y="47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7"/>
                </a:cxn>
                <a:cxn ang="0">
                  <a:pos x="39" y="40"/>
                </a:cxn>
                <a:cxn ang="0">
                  <a:pos x="47" y="32"/>
                </a:cxn>
                <a:cxn ang="0">
                  <a:pos x="47" y="29"/>
                </a:cxn>
                <a:cxn ang="0">
                  <a:pos x="47" y="25"/>
                </a:cxn>
                <a:cxn ang="0">
                  <a:pos x="47" y="18"/>
                </a:cxn>
                <a:cxn ang="0">
                  <a:pos x="47" y="14"/>
                </a:cxn>
                <a:cxn ang="0">
                  <a:pos x="39" y="7"/>
                </a:cxn>
                <a:cxn ang="0">
                  <a:pos x="32" y="3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3"/>
                  </a:lnTo>
                  <a:lnTo>
                    <a:pt x="7" y="7"/>
                  </a:lnTo>
                  <a:lnTo>
                    <a:pt x="3" y="14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7" y="40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7"/>
                  </a:lnTo>
                  <a:lnTo>
                    <a:pt x="39" y="40"/>
                  </a:lnTo>
                  <a:lnTo>
                    <a:pt x="47" y="32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18"/>
                  </a:lnTo>
                  <a:lnTo>
                    <a:pt x="47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28" y="0"/>
                  </a:lnTo>
                  <a:lnTo>
                    <a:pt x="25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64" name="Rectangle 55"/>
            <p:cNvSpPr/>
            <p:nvPr/>
          </p:nvSpPr>
          <p:spPr>
            <a:xfrm>
              <a:off x="2035" y="2944"/>
              <a:ext cx="173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65" name="Rectangle 56"/>
            <p:cNvSpPr/>
            <p:nvPr/>
          </p:nvSpPr>
          <p:spPr>
            <a:xfrm>
              <a:off x="2035" y="2944"/>
              <a:ext cx="173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66" name="Rectangle 57"/>
            <p:cNvSpPr/>
            <p:nvPr/>
          </p:nvSpPr>
          <p:spPr>
            <a:xfrm>
              <a:off x="2057" y="2958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67" name="Rectangle 58"/>
            <p:cNvSpPr/>
            <p:nvPr/>
          </p:nvSpPr>
          <p:spPr>
            <a:xfrm>
              <a:off x="2190" y="295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68" name="Freeform 59"/>
            <p:cNvSpPr/>
            <p:nvPr/>
          </p:nvSpPr>
          <p:spPr>
            <a:xfrm>
              <a:off x="1898" y="2560"/>
              <a:ext cx="556" cy="492"/>
            </a:xfrm>
            <a:custGeom>
              <a:avLst/>
              <a:gdLst>
                <a:gd name="txL" fmla="*/ 0 w 556"/>
                <a:gd name="txT" fmla="*/ 0 h 492"/>
                <a:gd name="txR" fmla="*/ 556 w 556"/>
                <a:gd name="txB" fmla="*/ 492 h 492"/>
              </a:gdLst>
              <a:ahLst/>
              <a:cxnLst>
                <a:cxn ang="0">
                  <a:pos x="130" y="0"/>
                </a:cxn>
                <a:cxn ang="0">
                  <a:pos x="0" y="0"/>
                </a:cxn>
                <a:cxn ang="0">
                  <a:pos x="0" y="138"/>
                </a:cxn>
                <a:cxn ang="0">
                  <a:pos x="556" y="297"/>
                </a:cxn>
                <a:cxn ang="0">
                  <a:pos x="556" y="492"/>
                </a:cxn>
              </a:cxnLst>
              <a:rect l="txL" t="txT" r="txR" b="txB"/>
              <a:pathLst>
                <a:path w="556" h="492">
                  <a:moveTo>
                    <a:pt x="130" y="0"/>
                  </a:moveTo>
                  <a:lnTo>
                    <a:pt x="0" y="0"/>
                  </a:lnTo>
                  <a:lnTo>
                    <a:pt x="0" y="138"/>
                  </a:lnTo>
                  <a:lnTo>
                    <a:pt x="556" y="297"/>
                  </a:lnTo>
                  <a:lnTo>
                    <a:pt x="556" y="492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69" name="Freeform 60"/>
            <p:cNvSpPr/>
            <p:nvPr/>
          </p:nvSpPr>
          <p:spPr>
            <a:xfrm>
              <a:off x="1891" y="2485"/>
              <a:ext cx="559" cy="488"/>
            </a:xfrm>
            <a:custGeom>
              <a:avLst/>
              <a:gdLst>
                <a:gd name="txL" fmla="*/ 0 w 559"/>
                <a:gd name="txT" fmla="*/ 0 h 488"/>
                <a:gd name="txR" fmla="*/ 559 w 559"/>
                <a:gd name="txB" fmla="*/ 488 h 488"/>
              </a:gdLst>
              <a:ahLst/>
              <a:cxnLst>
                <a:cxn ang="0">
                  <a:pos x="133" y="488"/>
                </a:cxn>
                <a:cxn ang="0">
                  <a:pos x="0" y="488"/>
                </a:cxn>
                <a:cxn ang="0">
                  <a:pos x="0" y="350"/>
                </a:cxn>
                <a:cxn ang="0">
                  <a:pos x="559" y="195"/>
                </a:cxn>
                <a:cxn ang="0">
                  <a:pos x="559" y="0"/>
                </a:cxn>
              </a:cxnLst>
              <a:rect l="txL" t="txT" r="txR" b="txB"/>
              <a:pathLst>
                <a:path w="559" h="488">
                  <a:moveTo>
                    <a:pt x="133" y="488"/>
                  </a:moveTo>
                  <a:lnTo>
                    <a:pt x="0" y="488"/>
                  </a:lnTo>
                  <a:lnTo>
                    <a:pt x="0" y="350"/>
                  </a:lnTo>
                  <a:lnTo>
                    <a:pt x="559" y="195"/>
                  </a:lnTo>
                  <a:lnTo>
                    <a:pt x="559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70" name="Freeform 61"/>
            <p:cNvSpPr/>
            <p:nvPr/>
          </p:nvSpPr>
          <p:spPr>
            <a:xfrm>
              <a:off x="1364" y="2394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0"/>
                </a:cxn>
                <a:cxn ang="0">
                  <a:pos x="3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3" y="33"/>
                </a:cxn>
                <a:cxn ang="0">
                  <a:pos x="10" y="36"/>
                </a:cxn>
                <a:cxn ang="0">
                  <a:pos x="18" y="40"/>
                </a:cxn>
                <a:cxn ang="0">
                  <a:pos x="25" y="36"/>
                </a:cxn>
                <a:cxn ang="0">
                  <a:pos x="32" y="33"/>
                </a:cxn>
                <a:cxn ang="0">
                  <a:pos x="36" y="25"/>
                </a:cxn>
                <a:cxn ang="0">
                  <a:pos x="39" y="18"/>
                </a:cxn>
                <a:cxn ang="0">
                  <a:pos x="36" y="11"/>
                </a:cxn>
                <a:cxn ang="0">
                  <a:pos x="32" y="4"/>
                </a:cxn>
                <a:cxn ang="0">
                  <a:pos x="25" y="0"/>
                </a:cxn>
                <a:cxn ang="0">
                  <a:pos x="18" y="0"/>
                </a:cxn>
              </a:cxnLst>
              <a:rect l="txL" t="txT" r="txR" b="txB"/>
              <a:pathLst>
                <a:path w="39" h="40">
                  <a:moveTo>
                    <a:pt x="18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5" y="36"/>
                  </a:lnTo>
                  <a:lnTo>
                    <a:pt x="32" y="33"/>
                  </a:lnTo>
                  <a:lnTo>
                    <a:pt x="36" y="25"/>
                  </a:lnTo>
                  <a:lnTo>
                    <a:pt x="39" y="18"/>
                  </a:lnTo>
                  <a:lnTo>
                    <a:pt x="36" y="11"/>
                  </a:lnTo>
                  <a:lnTo>
                    <a:pt x="32" y="4"/>
                  </a:lnTo>
                  <a:lnTo>
                    <a:pt x="25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71" name="Freeform 62"/>
            <p:cNvSpPr/>
            <p:nvPr/>
          </p:nvSpPr>
          <p:spPr>
            <a:xfrm>
              <a:off x="1364" y="2394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0" y="0"/>
                </a:cxn>
                <a:cxn ang="0">
                  <a:pos x="3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3" y="33"/>
                </a:cxn>
                <a:cxn ang="0">
                  <a:pos x="10" y="36"/>
                </a:cxn>
                <a:cxn ang="0">
                  <a:pos x="18" y="40"/>
                </a:cxn>
                <a:cxn ang="0">
                  <a:pos x="25" y="36"/>
                </a:cxn>
                <a:cxn ang="0">
                  <a:pos x="32" y="33"/>
                </a:cxn>
                <a:cxn ang="0">
                  <a:pos x="36" y="25"/>
                </a:cxn>
                <a:cxn ang="0">
                  <a:pos x="39" y="18"/>
                </a:cxn>
                <a:cxn ang="0">
                  <a:pos x="36" y="11"/>
                </a:cxn>
                <a:cxn ang="0">
                  <a:pos x="32" y="4"/>
                </a:cxn>
                <a:cxn ang="0">
                  <a:pos x="25" y="0"/>
                </a:cxn>
                <a:cxn ang="0">
                  <a:pos x="18" y="0"/>
                </a:cxn>
              </a:cxnLst>
              <a:rect l="txL" t="txT" r="txR" b="txB"/>
              <a:pathLst>
                <a:path w="39" h="40">
                  <a:moveTo>
                    <a:pt x="18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5" y="36"/>
                  </a:lnTo>
                  <a:lnTo>
                    <a:pt x="32" y="33"/>
                  </a:lnTo>
                  <a:lnTo>
                    <a:pt x="36" y="25"/>
                  </a:lnTo>
                  <a:lnTo>
                    <a:pt x="39" y="18"/>
                  </a:lnTo>
                  <a:lnTo>
                    <a:pt x="36" y="11"/>
                  </a:lnTo>
                  <a:lnTo>
                    <a:pt x="32" y="4"/>
                  </a:lnTo>
                  <a:lnTo>
                    <a:pt x="25" y="0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72" name="Freeform 63"/>
            <p:cNvSpPr/>
            <p:nvPr/>
          </p:nvSpPr>
          <p:spPr>
            <a:xfrm>
              <a:off x="2428" y="2463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22" y="0"/>
                </a:cxn>
                <a:cxn ang="0">
                  <a:pos x="15" y="3"/>
                </a:cxn>
                <a:cxn ang="0">
                  <a:pos x="8" y="7"/>
                </a:cxn>
                <a:cxn ang="0">
                  <a:pos x="4" y="14"/>
                </a:cxn>
                <a:cxn ang="0">
                  <a:pos x="0" y="22"/>
                </a:cxn>
                <a:cxn ang="0">
                  <a:pos x="4" y="29"/>
                </a:cxn>
                <a:cxn ang="0">
                  <a:pos x="8" y="36"/>
                </a:cxn>
                <a:cxn ang="0">
                  <a:pos x="15" y="40"/>
                </a:cxn>
                <a:cxn ang="0">
                  <a:pos x="22" y="40"/>
                </a:cxn>
                <a:cxn ang="0">
                  <a:pos x="29" y="40"/>
                </a:cxn>
                <a:cxn ang="0">
                  <a:pos x="33" y="36"/>
                </a:cxn>
                <a:cxn ang="0">
                  <a:pos x="40" y="29"/>
                </a:cxn>
                <a:cxn ang="0">
                  <a:pos x="40" y="22"/>
                </a:cxn>
                <a:cxn ang="0">
                  <a:pos x="40" y="14"/>
                </a:cxn>
                <a:cxn ang="0">
                  <a:pos x="33" y="7"/>
                </a:cxn>
                <a:cxn ang="0">
                  <a:pos x="29" y="3"/>
                </a:cxn>
                <a:cxn ang="0">
                  <a:pos x="22" y="0"/>
                </a:cxn>
              </a:cxnLst>
              <a:rect l="txL" t="txT" r="txR" b="txB"/>
              <a:pathLst>
                <a:path w="40" h="40">
                  <a:moveTo>
                    <a:pt x="22" y="0"/>
                  </a:moveTo>
                  <a:lnTo>
                    <a:pt x="15" y="3"/>
                  </a:lnTo>
                  <a:lnTo>
                    <a:pt x="8" y="7"/>
                  </a:lnTo>
                  <a:lnTo>
                    <a:pt x="4" y="14"/>
                  </a:lnTo>
                  <a:lnTo>
                    <a:pt x="0" y="22"/>
                  </a:lnTo>
                  <a:lnTo>
                    <a:pt x="4" y="29"/>
                  </a:lnTo>
                  <a:lnTo>
                    <a:pt x="8" y="36"/>
                  </a:lnTo>
                  <a:lnTo>
                    <a:pt x="15" y="40"/>
                  </a:lnTo>
                  <a:lnTo>
                    <a:pt x="22" y="40"/>
                  </a:lnTo>
                  <a:lnTo>
                    <a:pt x="29" y="40"/>
                  </a:lnTo>
                  <a:lnTo>
                    <a:pt x="33" y="36"/>
                  </a:lnTo>
                  <a:lnTo>
                    <a:pt x="40" y="29"/>
                  </a:lnTo>
                  <a:lnTo>
                    <a:pt x="40" y="22"/>
                  </a:lnTo>
                  <a:lnTo>
                    <a:pt x="40" y="14"/>
                  </a:lnTo>
                  <a:lnTo>
                    <a:pt x="33" y="7"/>
                  </a:lnTo>
                  <a:lnTo>
                    <a:pt x="29" y="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73" name="Freeform 64"/>
            <p:cNvSpPr/>
            <p:nvPr/>
          </p:nvSpPr>
          <p:spPr>
            <a:xfrm>
              <a:off x="2428" y="2463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22" y="0"/>
                </a:cxn>
                <a:cxn ang="0">
                  <a:pos x="15" y="3"/>
                </a:cxn>
                <a:cxn ang="0">
                  <a:pos x="8" y="7"/>
                </a:cxn>
                <a:cxn ang="0">
                  <a:pos x="4" y="14"/>
                </a:cxn>
                <a:cxn ang="0">
                  <a:pos x="0" y="22"/>
                </a:cxn>
                <a:cxn ang="0">
                  <a:pos x="4" y="29"/>
                </a:cxn>
                <a:cxn ang="0">
                  <a:pos x="8" y="36"/>
                </a:cxn>
                <a:cxn ang="0">
                  <a:pos x="15" y="40"/>
                </a:cxn>
                <a:cxn ang="0">
                  <a:pos x="22" y="40"/>
                </a:cxn>
                <a:cxn ang="0">
                  <a:pos x="29" y="40"/>
                </a:cxn>
                <a:cxn ang="0">
                  <a:pos x="33" y="36"/>
                </a:cxn>
                <a:cxn ang="0">
                  <a:pos x="40" y="29"/>
                </a:cxn>
                <a:cxn ang="0">
                  <a:pos x="40" y="22"/>
                </a:cxn>
                <a:cxn ang="0">
                  <a:pos x="40" y="14"/>
                </a:cxn>
                <a:cxn ang="0">
                  <a:pos x="33" y="7"/>
                </a:cxn>
                <a:cxn ang="0">
                  <a:pos x="29" y="3"/>
                </a:cxn>
                <a:cxn ang="0">
                  <a:pos x="22" y="0"/>
                </a:cxn>
              </a:cxnLst>
              <a:rect l="txL" t="txT" r="txR" b="txB"/>
              <a:pathLst>
                <a:path w="40" h="40">
                  <a:moveTo>
                    <a:pt x="22" y="0"/>
                  </a:moveTo>
                  <a:lnTo>
                    <a:pt x="15" y="3"/>
                  </a:lnTo>
                  <a:lnTo>
                    <a:pt x="8" y="7"/>
                  </a:lnTo>
                  <a:lnTo>
                    <a:pt x="4" y="14"/>
                  </a:lnTo>
                  <a:lnTo>
                    <a:pt x="0" y="22"/>
                  </a:lnTo>
                  <a:lnTo>
                    <a:pt x="4" y="29"/>
                  </a:lnTo>
                  <a:lnTo>
                    <a:pt x="8" y="36"/>
                  </a:lnTo>
                  <a:lnTo>
                    <a:pt x="15" y="40"/>
                  </a:lnTo>
                  <a:lnTo>
                    <a:pt x="22" y="40"/>
                  </a:lnTo>
                  <a:lnTo>
                    <a:pt x="29" y="40"/>
                  </a:lnTo>
                  <a:lnTo>
                    <a:pt x="33" y="36"/>
                  </a:lnTo>
                  <a:lnTo>
                    <a:pt x="40" y="29"/>
                  </a:lnTo>
                  <a:lnTo>
                    <a:pt x="40" y="22"/>
                  </a:lnTo>
                  <a:lnTo>
                    <a:pt x="40" y="14"/>
                  </a:lnTo>
                  <a:lnTo>
                    <a:pt x="33" y="7"/>
                  </a:lnTo>
                  <a:lnTo>
                    <a:pt x="29" y="3"/>
                  </a:lnTo>
                  <a:lnTo>
                    <a:pt x="22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74" name="Freeform 65"/>
            <p:cNvSpPr/>
            <p:nvPr/>
          </p:nvSpPr>
          <p:spPr>
            <a:xfrm>
              <a:off x="2436" y="3048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21" y="0"/>
                </a:cxn>
                <a:cxn ang="0">
                  <a:pos x="14" y="4"/>
                </a:cxn>
                <a:cxn ang="0">
                  <a:pos x="7" y="8"/>
                </a:cxn>
                <a:cxn ang="0">
                  <a:pos x="3" y="11"/>
                </a:cxn>
                <a:cxn ang="0">
                  <a:pos x="0" y="19"/>
                </a:cxn>
                <a:cxn ang="0">
                  <a:pos x="3" y="29"/>
                </a:cxn>
                <a:cxn ang="0">
                  <a:pos x="7" y="33"/>
                </a:cxn>
                <a:cxn ang="0">
                  <a:pos x="14" y="37"/>
                </a:cxn>
                <a:cxn ang="0">
                  <a:pos x="21" y="40"/>
                </a:cxn>
                <a:cxn ang="0">
                  <a:pos x="28" y="37"/>
                </a:cxn>
                <a:cxn ang="0">
                  <a:pos x="32" y="33"/>
                </a:cxn>
                <a:cxn ang="0">
                  <a:pos x="39" y="29"/>
                </a:cxn>
                <a:cxn ang="0">
                  <a:pos x="39" y="19"/>
                </a:cxn>
                <a:cxn ang="0">
                  <a:pos x="39" y="11"/>
                </a:cxn>
                <a:cxn ang="0">
                  <a:pos x="32" y="8"/>
                </a:cxn>
                <a:cxn ang="0">
                  <a:pos x="28" y="4"/>
                </a:cxn>
                <a:cxn ang="0">
                  <a:pos x="21" y="0"/>
                </a:cxn>
              </a:cxnLst>
              <a:rect l="txL" t="txT" r="txR" b="txB"/>
              <a:pathLst>
                <a:path w="39" h="40">
                  <a:moveTo>
                    <a:pt x="21" y="0"/>
                  </a:moveTo>
                  <a:lnTo>
                    <a:pt x="14" y="4"/>
                  </a:lnTo>
                  <a:lnTo>
                    <a:pt x="7" y="8"/>
                  </a:lnTo>
                  <a:lnTo>
                    <a:pt x="3" y="11"/>
                  </a:lnTo>
                  <a:lnTo>
                    <a:pt x="0" y="19"/>
                  </a:lnTo>
                  <a:lnTo>
                    <a:pt x="3" y="29"/>
                  </a:lnTo>
                  <a:lnTo>
                    <a:pt x="7" y="33"/>
                  </a:lnTo>
                  <a:lnTo>
                    <a:pt x="14" y="37"/>
                  </a:lnTo>
                  <a:lnTo>
                    <a:pt x="21" y="40"/>
                  </a:lnTo>
                  <a:lnTo>
                    <a:pt x="28" y="37"/>
                  </a:lnTo>
                  <a:lnTo>
                    <a:pt x="32" y="33"/>
                  </a:lnTo>
                  <a:lnTo>
                    <a:pt x="39" y="29"/>
                  </a:lnTo>
                  <a:lnTo>
                    <a:pt x="39" y="19"/>
                  </a:lnTo>
                  <a:lnTo>
                    <a:pt x="39" y="11"/>
                  </a:lnTo>
                  <a:lnTo>
                    <a:pt x="32" y="8"/>
                  </a:lnTo>
                  <a:lnTo>
                    <a:pt x="28" y="4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75" name="Freeform 66"/>
            <p:cNvSpPr/>
            <p:nvPr/>
          </p:nvSpPr>
          <p:spPr>
            <a:xfrm>
              <a:off x="2436" y="3048"/>
              <a:ext cx="39" cy="40"/>
            </a:xfrm>
            <a:custGeom>
              <a:avLst/>
              <a:gdLst>
                <a:gd name="txL" fmla="*/ 0 w 39"/>
                <a:gd name="txT" fmla="*/ 0 h 40"/>
                <a:gd name="txR" fmla="*/ 39 w 39"/>
                <a:gd name="txB" fmla="*/ 40 h 40"/>
              </a:gdLst>
              <a:ahLst/>
              <a:cxnLst>
                <a:cxn ang="0">
                  <a:pos x="21" y="0"/>
                </a:cxn>
                <a:cxn ang="0">
                  <a:pos x="14" y="4"/>
                </a:cxn>
                <a:cxn ang="0">
                  <a:pos x="7" y="8"/>
                </a:cxn>
                <a:cxn ang="0">
                  <a:pos x="3" y="11"/>
                </a:cxn>
                <a:cxn ang="0">
                  <a:pos x="0" y="19"/>
                </a:cxn>
                <a:cxn ang="0">
                  <a:pos x="3" y="29"/>
                </a:cxn>
                <a:cxn ang="0">
                  <a:pos x="7" y="33"/>
                </a:cxn>
                <a:cxn ang="0">
                  <a:pos x="14" y="37"/>
                </a:cxn>
                <a:cxn ang="0">
                  <a:pos x="21" y="40"/>
                </a:cxn>
                <a:cxn ang="0">
                  <a:pos x="28" y="37"/>
                </a:cxn>
                <a:cxn ang="0">
                  <a:pos x="32" y="33"/>
                </a:cxn>
                <a:cxn ang="0">
                  <a:pos x="39" y="29"/>
                </a:cxn>
                <a:cxn ang="0">
                  <a:pos x="39" y="19"/>
                </a:cxn>
                <a:cxn ang="0">
                  <a:pos x="39" y="11"/>
                </a:cxn>
                <a:cxn ang="0">
                  <a:pos x="32" y="8"/>
                </a:cxn>
                <a:cxn ang="0">
                  <a:pos x="28" y="4"/>
                </a:cxn>
                <a:cxn ang="0">
                  <a:pos x="21" y="0"/>
                </a:cxn>
              </a:cxnLst>
              <a:rect l="txL" t="txT" r="txR" b="txB"/>
              <a:pathLst>
                <a:path w="39" h="40">
                  <a:moveTo>
                    <a:pt x="21" y="0"/>
                  </a:moveTo>
                  <a:lnTo>
                    <a:pt x="14" y="4"/>
                  </a:lnTo>
                  <a:lnTo>
                    <a:pt x="7" y="8"/>
                  </a:lnTo>
                  <a:lnTo>
                    <a:pt x="3" y="11"/>
                  </a:lnTo>
                  <a:lnTo>
                    <a:pt x="0" y="19"/>
                  </a:lnTo>
                  <a:lnTo>
                    <a:pt x="3" y="29"/>
                  </a:lnTo>
                  <a:lnTo>
                    <a:pt x="7" y="33"/>
                  </a:lnTo>
                  <a:lnTo>
                    <a:pt x="14" y="37"/>
                  </a:lnTo>
                  <a:lnTo>
                    <a:pt x="21" y="40"/>
                  </a:lnTo>
                  <a:lnTo>
                    <a:pt x="28" y="37"/>
                  </a:lnTo>
                  <a:lnTo>
                    <a:pt x="32" y="33"/>
                  </a:lnTo>
                  <a:lnTo>
                    <a:pt x="39" y="29"/>
                  </a:lnTo>
                  <a:lnTo>
                    <a:pt x="39" y="19"/>
                  </a:lnTo>
                  <a:lnTo>
                    <a:pt x="39" y="11"/>
                  </a:lnTo>
                  <a:lnTo>
                    <a:pt x="32" y="8"/>
                  </a:lnTo>
                  <a:lnTo>
                    <a:pt x="28" y="4"/>
                  </a:lnTo>
                  <a:lnTo>
                    <a:pt x="21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76" name="Line 67"/>
            <p:cNvSpPr/>
            <p:nvPr/>
          </p:nvSpPr>
          <p:spPr>
            <a:xfrm>
              <a:off x="2226" y="3070"/>
              <a:ext cx="45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77" name="Freeform 68"/>
            <p:cNvSpPr/>
            <p:nvPr/>
          </p:nvSpPr>
          <p:spPr>
            <a:xfrm>
              <a:off x="2205" y="3048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8"/>
                </a:cxn>
                <a:cxn ang="0">
                  <a:pos x="3" y="15"/>
                </a:cxn>
                <a:cxn ang="0">
                  <a:pos x="0" y="19"/>
                </a:cxn>
                <a:cxn ang="0">
                  <a:pos x="0" y="22"/>
                </a:cxn>
                <a:cxn ang="0">
                  <a:pos x="0" y="26"/>
                </a:cxn>
                <a:cxn ang="0">
                  <a:pos x="3" y="33"/>
                </a:cxn>
                <a:cxn ang="0">
                  <a:pos x="7" y="40"/>
                </a:cxn>
                <a:cxn ang="0">
                  <a:pos x="14" y="44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4"/>
                </a:cxn>
                <a:cxn ang="0">
                  <a:pos x="39" y="40"/>
                </a:cxn>
                <a:cxn ang="0">
                  <a:pos x="47" y="33"/>
                </a:cxn>
                <a:cxn ang="0">
                  <a:pos x="47" y="26"/>
                </a:cxn>
                <a:cxn ang="0">
                  <a:pos x="47" y="22"/>
                </a:cxn>
                <a:cxn ang="0">
                  <a:pos x="47" y="19"/>
                </a:cxn>
                <a:cxn ang="0">
                  <a:pos x="47" y="15"/>
                </a:cxn>
                <a:cxn ang="0">
                  <a:pos x="39" y="8"/>
                </a:cxn>
                <a:cxn ang="0">
                  <a:pos x="32" y="0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8"/>
                  </a:lnTo>
                  <a:lnTo>
                    <a:pt x="3" y="15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3" y="33"/>
                  </a:lnTo>
                  <a:lnTo>
                    <a:pt x="7" y="40"/>
                  </a:lnTo>
                  <a:lnTo>
                    <a:pt x="14" y="44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4"/>
                  </a:lnTo>
                  <a:lnTo>
                    <a:pt x="39" y="40"/>
                  </a:lnTo>
                  <a:lnTo>
                    <a:pt x="47" y="33"/>
                  </a:lnTo>
                  <a:lnTo>
                    <a:pt x="47" y="26"/>
                  </a:lnTo>
                  <a:lnTo>
                    <a:pt x="47" y="22"/>
                  </a:lnTo>
                  <a:lnTo>
                    <a:pt x="47" y="19"/>
                  </a:lnTo>
                  <a:lnTo>
                    <a:pt x="47" y="15"/>
                  </a:lnTo>
                  <a:lnTo>
                    <a:pt x="39" y="8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78" name="Freeform 69"/>
            <p:cNvSpPr/>
            <p:nvPr/>
          </p:nvSpPr>
          <p:spPr>
            <a:xfrm>
              <a:off x="2205" y="3048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5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8"/>
                </a:cxn>
                <a:cxn ang="0">
                  <a:pos x="3" y="15"/>
                </a:cxn>
                <a:cxn ang="0">
                  <a:pos x="0" y="19"/>
                </a:cxn>
                <a:cxn ang="0">
                  <a:pos x="0" y="22"/>
                </a:cxn>
                <a:cxn ang="0">
                  <a:pos x="0" y="26"/>
                </a:cxn>
                <a:cxn ang="0">
                  <a:pos x="3" y="33"/>
                </a:cxn>
                <a:cxn ang="0">
                  <a:pos x="7" y="40"/>
                </a:cxn>
                <a:cxn ang="0">
                  <a:pos x="14" y="44"/>
                </a:cxn>
                <a:cxn ang="0">
                  <a:pos x="18" y="47"/>
                </a:cxn>
                <a:cxn ang="0">
                  <a:pos x="25" y="47"/>
                </a:cxn>
                <a:cxn ang="0">
                  <a:pos x="28" y="47"/>
                </a:cxn>
                <a:cxn ang="0">
                  <a:pos x="32" y="44"/>
                </a:cxn>
                <a:cxn ang="0">
                  <a:pos x="39" y="40"/>
                </a:cxn>
                <a:cxn ang="0">
                  <a:pos x="47" y="33"/>
                </a:cxn>
                <a:cxn ang="0">
                  <a:pos x="47" y="26"/>
                </a:cxn>
                <a:cxn ang="0">
                  <a:pos x="47" y="22"/>
                </a:cxn>
                <a:cxn ang="0">
                  <a:pos x="47" y="19"/>
                </a:cxn>
                <a:cxn ang="0">
                  <a:pos x="47" y="15"/>
                </a:cxn>
                <a:cxn ang="0">
                  <a:pos x="39" y="8"/>
                </a:cxn>
                <a:cxn ang="0">
                  <a:pos x="32" y="0"/>
                </a:cxn>
                <a:cxn ang="0">
                  <a:pos x="28" y="0"/>
                </a:cxn>
                <a:cxn ang="0">
                  <a:pos x="25" y="0"/>
                </a:cxn>
              </a:cxnLst>
              <a:rect l="txL" t="txT" r="txR" b="txB"/>
              <a:pathLst>
                <a:path w="47" h="47">
                  <a:moveTo>
                    <a:pt x="25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8"/>
                  </a:lnTo>
                  <a:lnTo>
                    <a:pt x="3" y="15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3" y="33"/>
                  </a:lnTo>
                  <a:lnTo>
                    <a:pt x="7" y="40"/>
                  </a:lnTo>
                  <a:lnTo>
                    <a:pt x="14" y="44"/>
                  </a:lnTo>
                  <a:lnTo>
                    <a:pt x="18" y="47"/>
                  </a:lnTo>
                  <a:lnTo>
                    <a:pt x="25" y="47"/>
                  </a:lnTo>
                  <a:lnTo>
                    <a:pt x="28" y="47"/>
                  </a:lnTo>
                  <a:lnTo>
                    <a:pt x="32" y="44"/>
                  </a:lnTo>
                  <a:lnTo>
                    <a:pt x="39" y="40"/>
                  </a:lnTo>
                  <a:lnTo>
                    <a:pt x="47" y="33"/>
                  </a:lnTo>
                  <a:lnTo>
                    <a:pt x="47" y="26"/>
                  </a:lnTo>
                  <a:lnTo>
                    <a:pt x="47" y="22"/>
                  </a:lnTo>
                  <a:lnTo>
                    <a:pt x="47" y="19"/>
                  </a:lnTo>
                  <a:lnTo>
                    <a:pt x="47" y="15"/>
                  </a:lnTo>
                  <a:lnTo>
                    <a:pt x="39" y="8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79" name="Rectangle 70"/>
            <p:cNvSpPr/>
            <p:nvPr/>
          </p:nvSpPr>
          <p:spPr>
            <a:xfrm>
              <a:off x="2075" y="2174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80" name="Rectangle 71"/>
            <p:cNvSpPr/>
            <p:nvPr/>
          </p:nvSpPr>
          <p:spPr>
            <a:xfrm>
              <a:off x="2111" y="2430"/>
              <a:ext cx="38" cy="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81" name="Rectangle 72"/>
            <p:cNvSpPr/>
            <p:nvPr/>
          </p:nvSpPr>
          <p:spPr>
            <a:xfrm>
              <a:off x="2165" y="2355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82" name="Rectangle 73"/>
            <p:cNvSpPr/>
            <p:nvPr/>
          </p:nvSpPr>
          <p:spPr>
            <a:xfrm>
              <a:off x="1411" y="2228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83" name="Rectangle 74"/>
            <p:cNvSpPr/>
            <p:nvPr/>
          </p:nvSpPr>
          <p:spPr>
            <a:xfrm>
              <a:off x="1526" y="2304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84" name="Rectangle 75"/>
            <p:cNvSpPr/>
            <p:nvPr/>
          </p:nvSpPr>
          <p:spPr>
            <a:xfrm>
              <a:off x="1580" y="222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85" name="Rectangle 76"/>
            <p:cNvSpPr/>
            <p:nvPr/>
          </p:nvSpPr>
          <p:spPr>
            <a:xfrm>
              <a:off x="1411" y="2958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86" name="Rectangle 77"/>
            <p:cNvSpPr/>
            <p:nvPr/>
          </p:nvSpPr>
          <p:spPr>
            <a:xfrm>
              <a:off x="1526" y="3034"/>
              <a:ext cx="38" cy="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87" name="Rectangle 78"/>
            <p:cNvSpPr/>
            <p:nvPr/>
          </p:nvSpPr>
          <p:spPr>
            <a:xfrm>
              <a:off x="1580" y="295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88" name="Rectangle 79"/>
            <p:cNvSpPr/>
            <p:nvPr/>
          </p:nvSpPr>
          <p:spPr>
            <a:xfrm>
              <a:off x="1725" y="2243"/>
              <a:ext cx="6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89" name="Rectangle 80"/>
            <p:cNvSpPr/>
            <p:nvPr/>
          </p:nvSpPr>
          <p:spPr>
            <a:xfrm>
              <a:off x="1811" y="2243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90" name="Rectangle 81"/>
            <p:cNvSpPr/>
            <p:nvPr/>
          </p:nvSpPr>
          <p:spPr>
            <a:xfrm>
              <a:off x="1717" y="2969"/>
              <a:ext cx="77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91" name="Rectangle 82"/>
            <p:cNvSpPr/>
            <p:nvPr/>
          </p:nvSpPr>
          <p:spPr>
            <a:xfrm>
              <a:off x="1822" y="296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92" name="Rectangle 83"/>
            <p:cNvSpPr/>
            <p:nvPr/>
          </p:nvSpPr>
          <p:spPr>
            <a:xfrm>
              <a:off x="1050" y="3815"/>
              <a:ext cx="8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93" name="Rectangle 84"/>
            <p:cNvSpPr/>
            <p:nvPr/>
          </p:nvSpPr>
          <p:spPr>
            <a:xfrm>
              <a:off x="1086" y="4075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94" name="Rectangle 85"/>
            <p:cNvSpPr/>
            <p:nvPr/>
          </p:nvSpPr>
          <p:spPr>
            <a:xfrm>
              <a:off x="1140" y="399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395" name="Freeform 86"/>
            <p:cNvSpPr/>
            <p:nvPr/>
          </p:nvSpPr>
          <p:spPr>
            <a:xfrm>
              <a:off x="862" y="3229"/>
              <a:ext cx="534" cy="470"/>
            </a:xfrm>
            <a:custGeom>
              <a:avLst/>
              <a:gdLst>
                <a:gd name="txL" fmla="*/ 0 w 534"/>
                <a:gd name="txT" fmla="*/ 0 h 470"/>
                <a:gd name="txR" fmla="*/ 534 w 534"/>
                <a:gd name="txB" fmla="*/ 470 h 470"/>
              </a:gdLst>
              <a:ahLst/>
              <a:cxnLst>
                <a:cxn ang="0">
                  <a:pos x="0" y="0"/>
                </a:cxn>
                <a:cxn ang="0">
                  <a:pos x="0" y="123"/>
                </a:cxn>
                <a:cxn ang="0">
                  <a:pos x="534" y="275"/>
                </a:cxn>
                <a:cxn ang="0">
                  <a:pos x="534" y="470"/>
                </a:cxn>
                <a:cxn ang="0">
                  <a:pos x="350" y="470"/>
                </a:cxn>
              </a:cxnLst>
              <a:rect l="txL" t="txT" r="txR" b="txB"/>
              <a:pathLst>
                <a:path w="534" h="470">
                  <a:moveTo>
                    <a:pt x="0" y="0"/>
                  </a:moveTo>
                  <a:lnTo>
                    <a:pt x="0" y="123"/>
                  </a:lnTo>
                  <a:lnTo>
                    <a:pt x="534" y="275"/>
                  </a:lnTo>
                  <a:lnTo>
                    <a:pt x="534" y="470"/>
                  </a:lnTo>
                  <a:lnTo>
                    <a:pt x="350" y="470"/>
                  </a:lnTo>
                </a:path>
              </a:pathLst>
            </a:custGeom>
            <a:noFill/>
            <a:ln w="17463" cap="flat" cmpd="sng">
              <a:solidFill>
                <a:srgbClr val="0000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96" name="Freeform 87"/>
            <p:cNvSpPr/>
            <p:nvPr/>
          </p:nvSpPr>
          <p:spPr>
            <a:xfrm>
              <a:off x="1187" y="3674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32"/>
                </a:cxn>
                <a:cxn ang="0">
                  <a:pos x="7" y="40"/>
                </a:cxn>
                <a:cxn ang="0">
                  <a:pos x="14" y="43"/>
                </a:cxn>
                <a:cxn ang="0">
                  <a:pos x="18" y="43"/>
                </a:cxn>
                <a:cxn ang="0">
                  <a:pos x="21" y="47"/>
                </a:cxn>
                <a:cxn ang="0">
                  <a:pos x="29" y="43"/>
                </a:cxn>
                <a:cxn ang="0">
                  <a:pos x="32" y="43"/>
                </a:cxn>
                <a:cxn ang="0">
                  <a:pos x="39" y="40"/>
                </a:cxn>
                <a:cxn ang="0">
                  <a:pos x="43" y="32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0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32"/>
                  </a:lnTo>
                  <a:lnTo>
                    <a:pt x="7" y="40"/>
                  </a:lnTo>
                  <a:lnTo>
                    <a:pt x="14" y="43"/>
                  </a:lnTo>
                  <a:lnTo>
                    <a:pt x="18" y="43"/>
                  </a:lnTo>
                  <a:lnTo>
                    <a:pt x="21" y="47"/>
                  </a:lnTo>
                  <a:lnTo>
                    <a:pt x="29" y="43"/>
                  </a:lnTo>
                  <a:lnTo>
                    <a:pt x="32" y="43"/>
                  </a:lnTo>
                  <a:lnTo>
                    <a:pt x="39" y="40"/>
                  </a:lnTo>
                  <a:lnTo>
                    <a:pt x="43" y="32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97" name="Freeform 88"/>
            <p:cNvSpPr/>
            <p:nvPr/>
          </p:nvSpPr>
          <p:spPr>
            <a:xfrm>
              <a:off x="1187" y="3674"/>
              <a:ext cx="47" cy="47"/>
            </a:xfrm>
            <a:custGeom>
              <a:avLst/>
              <a:gdLst>
                <a:gd name="txL" fmla="*/ 0 w 47"/>
                <a:gd name="txT" fmla="*/ 0 h 47"/>
                <a:gd name="txR" fmla="*/ 47 w 47"/>
                <a:gd name="txB" fmla="*/ 47 h 47"/>
              </a:gdLst>
              <a:ahLst/>
              <a:cxnLst>
                <a:cxn ang="0">
                  <a:pos x="21" y="0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7" y="7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0" y="32"/>
                </a:cxn>
                <a:cxn ang="0">
                  <a:pos x="7" y="40"/>
                </a:cxn>
                <a:cxn ang="0">
                  <a:pos x="14" y="43"/>
                </a:cxn>
                <a:cxn ang="0">
                  <a:pos x="18" y="43"/>
                </a:cxn>
                <a:cxn ang="0">
                  <a:pos x="21" y="47"/>
                </a:cxn>
                <a:cxn ang="0">
                  <a:pos x="29" y="43"/>
                </a:cxn>
                <a:cxn ang="0">
                  <a:pos x="32" y="43"/>
                </a:cxn>
                <a:cxn ang="0">
                  <a:pos x="39" y="40"/>
                </a:cxn>
                <a:cxn ang="0">
                  <a:pos x="43" y="32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47" y="18"/>
                </a:cxn>
                <a:cxn ang="0">
                  <a:pos x="43" y="14"/>
                </a:cxn>
                <a:cxn ang="0">
                  <a:pos x="39" y="7"/>
                </a:cxn>
                <a:cxn ang="0">
                  <a:pos x="32" y="0"/>
                </a:cxn>
                <a:cxn ang="0">
                  <a:pos x="29" y="0"/>
                </a:cxn>
                <a:cxn ang="0">
                  <a:pos x="21" y="0"/>
                </a:cxn>
              </a:cxnLst>
              <a:rect l="txL" t="txT" r="txR" b="txB"/>
              <a:pathLst>
                <a:path w="47" h="47">
                  <a:moveTo>
                    <a:pt x="21" y="0"/>
                  </a:moveTo>
                  <a:lnTo>
                    <a:pt x="18" y="0"/>
                  </a:lnTo>
                  <a:lnTo>
                    <a:pt x="14" y="0"/>
                  </a:lnTo>
                  <a:lnTo>
                    <a:pt x="7" y="7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32"/>
                  </a:lnTo>
                  <a:lnTo>
                    <a:pt x="7" y="40"/>
                  </a:lnTo>
                  <a:lnTo>
                    <a:pt x="14" y="43"/>
                  </a:lnTo>
                  <a:lnTo>
                    <a:pt x="18" y="43"/>
                  </a:lnTo>
                  <a:lnTo>
                    <a:pt x="21" y="47"/>
                  </a:lnTo>
                  <a:lnTo>
                    <a:pt x="29" y="43"/>
                  </a:lnTo>
                  <a:lnTo>
                    <a:pt x="32" y="43"/>
                  </a:lnTo>
                  <a:lnTo>
                    <a:pt x="39" y="40"/>
                  </a:lnTo>
                  <a:lnTo>
                    <a:pt x="43" y="32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39" y="7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1" y="0"/>
                  </a:lnTo>
                </a:path>
              </a:pathLst>
            </a:custGeom>
            <a:noFill/>
            <a:ln w="1746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98" name="Freeform 89"/>
            <p:cNvSpPr/>
            <p:nvPr/>
          </p:nvSpPr>
          <p:spPr>
            <a:xfrm>
              <a:off x="862" y="3139"/>
              <a:ext cx="530" cy="473"/>
            </a:xfrm>
            <a:custGeom>
              <a:avLst/>
              <a:gdLst>
                <a:gd name="txL" fmla="*/ 0 w 530"/>
                <a:gd name="txT" fmla="*/ 0 h 473"/>
                <a:gd name="txR" fmla="*/ 530 w 530"/>
                <a:gd name="txB" fmla="*/ 473 h 473"/>
              </a:gdLst>
              <a:ahLst/>
              <a:cxnLst>
                <a:cxn ang="0">
                  <a:pos x="162" y="473"/>
                </a:cxn>
                <a:cxn ang="0">
                  <a:pos x="0" y="473"/>
                </a:cxn>
                <a:cxn ang="0">
                  <a:pos x="0" y="365"/>
                </a:cxn>
                <a:cxn ang="0">
                  <a:pos x="530" y="188"/>
                </a:cxn>
                <a:cxn ang="0">
                  <a:pos x="530" y="0"/>
                </a:cxn>
              </a:cxnLst>
              <a:rect l="txL" t="txT" r="txR" b="txB"/>
              <a:pathLst>
                <a:path w="530" h="473">
                  <a:moveTo>
                    <a:pt x="162" y="473"/>
                  </a:moveTo>
                  <a:lnTo>
                    <a:pt x="0" y="473"/>
                  </a:lnTo>
                  <a:lnTo>
                    <a:pt x="0" y="365"/>
                  </a:lnTo>
                  <a:lnTo>
                    <a:pt x="530" y="188"/>
                  </a:lnTo>
                  <a:lnTo>
                    <a:pt x="530" y="0"/>
                  </a:lnTo>
                </a:path>
              </a:pathLst>
            </a:custGeom>
            <a:noFill/>
            <a:ln w="17463" cap="flat" cmpd="sng">
              <a:solidFill>
                <a:srgbClr val="0000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99" name="Freeform 90"/>
            <p:cNvSpPr/>
            <p:nvPr/>
          </p:nvSpPr>
          <p:spPr>
            <a:xfrm>
              <a:off x="1374" y="3128"/>
              <a:ext cx="40" cy="36"/>
            </a:xfrm>
            <a:custGeom>
              <a:avLst/>
              <a:gdLst>
                <a:gd name="txL" fmla="*/ 0 w 40"/>
                <a:gd name="txT" fmla="*/ 0 h 36"/>
                <a:gd name="txR" fmla="*/ 40 w 40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11" y="0"/>
                </a:cxn>
                <a:cxn ang="0">
                  <a:pos x="8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8" y="33"/>
                </a:cxn>
                <a:cxn ang="0">
                  <a:pos x="11" y="36"/>
                </a:cxn>
                <a:cxn ang="0">
                  <a:pos x="18" y="36"/>
                </a:cxn>
                <a:cxn ang="0">
                  <a:pos x="26" y="36"/>
                </a:cxn>
                <a:cxn ang="0">
                  <a:pos x="33" y="33"/>
                </a:cxn>
                <a:cxn ang="0">
                  <a:pos x="37" y="25"/>
                </a:cxn>
                <a:cxn ang="0">
                  <a:pos x="40" y="18"/>
                </a:cxn>
                <a:cxn ang="0">
                  <a:pos x="37" y="11"/>
                </a:cxn>
                <a:cxn ang="0">
                  <a:pos x="33" y="4"/>
                </a:cxn>
                <a:cxn ang="0">
                  <a:pos x="26" y="0"/>
                </a:cxn>
                <a:cxn ang="0">
                  <a:pos x="18" y="0"/>
                </a:cxn>
              </a:cxnLst>
              <a:rect l="txL" t="txT" r="txR" b="txB"/>
              <a:pathLst>
                <a:path w="40" h="36">
                  <a:moveTo>
                    <a:pt x="18" y="0"/>
                  </a:moveTo>
                  <a:lnTo>
                    <a:pt x="11" y="0"/>
                  </a:lnTo>
                  <a:lnTo>
                    <a:pt x="8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8" y="33"/>
                  </a:lnTo>
                  <a:lnTo>
                    <a:pt x="11" y="36"/>
                  </a:lnTo>
                  <a:lnTo>
                    <a:pt x="18" y="36"/>
                  </a:lnTo>
                  <a:lnTo>
                    <a:pt x="26" y="36"/>
                  </a:lnTo>
                  <a:lnTo>
                    <a:pt x="33" y="33"/>
                  </a:lnTo>
                  <a:lnTo>
                    <a:pt x="37" y="25"/>
                  </a:lnTo>
                  <a:lnTo>
                    <a:pt x="40" y="18"/>
                  </a:lnTo>
                  <a:lnTo>
                    <a:pt x="37" y="11"/>
                  </a:lnTo>
                  <a:lnTo>
                    <a:pt x="33" y="4"/>
                  </a:lnTo>
                  <a:lnTo>
                    <a:pt x="26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400" name="Freeform 91"/>
            <p:cNvSpPr/>
            <p:nvPr/>
          </p:nvSpPr>
          <p:spPr>
            <a:xfrm>
              <a:off x="1374" y="3128"/>
              <a:ext cx="40" cy="36"/>
            </a:xfrm>
            <a:custGeom>
              <a:avLst/>
              <a:gdLst>
                <a:gd name="txL" fmla="*/ 0 w 40"/>
                <a:gd name="txT" fmla="*/ 0 h 36"/>
                <a:gd name="txR" fmla="*/ 40 w 40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11" y="0"/>
                </a:cxn>
                <a:cxn ang="0">
                  <a:pos x="8" y="4"/>
                </a:cxn>
                <a:cxn ang="0">
                  <a:pos x="0" y="11"/>
                </a:cxn>
                <a:cxn ang="0">
                  <a:pos x="0" y="18"/>
                </a:cxn>
                <a:cxn ang="0">
                  <a:pos x="0" y="25"/>
                </a:cxn>
                <a:cxn ang="0">
                  <a:pos x="8" y="33"/>
                </a:cxn>
                <a:cxn ang="0">
                  <a:pos x="11" y="36"/>
                </a:cxn>
                <a:cxn ang="0">
                  <a:pos x="18" y="36"/>
                </a:cxn>
                <a:cxn ang="0">
                  <a:pos x="26" y="36"/>
                </a:cxn>
                <a:cxn ang="0">
                  <a:pos x="33" y="33"/>
                </a:cxn>
                <a:cxn ang="0">
                  <a:pos x="37" y="25"/>
                </a:cxn>
                <a:cxn ang="0">
                  <a:pos x="40" y="18"/>
                </a:cxn>
                <a:cxn ang="0">
                  <a:pos x="37" y="11"/>
                </a:cxn>
                <a:cxn ang="0">
                  <a:pos x="33" y="4"/>
                </a:cxn>
                <a:cxn ang="0">
                  <a:pos x="26" y="0"/>
                </a:cxn>
                <a:cxn ang="0">
                  <a:pos x="18" y="0"/>
                </a:cxn>
              </a:cxnLst>
              <a:rect l="txL" t="txT" r="txR" b="txB"/>
              <a:pathLst>
                <a:path w="40" h="36">
                  <a:moveTo>
                    <a:pt x="18" y="0"/>
                  </a:moveTo>
                  <a:lnTo>
                    <a:pt x="11" y="0"/>
                  </a:lnTo>
                  <a:lnTo>
                    <a:pt x="8" y="4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5"/>
                  </a:lnTo>
                  <a:lnTo>
                    <a:pt x="8" y="33"/>
                  </a:lnTo>
                  <a:lnTo>
                    <a:pt x="11" y="36"/>
                  </a:lnTo>
                  <a:lnTo>
                    <a:pt x="18" y="36"/>
                  </a:lnTo>
                  <a:lnTo>
                    <a:pt x="26" y="36"/>
                  </a:lnTo>
                  <a:lnTo>
                    <a:pt x="33" y="33"/>
                  </a:lnTo>
                  <a:lnTo>
                    <a:pt x="37" y="25"/>
                  </a:lnTo>
                  <a:lnTo>
                    <a:pt x="40" y="18"/>
                  </a:lnTo>
                  <a:lnTo>
                    <a:pt x="37" y="11"/>
                  </a:lnTo>
                  <a:lnTo>
                    <a:pt x="33" y="4"/>
                  </a:lnTo>
                  <a:lnTo>
                    <a:pt x="26" y="0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401" name="Rectangle 92"/>
            <p:cNvSpPr/>
            <p:nvPr/>
          </p:nvSpPr>
          <p:spPr>
            <a:xfrm>
              <a:off x="1411" y="3616"/>
              <a:ext cx="84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02" name="Rectangle 93"/>
            <p:cNvSpPr/>
            <p:nvPr/>
          </p:nvSpPr>
          <p:spPr>
            <a:xfrm>
              <a:off x="1526" y="3692"/>
              <a:ext cx="38" cy="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3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03" name="Rectangle 94"/>
            <p:cNvSpPr/>
            <p:nvPr/>
          </p:nvSpPr>
          <p:spPr>
            <a:xfrm>
              <a:off x="1580" y="3616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04" name="Line 95"/>
            <p:cNvSpPr/>
            <p:nvPr/>
          </p:nvSpPr>
          <p:spPr>
            <a:xfrm flipH="1">
              <a:off x="342" y="3768"/>
              <a:ext cx="67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405" name="Rectangle 96"/>
            <p:cNvSpPr/>
            <p:nvPr/>
          </p:nvSpPr>
          <p:spPr>
            <a:xfrm>
              <a:off x="190" y="3703"/>
              <a:ext cx="83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06" name="Rectangle 97"/>
            <p:cNvSpPr/>
            <p:nvPr/>
          </p:nvSpPr>
          <p:spPr>
            <a:xfrm>
              <a:off x="306" y="3703"/>
              <a:ext cx="28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07" name="Rectangle 98"/>
            <p:cNvSpPr/>
            <p:nvPr/>
          </p:nvSpPr>
          <p:spPr>
            <a:xfrm>
              <a:off x="2075" y="3204"/>
              <a:ext cx="8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08" name="Rectangle 99"/>
            <p:cNvSpPr/>
            <p:nvPr/>
          </p:nvSpPr>
          <p:spPr>
            <a:xfrm>
              <a:off x="2111" y="3464"/>
              <a:ext cx="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endParaRPr lang="zh-CN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09" name="Rectangle 100"/>
            <p:cNvSpPr/>
            <p:nvPr/>
          </p:nvSpPr>
          <p:spPr>
            <a:xfrm>
              <a:off x="2165" y="3388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10" name="Rectangle 101"/>
            <p:cNvSpPr/>
            <p:nvPr/>
          </p:nvSpPr>
          <p:spPr>
            <a:xfrm>
              <a:off x="2641" y="2401"/>
              <a:ext cx="170" cy="19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411" name="Rectangle 102"/>
            <p:cNvSpPr/>
            <p:nvPr/>
          </p:nvSpPr>
          <p:spPr>
            <a:xfrm>
              <a:off x="2670" y="2409"/>
              <a:ext cx="83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12" name="Rectangle 103"/>
            <p:cNvSpPr/>
            <p:nvPr/>
          </p:nvSpPr>
          <p:spPr>
            <a:xfrm>
              <a:off x="2786" y="2409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13" name="Rectangle 104"/>
            <p:cNvSpPr/>
            <p:nvPr/>
          </p:nvSpPr>
          <p:spPr>
            <a:xfrm>
              <a:off x="2641" y="2987"/>
              <a:ext cx="170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414" name="Rectangle 105"/>
            <p:cNvSpPr/>
            <p:nvPr/>
          </p:nvSpPr>
          <p:spPr>
            <a:xfrm>
              <a:off x="2670" y="2987"/>
              <a:ext cx="83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15" name="Rectangle 106"/>
            <p:cNvSpPr/>
            <p:nvPr/>
          </p:nvSpPr>
          <p:spPr>
            <a:xfrm>
              <a:off x="2786" y="2987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16" name="Line 107"/>
            <p:cNvSpPr/>
            <p:nvPr/>
          </p:nvSpPr>
          <p:spPr>
            <a:xfrm>
              <a:off x="2670" y="2998"/>
              <a:ext cx="109" cy="1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417" name="Rectangle 108"/>
            <p:cNvSpPr/>
            <p:nvPr/>
          </p:nvSpPr>
          <p:spPr>
            <a:xfrm>
              <a:off x="1017" y="3562"/>
              <a:ext cx="170" cy="2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418" name="Rectangle 109"/>
            <p:cNvSpPr/>
            <p:nvPr/>
          </p:nvSpPr>
          <p:spPr>
            <a:xfrm>
              <a:off x="1017" y="3562"/>
              <a:ext cx="170" cy="256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419" name="Rectangle 110"/>
            <p:cNvSpPr/>
            <p:nvPr/>
          </p:nvSpPr>
          <p:spPr>
            <a:xfrm>
              <a:off x="1039" y="3576"/>
              <a:ext cx="95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20" name="Rectangle 111"/>
            <p:cNvSpPr/>
            <p:nvPr/>
          </p:nvSpPr>
          <p:spPr>
            <a:xfrm>
              <a:off x="1172" y="3576"/>
              <a:ext cx="29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54421" name="Freeform 112"/>
            <p:cNvSpPr/>
            <p:nvPr/>
          </p:nvSpPr>
          <p:spPr>
            <a:xfrm>
              <a:off x="840" y="3211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1" y="4"/>
                </a:cxn>
                <a:cxn ang="0">
                  <a:pos x="7" y="7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4" y="29"/>
                </a:cxn>
                <a:cxn ang="0">
                  <a:pos x="7" y="33"/>
                </a:cxn>
                <a:cxn ang="0">
                  <a:pos x="11" y="36"/>
                </a:cxn>
                <a:cxn ang="0">
                  <a:pos x="18" y="40"/>
                </a:cxn>
                <a:cxn ang="0">
                  <a:pos x="29" y="36"/>
                </a:cxn>
                <a:cxn ang="0">
                  <a:pos x="33" y="33"/>
                </a:cxn>
                <a:cxn ang="0">
                  <a:pos x="36" y="29"/>
                </a:cxn>
                <a:cxn ang="0">
                  <a:pos x="40" y="18"/>
                </a:cxn>
                <a:cxn ang="0">
                  <a:pos x="36" y="11"/>
                </a:cxn>
                <a:cxn ang="0">
                  <a:pos x="33" y="7"/>
                </a:cxn>
                <a:cxn ang="0">
                  <a:pos x="29" y="4"/>
                </a:cxn>
                <a:cxn ang="0">
                  <a:pos x="18" y="0"/>
                </a:cxn>
              </a:cxnLst>
              <a:rect l="txL" t="txT" r="txR" b="txB"/>
              <a:pathLst>
                <a:path w="40" h="40">
                  <a:moveTo>
                    <a:pt x="18" y="0"/>
                  </a:moveTo>
                  <a:lnTo>
                    <a:pt x="11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0" y="18"/>
                  </a:lnTo>
                  <a:lnTo>
                    <a:pt x="4" y="29"/>
                  </a:lnTo>
                  <a:lnTo>
                    <a:pt x="7" y="33"/>
                  </a:lnTo>
                  <a:lnTo>
                    <a:pt x="11" y="36"/>
                  </a:lnTo>
                  <a:lnTo>
                    <a:pt x="18" y="40"/>
                  </a:lnTo>
                  <a:lnTo>
                    <a:pt x="29" y="36"/>
                  </a:lnTo>
                  <a:lnTo>
                    <a:pt x="33" y="33"/>
                  </a:lnTo>
                  <a:lnTo>
                    <a:pt x="36" y="29"/>
                  </a:lnTo>
                  <a:lnTo>
                    <a:pt x="40" y="18"/>
                  </a:lnTo>
                  <a:lnTo>
                    <a:pt x="36" y="11"/>
                  </a:lnTo>
                  <a:lnTo>
                    <a:pt x="33" y="7"/>
                  </a:lnTo>
                  <a:lnTo>
                    <a:pt x="29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422" name="Freeform 113"/>
            <p:cNvSpPr/>
            <p:nvPr/>
          </p:nvSpPr>
          <p:spPr>
            <a:xfrm>
              <a:off x="840" y="3211"/>
              <a:ext cx="40" cy="4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18" y="0"/>
                </a:cxn>
                <a:cxn ang="0">
                  <a:pos x="11" y="4"/>
                </a:cxn>
                <a:cxn ang="0">
                  <a:pos x="7" y="7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4" y="29"/>
                </a:cxn>
                <a:cxn ang="0">
                  <a:pos x="7" y="33"/>
                </a:cxn>
                <a:cxn ang="0">
                  <a:pos x="11" y="36"/>
                </a:cxn>
                <a:cxn ang="0">
                  <a:pos x="18" y="40"/>
                </a:cxn>
                <a:cxn ang="0">
                  <a:pos x="29" y="36"/>
                </a:cxn>
                <a:cxn ang="0">
                  <a:pos x="33" y="33"/>
                </a:cxn>
                <a:cxn ang="0">
                  <a:pos x="36" y="29"/>
                </a:cxn>
                <a:cxn ang="0">
                  <a:pos x="40" y="18"/>
                </a:cxn>
                <a:cxn ang="0">
                  <a:pos x="36" y="11"/>
                </a:cxn>
                <a:cxn ang="0">
                  <a:pos x="33" y="7"/>
                </a:cxn>
                <a:cxn ang="0">
                  <a:pos x="29" y="4"/>
                </a:cxn>
                <a:cxn ang="0">
                  <a:pos x="18" y="0"/>
                </a:cxn>
              </a:cxnLst>
              <a:rect l="txL" t="txT" r="txR" b="txB"/>
              <a:pathLst>
                <a:path w="40" h="40">
                  <a:moveTo>
                    <a:pt x="18" y="0"/>
                  </a:moveTo>
                  <a:lnTo>
                    <a:pt x="11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0" y="18"/>
                  </a:lnTo>
                  <a:lnTo>
                    <a:pt x="4" y="29"/>
                  </a:lnTo>
                  <a:lnTo>
                    <a:pt x="7" y="33"/>
                  </a:lnTo>
                  <a:lnTo>
                    <a:pt x="11" y="36"/>
                  </a:lnTo>
                  <a:lnTo>
                    <a:pt x="18" y="40"/>
                  </a:lnTo>
                  <a:lnTo>
                    <a:pt x="29" y="36"/>
                  </a:lnTo>
                  <a:lnTo>
                    <a:pt x="33" y="33"/>
                  </a:lnTo>
                  <a:lnTo>
                    <a:pt x="36" y="29"/>
                  </a:lnTo>
                  <a:lnTo>
                    <a:pt x="40" y="18"/>
                  </a:lnTo>
                  <a:lnTo>
                    <a:pt x="36" y="11"/>
                  </a:lnTo>
                  <a:lnTo>
                    <a:pt x="33" y="7"/>
                  </a:lnTo>
                  <a:lnTo>
                    <a:pt x="29" y="4"/>
                  </a:lnTo>
                  <a:lnTo>
                    <a:pt x="18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423" name="Line 114"/>
            <p:cNvSpPr/>
            <p:nvPr/>
          </p:nvSpPr>
          <p:spPr>
            <a:xfrm>
              <a:off x="1725" y="2242"/>
              <a:ext cx="108" cy="1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424" name="Line 115"/>
            <p:cNvSpPr/>
            <p:nvPr/>
          </p:nvSpPr>
          <p:spPr>
            <a:xfrm>
              <a:off x="1721" y="2965"/>
              <a:ext cx="108" cy="1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4964" name="Rectangle 116"/>
          <p:cNvSpPr/>
          <p:nvPr/>
        </p:nvSpPr>
        <p:spPr>
          <a:xfrm>
            <a:off x="539750" y="1700213"/>
            <a:ext cx="23034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CP =1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4965" name="Rectangle 117"/>
          <p:cNvSpPr/>
          <p:nvPr/>
        </p:nvSpPr>
        <p:spPr>
          <a:xfrm flipV="1">
            <a:off x="3959225" y="2997200"/>
            <a:ext cx="396875" cy="549275"/>
          </a:xfrm>
          <a:prstGeom prst="rect">
            <a:avLst/>
          </a:prstGeom>
          <a:solidFill>
            <a:srgbClr val="00D69E">
              <a:alpha val="32156"/>
            </a:srgbClr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4966" name="Rectangle 118"/>
          <p:cNvSpPr/>
          <p:nvPr/>
        </p:nvSpPr>
        <p:spPr>
          <a:xfrm flipV="1">
            <a:off x="3994150" y="4525963"/>
            <a:ext cx="361950" cy="541337"/>
          </a:xfrm>
          <a:prstGeom prst="rect">
            <a:avLst/>
          </a:prstGeom>
          <a:solidFill>
            <a:srgbClr val="00D69E">
              <a:alpha val="32156"/>
            </a:srgbClr>
          </a:solidFill>
          <a:ln w="19050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4967" name="Oval 119"/>
          <p:cNvSpPr/>
          <p:nvPr/>
        </p:nvSpPr>
        <p:spPr>
          <a:xfrm>
            <a:off x="5111750" y="2601913"/>
            <a:ext cx="431800" cy="431800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4968" name="Oval 120"/>
          <p:cNvSpPr/>
          <p:nvPr/>
        </p:nvSpPr>
        <p:spPr>
          <a:xfrm>
            <a:off x="5154613" y="4329113"/>
            <a:ext cx="388937" cy="360362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4969" name="AutoShape 121"/>
          <p:cNvSpPr/>
          <p:nvPr/>
        </p:nvSpPr>
        <p:spPr>
          <a:xfrm>
            <a:off x="5076825" y="1881188"/>
            <a:ext cx="1871663" cy="449262"/>
          </a:xfrm>
          <a:prstGeom prst="wedgeRoundRectCallout">
            <a:avLst>
              <a:gd name="adj1" fmla="val -70185"/>
              <a:gd name="adj2" fmla="val 162722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置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维持线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4970" name="AutoShape 122"/>
          <p:cNvSpPr/>
          <p:nvPr/>
        </p:nvSpPr>
        <p:spPr>
          <a:xfrm>
            <a:off x="1223963" y="2617788"/>
            <a:ext cx="1871662" cy="449262"/>
          </a:xfrm>
          <a:prstGeom prst="wedgeRoundRectCallout">
            <a:avLst>
              <a:gd name="adj1" fmla="val 112343"/>
              <a:gd name="adj2" fmla="val 230213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置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阻塞线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4971" name="Oval 123"/>
          <p:cNvSpPr/>
          <p:nvPr/>
        </p:nvSpPr>
        <p:spPr>
          <a:xfrm>
            <a:off x="2411413" y="4230688"/>
            <a:ext cx="387350" cy="396875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4972" name="Rectangle 124"/>
          <p:cNvSpPr/>
          <p:nvPr/>
        </p:nvSpPr>
        <p:spPr>
          <a:xfrm>
            <a:off x="719138" y="441325"/>
            <a:ext cx="7885112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CP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脉冲的上升沿到来瞬间使触发器的状态变化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" name="Group 125"/>
          <p:cNvGrpSpPr/>
          <p:nvPr/>
        </p:nvGrpSpPr>
        <p:grpSpPr>
          <a:xfrm>
            <a:off x="3600450" y="3259138"/>
            <a:ext cx="1187450" cy="1368425"/>
            <a:chOff x="453" y="2341"/>
            <a:chExt cx="748" cy="862"/>
          </a:xfrm>
        </p:grpSpPr>
        <p:sp>
          <p:nvSpPr>
            <p:cNvPr id="54310" name="Line 126"/>
            <p:cNvSpPr/>
            <p:nvPr/>
          </p:nvSpPr>
          <p:spPr>
            <a:xfrm>
              <a:off x="1201" y="2341"/>
              <a:ext cx="0" cy="295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1" name="Line 127"/>
            <p:cNvSpPr/>
            <p:nvPr/>
          </p:nvSpPr>
          <p:spPr>
            <a:xfrm flipH="1">
              <a:off x="453" y="2635"/>
              <a:ext cx="748" cy="318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2" name="Line 128"/>
            <p:cNvSpPr/>
            <p:nvPr/>
          </p:nvSpPr>
          <p:spPr>
            <a:xfrm>
              <a:off x="453" y="2931"/>
              <a:ext cx="0" cy="272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3" name="Line 129"/>
            <p:cNvSpPr/>
            <p:nvPr/>
          </p:nvSpPr>
          <p:spPr>
            <a:xfrm>
              <a:off x="453" y="3203"/>
              <a:ext cx="204" cy="0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4978" name="Rectangle 130"/>
          <p:cNvSpPr/>
          <p:nvPr/>
        </p:nvSpPr>
        <p:spPr>
          <a:xfrm flipV="1">
            <a:off x="3995738" y="1881188"/>
            <a:ext cx="360362" cy="539750"/>
          </a:xfrm>
          <a:prstGeom prst="rect">
            <a:avLst/>
          </a:prstGeom>
          <a:solidFill>
            <a:srgbClr val="D60093">
              <a:alpha val="32156"/>
            </a:srgbClr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31"/>
          <p:cNvGrpSpPr/>
          <p:nvPr/>
        </p:nvGrpSpPr>
        <p:grpSpPr>
          <a:xfrm>
            <a:off x="3600450" y="2322513"/>
            <a:ext cx="1187450" cy="936625"/>
            <a:chOff x="453" y="1411"/>
            <a:chExt cx="748" cy="590"/>
          </a:xfrm>
        </p:grpSpPr>
        <p:sp>
          <p:nvSpPr>
            <p:cNvPr id="54306" name="Line 132"/>
            <p:cNvSpPr/>
            <p:nvPr/>
          </p:nvSpPr>
          <p:spPr>
            <a:xfrm flipV="1">
              <a:off x="1201" y="1774"/>
              <a:ext cx="0" cy="227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7" name="Line 133"/>
            <p:cNvSpPr/>
            <p:nvPr/>
          </p:nvSpPr>
          <p:spPr>
            <a:xfrm flipH="1" flipV="1">
              <a:off x="453" y="1547"/>
              <a:ext cx="748" cy="227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8" name="Line 134"/>
            <p:cNvSpPr/>
            <p:nvPr/>
          </p:nvSpPr>
          <p:spPr>
            <a:xfrm>
              <a:off x="453" y="1411"/>
              <a:ext cx="250" cy="0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9" name="Line 135"/>
            <p:cNvSpPr/>
            <p:nvPr/>
          </p:nvSpPr>
          <p:spPr>
            <a:xfrm>
              <a:off x="453" y="1412"/>
              <a:ext cx="0" cy="136"/>
            </a:xfrm>
            <a:prstGeom prst="line">
              <a:avLst/>
            </a:prstGeom>
            <a:ln w="5715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136"/>
          <p:cNvGrpSpPr/>
          <p:nvPr/>
        </p:nvGrpSpPr>
        <p:grpSpPr>
          <a:xfrm>
            <a:off x="1081088" y="6400800"/>
            <a:ext cx="6911975" cy="457200"/>
            <a:chOff x="1202" y="527"/>
            <a:chExt cx="4354" cy="288"/>
          </a:xfrm>
        </p:grpSpPr>
        <p:sp>
          <p:nvSpPr>
            <p:cNvPr id="54303" name="Rectangle 137"/>
            <p:cNvSpPr/>
            <p:nvPr/>
          </p:nvSpPr>
          <p:spPr>
            <a:xfrm>
              <a:off x="1202" y="527"/>
              <a:ext cx="43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lang="zh-CN" altLang="en-US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信号不影响     、     的状态，</a:t>
              </a:r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zh-CN" altLang="en-US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的状态不变</a:t>
              </a:r>
              <a:endPara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54304" name="Object 138"/>
            <p:cNvGraphicFramePr>
              <a:graphicFrameLocks noChangeAspect="1"/>
            </p:cNvGraphicFramePr>
            <p:nvPr/>
          </p:nvGraphicFramePr>
          <p:xfrm>
            <a:off x="2717" y="550"/>
            <a:ext cx="276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" imgW="215900" imgH="279400" progId="Equation.3">
                    <p:embed/>
                  </p:oleObj>
                </mc:Choice>
                <mc:Fallback>
                  <p:oleObj name="" r:id="rId1" imgW="215900" imgH="2794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17" y="550"/>
                          <a:ext cx="276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05" name="Object 139"/>
            <p:cNvGraphicFramePr>
              <a:graphicFrameLocks noChangeAspect="1"/>
            </p:cNvGraphicFramePr>
            <p:nvPr/>
          </p:nvGraphicFramePr>
          <p:xfrm>
            <a:off x="2369" y="527"/>
            <a:ext cx="28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3" imgW="139700" imgH="215900" progId="Equation.3">
                    <p:embed/>
                  </p:oleObj>
                </mc:Choice>
                <mc:Fallback>
                  <p:oleObj name="" r:id="rId3" imgW="139700" imgH="2159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69" y="527"/>
                          <a:ext cx="28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290" name="Rectangle 140"/>
          <p:cNvSpPr/>
          <p:nvPr/>
        </p:nvSpPr>
        <p:spPr>
          <a:xfrm>
            <a:off x="576263" y="2205038"/>
            <a:ext cx="2303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如</a:t>
            </a:r>
            <a:r>
              <a:rPr lang="en-US" altLang="zh-CN" sz="2400" b="1" i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400" b="1" i="1" baseline="30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n+1</a:t>
            </a: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=1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291" name="Rectangle 141"/>
          <p:cNvSpPr/>
          <p:nvPr/>
        </p:nvSpPr>
        <p:spPr>
          <a:xfrm>
            <a:off x="4356100" y="1700213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2" name="Rectangle 142"/>
          <p:cNvSpPr/>
          <p:nvPr/>
        </p:nvSpPr>
        <p:spPr>
          <a:xfrm>
            <a:off x="4248150" y="3321050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3" name="Rectangle 143"/>
          <p:cNvSpPr/>
          <p:nvPr/>
        </p:nvSpPr>
        <p:spPr>
          <a:xfrm>
            <a:off x="3995738" y="4113213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4" name="Rectangle 144"/>
          <p:cNvSpPr/>
          <p:nvPr/>
        </p:nvSpPr>
        <p:spPr>
          <a:xfrm>
            <a:off x="3924300" y="5337175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5" name="Rectangle 145"/>
          <p:cNvSpPr/>
          <p:nvPr/>
        </p:nvSpPr>
        <p:spPr>
          <a:xfrm>
            <a:off x="6192838" y="2744788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6" name="Rectangle 146"/>
          <p:cNvSpPr/>
          <p:nvPr/>
        </p:nvSpPr>
        <p:spPr>
          <a:xfrm>
            <a:off x="6232525" y="4868863"/>
            <a:ext cx="4635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7" name="Oval 147"/>
          <p:cNvSpPr/>
          <p:nvPr/>
        </p:nvSpPr>
        <p:spPr>
          <a:xfrm>
            <a:off x="5724525" y="2781300"/>
            <a:ext cx="431800" cy="431800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4996" name="Oval 148"/>
          <p:cNvSpPr/>
          <p:nvPr/>
        </p:nvSpPr>
        <p:spPr>
          <a:xfrm>
            <a:off x="4572000" y="1520825"/>
            <a:ext cx="431800" cy="431800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299" name="Oval 149"/>
          <p:cNvSpPr/>
          <p:nvPr/>
        </p:nvSpPr>
        <p:spPr>
          <a:xfrm>
            <a:off x="5724525" y="4400550"/>
            <a:ext cx="431800" cy="431800"/>
          </a:xfrm>
          <a:prstGeom prst="ellipse">
            <a:avLst/>
          </a:prstGeom>
          <a:solidFill>
            <a:srgbClr val="0033CC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4998" name="AutoShape 150"/>
          <p:cNvSpPr/>
          <p:nvPr/>
        </p:nvSpPr>
        <p:spPr>
          <a:xfrm>
            <a:off x="7200900" y="2154238"/>
            <a:ext cx="1943100" cy="908050"/>
          </a:xfrm>
          <a:prstGeom prst="wedgeRoundRectCallout">
            <a:avLst>
              <a:gd name="adj1" fmla="val -174917"/>
              <a:gd name="adj2" fmla="val 93181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D60093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en-US" altLang="zh-CN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/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状态不变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4999" name="Rectangle 151"/>
          <p:cNvSpPr/>
          <p:nvPr/>
        </p:nvSpPr>
        <p:spPr>
          <a:xfrm>
            <a:off x="647700" y="1016000"/>
            <a:ext cx="84963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触发器的次态与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CP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脉冲的上升沿到来前一瞬间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的状态相同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5001" name="Rectangle 153"/>
          <p:cNvSpPr/>
          <p:nvPr/>
        </p:nvSpPr>
        <p:spPr>
          <a:xfrm flipV="1">
            <a:off x="3995738" y="4510088"/>
            <a:ext cx="360362" cy="539750"/>
          </a:xfrm>
          <a:prstGeom prst="rect">
            <a:avLst/>
          </a:prstGeom>
          <a:solidFill>
            <a:srgbClr val="D60093">
              <a:alpha val="32156"/>
            </a:srgbClr>
          </a:solidFill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3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3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3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3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33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3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5" dur="500"/>
                                        <p:tgtEl>
                                          <p:spTgt spid="3349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3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3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3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3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964" grpId="0"/>
      <p:bldP spid="334965" grpId="0" animBg="1"/>
      <p:bldP spid="334966" grpId="0" animBg="1"/>
      <p:bldP spid="334967" grpId="0" animBg="1"/>
      <p:bldP spid="334968" grpId="0" animBg="1"/>
      <p:bldP spid="334969" grpId="0" animBg="1"/>
      <p:bldP spid="334970" grpId="0" animBg="1"/>
      <p:bldP spid="334971" grpId="0" animBg="1"/>
      <p:bldP spid="334972" grpId="0" animBg="1"/>
      <p:bldP spid="334978" grpId="0" animBg="1"/>
      <p:bldP spid="334996" grpId="0" animBg="1"/>
      <p:bldP spid="334998" grpId="0" animBg="1"/>
      <p:bldP spid="334998" grpId="1" animBg="1"/>
      <p:bldP spid="334999" grpId="0" animBg="1"/>
      <p:bldP spid="33500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5874" name="Rectangle 2"/>
          <p:cNvSpPr/>
          <p:nvPr/>
        </p:nvSpPr>
        <p:spPr>
          <a:xfrm>
            <a:off x="5508625" y="1484313"/>
            <a:ext cx="1563688" cy="6096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</a:ln>
        </p:spPr>
        <p:txBody>
          <a:bodyPr anchor="ctr" anchorCtr="0"/>
          <a:p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工作波形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395288" y="4784725"/>
          <a:ext cx="2565400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731645" imgH="877570" progId="Word.Picture.8">
                  <p:embed/>
                </p:oleObj>
              </mc:Choice>
              <mc:Fallback>
                <p:oleObj name="" r:id="rId1" imgW="1731645" imgH="877570" progId="Word.Picture.8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288" y="4784725"/>
                        <a:ext cx="2565400" cy="1452563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00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5876" name="Object 4"/>
          <p:cNvGraphicFramePr>
            <a:graphicFrameLocks noChangeAspect="1"/>
          </p:cNvGraphicFramePr>
          <p:nvPr/>
        </p:nvGraphicFramePr>
        <p:xfrm>
          <a:off x="4032250" y="2439988"/>
          <a:ext cx="3965575" cy="217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2244090" imgH="1240155" progId="Word.Picture.8">
                  <p:embed/>
                </p:oleObj>
              </mc:Choice>
              <mc:Fallback>
                <p:oleObj name="" r:id="rId3" imgW="2244090" imgH="1240155" progId="Word.Picture.8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2250" y="2439988"/>
                        <a:ext cx="3965575" cy="217646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28575" cap="flat" cmpd="sng">
                        <a:solidFill>
                          <a:srgbClr val="3399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77" name="Rectangle 5"/>
          <p:cNvSpPr/>
          <p:nvPr/>
        </p:nvSpPr>
        <p:spPr>
          <a:xfrm>
            <a:off x="1042988" y="1089025"/>
            <a:ext cx="1944687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逻辑功能表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5878" name="Rectangle 6"/>
          <p:cNvSpPr/>
          <p:nvPr/>
        </p:nvSpPr>
        <p:spPr>
          <a:xfrm>
            <a:off x="3462338" y="4951413"/>
            <a:ext cx="5411787" cy="120650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FFCC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defTabSz="914400">
              <a:tabLst>
                <a:tab pos="5130800" algn="r"/>
              </a:tabLst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维持阻塞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触发器状态变化产生在时钟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defTabSz="914400">
              <a:tabLst>
                <a:tab pos="5130800" algn="r"/>
              </a:tabLst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脉冲的上升沿，其次态决定于该时刻前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defTabSz="914400">
              <a:tabLst>
                <a:tab pos="5130800" algn="r"/>
              </a:tabLst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瞬间输入信号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5879" name="Line 7"/>
          <p:cNvSpPr/>
          <p:nvPr/>
        </p:nvSpPr>
        <p:spPr>
          <a:xfrm flipH="1">
            <a:off x="4845050" y="2409825"/>
            <a:ext cx="4763" cy="2070100"/>
          </a:xfrm>
          <a:prstGeom prst="line">
            <a:avLst/>
          </a:prstGeom>
          <a:ln w="38100" cap="flat" cmpd="sng">
            <a:solidFill>
              <a:srgbClr val="D04506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2" name="Group 8"/>
          <p:cNvGrpSpPr/>
          <p:nvPr/>
        </p:nvGrpSpPr>
        <p:grpSpPr>
          <a:xfrm>
            <a:off x="4845050" y="4075113"/>
            <a:ext cx="720725" cy="404812"/>
            <a:chOff x="1548" y="2727"/>
            <a:chExt cx="396" cy="227"/>
          </a:xfrm>
        </p:grpSpPr>
        <p:sp>
          <p:nvSpPr>
            <p:cNvPr id="55355" name="Line 9"/>
            <p:cNvSpPr/>
            <p:nvPr/>
          </p:nvSpPr>
          <p:spPr>
            <a:xfrm flipV="1">
              <a:off x="1548" y="2727"/>
              <a:ext cx="396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356" name="Line 10"/>
            <p:cNvSpPr/>
            <p:nvPr/>
          </p:nvSpPr>
          <p:spPr>
            <a:xfrm>
              <a:off x="1548" y="2727"/>
              <a:ext cx="0" cy="22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35883" name="Line 11"/>
          <p:cNvSpPr/>
          <p:nvPr/>
        </p:nvSpPr>
        <p:spPr>
          <a:xfrm>
            <a:off x="5565775" y="2498725"/>
            <a:ext cx="1588" cy="2025650"/>
          </a:xfrm>
          <a:prstGeom prst="line">
            <a:avLst/>
          </a:prstGeom>
          <a:ln w="38100" cap="flat" cmpd="sng">
            <a:solidFill>
              <a:srgbClr val="D04506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35884" name="Line 12"/>
          <p:cNvSpPr/>
          <p:nvPr/>
        </p:nvSpPr>
        <p:spPr>
          <a:xfrm flipH="1">
            <a:off x="6284913" y="2498725"/>
            <a:ext cx="4762" cy="2025650"/>
          </a:xfrm>
          <a:prstGeom prst="line">
            <a:avLst/>
          </a:prstGeom>
          <a:ln w="38100" cap="flat" cmpd="sng">
            <a:solidFill>
              <a:srgbClr val="D04506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35885" name="Line 13"/>
          <p:cNvSpPr/>
          <p:nvPr/>
        </p:nvSpPr>
        <p:spPr>
          <a:xfrm flipH="1">
            <a:off x="7005638" y="2498725"/>
            <a:ext cx="4762" cy="2070100"/>
          </a:xfrm>
          <a:prstGeom prst="line">
            <a:avLst/>
          </a:prstGeom>
          <a:ln w="38100" cap="flat" cmpd="sng">
            <a:solidFill>
              <a:srgbClr val="D04506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3" name="Group 14"/>
          <p:cNvGrpSpPr/>
          <p:nvPr/>
        </p:nvGrpSpPr>
        <p:grpSpPr>
          <a:xfrm>
            <a:off x="5565775" y="4075113"/>
            <a:ext cx="719138" cy="404812"/>
            <a:chOff x="1548" y="3152"/>
            <a:chExt cx="396" cy="258"/>
          </a:xfrm>
        </p:grpSpPr>
        <p:sp>
          <p:nvSpPr>
            <p:cNvPr id="55353" name="Line 15"/>
            <p:cNvSpPr/>
            <p:nvPr/>
          </p:nvSpPr>
          <p:spPr>
            <a:xfrm flipV="1">
              <a:off x="1548" y="3407"/>
              <a:ext cx="396" cy="3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354" name="Line 16"/>
            <p:cNvSpPr/>
            <p:nvPr/>
          </p:nvSpPr>
          <p:spPr>
            <a:xfrm flipV="1">
              <a:off x="1548" y="3152"/>
              <a:ext cx="0" cy="25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" name="Group 17"/>
          <p:cNvGrpSpPr/>
          <p:nvPr/>
        </p:nvGrpSpPr>
        <p:grpSpPr>
          <a:xfrm>
            <a:off x="6284913" y="4075113"/>
            <a:ext cx="720725" cy="404812"/>
            <a:chOff x="1548" y="2727"/>
            <a:chExt cx="396" cy="227"/>
          </a:xfrm>
        </p:grpSpPr>
        <p:sp>
          <p:nvSpPr>
            <p:cNvPr id="55351" name="Line 18"/>
            <p:cNvSpPr/>
            <p:nvPr/>
          </p:nvSpPr>
          <p:spPr>
            <a:xfrm flipV="1">
              <a:off x="1548" y="2727"/>
              <a:ext cx="396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352" name="Line 19"/>
            <p:cNvSpPr/>
            <p:nvPr/>
          </p:nvSpPr>
          <p:spPr>
            <a:xfrm>
              <a:off x="1548" y="2727"/>
              <a:ext cx="0" cy="22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5" name="Group 20"/>
          <p:cNvGrpSpPr/>
          <p:nvPr/>
        </p:nvGrpSpPr>
        <p:grpSpPr>
          <a:xfrm>
            <a:off x="7005638" y="4075113"/>
            <a:ext cx="719137" cy="404812"/>
            <a:chOff x="1548" y="3152"/>
            <a:chExt cx="396" cy="258"/>
          </a:xfrm>
        </p:grpSpPr>
        <p:sp>
          <p:nvSpPr>
            <p:cNvPr id="55349" name="Line 21"/>
            <p:cNvSpPr/>
            <p:nvPr/>
          </p:nvSpPr>
          <p:spPr>
            <a:xfrm flipV="1">
              <a:off x="1548" y="3407"/>
              <a:ext cx="396" cy="3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350" name="Line 22"/>
            <p:cNvSpPr/>
            <p:nvPr/>
          </p:nvSpPr>
          <p:spPr>
            <a:xfrm flipV="1">
              <a:off x="1548" y="3152"/>
              <a:ext cx="0" cy="25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35895" name="Oval 23"/>
          <p:cNvSpPr/>
          <p:nvPr/>
        </p:nvSpPr>
        <p:spPr>
          <a:xfrm>
            <a:off x="1511300" y="5365750"/>
            <a:ext cx="314325" cy="269875"/>
          </a:xfrm>
          <a:prstGeom prst="ellipse">
            <a:avLst/>
          </a:prstGeom>
          <a:noFill/>
          <a:ln w="38100" cap="flat" cmpd="sng">
            <a:solidFill>
              <a:srgbClr val="D0450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6" name="Group 24"/>
          <p:cNvGrpSpPr/>
          <p:nvPr/>
        </p:nvGrpSpPr>
        <p:grpSpPr>
          <a:xfrm>
            <a:off x="719138" y="2216150"/>
            <a:ext cx="2593975" cy="2159000"/>
            <a:chOff x="453" y="1396"/>
            <a:chExt cx="1634" cy="1360"/>
          </a:xfrm>
        </p:grpSpPr>
        <p:graphicFrame>
          <p:nvGraphicFramePr>
            <p:cNvPr id="55313" name="Object 25"/>
            <p:cNvGraphicFramePr>
              <a:graphicFrameLocks noChangeAspect="1"/>
            </p:cNvGraphicFramePr>
            <p:nvPr/>
          </p:nvGraphicFramePr>
          <p:xfrm>
            <a:off x="981" y="1434"/>
            <a:ext cx="28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5" imgW="215900" imgH="228600" progId="Equation.3">
                    <p:embed/>
                  </p:oleObj>
                </mc:Choice>
                <mc:Fallback>
                  <p:oleObj name="" r:id="rId5" imgW="215900" imgH="2286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81" y="1434"/>
                          <a:ext cx="281" cy="2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4" name="Object 26"/>
            <p:cNvGraphicFramePr>
              <a:graphicFrameLocks noChangeAspect="1"/>
            </p:cNvGraphicFramePr>
            <p:nvPr/>
          </p:nvGraphicFramePr>
          <p:xfrm>
            <a:off x="1458" y="1439"/>
            <a:ext cx="42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7" imgW="317500" imgH="228600" progId="Equation.3">
                    <p:embed/>
                  </p:oleObj>
                </mc:Choice>
                <mc:Fallback>
                  <p:oleObj name="" r:id="rId7" imgW="317500" imgH="2286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58" y="1439"/>
                          <a:ext cx="424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5" name="Rectangle 27"/>
            <p:cNvSpPr/>
            <p:nvPr/>
          </p:nvSpPr>
          <p:spPr>
            <a:xfrm>
              <a:off x="1389" y="2488"/>
              <a:ext cx="698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16" name="Rectangle 28"/>
            <p:cNvSpPr/>
            <p:nvPr/>
          </p:nvSpPr>
          <p:spPr>
            <a:xfrm>
              <a:off x="874" y="2488"/>
              <a:ext cx="515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17" name="Rectangle 29"/>
            <p:cNvSpPr/>
            <p:nvPr/>
          </p:nvSpPr>
          <p:spPr>
            <a:xfrm>
              <a:off x="499" y="2488"/>
              <a:ext cx="375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18" name="Rectangle 30"/>
            <p:cNvSpPr/>
            <p:nvPr/>
          </p:nvSpPr>
          <p:spPr>
            <a:xfrm>
              <a:off x="1389" y="2220"/>
              <a:ext cx="698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19" name="Rectangle 31"/>
            <p:cNvSpPr/>
            <p:nvPr/>
          </p:nvSpPr>
          <p:spPr>
            <a:xfrm>
              <a:off x="874" y="2220"/>
              <a:ext cx="515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20" name="Rectangle 32"/>
            <p:cNvSpPr/>
            <p:nvPr/>
          </p:nvSpPr>
          <p:spPr>
            <a:xfrm>
              <a:off x="499" y="2220"/>
              <a:ext cx="375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21" name="Rectangle 33"/>
            <p:cNvSpPr/>
            <p:nvPr/>
          </p:nvSpPr>
          <p:spPr>
            <a:xfrm>
              <a:off x="1389" y="1952"/>
              <a:ext cx="698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22" name="Rectangle 34"/>
            <p:cNvSpPr/>
            <p:nvPr/>
          </p:nvSpPr>
          <p:spPr>
            <a:xfrm>
              <a:off x="874" y="1952"/>
              <a:ext cx="515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23" name="Rectangle 35"/>
            <p:cNvSpPr/>
            <p:nvPr/>
          </p:nvSpPr>
          <p:spPr>
            <a:xfrm>
              <a:off x="499" y="1952"/>
              <a:ext cx="375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24" name="Rectangle 36"/>
            <p:cNvSpPr/>
            <p:nvPr/>
          </p:nvSpPr>
          <p:spPr>
            <a:xfrm>
              <a:off x="1389" y="1684"/>
              <a:ext cx="698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25" name="Rectangle 37"/>
            <p:cNvSpPr/>
            <p:nvPr/>
          </p:nvSpPr>
          <p:spPr>
            <a:xfrm>
              <a:off x="874" y="1684"/>
              <a:ext cx="515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26" name="Rectangle 38"/>
            <p:cNvSpPr/>
            <p:nvPr/>
          </p:nvSpPr>
          <p:spPr>
            <a:xfrm>
              <a:off x="499" y="1684"/>
              <a:ext cx="375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27" name="Rectangle 39"/>
            <p:cNvSpPr/>
            <p:nvPr/>
          </p:nvSpPr>
          <p:spPr>
            <a:xfrm>
              <a:off x="1389" y="1396"/>
              <a:ext cx="6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endParaRPr lang="en-GB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28" name="Rectangle 40"/>
            <p:cNvSpPr/>
            <p:nvPr/>
          </p:nvSpPr>
          <p:spPr>
            <a:xfrm>
              <a:off x="874" y="1396"/>
              <a:ext cx="51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endParaRPr lang="en-GB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29" name="Rectangle 41"/>
            <p:cNvSpPr/>
            <p:nvPr/>
          </p:nvSpPr>
          <p:spPr>
            <a:xfrm>
              <a:off x="499" y="1396"/>
              <a:ext cx="37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/>
            <a:p>
              <a:pPr algn="ctr"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30" name="Line 42"/>
            <p:cNvSpPr/>
            <p:nvPr/>
          </p:nvSpPr>
          <p:spPr>
            <a:xfrm>
              <a:off x="499" y="1396"/>
              <a:ext cx="1588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1" name="Line 43"/>
            <p:cNvSpPr/>
            <p:nvPr/>
          </p:nvSpPr>
          <p:spPr>
            <a:xfrm>
              <a:off x="499" y="2756"/>
              <a:ext cx="1588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2" name="Line 44"/>
            <p:cNvSpPr/>
            <p:nvPr/>
          </p:nvSpPr>
          <p:spPr>
            <a:xfrm>
              <a:off x="499" y="1396"/>
              <a:ext cx="0" cy="288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55333" name="Line 45"/>
            <p:cNvSpPr/>
            <p:nvPr/>
          </p:nvSpPr>
          <p:spPr>
            <a:xfrm>
              <a:off x="2087" y="1396"/>
              <a:ext cx="0" cy="288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55334" name="Line 46"/>
            <p:cNvSpPr/>
            <p:nvPr/>
          </p:nvSpPr>
          <p:spPr>
            <a:xfrm>
              <a:off x="1389" y="1396"/>
              <a:ext cx="0" cy="13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5" name="Line 47"/>
            <p:cNvSpPr/>
            <p:nvPr/>
          </p:nvSpPr>
          <p:spPr>
            <a:xfrm>
              <a:off x="499" y="1684"/>
              <a:ext cx="0" cy="268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55336" name="Line 48"/>
            <p:cNvSpPr/>
            <p:nvPr/>
          </p:nvSpPr>
          <p:spPr>
            <a:xfrm>
              <a:off x="874" y="1396"/>
              <a:ext cx="0" cy="13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7" name="Line 49"/>
            <p:cNvSpPr/>
            <p:nvPr/>
          </p:nvSpPr>
          <p:spPr>
            <a:xfrm>
              <a:off x="2087" y="1684"/>
              <a:ext cx="0" cy="268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55338" name="Line 50"/>
            <p:cNvSpPr/>
            <p:nvPr/>
          </p:nvSpPr>
          <p:spPr>
            <a:xfrm>
              <a:off x="499" y="1952"/>
              <a:ext cx="0" cy="268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55339" name="Line 51"/>
            <p:cNvSpPr/>
            <p:nvPr/>
          </p:nvSpPr>
          <p:spPr>
            <a:xfrm>
              <a:off x="2087" y="1952"/>
              <a:ext cx="0" cy="268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55340" name="Line 52"/>
            <p:cNvSpPr/>
            <p:nvPr/>
          </p:nvSpPr>
          <p:spPr>
            <a:xfrm>
              <a:off x="499" y="2220"/>
              <a:ext cx="0" cy="268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55341" name="Line 53"/>
            <p:cNvSpPr/>
            <p:nvPr/>
          </p:nvSpPr>
          <p:spPr>
            <a:xfrm>
              <a:off x="2087" y="2220"/>
              <a:ext cx="0" cy="268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55342" name="Line 54"/>
            <p:cNvSpPr/>
            <p:nvPr/>
          </p:nvSpPr>
          <p:spPr>
            <a:xfrm>
              <a:off x="499" y="2488"/>
              <a:ext cx="0" cy="268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55343" name="Line 55"/>
            <p:cNvSpPr/>
            <p:nvPr/>
          </p:nvSpPr>
          <p:spPr>
            <a:xfrm>
              <a:off x="2087" y="2488"/>
              <a:ext cx="0" cy="268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55344" name="Line 56"/>
            <p:cNvSpPr/>
            <p:nvPr/>
          </p:nvSpPr>
          <p:spPr>
            <a:xfrm>
              <a:off x="453" y="1956"/>
              <a:ext cx="16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5345" name="Group 57"/>
            <p:cNvGrpSpPr/>
            <p:nvPr/>
          </p:nvGrpSpPr>
          <p:grpSpPr>
            <a:xfrm>
              <a:off x="453" y="1719"/>
              <a:ext cx="1633" cy="736"/>
              <a:chOff x="453" y="1719"/>
              <a:chExt cx="1633" cy="736"/>
            </a:xfrm>
          </p:grpSpPr>
          <p:sp>
            <p:nvSpPr>
              <p:cNvPr id="55346" name="Line 58"/>
              <p:cNvSpPr/>
              <p:nvPr/>
            </p:nvSpPr>
            <p:spPr>
              <a:xfrm>
                <a:off x="476" y="1719"/>
                <a:ext cx="1610" cy="1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7" name="Line 59"/>
              <p:cNvSpPr/>
              <p:nvPr/>
            </p:nvSpPr>
            <p:spPr>
              <a:xfrm>
                <a:off x="453" y="2205"/>
                <a:ext cx="163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8" name="Line 60"/>
              <p:cNvSpPr/>
              <p:nvPr/>
            </p:nvSpPr>
            <p:spPr>
              <a:xfrm>
                <a:off x="453" y="2455"/>
                <a:ext cx="163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3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3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3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4" grpId="0" animBg="1"/>
      <p:bldP spid="335877" grpId="0"/>
      <p:bldP spid="335878" grpId="0" animBg="1"/>
      <p:bldP spid="33589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Line 2"/>
          <p:cNvSpPr/>
          <p:nvPr/>
        </p:nvSpPr>
        <p:spPr>
          <a:xfrm>
            <a:off x="857250" y="3302000"/>
            <a:ext cx="971550" cy="0"/>
          </a:xfrm>
          <a:prstGeom prst="line">
            <a:avLst/>
          </a:prstGeom>
          <a:ln w="38100">
            <a:noFill/>
          </a:ln>
        </p:spPr>
      </p:sp>
      <p:grpSp>
        <p:nvGrpSpPr>
          <p:cNvPr id="2" name="Group 3"/>
          <p:cNvGrpSpPr/>
          <p:nvPr/>
        </p:nvGrpSpPr>
        <p:grpSpPr>
          <a:xfrm>
            <a:off x="0" y="1722438"/>
            <a:ext cx="6115050" cy="5135562"/>
            <a:chOff x="76" y="985"/>
            <a:chExt cx="3852" cy="3235"/>
          </a:xfrm>
        </p:grpSpPr>
        <p:sp>
          <p:nvSpPr>
            <p:cNvPr id="56346" name="AutoShape 4" descr="羊皮纸"/>
            <p:cNvSpPr/>
            <p:nvPr/>
          </p:nvSpPr>
          <p:spPr>
            <a:xfrm>
              <a:off x="3352" y="2293"/>
              <a:ext cx="576" cy="384"/>
            </a:xfrm>
            <a:prstGeom prst="wedgeRoundRectCallout">
              <a:avLst>
                <a:gd name="adj1" fmla="val -81597"/>
                <a:gd name="adj2" fmla="val -17185"/>
                <a:gd name="adj3" fmla="val 16667"/>
              </a:avLst>
            </a:prstGeom>
            <a:blipFill rotWithShape="1">
              <a:blip r:embed="rId1"/>
            </a:blipFill>
            <a:ln w="38100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lIns="90000" tIns="46800" rIns="90000" bIns="46800"/>
            <a:p>
              <a:pPr algn="ctr"/>
              <a:r>
                <a:rPr lang="zh-CN" altLang="en-US" sz="1600" dirty="0">
                  <a:latin typeface="Times New Roman" panose="02020603050405020304" pitchFamily="18" charset="0"/>
                </a:rPr>
                <a:t>置”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1”</a:t>
              </a:r>
              <a:r>
                <a:rPr lang="zh-CN" altLang="en-US" sz="1600" dirty="0">
                  <a:latin typeface="Times New Roman" panose="02020603050405020304" pitchFamily="18" charset="0"/>
                </a:rPr>
                <a:t>维持线</a:t>
              </a:r>
              <a:endParaRPr lang="zh-CN" altLang="en-US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56347" name="AutoShape 5" descr="羊皮纸"/>
            <p:cNvSpPr/>
            <p:nvPr/>
          </p:nvSpPr>
          <p:spPr>
            <a:xfrm>
              <a:off x="1733" y="3836"/>
              <a:ext cx="576" cy="384"/>
            </a:xfrm>
            <a:prstGeom prst="wedgeRoundRectCallout">
              <a:avLst>
                <a:gd name="adj1" fmla="val -6421"/>
                <a:gd name="adj2" fmla="val -159634"/>
                <a:gd name="adj3" fmla="val 16667"/>
              </a:avLst>
            </a:prstGeom>
            <a:blipFill rotWithShape="1">
              <a:blip r:embed="rId1"/>
            </a:blipFill>
            <a:ln w="38100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lIns="90000" tIns="46800" rIns="90000" bIns="46800"/>
            <a:p>
              <a:pPr algn="ctr"/>
              <a:r>
                <a:rPr lang="zh-CN" altLang="en-US" sz="1600" dirty="0">
                  <a:latin typeface="Times New Roman" panose="02020603050405020304" pitchFamily="18" charset="0"/>
                </a:rPr>
                <a:t>置”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1”</a:t>
              </a:r>
              <a:r>
                <a:rPr lang="zh-CN" altLang="en-US" sz="1600" dirty="0">
                  <a:latin typeface="Times New Roman" panose="02020603050405020304" pitchFamily="18" charset="0"/>
                </a:rPr>
                <a:t>阻塞线</a:t>
              </a:r>
              <a:endParaRPr lang="zh-CN" altLang="en-US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56348" name="AutoShape 6" descr="羊皮纸"/>
            <p:cNvSpPr/>
            <p:nvPr/>
          </p:nvSpPr>
          <p:spPr>
            <a:xfrm>
              <a:off x="1554" y="2090"/>
              <a:ext cx="576" cy="384"/>
            </a:xfrm>
            <a:prstGeom prst="wedgeRoundRectCallout">
              <a:avLst>
                <a:gd name="adj1" fmla="val 14236"/>
                <a:gd name="adj2" fmla="val 104167"/>
                <a:gd name="adj3" fmla="val 16667"/>
              </a:avLst>
            </a:prstGeom>
            <a:blipFill rotWithShape="1">
              <a:blip r:embed="rId1"/>
            </a:blipFill>
            <a:ln w="38100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lIns="90000" tIns="46800" rIns="90000" bIns="46800"/>
            <a:p>
              <a:pPr algn="ctr"/>
              <a:r>
                <a:rPr lang="zh-CN" altLang="en-US" sz="1600" dirty="0">
                  <a:latin typeface="Times New Roman" panose="02020603050405020304" pitchFamily="18" charset="0"/>
                </a:rPr>
                <a:t>置”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0”</a:t>
              </a:r>
              <a:r>
                <a:rPr lang="zh-CN" altLang="en-US" sz="1600" dirty="0">
                  <a:latin typeface="Times New Roman" panose="02020603050405020304" pitchFamily="18" charset="0"/>
                </a:rPr>
                <a:t>阻塞线</a:t>
              </a:r>
              <a:endParaRPr lang="zh-CN" altLang="en-US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56349" name="AutoShape 7" descr="羊皮纸"/>
            <p:cNvSpPr/>
            <p:nvPr/>
          </p:nvSpPr>
          <p:spPr>
            <a:xfrm>
              <a:off x="76" y="2302"/>
              <a:ext cx="576" cy="384"/>
            </a:xfrm>
            <a:prstGeom prst="wedgeRoundRectCallout">
              <a:avLst>
                <a:gd name="adj1" fmla="val 82815"/>
                <a:gd name="adj2" fmla="val 4949"/>
                <a:gd name="adj3" fmla="val 16667"/>
              </a:avLst>
            </a:prstGeom>
            <a:blipFill rotWithShape="1">
              <a:blip r:embed="rId1"/>
            </a:blipFill>
            <a:ln w="38100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lIns="90000" tIns="46800" rIns="90000" bIns="46800"/>
            <a:p>
              <a:pPr algn="ctr"/>
              <a:r>
                <a:rPr lang="zh-CN" altLang="en-US" sz="1600" dirty="0">
                  <a:latin typeface="Times New Roman" panose="02020603050405020304" pitchFamily="18" charset="0"/>
                </a:rPr>
                <a:t>置”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0”</a:t>
              </a:r>
              <a:r>
                <a:rPr lang="zh-CN" altLang="en-US" sz="1600" dirty="0">
                  <a:latin typeface="Times New Roman" panose="02020603050405020304" pitchFamily="18" charset="0"/>
                </a:rPr>
                <a:t>维持线</a:t>
              </a:r>
              <a:endParaRPr lang="zh-CN" altLang="en-US" sz="1600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6350" name="Group 8"/>
            <p:cNvGrpSpPr/>
            <p:nvPr/>
          </p:nvGrpSpPr>
          <p:grpSpPr>
            <a:xfrm>
              <a:off x="413" y="985"/>
              <a:ext cx="3321" cy="2866"/>
              <a:chOff x="413" y="985"/>
              <a:chExt cx="3321" cy="2866"/>
            </a:xfrm>
          </p:grpSpPr>
          <p:sp>
            <p:nvSpPr>
              <p:cNvPr id="56351" name="Freeform 9"/>
              <p:cNvSpPr/>
              <p:nvPr/>
            </p:nvSpPr>
            <p:spPr>
              <a:xfrm>
                <a:off x="1099" y="2675"/>
                <a:ext cx="1445" cy="333"/>
              </a:xfrm>
              <a:custGeom>
                <a:avLst/>
                <a:gdLst>
                  <a:gd name="txL" fmla="*/ 0 w 1178"/>
                  <a:gd name="txT" fmla="*/ 0 h 133"/>
                  <a:gd name="txR" fmla="*/ 1178 w 1178"/>
                  <a:gd name="txB" fmla="*/ 133 h 133"/>
                </a:gdLst>
                <a:ahLst/>
                <a:cxnLst>
                  <a:cxn ang="0">
                    <a:pos x="0" y="70"/>
                  </a:cxn>
                  <a:cxn ang="0">
                    <a:pos x="0" y="834"/>
                  </a:cxn>
                  <a:cxn ang="0">
                    <a:pos x="1773" y="834"/>
                  </a:cxn>
                  <a:cxn ang="0">
                    <a:pos x="1773" y="0"/>
                  </a:cxn>
                </a:cxnLst>
                <a:rect l="txL" t="txT" r="txR" b="txB"/>
                <a:pathLst>
                  <a:path w="1178" h="133">
                    <a:moveTo>
                      <a:pt x="0" y="11"/>
                    </a:moveTo>
                    <a:lnTo>
                      <a:pt x="0" y="133"/>
                    </a:lnTo>
                    <a:lnTo>
                      <a:pt x="1178" y="133"/>
                    </a:lnTo>
                    <a:lnTo>
                      <a:pt x="1178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52" name="Freeform 10"/>
              <p:cNvSpPr/>
              <p:nvPr/>
            </p:nvSpPr>
            <p:spPr>
              <a:xfrm>
                <a:off x="1457" y="1387"/>
                <a:ext cx="1245" cy="683"/>
              </a:xfrm>
              <a:custGeom>
                <a:avLst/>
                <a:gdLst>
                  <a:gd name="txL" fmla="*/ 0 w 1045"/>
                  <a:gd name="txT" fmla="*/ 0 h 800"/>
                  <a:gd name="txR" fmla="*/ 1045 w 1045"/>
                  <a:gd name="txB" fmla="*/ 800 h 800"/>
                </a:gdLst>
                <a:ahLst/>
                <a:cxnLst>
                  <a:cxn ang="0">
                    <a:pos x="0" y="406"/>
                  </a:cxn>
                  <a:cxn ang="0">
                    <a:pos x="0" y="583"/>
                  </a:cxn>
                  <a:cxn ang="0">
                    <a:pos x="394" y="583"/>
                  </a:cxn>
                  <a:cxn ang="0">
                    <a:pos x="963" y="0"/>
                  </a:cxn>
                  <a:cxn ang="0">
                    <a:pos x="1483" y="0"/>
                  </a:cxn>
                </a:cxnLst>
                <a:rect l="txL" t="txT" r="txR" b="txB"/>
                <a:pathLst>
                  <a:path w="1045" h="800">
                    <a:moveTo>
                      <a:pt x="0" y="556"/>
                    </a:moveTo>
                    <a:lnTo>
                      <a:pt x="0" y="800"/>
                    </a:lnTo>
                    <a:lnTo>
                      <a:pt x="278" y="800"/>
                    </a:lnTo>
                    <a:lnTo>
                      <a:pt x="678" y="0"/>
                    </a:lnTo>
                    <a:lnTo>
                      <a:pt x="1045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53" name="Freeform 11"/>
              <p:cNvSpPr/>
              <p:nvPr/>
            </p:nvSpPr>
            <p:spPr>
              <a:xfrm flipH="1">
                <a:off x="1264" y="1394"/>
                <a:ext cx="1297" cy="689"/>
              </a:xfrm>
              <a:custGeom>
                <a:avLst/>
                <a:gdLst>
                  <a:gd name="txL" fmla="*/ 0 w 1045"/>
                  <a:gd name="txT" fmla="*/ 0 h 800"/>
                  <a:gd name="txR" fmla="*/ 1045 w 1045"/>
                  <a:gd name="txB" fmla="*/ 800 h 800"/>
                </a:gdLst>
                <a:ahLst/>
                <a:cxnLst>
                  <a:cxn ang="0">
                    <a:pos x="0" y="413"/>
                  </a:cxn>
                  <a:cxn ang="0">
                    <a:pos x="0" y="593"/>
                  </a:cxn>
                  <a:cxn ang="0">
                    <a:pos x="428" y="593"/>
                  </a:cxn>
                  <a:cxn ang="0">
                    <a:pos x="1044" y="0"/>
                  </a:cxn>
                  <a:cxn ang="0">
                    <a:pos x="1610" y="0"/>
                  </a:cxn>
                </a:cxnLst>
                <a:rect l="txL" t="txT" r="txR" b="txB"/>
                <a:pathLst>
                  <a:path w="1045" h="800">
                    <a:moveTo>
                      <a:pt x="0" y="556"/>
                    </a:moveTo>
                    <a:lnTo>
                      <a:pt x="0" y="800"/>
                    </a:lnTo>
                    <a:lnTo>
                      <a:pt x="278" y="800"/>
                    </a:lnTo>
                    <a:lnTo>
                      <a:pt x="678" y="0"/>
                    </a:lnTo>
                    <a:lnTo>
                      <a:pt x="1045" y="0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54" name="Rectangle 12"/>
              <p:cNvSpPr/>
              <p:nvPr/>
            </p:nvSpPr>
            <p:spPr>
              <a:xfrm>
                <a:off x="982" y="1621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55" name="Rectangle 13"/>
              <p:cNvSpPr/>
              <p:nvPr/>
            </p:nvSpPr>
            <p:spPr>
              <a:xfrm>
                <a:off x="2438" y="1621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56" name="Oval 14"/>
              <p:cNvSpPr/>
              <p:nvPr/>
            </p:nvSpPr>
            <p:spPr>
              <a:xfrm>
                <a:off x="1232" y="1551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57" name="Oval 15"/>
              <p:cNvSpPr/>
              <p:nvPr/>
            </p:nvSpPr>
            <p:spPr>
              <a:xfrm>
                <a:off x="2697" y="1563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58" name="Line 16"/>
              <p:cNvSpPr/>
              <p:nvPr/>
            </p:nvSpPr>
            <p:spPr>
              <a:xfrm flipV="1">
                <a:off x="1268" y="1209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59" name="Line 17"/>
              <p:cNvSpPr/>
              <p:nvPr/>
            </p:nvSpPr>
            <p:spPr>
              <a:xfrm flipV="1">
                <a:off x="1277" y="1954"/>
                <a:ext cx="0" cy="401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0" name="Line 18"/>
              <p:cNvSpPr/>
              <p:nvPr/>
            </p:nvSpPr>
            <p:spPr>
              <a:xfrm flipV="1">
                <a:off x="2728" y="1209"/>
                <a:ext cx="0" cy="34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1" name="Line 19"/>
              <p:cNvSpPr/>
              <p:nvPr/>
            </p:nvSpPr>
            <p:spPr>
              <a:xfrm flipV="1">
                <a:off x="2733" y="1954"/>
                <a:ext cx="0" cy="39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2" name="Text Box 20"/>
              <p:cNvSpPr txBox="1"/>
              <p:nvPr/>
            </p:nvSpPr>
            <p:spPr>
              <a:xfrm>
                <a:off x="1122" y="1637"/>
                <a:ext cx="290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63" name="Text Box 21"/>
              <p:cNvSpPr txBox="1"/>
              <p:nvPr/>
            </p:nvSpPr>
            <p:spPr>
              <a:xfrm>
                <a:off x="2431" y="1631"/>
                <a:ext cx="290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6364" name="Group 22"/>
              <p:cNvGrpSpPr/>
              <p:nvPr/>
            </p:nvGrpSpPr>
            <p:grpSpPr>
              <a:xfrm>
                <a:off x="862" y="1013"/>
                <a:ext cx="278" cy="327"/>
                <a:chOff x="1086" y="2275"/>
                <a:chExt cx="278" cy="327"/>
              </a:xfrm>
            </p:grpSpPr>
            <p:sp>
              <p:nvSpPr>
                <p:cNvPr id="56418" name="Text Box 23"/>
                <p:cNvSpPr txBox="1"/>
                <p:nvPr/>
              </p:nvSpPr>
              <p:spPr>
                <a:xfrm>
                  <a:off x="1086" y="2275"/>
                  <a:ext cx="278" cy="327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i="1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6419" name="Line 24"/>
                <p:cNvSpPr/>
                <p:nvPr/>
              </p:nvSpPr>
              <p:spPr>
                <a:xfrm>
                  <a:off x="1144" y="2322"/>
                  <a:ext cx="155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6365" name="Oval 25"/>
              <p:cNvSpPr/>
              <p:nvPr/>
            </p:nvSpPr>
            <p:spPr>
              <a:xfrm>
                <a:off x="1227" y="1357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66" name="Oval 26"/>
              <p:cNvSpPr/>
              <p:nvPr/>
            </p:nvSpPr>
            <p:spPr>
              <a:xfrm>
                <a:off x="2692" y="1359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67" name="Text Box 27"/>
              <p:cNvSpPr txBox="1"/>
              <p:nvPr/>
            </p:nvSpPr>
            <p:spPr>
              <a:xfrm>
                <a:off x="3209" y="1689"/>
                <a:ext cx="338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68" name="Text Box 28"/>
              <p:cNvSpPr txBox="1"/>
              <p:nvPr/>
            </p:nvSpPr>
            <p:spPr>
              <a:xfrm>
                <a:off x="2924" y="985"/>
                <a:ext cx="278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Q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69" name="Rectangle 29"/>
              <p:cNvSpPr/>
              <p:nvPr/>
            </p:nvSpPr>
            <p:spPr>
              <a:xfrm>
                <a:off x="989" y="2376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70" name="Text Box 30"/>
              <p:cNvSpPr txBox="1"/>
              <p:nvPr/>
            </p:nvSpPr>
            <p:spPr>
              <a:xfrm>
                <a:off x="1143" y="2386"/>
                <a:ext cx="290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71" name="Oval 31"/>
              <p:cNvSpPr/>
              <p:nvPr/>
            </p:nvSpPr>
            <p:spPr>
              <a:xfrm>
                <a:off x="1241" y="2317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72" name="Rectangle 32"/>
              <p:cNvSpPr/>
              <p:nvPr/>
            </p:nvSpPr>
            <p:spPr>
              <a:xfrm>
                <a:off x="2438" y="2379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73" name="Text Box 33"/>
              <p:cNvSpPr txBox="1"/>
              <p:nvPr/>
            </p:nvSpPr>
            <p:spPr>
              <a:xfrm>
                <a:off x="2588" y="2386"/>
                <a:ext cx="290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74" name="Oval 34"/>
              <p:cNvSpPr/>
              <p:nvPr/>
            </p:nvSpPr>
            <p:spPr>
              <a:xfrm>
                <a:off x="2686" y="2317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75" name="Line 35"/>
              <p:cNvSpPr/>
              <p:nvPr/>
            </p:nvSpPr>
            <p:spPr>
              <a:xfrm rot="5400000" flipH="1" flipV="1">
                <a:off x="3074" y="2478"/>
                <a:ext cx="12" cy="1038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76" name="Oval 36"/>
              <p:cNvSpPr/>
              <p:nvPr/>
            </p:nvSpPr>
            <p:spPr>
              <a:xfrm>
                <a:off x="2502" y="2972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77" name="Text Box 37"/>
              <p:cNvSpPr txBox="1"/>
              <p:nvPr/>
            </p:nvSpPr>
            <p:spPr>
              <a:xfrm>
                <a:off x="3332" y="2655"/>
                <a:ext cx="402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CP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78" name="Text Box 38"/>
              <p:cNvSpPr txBox="1"/>
              <p:nvPr/>
            </p:nvSpPr>
            <p:spPr>
              <a:xfrm>
                <a:off x="413" y="1696"/>
                <a:ext cx="372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D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79" name="Freeform 39"/>
              <p:cNvSpPr/>
              <p:nvPr/>
            </p:nvSpPr>
            <p:spPr>
              <a:xfrm>
                <a:off x="1443" y="2285"/>
                <a:ext cx="1289" cy="600"/>
              </a:xfrm>
              <a:custGeom>
                <a:avLst/>
                <a:gdLst>
                  <a:gd name="txL" fmla="*/ 0 w 1289"/>
                  <a:gd name="txT" fmla="*/ 0 h 611"/>
                  <a:gd name="txR" fmla="*/ 1289 w 1289"/>
                  <a:gd name="txB" fmla="*/ 611 h 611"/>
                </a:gdLst>
                <a:ahLst/>
                <a:cxnLst>
                  <a:cxn ang="0">
                    <a:pos x="0" y="428"/>
                  </a:cxn>
                  <a:cxn ang="0">
                    <a:pos x="0" y="589"/>
                  </a:cxn>
                  <a:cxn ang="0">
                    <a:pos x="345" y="589"/>
                  </a:cxn>
                  <a:cxn ang="0">
                    <a:pos x="812" y="0"/>
                  </a:cxn>
                  <a:cxn ang="0">
                    <a:pos x="1289" y="0"/>
                  </a:cxn>
                </a:cxnLst>
                <a:rect l="txL" t="txT" r="txR" b="txB"/>
                <a:pathLst>
                  <a:path w="1289" h="611">
                    <a:moveTo>
                      <a:pt x="0" y="444"/>
                    </a:moveTo>
                    <a:lnTo>
                      <a:pt x="0" y="611"/>
                    </a:lnTo>
                    <a:lnTo>
                      <a:pt x="345" y="611"/>
                    </a:lnTo>
                    <a:lnTo>
                      <a:pt x="812" y="0"/>
                    </a:lnTo>
                    <a:lnTo>
                      <a:pt x="1289" y="0"/>
                    </a:lnTo>
                  </a:path>
                </a:pathLst>
              </a:custGeom>
              <a:noFill/>
              <a:ln w="38100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80" name="Oval 40"/>
              <p:cNvSpPr/>
              <p:nvPr/>
            </p:nvSpPr>
            <p:spPr>
              <a:xfrm>
                <a:off x="2686" y="2239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81" name="Line 41"/>
              <p:cNvSpPr/>
              <p:nvPr/>
            </p:nvSpPr>
            <p:spPr>
              <a:xfrm flipV="1">
                <a:off x="1273" y="2722"/>
                <a:ext cx="0" cy="401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82" name="Line 42"/>
              <p:cNvSpPr/>
              <p:nvPr/>
            </p:nvSpPr>
            <p:spPr>
              <a:xfrm flipV="1">
                <a:off x="2729" y="2722"/>
                <a:ext cx="0" cy="39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83" name="Text Box 43"/>
              <p:cNvSpPr txBox="1"/>
              <p:nvPr/>
            </p:nvSpPr>
            <p:spPr>
              <a:xfrm>
                <a:off x="1545" y="3524"/>
                <a:ext cx="278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latin typeface="Times New Roman" panose="02020603050405020304" pitchFamily="18" charset="0"/>
                  </a:rPr>
                  <a:t>D</a:t>
                </a:r>
                <a:endParaRPr lang="en-US" altLang="zh-CN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84" name="Rectangle 44"/>
              <p:cNvSpPr/>
              <p:nvPr/>
            </p:nvSpPr>
            <p:spPr>
              <a:xfrm>
                <a:off x="985" y="3144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85" name="Text Box 45"/>
              <p:cNvSpPr txBox="1"/>
              <p:nvPr/>
            </p:nvSpPr>
            <p:spPr>
              <a:xfrm>
                <a:off x="1139" y="3154"/>
                <a:ext cx="290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86" name="Oval 46"/>
              <p:cNvSpPr/>
              <p:nvPr/>
            </p:nvSpPr>
            <p:spPr>
              <a:xfrm>
                <a:off x="1237" y="3085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87" name="Rectangle 47"/>
              <p:cNvSpPr/>
              <p:nvPr/>
            </p:nvSpPr>
            <p:spPr>
              <a:xfrm>
                <a:off x="2438" y="3144"/>
                <a:ext cx="589" cy="344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88" name="Text Box 48"/>
              <p:cNvSpPr txBox="1"/>
              <p:nvPr/>
            </p:nvSpPr>
            <p:spPr>
              <a:xfrm>
                <a:off x="2584" y="3154"/>
                <a:ext cx="290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Times New Roman" panose="02020603050405020304" pitchFamily="18" charset="0"/>
                  </a:rPr>
                  <a:t>&amp;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89" name="Oval 49"/>
              <p:cNvSpPr/>
              <p:nvPr/>
            </p:nvSpPr>
            <p:spPr>
              <a:xfrm>
                <a:off x="2682" y="3085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90" name="Line 50"/>
              <p:cNvSpPr/>
              <p:nvPr/>
            </p:nvSpPr>
            <p:spPr>
              <a:xfrm flipV="1">
                <a:off x="1436" y="3482"/>
                <a:ext cx="0" cy="301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91" name="Line 51"/>
              <p:cNvSpPr/>
              <p:nvPr/>
            </p:nvSpPr>
            <p:spPr>
              <a:xfrm flipH="1" flipV="1">
                <a:off x="2905" y="2703"/>
                <a:ext cx="7" cy="263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92" name="Oval 52"/>
              <p:cNvSpPr/>
              <p:nvPr/>
            </p:nvSpPr>
            <p:spPr>
              <a:xfrm>
                <a:off x="1243" y="2236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93" name="Freeform 53"/>
              <p:cNvSpPr/>
              <p:nvPr/>
            </p:nvSpPr>
            <p:spPr>
              <a:xfrm flipH="1">
                <a:off x="1269" y="3065"/>
                <a:ext cx="1289" cy="600"/>
              </a:xfrm>
              <a:custGeom>
                <a:avLst/>
                <a:gdLst>
                  <a:gd name="txL" fmla="*/ 0 w 1289"/>
                  <a:gd name="txT" fmla="*/ 0 h 611"/>
                  <a:gd name="txR" fmla="*/ 1289 w 1289"/>
                  <a:gd name="txB" fmla="*/ 611 h 611"/>
                </a:gdLst>
                <a:ahLst/>
                <a:cxnLst>
                  <a:cxn ang="0">
                    <a:pos x="0" y="428"/>
                  </a:cxn>
                  <a:cxn ang="0">
                    <a:pos x="0" y="589"/>
                  </a:cxn>
                  <a:cxn ang="0">
                    <a:pos x="345" y="589"/>
                  </a:cxn>
                  <a:cxn ang="0">
                    <a:pos x="812" y="0"/>
                  </a:cxn>
                  <a:cxn ang="0">
                    <a:pos x="1289" y="0"/>
                  </a:cxn>
                </a:cxnLst>
                <a:rect l="txL" t="txT" r="txR" b="txB"/>
                <a:pathLst>
                  <a:path w="1289" h="611">
                    <a:moveTo>
                      <a:pt x="0" y="444"/>
                    </a:moveTo>
                    <a:lnTo>
                      <a:pt x="0" y="611"/>
                    </a:lnTo>
                    <a:lnTo>
                      <a:pt x="345" y="611"/>
                    </a:lnTo>
                    <a:lnTo>
                      <a:pt x="812" y="0"/>
                    </a:lnTo>
                    <a:lnTo>
                      <a:pt x="1289" y="0"/>
                    </a:lnTo>
                  </a:path>
                </a:pathLst>
              </a:custGeom>
              <a:noFill/>
              <a:ln w="38100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94" name="Oval 54"/>
              <p:cNvSpPr/>
              <p:nvPr/>
            </p:nvSpPr>
            <p:spPr>
              <a:xfrm>
                <a:off x="1233" y="3013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95" name="Line 55"/>
              <p:cNvSpPr/>
              <p:nvPr/>
            </p:nvSpPr>
            <p:spPr>
              <a:xfrm flipV="1">
                <a:off x="709" y="2947"/>
                <a:ext cx="2197" cy="6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396" name="Line 56"/>
              <p:cNvSpPr/>
              <p:nvPr/>
            </p:nvSpPr>
            <p:spPr>
              <a:xfrm>
                <a:off x="2741" y="2280"/>
                <a:ext cx="412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397" name="Line 57"/>
              <p:cNvSpPr/>
              <p:nvPr/>
            </p:nvSpPr>
            <p:spPr>
              <a:xfrm>
                <a:off x="3141" y="2274"/>
                <a:ext cx="0" cy="1364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398" name="Line 58"/>
              <p:cNvSpPr/>
              <p:nvPr/>
            </p:nvSpPr>
            <p:spPr>
              <a:xfrm flipH="1">
                <a:off x="2924" y="3638"/>
                <a:ext cx="229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399" name="Line 59"/>
              <p:cNvSpPr/>
              <p:nvPr/>
            </p:nvSpPr>
            <p:spPr>
              <a:xfrm>
                <a:off x="2924" y="3486"/>
                <a:ext cx="0" cy="14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00" name="Line 60"/>
              <p:cNvSpPr/>
              <p:nvPr/>
            </p:nvSpPr>
            <p:spPr>
              <a:xfrm flipH="1">
                <a:off x="867" y="2273"/>
                <a:ext cx="406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01" name="Line 61"/>
              <p:cNvSpPr/>
              <p:nvPr/>
            </p:nvSpPr>
            <p:spPr>
              <a:xfrm>
                <a:off x="867" y="2262"/>
                <a:ext cx="0" cy="137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02" name="Line 62"/>
              <p:cNvSpPr/>
              <p:nvPr/>
            </p:nvSpPr>
            <p:spPr>
              <a:xfrm>
                <a:off x="855" y="3626"/>
                <a:ext cx="236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03" name="Line 63"/>
              <p:cNvSpPr/>
              <p:nvPr/>
            </p:nvSpPr>
            <p:spPr>
              <a:xfrm>
                <a:off x="1097" y="3486"/>
                <a:ext cx="0" cy="152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04" name="Line 64"/>
              <p:cNvSpPr/>
              <p:nvPr/>
            </p:nvSpPr>
            <p:spPr>
              <a:xfrm>
                <a:off x="733" y="2079"/>
                <a:ext cx="0" cy="168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05" name="Line 65"/>
              <p:cNvSpPr/>
              <p:nvPr/>
            </p:nvSpPr>
            <p:spPr>
              <a:xfrm>
                <a:off x="746" y="3747"/>
                <a:ext cx="528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06" name="Line 66"/>
              <p:cNvSpPr/>
              <p:nvPr/>
            </p:nvSpPr>
            <p:spPr>
              <a:xfrm>
                <a:off x="1261" y="3492"/>
                <a:ext cx="0" cy="25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07" name="Oval 67"/>
              <p:cNvSpPr/>
              <p:nvPr/>
            </p:nvSpPr>
            <p:spPr>
              <a:xfrm>
                <a:off x="696" y="2918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08" name="Oval 68"/>
              <p:cNvSpPr/>
              <p:nvPr/>
            </p:nvSpPr>
            <p:spPr>
              <a:xfrm>
                <a:off x="693" y="2036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09" name="Oval 69"/>
              <p:cNvSpPr/>
              <p:nvPr/>
            </p:nvSpPr>
            <p:spPr>
              <a:xfrm>
                <a:off x="3248" y="2056"/>
                <a:ext cx="72" cy="72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0" name="Line 70"/>
              <p:cNvSpPr/>
              <p:nvPr/>
            </p:nvSpPr>
            <p:spPr>
              <a:xfrm>
                <a:off x="515" y="2068"/>
                <a:ext cx="570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11" name="Line 71"/>
              <p:cNvSpPr/>
              <p:nvPr/>
            </p:nvSpPr>
            <p:spPr>
              <a:xfrm flipH="1">
                <a:off x="1079" y="1976"/>
                <a:ext cx="0" cy="97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cxnSp>
            <p:nvCxnSpPr>
              <p:cNvPr id="56412" name="AutoShape 72"/>
              <p:cNvCxnSpPr>
                <a:stCxn id="56355" idx="2"/>
              </p:cNvCxnSpPr>
              <p:nvPr/>
            </p:nvCxnSpPr>
            <p:spPr>
              <a:xfrm rot="-5400000" flipH="1">
                <a:off x="2961" y="1748"/>
                <a:ext cx="127" cy="584"/>
              </a:xfrm>
              <a:prstGeom prst="bentConnector2">
                <a:avLst/>
              </a:prstGeom>
              <a:ln w="38100">
                <a:noFill/>
              </a:ln>
            </p:spPr>
          </p:cxnSp>
          <p:sp>
            <p:nvSpPr>
              <p:cNvPr id="56413" name="Line 73"/>
              <p:cNvSpPr/>
              <p:nvPr/>
            </p:nvSpPr>
            <p:spPr>
              <a:xfrm>
                <a:off x="2918" y="1964"/>
                <a:ext cx="0" cy="128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14" name="Line 74"/>
              <p:cNvSpPr/>
              <p:nvPr/>
            </p:nvSpPr>
            <p:spPr>
              <a:xfrm>
                <a:off x="2924" y="2086"/>
                <a:ext cx="562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15" name="Line 75"/>
              <p:cNvSpPr/>
              <p:nvPr/>
            </p:nvSpPr>
            <p:spPr>
              <a:xfrm>
                <a:off x="3286" y="2080"/>
                <a:ext cx="12" cy="1679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16" name="Line 76"/>
              <p:cNvSpPr/>
              <p:nvPr/>
            </p:nvSpPr>
            <p:spPr>
              <a:xfrm>
                <a:off x="2741" y="3492"/>
                <a:ext cx="0" cy="255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6417" name="Line 77"/>
              <p:cNvSpPr/>
              <p:nvPr/>
            </p:nvSpPr>
            <p:spPr>
              <a:xfrm flipV="1">
                <a:off x="2734" y="3747"/>
                <a:ext cx="570" cy="6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</p:grpSp>
      <p:grpSp>
        <p:nvGrpSpPr>
          <p:cNvPr id="5" name="Group 78"/>
          <p:cNvGrpSpPr/>
          <p:nvPr/>
        </p:nvGrpSpPr>
        <p:grpSpPr>
          <a:xfrm>
            <a:off x="6329363" y="1411288"/>
            <a:ext cx="1938337" cy="2349500"/>
            <a:chOff x="4059" y="2581"/>
            <a:chExt cx="1221" cy="1480"/>
          </a:xfrm>
        </p:grpSpPr>
        <p:sp>
          <p:nvSpPr>
            <p:cNvPr id="56327" name="Rectangle 79" descr="羊皮纸"/>
            <p:cNvSpPr/>
            <p:nvPr/>
          </p:nvSpPr>
          <p:spPr>
            <a:xfrm>
              <a:off x="4342" y="2908"/>
              <a:ext cx="576" cy="847"/>
            </a:xfrm>
            <a:prstGeom prst="rect">
              <a:avLst/>
            </a:prstGeom>
            <a:blipFill rotWithShape="1">
              <a:blip r:embed="rId1"/>
            </a:blip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28" name="Line 80"/>
            <p:cNvSpPr/>
            <p:nvPr/>
          </p:nvSpPr>
          <p:spPr>
            <a:xfrm>
              <a:off x="4059" y="3347"/>
              <a:ext cx="288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56329" name="Line 81"/>
            <p:cNvSpPr/>
            <p:nvPr/>
          </p:nvSpPr>
          <p:spPr>
            <a:xfrm>
              <a:off x="4059" y="3086"/>
              <a:ext cx="282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56330" name="Line 82"/>
            <p:cNvSpPr/>
            <p:nvPr/>
          </p:nvSpPr>
          <p:spPr>
            <a:xfrm>
              <a:off x="4961" y="3080"/>
              <a:ext cx="277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56331" name="Line 83"/>
            <p:cNvSpPr/>
            <p:nvPr/>
          </p:nvSpPr>
          <p:spPr>
            <a:xfrm>
              <a:off x="4923" y="3559"/>
              <a:ext cx="331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56332" name="Line 84"/>
            <p:cNvSpPr/>
            <p:nvPr/>
          </p:nvSpPr>
          <p:spPr>
            <a:xfrm>
              <a:off x="4635" y="3800"/>
              <a:ext cx="0" cy="261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56333" name="Line 85"/>
            <p:cNvSpPr/>
            <p:nvPr/>
          </p:nvSpPr>
          <p:spPr>
            <a:xfrm>
              <a:off x="4602" y="2581"/>
              <a:ext cx="5" cy="277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56334" name="Oval 86" descr="羊皮纸"/>
            <p:cNvSpPr/>
            <p:nvPr/>
          </p:nvSpPr>
          <p:spPr>
            <a:xfrm>
              <a:off x="4575" y="2847"/>
              <a:ext cx="59" cy="66"/>
            </a:xfrm>
            <a:prstGeom prst="ellipse">
              <a:avLst/>
            </a:prstGeom>
            <a:blipFill rotWithShape="1">
              <a:blip r:embed="rId1"/>
            </a:blip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35" name="Oval 87" descr="羊皮纸"/>
            <p:cNvSpPr/>
            <p:nvPr/>
          </p:nvSpPr>
          <p:spPr>
            <a:xfrm>
              <a:off x="4602" y="3755"/>
              <a:ext cx="59" cy="66"/>
            </a:xfrm>
            <a:prstGeom prst="ellipse">
              <a:avLst/>
            </a:prstGeom>
            <a:blipFill rotWithShape="1">
              <a:blip r:embed="rId1"/>
            </a:blip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36" name="Oval 88" descr="羊皮纸"/>
            <p:cNvSpPr/>
            <p:nvPr/>
          </p:nvSpPr>
          <p:spPr>
            <a:xfrm>
              <a:off x="4924" y="3049"/>
              <a:ext cx="59" cy="66"/>
            </a:xfrm>
            <a:prstGeom prst="ellipse">
              <a:avLst/>
            </a:prstGeom>
            <a:blipFill rotWithShape="1">
              <a:blip r:embed="rId1"/>
            </a:blip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37" name="AutoShape 89" descr="羊皮纸"/>
            <p:cNvSpPr/>
            <p:nvPr/>
          </p:nvSpPr>
          <p:spPr>
            <a:xfrm rot="5400000" flipH="1">
              <a:off x="4344" y="3275"/>
              <a:ext cx="139" cy="138"/>
            </a:xfrm>
            <a:prstGeom prst="flowChartExtract">
              <a:avLst/>
            </a:prstGeom>
            <a:blipFill rotWithShape="1">
              <a:blip r:embed="rId1"/>
            </a:blip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38" name="Text Box 90" descr="羊皮纸"/>
            <p:cNvSpPr txBox="1"/>
            <p:nvPr/>
          </p:nvSpPr>
          <p:spPr>
            <a:xfrm>
              <a:off x="4331" y="2952"/>
              <a:ext cx="1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56339" name="Text Box 91" descr="羊皮纸"/>
            <p:cNvSpPr txBox="1"/>
            <p:nvPr/>
          </p:nvSpPr>
          <p:spPr>
            <a:xfrm>
              <a:off x="4483" y="3220"/>
              <a:ext cx="310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CP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56340" name="Text Box 92" descr="羊皮纸"/>
            <p:cNvSpPr txBox="1"/>
            <p:nvPr/>
          </p:nvSpPr>
          <p:spPr>
            <a:xfrm>
              <a:off x="4514" y="2870"/>
              <a:ext cx="27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D</a:t>
              </a:r>
              <a:endParaRPr lang="en-US" altLang="zh-CN" sz="20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56341" name="Text Box 93" descr="羊皮纸"/>
            <p:cNvSpPr txBox="1"/>
            <p:nvPr/>
          </p:nvSpPr>
          <p:spPr>
            <a:xfrm>
              <a:off x="4523" y="3510"/>
              <a:ext cx="29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D</a:t>
              </a:r>
              <a:endParaRPr lang="en-US" altLang="zh-CN" sz="2000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6342" name="Group 94"/>
            <p:cNvGrpSpPr/>
            <p:nvPr/>
          </p:nvGrpSpPr>
          <p:grpSpPr>
            <a:xfrm>
              <a:off x="5040" y="2834"/>
              <a:ext cx="230" cy="250"/>
              <a:chOff x="5290" y="1474"/>
              <a:chExt cx="230" cy="250"/>
            </a:xfrm>
          </p:grpSpPr>
          <p:sp>
            <p:nvSpPr>
              <p:cNvPr id="56344" name="Text Box 95" descr="羊皮纸"/>
              <p:cNvSpPr txBox="1"/>
              <p:nvPr/>
            </p:nvSpPr>
            <p:spPr>
              <a:xfrm>
                <a:off x="5290" y="1474"/>
                <a:ext cx="230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>
                <a:spAutoFit/>
              </a:bodyPr>
              <a:p>
                <a:r>
                  <a:rPr lang="en-US" altLang="zh-CN" sz="2000" dirty="0">
                    <a:latin typeface="Times New Roman" panose="02020603050405020304" pitchFamily="18" charset="0"/>
                  </a:rPr>
                  <a:t>Q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45" name="Line 96"/>
              <p:cNvSpPr/>
              <p:nvPr/>
            </p:nvSpPr>
            <p:spPr>
              <a:xfrm>
                <a:off x="5352" y="1527"/>
                <a:ext cx="10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56343" name="Text Box 97" descr="羊皮纸"/>
            <p:cNvSpPr txBox="1"/>
            <p:nvPr/>
          </p:nvSpPr>
          <p:spPr>
            <a:xfrm>
              <a:off x="5050" y="3308"/>
              <a:ext cx="230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Q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6325" name="Text Box 98" descr="羊皮纸"/>
          <p:cNvSpPr txBox="1"/>
          <p:nvPr/>
        </p:nvSpPr>
        <p:spPr>
          <a:xfrm>
            <a:off x="460375" y="811213"/>
            <a:ext cx="1966913" cy="519112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另外画法：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336995" name="Text Box 99" descr="羊皮纸"/>
          <p:cNvSpPr txBox="1"/>
          <p:nvPr/>
        </p:nvSpPr>
        <p:spPr>
          <a:xfrm>
            <a:off x="6292850" y="4479925"/>
            <a:ext cx="2320925" cy="13731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上升沿将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可靠置入，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无空翻现象。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3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2000" fill="hold"/>
                                        <p:tgtEl>
                                          <p:spTgt spid="3369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995" grpId="0"/>
      <p:bldP spid="336995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Line 2"/>
          <p:cNvSpPr/>
          <p:nvPr/>
        </p:nvSpPr>
        <p:spPr>
          <a:xfrm>
            <a:off x="857250" y="3302000"/>
            <a:ext cx="971550" cy="0"/>
          </a:xfrm>
          <a:prstGeom prst="line">
            <a:avLst/>
          </a:prstGeom>
          <a:ln w="38100">
            <a:noFill/>
          </a:ln>
        </p:spPr>
      </p:sp>
      <p:sp>
        <p:nvSpPr>
          <p:cNvPr id="57347" name="Text Box 98" descr="羊皮纸"/>
          <p:cNvSpPr txBox="1"/>
          <p:nvPr/>
        </p:nvSpPr>
        <p:spPr>
          <a:xfrm>
            <a:off x="1182688" y="577850"/>
            <a:ext cx="5924550" cy="52324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r>
              <a:rPr lang="en-US" altLang="zh-CN" b="1" dirty="0">
                <a:latin typeface="Times New Roman" panose="02020603050405020304" pitchFamily="18" charset="0"/>
              </a:rPr>
              <a:t>6.5     </a:t>
            </a:r>
            <a:r>
              <a:rPr lang="zh-CN" altLang="en-US" b="1" dirty="0">
                <a:latin typeface="Times New Roman" panose="02020603050405020304" pitchFamily="18" charset="0"/>
              </a:rPr>
              <a:t>触发器逻辑功能的转换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7348" name="Rectangle 100" descr="羊皮纸"/>
          <p:cNvSpPr/>
          <p:nvPr/>
        </p:nvSpPr>
        <p:spPr>
          <a:xfrm>
            <a:off x="0" y="1126649"/>
            <a:ext cx="9144000" cy="52324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r>
              <a:rPr lang="en-US" altLang="zh-CN" b="1" dirty="0">
                <a:latin typeface="Times New Roman" panose="02020603050405020304" pitchFamily="18" charset="0"/>
              </a:rPr>
              <a:t>6.5.1</a:t>
            </a:r>
            <a:r>
              <a:rPr lang="zh-CN" altLang="en-US" b="1" dirty="0">
                <a:latin typeface="Times New Roman" panose="02020603050405020304" pitchFamily="18" charset="0"/>
              </a:rPr>
              <a:t>由</a:t>
            </a:r>
            <a:r>
              <a:rPr lang="en-US" altLang="zh-CN" b="1" dirty="0">
                <a:latin typeface="Times New Roman" panose="02020603050405020304" pitchFamily="18" charset="0"/>
              </a:rPr>
              <a:t>D</a:t>
            </a:r>
            <a:r>
              <a:rPr lang="zh-CN" altLang="en-US" b="1" dirty="0">
                <a:latin typeface="Times New Roman" panose="02020603050405020304" pitchFamily="18" charset="0"/>
              </a:rPr>
              <a:t>触发器到其他功能触发器的转换 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7349" name="Rectangle 102" descr="羊皮纸"/>
          <p:cNvSpPr/>
          <p:nvPr/>
        </p:nvSpPr>
        <p:spPr>
          <a:xfrm>
            <a:off x="0" y="3290888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7350" name="Object 101"/>
          <p:cNvGraphicFramePr>
            <a:graphicFrameLocks noChangeAspect="1"/>
          </p:cNvGraphicFramePr>
          <p:nvPr/>
        </p:nvGraphicFramePr>
        <p:xfrm>
          <a:off x="1484313" y="1633538"/>
          <a:ext cx="47593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816100" imgH="279400" progId="Equation.3">
                  <p:embed/>
                </p:oleObj>
              </mc:Choice>
              <mc:Fallback>
                <p:oleObj name="" r:id="rId1" imgW="1816100" imgH="2794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84313" y="1633538"/>
                        <a:ext cx="4759325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351" name="Group 103"/>
          <p:cNvGrpSpPr/>
          <p:nvPr/>
        </p:nvGrpSpPr>
        <p:grpSpPr>
          <a:xfrm>
            <a:off x="1374775" y="3098800"/>
            <a:ext cx="6507163" cy="3656013"/>
            <a:chOff x="3254" y="11490"/>
            <a:chExt cx="5190" cy="2719"/>
          </a:xfrm>
        </p:grpSpPr>
        <p:grpSp>
          <p:nvGrpSpPr>
            <p:cNvPr id="57354" name="Group 104"/>
            <p:cNvGrpSpPr/>
            <p:nvPr/>
          </p:nvGrpSpPr>
          <p:grpSpPr>
            <a:xfrm>
              <a:off x="3254" y="11490"/>
              <a:ext cx="5190" cy="2349"/>
              <a:chOff x="2982" y="13611"/>
              <a:chExt cx="5190" cy="2349"/>
            </a:xfrm>
          </p:grpSpPr>
          <p:sp>
            <p:nvSpPr>
              <p:cNvPr id="57356" name="Line 105"/>
              <p:cNvSpPr/>
              <p:nvPr/>
            </p:nvSpPr>
            <p:spPr>
              <a:xfrm flipV="1">
                <a:off x="6372" y="14520"/>
                <a:ext cx="1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57" name="Rectangle 106"/>
              <p:cNvSpPr/>
              <p:nvPr/>
            </p:nvSpPr>
            <p:spPr>
              <a:xfrm>
                <a:off x="4062" y="15648"/>
                <a:ext cx="1080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zh-CN" altLang="en-US" sz="2000" dirty="0">
                    <a:latin typeface="Times New Roman" panose="02020603050405020304" pitchFamily="18" charset="0"/>
                  </a:rPr>
                  <a:t>转换电路</a:t>
                </a:r>
                <a:endParaRPr lang="zh-CN" altLang="en-US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58" name="Rectangle 107"/>
              <p:cNvSpPr/>
              <p:nvPr/>
            </p:nvSpPr>
            <p:spPr>
              <a:xfrm>
                <a:off x="3386" y="13611"/>
                <a:ext cx="2700" cy="2028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59" name="Rectangle 108"/>
              <p:cNvSpPr/>
              <p:nvPr/>
            </p:nvSpPr>
            <p:spPr>
              <a:xfrm>
                <a:off x="2982" y="14565"/>
                <a:ext cx="360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000" i="1" dirty="0">
                    <a:latin typeface="Times New Roman" panose="02020603050405020304" pitchFamily="18" charset="0"/>
                  </a:rPr>
                  <a:t>J</a:t>
                </a:r>
                <a:endParaRPr lang="en-US" altLang="zh-CN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60" name="Rectangle 109"/>
              <p:cNvSpPr/>
              <p:nvPr/>
            </p:nvSpPr>
            <p:spPr>
              <a:xfrm>
                <a:off x="2997" y="14001"/>
                <a:ext cx="360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000" i="1" dirty="0">
                    <a:latin typeface="Times New Roman" panose="02020603050405020304" pitchFamily="18" charset="0"/>
                  </a:rPr>
                  <a:t>K</a:t>
                </a:r>
                <a:endParaRPr lang="en-US" altLang="zh-CN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61" name="Rectangle 110"/>
              <p:cNvSpPr/>
              <p:nvPr/>
            </p:nvSpPr>
            <p:spPr>
              <a:xfrm>
                <a:off x="6400" y="15477"/>
                <a:ext cx="360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000" i="1" dirty="0">
                    <a:latin typeface="Times New Roman" panose="02020603050405020304" pitchFamily="18" charset="0"/>
                  </a:rPr>
                  <a:t>CP</a:t>
                </a:r>
                <a:endParaRPr lang="en-US" altLang="zh-CN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62" name="Rectangle 111"/>
              <p:cNvSpPr/>
              <p:nvPr/>
            </p:nvSpPr>
            <p:spPr>
              <a:xfrm>
                <a:off x="8007" y="14662"/>
                <a:ext cx="1" cy="6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just"/>
                <a:endParaRPr lang="zh-CN" altLang="zh-CN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63" name="Rectangle 112"/>
              <p:cNvSpPr/>
              <p:nvPr/>
            </p:nvSpPr>
            <p:spPr>
              <a:xfrm>
                <a:off x="7992" y="14103"/>
                <a:ext cx="180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000" i="1" dirty="0">
                    <a:latin typeface="Times New Roman" panose="02020603050405020304" pitchFamily="18" charset="0"/>
                  </a:rPr>
                  <a:t>Q</a:t>
                </a:r>
                <a:endParaRPr lang="en-US" altLang="zh-CN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64" name="Rectangle 113"/>
              <p:cNvSpPr/>
              <p:nvPr/>
            </p:nvSpPr>
            <p:spPr>
              <a:xfrm>
                <a:off x="3747" y="14067"/>
                <a:ext cx="425" cy="527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</a:rPr>
                  <a:t>1</a:t>
                </a:r>
                <a:endParaRPr lang="en-US" altLang="zh-CN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65" name="Rectangle 114"/>
              <p:cNvSpPr/>
              <p:nvPr/>
            </p:nvSpPr>
            <p:spPr>
              <a:xfrm>
                <a:off x="4557" y="13893"/>
                <a:ext cx="425" cy="527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66" name="Rectangle 115"/>
              <p:cNvSpPr/>
              <p:nvPr/>
            </p:nvSpPr>
            <p:spPr>
              <a:xfrm>
                <a:off x="4572" y="14727"/>
                <a:ext cx="425" cy="527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just"/>
                <a:r>
                  <a:rPr lang="en-US" altLang="zh-CN" sz="20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67" name="Rectangle 116"/>
              <p:cNvSpPr/>
              <p:nvPr/>
            </p:nvSpPr>
            <p:spPr>
              <a:xfrm>
                <a:off x="5367" y="14610"/>
                <a:ext cx="425" cy="527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68" name="Line 117"/>
              <p:cNvSpPr/>
              <p:nvPr/>
            </p:nvSpPr>
            <p:spPr>
              <a:xfrm>
                <a:off x="5007" y="14973"/>
                <a:ext cx="3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69" name="Line 118"/>
              <p:cNvSpPr/>
              <p:nvPr/>
            </p:nvSpPr>
            <p:spPr>
              <a:xfrm>
                <a:off x="4182" y="14298"/>
                <a:ext cx="3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70" name="Line 119"/>
              <p:cNvSpPr/>
              <p:nvPr/>
            </p:nvSpPr>
            <p:spPr>
              <a:xfrm flipH="1">
                <a:off x="3042" y="14316"/>
                <a:ext cx="70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71" name="Line 120"/>
              <p:cNvSpPr/>
              <p:nvPr/>
            </p:nvSpPr>
            <p:spPr>
              <a:xfrm flipH="1">
                <a:off x="3012" y="14877"/>
                <a:ext cx="1565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72" name="Line 121"/>
              <p:cNvSpPr/>
              <p:nvPr/>
            </p:nvSpPr>
            <p:spPr>
              <a:xfrm>
                <a:off x="5802" y="14826"/>
                <a:ext cx="744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73" name="Line 122"/>
              <p:cNvSpPr/>
              <p:nvPr/>
            </p:nvSpPr>
            <p:spPr>
              <a:xfrm>
                <a:off x="5019" y="14151"/>
                <a:ext cx="1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74" name="Line 123"/>
              <p:cNvSpPr/>
              <p:nvPr/>
            </p:nvSpPr>
            <p:spPr>
              <a:xfrm>
                <a:off x="5187" y="14751"/>
                <a:ext cx="1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75" name="Line 124"/>
              <p:cNvSpPr/>
              <p:nvPr/>
            </p:nvSpPr>
            <p:spPr>
              <a:xfrm>
                <a:off x="5198" y="14142"/>
                <a:ext cx="1" cy="60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76" name="Line 125"/>
              <p:cNvSpPr/>
              <p:nvPr/>
            </p:nvSpPr>
            <p:spPr>
              <a:xfrm>
                <a:off x="4362" y="15480"/>
                <a:ext cx="3339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77" name="Rectangle 126"/>
              <p:cNvSpPr/>
              <p:nvPr/>
            </p:nvSpPr>
            <p:spPr>
              <a:xfrm>
                <a:off x="6552" y="14067"/>
                <a:ext cx="720" cy="1092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 algn="just"/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algn="just"/>
                <a:endParaRPr lang="en-US" altLang="zh-CN" sz="1200" i="1" dirty="0">
                  <a:latin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 i="1" dirty="0">
                    <a:latin typeface="Times New Roman" panose="02020603050405020304" pitchFamily="18" charset="0"/>
                  </a:rPr>
                  <a:t>   C</a:t>
                </a:r>
                <a:endParaRPr lang="en-US" altLang="zh-CN" sz="2000" i="1" dirty="0">
                  <a:latin typeface="Times New Roman" panose="02020603050405020304" pitchFamily="18" charset="0"/>
                </a:endParaRPr>
              </a:p>
              <a:p>
                <a:pPr algn="just"/>
                <a:endParaRPr lang="en-US" altLang="zh-CN" sz="800" dirty="0">
                  <a:latin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 i="1" dirty="0">
                    <a:latin typeface="Times New Roman" panose="02020603050405020304" pitchFamily="18" charset="0"/>
                  </a:rPr>
                  <a:t>D</a:t>
                </a:r>
                <a:endParaRPr lang="en-US" altLang="zh-CN" sz="5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78" name="Line 127"/>
              <p:cNvSpPr/>
              <p:nvPr/>
            </p:nvSpPr>
            <p:spPr>
              <a:xfrm>
                <a:off x="7308" y="14832"/>
                <a:ext cx="72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79" name="Line 128"/>
              <p:cNvSpPr/>
              <p:nvPr/>
            </p:nvSpPr>
            <p:spPr>
              <a:xfrm>
                <a:off x="7272" y="14268"/>
                <a:ext cx="72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80" name="Line 129"/>
              <p:cNvSpPr/>
              <p:nvPr/>
            </p:nvSpPr>
            <p:spPr>
              <a:xfrm flipH="1">
                <a:off x="6368" y="14520"/>
                <a:ext cx="1" cy="106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81" name="Line 130"/>
              <p:cNvSpPr/>
              <p:nvPr/>
            </p:nvSpPr>
            <p:spPr>
              <a:xfrm flipH="1">
                <a:off x="7706" y="14835"/>
                <a:ext cx="1" cy="64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82" name="Line 131"/>
              <p:cNvSpPr/>
              <p:nvPr/>
            </p:nvSpPr>
            <p:spPr>
              <a:xfrm flipV="1">
                <a:off x="7707" y="13785"/>
                <a:ext cx="0" cy="46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83" name="Line 132"/>
              <p:cNvSpPr/>
              <p:nvPr/>
            </p:nvSpPr>
            <p:spPr>
              <a:xfrm flipH="1">
                <a:off x="4362" y="13986"/>
                <a:ext cx="1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84" name="Line 133"/>
              <p:cNvSpPr/>
              <p:nvPr/>
            </p:nvSpPr>
            <p:spPr>
              <a:xfrm flipH="1">
                <a:off x="4346" y="13770"/>
                <a:ext cx="1" cy="22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85" name="Line 134"/>
              <p:cNvSpPr/>
              <p:nvPr/>
            </p:nvSpPr>
            <p:spPr>
              <a:xfrm>
                <a:off x="4347" y="13770"/>
                <a:ext cx="3362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86" name="Oval 135"/>
              <p:cNvSpPr/>
              <p:nvPr/>
            </p:nvSpPr>
            <p:spPr>
              <a:xfrm>
                <a:off x="4168" y="14275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87" name="Oval 136"/>
              <p:cNvSpPr/>
              <p:nvPr/>
            </p:nvSpPr>
            <p:spPr>
              <a:xfrm>
                <a:off x="4982" y="1412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88" name="Oval 137"/>
              <p:cNvSpPr/>
              <p:nvPr/>
            </p:nvSpPr>
            <p:spPr>
              <a:xfrm>
                <a:off x="5788" y="14800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89" name="Oval 138"/>
              <p:cNvSpPr/>
              <p:nvPr/>
            </p:nvSpPr>
            <p:spPr>
              <a:xfrm>
                <a:off x="4993" y="14943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90" name="Oval 139"/>
              <p:cNvSpPr/>
              <p:nvPr/>
            </p:nvSpPr>
            <p:spPr>
              <a:xfrm>
                <a:off x="7677" y="14237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91" name="Oval 140"/>
              <p:cNvSpPr/>
              <p:nvPr/>
            </p:nvSpPr>
            <p:spPr>
              <a:xfrm>
                <a:off x="7676" y="14808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92" name="Line 141"/>
              <p:cNvSpPr/>
              <p:nvPr/>
            </p:nvSpPr>
            <p:spPr>
              <a:xfrm>
                <a:off x="4350" y="15159"/>
                <a:ext cx="216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93" name="Line 142"/>
              <p:cNvSpPr/>
              <p:nvPr/>
            </p:nvSpPr>
            <p:spPr>
              <a:xfrm>
                <a:off x="4356" y="15162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94" name="Oval 143"/>
              <p:cNvSpPr/>
              <p:nvPr/>
            </p:nvSpPr>
            <p:spPr>
              <a:xfrm>
                <a:off x="7278" y="14803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95" name="AutoShape 144"/>
              <p:cNvSpPr/>
              <p:nvPr/>
            </p:nvSpPr>
            <p:spPr>
              <a:xfrm rot="5400000">
                <a:off x="6502" y="14462"/>
                <a:ext cx="224" cy="129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7355" name="Text Box 145"/>
            <p:cNvSpPr txBox="1"/>
            <p:nvPr/>
          </p:nvSpPr>
          <p:spPr>
            <a:xfrm>
              <a:off x="4069" y="13823"/>
              <a:ext cx="327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由</a:t>
              </a:r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r>
                <a:rPr lang="zh-CN" altLang="en-US" b="1" dirty="0">
                  <a:latin typeface="Times New Roman" panose="02020603050405020304" pitchFamily="18" charset="0"/>
                </a:rPr>
                <a:t>到</a:t>
              </a:r>
              <a:r>
                <a:rPr lang="en-US" altLang="zh-CN" b="1" dirty="0">
                  <a:latin typeface="Times New Roman" panose="02020603050405020304" pitchFamily="18" charset="0"/>
                </a:rPr>
                <a:t>J</a:t>
              </a:r>
              <a:r>
                <a:rPr lang="zh-CN" altLang="en-US" b="1" dirty="0">
                  <a:latin typeface="Times New Roman" panose="02020603050405020304" pitchFamily="18" charset="0"/>
                </a:rPr>
                <a:t>－</a:t>
              </a:r>
              <a:r>
                <a:rPr lang="en-US" altLang="zh-CN" b="1" dirty="0">
                  <a:latin typeface="Times New Roman" panose="02020603050405020304" pitchFamily="18" charset="0"/>
                </a:rPr>
                <a:t>K</a:t>
              </a:r>
              <a:r>
                <a:rPr lang="zh-CN" altLang="en-US" b="1" dirty="0">
                  <a:latin typeface="Times New Roman" panose="02020603050405020304" pitchFamily="18" charset="0"/>
                </a:rPr>
                <a:t>触发器的转换</a:t>
              </a:r>
              <a:endParaRPr lang="zh-CN" altLang="en-US" sz="66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7352" name="Rectangle 147" descr="羊皮纸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7353" name="Object 146"/>
          <p:cNvGraphicFramePr>
            <a:graphicFrameLocks noChangeAspect="1"/>
          </p:cNvGraphicFramePr>
          <p:nvPr/>
        </p:nvGraphicFramePr>
        <p:xfrm>
          <a:off x="1573213" y="2314575"/>
          <a:ext cx="4281487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600200" imgH="228600" progId="Equation.3">
                  <p:embed/>
                </p:oleObj>
              </mc:Choice>
              <mc:Fallback>
                <p:oleObj name="" r:id="rId3" imgW="1600200" imgH="2286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73213" y="2314575"/>
                        <a:ext cx="4281487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5" descr="羊皮纸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8371" name="Object 4"/>
          <p:cNvGraphicFramePr>
            <a:graphicFrameLocks noChangeAspect="1"/>
          </p:cNvGraphicFramePr>
          <p:nvPr/>
        </p:nvGraphicFramePr>
        <p:xfrm>
          <a:off x="1722438" y="657225"/>
          <a:ext cx="490855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536700" imgH="228600" progId="Equation.3">
                  <p:embed/>
                </p:oleObj>
              </mc:Choice>
              <mc:Fallback>
                <p:oleObj name="" r:id="rId1" imgW="1536700" imgH="2286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22438" y="657225"/>
                        <a:ext cx="4908550" cy="731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2" name="Group 6"/>
          <p:cNvGrpSpPr/>
          <p:nvPr/>
        </p:nvGrpSpPr>
        <p:grpSpPr>
          <a:xfrm>
            <a:off x="46038" y="2424113"/>
            <a:ext cx="8513762" cy="3382962"/>
            <a:chOff x="2767" y="3969"/>
            <a:chExt cx="5324" cy="1977"/>
          </a:xfrm>
        </p:grpSpPr>
        <p:sp>
          <p:nvSpPr>
            <p:cNvPr id="58375" name="Rectangle 7"/>
            <p:cNvSpPr/>
            <p:nvPr/>
          </p:nvSpPr>
          <p:spPr>
            <a:xfrm>
              <a:off x="4990" y="4569"/>
              <a:ext cx="36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2400" i="1" dirty="0">
                  <a:latin typeface="Times New Roman" panose="02020603050405020304" pitchFamily="18" charset="0"/>
                </a:rPr>
                <a:t>Q</a:t>
              </a:r>
              <a:endParaRPr lang="en-US" altLang="zh-CN" sz="6000" dirty="0">
                <a:latin typeface="Times New Roman" panose="02020603050405020304" pitchFamily="18" charset="0"/>
              </a:endParaRPr>
            </a:p>
          </p:txBody>
        </p:sp>
        <p:sp>
          <p:nvSpPr>
            <p:cNvPr id="58376" name="Rectangle 8"/>
            <p:cNvSpPr/>
            <p:nvPr/>
          </p:nvSpPr>
          <p:spPr>
            <a:xfrm>
              <a:off x="2980" y="4428"/>
              <a:ext cx="240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endParaRPr lang="en-US" altLang="zh-CN" sz="6000" dirty="0">
                <a:latin typeface="Times New Roman" panose="02020603050405020304" pitchFamily="18" charset="0"/>
              </a:endParaRPr>
            </a:p>
          </p:txBody>
        </p:sp>
        <p:sp>
          <p:nvSpPr>
            <p:cNvPr id="58377" name="Rectangle 9"/>
            <p:cNvSpPr/>
            <p:nvPr/>
          </p:nvSpPr>
          <p:spPr>
            <a:xfrm>
              <a:off x="3535" y="5127"/>
              <a:ext cx="36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2400" i="1" dirty="0">
                  <a:latin typeface="Times New Roman" panose="02020603050405020304" pitchFamily="18" charset="0"/>
                </a:rPr>
                <a:t>CP</a:t>
              </a:r>
              <a:endParaRPr lang="en-US" altLang="zh-CN" sz="6000" dirty="0">
                <a:latin typeface="Times New Roman" panose="02020603050405020304" pitchFamily="18" charset="0"/>
              </a:endParaRPr>
            </a:p>
          </p:txBody>
        </p:sp>
        <p:sp>
          <p:nvSpPr>
            <p:cNvPr id="58378" name="Rectangle 10"/>
            <p:cNvSpPr/>
            <p:nvPr/>
          </p:nvSpPr>
          <p:spPr>
            <a:xfrm>
              <a:off x="3295" y="4101"/>
              <a:ext cx="295" cy="468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just"/>
              <a:r>
                <a:rPr lang="en-US" altLang="zh-CN" sz="2400" dirty="0">
                  <a:latin typeface="Times New Roman" panose="02020603050405020304" pitchFamily="18" charset="0"/>
                </a:rPr>
                <a:t>=1</a:t>
              </a:r>
              <a:endParaRPr lang="en-US" altLang="zh-CN" sz="6000" dirty="0">
                <a:latin typeface="Times New Roman" panose="02020603050405020304" pitchFamily="18" charset="0"/>
              </a:endParaRPr>
            </a:p>
          </p:txBody>
        </p:sp>
        <p:sp>
          <p:nvSpPr>
            <p:cNvPr id="58379" name="Line 11"/>
            <p:cNvSpPr/>
            <p:nvPr/>
          </p:nvSpPr>
          <p:spPr>
            <a:xfrm>
              <a:off x="3580" y="4317"/>
              <a:ext cx="30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0" name="Rectangle 12"/>
            <p:cNvSpPr/>
            <p:nvPr/>
          </p:nvSpPr>
          <p:spPr>
            <a:xfrm>
              <a:off x="3880" y="4164"/>
              <a:ext cx="540" cy="777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just">
                <a:lnSpc>
                  <a:spcPct val="96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D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  <a:p>
              <a:pPr algn="just">
                <a:lnSpc>
                  <a:spcPct val="96000"/>
                </a:lnSpc>
              </a:pPr>
              <a:endParaRPr lang="en-US" altLang="zh-CN" sz="1200" i="1" dirty="0">
                <a:latin typeface="Times New Roman" panose="02020603050405020304" pitchFamily="18" charset="0"/>
              </a:endParaRPr>
            </a:p>
            <a:p>
              <a:pPr algn="just">
                <a:lnSpc>
                  <a:spcPct val="96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  C</a:t>
              </a:r>
              <a:endParaRPr lang="en-US" altLang="zh-CN" sz="6000" dirty="0">
                <a:latin typeface="Times New Roman" panose="02020603050405020304" pitchFamily="18" charset="0"/>
              </a:endParaRPr>
            </a:p>
          </p:txBody>
        </p:sp>
        <p:sp>
          <p:nvSpPr>
            <p:cNvPr id="58381" name="Line 13"/>
            <p:cNvSpPr/>
            <p:nvPr/>
          </p:nvSpPr>
          <p:spPr>
            <a:xfrm>
              <a:off x="3700" y="4518"/>
              <a:ext cx="1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2" name="Line 14"/>
            <p:cNvSpPr/>
            <p:nvPr/>
          </p:nvSpPr>
          <p:spPr>
            <a:xfrm>
              <a:off x="3693" y="4522"/>
              <a:ext cx="0" cy="64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3" name="Line 15"/>
            <p:cNvSpPr/>
            <p:nvPr/>
          </p:nvSpPr>
          <p:spPr>
            <a:xfrm>
              <a:off x="4420" y="4749"/>
              <a:ext cx="55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4" name="Oval 16"/>
            <p:cNvSpPr/>
            <p:nvPr/>
          </p:nvSpPr>
          <p:spPr>
            <a:xfrm>
              <a:off x="4592" y="4719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8385" name="Line 17"/>
            <p:cNvSpPr/>
            <p:nvPr/>
          </p:nvSpPr>
          <p:spPr>
            <a:xfrm>
              <a:off x="4615" y="3969"/>
              <a:ext cx="0" cy="76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6" name="Line 18"/>
            <p:cNvSpPr/>
            <p:nvPr/>
          </p:nvSpPr>
          <p:spPr>
            <a:xfrm>
              <a:off x="3136" y="3969"/>
              <a:ext cx="147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7" name="Line 19"/>
            <p:cNvSpPr/>
            <p:nvPr/>
          </p:nvSpPr>
          <p:spPr>
            <a:xfrm>
              <a:off x="3130" y="3972"/>
              <a:ext cx="0" cy="19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8" name="Line 20"/>
            <p:cNvSpPr/>
            <p:nvPr/>
          </p:nvSpPr>
          <p:spPr>
            <a:xfrm>
              <a:off x="3115" y="4176"/>
              <a:ext cx="1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9" name="Line 21"/>
            <p:cNvSpPr/>
            <p:nvPr/>
          </p:nvSpPr>
          <p:spPr>
            <a:xfrm>
              <a:off x="2980" y="4422"/>
              <a:ext cx="30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0" name="Text Box 22"/>
            <p:cNvSpPr txBox="1"/>
            <p:nvPr/>
          </p:nvSpPr>
          <p:spPr>
            <a:xfrm>
              <a:off x="2767" y="5429"/>
              <a:ext cx="5203" cy="5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zh-CN" altLang="en-US" sz="24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）                                                                 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）                      </a:t>
              </a:r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从</a:t>
              </a:r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r>
                <a:rPr lang="zh-CN" altLang="en-US" b="1" dirty="0">
                  <a:latin typeface="Times New Roman" panose="02020603050405020304" pitchFamily="18" charset="0"/>
                </a:rPr>
                <a:t>到</a:t>
              </a:r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r>
                <a:rPr lang="zh-CN" altLang="en-US" b="1" dirty="0">
                  <a:latin typeface="Times New Roman" panose="02020603050405020304" pitchFamily="18" charset="0"/>
                </a:rPr>
                <a:t>和</a:t>
              </a:r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latin typeface="宋体" panose="02010600030101010101" pitchFamily="2" charset="-122"/>
                </a:rPr>
                <a:t>′</a:t>
              </a:r>
              <a:r>
                <a:rPr lang="zh-CN" altLang="en-US" b="1" dirty="0">
                  <a:latin typeface="Times New Roman" panose="02020603050405020304" pitchFamily="18" charset="0"/>
                </a:rPr>
                <a:t>触发器的转换</a:t>
              </a:r>
              <a:endParaRPr lang="zh-CN" altLang="en-US" sz="66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8391" name="Group 23"/>
            <p:cNvGrpSpPr/>
            <p:nvPr/>
          </p:nvGrpSpPr>
          <p:grpSpPr>
            <a:xfrm>
              <a:off x="5736" y="4014"/>
              <a:ext cx="2355" cy="1050"/>
              <a:chOff x="5736" y="4014"/>
              <a:chExt cx="2355" cy="1050"/>
            </a:xfrm>
          </p:grpSpPr>
          <p:sp>
            <p:nvSpPr>
              <p:cNvPr id="58393" name="Rectangle 24"/>
              <p:cNvSpPr/>
              <p:nvPr/>
            </p:nvSpPr>
            <p:spPr>
              <a:xfrm>
                <a:off x="7731" y="4014"/>
                <a:ext cx="360" cy="3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Q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94" name="Rectangle 25"/>
              <p:cNvSpPr/>
              <p:nvPr/>
            </p:nvSpPr>
            <p:spPr>
              <a:xfrm>
                <a:off x="5736" y="4328"/>
                <a:ext cx="360" cy="3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p>
                <a:pPr algn="just"/>
                <a:r>
                  <a:rPr lang="en-US" altLang="zh-CN" sz="2400" i="1" dirty="0">
                    <a:latin typeface="Times New Roman" panose="02020603050405020304" pitchFamily="18" charset="0"/>
                  </a:rPr>
                  <a:t>CP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95" name="Rectangle 26"/>
              <p:cNvSpPr/>
              <p:nvPr/>
            </p:nvSpPr>
            <p:spPr>
              <a:xfrm>
                <a:off x="6606" y="4026"/>
                <a:ext cx="540" cy="784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 algn="just"/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algn="just">
                  <a:lnSpc>
                    <a:spcPct val="96000"/>
                  </a:lnSpc>
                </a:pPr>
                <a:r>
                  <a:rPr lang="en-US" altLang="zh-CN" sz="2400" i="1" dirty="0">
                    <a:latin typeface="Times New Roman" panose="02020603050405020304" pitchFamily="18" charset="0"/>
                  </a:rPr>
                  <a:t>  C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algn="just">
                  <a:lnSpc>
                    <a:spcPct val="96000"/>
                  </a:lnSpc>
                </a:pPr>
                <a:r>
                  <a:rPr lang="en-US" altLang="zh-CN" sz="2400" i="1" dirty="0">
                    <a:latin typeface="Times New Roman" panose="02020603050405020304" pitchFamily="18" charset="0"/>
                  </a:rPr>
                  <a:t> </a:t>
                </a:r>
                <a:endParaRPr lang="en-US" altLang="zh-CN" sz="2400" i="1" dirty="0">
                  <a:latin typeface="Times New Roman" panose="02020603050405020304" pitchFamily="18" charset="0"/>
                </a:endParaRPr>
              </a:p>
              <a:p>
                <a:pPr algn="just">
                  <a:lnSpc>
                    <a:spcPct val="96000"/>
                  </a:lnSpc>
                </a:pPr>
                <a:r>
                  <a:rPr lang="en-US" altLang="zh-CN" sz="2400" i="1" dirty="0">
                    <a:latin typeface="Times New Roman" panose="02020603050405020304" pitchFamily="18" charset="0"/>
                  </a:rPr>
                  <a:t>D</a:t>
                </a:r>
                <a:endParaRPr lang="en-US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96" name="Line 27"/>
              <p:cNvSpPr/>
              <p:nvPr/>
            </p:nvSpPr>
            <p:spPr>
              <a:xfrm>
                <a:off x="7131" y="4186"/>
                <a:ext cx="5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397" name="Line 28"/>
              <p:cNvSpPr/>
              <p:nvPr/>
            </p:nvSpPr>
            <p:spPr>
              <a:xfrm>
                <a:off x="7239" y="4626"/>
                <a:ext cx="125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398" name="Line 29"/>
              <p:cNvSpPr/>
              <p:nvPr/>
            </p:nvSpPr>
            <p:spPr>
              <a:xfrm flipH="1">
                <a:off x="7370" y="4626"/>
                <a:ext cx="1" cy="43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399" name="Line 30"/>
              <p:cNvSpPr/>
              <p:nvPr/>
            </p:nvSpPr>
            <p:spPr>
              <a:xfrm>
                <a:off x="6471" y="5043"/>
                <a:ext cx="90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00" name="Oval 31"/>
              <p:cNvSpPr/>
              <p:nvPr/>
            </p:nvSpPr>
            <p:spPr>
              <a:xfrm>
                <a:off x="7131" y="4581"/>
                <a:ext cx="113" cy="114"/>
              </a:xfrm>
              <a:prstGeom prst="ellipse">
                <a:avLst/>
              </a:prstGeom>
              <a:solidFill>
                <a:srgbClr val="CC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8401" name="Group 32"/>
              <p:cNvGrpSpPr/>
              <p:nvPr/>
            </p:nvGrpSpPr>
            <p:grpSpPr>
              <a:xfrm rot="-10800000" flipV="1">
                <a:off x="6468" y="4657"/>
                <a:ext cx="132" cy="401"/>
                <a:chOff x="9933" y="14160"/>
                <a:chExt cx="132" cy="255"/>
              </a:xfrm>
            </p:grpSpPr>
            <p:sp>
              <p:nvSpPr>
                <p:cNvPr id="58405" name="Line 33"/>
                <p:cNvSpPr/>
                <p:nvPr/>
              </p:nvSpPr>
              <p:spPr>
                <a:xfrm>
                  <a:off x="9933" y="14160"/>
                  <a:ext cx="125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8406" name="Line 34"/>
                <p:cNvSpPr/>
                <p:nvPr/>
              </p:nvSpPr>
              <p:spPr>
                <a:xfrm>
                  <a:off x="10065" y="14160"/>
                  <a:ext cx="0" cy="255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8402" name="Line 35"/>
              <p:cNvSpPr/>
              <p:nvPr/>
            </p:nvSpPr>
            <p:spPr>
              <a:xfrm>
                <a:off x="6066" y="4485"/>
                <a:ext cx="5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03" name="Rectangle 36"/>
              <p:cNvSpPr/>
              <p:nvPr/>
            </p:nvSpPr>
            <p:spPr>
              <a:xfrm>
                <a:off x="7716" y="4453"/>
                <a:ext cx="1" cy="5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algn="just"/>
                <a:endParaRPr lang="zh-CN" altLang="zh-CN" sz="6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04" name="AutoShape 37"/>
              <p:cNvSpPr/>
              <p:nvPr/>
            </p:nvSpPr>
            <p:spPr>
              <a:xfrm rot="5400000">
                <a:off x="6584" y="4374"/>
                <a:ext cx="216" cy="168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8392" name="AutoShape 38"/>
            <p:cNvSpPr/>
            <p:nvPr/>
          </p:nvSpPr>
          <p:spPr>
            <a:xfrm rot="5400000">
              <a:off x="3832" y="4454"/>
              <a:ext cx="240" cy="144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373" name="Rectangle 40" descr="羊皮纸"/>
          <p:cNvSpPr/>
          <p:nvPr/>
        </p:nvSpPr>
        <p:spPr>
          <a:xfrm>
            <a:off x="3302000" y="1392238"/>
            <a:ext cx="881063" cy="57943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 algn="ctr"/>
            <a:r>
              <a:rPr lang="en-US" altLang="zh-CN" sz="3200" i="1" dirty="0">
                <a:latin typeface="Times New Roman" panose="02020603050405020304" pitchFamily="18" charset="0"/>
              </a:rPr>
              <a:t>D</a:t>
            </a:r>
            <a:r>
              <a:rPr lang="zh-CN" altLang="en-US" sz="3200" dirty="0">
                <a:latin typeface="Times New Roman" panose="02020603050405020304" pitchFamily="18" charset="0"/>
              </a:rPr>
              <a:t>＝</a:t>
            </a:r>
            <a:endParaRPr lang="zh-CN" altLang="en-US" sz="6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8374" name="Object 39"/>
          <p:cNvGraphicFramePr>
            <a:graphicFrameLocks noChangeAspect="1"/>
          </p:cNvGraphicFramePr>
          <p:nvPr/>
        </p:nvGraphicFramePr>
        <p:xfrm>
          <a:off x="4119563" y="1395413"/>
          <a:ext cx="54768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215900" imgH="228600" progId="Equation.3">
                  <p:embed/>
                </p:oleObj>
              </mc:Choice>
              <mc:Fallback>
                <p:oleObj name="" r:id="rId3" imgW="215900" imgH="2286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563" y="1395413"/>
                        <a:ext cx="547687" cy="56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4" descr="羊皮纸"/>
          <p:cNvSpPr/>
          <p:nvPr/>
        </p:nvSpPr>
        <p:spPr>
          <a:xfrm>
            <a:off x="720725" y="701199"/>
            <a:ext cx="7153910" cy="52324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r>
              <a:rPr lang="en-US" altLang="zh-CN" b="1" dirty="0">
                <a:latin typeface="Times New Roman" panose="02020603050405020304" pitchFamily="18" charset="0"/>
              </a:rPr>
              <a:t>6.5.2</a:t>
            </a:r>
            <a:r>
              <a:rPr lang="zh-CN" altLang="en-US" b="1" dirty="0">
                <a:latin typeface="Times New Roman" panose="02020603050405020304" pitchFamily="18" charset="0"/>
              </a:rPr>
              <a:t>由</a:t>
            </a:r>
            <a:r>
              <a:rPr lang="en-US" altLang="zh-CN" b="1" dirty="0">
                <a:latin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</a:rPr>
              <a:t>－</a:t>
            </a:r>
            <a:r>
              <a:rPr lang="en-US" altLang="zh-CN" b="1" dirty="0">
                <a:latin typeface="Times New Roman" panose="02020603050405020304" pitchFamily="18" charset="0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</a:rPr>
              <a:t>触发器到其他功能触发器的转换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395" name="Rectangle 6" descr="羊皮纸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396" name="Object 5"/>
          <p:cNvGraphicFramePr>
            <a:graphicFrameLocks noChangeAspect="1"/>
          </p:cNvGraphicFramePr>
          <p:nvPr/>
        </p:nvGraphicFramePr>
        <p:xfrm>
          <a:off x="766763" y="1592263"/>
          <a:ext cx="62134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171700" imgH="228600" progId="Equation.3">
                  <p:embed/>
                </p:oleObj>
              </mc:Choice>
              <mc:Fallback>
                <p:oleObj name="" r:id="rId1" imgW="2171700" imgH="228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6763" y="1592263"/>
                        <a:ext cx="6213475" cy="588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Object 7"/>
          <p:cNvGraphicFramePr>
            <a:graphicFrameLocks noChangeAspect="1"/>
          </p:cNvGraphicFramePr>
          <p:nvPr/>
        </p:nvGraphicFramePr>
        <p:xfrm>
          <a:off x="1308100" y="2054225"/>
          <a:ext cx="11049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469900" imgH="444500" progId="Equation.3">
                  <p:embed/>
                </p:oleObj>
              </mc:Choice>
              <mc:Fallback>
                <p:oleObj name="" r:id="rId3" imgW="469900" imgH="4445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8100" y="2054225"/>
                        <a:ext cx="1104900" cy="1057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398" name="Group 9"/>
          <p:cNvGrpSpPr/>
          <p:nvPr/>
        </p:nvGrpSpPr>
        <p:grpSpPr>
          <a:xfrm>
            <a:off x="0" y="2603500"/>
            <a:ext cx="9144000" cy="3582988"/>
            <a:chOff x="2032" y="10956"/>
            <a:chExt cx="7688" cy="2918"/>
          </a:xfrm>
        </p:grpSpPr>
        <p:grpSp>
          <p:nvGrpSpPr>
            <p:cNvPr id="59404" name="Group 10"/>
            <p:cNvGrpSpPr/>
            <p:nvPr/>
          </p:nvGrpSpPr>
          <p:grpSpPr>
            <a:xfrm>
              <a:off x="2032" y="11634"/>
              <a:ext cx="3266" cy="2240"/>
              <a:chOff x="2040" y="11442"/>
              <a:chExt cx="3270" cy="2240"/>
            </a:xfrm>
          </p:grpSpPr>
          <p:grpSp>
            <p:nvGrpSpPr>
              <p:cNvPr id="59440" name="Group 11"/>
              <p:cNvGrpSpPr/>
              <p:nvPr/>
            </p:nvGrpSpPr>
            <p:grpSpPr>
              <a:xfrm>
                <a:off x="2054" y="11442"/>
                <a:ext cx="3256" cy="1839"/>
                <a:chOff x="2054" y="11442"/>
                <a:chExt cx="3256" cy="1839"/>
              </a:xfrm>
            </p:grpSpPr>
            <p:sp>
              <p:nvSpPr>
                <p:cNvPr id="59442" name="Rectangle 12"/>
                <p:cNvSpPr/>
                <p:nvPr/>
              </p:nvSpPr>
              <p:spPr>
                <a:xfrm>
                  <a:off x="4999" y="11677"/>
                  <a:ext cx="1" cy="67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p>
                  <a:pPr algn="just"/>
                  <a:endParaRPr lang="zh-CN" altLang="zh-CN" sz="5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43" name="Rectangle 13"/>
                <p:cNvSpPr/>
                <p:nvPr/>
              </p:nvSpPr>
              <p:spPr>
                <a:xfrm>
                  <a:off x="5058" y="12360"/>
                  <a:ext cx="252" cy="3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p>
                  <a:pPr algn="just">
                    <a:lnSpc>
                      <a:spcPct val="96000"/>
                    </a:lnSpc>
                  </a:pP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sz="5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44" name="Rectangle 14"/>
                <p:cNvSpPr/>
                <p:nvPr/>
              </p:nvSpPr>
              <p:spPr>
                <a:xfrm>
                  <a:off x="2116" y="11442"/>
                  <a:ext cx="180" cy="3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p>
                  <a:pPr algn="just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D</a:t>
                  </a:r>
                  <a:endParaRPr lang="en-US" altLang="zh-CN" sz="5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45" name="Rectangle 15"/>
                <p:cNvSpPr/>
                <p:nvPr/>
              </p:nvSpPr>
              <p:spPr>
                <a:xfrm>
                  <a:off x="3108" y="12969"/>
                  <a:ext cx="540" cy="3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p>
                  <a:pPr algn="just">
                    <a:lnSpc>
                      <a:spcPct val="96000"/>
                    </a:lnSpc>
                  </a:pP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CP</a:t>
                  </a:r>
                  <a:endParaRPr lang="en-US" altLang="zh-CN" sz="5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46" name="Rectangle 16"/>
                <p:cNvSpPr/>
                <p:nvPr/>
              </p:nvSpPr>
              <p:spPr>
                <a:xfrm>
                  <a:off x="2383" y="11993"/>
                  <a:ext cx="540" cy="312"/>
                </a:xfrm>
                <a:prstGeom prst="rect">
                  <a:avLst/>
                </a:prstGeom>
                <a:solidFill>
                  <a:srgbClr val="CC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tIns="0" bIns="0"/>
                <a:p>
                  <a:pPr algn="ctr"/>
                  <a:r>
                    <a:rPr lang="en-US" altLang="zh-CN" sz="2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5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47" name="Rectangle 17"/>
                <p:cNvSpPr/>
                <p:nvPr/>
              </p:nvSpPr>
              <p:spPr>
                <a:xfrm>
                  <a:off x="3510" y="11573"/>
                  <a:ext cx="900" cy="1208"/>
                </a:xfrm>
                <a:prstGeom prst="rect">
                  <a:avLst/>
                </a:prstGeom>
                <a:solidFill>
                  <a:srgbClr val="CC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p>
                  <a:pPr algn="just">
                    <a:lnSpc>
                      <a:spcPct val="144000"/>
                    </a:lnSpc>
                  </a:pP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J</a:t>
                  </a:r>
                  <a:endParaRPr lang="en-US" altLang="zh-CN" sz="2000" i="1" dirty="0">
                    <a:latin typeface="Times New Roman" panose="02020603050405020304" pitchFamily="18" charset="0"/>
                  </a:endParaRPr>
                </a:p>
                <a:p>
                  <a:pPr algn="just">
                    <a:lnSpc>
                      <a:spcPct val="144000"/>
                    </a:lnSpc>
                  </a:pP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  C</a:t>
                  </a:r>
                  <a:endParaRPr lang="en-US" altLang="zh-CN" sz="2000" i="1" dirty="0">
                    <a:latin typeface="Times New Roman" panose="02020603050405020304" pitchFamily="18" charset="0"/>
                  </a:endParaRPr>
                </a:p>
                <a:p>
                  <a:pPr algn="just">
                    <a:lnSpc>
                      <a:spcPct val="144000"/>
                    </a:lnSpc>
                  </a:pPr>
                  <a:endParaRPr lang="en-US" altLang="zh-CN" sz="1000" i="1" dirty="0">
                    <a:latin typeface="Times New Roman" panose="02020603050405020304" pitchFamily="18" charset="0"/>
                  </a:endParaRPr>
                </a:p>
                <a:p>
                  <a:pPr algn="just">
                    <a:lnSpc>
                      <a:spcPct val="144000"/>
                    </a:lnSpc>
                  </a:pP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K</a:t>
                  </a:r>
                  <a:endParaRPr lang="en-US" altLang="zh-CN" sz="5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48" name="Oval 18"/>
                <p:cNvSpPr/>
                <p:nvPr/>
              </p:nvSpPr>
              <p:spPr>
                <a:xfrm>
                  <a:off x="2617" y="12311"/>
                  <a:ext cx="57" cy="5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49" name="Line 19"/>
                <p:cNvSpPr/>
                <p:nvPr/>
              </p:nvSpPr>
              <p:spPr>
                <a:xfrm>
                  <a:off x="2640" y="12371"/>
                  <a:ext cx="0" cy="159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50" name="Line 20"/>
                <p:cNvSpPr/>
                <p:nvPr/>
              </p:nvSpPr>
              <p:spPr>
                <a:xfrm flipV="1">
                  <a:off x="2652" y="12527"/>
                  <a:ext cx="842" cy="1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51" name="Line 21"/>
                <p:cNvSpPr/>
                <p:nvPr/>
              </p:nvSpPr>
              <p:spPr>
                <a:xfrm flipV="1">
                  <a:off x="2054" y="11813"/>
                  <a:ext cx="1453" cy="1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52" name="Line 22"/>
                <p:cNvSpPr/>
                <p:nvPr/>
              </p:nvSpPr>
              <p:spPr>
                <a:xfrm>
                  <a:off x="2658" y="11786"/>
                  <a:ext cx="0" cy="215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53" name="Oval 23"/>
                <p:cNvSpPr/>
                <p:nvPr/>
              </p:nvSpPr>
              <p:spPr>
                <a:xfrm>
                  <a:off x="2628" y="11780"/>
                  <a:ext cx="57" cy="57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54" name="Line 24"/>
                <p:cNvSpPr/>
                <p:nvPr/>
              </p:nvSpPr>
              <p:spPr>
                <a:xfrm>
                  <a:off x="3318" y="12185"/>
                  <a:ext cx="18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55" name="Line 25"/>
                <p:cNvSpPr/>
                <p:nvPr/>
              </p:nvSpPr>
              <p:spPr>
                <a:xfrm flipH="1">
                  <a:off x="3303" y="12185"/>
                  <a:ext cx="0" cy="795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56" name="Line 26"/>
                <p:cNvSpPr/>
                <p:nvPr/>
              </p:nvSpPr>
              <p:spPr>
                <a:xfrm>
                  <a:off x="4470" y="11828"/>
                  <a:ext cx="54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57" name="Line 27"/>
                <p:cNvSpPr/>
                <p:nvPr/>
              </p:nvSpPr>
              <p:spPr>
                <a:xfrm>
                  <a:off x="4425" y="12512"/>
                  <a:ext cx="595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58" name="Oval 28"/>
                <p:cNvSpPr/>
                <p:nvPr/>
              </p:nvSpPr>
              <p:spPr>
                <a:xfrm>
                  <a:off x="4396" y="11766"/>
                  <a:ext cx="112" cy="114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59" name="AutoShape 29"/>
                <p:cNvSpPr/>
                <p:nvPr/>
              </p:nvSpPr>
              <p:spPr>
                <a:xfrm rot="5400000">
                  <a:off x="3471" y="12129"/>
                  <a:ext cx="200" cy="123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60" name="Oval 30"/>
                <p:cNvSpPr/>
                <p:nvPr/>
              </p:nvSpPr>
              <p:spPr>
                <a:xfrm>
                  <a:off x="3396" y="12134"/>
                  <a:ext cx="112" cy="114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9441" name="Text Box 31"/>
              <p:cNvSpPr txBox="1"/>
              <p:nvPr/>
            </p:nvSpPr>
            <p:spPr>
              <a:xfrm>
                <a:off x="2040" y="13310"/>
                <a:ext cx="3096" cy="3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just"/>
                <a:r>
                  <a:rPr lang="en-US" altLang="zh-CN" sz="2000" dirty="0"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从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J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－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K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到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触发器的转换</a:t>
                </a:r>
                <a:endParaRPr lang="zh-CN" altLang="en-US" sz="60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9405" name="Group 32"/>
            <p:cNvGrpSpPr/>
            <p:nvPr/>
          </p:nvGrpSpPr>
          <p:grpSpPr>
            <a:xfrm>
              <a:off x="5580" y="10956"/>
              <a:ext cx="4140" cy="2918"/>
              <a:chOff x="5580" y="10956"/>
              <a:chExt cx="4140" cy="2918"/>
            </a:xfrm>
          </p:grpSpPr>
          <p:grpSp>
            <p:nvGrpSpPr>
              <p:cNvPr id="59406" name="Group 33"/>
              <p:cNvGrpSpPr/>
              <p:nvPr/>
            </p:nvGrpSpPr>
            <p:grpSpPr>
              <a:xfrm>
                <a:off x="5580" y="10956"/>
                <a:ext cx="1440" cy="2519"/>
                <a:chOff x="5580" y="4503"/>
                <a:chExt cx="1440" cy="2519"/>
              </a:xfrm>
            </p:grpSpPr>
            <p:sp>
              <p:nvSpPr>
                <p:cNvPr id="59426" name="Rectangle 34"/>
                <p:cNvSpPr/>
                <p:nvPr/>
              </p:nvSpPr>
              <p:spPr>
                <a:xfrm>
                  <a:off x="5715" y="4649"/>
                  <a:ext cx="360" cy="3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p>
                  <a:pPr algn="ctr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Q</a:t>
                  </a:r>
                  <a:endParaRPr lang="en-US" altLang="zh-CN" sz="5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27" name="Rectangle 35"/>
                <p:cNvSpPr/>
                <p:nvPr/>
              </p:nvSpPr>
              <p:spPr>
                <a:xfrm>
                  <a:off x="5580" y="5495"/>
                  <a:ext cx="1440" cy="780"/>
                </a:xfrm>
                <a:prstGeom prst="rect">
                  <a:avLst/>
                </a:prstGeom>
                <a:solidFill>
                  <a:srgbClr val="CC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just"/>
                  <a:endParaRPr lang="en-US" altLang="zh-CN" sz="2000" dirty="0">
                    <a:latin typeface="Times New Roman" panose="02020603050405020304" pitchFamily="18" charset="0"/>
                  </a:endParaRPr>
                </a:p>
                <a:p>
                  <a:pPr algn="just"/>
                  <a:endParaRPr lang="en-US" altLang="zh-CN" sz="2000" i="1" dirty="0">
                    <a:latin typeface="Times New Roman" panose="02020603050405020304" pitchFamily="18" charset="0"/>
                  </a:endParaRPr>
                </a:p>
                <a:p>
                  <a:pPr algn="just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   J     C     K</a:t>
                  </a:r>
                  <a:endParaRPr lang="en-US" altLang="zh-CN" sz="5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28" name="Line 36"/>
                <p:cNvSpPr/>
                <p:nvPr/>
              </p:nvSpPr>
              <p:spPr>
                <a:xfrm>
                  <a:off x="5910" y="5006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29" name="Line 37"/>
                <p:cNvSpPr/>
                <p:nvPr/>
              </p:nvSpPr>
              <p:spPr>
                <a:xfrm>
                  <a:off x="6675" y="5012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30" name="Line 38"/>
                <p:cNvSpPr/>
                <p:nvPr/>
              </p:nvSpPr>
              <p:spPr>
                <a:xfrm>
                  <a:off x="5910" y="6275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31" name="Freeform 39"/>
                <p:cNvSpPr/>
                <p:nvPr/>
              </p:nvSpPr>
              <p:spPr>
                <a:xfrm>
                  <a:off x="5910" y="6275"/>
                  <a:ext cx="780" cy="264"/>
                </a:xfrm>
                <a:custGeom>
                  <a:avLst/>
                  <a:gdLst>
                    <a:gd name="txL" fmla="*/ 0 w 780"/>
                    <a:gd name="txT" fmla="*/ 0 h 264"/>
                    <a:gd name="txR" fmla="*/ 780 w 780"/>
                    <a:gd name="txB" fmla="*/ 264 h 264"/>
                  </a:gdLst>
                  <a:ahLst/>
                  <a:cxnLst>
                    <a:cxn ang="0">
                      <a:pos x="780" y="0"/>
                    </a:cxn>
                    <a:cxn ang="0">
                      <a:pos x="780" y="264"/>
                    </a:cxn>
                    <a:cxn ang="0">
                      <a:pos x="0" y="264"/>
                    </a:cxn>
                  </a:cxnLst>
                  <a:rect l="txL" t="txT" r="txR" b="txB"/>
                  <a:pathLst>
                    <a:path w="780" h="264">
                      <a:moveTo>
                        <a:pt x="780" y="0"/>
                      </a:moveTo>
                      <a:lnTo>
                        <a:pt x="780" y="264"/>
                      </a:lnTo>
                      <a:lnTo>
                        <a:pt x="0" y="264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59432" name="Line 40"/>
                <p:cNvSpPr/>
                <p:nvPr/>
              </p:nvSpPr>
              <p:spPr>
                <a:xfrm>
                  <a:off x="6300" y="6335"/>
                  <a:ext cx="0" cy="41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33" name="Rectangle 41"/>
                <p:cNvSpPr/>
                <p:nvPr/>
              </p:nvSpPr>
              <p:spPr>
                <a:xfrm>
                  <a:off x="5805" y="6782"/>
                  <a:ext cx="1095" cy="2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p>
                  <a:pPr algn="just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T  CP     </a:t>
                  </a:r>
                  <a:endParaRPr lang="en-US" altLang="zh-CN" sz="5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34" name="Line 42"/>
                <p:cNvSpPr/>
                <p:nvPr/>
              </p:nvSpPr>
              <p:spPr>
                <a:xfrm flipH="1">
                  <a:off x="6225" y="6164"/>
                  <a:ext cx="68" cy="10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35" name="Line 43"/>
                <p:cNvSpPr/>
                <p:nvPr/>
              </p:nvSpPr>
              <p:spPr>
                <a:xfrm flipH="1" flipV="1">
                  <a:off x="6303" y="6164"/>
                  <a:ext cx="68" cy="10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36" name="Oval 44"/>
                <p:cNvSpPr/>
                <p:nvPr/>
              </p:nvSpPr>
              <p:spPr>
                <a:xfrm>
                  <a:off x="5883" y="6503"/>
                  <a:ext cx="57" cy="57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37" name="Oval 45"/>
                <p:cNvSpPr/>
                <p:nvPr/>
              </p:nvSpPr>
              <p:spPr>
                <a:xfrm>
                  <a:off x="6616" y="5373"/>
                  <a:ext cx="112" cy="114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38" name="Oval 46"/>
                <p:cNvSpPr/>
                <p:nvPr/>
              </p:nvSpPr>
              <p:spPr>
                <a:xfrm>
                  <a:off x="6244" y="6261"/>
                  <a:ext cx="112" cy="114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39" name="Rectangle 47"/>
                <p:cNvSpPr/>
                <p:nvPr/>
              </p:nvSpPr>
              <p:spPr>
                <a:xfrm>
                  <a:off x="6542" y="4503"/>
                  <a:ext cx="8" cy="677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FFFF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0" rIns="0" bIns="0">
                  <a:spAutoFit/>
                </a:bodyPr>
                <a:p>
                  <a:pPr algn="just"/>
                  <a:endParaRPr lang="zh-CN" altLang="zh-CN" sz="5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9407" name="Group 48"/>
              <p:cNvGrpSpPr/>
              <p:nvPr/>
            </p:nvGrpSpPr>
            <p:grpSpPr>
              <a:xfrm>
                <a:off x="7200" y="11729"/>
                <a:ext cx="2520" cy="1074"/>
                <a:chOff x="7200" y="11729"/>
                <a:chExt cx="2520" cy="1074"/>
              </a:xfrm>
            </p:grpSpPr>
            <p:grpSp>
              <p:nvGrpSpPr>
                <p:cNvPr id="59409" name="Group 49"/>
                <p:cNvGrpSpPr/>
                <p:nvPr/>
              </p:nvGrpSpPr>
              <p:grpSpPr>
                <a:xfrm>
                  <a:off x="7200" y="11729"/>
                  <a:ext cx="2520" cy="1074"/>
                  <a:chOff x="7200" y="5276"/>
                  <a:chExt cx="2520" cy="1074"/>
                </a:xfrm>
              </p:grpSpPr>
              <p:sp>
                <p:nvSpPr>
                  <p:cNvPr id="59411" name="Rectangle 50"/>
                  <p:cNvSpPr/>
                  <p:nvPr/>
                </p:nvSpPr>
                <p:spPr>
                  <a:xfrm>
                    <a:off x="9376" y="5681"/>
                    <a:ext cx="1" cy="6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lIns="0" tIns="0" rIns="0" bIns="0">
                    <a:spAutoFit/>
                  </a:bodyPr>
                  <a:p>
                    <a:pPr algn="just"/>
                    <a:endParaRPr lang="zh-CN" altLang="zh-CN" sz="5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12" name="Rectangle 51"/>
                  <p:cNvSpPr/>
                  <p:nvPr/>
                </p:nvSpPr>
                <p:spPr>
                  <a:xfrm>
                    <a:off x="9360" y="5276"/>
                    <a:ext cx="360" cy="31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0" tIns="0" rIns="0" bIns="0"/>
                  <a:p>
                    <a:pPr algn="just"/>
                    <a:r>
                      <a:rPr lang="en-US" altLang="zh-CN" sz="2000" i="1" dirty="0">
                        <a:latin typeface="Times New Roman" panose="02020603050405020304" pitchFamily="18" charset="0"/>
                      </a:rPr>
                      <a:t>Q</a:t>
                    </a:r>
                    <a:endParaRPr lang="en-US" altLang="zh-CN" sz="5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13" name="Rectangle 52"/>
                  <p:cNvSpPr/>
                  <p:nvPr/>
                </p:nvSpPr>
                <p:spPr>
                  <a:xfrm>
                    <a:off x="7200" y="5588"/>
                    <a:ext cx="360" cy="31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0" tIns="0" rIns="0" bIns="0"/>
                  <a:p>
                    <a:pPr algn="just"/>
                    <a:r>
                      <a:rPr lang="en-US" altLang="zh-CN" sz="2000" i="1" dirty="0">
                        <a:latin typeface="Times New Roman" panose="02020603050405020304" pitchFamily="18" charset="0"/>
                      </a:rPr>
                      <a:t>CP</a:t>
                    </a:r>
                    <a:endParaRPr lang="en-US" altLang="zh-CN" sz="5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14" name="Rectangle 53"/>
                  <p:cNvSpPr/>
                  <p:nvPr/>
                </p:nvSpPr>
                <p:spPr>
                  <a:xfrm>
                    <a:off x="7200" y="5276"/>
                    <a:ext cx="360" cy="31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lIns="0" tIns="0" rIns="0" bIns="0"/>
                  <a:p>
                    <a:pPr algn="just"/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“1”</a:t>
                    </a:r>
                    <a:endParaRPr lang="en-US" altLang="zh-CN" sz="5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15" name="Rectangle 54"/>
                  <p:cNvSpPr/>
                  <p:nvPr/>
                </p:nvSpPr>
                <p:spPr>
                  <a:xfrm>
                    <a:off x="8100" y="5276"/>
                    <a:ext cx="720" cy="936"/>
                  </a:xfrm>
                  <a:prstGeom prst="rect">
                    <a:avLst/>
                  </a:prstGeom>
                  <a:solidFill>
                    <a:srgbClr val="CC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p>
                    <a:pPr algn="just"/>
                    <a:r>
                      <a:rPr lang="en-US" altLang="zh-CN" sz="2000" i="1" dirty="0">
                        <a:latin typeface="Times New Roman" panose="02020603050405020304" pitchFamily="18" charset="0"/>
                      </a:rPr>
                      <a:t>J</a:t>
                    </a:r>
                    <a:endParaRPr lang="en-US" altLang="zh-CN" sz="2000" i="1" dirty="0">
                      <a:latin typeface="Times New Roman" panose="02020603050405020304" pitchFamily="18" charset="0"/>
                    </a:endParaRPr>
                  </a:p>
                  <a:p>
                    <a:pPr algn="just"/>
                    <a:endParaRPr lang="en-US" altLang="zh-CN" sz="1000" i="1" dirty="0">
                      <a:latin typeface="Times New Roman" panose="02020603050405020304" pitchFamily="18" charset="0"/>
                    </a:endParaRPr>
                  </a:p>
                  <a:p>
                    <a:pPr algn="just"/>
                    <a:r>
                      <a:rPr lang="en-US" altLang="zh-CN" sz="2000" i="1" dirty="0">
                        <a:latin typeface="Times New Roman" panose="02020603050405020304" pitchFamily="18" charset="0"/>
                      </a:rPr>
                      <a:t>  C</a:t>
                    </a:r>
                    <a:endParaRPr lang="en-US" altLang="zh-CN" sz="2000" i="1" dirty="0">
                      <a:latin typeface="Times New Roman" panose="02020603050405020304" pitchFamily="18" charset="0"/>
                    </a:endParaRPr>
                  </a:p>
                  <a:p>
                    <a:pPr algn="just"/>
                    <a:endParaRPr lang="en-US" altLang="zh-CN" sz="400" i="1" dirty="0">
                      <a:latin typeface="Times New Roman" panose="02020603050405020304" pitchFamily="18" charset="0"/>
                    </a:endParaRPr>
                  </a:p>
                  <a:p>
                    <a:pPr algn="just"/>
                    <a:r>
                      <a:rPr lang="en-US" altLang="zh-CN" sz="2000" i="1" dirty="0">
                        <a:latin typeface="Times New Roman" panose="02020603050405020304" pitchFamily="18" charset="0"/>
                      </a:rPr>
                      <a:t>K</a:t>
                    </a:r>
                    <a:endParaRPr lang="en-US" altLang="zh-CN" sz="5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16" name="Freeform 55"/>
                  <p:cNvSpPr/>
                  <p:nvPr/>
                </p:nvSpPr>
                <p:spPr>
                  <a:xfrm>
                    <a:off x="8094" y="5703"/>
                    <a:ext cx="140" cy="129"/>
                  </a:xfrm>
                  <a:custGeom>
                    <a:avLst/>
                    <a:gdLst>
                      <a:gd name="txL" fmla="*/ 0 w 1485"/>
                      <a:gd name="txT" fmla="*/ 0 h 2040"/>
                      <a:gd name="txR" fmla="*/ 1485 w 1485"/>
                      <a:gd name="txB" fmla="*/ 2040 h 2040"/>
                    </a:gdLst>
                    <a:ahLst/>
                    <a:cxnLst>
                      <a:cxn ang="0">
                        <a:pos x="1" y="0"/>
                      </a:cxn>
                      <a:cxn ang="0">
                        <a:pos x="13" y="4"/>
                      </a:cxn>
                      <a:cxn ang="0">
                        <a:pos x="0" y="8"/>
                      </a:cxn>
                    </a:cxnLst>
                    <a:rect l="txL" t="txT" r="txR" b="txB"/>
                    <a:pathLst>
                      <a:path w="1485" h="2040">
                        <a:moveTo>
                          <a:pt x="157" y="0"/>
                        </a:moveTo>
                        <a:lnTo>
                          <a:pt x="1485" y="1005"/>
                        </a:lnTo>
                        <a:lnTo>
                          <a:pt x="0" y="204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9417" name="Oval 56"/>
                  <p:cNvSpPr/>
                  <p:nvPr/>
                </p:nvSpPr>
                <p:spPr>
                  <a:xfrm>
                    <a:off x="8040" y="5744"/>
                    <a:ext cx="57" cy="5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18" name="Line 57"/>
                  <p:cNvSpPr/>
                  <p:nvPr/>
                </p:nvSpPr>
                <p:spPr>
                  <a:xfrm>
                    <a:off x="8820" y="5417"/>
                    <a:ext cx="54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9419" name="Line 58"/>
                  <p:cNvSpPr/>
                  <p:nvPr/>
                </p:nvSpPr>
                <p:spPr>
                  <a:xfrm>
                    <a:off x="7470" y="5432"/>
                    <a:ext cx="652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9420" name="Line 59"/>
                  <p:cNvSpPr/>
                  <p:nvPr/>
                </p:nvSpPr>
                <p:spPr>
                  <a:xfrm>
                    <a:off x="8850" y="6011"/>
                    <a:ext cx="54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9421" name="Line 60"/>
                  <p:cNvSpPr/>
                  <p:nvPr/>
                </p:nvSpPr>
                <p:spPr>
                  <a:xfrm>
                    <a:off x="7500" y="5774"/>
                    <a:ext cx="54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9422" name="Line 61"/>
                  <p:cNvSpPr/>
                  <p:nvPr/>
                </p:nvSpPr>
                <p:spPr>
                  <a:xfrm>
                    <a:off x="7740" y="5432"/>
                    <a:ext cx="0" cy="624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9423" name="Line 62"/>
                  <p:cNvSpPr/>
                  <p:nvPr/>
                </p:nvSpPr>
                <p:spPr>
                  <a:xfrm>
                    <a:off x="7740" y="6056"/>
                    <a:ext cx="36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9424" name="Oval 63"/>
                  <p:cNvSpPr/>
                  <p:nvPr/>
                </p:nvSpPr>
                <p:spPr>
                  <a:xfrm>
                    <a:off x="7710" y="5405"/>
                    <a:ext cx="57" cy="57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25" name="Oval 64"/>
                  <p:cNvSpPr/>
                  <p:nvPr/>
                </p:nvSpPr>
                <p:spPr>
                  <a:xfrm>
                    <a:off x="8824" y="5961"/>
                    <a:ext cx="112" cy="11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9410" name="Oval 65"/>
                <p:cNvSpPr/>
                <p:nvPr/>
              </p:nvSpPr>
              <p:spPr>
                <a:xfrm>
                  <a:off x="7988" y="12159"/>
                  <a:ext cx="112" cy="114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9408" name="Text Box 66"/>
              <p:cNvSpPr txBox="1"/>
              <p:nvPr/>
            </p:nvSpPr>
            <p:spPr>
              <a:xfrm>
                <a:off x="5625" y="13502"/>
                <a:ext cx="3976" cy="3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just"/>
                <a:r>
                  <a:rPr lang="en-US" altLang="zh-CN" sz="2000" dirty="0"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从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J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－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K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到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和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′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触发器的转换</a:t>
                </a:r>
                <a:endParaRPr lang="zh-CN" altLang="en-US" sz="60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9399" name="Rectangle 67" descr="羊皮纸"/>
          <p:cNvSpPr/>
          <p:nvPr/>
        </p:nvSpPr>
        <p:spPr>
          <a:xfrm>
            <a:off x="5616575" y="2382838"/>
            <a:ext cx="1484313" cy="519112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pPr algn="ctr" defTabSz="914400">
              <a:tabLst>
                <a:tab pos="619125" algn="l"/>
              </a:tabLst>
            </a:pPr>
            <a:r>
              <a:rPr lang="en-US" altLang="zh-CN" i="1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sp>
        <p:nvSpPr>
          <p:cNvPr id="59400" name="Rectangle 69" descr="羊皮纸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401" name="Object 68"/>
          <p:cNvGraphicFramePr>
            <a:graphicFrameLocks noChangeAspect="1"/>
          </p:cNvGraphicFramePr>
          <p:nvPr/>
        </p:nvGraphicFramePr>
        <p:xfrm>
          <a:off x="1125538" y="1189038"/>
          <a:ext cx="6985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292100" imgH="228600" progId="Equation.3">
                  <p:embed/>
                </p:oleObj>
              </mc:Choice>
              <mc:Fallback>
                <p:oleObj name="" r:id="rId5" imgW="292100" imgH="22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5538" y="1189038"/>
                        <a:ext cx="698500" cy="541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2" name="Rectangle 71" descr="羊皮纸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403" name="Object 70"/>
          <p:cNvGraphicFramePr>
            <a:graphicFrameLocks noChangeAspect="1"/>
          </p:cNvGraphicFramePr>
          <p:nvPr/>
        </p:nvGraphicFramePr>
        <p:xfrm>
          <a:off x="1808163" y="1166813"/>
          <a:ext cx="18224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787400" imgH="228600" progId="Equation.3">
                  <p:embed/>
                </p:oleObj>
              </mc:Choice>
              <mc:Fallback>
                <p:oleObj name="" r:id="rId7" imgW="787400" imgH="2286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08163" y="1166813"/>
                        <a:ext cx="1822450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450850" y="720725"/>
            <a:ext cx="2019300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本章小结</a:t>
            </a:r>
            <a:endParaRPr kumimoji="1" lang="zh-CN" altLang="en-US" sz="36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942" name="Text Box 6"/>
          <p:cNvSpPr txBox="1"/>
          <p:nvPr/>
        </p:nvSpPr>
        <p:spPr>
          <a:xfrm>
            <a:off x="799465" y="1557655"/>
            <a:ext cx="7949565" cy="1814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>
                <a:latin typeface="宋体" panose="02010600030101010101" pitchFamily="2" charset="-122"/>
              </a:rPr>
              <a:t>本章介绍构成时序逻辑电路的最基本部件－双稳态触发器，重点介绍各触发器的结构、工作原理、动作特点，以及触发器从功能上的分类及相互间的转换。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95944" name="Text Box 8"/>
          <p:cNvSpPr txBox="1"/>
          <p:nvPr/>
        </p:nvSpPr>
        <p:spPr>
          <a:xfrm>
            <a:off x="871855" y="3440430"/>
            <a:ext cx="779272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>
                <a:latin typeface="宋体" panose="02010600030101010101" pitchFamily="2" charset="-122"/>
              </a:rPr>
              <a:t>重点是各触发器的功能表、逻辑符号、触发电平、状态方程的描述等。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2" grpId="0"/>
      <p:bldP spid="29594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1">
          <a:blip xmlns:r="http://schemas.openxmlformats.org/officeDocument/2006/relationships" r:embed="rId1"/>
          <a:srcRect/>
          <a:tile tx="0" ty="0" sx="100000" sy="100000" flip="none" algn="tl"/>
        </a:blipFill>
        <a:ln w="38100" cap="flat" cmpd="sng" algn="ctr">
          <a:noFill/>
          <a:prstDash val="solid"/>
          <a:round/>
          <a:headEnd type="none" w="med" len="med"/>
          <a:tailEnd type="none" w="sm" len="lg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1">
          <a:blip xmlns:r="http://schemas.openxmlformats.org/officeDocument/2006/relationships" r:embed="rId1"/>
          <a:srcRect/>
          <a:tile tx="0" ty="0" sx="100000" sy="100000" flip="none" algn="tl"/>
        </a:blipFill>
        <a:ln w="38100" cap="flat" cmpd="sng" algn="ctr">
          <a:noFill/>
          <a:prstDash val="solid"/>
          <a:round/>
          <a:headEnd type="none" w="med" len="med"/>
          <a:tailEnd type="none" w="sm" len="lg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6047</Words>
  <Application>WPS 演示</Application>
  <PresentationFormat>全屏显示(4:3)</PresentationFormat>
  <Paragraphs>2179</Paragraphs>
  <Slides>56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56</vt:i4>
      </vt:variant>
      <vt:variant>
        <vt:lpstr>幻灯片标题</vt:lpstr>
      </vt:variant>
      <vt:variant>
        <vt:i4>56</vt:i4>
      </vt:variant>
    </vt:vector>
  </HeadingPairs>
  <TitlesOfParts>
    <vt:vector size="130" baseType="lpstr">
      <vt:lpstr>Arial</vt:lpstr>
      <vt:lpstr>宋体</vt:lpstr>
      <vt:lpstr>Wingdings</vt:lpstr>
      <vt:lpstr>Times New Roman</vt:lpstr>
      <vt:lpstr>Arial Black</vt:lpstr>
      <vt:lpstr>华文新魏</vt:lpstr>
      <vt:lpstr>Symbol</vt:lpstr>
      <vt:lpstr>楷体_GB2312</vt:lpstr>
      <vt:lpstr>新宋体</vt:lpstr>
      <vt:lpstr>Monotype Sorts</vt:lpstr>
      <vt:lpstr>Wingdings</vt:lpstr>
      <vt:lpstr>隶书</vt:lpstr>
      <vt:lpstr>幼圆</vt:lpstr>
      <vt:lpstr>Tahoma</vt:lpstr>
      <vt:lpstr>黑体</vt:lpstr>
      <vt:lpstr>微软雅黑</vt:lpstr>
      <vt:lpstr>Arial Unicode MS</vt:lpstr>
      <vt:lpstr>Pixel</vt:lpstr>
      <vt:lpstr>Equation.3</vt:lpstr>
      <vt:lpstr>Equation.3</vt:lpstr>
      <vt:lpstr>Equation.3</vt:lpstr>
      <vt:lpstr>Visio.Drawing.11</vt:lpstr>
      <vt:lpstr>Equation.3</vt:lpstr>
      <vt:lpstr>Equation.3</vt:lpstr>
      <vt:lpstr>Visio.Drawing.11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Visio.Drawing.11</vt:lpstr>
      <vt:lpstr>Visio.Drawing.11</vt:lpstr>
      <vt:lpstr>Visio.Drawing.11</vt:lpstr>
      <vt:lpstr>Visio.Drawing.11</vt:lpstr>
      <vt:lpstr>Visio.Drawing.11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Word.Picture.8</vt:lpstr>
      <vt:lpstr>Equation.3</vt:lpstr>
      <vt:lpstr>Equation.DSMT4</vt:lpstr>
      <vt:lpstr>Equation.3</vt:lpstr>
      <vt:lpstr>Equation.3</vt:lpstr>
      <vt:lpstr>Equation.3</vt:lpstr>
      <vt:lpstr>Equation.3</vt:lpstr>
      <vt:lpstr>Word.Picture.8</vt:lpstr>
      <vt:lpstr>Word.Picture.8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/>
  <cp:lastModifiedBy>Eairy</cp:lastModifiedBy>
  <cp:revision>371</cp:revision>
  <cp:lastPrinted>1999-10-15T03:06:11Z</cp:lastPrinted>
  <dcterms:created xsi:type="dcterms:W3CDTF">1999-10-11T00:54:08Z</dcterms:created>
  <dcterms:modified xsi:type="dcterms:W3CDTF">2025-03-12T02:58:41Z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F507D94ABAA84660935B6F74B35B7ADB_13</vt:lpwstr>
  </property>
  <property fmtid="{D5CDD505-2E9C-101B-9397-08002B2CF9AE}" pid="3" name="KSOProductBuildVer">
    <vt:lpwstr>2052-12.1.0.20305</vt:lpwstr>
  </property>
</Properties>
</file>